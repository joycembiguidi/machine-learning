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4" r:id="rId2"/>
    <p:sldMasterId id="2147483726" r:id="rId3"/>
  </p:sldMasterIdLst>
  <p:notesMasterIdLst>
    <p:notesMasterId r:id="rId328"/>
  </p:notesMasterIdLst>
  <p:handoutMasterIdLst>
    <p:handoutMasterId r:id="rId329"/>
  </p:handoutMasterIdLst>
  <p:sldIdLst>
    <p:sldId id="256" r:id="rId4"/>
    <p:sldId id="258" r:id="rId5"/>
    <p:sldId id="283" r:id="rId6"/>
    <p:sldId id="284" r:id="rId7"/>
    <p:sldId id="285" r:id="rId8"/>
    <p:sldId id="286" r:id="rId9"/>
    <p:sldId id="287" r:id="rId10"/>
    <p:sldId id="288" r:id="rId11"/>
    <p:sldId id="289" r:id="rId12"/>
    <p:sldId id="942" r:id="rId13"/>
    <p:sldId id="945" r:id="rId14"/>
    <p:sldId id="933" r:id="rId15"/>
    <p:sldId id="943" r:id="rId16"/>
    <p:sldId id="944" r:id="rId17"/>
    <p:sldId id="813" r:id="rId18"/>
    <p:sldId id="911" r:id="rId19"/>
    <p:sldId id="912" r:id="rId20"/>
    <p:sldId id="817" r:id="rId21"/>
    <p:sldId id="818" r:id="rId22"/>
    <p:sldId id="824" r:id="rId23"/>
    <p:sldId id="825" r:id="rId24"/>
    <p:sldId id="826" r:id="rId25"/>
    <p:sldId id="827" r:id="rId26"/>
    <p:sldId id="828" r:id="rId27"/>
    <p:sldId id="829" r:id="rId28"/>
    <p:sldId id="830" r:id="rId29"/>
    <p:sldId id="831" r:id="rId30"/>
    <p:sldId id="819" r:id="rId31"/>
    <p:sldId id="832" r:id="rId32"/>
    <p:sldId id="833" r:id="rId33"/>
    <p:sldId id="820" r:id="rId34"/>
    <p:sldId id="821" r:id="rId35"/>
    <p:sldId id="822" r:id="rId36"/>
    <p:sldId id="823" r:id="rId37"/>
    <p:sldId id="913" r:id="rId38"/>
    <p:sldId id="812" r:id="rId39"/>
    <p:sldId id="658" r:id="rId40"/>
    <p:sldId id="816" r:id="rId41"/>
    <p:sldId id="914" r:id="rId42"/>
    <p:sldId id="931" r:id="rId43"/>
    <p:sldId id="932" r:id="rId44"/>
    <p:sldId id="698" r:id="rId45"/>
    <p:sldId id="699" r:id="rId46"/>
    <p:sldId id="700" r:id="rId47"/>
    <p:sldId id="701" r:id="rId48"/>
    <p:sldId id="702" r:id="rId49"/>
    <p:sldId id="703" r:id="rId50"/>
    <p:sldId id="934" r:id="rId51"/>
    <p:sldId id="705" r:id="rId52"/>
    <p:sldId id="706" r:id="rId53"/>
    <p:sldId id="707" r:id="rId54"/>
    <p:sldId id="897" r:id="rId55"/>
    <p:sldId id="834" r:id="rId56"/>
    <p:sldId id="935" r:id="rId57"/>
    <p:sldId id="709" r:id="rId58"/>
    <p:sldId id="710" r:id="rId59"/>
    <p:sldId id="711" r:id="rId60"/>
    <p:sldId id="712" r:id="rId61"/>
    <p:sldId id="713" r:id="rId62"/>
    <p:sldId id="936" r:id="rId63"/>
    <p:sldId id="714" r:id="rId64"/>
    <p:sldId id="937" r:id="rId65"/>
    <p:sldId id="929" r:id="rId66"/>
    <p:sldId id="715" r:id="rId67"/>
    <p:sldId id="716" r:id="rId68"/>
    <p:sldId id="717" r:id="rId69"/>
    <p:sldId id="718" r:id="rId70"/>
    <p:sldId id="719" r:id="rId71"/>
    <p:sldId id="720" r:id="rId72"/>
    <p:sldId id="721" r:id="rId73"/>
    <p:sldId id="938" r:id="rId74"/>
    <p:sldId id="835" r:id="rId75"/>
    <p:sldId id="946" r:id="rId76"/>
    <p:sldId id="723" r:id="rId77"/>
    <p:sldId id="722" r:id="rId78"/>
    <p:sldId id="689" r:id="rId79"/>
    <p:sldId id="690" r:id="rId80"/>
    <p:sldId id="660" r:id="rId81"/>
    <p:sldId id="661" r:id="rId82"/>
    <p:sldId id="662" r:id="rId83"/>
    <p:sldId id="725" r:id="rId84"/>
    <p:sldId id="726" r:id="rId85"/>
    <p:sldId id="950" r:id="rId86"/>
    <p:sldId id="951" r:id="rId87"/>
    <p:sldId id="952" r:id="rId88"/>
    <p:sldId id="953" r:id="rId89"/>
    <p:sldId id="939" r:id="rId90"/>
    <p:sldId id="836" r:id="rId91"/>
    <p:sldId id="947" r:id="rId92"/>
    <p:sldId id="614" r:id="rId93"/>
    <p:sldId id="615" r:id="rId94"/>
    <p:sldId id="637" r:id="rId95"/>
    <p:sldId id="940" r:id="rId96"/>
    <p:sldId id="837" r:id="rId97"/>
    <p:sldId id="948" r:id="rId98"/>
    <p:sldId id="724" r:id="rId99"/>
    <p:sldId id="728" r:id="rId100"/>
    <p:sldId id="729" r:id="rId101"/>
    <p:sldId id="663" r:id="rId102"/>
    <p:sldId id="795" r:id="rId103"/>
    <p:sldId id="838" r:id="rId104"/>
    <p:sldId id="839" r:id="rId105"/>
    <p:sldId id="840" r:id="rId106"/>
    <p:sldId id="841" r:id="rId107"/>
    <p:sldId id="941" r:id="rId108"/>
    <p:sldId id="842" r:id="rId109"/>
    <p:sldId id="949" r:id="rId110"/>
    <p:sldId id="796" r:id="rId111"/>
    <p:sldId id="799" r:id="rId112"/>
    <p:sldId id="731" r:id="rId113"/>
    <p:sldId id="797" r:id="rId114"/>
    <p:sldId id="809" r:id="rId115"/>
    <p:sldId id="810" r:id="rId116"/>
    <p:sldId id="801" r:id="rId117"/>
    <p:sldId id="732" r:id="rId118"/>
    <p:sldId id="798" r:id="rId119"/>
    <p:sldId id="800" r:id="rId120"/>
    <p:sldId id="843" r:id="rId121"/>
    <p:sldId id="802" r:id="rId122"/>
    <p:sldId id="737" r:id="rId123"/>
    <p:sldId id="803" r:id="rId124"/>
    <p:sldId id="805" r:id="rId125"/>
    <p:sldId id="804" r:id="rId126"/>
    <p:sldId id="806" r:id="rId127"/>
    <p:sldId id="733" r:id="rId128"/>
    <p:sldId id="736" r:id="rId129"/>
    <p:sldId id="738" r:id="rId130"/>
    <p:sldId id="739" r:id="rId131"/>
    <p:sldId id="734" r:id="rId132"/>
    <p:sldId id="735" r:id="rId133"/>
    <p:sldId id="672" r:id="rId134"/>
    <p:sldId id="852" r:id="rId135"/>
    <p:sldId id="808" r:id="rId136"/>
    <p:sldId id="844" r:id="rId137"/>
    <p:sldId id="845" r:id="rId138"/>
    <p:sldId id="846" r:id="rId139"/>
    <p:sldId id="847" r:id="rId140"/>
    <p:sldId id="848" r:id="rId141"/>
    <p:sldId id="849" r:id="rId142"/>
    <p:sldId id="850" r:id="rId143"/>
    <p:sldId id="851" r:id="rId144"/>
    <p:sldId id="807" r:id="rId145"/>
    <p:sldId id="853" r:id="rId146"/>
    <p:sldId id="854" r:id="rId147"/>
    <p:sldId id="855" r:id="rId148"/>
    <p:sldId id="954" r:id="rId149"/>
    <p:sldId id="856" r:id="rId150"/>
    <p:sldId id="740" r:id="rId151"/>
    <p:sldId id="741" r:id="rId152"/>
    <p:sldId id="857" r:id="rId153"/>
    <p:sldId id="742" r:id="rId154"/>
    <p:sldId id="858" r:id="rId155"/>
    <p:sldId id="743" r:id="rId156"/>
    <p:sldId id="744" r:id="rId157"/>
    <p:sldId id="745" r:id="rId158"/>
    <p:sldId id="746" r:id="rId159"/>
    <p:sldId id="747" r:id="rId160"/>
    <p:sldId id="748" r:id="rId161"/>
    <p:sldId id="749" r:id="rId162"/>
    <p:sldId id="859" r:id="rId163"/>
    <p:sldId id="861" r:id="rId164"/>
    <p:sldId id="860" r:id="rId165"/>
    <p:sldId id="862" r:id="rId166"/>
    <p:sldId id="863" r:id="rId167"/>
    <p:sldId id="864" r:id="rId168"/>
    <p:sldId id="865" r:id="rId169"/>
    <p:sldId id="866" r:id="rId170"/>
    <p:sldId id="867" r:id="rId171"/>
    <p:sldId id="868" r:id="rId172"/>
    <p:sldId id="869" r:id="rId173"/>
    <p:sldId id="955" r:id="rId174"/>
    <p:sldId id="775" r:id="rId175"/>
    <p:sldId id="876" r:id="rId176"/>
    <p:sldId id="870" r:id="rId177"/>
    <p:sldId id="871" r:id="rId178"/>
    <p:sldId id="872" r:id="rId179"/>
    <p:sldId id="873" r:id="rId180"/>
    <p:sldId id="874" r:id="rId181"/>
    <p:sldId id="875" r:id="rId182"/>
    <p:sldId id="877" r:id="rId183"/>
    <p:sldId id="878" r:id="rId184"/>
    <p:sldId id="880" r:id="rId185"/>
    <p:sldId id="879" r:id="rId186"/>
    <p:sldId id="881" r:id="rId187"/>
    <p:sldId id="882" r:id="rId188"/>
    <p:sldId id="883" r:id="rId189"/>
    <p:sldId id="884" r:id="rId190"/>
    <p:sldId id="956" r:id="rId191"/>
    <p:sldId id="757" r:id="rId192"/>
    <p:sldId id="885" r:id="rId193"/>
    <p:sldId id="763" r:id="rId194"/>
    <p:sldId id="758" r:id="rId195"/>
    <p:sldId id="887" r:id="rId196"/>
    <p:sldId id="888" r:id="rId197"/>
    <p:sldId id="886" r:id="rId198"/>
    <p:sldId id="764" r:id="rId199"/>
    <p:sldId id="759" r:id="rId200"/>
    <p:sldId id="760" r:id="rId201"/>
    <p:sldId id="761" r:id="rId202"/>
    <p:sldId id="889" r:id="rId203"/>
    <p:sldId id="890" r:id="rId204"/>
    <p:sldId id="891" r:id="rId205"/>
    <p:sldId id="892" r:id="rId206"/>
    <p:sldId id="893" r:id="rId207"/>
    <p:sldId id="894" r:id="rId208"/>
    <p:sldId id="895" r:id="rId209"/>
    <p:sldId id="762" r:id="rId210"/>
    <p:sldId id="957" r:id="rId211"/>
    <p:sldId id="766" r:id="rId212"/>
    <p:sldId id="896" r:id="rId213"/>
    <p:sldId id="767" r:id="rId214"/>
    <p:sldId id="768" r:id="rId215"/>
    <p:sldId id="771" r:id="rId216"/>
    <p:sldId id="903" r:id="rId217"/>
    <p:sldId id="772" r:id="rId218"/>
    <p:sldId id="773" r:id="rId219"/>
    <p:sldId id="774" r:id="rId220"/>
    <p:sldId id="898" r:id="rId221"/>
    <p:sldId id="899" r:id="rId222"/>
    <p:sldId id="900" r:id="rId223"/>
    <p:sldId id="901" r:id="rId224"/>
    <p:sldId id="902" r:id="rId225"/>
    <p:sldId id="769" r:id="rId226"/>
    <p:sldId id="770" r:id="rId227"/>
    <p:sldId id="958" r:id="rId228"/>
    <p:sldId id="904" r:id="rId229"/>
    <p:sldId id="960" r:id="rId230"/>
    <p:sldId id="961" r:id="rId231"/>
    <p:sldId id="915" r:id="rId232"/>
    <p:sldId id="916" r:id="rId233"/>
    <p:sldId id="917" r:id="rId234"/>
    <p:sldId id="918" r:id="rId235"/>
    <p:sldId id="919" r:id="rId236"/>
    <p:sldId id="920" r:id="rId237"/>
    <p:sldId id="921" r:id="rId238"/>
    <p:sldId id="922" r:id="rId239"/>
    <p:sldId id="923" r:id="rId240"/>
    <p:sldId id="924" r:id="rId241"/>
    <p:sldId id="962" r:id="rId242"/>
    <p:sldId id="963" r:id="rId243"/>
    <p:sldId id="964" r:id="rId244"/>
    <p:sldId id="965" r:id="rId245"/>
    <p:sldId id="966" r:id="rId246"/>
    <p:sldId id="906" r:id="rId247"/>
    <p:sldId id="925" r:id="rId248"/>
    <p:sldId id="968" r:id="rId249"/>
    <p:sldId id="969" r:id="rId250"/>
    <p:sldId id="970" r:id="rId251"/>
    <p:sldId id="540" r:id="rId252"/>
    <p:sldId id="1231" r:id="rId253"/>
    <p:sldId id="666" r:id="rId254"/>
    <p:sldId id="987" r:id="rId255"/>
    <p:sldId id="988" r:id="rId256"/>
    <p:sldId id="989" r:id="rId257"/>
    <p:sldId id="1232" r:id="rId258"/>
    <p:sldId id="1162" r:id="rId259"/>
    <p:sldId id="1178" r:id="rId260"/>
    <p:sldId id="1177" r:id="rId261"/>
    <p:sldId id="1179" r:id="rId262"/>
    <p:sldId id="1180" r:id="rId263"/>
    <p:sldId id="1181" r:id="rId264"/>
    <p:sldId id="1182" r:id="rId265"/>
    <p:sldId id="1183" r:id="rId266"/>
    <p:sldId id="1184" r:id="rId267"/>
    <p:sldId id="1185" r:id="rId268"/>
    <p:sldId id="1186" r:id="rId269"/>
    <p:sldId id="1187" r:id="rId270"/>
    <p:sldId id="1188" r:id="rId271"/>
    <p:sldId id="1189" r:id="rId272"/>
    <p:sldId id="1233" r:id="rId273"/>
    <p:sldId id="1163" r:id="rId274"/>
    <p:sldId id="1131" r:id="rId275"/>
    <p:sldId id="1196" r:id="rId276"/>
    <p:sldId id="1191" r:id="rId277"/>
    <p:sldId id="1192" r:id="rId278"/>
    <p:sldId id="1193" r:id="rId279"/>
    <p:sldId id="1197" r:id="rId280"/>
    <p:sldId id="1194" r:id="rId281"/>
    <p:sldId id="1234" r:id="rId282"/>
    <p:sldId id="1164" r:id="rId283"/>
    <p:sldId id="1198" r:id="rId284"/>
    <p:sldId id="1190" r:id="rId285"/>
    <p:sldId id="1070" r:id="rId286"/>
    <p:sldId id="1199" r:id="rId287"/>
    <p:sldId id="1200" r:id="rId288"/>
    <p:sldId id="1201" r:id="rId289"/>
    <p:sldId id="1202" r:id="rId290"/>
    <p:sldId id="1203" r:id="rId291"/>
    <p:sldId id="1204" r:id="rId292"/>
    <p:sldId id="1205" r:id="rId293"/>
    <p:sldId id="1165" r:id="rId294"/>
    <p:sldId id="1206" r:id="rId295"/>
    <p:sldId id="1166" r:id="rId296"/>
    <p:sldId id="1207" r:id="rId297"/>
    <p:sldId id="1208" r:id="rId298"/>
    <p:sldId id="1209" r:id="rId299"/>
    <p:sldId id="1235" r:id="rId300"/>
    <p:sldId id="1169" r:id="rId301"/>
    <p:sldId id="1171" r:id="rId302"/>
    <p:sldId id="1210" r:id="rId303"/>
    <p:sldId id="1172" r:id="rId304"/>
    <p:sldId id="1211" r:id="rId305"/>
    <p:sldId id="1212" r:id="rId306"/>
    <p:sldId id="1213" r:id="rId307"/>
    <p:sldId id="1214" r:id="rId308"/>
    <p:sldId id="1173" r:id="rId309"/>
    <p:sldId id="1174" r:id="rId310"/>
    <p:sldId id="1215" r:id="rId311"/>
    <p:sldId id="1175" r:id="rId312"/>
    <p:sldId id="1216" r:id="rId313"/>
    <p:sldId id="1217" r:id="rId314"/>
    <p:sldId id="1218" r:id="rId315"/>
    <p:sldId id="1219" r:id="rId316"/>
    <p:sldId id="1220" r:id="rId317"/>
    <p:sldId id="1221" r:id="rId318"/>
    <p:sldId id="1222" r:id="rId319"/>
    <p:sldId id="1223" r:id="rId320"/>
    <p:sldId id="1224" r:id="rId321"/>
    <p:sldId id="1225" r:id="rId322"/>
    <p:sldId id="1226" r:id="rId323"/>
    <p:sldId id="1227" r:id="rId324"/>
    <p:sldId id="1228" r:id="rId325"/>
    <p:sldId id="1229" r:id="rId326"/>
    <p:sldId id="1230" r:id="rId327"/>
  </p:sldIdLst>
  <p:sldSz cx="9144000" cy="5143500" type="screen16x9"/>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AAB66546-7BD6-409C-8D51-E23BE15767BC}">
          <p14:sldIdLst>
            <p14:sldId id="256"/>
            <p14:sldId id="258"/>
            <p14:sldId id="283"/>
            <p14:sldId id="284"/>
            <p14:sldId id="285"/>
            <p14:sldId id="286"/>
            <p14:sldId id="287"/>
            <p14:sldId id="288"/>
            <p14:sldId id="289"/>
            <p14:sldId id="942"/>
            <p14:sldId id="945"/>
            <p14:sldId id="933"/>
            <p14:sldId id="943"/>
            <p14:sldId id="944"/>
            <p14:sldId id="813"/>
            <p14:sldId id="911"/>
            <p14:sldId id="912"/>
            <p14:sldId id="817"/>
            <p14:sldId id="818"/>
            <p14:sldId id="824"/>
            <p14:sldId id="825"/>
            <p14:sldId id="826"/>
            <p14:sldId id="827"/>
            <p14:sldId id="828"/>
            <p14:sldId id="829"/>
            <p14:sldId id="830"/>
            <p14:sldId id="831"/>
            <p14:sldId id="819"/>
            <p14:sldId id="832"/>
            <p14:sldId id="833"/>
            <p14:sldId id="820"/>
            <p14:sldId id="821"/>
            <p14:sldId id="822"/>
            <p14:sldId id="823"/>
            <p14:sldId id="913"/>
            <p14:sldId id="812"/>
            <p14:sldId id="658"/>
            <p14:sldId id="816"/>
            <p14:sldId id="914"/>
            <p14:sldId id="931"/>
            <p14:sldId id="932"/>
            <p14:sldId id="698"/>
            <p14:sldId id="699"/>
            <p14:sldId id="700"/>
            <p14:sldId id="701"/>
            <p14:sldId id="702"/>
            <p14:sldId id="703"/>
            <p14:sldId id="934"/>
            <p14:sldId id="705"/>
            <p14:sldId id="706"/>
            <p14:sldId id="707"/>
            <p14:sldId id="897"/>
            <p14:sldId id="834"/>
            <p14:sldId id="935"/>
            <p14:sldId id="709"/>
            <p14:sldId id="710"/>
            <p14:sldId id="711"/>
            <p14:sldId id="712"/>
            <p14:sldId id="713"/>
            <p14:sldId id="936"/>
            <p14:sldId id="714"/>
            <p14:sldId id="937"/>
            <p14:sldId id="929"/>
            <p14:sldId id="715"/>
            <p14:sldId id="716"/>
            <p14:sldId id="717"/>
            <p14:sldId id="718"/>
            <p14:sldId id="719"/>
            <p14:sldId id="720"/>
            <p14:sldId id="721"/>
            <p14:sldId id="938"/>
            <p14:sldId id="835"/>
            <p14:sldId id="946"/>
            <p14:sldId id="723"/>
            <p14:sldId id="722"/>
            <p14:sldId id="689"/>
            <p14:sldId id="690"/>
            <p14:sldId id="660"/>
            <p14:sldId id="661"/>
            <p14:sldId id="662"/>
            <p14:sldId id="725"/>
            <p14:sldId id="726"/>
            <p14:sldId id="950"/>
            <p14:sldId id="951"/>
            <p14:sldId id="952"/>
            <p14:sldId id="953"/>
            <p14:sldId id="939"/>
            <p14:sldId id="836"/>
            <p14:sldId id="947"/>
            <p14:sldId id="614"/>
            <p14:sldId id="615"/>
            <p14:sldId id="637"/>
            <p14:sldId id="940"/>
            <p14:sldId id="837"/>
            <p14:sldId id="948"/>
            <p14:sldId id="724"/>
            <p14:sldId id="728"/>
            <p14:sldId id="729"/>
            <p14:sldId id="663"/>
            <p14:sldId id="795"/>
            <p14:sldId id="838"/>
            <p14:sldId id="839"/>
            <p14:sldId id="840"/>
            <p14:sldId id="841"/>
            <p14:sldId id="941"/>
            <p14:sldId id="842"/>
            <p14:sldId id="949"/>
            <p14:sldId id="796"/>
            <p14:sldId id="799"/>
            <p14:sldId id="731"/>
            <p14:sldId id="797"/>
            <p14:sldId id="809"/>
            <p14:sldId id="810"/>
            <p14:sldId id="801"/>
            <p14:sldId id="732"/>
            <p14:sldId id="798"/>
            <p14:sldId id="800"/>
            <p14:sldId id="843"/>
            <p14:sldId id="802"/>
            <p14:sldId id="737"/>
            <p14:sldId id="803"/>
            <p14:sldId id="805"/>
            <p14:sldId id="804"/>
            <p14:sldId id="806"/>
            <p14:sldId id="733"/>
            <p14:sldId id="736"/>
            <p14:sldId id="738"/>
            <p14:sldId id="739"/>
            <p14:sldId id="734"/>
            <p14:sldId id="735"/>
            <p14:sldId id="672"/>
            <p14:sldId id="852"/>
            <p14:sldId id="808"/>
            <p14:sldId id="844"/>
            <p14:sldId id="845"/>
            <p14:sldId id="846"/>
            <p14:sldId id="847"/>
            <p14:sldId id="848"/>
            <p14:sldId id="849"/>
            <p14:sldId id="850"/>
            <p14:sldId id="851"/>
            <p14:sldId id="807"/>
            <p14:sldId id="853"/>
            <p14:sldId id="854"/>
            <p14:sldId id="855"/>
            <p14:sldId id="954"/>
            <p14:sldId id="856"/>
            <p14:sldId id="740"/>
            <p14:sldId id="741"/>
            <p14:sldId id="857"/>
            <p14:sldId id="742"/>
            <p14:sldId id="858"/>
            <p14:sldId id="743"/>
            <p14:sldId id="744"/>
            <p14:sldId id="745"/>
            <p14:sldId id="746"/>
            <p14:sldId id="747"/>
            <p14:sldId id="748"/>
            <p14:sldId id="749"/>
            <p14:sldId id="859"/>
            <p14:sldId id="861"/>
            <p14:sldId id="860"/>
            <p14:sldId id="862"/>
            <p14:sldId id="863"/>
            <p14:sldId id="864"/>
            <p14:sldId id="865"/>
            <p14:sldId id="866"/>
            <p14:sldId id="867"/>
            <p14:sldId id="868"/>
            <p14:sldId id="869"/>
            <p14:sldId id="955"/>
            <p14:sldId id="775"/>
            <p14:sldId id="876"/>
            <p14:sldId id="870"/>
            <p14:sldId id="871"/>
            <p14:sldId id="872"/>
            <p14:sldId id="873"/>
            <p14:sldId id="874"/>
            <p14:sldId id="875"/>
            <p14:sldId id="877"/>
            <p14:sldId id="878"/>
            <p14:sldId id="880"/>
            <p14:sldId id="879"/>
            <p14:sldId id="881"/>
            <p14:sldId id="882"/>
            <p14:sldId id="883"/>
            <p14:sldId id="884"/>
            <p14:sldId id="956"/>
            <p14:sldId id="757"/>
            <p14:sldId id="885"/>
            <p14:sldId id="763"/>
            <p14:sldId id="758"/>
            <p14:sldId id="887"/>
            <p14:sldId id="888"/>
            <p14:sldId id="886"/>
            <p14:sldId id="764"/>
            <p14:sldId id="759"/>
            <p14:sldId id="760"/>
            <p14:sldId id="761"/>
            <p14:sldId id="889"/>
            <p14:sldId id="890"/>
            <p14:sldId id="891"/>
            <p14:sldId id="892"/>
            <p14:sldId id="893"/>
            <p14:sldId id="894"/>
            <p14:sldId id="895"/>
            <p14:sldId id="762"/>
            <p14:sldId id="957"/>
            <p14:sldId id="766"/>
            <p14:sldId id="896"/>
            <p14:sldId id="767"/>
            <p14:sldId id="768"/>
            <p14:sldId id="771"/>
            <p14:sldId id="903"/>
            <p14:sldId id="772"/>
            <p14:sldId id="773"/>
            <p14:sldId id="774"/>
            <p14:sldId id="898"/>
            <p14:sldId id="899"/>
            <p14:sldId id="900"/>
            <p14:sldId id="901"/>
            <p14:sldId id="902"/>
            <p14:sldId id="769"/>
            <p14:sldId id="770"/>
            <p14:sldId id="958"/>
            <p14:sldId id="904"/>
            <p14:sldId id="960"/>
            <p14:sldId id="961"/>
            <p14:sldId id="915"/>
            <p14:sldId id="916"/>
            <p14:sldId id="917"/>
            <p14:sldId id="918"/>
            <p14:sldId id="919"/>
            <p14:sldId id="920"/>
            <p14:sldId id="921"/>
            <p14:sldId id="922"/>
            <p14:sldId id="923"/>
            <p14:sldId id="924"/>
            <p14:sldId id="962"/>
            <p14:sldId id="963"/>
            <p14:sldId id="964"/>
            <p14:sldId id="965"/>
            <p14:sldId id="966"/>
            <p14:sldId id="906"/>
            <p14:sldId id="925"/>
            <p14:sldId id="968"/>
            <p14:sldId id="969"/>
            <p14:sldId id="970"/>
            <p14:sldId id="540"/>
            <p14:sldId id="1231"/>
            <p14:sldId id="666"/>
            <p14:sldId id="987"/>
            <p14:sldId id="988"/>
            <p14:sldId id="989"/>
            <p14:sldId id="1232"/>
            <p14:sldId id="1162"/>
            <p14:sldId id="1178"/>
            <p14:sldId id="1177"/>
            <p14:sldId id="1179"/>
            <p14:sldId id="1180"/>
            <p14:sldId id="1181"/>
            <p14:sldId id="1182"/>
            <p14:sldId id="1183"/>
            <p14:sldId id="1184"/>
            <p14:sldId id="1185"/>
            <p14:sldId id="1186"/>
            <p14:sldId id="1187"/>
            <p14:sldId id="1188"/>
            <p14:sldId id="1189"/>
            <p14:sldId id="1233"/>
            <p14:sldId id="1163"/>
            <p14:sldId id="1131"/>
            <p14:sldId id="1196"/>
            <p14:sldId id="1191"/>
            <p14:sldId id="1192"/>
            <p14:sldId id="1193"/>
            <p14:sldId id="1197"/>
            <p14:sldId id="1194"/>
            <p14:sldId id="1234"/>
            <p14:sldId id="1164"/>
            <p14:sldId id="1198"/>
            <p14:sldId id="1190"/>
            <p14:sldId id="1070"/>
            <p14:sldId id="1199"/>
            <p14:sldId id="1200"/>
            <p14:sldId id="1201"/>
            <p14:sldId id="1202"/>
            <p14:sldId id="1203"/>
            <p14:sldId id="1204"/>
            <p14:sldId id="1205"/>
            <p14:sldId id="1165"/>
            <p14:sldId id="1206"/>
            <p14:sldId id="1166"/>
            <p14:sldId id="1207"/>
            <p14:sldId id="1208"/>
            <p14:sldId id="1209"/>
            <p14:sldId id="1235"/>
            <p14:sldId id="1169"/>
            <p14:sldId id="1171"/>
            <p14:sldId id="1210"/>
            <p14:sldId id="1172"/>
            <p14:sldId id="1211"/>
            <p14:sldId id="1212"/>
            <p14:sldId id="1213"/>
            <p14:sldId id="1214"/>
            <p14:sldId id="1173"/>
            <p14:sldId id="1174"/>
            <p14:sldId id="1215"/>
            <p14:sldId id="1175"/>
            <p14:sldId id="1216"/>
            <p14:sldId id="1217"/>
            <p14:sldId id="1218"/>
            <p14:sldId id="1219"/>
            <p14:sldId id="1220"/>
            <p14:sldId id="1221"/>
            <p14:sldId id="1222"/>
            <p14:sldId id="1223"/>
            <p14:sldId id="1224"/>
            <p14:sldId id="1225"/>
            <p14:sldId id="1226"/>
            <p14:sldId id="1227"/>
            <p14:sldId id="1228"/>
            <p14:sldId id="1229"/>
            <p14:sldId id="1230"/>
          </p14:sldIdLst>
        </p14:section>
        <p14:section name="hidden" id="{88E4E144-B5A9-4B87-BC65-29901EAC121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2183"/>
    <a:srgbClr val="224CE6"/>
    <a:srgbClr val="F9F9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87" autoAdjust="0"/>
    <p:restoredTop sz="96532" autoAdjust="0"/>
  </p:normalViewPr>
  <p:slideViewPr>
    <p:cSldViewPr snapToGrid="0">
      <p:cViewPr varScale="1">
        <p:scale>
          <a:sx n="155" d="100"/>
          <a:sy n="155" d="100"/>
        </p:scale>
        <p:origin x="792" y="138"/>
      </p:cViewPr>
      <p:guideLst/>
    </p:cSldViewPr>
  </p:slideViewPr>
  <p:notesTextViewPr>
    <p:cViewPr>
      <p:scale>
        <a:sx n="1" d="1"/>
        <a:sy n="1" d="1"/>
      </p:scale>
      <p:origin x="0" y="0"/>
    </p:cViewPr>
  </p:notesTextViewPr>
  <p:notesViewPr>
    <p:cSldViewPr snapToGrid="0">
      <p:cViewPr varScale="1">
        <p:scale>
          <a:sx n="78" d="100"/>
          <a:sy n="78" d="100"/>
        </p:scale>
        <p:origin x="3018" y="108"/>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99" Type="http://schemas.openxmlformats.org/officeDocument/2006/relationships/slide" Target="slides/slide296.xml"/><Relationship Id="rId21" Type="http://schemas.openxmlformats.org/officeDocument/2006/relationships/slide" Target="slides/slide18.xml"/><Relationship Id="rId63" Type="http://schemas.openxmlformats.org/officeDocument/2006/relationships/slide" Target="slides/slide60.xml"/><Relationship Id="rId159" Type="http://schemas.openxmlformats.org/officeDocument/2006/relationships/slide" Target="slides/slide156.xml"/><Relationship Id="rId324" Type="http://schemas.openxmlformats.org/officeDocument/2006/relationships/slide" Target="slides/slide321.xml"/><Relationship Id="rId170" Type="http://schemas.openxmlformats.org/officeDocument/2006/relationships/slide" Target="slides/slide167.xml"/><Relationship Id="rId226" Type="http://schemas.openxmlformats.org/officeDocument/2006/relationships/slide" Target="slides/slide223.xml"/><Relationship Id="rId268" Type="http://schemas.openxmlformats.org/officeDocument/2006/relationships/slide" Target="slides/slide265.xml"/><Relationship Id="rId32" Type="http://schemas.openxmlformats.org/officeDocument/2006/relationships/slide" Target="slides/slide29.xml"/><Relationship Id="rId74" Type="http://schemas.openxmlformats.org/officeDocument/2006/relationships/slide" Target="slides/slide71.xml"/><Relationship Id="rId128" Type="http://schemas.openxmlformats.org/officeDocument/2006/relationships/slide" Target="slides/slide125.xml"/><Relationship Id="rId5" Type="http://schemas.openxmlformats.org/officeDocument/2006/relationships/slide" Target="slides/slide2.xml"/><Relationship Id="rId181" Type="http://schemas.openxmlformats.org/officeDocument/2006/relationships/slide" Target="slides/slide178.xml"/><Relationship Id="rId237" Type="http://schemas.openxmlformats.org/officeDocument/2006/relationships/slide" Target="slides/slide234.xml"/><Relationship Id="rId279" Type="http://schemas.openxmlformats.org/officeDocument/2006/relationships/slide" Target="slides/slide276.xml"/><Relationship Id="rId43" Type="http://schemas.openxmlformats.org/officeDocument/2006/relationships/slide" Target="slides/slide40.xml"/><Relationship Id="rId139" Type="http://schemas.openxmlformats.org/officeDocument/2006/relationships/slide" Target="slides/slide136.xml"/><Relationship Id="rId290" Type="http://schemas.openxmlformats.org/officeDocument/2006/relationships/slide" Target="slides/slide287.xml"/><Relationship Id="rId304" Type="http://schemas.openxmlformats.org/officeDocument/2006/relationships/slide" Target="slides/slide301.xml"/><Relationship Id="rId85" Type="http://schemas.openxmlformats.org/officeDocument/2006/relationships/slide" Target="slides/slide82.xml"/><Relationship Id="rId150" Type="http://schemas.openxmlformats.org/officeDocument/2006/relationships/slide" Target="slides/slide147.xml"/><Relationship Id="rId192" Type="http://schemas.openxmlformats.org/officeDocument/2006/relationships/slide" Target="slides/slide189.xml"/><Relationship Id="rId206" Type="http://schemas.openxmlformats.org/officeDocument/2006/relationships/slide" Target="slides/slide203.xml"/><Relationship Id="rId248" Type="http://schemas.openxmlformats.org/officeDocument/2006/relationships/slide" Target="slides/slide245.xml"/><Relationship Id="rId12" Type="http://schemas.openxmlformats.org/officeDocument/2006/relationships/slide" Target="slides/slide9.xml"/><Relationship Id="rId108" Type="http://schemas.openxmlformats.org/officeDocument/2006/relationships/slide" Target="slides/slide105.xml"/><Relationship Id="rId315" Type="http://schemas.openxmlformats.org/officeDocument/2006/relationships/slide" Target="slides/slide312.xml"/><Relationship Id="rId54" Type="http://schemas.openxmlformats.org/officeDocument/2006/relationships/slide" Target="slides/slide51.xml"/><Relationship Id="rId96" Type="http://schemas.openxmlformats.org/officeDocument/2006/relationships/slide" Target="slides/slide93.xml"/><Relationship Id="rId161" Type="http://schemas.openxmlformats.org/officeDocument/2006/relationships/slide" Target="slides/slide158.xml"/><Relationship Id="rId217" Type="http://schemas.openxmlformats.org/officeDocument/2006/relationships/slide" Target="slides/slide214.xml"/><Relationship Id="rId259" Type="http://schemas.openxmlformats.org/officeDocument/2006/relationships/slide" Target="slides/slide256.xml"/><Relationship Id="rId23" Type="http://schemas.openxmlformats.org/officeDocument/2006/relationships/slide" Target="slides/slide20.xml"/><Relationship Id="rId119" Type="http://schemas.openxmlformats.org/officeDocument/2006/relationships/slide" Target="slides/slide116.xml"/><Relationship Id="rId270" Type="http://schemas.openxmlformats.org/officeDocument/2006/relationships/slide" Target="slides/slide267.xml"/><Relationship Id="rId326" Type="http://schemas.openxmlformats.org/officeDocument/2006/relationships/slide" Target="slides/slide323.xml"/><Relationship Id="rId65" Type="http://schemas.openxmlformats.org/officeDocument/2006/relationships/slide" Target="slides/slide62.xml"/><Relationship Id="rId130" Type="http://schemas.openxmlformats.org/officeDocument/2006/relationships/slide" Target="slides/slide127.xml"/><Relationship Id="rId172" Type="http://schemas.openxmlformats.org/officeDocument/2006/relationships/slide" Target="slides/slide169.xml"/><Relationship Id="rId228" Type="http://schemas.openxmlformats.org/officeDocument/2006/relationships/slide" Target="slides/slide225.xml"/><Relationship Id="rId281" Type="http://schemas.openxmlformats.org/officeDocument/2006/relationships/slide" Target="slides/slide278.xml"/><Relationship Id="rId34" Type="http://schemas.openxmlformats.org/officeDocument/2006/relationships/slide" Target="slides/slide31.xml"/><Relationship Id="rId76" Type="http://schemas.openxmlformats.org/officeDocument/2006/relationships/slide" Target="slides/slide73.xml"/><Relationship Id="rId141" Type="http://schemas.openxmlformats.org/officeDocument/2006/relationships/slide" Target="slides/slide138.xml"/><Relationship Id="rId7" Type="http://schemas.openxmlformats.org/officeDocument/2006/relationships/slide" Target="slides/slide4.xml"/><Relationship Id="rId183" Type="http://schemas.openxmlformats.org/officeDocument/2006/relationships/slide" Target="slides/slide180.xml"/><Relationship Id="rId239" Type="http://schemas.openxmlformats.org/officeDocument/2006/relationships/slide" Target="slides/slide236.xml"/><Relationship Id="rId250" Type="http://schemas.openxmlformats.org/officeDocument/2006/relationships/slide" Target="slides/slide247.xml"/><Relationship Id="rId292" Type="http://schemas.openxmlformats.org/officeDocument/2006/relationships/slide" Target="slides/slide289.xml"/><Relationship Id="rId306" Type="http://schemas.openxmlformats.org/officeDocument/2006/relationships/slide" Target="slides/slide303.xml"/><Relationship Id="rId24" Type="http://schemas.openxmlformats.org/officeDocument/2006/relationships/slide" Target="slides/slide21.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31" Type="http://schemas.openxmlformats.org/officeDocument/2006/relationships/slide" Target="slides/slide128.xml"/><Relationship Id="rId327" Type="http://schemas.openxmlformats.org/officeDocument/2006/relationships/slide" Target="slides/slide324.xml"/><Relationship Id="rId152" Type="http://schemas.openxmlformats.org/officeDocument/2006/relationships/slide" Target="slides/slide149.xml"/><Relationship Id="rId173" Type="http://schemas.openxmlformats.org/officeDocument/2006/relationships/slide" Target="slides/slide170.xml"/><Relationship Id="rId194" Type="http://schemas.openxmlformats.org/officeDocument/2006/relationships/slide" Target="slides/slide191.xml"/><Relationship Id="rId208" Type="http://schemas.openxmlformats.org/officeDocument/2006/relationships/slide" Target="slides/slide205.xml"/><Relationship Id="rId229" Type="http://schemas.openxmlformats.org/officeDocument/2006/relationships/slide" Target="slides/slide226.xml"/><Relationship Id="rId240" Type="http://schemas.openxmlformats.org/officeDocument/2006/relationships/slide" Target="slides/slide237.xml"/><Relationship Id="rId261" Type="http://schemas.openxmlformats.org/officeDocument/2006/relationships/slide" Target="slides/slide258.xml"/><Relationship Id="rId14" Type="http://schemas.openxmlformats.org/officeDocument/2006/relationships/slide" Target="slides/slide11.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282" Type="http://schemas.openxmlformats.org/officeDocument/2006/relationships/slide" Target="slides/slide279.xml"/><Relationship Id="rId317" Type="http://schemas.openxmlformats.org/officeDocument/2006/relationships/slide" Target="slides/slide314.xml"/><Relationship Id="rId8" Type="http://schemas.openxmlformats.org/officeDocument/2006/relationships/slide" Target="slides/slide5.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slide" Target="slides/slide160.xml"/><Relationship Id="rId184" Type="http://schemas.openxmlformats.org/officeDocument/2006/relationships/slide" Target="slides/slide181.xml"/><Relationship Id="rId219" Type="http://schemas.openxmlformats.org/officeDocument/2006/relationships/slide" Target="slides/slide216.xml"/><Relationship Id="rId230" Type="http://schemas.openxmlformats.org/officeDocument/2006/relationships/slide" Target="slides/slide227.xml"/><Relationship Id="rId251" Type="http://schemas.openxmlformats.org/officeDocument/2006/relationships/slide" Target="slides/slide248.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72" Type="http://schemas.openxmlformats.org/officeDocument/2006/relationships/slide" Target="slides/slide269.xml"/><Relationship Id="rId293" Type="http://schemas.openxmlformats.org/officeDocument/2006/relationships/slide" Target="slides/slide290.xml"/><Relationship Id="rId307" Type="http://schemas.openxmlformats.org/officeDocument/2006/relationships/slide" Target="slides/slide304.xml"/><Relationship Id="rId328" Type="http://schemas.openxmlformats.org/officeDocument/2006/relationships/notesMaster" Target="notesMasters/notesMaster1.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74" Type="http://schemas.openxmlformats.org/officeDocument/2006/relationships/slide" Target="slides/slide171.xml"/><Relationship Id="rId195" Type="http://schemas.openxmlformats.org/officeDocument/2006/relationships/slide" Target="slides/slide192.xml"/><Relationship Id="rId209" Type="http://schemas.openxmlformats.org/officeDocument/2006/relationships/slide" Target="slides/slide206.xml"/><Relationship Id="rId220" Type="http://schemas.openxmlformats.org/officeDocument/2006/relationships/slide" Target="slides/slide217.xml"/><Relationship Id="rId241" Type="http://schemas.openxmlformats.org/officeDocument/2006/relationships/slide" Target="slides/slide238.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262" Type="http://schemas.openxmlformats.org/officeDocument/2006/relationships/slide" Target="slides/slide259.xml"/><Relationship Id="rId283" Type="http://schemas.openxmlformats.org/officeDocument/2006/relationships/slide" Target="slides/slide280.xml"/><Relationship Id="rId318" Type="http://schemas.openxmlformats.org/officeDocument/2006/relationships/slide" Target="slides/slide315.xml"/><Relationship Id="rId78" Type="http://schemas.openxmlformats.org/officeDocument/2006/relationships/slide" Target="slides/slide75.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64" Type="http://schemas.openxmlformats.org/officeDocument/2006/relationships/slide" Target="slides/slide161.xml"/><Relationship Id="rId185" Type="http://schemas.openxmlformats.org/officeDocument/2006/relationships/slide" Target="slides/slide182.xml"/><Relationship Id="rId9" Type="http://schemas.openxmlformats.org/officeDocument/2006/relationships/slide" Target="slides/slide6.xml"/><Relationship Id="rId210" Type="http://schemas.openxmlformats.org/officeDocument/2006/relationships/slide" Target="slides/slide207.xml"/><Relationship Id="rId26" Type="http://schemas.openxmlformats.org/officeDocument/2006/relationships/slide" Target="slides/slide23.xml"/><Relationship Id="rId231" Type="http://schemas.openxmlformats.org/officeDocument/2006/relationships/slide" Target="slides/slide228.xml"/><Relationship Id="rId252" Type="http://schemas.openxmlformats.org/officeDocument/2006/relationships/slide" Target="slides/slide249.xml"/><Relationship Id="rId273" Type="http://schemas.openxmlformats.org/officeDocument/2006/relationships/slide" Target="slides/slide270.xml"/><Relationship Id="rId294" Type="http://schemas.openxmlformats.org/officeDocument/2006/relationships/slide" Target="slides/slide291.xml"/><Relationship Id="rId308" Type="http://schemas.openxmlformats.org/officeDocument/2006/relationships/slide" Target="slides/slide305.xml"/><Relationship Id="rId329" Type="http://schemas.openxmlformats.org/officeDocument/2006/relationships/handoutMaster" Target="handoutMasters/handoutMaster1.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75" Type="http://schemas.openxmlformats.org/officeDocument/2006/relationships/slide" Target="slides/slide172.xml"/><Relationship Id="rId196" Type="http://schemas.openxmlformats.org/officeDocument/2006/relationships/slide" Target="slides/slide193.xml"/><Relationship Id="rId200" Type="http://schemas.openxmlformats.org/officeDocument/2006/relationships/slide" Target="slides/slide197.xml"/><Relationship Id="rId16" Type="http://schemas.openxmlformats.org/officeDocument/2006/relationships/slide" Target="slides/slide13.xml"/><Relationship Id="rId221" Type="http://schemas.openxmlformats.org/officeDocument/2006/relationships/slide" Target="slides/slide218.xml"/><Relationship Id="rId242" Type="http://schemas.openxmlformats.org/officeDocument/2006/relationships/slide" Target="slides/slide239.xml"/><Relationship Id="rId263" Type="http://schemas.openxmlformats.org/officeDocument/2006/relationships/slide" Target="slides/slide260.xml"/><Relationship Id="rId284" Type="http://schemas.openxmlformats.org/officeDocument/2006/relationships/slide" Target="slides/slide281.xml"/><Relationship Id="rId319" Type="http://schemas.openxmlformats.org/officeDocument/2006/relationships/slide" Target="slides/slide316.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330" Type="http://schemas.openxmlformats.org/officeDocument/2006/relationships/presProps" Target="presProps.xml"/><Relationship Id="rId90" Type="http://schemas.openxmlformats.org/officeDocument/2006/relationships/slide" Target="slides/slide87.xml"/><Relationship Id="rId165" Type="http://schemas.openxmlformats.org/officeDocument/2006/relationships/slide" Target="slides/slide162.xml"/><Relationship Id="rId186" Type="http://schemas.openxmlformats.org/officeDocument/2006/relationships/slide" Target="slides/slide183.xml"/><Relationship Id="rId211" Type="http://schemas.openxmlformats.org/officeDocument/2006/relationships/slide" Target="slides/slide208.xml"/><Relationship Id="rId232" Type="http://schemas.openxmlformats.org/officeDocument/2006/relationships/slide" Target="slides/slide229.xml"/><Relationship Id="rId253" Type="http://schemas.openxmlformats.org/officeDocument/2006/relationships/slide" Target="slides/slide250.xml"/><Relationship Id="rId274" Type="http://schemas.openxmlformats.org/officeDocument/2006/relationships/slide" Target="slides/slide271.xml"/><Relationship Id="rId295" Type="http://schemas.openxmlformats.org/officeDocument/2006/relationships/slide" Target="slides/slide292.xml"/><Relationship Id="rId309" Type="http://schemas.openxmlformats.org/officeDocument/2006/relationships/slide" Target="slides/slide306.xml"/><Relationship Id="rId27" Type="http://schemas.openxmlformats.org/officeDocument/2006/relationships/slide" Target="slides/slide24.xml"/><Relationship Id="rId48" Type="http://schemas.openxmlformats.org/officeDocument/2006/relationships/slide" Target="slides/slide45.xml"/><Relationship Id="rId69" Type="http://schemas.openxmlformats.org/officeDocument/2006/relationships/slide" Target="slides/slide66.xml"/><Relationship Id="rId113" Type="http://schemas.openxmlformats.org/officeDocument/2006/relationships/slide" Target="slides/slide110.xml"/><Relationship Id="rId134" Type="http://schemas.openxmlformats.org/officeDocument/2006/relationships/slide" Target="slides/slide131.xml"/><Relationship Id="rId320" Type="http://schemas.openxmlformats.org/officeDocument/2006/relationships/slide" Target="slides/slide317.xml"/><Relationship Id="rId80" Type="http://schemas.openxmlformats.org/officeDocument/2006/relationships/slide" Target="slides/slide77.xml"/><Relationship Id="rId155" Type="http://schemas.openxmlformats.org/officeDocument/2006/relationships/slide" Target="slides/slide152.xml"/><Relationship Id="rId176" Type="http://schemas.openxmlformats.org/officeDocument/2006/relationships/slide" Target="slides/slide173.xml"/><Relationship Id="rId197" Type="http://schemas.openxmlformats.org/officeDocument/2006/relationships/slide" Target="slides/slide194.xml"/><Relationship Id="rId201" Type="http://schemas.openxmlformats.org/officeDocument/2006/relationships/slide" Target="slides/slide198.xml"/><Relationship Id="rId222" Type="http://schemas.openxmlformats.org/officeDocument/2006/relationships/slide" Target="slides/slide219.xml"/><Relationship Id="rId243" Type="http://schemas.openxmlformats.org/officeDocument/2006/relationships/slide" Target="slides/slide240.xml"/><Relationship Id="rId264" Type="http://schemas.openxmlformats.org/officeDocument/2006/relationships/slide" Target="slides/slide261.xml"/><Relationship Id="rId285" Type="http://schemas.openxmlformats.org/officeDocument/2006/relationships/slide" Target="slides/slide282.xml"/><Relationship Id="rId17" Type="http://schemas.openxmlformats.org/officeDocument/2006/relationships/slide" Target="slides/slide14.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24" Type="http://schemas.openxmlformats.org/officeDocument/2006/relationships/slide" Target="slides/slide121.xml"/><Relationship Id="rId310" Type="http://schemas.openxmlformats.org/officeDocument/2006/relationships/slide" Target="slides/slide307.xml"/><Relationship Id="rId70" Type="http://schemas.openxmlformats.org/officeDocument/2006/relationships/slide" Target="slides/slide67.xml"/><Relationship Id="rId91" Type="http://schemas.openxmlformats.org/officeDocument/2006/relationships/slide" Target="slides/slide88.xml"/><Relationship Id="rId145" Type="http://schemas.openxmlformats.org/officeDocument/2006/relationships/slide" Target="slides/slide142.xml"/><Relationship Id="rId166" Type="http://schemas.openxmlformats.org/officeDocument/2006/relationships/slide" Target="slides/slide163.xml"/><Relationship Id="rId187" Type="http://schemas.openxmlformats.org/officeDocument/2006/relationships/slide" Target="slides/slide184.xml"/><Relationship Id="rId331" Type="http://schemas.openxmlformats.org/officeDocument/2006/relationships/viewProps" Target="viewProps.xml"/><Relationship Id="rId1" Type="http://schemas.openxmlformats.org/officeDocument/2006/relationships/slideMaster" Target="slideMasters/slideMaster1.xml"/><Relationship Id="rId212" Type="http://schemas.openxmlformats.org/officeDocument/2006/relationships/slide" Target="slides/slide209.xml"/><Relationship Id="rId233" Type="http://schemas.openxmlformats.org/officeDocument/2006/relationships/slide" Target="slides/slide230.xml"/><Relationship Id="rId254" Type="http://schemas.openxmlformats.org/officeDocument/2006/relationships/slide" Target="slides/slide251.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275" Type="http://schemas.openxmlformats.org/officeDocument/2006/relationships/slide" Target="slides/slide272.xml"/><Relationship Id="rId296" Type="http://schemas.openxmlformats.org/officeDocument/2006/relationships/slide" Target="slides/slide293.xml"/><Relationship Id="rId300" Type="http://schemas.openxmlformats.org/officeDocument/2006/relationships/slide" Target="slides/slide297.xml"/><Relationship Id="rId60" Type="http://schemas.openxmlformats.org/officeDocument/2006/relationships/slide" Target="slides/slide57.xml"/><Relationship Id="rId81" Type="http://schemas.openxmlformats.org/officeDocument/2006/relationships/slide" Target="slides/slide78.xml"/><Relationship Id="rId135" Type="http://schemas.openxmlformats.org/officeDocument/2006/relationships/slide" Target="slides/slide132.xml"/><Relationship Id="rId156" Type="http://schemas.openxmlformats.org/officeDocument/2006/relationships/slide" Target="slides/slide153.xml"/><Relationship Id="rId177" Type="http://schemas.openxmlformats.org/officeDocument/2006/relationships/slide" Target="slides/slide174.xml"/><Relationship Id="rId198" Type="http://schemas.openxmlformats.org/officeDocument/2006/relationships/slide" Target="slides/slide195.xml"/><Relationship Id="rId321" Type="http://schemas.openxmlformats.org/officeDocument/2006/relationships/slide" Target="slides/slide318.xml"/><Relationship Id="rId202" Type="http://schemas.openxmlformats.org/officeDocument/2006/relationships/slide" Target="slides/slide199.xml"/><Relationship Id="rId223" Type="http://schemas.openxmlformats.org/officeDocument/2006/relationships/slide" Target="slides/slide220.xml"/><Relationship Id="rId244" Type="http://schemas.openxmlformats.org/officeDocument/2006/relationships/slide" Target="slides/slide241.xml"/><Relationship Id="rId18" Type="http://schemas.openxmlformats.org/officeDocument/2006/relationships/slide" Target="slides/slide15.xml"/><Relationship Id="rId39" Type="http://schemas.openxmlformats.org/officeDocument/2006/relationships/slide" Target="slides/slide36.xml"/><Relationship Id="rId265" Type="http://schemas.openxmlformats.org/officeDocument/2006/relationships/slide" Target="slides/slide262.xml"/><Relationship Id="rId286" Type="http://schemas.openxmlformats.org/officeDocument/2006/relationships/slide" Target="slides/slide283.xml"/><Relationship Id="rId50" Type="http://schemas.openxmlformats.org/officeDocument/2006/relationships/slide" Target="slides/slide47.xml"/><Relationship Id="rId104" Type="http://schemas.openxmlformats.org/officeDocument/2006/relationships/slide" Target="slides/slide101.xml"/><Relationship Id="rId125" Type="http://schemas.openxmlformats.org/officeDocument/2006/relationships/slide" Target="slides/slide122.xml"/><Relationship Id="rId146" Type="http://schemas.openxmlformats.org/officeDocument/2006/relationships/slide" Target="slides/slide143.xml"/><Relationship Id="rId167" Type="http://schemas.openxmlformats.org/officeDocument/2006/relationships/slide" Target="slides/slide164.xml"/><Relationship Id="rId188" Type="http://schemas.openxmlformats.org/officeDocument/2006/relationships/slide" Target="slides/slide185.xml"/><Relationship Id="rId311" Type="http://schemas.openxmlformats.org/officeDocument/2006/relationships/slide" Target="slides/slide308.xml"/><Relationship Id="rId332" Type="http://schemas.openxmlformats.org/officeDocument/2006/relationships/theme" Target="theme/theme1.xml"/><Relationship Id="rId71" Type="http://schemas.openxmlformats.org/officeDocument/2006/relationships/slide" Target="slides/slide68.xml"/><Relationship Id="rId92" Type="http://schemas.openxmlformats.org/officeDocument/2006/relationships/slide" Target="slides/slide89.xml"/><Relationship Id="rId213" Type="http://schemas.openxmlformats.org/officeDocument/2006/relationships/slide" Target="slides/slide210.xml"/><Relationship Id="rId234" Type="http://schemas.openxmlformats.org/officeDocument/2006/relationships/slide" Target="slides/slide231.xml"/><Relationship Id="rId2" Type="http://schemas.openxmlformats.org/officeDocument/2006/relationships/slideMaster" Target="slideMasters/slideMaster2.xml"/><Relationship Id="rId29" Type="http://schemas.openxmlformats.org/officeDocument/2006/relationships/slide" Target="slides/slide26.xml"/><Relationship Id="rId255" Type="http://schemas.openxmlformats.org/officeDocument/2006/relationships/slide" Target="slides/slide252.xml"/><Relationship Id="rId276" Type="http://schemas.openxmlformats.org/officeDocument/2006/relationships/slide" Target="slides/slide273.xml"/><Relationship Id="rId297" Type="http://schemas.openxmlformats.org/officeDocument/2006/relationships/slide" Target="slides/slide294.xml"/><Relationship Id="rId40" Type="http://schemas.openxmlformats.org/officeDocument/2006/relationships/slide" Target="slides/slide37.xml"/><Relationship Id="rId115" Type="http://schemas.openxmlformats.org/officeDocument/2006/relationships/slide" Target="slides/slide112.xml"/><Relationship Id="rId136" Type="http://schemas.openxmlformats.org/officeDocument/2006/relationships/slide" Target="slides/slide133.xml"/><Relationship Id="rId157" Type="http://schemas.openxmlformats.org/officeDocument/2006/relationships/slide" Target="slides/slide154.xml"/><Relationship Id="rId178" Type="http://schemas.openxmlformats.org/officeDocument/2006/relationships/slide" Target="slides/slide175.xml"/><Relationship Id="rId301" Type="http://schemas.openxmlformats.org/officeDocument/2006/relationships/slide" Target="slides/slide298.xml"/><Relationship Id="rId322" Type="http://schemas.openxmlformats.org/officeDocument/2006/relationships/slide" Target="slides/slide319.xml"/><Relationship Id="rId61" Type="http://schemas.openxmlformats.org/officeDocument/2006/relationships/slide" Target="slides/slide58.xml"/><Relationship Id="rId82" Type="http://schemas.openxmlformats.org/officeDocument/2006/relationships/slide" Target="slides/slide79.xml"/><Relationship Id="rId199" Type="http://schemas.openxmlformats.org/officeDocument/2006/relationships/slide" Target="slides/slide196.xml"/><Relationship Id="rId203" Type="http://schemas.openxmlformats.org/officeDocument/2006/relationships/slide" Target="slides/slide200.xml"/><Relationship Id="rId19" Type="http://schemas.openxmlformats.org/officeDocument/2006/relationships/slide" Target="slides/slide16.xml"/><Relationship Id="rId224" Type="http://schemas.openxmlformats.org/officeDocument/2006/relationships/slide" Target="slides/slide221.xml"/><Relationship Id="rId245" Type="http://schemas.openxmlformats.org/officeDocument/2006/relationships/slide" Target="slides/slide242.xml"/><Relationship Id="rId266" Type="http://schemas.openxmlformats.org/officeDocument/2006/relationships/slide" Target="slides/slide263.xml"/><Relationship Id="rId287" Type="http://schemas.openxmlformats.org/officeDocument/2006/relationships/slide" Target="slides/slide284.xml"/><Relationship Id="rId30" Type="http://schemas.openxmlformats.org/officeDocument/2006/relationships/slide" Target="slides/slide2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168" Type="http://schemas.openxmlformats.org/officeDocument/2006/relationships/slide" Target="slides/slide165.xml"/><Relationship Id="rId312" Type="http://schemas.openxmlformats.org/officeDocument/2006/relationships/slide" Target="slides/slide309.xml"/><Relationship Id="rId333" Type="http://schemas.openxmlformats.org/officeDocument/2006/relationships/tableStyles" Target="tableStyles.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189" Type="http://schemas.openxmlformats.org/officeDocument/2006/relationships/slide" Target="slides/slide186.xml"/><Relationship Id="rId3" Type="http://schemas.openxmlformats.org/officeDocument/2006/relationships/slideMaster" Target="slideMasters/slideMaster3.xml"/><Relationship Id="rId214" Type="http://schemas.openxmlformats.org/officeDocument/2006/relationships/slide" Target="slides/slide211.xml"/><Relationship Id="rId235" Type="http://schemas.openxmlformats.org/officeDocument/2006/relationships/slide" Target="slides/slide232.xml"/><Relationship Id="rId256" Type="http://schemas.openxmlformats.org/officeDocument/2006/relationships/slide" Target="slides/slide253.xml"/><Relationship Id="rId277" Type="http://schemas.openxmlformats.org/officeDocument/2006/relationships/slide" Target="slides/slide274.xml"/><Relationship Id="rId298" Type="http://schemas.openxmlformats.org/officeDocument/2006/relationships/slide" Target="slides/slide295.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302" Type="http://schemas.openxmlformats.org/officeDocument/2006/relationships/slide" Target="slides/slide299.xml"/><Relationship Id="rId323" Type="http://schemas.openxmlformats.org/officeDocument/2006/relationships/slide" Target="slides/slide320.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179" Type="http://schemas.openxmlformats.org/officeDocument/2006/relationships/slide" Target="slides/slide176.xml"/><Relationship Id="rId190" Type="http://schemas.openxmlformats.org/officeDocument/2006/relationships/slide" Target="slides/slide187.xml"/><Relationship Id="rId204" Type="http://schemas.openxmlformats.org/officeDocument/2006/relationships/slide" Target="slides/slide201.xml"/><Relationship Id="rId225" Type="http://schemas.openxmlformats.org/officeDocument/2006/relationships/slide" Target="slides/slide222.xml"/><Relationship Id="rId246" Type="http://schemas.openxmlformats.org/officeDocument/2006/relationships/slide" Target="slides/slide243.xml"/><Relationship Id="rId267" Type="http://schemas.openxmlformats.org/officeDocument/2006/relationships/slide" Target="slides/slide264.xml"/><Relationship Id="rId288" Type="http://schemas.openxmlformats.org/officeDocument/2006/relationships/slide" Target="slides/slide285.xml"/><Relationship Id="rId106" Type="http://schemas.openxmlformats.org/officeDocument/2006/relationships/slide" Target="slides/slide103.xml"/><Relationship Id="rId127" Type="http://schemas.openxmlformats.org/officeDocument/2006/relationships/slide" Target="slides/slide124.xml"/><Relationship Id="rId313" Type="http://schemas.openxmlformats.org/officeDocument/2006/relationships/slide" Target="slides/slide310.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94" Type="http://schemas.openxmlformats.org/officeDocument/2006/relationships/slide" Target="slides/slide91.xml"/><Relationship Id="rId148" Type="http://schemas.openxmlformats.org/officeDocument/2006/relationships/slide" Target="slides/slide145.xml"/><Relationship Id="rId169" Type="http://schemas.openxmlformats.org/officeDocument/2006/relationships/slide" Target="slides/slide166.xml"/><Relationship Id="rId4" Type="http://schemas.openxmlformats.org/officeDocument/2006/relationships/slide" Target="slides/slide1.xml"/><Relationship Id="rId180" Type="http://schemas.openxmlformats.org/officeDocument/2006/relationships/slide" Target="slides/slide177.xml"/><Relationship Id="rId215" Type="http://schemas.openxmlformats.org/officeDocument/2006/relationships/slide" Target="slides/slide212.xml"/><Relationship Id="rId236" Type="http://schemas.openxmlformats.org/officeDocument/2006/relationships/slide" Target="slides/slide233.xml"/><Relationship Id="rId257" Type="http://schemas.openxmlformats.org/officeDocument/2006/relationships/slide" Target="slides/slide254.xml"/><Relationship Id="rId278" Type="http://schemas.openxmlformats.org/officeDocument/2006/relationships/slide" Target="slides/slide275.xml"/><Relationship Id="rId303" Type="http://schemas.openxmlformats.org/officeDocument/2006/relationships/slide" Target="slides/slide300.xml"/><Relationship Id="rId42" Type="http://schemas.openxmlformats.org/officeDocument/2006/relationships/slide" Target="slides/slide39.xml"/><Relationship Id="rId84" Type="http://schemas.openxmlformats.org/officeDocument/2006/relationships/slide" Target="slides/slide81.xml"/><Relationship Id="rId138" Type="http://schemas.openxmlformats.org/officeDocument/2006/relationships/slide" Target="slides/slide135.xml"/><Relationship Id="rId191" Type="http://schemas.openxmlformats.org/officeDocument/2006/relationships/slide" Target="slides/slide188.xml"/><Relationship Id="rId205" Type="http://schemas.openxmlformats.org/officeDocument/2006/relationships/slide" Target="slides/slide202.xml"/><Relationship Id="rId247" Type="http://schemas.openxmlformats.org/officeDocument/2006/relationships/slide" Target="slides/slide244.xml"/><Relationship Id="rId107" Type="http://schemas.openxmlformats.org/officeDocument/2006/relationships/slide" Target="slides/slide104.xml"/><Relationship Id="rId289" Type="http://schemas.openxmlformats.org/officeDocument/2006/relationships/slide" Target="slides/slide286.xml"/><Relationship Id="rId11" Type="http://schemas.openxmlformats.org/officeDocument/2006/relationships/slide" Target="slides/slide8.xml"/><Relationship Id="rId53" Type="http://schemas.openxmlformats.org/officeDocument/2006/relationships/slide" Target="slides/slide50.xml"/><Relationship Id="rId149" Type="http://schemas.openxmlformats.org/officeDocument/2006/relationships/slide" Target="slides/slide146.xml"/><Relationship Id="rId314" Type="http://schemas.openxmlformats.org/officeDocument/2006/relationships/slide" Target="slides/slide311.xml"/><Relationship Id="rId95" Type="http://schemas.openxmlformats.org/officeDocument/2006/relationships/slide" Target="slides/slide92.xml"/><Relationship Id="rId160" Type="http://schemas.openxmlformats.org/officeDocument/2006/relationships/slide" Target="slides/slide157.xml"/><Relationship Id="rId216" Type="http://schemas.openxmlformats.org/officeDocument/2006/relationships/slide" Target="slides/slide213.xml"/><Relationship Id="rId258" Type="http://schemas.openxmlformats.org/officeDocument/2006/relationships/slide" Target="slides/slide255.xml"/><Relationship Id="rId22" Type="http://schemas.openxmlformats.org/officeDocument/2006/relationships/slide" Target="slides/slide19.xml"/><Relationship Id="rId64" Type="http://schemas.openxmlformats.org/officeDocument/2006/relationships/slide" Target="slides/slide61.xml"/><Relationship Id="rId118" Type="http://schemas.openxmlformats.org/officeDocument/2006/relationships/slide" Target="slides/slide115.xml"/><Relationship Id="rId325" Type="http://schemas.openxmlformats.org/officeDocument/2006/relationships/slide" Target="slides/slide322.xml"/><Relationship Id="rId171" Type="http://schemas.openxmlformats.org/officeDocument/2006/relationships/slide" Target="slides/slide168.xml"/><Relationship Id="rId227" Type="http://schemas.openxmlformats.org/officeDocument/2006/relationships/slide" Target="slides/slide224.xml"/><Relationship Id="rId269" Type="http://schemas.openxmlformats.org/officeDocument/2006/relationships/slide" Target="slides/slide266.xml"/><Relationship Id="rId33" Type="http://schemas.openxmlformats.org/officeDocument/2006/relationships/slide" Target="slides/slide30.xml"/><Relationship Id="rId129" Type="http://schemas.openxmlformats.org/officeDocument/2006/relationships/slide" Target="slides/slide126.xml"/><Relationship Id="rId280" Type="http://schemas.openxmlformats.org/officeDocument/2006/relationships/slide" Target="slides/slide277.xml"/><Relationship Id="rId75" Type="http://schemas.openxmlformats.org/officeDocument/2006/relationships/slide" Target="slides/slide72.xml"/><Relationship Id="rId140" Type="http://schemas.openxmlformats.org/officeDocument/2006/relationships/slide" Target="slides/slide137.xml"/><Relationship Id="rId182" Type="http://schemas.openxmlformats.org/officeDocument/2006/relationships/slide" Target="slides/slide179.xml"/><Relationship Id="rId6" Type="http://schemas.openxmlformats.org/officeDocument/2006/relationships/slide" Target="slides/slide3.xml"/><Relationship Id="rId238" Type="http://schemas.openxmlformats.org/officeDocument/2006/relationships/slide" Target="slides/slide235.xml"/><Relationship Id="rId291" Type="http://schemas.openxmlformats.org/officeDocument/2006/relationships/slide" Target="slides/slide288.xml"/><Relationship Id="rId305" Type="http://schemas.openxmlformats.org/officeDocument/2006/relationships/slide" Target="slides/slide302.xml"/><Relationship Id="rId44" Type="http://schemas.openxmlformats.org/officeDocument/2006/relationships/slide" Target="slides/slide41.xml"/><Relationship Id="rId86" Type="http://schemas.openxmlformats.org/officeDocument/2006/relationships/slide" Target="slides/slide83.xml"/><Relationship Id="rId151" Type="http://schemas.openxmlformats.org/officeDocument/2006/relationships/slide" Target="slides/slide148.xml"/><Relationship Id="rId193" Type="http://schemas.openxmlformats.org/officeDocument/2006/relationships/slide" Target="slides/slide190.xml"/><Relationship Id="rId207" Type="http://schemas.openxmlformats.org/officeDocument/2006/relationships/slide" Target="slides/slide204.xml"/><Relationship Id="rId249" Type="http://schemas.openxmlformats.org/officeDocument/2006/relationships/slide" Target="slides/slide246.xml"/><Relationship Id="rId13" Type="http://schemas.openxmlformats.org/officeDocument/2006/relationships/slide" Target="slides/slide10.xml"/><Relationship Id="rId109" Type="http://schemas.openxmlformats.org/officeDocument/2006/relationships/slide" Target="slides/slide106.xml"/><Relationship Id="rId260" Type="http://schemas.openxmlformats.org/officeDocument/2006/relationships/slide" Target="slides/slide257.xml"/><Relationship Id="rId316" Type="http://schemas.openxmlformats.org/officeDocument/2006/relationships/slide" Target="slides/slide313.xml"/><Relationship Id="rId55" Type="http://schemas.openxmlformats.org/officeDocument/2006/relationships/slide" Target="slides/slide52.xml"/><Relationship Id="rId97" Type="http://schemas.openxmlformats.org/officeDocument/2006/relationships/slide" Target="slides/slide94.xml"/><Relationship Id="rId120" Type="http://schemas.openxmlformats.org/officeDocument/2006/relationships/slide" Target="slides/slide117.xml"/><Relationship Id="rId162" Type="http://schemas.openxmlformats.org/officeDocument/2006/relationships/slide" Target="slides/slide159.xml"/><Relationship Id="rId218" Type="http://schemas.openxmlformats.org/officeDocument/2006/relationships/slide" Target="slides/slide215.xml"/><Relationship Id="rId271" Type="http://schemas.openxmlformats.org/officeDocument/2006/relationships/slide" Target="slides/slide26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9C718849-C765-4EC2-93A5-303FA54510CE}"/>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a:extLst>
              <a:ext uri="{FF2B5EF4-FFF2-40B4-BE49-F238E27FC236}">
                <a16:creationId xmlns:a16="http://schemas.microsoft.com/office/drawing/2014/main" id="{EA5589F7-9E30-4D03-85DF-5BCA96C89B16}"/>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5B142129-8188-42A7-9179-99E985F2CE16}" type="datetimeFigureOut">
              <a:rPr lang="fr-FR" smtClean="0"/>
              <a:t>06/09/2024</a:t>
            </a:fld>
            <a:endParaRPr lang="fr-FR" dirty="0"/>
          </a:p>
        </p:txBody>
      </p:sp>
      <p:sp>
        <p:nvSpPr>
          <p:cNvPr id="4" name="Espace réservé du pied de page 3">
            <a:extLst>
              <a:ext uri="{FF2B5EF4-FFF2-40B4-BE49-F238E27FC236}">
                <a16:creationId xmlns:a16="http://schemas.microsoft.com/office/drawing/2014/main" id="{03F1E06D-9B77-453B-B6EB-171F70330F5D}"/>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dirty="0"/>
          </a:p>
        </p:txBody>
      </p:sp>
      <p:sp>
        <p:nvSpPr>
          <p:cNvPr id="5" name="Espace réservé du numéro de diapositive 4">
            <a:extLst>
              <a:ext uri="{FF2B5EF4-FFF2-40B4-BE49-F238E27FC236}">
                <a16:creationId xmlns:a16="http://schemas.microsoft.com/office/drawing/2014/main" id="{C33E0E4A-7137-47DB-A3DA-74A17A9DD494}"/>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6B5BFAFC-97B2-4671-8532-CDF2E3F8241F}" type="slidenum">
              <a:rPr lang="fr-FR" smtClean="0"/>
              <a:t>‹N°›</a:t>
            </a:fld>
            <a:endParaRPr lang="fr-FR" dirty="0"/>
          </a:p>
        </p:txBody>
      </p:sp>
    </p:spTree>
    <p:extLst>
      <p:ext uri="{BB962C8B-B14F-4D97-AF65-F5344CB8AC3E}">
        <p14:creationId xmlns:p14="http://schemas.microsoft.com/office/powerpoint/2010/main" val="33637773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5B754AC0-0C31-4F48-8004-B77D432873BA}" type="datetimeFigureOut">
              <a:rPr lang="fr-FR" smtClean="0"/>
              <a:t>06/09/2024</a:t>
            </a:fld>
            <a:endParaRPr lang="fr-FR" dirty="0"/>
          </a:p>
        </p:txBody>
      </p:sp>
      <p:sp>
        <p:nvSpPr>
          <p:cNvPr id="4" name="Espace réservé de l'image des diapositives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56F0EC36-36D8-4AC0-BA58-E8FF1E7F4848}" type="slidenum">
              <a:rPr lang="fr-FR" smtClean="0"/>
              <a:t>‹N°›</a:t>
            </a:fld>
            <a:endParaRPr lang="fr-FR" dirty="0"/>
          </a:p>
        </p:txBody>
      </p:sp>
    </p:spTree>
    <p:extLst>
      <p:ext uri="{BB962C8B-B14F-4D97-AF65-F5344CB8AC3E}">
        <p14:creationId xmlns:p14="http://schemas.microsoft.com/office/powerpoint/2010/main" val="3186936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rgbClr val="FF0000"/>
                </a:solidFill>
              </a:rPr>
              <a:t>https://github.com/Jesus-Vazquez-A/Insurence/blob/main/src/03-Selection_of_model_ideal.ipynb</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solidFill>
                  <a:srgbClr val="FF0000"/>
                </a:solidFill>
              </a:rPr>
              <a:t>https://www.geeksforgeeks.org/xgboost-for-regression/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solidFill>
                  <a:srgbClr val="FF0000"/>
                </a:solidFill>
              </a:rPr>
              <a:t>https://gist.github.com/pb111/cc341409081dffa5e9eaf60d79562a03</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rgbClr val="FF0000"/>
                </a:solidFill>
              </a:rPr>
              <a:t>https://www.projectpro.io/recipes/use-xgboost-classifier-and-regressor-in-python</a:t>
            </a:r>
          </a:p>
          <a:p>
            <a:endParaRPr lang="fr-FR" dirty="0"/>
          </a:p>
        </p:txBody>
      </p:sp>
      <p:sp>
        <p:nvSpPr>
          <p:cNvPr id="4" name="Espace réservé du numéro de diapositive 3"/>
          <p:cNvSpPr>
            <a:spLocks noGrp="1"/>
          </p:cNvSpPr>
          <p:nvPr>
            <p:ph type="sldNum" sz="quarter" idx="5"/>
          </p:nvPr>
        </p:nvSpPr>
        <p:spPr/>
        <p:txBody>
          <a:bodyPr/>
          <a:lstStyle/>
          <a:p>
            <a:fld id="{79230CFA-805A-4FD3-B3A0-DAAA5993DA17}" type="slidenum">
              <a:rPr lang="en-US" noProof="0" smtClean="0"/>
              <a:t>179</a:t>
            </a:fld>
            <a:endParaRPr lang="en-US" noProof="0" dirty="0"/>
          </a:p>
        </p:txBody>
      </p:sp>
    </p:spTree>
    <p:extLst>
      <p:ext uri="{BB962C8B-B14F-4D97-AF65-F5344CB8AC3E}">
        <p14:creationId xmlns:p14="http://schemas.microsoft.com/office/powerpoint/2010/main" val="2474029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https://www.wallstreetmojo.com/correlation-vs-covariance/</a:t>
            </a:r>
          </a:p>
          <a:p>
            <a:r>
              <a:rPr lang="fr-FR" dirty="0"/>
              <a:t>https://support.minitab.com/fr-fr/minitab/20/help-and-how-to/statistics/basic-statistics/supporting-topics/correlation-and-covariance/what-is-covariance/</a:t>
            </a:r>
          </a:p>
        </p:txBody>
      </p:sp>
      <p:sp>
        <p:nvSpPr>
          <p:cNvPr id="4" name="Espace réservé du numéro de diapositive 3"/>
          <p:cNvSpPr>
            <a:spLocks noGrp="1"/>
          </p:cNvSpPr>
          <p:nvPr>
            <p:ph type="sldNum" sz="quarter" idx="5"/>
          </p:nvPr>
        </p:nvSpPr>
        <p:spPr/>
        <p:txBody>
          <a:bodyPr/>
          <a:lstStyle/>
          <a:p>
            <a:fld id="{79230CFA-805A-4FD3-B3A0-DAAA5993DA17}" type="slidenum">
              <a:rPr lang="en-US" noProof="0" smtClean="0"/>
              <a:t>234</a:t>
            </a:fld>
            <a:endParaRPr lang="en-US" noProof="0" dirty="0"/>
          </a:p>
        </p:txBody>
      </p:sp>
    </p:spTree>
    <p:extLst>
      <p:ext uri="{BB962C8B-B14F-4D97-AF65-F5344CB8AC3E}">
        <p14:creationId xmlns:p14="http://schemas.microsoft.com/office/powerpoint/2010/main" val="2240535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https://www.wallstreetmojo.com/correlation-vs-covariance/</a:t>
            </a:r>
          </a:p>
          <a:p>
            <a:r>
              <a:rPr lang="fr-FR" dirty="0"/>
              <a:t>https://support.minitab.com/fr-fr/minitab/20/help-and-how-to/statistics/basic-statistics/supporting-topics/correlation-and-covariance/what-is-covariance/</a:t>
            </a:r>
          </a:p>
        </p:txBody>
      </p:sp>
      <p:sp>
        <p:nvSpPr>
          <p:cNvPr id="4" name="Espace réservé du numéro de diapositive 3"/>
          <p:cNvSpPr>
            <a:spLocks noGrp="1"/>
          </p:cNvSpPr>
          <p:nvPr>
            <p:ph type="sldNum" sz="quarter" idx="5"/>
          </p:nvPr>
        </p:nvSpPr>
        <p:spPr/>
        <p:txBody>
          <a:bodyPr/>
          <a:lstStyle/>
          <a:p>
            <a:fld id="{79230CFA-805A-4FD3-B3A0-DAAA5993DA17}" type="slidenum">
              <a:rPr lang="en-US" noProof="0" smtClean="0"/>
              <a:t>235</a:t>
            </a:fld>
            <a:endParaRPr lang="en-US" noProof="0" dirty="0"/>
          </a:p>
        </p:txBody>
      </p:sp>
    </p:spTree>
    <p:extLst>
      <p:ext uri="{BB962C8B-B14F-4D97-AF65-F5344CB8AC3E}">
        <p14:creationId xmlns:p14="http://schemas.microsoft.com/office/powerpoint/2010/main" val="1509160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https://www.wallstreetmojo.com/correlation-vs-covariance/</a:t>
            </a:r>
          </a:p>
          <a:p>
            <a:r>
              <a:rPr lang="fr-FR" dirty="0"/>
              <a:t>https://support.minitab.com/fr-fr/minitab/20/help-and-how-to/statistics/basic-statistics/supporting-topics/correlation-and-covariance/what-is-covariance/</a:t>
            </a:r>
          </a:p>
        </p:txBody>
      </p:sp>
      <p:sp>
        <p:nvSpPr>
          <p:cNvPr id="4" name="Espace réservé du numéro de diapositive 3"/>
          <p:cNvSpPr>
            <a:spLocks noGrp="1"/>
          </p:cNvSpPr>
          <p:nvPr>
            <p:ph type="sldNum" sz="quarter" idx="5"/>
          </p:nvPr>
        </p:nvSpPr>
        <p:spPr/>
        <p:txBody>
          <a:bodyPr/>
          <a:lstStyle/>
          <a:p>
            <a:fld id="{79230CFA-805A-4FD3-B3A0-DAAA5993DA17}" type="slidenum">
              <a:rPr lang="en-US" noProof="0" smtClean="0"/>
              <a:t>236</a:t>
            </a:fld>
            <a:endParaRPr lang="en-US" noProof="0" dirty="0"/>
          </a:p>
        </p:txBody>
      </p:sp>
    </p:spTree>
    <p:extLst>
      <p:ext uri="{BB962C8B-B14F-4D97-AF65-F5344CB8AC3E}">
        <p14:creationId xmlns:p14="http://schemas.microsoft.com/office/powerpoint/2010/main" val="3629576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https://www.wallstreetmojo.com/correlation-vs-covariance/</a:t>
            </a:r>
          </a:p>
          <a:p>
            <a:r>
              <a:rPr lang="fr-FR" dirty="0"/>
              <a:t>https://support.minitab.com/fr-fr/minitab/20/help-and-how-to/statistics/basic-statistics/supporting-topics/correlation-and-covariance/what-is-covariance/</a:t>
            </a:r>
          </a:p>
        </p:txBody>
      </p:sp>
      <p:sp>
        <p:nvSpPr>
          <p:cNvPr id="4" name="Espace réservé du numéro de diapositive 3"/>
          <p:cNvSpPr>
            <a:spLocks noGrp="1"/>
          </p:cNvSpPr>
          <p:nvPr>
            <p:ph type="sldNum" sz="quarter" idx="5"/>
          </p:nvPr>
        </p:nvSpPr>
        <p:spPr/>
        <p:txBody>
          <a:bodyPr/>
          <a:lstStyle/>
          <a:p>
            <a:fld id="{79230CFA-805A-4FD3-B3A0-DAAA5993DA17}" type="slidenum">
              <a:rPr lang="en-US" noProof="0" smtClean="0"/>
              <a:t>237</a:t>
            </a:fld>
            <a:endParaRPr lang="en-US" noProof="0" dirty="0"/>
          </a:p>
        </p:txBody>
      </p:sp>
    </p:spTree>
    <p:extLst>
      <p:ext uri="{BB962C8B-B14F-4D97-AF65-F5344CB8AC3E}">
        <p14:creationId xmlns:p14="http://schemas.microsoft.com/office/powerpoint/2010/main" val="2953843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https://www.wallstreetmojo.com/correlation-vs-covariance/</a:t>
            </a:r>
          </a:p>
          <a:p>
            <a:r>
              <a:rPr lang="fr-FR" dirty="0"/>
              <a:t>https://support.minitab.com/fr-fr/minitab/20/help-and-how-to/statistics/basic-statistics/supporting-topics/correlation-and-covariance/what-is-covariance/</a:t>
            </a:r>
          </a:p>
        </p:txBody>
      </p:sp>
      <p:sp>
        <p:nvSpPr>
          <p:cNvPr id="4" name="Espace réservé du numéro de diapositive 3"/>
          <p:cNvSpPr>
            <a:spLocks noGrp="1"/>
          </p:cNvSpPr>
          <p:nvPr>
            <p:ph type="sldNum" sz="quarter" idx="5"/>
          </p:nvPr>
        </p:nvSpPr>
        <p:spPr/>
        <p:txBody>
          <a:bodyPr/>
          <a:lstStyle/>
          <a:p>
            <a:fld id="{79230CFA-805A-4FD3-B3A0-DAAA5993DA17}" type="slidenum">
              <a:rPr lang="en-US" noProof="0" smtClean="0"/>
              <a:t>238</a:t>
            </a:fld>
            <a:endParaRPr lang="en-US" noProof="0" dirty="0"/>
          </a:p>
        </p:txBody>
      </p:sp>
    </p:spTree>
    <p:extLst>
      <p:ext uri="{BB962C8B-B14F-4D97-AF65-F5344CB8AC3E}">
        <p14:creationId xmlns:p14="http://schemas.microsoft.com/office/powerpoint/2010/main" val="1502480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https://www.wallstreetmojo.com/correlation-vs-covariance/</a:t>
            </a:r>
          </a:p>
          <a:p>
            <a:r>
              <a:rPr lang="fr-FR" dirty="0"/>
              <a:t>https://support.minitab.com/fr-fr/minitab/20/help-and-how-to/statistics/basic-statistics/supporting-topics/correlation-and-covariance/what-is-covariance/</a:t>
            </a:r>
          </a:p>
        </p:txBody>
      </p:sp>
      <p:sp>
        <p:nvSpPr>
          <p:cNvPr id="4" name="Espace réservé du numéro de diapositive 3"/>
          <p:cNvSpPr>
            <a:spLocks noGrp="1"/>
          </p:cNvSpPr>
          <p:nvPr>
            <p:ph type="sldNum" sz="quarter" idx="5"/>
          </p:nvPr>
        </p:nvSpPr>
        <p:spPr/>
        <p:txBody>
          <a:bodyPr/>
          <a:lstStyle/>
          <a:p>
            <a:fld id="{79230CFA-805A-4FD3-B3A0-DAAA5993DA17}" type="slidenum">
              <a:rPr lang="en-US" noProof="0" smtClean="0"/>
              <a:t>239</a:t>
            </a:fld>
            <a:endParaRPr lang="en-US" noProof="0" dirty="0"/>
          </a:p>
        </p:txBody>
      </p:sp>
    </p:spTree>
    <p:extLst>
      <p:ext uri="{BB962C8B-B14F-4D97-AF65-F5344CB8AC3E}">
        <p14:creationId xmlns:p14="http://schemas.microsoft.com/office/powerpoint/2010/main" val="1997442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https://www.wallstreetmojo.com/correlation-vs-covariance/</a:t>
            </a:r>
          </a:p>
          <a:p>
            <a:r>
              <a:rPr lang="fr-FR" dirty="0"/>
              <a:t>https://support.minitab.com/fr-fr/minitab/20/help-and-how-to/statistics/basic-statistics/supporting-topics/correlation-and-covariance/what-is-covariance/</a:t>
            </a:r>
          </a:p>
        </p:txBody>
      </p:sp>
      <p:sp>
        <p:nvSpPr>
          <p:cNvPr id="4" name="Espace réservé du numéro de diapositive 3"/>
          <p:cNvSpPr>
            <a:spLocks noGrp="1"/>
          </p:cNvSpPr>
          <p:nvPr>
            <p:ph type="sldNum" sz="quarter" idx="5"/>
          </p:nvPr>
        </p:nvSpPr>
        <p:spPr/>
        <p:txBody>
          <a:bodyPr/>
          <a:lstStyle/>
          <a:p>
            <a:fld id="{79230CFA-805A-4FD3-B3A0-DAAA5993DA17}" type="slidenum">
              <a:rPr lang="en-US" noProof="0" smtClean="0"/>
              <a:t>240</a:t>
            </a:fld>
            <a:endParaRPr lang="en-US" noProof="0" dirty="0"/>
          </a:p>
        </p:txBody>
      </p:sp>
    </p:spTree>
    <p:extLst>
      <p:ext uri="{BB962C8B-B14F-4D97-AF65-F5344CB8AC3E}">
        <p14:creationId xmlns:p14="http://schemas.microsoft.com/office/powerpoint/2010/main" val="3968002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https://www.wallstreetmojo.com/correlation-vs-covariance/</a:t>
            </a:r>
          </a:p>
          <a:p>
            <a:r>
              <a:rPr lang="fr-FR" dirty="0"/>
              <a:t>https://support.minitab.com/fr-fr/minitab/20/help-and-how-to/statistics/basic-statistics/supporting-topics/correlation-and-covariance/what-is-covariance/</a:t>
            </a:r>
          </a:p>
        </p:txBody>
      </p:sp>
      <p:sp>
        <p:nvSpPr>
          <p:cNvPr id="4" name="Espace réservé du numéro de diapositive 3"/>
          <p:cNvSpPr>
            <a:spLocks noGrp="1"/>
          </p:cNvSpPr>
          <p:nvPr>
            <p:ph type="sldNum" sz="quarter" idx="5"/>
          </p:nvPr>
        </p:nvSpPr>
        <p:spPr/>
        <p:txBody>
          <a:bodyPr/>
          <a:lstStyle/>
          <a:p>
            <a:fld id="{79230CFA-805A-4FD3-B3A0-DAAA5993DA17}" type="slidenum">
              <a:rPr lang="en-US" noProof="0" smtClean="0"/>
              <a:t>241</a:t>
            </a:fld>
            <a:endParaRPr lang="en-US" noProof="0" dirty="0"/>
          </a:p>
        </p:txBody>
      </p:sp>
    </p:spTree>
    <p:extLst>
      <p:ext uri="{BB962C8B-B14F-4D97-AF65-F5344CB8AC3E}">
        <p14:creationId xmlns:p14="http://schemas.microsoft.com/office/powerpoint/2010/main" val="27944077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https://www.wallstreetmojo.com/correlation-vs-covariance/</a:t>
            </a:r>
          </a:p>
          <a:p>
            <a:r>
              <a:rPr lang="fr-FR" dirty="0"/>
              <a:t>https://support.minitab.com/fr-fr/minitab/20/help-and-how-to/statistics/basic-statistics/supporting-topics/correlation-and-covariance/what-is-covariance/</a:t>
            </a:r>
          </a:p>
        </p:txBody>
      </p:sp>
      <p:sp>
        <p:nvSpPr>
          <p:cNvPr id="4" name="Espace réservé du numéro de diapositive 3"/>
          <p:cNvSpPr>
            <a:spLocks noGrp="1"/>
          </p:cNvSpPr>
          <p:nvPr>
            <p:ph type="sldNum" sz="quarter" idx="5"/>
          </p:nvPr>
        </p:nvSpPr>
        <p:spPr/>
        <p:txBody>
          <a:bodyPr/>
          <a:lstStyle/>
          <a:p>
            <a:fld id="{79230CFA-805A-4FD3-B3A0-DAAA5993DA17}" type="slidenum">
              <a:rPr lang="en-US" noProof="0" smtClean="0"/>
              <a:t>242</a:t>
            </a:fld>
            <a:endParaRPr lang="en-US" noProof="0" dirty="0"/>
          </a:p>
        </p:txBody>
      </p:sp>
    </p:spTree>
    <p:extLst>
      <p:ext uri="{BB962C8B-B14F-4D97-AF65-F5344CB8AC3E}">
        <p14:creationId xmlns:p14="http://schemas.microsoft.com/office/powerpoint/2010/main" val="39597551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https://www.wallstreetmojo.com/correlation-vs-covariance/</a:t>
            </a:r>
          </a:p>
          <a:p>
            <a:r>
              <a:rPr lang="fr-FR" dirty="0"/>
              <a:t>https://support.minitab.com/fr-fr/minitab/20/help-and-how-to/statistics/basic-statistics/supporting-topics/correlation-and-covariance/what-is-covariance/</a:t>
            </a:r>
          </a:p>
        </p:txBody>
      </p:sp>
      <p:sp>
        <p:nvSpPr>
          <p:cNvPr id="4" name="Espace réservé du numéro de diapositive 3"/>
          <p:cNvSpPr>
            <a:spLocks noGrp="1"/>
          </p:cNvSpPr>
          <p:nvPr>
            <p:ph type="sldNum" sz="quarter" idx="5"/>
          </p:nvPr>
        </p:nvSpPr>
        <p:spPr/>
        <p:txBody>
          <a:bodyPr/>
          <a:lstStyle/>
          <a:p>
            <a:fld id="{79230CFA-805A-4FD3-B3A0-DAAA5993DA17}" type="slidenum">
              <a:rPr lang="en-US" noProof="0" smtClean="0"/>
              <a:t>245</a:t>
            </a:fld>
            <a:endParaRPr lang="en-US" noProof="0" dirty="0"/>
          </a:p>
        </p:txBody>
      </p:sp>
    </p:spTree>
    <p:extLst>
      <p:ext uri="{BB962C8B-B14F-4D97-AF65-F5344CB8AC3E}">
        <p14:creationId xmlns:p14="http://schemas.microsoft.com/office/powerpoint/2010/main" val="19659299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https://www.wallstreetmojo.com/correlation-vs-covariance/</a:t>
            </a:r>
          </a:p>
          <a:p>
            <a:r>
              <a:rPr lang="fr-FR" dirty="0"/>
              <a:t>https://support.minitab.com/fr-fr/minitab/20/help-and-how-to/statistics/basic-statistics/supporting-topics/correlation-and-covariance/what-is-covariance/</a:t>
            </a:r>
          </a:p>
        </p:txBody>
      </p:sp>
      <p:sp>
        <p:nvSpPr>
          <p:cNvPr id="4" name="Espace réservé du numéro de diapositive 3"/>
          <p:cNvSpPr>
            <a:spLocks noGrp="1"/>
          </p:cNvSpPr>
          <p:nvPr>
            <p:ph type="sldNum" sz="quarter" idx="5"/>
          </p:nvPr>
        </p:nvSpPr>
        <p:spPr/>
        <p:txBody>
          <a:bodyPr/>
          <a:lstStyle/>
          <a:p>
            <a:fld id="{79230CFA-805A-4FD3-B3A0-DAAA5993DA17}" type="slidenum">
              <a:rPr lang="en-US" noProof="0" smtClean="0"/>
              <a:t>246</a:t>
            </a:fld>
            <a:endParaRPr lang="en-US" noProof="0" dirty="0"/>
          </a:p>
        </p:txBody>
      </p:sp>
    </p:spTree>
    <p:extLst>
      <p:ext uri="{BB962C8B-B14F-4D97-AF65-F5344CB8AC3E}">
        <p14:creationId xmlns:p14="http://schemas.microsoft.com/office/powerpoint/2010/main" val="21745909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https://www.wallstreetmojo.com/correlation-vs-covariance/</a:t>
            </a:r>
          </a:p>
          <a:p>
            <a:r>
              <a:rPr lang="fr-FR" dirty="0"/>
              <a:t>https://support.minitab.com/fr-fr/minitab/20/help-and-how-to/statistics/basic-statistics/supporting-topics/correlation-and-covariance/what-is-covariance/</a:t>
            </a:r>
          </a:p>
        </p:txBody>
      </p:sp>
      <p:sp>
        <p:nvSpPr>
          <p:cNvPr id="4" name="Espace réservé du numéro de diapositive 3"/>
          <p:cNvSpPr>
            <a:spLocks noGrp="1"/>
          </p:cNvSpPr>
          <p:nvPr>
            <p:ph type="sldNum" sz="quarter" idx="5"/>
          </p:nvPr>
        </p:nvSpPr>
        <p:spPr/>
        <p:txBody>
          <a:bodyPr/>
          <a:lstStyle/>
          <a:p>
            <a:fld id="{79230CFA-805A-4FD3-B3A0-DAAA5993DA17}" type="slidenum">
              <a:rPr lang="en-US" noProof="0" smtClean="0"/>
              <a:t>247</a:t>
            </a:fld>
            <a:endParaRPr lang="en-US" noProof="0" dirty="0"/>
          </a:p>
        </p:txBody>
      </p:sp>
    </p:spTree>
    <p:extLst>
      <p:ext uri="{BB962C8B-B14F-4D97-AF65-F5344CB8AC3E}">
        <p14:creationId xmlns:p14="http://schemas.microsoft.com/office/powerpoint/2010/main" val="4888082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5" name="Espace réservé de la date 4">
            <a:extLst>
              <a:ext uri="{FF2B5EF4-FFF2-40B4-BE49-F238E27FC236}">
                <a16:creationId xmlns:a16="http://schemas.microsoft.com/office/drawing/2014/main" id="{6DFC70BE-1FC0-444F-970E-E421902D14F2}"/>
              </a:ext>
            </a:extLst>
          </p:cNvPr>
          <p:cNvSpPr>
            <a:spLocks noGrp="1"/>
          </p:cNvSpPr>
          <p:nvPr>
            <p:ph type="dt" idx="1"/>
          </p:nvPr>
        </p:nvSpPr>
        <p:spPr/>
        <p:txBody>
          <a:bodyPr/>
          <a:lstStyle/>
          <a:p>
            <a:fld id="{F00E7D02-5D0E-4B84-A332-88228E8A8EFE}"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5C29CA0D-71CD-42EF-814E-95EB1EBF3187}"/>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28702077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5" name="Espace réservé de la date 4">
            <a:extLst>
              <a:ext uri="{FF2B5EF4-FFF2-40B4-BE49-F238E27FC236}">
                <a16:creationId xmlns:a16="http://schemas.microsoft.com/office/drawing/2014/main" id="{E1B4705D-F42F-4ABA-BA8F-2527848B6694}"/>
              </a:ext>
            </a:extLst>
          </p:cNvPr>
          <p:cNvSpPr>
            <a:spLocks noGrp="1"/>
          </p:cNvSpPr>
          <p:nvPr>
            <p:ph type="dt" idx="1"/>
          </p:nvPr>
        </p:nvSpPr>
        <p:spPr/>
        <p:txBody>
          <a:bodyPr/>
          <a:lstStyle/>
          <a:p>
            <a:fld id="{E62C4F86-8556-4280-AD45-D8A7248AD4B9}"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7C3100AD-77A3-42E3-B95F-00B6AC7D745F}"/>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2388518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5" name="Espace réservé de la date 4">
            <a:extLst>
              <a:ext uri="{FF2B5EF4-FFF2-40B4-BE49-F238E27FC236}">
                <a16:creationId xmlns:a16="http://schemas.microsoft.com/office/drawing/2014/main" id="{F9D7A34F-3B34-4C05-903B-EE0F558D8631}"/>
              </a:ext>
            </a:extLst>
          </p:cNvPr>
          <p:cNvSpPr>
            <a:spLocks noGrp="1"/>
          </p:cNvSpPr>
          <p:nvPr>
            <p:ph type="dt" idx="1"/>
          </p:nvPr>
        </p:nvSpPr>
        <p:spPr/>
        <p:txBody>
          <a:bodyPr/>
          <a:lstStyle/>
          <a:p>
            <a:fld id="{FD7CFF3F-0AB3-4C51-9AB8-EC9FFB74815F}"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B49CE2B7-3BCD-4666-81B9-E8102A3BE237}"/>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683105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5" name="Espace réservé de la date 4">
            <a:extLst>
              <a:ext uri="{FF2B5EF4-FFF2-40B4-BE49-F238E27FC236}">
                <a16:creationId xmlns:a16="http://schemas.microsoft.com/office/drawing/2014/main" id="{85D1982E-EAEB-4D71-807F-B9D18B1045B6}"/>
              </a:ext>
            </a:extLst>
          </p:cNvPr>
          <p:cNvSpPr>
            <a:spLocks noGrp="1"/>
          </p:cNvSpPr>
          <p:nvPr>
            <p:ph type="dt" idx="1"/>
          </p:nvPr>
        </p:nvSpPr>
        <p:spPr/>
        <p:txBody>
          <a:bodyPr/>
          <a:lstStyle/>
          <a:p>
            <a:fld id="{8D57DC8A-EE86-4B0C-8665-6F7A0023086C}"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AA8459F5-C631-4AAA-BA46-4875DD7E0EA7}"/>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19646294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5" name="Espace réservé de la date 4">
            <a:extLst>
              <a:ext uri="{FF2B5EF4-FFF2-40B4-BE49-F238E27FC236}">
                <a16:creationId xmlns:a16="http://schemas.microsoft.com/office/drawing/2014/main" id="{610FE0D3-233C-4D25-91DE-A11292B3921A}"/>
              </a:ext>
            </a:extLst>
          </p:cNvPr>
          <p:cNvSpPr>
            <a:spLocks noGrp="1"/>
          </p:cNvSpPr>
          <p:nvPr>
            <p:ph type="dt" idx="1"/>
          </p:nvPr>
        </p:nvSpPr>
        <p:spPr/>
        <p:txBody>
          <a:bodyPr/>
          <a:lstStyle/>
          <a:p>
            <a:fld id="{493AA6D5-B97A-4E87-B16B-A19A9D1E6148}"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17840555-65E9-4BCD-9190-07195743B2CE}"/>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20822522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5" name="Espace réservé de la date 4">
            <a:extLst>
              <a:ext uri="{FF2B5EF4-FFF2-40B4-BE49-F238E27FC236}">
                <a16:creationId xmlns:a16="http://schemas.microsoft.com/office/drawing/2014/main" id="{E1B4705D-F42F-4ABA-BA8F-2527848B6694}"/>
              </a:ext>
            </a:extLst>
          </p:cNvPr>
          <p:cNvSpPr>
            <a:spLocks noGrp="1"/>
          </p:cNvSpPr>
          <p:nvPr>
            <p:ph type="dt" idx="1"/>
          </p:nvPr>
        </p:nvSpPr>
        <p:spPr/>
        <p:txBody>
          <a:bodyPr/>
          <a:lstStyle/>
          <a:p>
            <a:fld id="{E62C4F86-8556-4280-AD45-D8A7248AD4B9}"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7C3100AD-77A3-42E3-B95F-00B6AC7D745F}"/>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554498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5" name="Espace réservé de la date 4">
            <a:extLst>
              <a:ext uri="{FF2B5EF4-FFF2-40B4-BE49-F238E27FC236}">
                <a16:creationId xmlns:a16="http://schemas.microsoft.com/office/drawing/2014/main" id="{AB6D64CB-0A67-4AAD-9A1C-B442D0AFEA16}"/>
              </a:ext>
            </a:extLst>
          </p:cNvPr>
          <p:cNvSpPr>
            <a:spLocks noGrp="1"/>
          </p:cNvSpPr>
          <p:nvPr>
            <p:ph type="dt" idx="1"/>
          </p:nvPr>
        </p:nvSpPr>
        <p:spPr/>
        <p:txBody>
          <a:bodyPr/>
          <a:lstStyle/>
          <a:p>
            <a:fld id="{28834310-7868-4D0B-87D7-02523E8F50A5}"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A0F03572-649F-42FA-8143-06E246407A54}"/>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12919344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5" name="Espace réservé de la date 4">
            <a:extLst>
              <a:ext uri="{FF2B5EF4-FFF2-40B4-BE49-F238E27FC236}">
                <a16:creationId xmlns:a16="http://schemas.microsoft.com/office/drawing/2014/main" id="{AB6D64CB-0A67-4AAD-9A1C-B442D0AFEA16}"/>
              </a:ext>
            </a:extLst>
          </p:cNvPr>
          <p:cNvSpPr>
            <a:spLocks noGrp="1"/>
          </p:cNvSpPr>
          <p:nvPr>
            <p:ph type="dt" idx="1"/>
          </p:nvPr>
        </p:nvSpPr>
        <p:spPr/>
        <p:txBody>
          <a:bodyPr/>
          <a:lstStyle/>
          <a:p>
            <a:fld id="{28834310-7868-4D0B-87D7-02523E8F50A5}"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A0F03572-649F-42FA-8143-06E246407A54}"/>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8909056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5" name="Espace réservé de la date 4">
            <a:extLst>
              <a:ext uri="{FF2B5EF4-FFF2-40B4-BE49-F238E27FC236}">
                <a16:creationId xmlns:a16="http://schemas.microsoft.com/office/drawing/2014/main" id="{AB6D64CB-0A67-4AAD-9A1C-B442D0AFEA16}"/>
              </a:ext>
            </a:extLst>
          </p:cNvPr>
          <p:cNvSpPr>
            <a:spLocks noGrp="1"/>
          </p:cNvSpPr>
          <p:nvPr>
            <p:ph type="dt" idx="1"/>
          </p:nvPr>
        </p:nvSpPr>
        <p:spPr/>
        <p:txBody>
          <a:bodyPr/>
          <a:lstStyle/>
          <a:p>
            <a:fld id="{28834310-7868-4D0B-87D7-02523E8F50A5}"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A0F03572-649F-42FA-8143-06E246407A54}"/>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13960426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5" name="Espace réservé de la date 4">
            <a:extLst>
              <a:ext uri="{FF2B5EF4-FFF2-40B4-BE49-F238E27FC236}">
                <a16:creationId xmlns:a16="http://schemas.microsoft.com/office/drawing/2014/main" id="{AB6D64CB-0A67-4AAD-9A1C-B442D0AFEA16}"/>
              </a:ext>
            </a:extLst>
          </p:cNvPr>
          <p:cNvSpPr>
            <a:spLocks noGrp="1"/>
          </p:cNvSpPr>
          <p:nvPr>
            <p:ph type="dt" idx="1"/>
          </p:nvPr>
        </p:nvSpPr>
        <p:spPr/>
        <p:txBody>
          <a:bodyPr/>
          <a:lstStyle/>
          <a:p>
            <a:fld id="{28834310-7868-4D0B-87D7-02523E8F50A5}"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A0F03572-649F-42FA-8143-06E246407A54}"/>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41671506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5" name="Espace réservé de la date 4">
            <a:extLst>
              <a:ext uri="{FF2B5EF4-FFF2-40B4-BE49-F238E27FC236}">
                <a16:creationId xmlns:a16="http://schemas.microsoft.com/office/drawing/2014/main" id="{AB6D64CB-0A67-4AAD-9A1C-B442D0AFEA16}"/>
              </a:ext>
            </a:extLst>
          </p:cNvPr>
          <p:cNvSpPr>
            <a:spLocks noGrp="1"/>
          </p:cNvSpPr>
          <p:nvPr>
            <p:ph type="dt" idx="1"/>
          </p:nvPr>
        </p:nvSpPr>
        <p:spPr/>
        <p:txBody>
          <a:bodyPr/>
          <a:lstStyle/>
          <a:p>
            <a:fld id="{28834310-7868-4D0B-87D7-02523E8F50A5}"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A0F03572-649F-42FA-8143-06E246407A54}"/>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35269790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5" name="Espace réservé de la date 4">
            <a:extLst>
              <a:ext uri="{FF2B5EF4-FFF2-40B4-BE49-F238E27FC236}">
                <a16:creationId xmlns:a16="http://schemas.microsoft.com/office/drawing/2014/main" id="{AB6D64CB-0A67-4AAD-9A1C-B442D0AFEA16}"/>
              </a:ext>
            </a:extLst>
          </p:cNvPr>
          <p:cNvSpPr>
            <a:spLocks noGrp="1"/>
          </p:cNvSpPr>
          <p:nvPr>
            <p:ph type="dt" idx="1"/>
          </p:nvPr>
        </p:nvSpPr>
        <p:spPr/>
        <p:txBody>
          <a:bodyPr/>
          <a:lstStyle/>
          <a:p>
            <a:fld id="{28834310-7868-4D0B-87D7-02523E8F50A5}"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A0F03572-649F-42FA-8143-06E246407A54}"/>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7668120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5" name="Espace réservé de la date 4">
            <a:extLst>
              <a:ext uri="{FF2B5EF4-FFF2-40B4-BE49-F238E27FC236}">
                <a16:creationId xmlns:a16="http://schemas.microsoft.com/office/drawing/2014/main" id="{AB6D64CB-0A67-4AAD-9A1C-B442D0AFEA16}"/>
              </a:ext>
            </a:extLst>
          </p:cNvPr>
          <p:cNvSpPr>
            <a:spLocks noGrp="1"/>
          </p:cNvSpPr>
          <p:nvPr>
            <p:ph type="dt" idx="1"/>
          </p:nvPr>
        </p:nvSpPr>
        <p:spPr/>
        <p:txBody>
          <a:bodyPr/>
          <a:lstStyle/>
          <a:p>
            <a:fld id="{28834310-7868-4D0B-87D7-02523E8F50A5}"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A0F03572-649F-42FA-8143-06E246407A54}"/>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344309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5" name="Espace réservé de la date 4">
            <a:extLst>
              <a:ext uri="{FF2B5EF4-FFF2-40B4-BE49-F238E27FC236}">
                <a16:creationId xmlns:a16="http://schemas.microsoft.com/office/drawing/2014/main" id="{AB6D64CB-0A67-4AAD-9A1C-B442D0AFEA16}"/>
              </a:ext>
            </a:extLst>
          </p:cNvPr>
          <p:cNvSpPr>
            <a:spLocks noGrp="1"/>
          </p:cNvSpPr>
          <p:nvPr>
            <p:ph type="dt" idx="1"/>
          </p:nvPr>
        </p:nvSpPr>
        <p:spPr/>
        <p:txBody>
          <a:bodyPr/>
          <a:lstStyle/>
          <a:p>
            <a:fld id="{28834310-7868-4D0B-87D7-02523E8F50A5}"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A0F03572-649F-42FA-8143-06E246407A54}"/>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21987479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5" name="Espace réservé de la date 4">
            <a:extLst>
              <a:ext uri="{FF2B5EF4-FFF2-40B4-BE49-F238E27FC236}">
                <a16:creationId xmlns:a16="http://schemas.microsoft.com/office/drawing/2014/main" id="{AB6D64CB-0A67-4AAD-9A1C-B442D0AFEA16}"/>
              </a:ext>
            </a:extLst>
          </p:cNvPr>
          <p:cNvSpPr>
            <a:spLocks noGrp="1"/>
          </p:cNvSpPr>
          <p:nvPr>
            <p:ph type="dt" idx="1"/>
          </p:nvPr>
        </p:nvSpPr>
        <p:spPr/>
        <p:txBody>
          <a:bodyPr/>
          <a:lstStyle/>
          <a:p>
            <a:fld id="{28834310-7868-4D0B-87D7-02523E8F50A5}"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A0F03572-649F-42FA-8143-06E246407A54}"/>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8478938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5" name="Espace réservé de la date 4">
            <a:extLst>
              <a:ext uri="{FF2B5EF4-FFF2-40B4-BE49-F238E27FC236}">
                <a16:creationId xmlns:a16="http://schemas.microsoft.com/office/drawing/2014/main" id="{AB6D64CB-0A67-4AAD-9A1C-B442D0AFEA16}"/>
              </a:ext>
            </a:extLst>
          </p:cNvPr>
          <p:cNvSpPr>
            <a:spLocks noGrp="1"/>
          </p:cNvSpPr>
          <p:nvPr>
            <p:ph type="dt" idx="1"/>
          </p:nvPr>
        </p:nvSpPr>
        <p:spPr/>
        <p:txBody>
          <a:bodyPr/>
          <a:lstStyle/>
          <a:p>
            <a:fld id="{28834310-7868-4D0B-87D7-02523E8F50A5}"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A0F03572-649F-42FA-8143-06E246407A54}"/>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21330718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5" name="Espace réservé de la date 4">
            <a:extLst>
              <a:ext uri="{FF2B5EF4-FFF2-40B4-BE49-F238E27FC236}">
                <a16:creationId xmlns:a16="http://schemas.microsoft.com/office/drawing/2014/main" id="{AB6D64CB-0A67-4AAD-9A1C-B442D0AFEA16}"/>
              </a:ext>
            </a:extLst>
          </p:cNvPr>
          <p:cNvSpPr>
            <a:spLocks noGrp="1"/>
          </p:cNvSpPr>
          <p:nvPr>
            <p:ph type="dt" idx="1"/>
          </p:nvPr>
        </p:nvSpPr>
        <p:spPr/>
        <p:txBody>
          <a:bodyPr/>
          <a:lstStyle/>
          <a:p>
            <a:fld id="{28834310-7868-4D0B-87D7-02523E8F50A5}"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A0F03572-649F-42FA-8143-06E246407A54}"/>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5522087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5" name="Espace réservé de la date 4">
            <a:extLst>
              <a:ext uri="{FF2B5EF4-FFF2-40B4-BE49-F238E27FC236}">
                <a16:creationId xmlns:a16="http://schemas.microsoft.com/office/drawing/2014/main" id="{AB6D64CB-0A67-4AAD-9A1C-B442D0AFEA16}"/>
              </a:ext>
            </a:extLst>
          </p:cNvPr>
          <p:cNvSpPr>
            <a:spLocks noGrp="1"/>
          </p:cNvSpPr>
          <p:nvPr>
            <p:ph type="dt" idx="1"/>
          </p:nvPr>
        </p:nvSpPr>
        <p:spPr/>
        <p:txBody>
          <a:bodyPr/>
          <a:lstStyle/>
          <a:p>
            <a:fld id="{28834310-7868-4D0B-87D7-02523E8F50A5}"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A0F03572-649F-42FA-8143-06E246407A54}"/>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3985973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5" name="Espace réservé de la date 4">
            <a:extLst>
              <a:ext uri="{FF2B5EF4-FFF2-40B4-BE49-F238E27FC236}">
                <a16:creationId xmlns:a16="http://schemas.microsoft.com/office/drawing/2014/main" id="{AB6D64CB-0A67-4AAD-9A1C-B442D0AFEA16}"/>
              </a:ext>
            </a:extLst>
          </p:cNvPr>
          <p:cNvSpPr>
            <a:spLocks noGrp="1"/>
          </p:cNvSpPr>
          <p:nvPr>
            <p:ph type="dt" idx="1"/>
          </p:nvPr>
        </p:nvSpPr>
        <p:spPr/>
        <p:txBody>
          <a:bodyPr/>
          <a:lstStyle/>
          <a:p>
            <a:fld id="{28834310-7868-4D0B-87D7-02523E8F50A5}"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A0F03572-649F-42FA-8143-06E246407A54}"/>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26870220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5" name="Espace réservé de la date 4">
            <a:extLst>
              <a:ext uri="{FF2B5EF4-FFF2-40B4-BE49-F238E27FC236}">
                <a16:creationId xmlns:a16="http://schemas.microsoft.com/office/drawing/2014/main" id="{F9D7A34F-3B34-4C05-903B-EE0F558D8631}"/>
              </a:ext>
            </a:extLst>
          </p:cNvPr>
          <p:cNvSpPr>
            <a:spLocks noGrp="1"/>
          </p:cNvSpPr>
          <p:nvPr>
            <p:ph type="dt" idx="1"/>
          </p:nvPr>
        </p:nvSpPr>
        <p:spPr/>
        <p:txBody>
          <a:bodyPr/>
          <a:lstStyle/>
          <a:p>
            <a:fld id="{FD7CFF3F-0AB3-4C51-9AB8-EC9FFB74815F}"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B49CE2B7-3BCD-4666-81B9-E8102A3BE237}"/>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21445266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err="1">
                <a:solidFill>
                  <a:schemeClr val="tx1"/>
                </a:solidFill>
                <a:effectLst/>
                <a:latin typeface="+mn-lt"/>
                <a:ea typeface="+mn-ea"/>
                <a:cs typeface="+mn-cs"/>
              </a:rPr>
              <a:t>Conda</a:t>
            </a:r>
            <a:r>
              <a:rPr lang="fr-FR" sz="1200" b="0" i="0" kern="1200" dirty="0">
                <a:solidFill>
                  <a:schemeClr val="tx1"/>
                </a:solidFill>
                <a:effectLst/>
                <a:latin typeface="+mn-lt"/>
                <a:ea typeface="+mn-ea"/>
                <a:cs typeface="+mn-cs"/>
              </a:rPr>
              <a:t> est un gestionnaire de packages et un système de gestion d'environnements</a:t>
            </a:r>
            <a:endParaRPr lang="fr-FR" dirty="0"/>
          </a:p>
        </p:txBody>
      </p:sp>
      <p:sp>
        <p:nvSpPr>
          <p:cNvPr id="4" name="Espace réservé de la date 3"/>
          <p:cNvSpPr>
            <a:spLocks noGrp="1"/>
          </p:cNvSpPr>
          <p:nvPr>
            <p:ph type="dt" idx="1"/>
          </p:nvPr>
        </p:nvSpPr>
        <p:spPr/>
        <p:txBody>
          <a:bodyPr/>
          <a:lstStyle/>
          <a:p>
            <a:fld id="{095E8183-86F8-4276-AABC-5A9F1BE33B5D}" type="datetime1">
              <a:rPr lang="fr-FR" noProof="0" smtClean="0"/>
              <a:t>06/09/2024</a:t>
            </a:fld>
            <a:endParaRPr lang="en-US" noProof="0" dirty="0"/>
          </a:p>
        </p:txBody>
      </p:sp>
      <p:sp>
        <p:nvSpPr>
          <p:cNvPr id="5" name="Espace réservé du pied de page 4"/>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15162536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err="1">
                <a:solidFill>
                  <a:schemeClr val="tx1"/>
                </a:solidFill>
                <a:effectLst/>
                <a:latin typeface="+mn-lt"/>
                <a:ea typeface="+mn-ea"/>
                <a:cs typeface="+mn-cs"/>
              </a:rPr>
              <a:t>Conda</a:t>
            </a:r>
            <a:r>
              <a:rPr lang="fr-FR" sz="1200" b="0" i="0" kern="1200" dirty="0">
                <a:solidFill>
                  <a:schemeClr val="tx1"/>
                </a:solidFill>
                <a:effectLst/>
                <a:latin typeface="+mn-lt"/>
                <a:ea typeface="+mn-ea"/>
                <a:cs typeface="+mn-cs"/>
              </a:rPr>
              <a:t> est un gestionnaire de packages et un système de gestion d'environnements</a:t>
            </a:r>
            <a:endParaRPr lang="fr-FR" dirty="0"/>
          </a:p>
        </p:txBody>
      </p:sp>
      <p:sp>
        <p:nvSpPr>
          <p:cNvPr id="4" name="Espace réservé de la date 3"/>
          <p:cNvSpPr>
            <a:spLocks noGrp="1"/>
          </p:cNvSpPr>
          <p:nvPr>
            <p:ph type="dt" idx="1"/>
          </p:nvPr>
        </p:nvSpPr>
        <p:spPr/>
        <p:txBody>
          <a:bodyPr/>
          <a:lstStyle/>
          <a:p>
            <a:fld id="{095E8183-86F8-4276-AABC-5A9F1BE33B5D}" type="datetime1">
              <a:rPr lang="fr-FR" noProof="0" smtClean="0"/>
              <a:t>06/09/2024</a:t>
            </a:fld>
            <a:endParaRPr lang="en-US" noProof="0" dirty="0"/>
          </a:p>
        </p:txBody>
      </p:sp>
      <p:sp>
        <p:nvSpPr>
          <p:cNvPr id="5" name="Espace réservé du pied de page 4"/>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40782311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5" name="Espace réservé de la date 4">
            <a:extLst>
              <a:ext uri="{FF2B5EF4-FFF2-40B4-BE49-F238E27FC236}">
                <a16:creationId xmlns:a16="http://schemas.microsoft.com/office/drawing/2014/main" id="{85D1982E-EAEB-4D71-807F-B9D18B1045B6}"/>
              </a:ext>
            </a:extLst>
          </p:cNvPr>
          <p:cNvSpPr>
            <a:spLocks noGrp="1"/>
          </p:cNvSpPr>
          <p:nvPr>
            <p:ph type="dt" idx="1"/>
          </p:nvPr>
        </p:nvSpPr>
        <p:spPr/>
        <p:txBody>
          <a:bodyPr/>
          <a:lstStyle/>
          <a:p>
            <a:fld id="{8D57DC8A-EE86-4B0C-8665-6F7A0023086C}"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AA8459F5-C631-4AAA-BA46-4875DD7E0EA7}"/>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42107302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5" name="Espace réservé de la date 4">
            <a:extLst>
              <a:ext uri="{FF2B5EF4-FFF2-40B4-BE49-F238E27FC236}">
                <a16:creationId xmlns:a16="http://schemas.microsoft.com/office/drawing/2014/main" id="{610FE0D3-233C-4D25-91DE-A11292B3921A}"/>
              </a:ext>
            </a:extLst>
          </p:cNvPr>
          <p:cNvSpPr>
            <a:spLocks noGrp="1"/>
          </p:cNvSpPr>
          <p:nvPr>
            <p:ph type="dt" idx="1"/>
          </p:nvPr>
        </p:nvSpPr>
        <p:spPr/>
        <p:txBody>
          <a:bodyPr/>
          <a:lstStyle/>
          <a:p>
            <a:fld id="{493AA6D5-B97A-4E87-B16B-A19A9D1E6148}" type="datetime1">
              <a:rPr lang="fr-FR" noProof="0" smtClean="0"/>
              <a:t>06/09/2024</a:t>
            </a:fld>
            <a:endParaRPr lang="en-US" noProof="0" dirty="0"/>
          </a:p>
        </p:txBody>
      </p:sp>
      <p:sp>
        <p:nvSpPr>
          <p:cNvPr id="7" name="Espace réservé du pied de page 6">
            <a:extLst>
              <a:ext uri="{FF2B5EF4-FFF2-40B4-BE49-F238E27FC236}">
                <a16:creationId xmlns:a16="http://schemas.microsoft.com/office/drawing/2014/main" id="{17840555-65E9-4BCD-9190-07195743B2CE}"/>
              </a:ext>
            </a:extLst>
          </p:cNvPr>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5754887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Produit matriciel</a:t>
            </a:r>
          </a:p>
        </p:txBody>
      </p:sp>
      <p:sp>
        <p:nvSpPr>
          <p:cNvPr id="4" name="Espace réservé de la date 3"/>
          <p:cNvSpPr>
            <a:spLocks noGrp="1"/>
          </p:cNvSpPr>
          <p:nvPr>
            <p:ph type="dt" idx="1"/>
          </p:nvPr>
        </p:nvSpPr>
        <p:spPr/>
        <p:txBody>
          <a:bodyPr/>
          <a:lstStyle/>
          <a:p>
            <a:fld id="{095E8183-86F8-4276-AABC-5A9F1BE33B5D}" type="datetime1">
              <a:rPr lang="fr-FR" noProof="0" smtClean="0"/>
              <a:t>06/09/2024</a:t>
            </a:fld>
            <a:endParaRPr lang="en-US" noProof="0" dirty="0"/>
          </a:p>
        </p:txBody>
      </p:sp>
      <p:sp>
        <p:nvSpPr>
          <p:cNvPr id="5" name="Espace réservé du pied de page 4"/>
          <p:cNvSpPr>
            <a:spLocks noGrp="1"/>
          </p:cNvSpPr>
          <p:nvPr>
            <p:ph type="ftr" sz="quarter" idx="4"/>
          </p:nvPr>
        </p:nvSpPr>
        <p:spPr/>
        <p:txBody>
          <a:bodyPr/>
          <a:lstStyle/>
          <a:p>
            <a:endParaRPr lang="en-US" noProof="0" dirty="0"/>
          </a:p>
        </p:txBody>
      </p:sp>
    </p:spTree>
    <p:extLst>
      <p:ext uri="{BB962C8B-B14F-4D97-AF65-F5344CB8AC3E}">
        <p14:creationId xmlns:p14="http://schemas.microsoft.com/office/powerpoint/2010/main" val="13057306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26"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28"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30"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1"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33"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35"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6"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7"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39"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fr-FR" sz="3200" b="0" strike="noStrike" spc="-1">
              <a:latin typeface="Arial"/>
            </a:endParaRPr>
          </a:p>
        </p:txBody>
      </p:sp>
      <p:sp>
        <p:nvSpPr>
          <p:cNvPr id="40"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41"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43"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44"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45"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47"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48"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50"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51"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52"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53"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55"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56"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57"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58"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59"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60"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123"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125"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127"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28"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0"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132"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33"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34"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136"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37"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38"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3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140"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41"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42"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144"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45"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147"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48"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49"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50"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152"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53"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54"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55"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56"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57"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mparision with Subtitle">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B2E19FBD-2379-4B3B-910D-F51E007CB63F}"/>
              </a:ext>
            </a:extLst>
          </p:cNvPr>
          <p:cNvSpPr>
            <a:spLocks noGrp="1"/>
          </p:cNvSpPr>
          <p:nvPr userDrawn="1">
            <p:ph type="body" idx="1"/>
          </p:nvPr>
        </p:nvSpPr>
        <p:spPr>
          <a:xfrm>
            <a:off x="390523" y="1578666"/>
            <a:ext cx="4106468" cy="585891"/>
          </a:xfrm>
          <a:prstGeom prst="rect">
            <a:avLst/>
          </a:prstGeom>
        </p:spPr>
        <p:txBody>
          <a:bodyPr anchor="b">
            <a:normAutofit/>
          </a:bodyPr>
          <a:lstStyle>
            <a:lvl1pPr marL="0" indent="0">
              <a:lnSpc>
                <a:spcPct val="100000"/>
              </a:lnSpc>
              <a:spcBef>
                <a:spcPts val="0"/>
              </a:spcBef>
              <a:buNone/>
              <a:defRPr sz="21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noProof="0"/>
              <a:t>Cliquez pour modifier les styles du texte du masque</a:t>
            </a:r>
          </a:p>
        </p:txBody>
      </p:sp>
      <p:sp>
        <p:nvSpPr>
          <p:cNvPr id="18" name="Content Placeholder 3" title="Bullet Points">
            <a:extLst>
              <a:ext uri="{FF2B5EF4-FFF2-40B4-BE49-F238E27FC236}">
                <a16:creationId xmlns:a16="http://schemas.microsoft.com/office/drawing/2014/main" id="{8715E757-6584-4841-8154-C92E70E0CD6B}"/>
              </a:ext>
            </a:extLst>
          </p:cNvPr>
          <p:cNvSpPr>
            <a:spLocks noGrp="1"/>
          </p:cNvSpPr>
          <p:nvPr userDrawn="1">
            <p:ph sz="half" idx="13"/>
          </p:nvPr>
        </p:nvSpPr>
        <p:spPr>
          <a:xfrm>
            <a:off x="390523" y="2164557"/>
            <a:ext cx="4106468" cy="2424112"/>
          </a:xfrm>
          <a:prstGeom prst="rect">
            <a:avLst/>
          </a:prstGeom>
        </p:spPr>
        <p:txBody>
          <a:bodyPr>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IN" dirty="0">
                <a:solidFill>
                  <a:schemeClr val="tx1"/>
                </a:solidFill>
              </a:defRPr>
            </a:lvl5pPr>
          </a:lstStyle>
          <a:p>
            <a:pPr lvl="0">
              <a:buClr>
                <a:schemeClr val="accent2"/>
              </a:buClr>
            </a:pPr>
            <a:r>
              <a:rPr lang="fr-FR" noProof="0"/>
              <a:t>Cliquez pour modifier les styles du texte du masque</a:t>
            </a:r>
          </a:p>
          <a:p>
            <a:pPr lvl="1">
              <a:buClr>
                <a:schemeClr val="accent2"/>
              </a:buClr>
            </a:pPr>
            <a:r>
              <a:rPr lang="fr-FR" noProof="0"/>
              <a:t>Deuxième niveau</a:t>
            </a:r>
          </a:p>
          <a:p>
            <a:pPr lvl="2">
              <a:buClr>
                <a:schemeClr val="accent2"/>
              </a:buClr>
            </a:pPr>
            <a:r>
              <a:rPr lang="fr-FR" noProof="0"/>
              <a:t>Troisième niveau</a:t>
            </a:r>
          </a:p>
          <a:p>
            <a:pPr lvl="3">
              <a:buClr>
                <a:schemeClr val="accent2"/>
              </a:buClr>
            </a:pPr>
            <a:r>
              <a:rPr lang="fr-FR" noProof="0"/>
              <a:t>Quatrième niveau</a:t>
            </a:r>
          </a:p>
          <a:p>
            <a:pPr lvl="4">
              <a:buClr>
                <a:schemeClr val="accent2"/>
              </a:buClr>
            </a:pPr>
            <a:r>
              <a:rPr lang="fr-FR" noProof="0"/>
              <a:t>Cinquième niveau</a:t>
            </a:r>
            <a:endParaRPr lang="en-US" noProof="0"/>
          </a:p>
        </p:txBody>
      </p:sp>
      <p:sp>
        <p:nvSpPr>
          <p:cNvPr id="19" name="Text Placeholder 4">
            <a:extLst>
              <a:ext uri="{FF2B5EF4-FFF2-40B4-BE49-F238E27FC236}">
                <a16:creationId xmlns:a16="http://schemas.microsoft.com/office/drawing/2014/main" id="{47CDC5A2-8836-4ED3-8E78-18C24853D882}"/>
              </a:ext>
            </a:extLst>
          </p:cNvPr>
          <p:cNvSpPr>
            <a:spLocks noGrp="1"/>
          </p:cNvSpPr>
          <p:nvPr userDrawn="1">
            <p:ph type="body" sz="quarter" idx="14"/>
          </p:nvPr>
        </p:nvSpPr>
        <p:spPr>
          <a:xfrm>
            <a:off x="4640035" y="1578666"/>
            <a:ext cx="4106700" cy="585891"/>
          </a:xfrm>
          <a:prstGeom prst="rect">
            <a:avLst/>
          </a:prstGeom>
        </p:spPr>
        <p:txBody>
          <a:bodyPr anchor="b">
            <a:normAutofit/>
          </a:bodyPr>
          <a:lstStyle>
            <a:lvl1pPr marL="0" indent="0">
              <a:lnSpc>
                <a:spcPct val="100000"/>
              </a:lnSpc>
              <a:buNone/>
              <a:defRPr sz="21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noProof="0"/>
              <a:t>Cliquez pour modifier les styles du texte du masque</a:t>
            </a:r>
          </a:p>
        </p:txBody>
      </p:sp>
      <p:sp>
        <p:nvSpPr>
          <p:cNvPr id="20" name="Content Placeholder 5" title="Bullet Points">
            <a:extLst>
              <a:ext uri="{FF2B5EF4-FFF2-40B4-BE49-F238E27FC236}">
                <a16:creationId xmlns:a16="http://schemas.microsoft.com/office/drawing/2014/main" id="{D957FBD7-2C3C-4DD1-954F-DF1E007BE590}"/>
              </a:ext>
            </a:extLst>
          </p:cNvPr>
          <p:cNvSpPr>
            <a:spLocks noGrp="1"/>
          </p:cNvSpPr>
          <p:nvPr userDrawn="1">
            <p:ph sz="quarter" idx="15"/>
          </p:nvPr>
        </p:nvSpPr>
        <p:spPr>
          <a:xfrm>
            <a:off x="4640035" y="2164557"/>
            <a:ext cx="4106700" cy="2424112"/>
          </a:xfrm>
          <a:prstGeom prst="rect">
            <a:avLst/>
          </a:prstGeom>
        </p:spPr>
        <p:txBody>
          <a:bodyPr>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IN" dirty="0">
                <a:solidFill>
                  <a:schemeClr val="tx1"/>
                </a:solidFill>
              </a:defRPr>
            </a:lvl5pPr>
          </a:lstStyle>
          <a:p>
            <a:pPr lvl="0">
              <a:buClr>
                <a:schemeClr val="accent2"/>
              </a:buClr>
            </a:pPr>
            <a:r>
              <a:rPr lang="fr-FR" noProof="0"/>
              <a:t>Cliquez pour modifier les styles du texte du masque</a:t>
            </a:r>
          </a:p>
          <a:p>
            <a:pPr lvl="1">
              <a:buClr>
                <a:schemeClr val="accent2"/>
              </a:buClr>
            </a:pPr>
            <a:r>
              <a:rPr lang="fr-FR" noProof="0"/>
              <a:t>Deuxième niveau</a:t>
            </a:r>
          </a:p>
          <a:p>
            <a:pPr lvl="2">
              <a:buClr>
                <a:schemeClr val="accent2"/>
              </a:buClr>
            </a:pPr>
            <a:r>
              <a:rPr lang="fr-FR" noProof="0"/>
              <a:t>Troisième niveau</a:t>
            </a:r>
          </a:p>
          <a:p>
            <a:pPr lvl="3">
              <a:buClr>
                <a:schemeClr val="accent2"/>
              </a:buClr>
            </a:pPr>
            <a:r>
              <a:rPr lang="fr-FR" noProof="0"/>
              <a:t>Quatrième niveau</a:t>
            </a:r>
          </a:p>
          <a:p>
            <a:pPr lvl="4">
              <a:buClr>
                <a:schemeClr val="accent2"/>
              </a:buClr>
            </a:pPr>
            <a:r>
              <a:rPr lang="fr-FR" noProof="0"/>
              <a:t>Cinquième niveau</a:t>
            </a:r>
            <a:endParaRPr lang="en-US" noProof="0"/>
          </a:p>
        </p:txBody>
      </p:sp>
      <p:sp>
        <p:nvSpPr>
          <p:cNvPr id="24" name="Text Placeholder 4" title="Subtitle">
            <a:extLst>
              <a:ext uri="{FF2B5EF4-FFF2-40B4-BE49-F238E27FC236}">
                <a16:creationId xmlns:a16="http://schemas.microsoft.com/office/drawing/2014/main" id="{77DB65FF-A89E-4562-8251-2BB63EFDD28E}"/>
              </a:ext>
            </a:extLst>
          </p:cNvPr>
          <p:cNvSpPr>
            <a:spLocks noGrp="1"/>
          </p:cNvSpPr>
          <p:nvPr userDrawn="1">
            <p:ph type="body" sz="quarter" idx="16" hasCustomPrompt="1"/>
          </p:nvPr>
        </p:nvSpPr>
        <p:spPr>
          <a:xfrm>
            <a:off x="390370" y="1032700"/>
            <a:ext cx="5526447" cy="456671"/>
          </a:xfrm>
          <a:prstGeom prst="rect">
            <a:avLst/>
          </a:prstGeom>
        </p:spPr>
        <p:txBody>
          <a:bodyPr/>
          <a:lstStyle>
            <a:lvl1pPr marL="0" indent="0">
              <a:buNone/>
              <a:defRPr sz="1500" spc="225">
                <a:solidFill>
                  <a:schemeClr val="accent6"/>
                </a:solidFill>
              </a:defRPr>
            </a:lvl1pPr>
            <a:lvl2pPr marL="342900" indent="0">
              <a:buNone/>
              <a:defRPr/>
            </a:lvl2pPr>
          </a:lstStyle>
          <a:p>
            <a:pPr lvl="0"/>
            <a:r>
              <a:rPr lang="en-US" noProof="0"/>
              <a:t>CLICK TO SUBTITLE STYLE</a:t>
            </a:r>
          </a:p>
        </p:txBody>
      </p:sp>
      <p:sp>
        <p:nvSpPr>
          <p:cNvPr id="36" name="Parallelogram 35">
            <a:extLst>
              <a:ext uri="{FF2B5EF4-FFF2-40B4-BE49-F238E27FC236}">
                <a16:creationId xmlns:a16="http://schemas.microsoft.com/office/drawing/2014/main" id="{4EBB76E7-943E-4038-B700-114F66FBC609}"/>
              </a:ext>
            </a:extLst>
          </p:cNvPr>
          <p:cNvSpPr/>
          <p:nvPr userDrawn="1"/>
        </p:nvSpPr>
        <p:spPr>
          <a:xfrm flipH="1">
            <a:off x="5009931" y="1"/>
            <a:ext cx="1085850" cy="479298"/>
          </a:xfrm>
          <a:prstGeom prst="parallelogram">
            <a:avLst>
              <a:gd name="adj" fmla="val 135617"/>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US" sz="1350" noProof="0" dirty="0"/>
          </a:p>
        </p:txBody>
      </p:sp>
      <p:sp>
        <p:nvSpPr>
          <p:cNvPr id="2" name="Footer Placeholder 1">
            <a:extLst>
              <a:ext uri="{FF2B5EF4-FFF2-40B4-BE49-F238E27FC236}">
                <a16:creationId xmlns:a16="http://schemas.microsoft.com/office/drawing/2014/main" id="{03E79E9C-D961-6E47-A5C6-57689BAFF243}"/>
              </a:ext>
            </a:extLst>
          </p:cNvPr>
          <p:cNvSpPr>
            <a:spLocks noGrp="1"/>
          </p:cNvSpPr>
          <p:nvPr>
            <p:ph type="ftr" sz="quarter" idx="17"/>
          </p:nvPr>
        </p:nvSpPr>
        <p:spPr/>
        <p:txBody>
          <a:bodyPr/>
          <a:lstStyle>
            <a:lvl1pPr algn="l">
              <a:defRPr/>
            </a:lvl1pPr>
          </a:lstStyle>
          <a:p>
            <a:r>
              <a:rPr lang="en-US" noProof="0" dirty="0"/>
              <a:t>Add a footer</a:t>
            </a:r>
          </a:p>
        </p:txBody>
      </p:sp>
      <p:sp>
        <p:nvSpPr>
          <p:cNvPr id="3" name="Slide Number Placeholder 2">
            <a:extLst>
              <a:ext uri="{FF2B5EF4-FFF2-40B4-BE49-F238E27FC236}">
                <a16:creationId xmlns:a16="http://schemas.microsoft.com/office/drawing/2014/main" id="{B08BE157-60F2-194D-8C13-4AE120FC9EDE}"/>
              </a:ext>
            </a:extLst>
          </p:cNvPr>
          <p:cNvSpPr>
            <a:spLocks noGrp="1"/>
          </p:cNvSpPr>
          <p:nvPr>
            <p:ph type="sldNum" sz="quarter" idx="18"/>
          </p:nvPr>
        </p:nvSpPr>
        <p:spPr/>
        <p:txBody>
          <a:bodyPr/>
          <a:lstStyle/>
          <a:p>
            <a:fld id="{8699F50C-BE38-4BD0-BA84-9B090E1F2B9B}" type="slidenum">
              <a:rPr lang="en-US" noProof="0" smtClean="0"/>
              <a:t>‹N°›</a:t>
            </a:fld>
            <a:endParaRPr lang="en-US" noProof="0" dirty="0"/>
          </a:p>
        </p:txBody>
      </p:sp>
      <p:sp>
        <p:nvSpPr>
          <p:cNvPr id="27" name="Title 1" title="Title ">
            <a:extLst>
              <a:ext uri="{FF2B5EF4-FFF2-40B4-BE49-F238E27FC236}">
                <a16:creationId xmlns:a16="http://schemas.microsoft.com/office/drawing/2014/main" id="{C3CC34F4-862A-42E7-B2FA-7B511CC2E879}"/>
              </a:ext>
            </a:extLst>
          </p:cNvPr>
          <p:cNvSpPr>
            <a:spLocks noGrp="1"/>
          </p:cNvSpPr>
          <p:nvPr userDrawn="1">
            <p:ph type="title" hasCustomPrompt="1"/>
          </p:nvPr>
        </p:nvSpPr>
        <p:spPr>
          <a:xfrm>
            <a:off x="389008" y="156771"/>
            <a:ext cx="6249917" cy="860977"/>
          </a:xfrm>
          <a:prstGeom prst="rect">
            <a:avLst/>
          </a:prstGeom>
        </p:spPr>
        <p:txBody>
          <a:bodyPr bIns="0" anchor="b">
            <a:normAutofit/>
          </a:bodyPr>
          <a:lstStyle>
            <a:lvl1pPr>
              <a:defRPr sz="3300" b="1">
                <a:solidFill>
                  <a:schemeClr val="accent1"/>
                </a:solidFill>
              </a:defRPr>
            </a:lvl1pPr>
          </a:lstStyle>
          <a:p>
            <a:r>
              <a:rPr lang="en-US" noProof="0"/>
              <a:t>Click to Edit Master Title Style </a:t>
            </a:r>
          </a:p>
        </p:txBody>
      </p:sp>
    </p:spTree>
    <p:extLst>
      <p:ext uri="{BB962C8B-B14F-4D97-AF65-F5344CB8AC3E}">
        <p14:creationId xmlns:p14="http://schemas.microsoft.com/office/powerpoint/2010/main" val="32090646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423">
          <p15:clr>
            <a:srgbClr val="FBAE40"/>
          </p15:clr>
        </p15:guide>
        <p15:guide id="5"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5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357"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fr-FR"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35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359"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36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361"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62"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6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364"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fr-FR"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36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366"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67"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68"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6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370"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71"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72"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374"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75"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76"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7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378"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79"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8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381"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82"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83"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84"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8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386"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87"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88"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89"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90"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91"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fr-FR"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EEEEEE"/>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7" name="Groupe 26">
            <a:extLst>
              <a:ext uri="{FF2B5EF4-FFF2-40B4-BE49-F238E27FC236}">
                <a16:creationId xmlns:a16="http://schemas.microsoft.com/office/drawing/2014/main" id="{F6BCD33B-E0CE-4E37-AFA6-6C989723BB47}"/>
              </a:ext>
            </a:extLst>
          </p:cNvPr>
          <p:cNvGrpSpPr/>
          <p:nvPr userDrawn="1"/>
        </p:nvGrpSpPr>
        <p:grpSpPr>
          <a:xfrm>
            <a:off x="-20781" y="4023234"/>
            <a:ext cx="1341904" cy="1136984"/>
            <a:chOff x="1729995" y="4023234"/>
            <a:chExt cx="1341904" cy="1136984"/>
          </a:xfrm>
        </p:grpSpPr>
        <p:sp>
          <p:nvSpPr>
            <p:cNvPr id="2" name="Google Shape;13;p2"/>
            <p:cNvSpPr/>
            <p:nvPr/>
          </p:nvSpPr>
          <p:spPr>
            <a:xfrm rot="10860000" flipH="1">
              <a:off x="1738563" y="4023234"/>
              <a:ext cx="1269332" cy="1136984"/>
            </a:xfrm>
            <a:custGeom>
              <a:avLst/>
              <a:gdLst/>
              <a:ahLst/>
              <a:cxnLst/>
              <a:rect l="l" t="t" r="r" b="b"/>
              <a:pathLst>
                <a:path w="71585" h="84502">
                  <a:moveTo>
                    <a:pt x="1" y="0"/>
                  </a:moveTo>
                  <a:lnTo>
                    <a:pt x="1" y="84501"/>
                  </a:lnTo>
                  <a:cubicBezTo>
                    <a:pt x="477" y="83955"/>
                    <a:pt x="874" y="83403"/>
                    <a:pt x="1139" y="82890"/>
                  </a:cubicBezTo>
                  <a:cubicBezTo>
                    <a:pt x="2672" y="79929"/>
                    <a:pt x="2697" y="76446"/>
                    <a:pt x="2700" y="73111"/>
                  </a:cubicBezTo>
                  <a:cubicBezTo>
                    <a:pt x="2702" y="69777"/>
                    <a:pt x="2754" y="66288"/>
                    <a:pt x="4329" y="63351"/>
                  </a:cubicBezTo>
                  <a:cubicBezTo>
                    <a:pt x="6516" y="59275"/>
                    <a:pt x="11131" y="57170"/>
                    <a:pt x="15568" y="55862"/>
                  </a:cubicBezTo>
                  <a:cubicBezTo>
                    <a:pt x="20006" y="54556"/>
                    <a:pt x="24722" y="53701"/>
                    <a:pt x="28491" y="51020"/>
                  </a:cubicBezTo>
                  <a:cubicBezTo>
                    <a:pt x="39032" y="43516"/>
                    <a:pt x="35754" y="27781"/>
                    <a:pt x="44955" y="19139"/>
                  </a:cubicBezTo>
                  <a:cubicBezTo>
                    <a:pt x="51913" y="12607"/>
                    <a:pt x="67486" y="11669"/>
                    <a:pt x="71584" y="1497"/>
                  </a:cubicBezTo>
                  <a:lnTo>
                    <a:pt x="1" y="0"/>
                  </a:lnTo>
                  <a:close/>
                </a:path>
              </a:pathLst>
            </a:custGeom>
            <a:gradFill rotWithShape="0">
              <a:gsLst>
                <a:gs pos="0">
                  <a:srgbClr val="2D2183"/>
                </a:gs>
                <a:gs pos="100000">
                  <a:srgbClr val="224CE6"/>
                </a:gs>
              </a:gsLst>
              <a:lin ang="16194000"/>
            </a:gradFill>
            <a:ln w="0">
              <a:noFill/>
            </a:ln>
          </p:spPr>
          <p:style>
            <a:lnRef idx="0">
              <a:scrgbClr r="0" g="0" b="0"/>
            </a:lnRef>
            <a:fillRef idx="0">
              <a:scrgbClr r="0" g="0" b="0"/>
            </a:fillRef>
            <a:effectRef idx="0">
              <a:scrgbClr r="0" g="0" b="0"/>
            </a:effectRef>
            <a:fontRef idx="minor"/>
          </p:style>
        </p:sp>
        <p:sp>
          <p:nvSpPr>
            <p:cNvPr id="3" name="Google Shape;14;p2"/>
            <p:cNvSpPr/>
            <p:nvPr/>
          </p:nvSpPr>
          <p:spPr>
            <a:xfrm rot="10800000" flipH="1">
              <a:off x="1730410" y="4523217"/>
              <a:ext cx="1341489" cy="620283"/>
            </a:xfrm>
            <a:custGeom>
              <a:avLst/>
              <a:gdLst/>
              <a:ahLst/>
              <a:cxnLst/>
              <a:rect l="l" t="t" r="r" b="b"/>
              <a:pathLst>
                <a:path w="75652" h="46109">
                  <a:moveTo>
                    <a:pt x="1" y="0"/>
                  </a:moveTo>
                  <a:lnTo>
                    <a:pt x="1" y="46108"/>
                  </a:lnTo>
                  <a:cubicBezTo>
                    <a:pt x="1086" y="45834"/>
                    <a:pt x="2128" y="45411"/>
                    <a:pt x="3098" y="44854"/>
                  </a:cubicBezTo>
                  <a:cubicBezTo>
                    <a:pt x="6905" y="42653"/>
                    <a:pt x="9630" y="38836"/>
                    <a:pt x="12059" y="35015"/>
                  </a:cubicBezTo>
                  <a:cubicBezTo>
                    <a:pt x="14488" y="31193"/>
                    <a:pt x="16806" y="27177"/>
                    <a:pt x="20156" y="24252"/>
                  </a:cubicBezTo>
                  <a:cubicBezTo>
                    <a:pt x="24658" y="20319"/>
                    <a:pt x="30596" y="18751"/>
                    <a:pt x="36394" y="18220"/>
                  </a:cubicBezTo>
                  <a:cubicBezTo>
                    <a:pt x="42194" y="17688"/>
                    <a:pt x="48043" y="18078"/>
                    <a:pt x="53840" y="17512"/>
                  </a:cubicBezTo>
                  <a:cubicBezTo>
                    <a:pt x="59636" y="16947"/>
                    <a:pt x="65564" y="15302"/>
                    <a:pt x="70004" y="11290"/>
                  </a:cubicBezTo>
                  <a:cubicBezTo>
                    <a:pt x="73124" y="8470"/>
                    <a:pt x="75316" y="4271"/>
                    <a:pt x="75652" y="0"/>
                  </a:cubicBezTo>
                  <a:close/>
                </a:path>
              </a:pathLst>
            </a:custGeom>
            <a:gradFill rotWithShape="0">
              <a:gsLst>
                <a:gs pos="0">
                  <a:srgbClr val="00D4F9"/>
                </a:gs>
                <a:gs pos="100000">
                  <a:srgbClr val="EEEEEE"/>
                </a:gs>
              </a:gsLst>
              <a:lin ang="16194000"/>
            </a:gradFill>
            <a:ln w="0">
              <a:noFill/>
            </a:ln>
          </p:spPr>
          <p:style>
            <a:lnRef idx="0">
              <a:scrgbClr r="0" g="0" b="0"/>
            </a:lnRef>
            <a:fillRef idx="0">
              <a:scrgbClr r="0" g="0" b="0"/>
            </a:fillRef>
            <a:effectRef idx="0">
              <a:scrgbClr r="0" g="0" b="0"/>
            </a:effectRef>
            <a:fontRef idx="minor"/>
          </p:style>
        </p:sp>
        <p:sp>
          <p:nvSpPr>
            <p:cNvPr id="4" name="Google Shape;15;p2"/>
            <p:cNvSpPr/>
            <p:nvPr/>
          </p:nvSpPr>
          <p:spPr>
            <a:xfrm rot="10800000" flipH="1">
              <a:off x="1729995" y="4907206"/>
              <a:ext cx="834508" cy="245787"/>
            </a:xfrm>
            <a:custGeom>
              <a:avLst/>
              <a:gdLst/>
              <a:ahLst/>
              <a:cxnLst/>
              <a:rect l="l" t="t" r="r" b="b"/>
              <a:pathLst>
                <a:path w="47071" h="18283">
                  <a:moveTo>
                    <a:pt x="1" y="0"/>
                  </a:moveTo>
                  <a:lnTo>
                    <a:pt x="1" y="18282"/>
                  </a:lnTo>
                  <a:cubicBezTo>
                    <a:pt x="2594" y="17456"/>
                    <a:pt x="5313" y="16985"/>
                    <a:pt x="8003" y="16739"/>
                  </a:cubicBezTo>
                  <a:cubicBezTo>
                    <a:pt x="13802" y="16206"/>
                    <a:pt x="19652" y="16597"/>
                    <a:pt x="25448" y="16031"/>
                  </a:cubicBezTo>
                  <a:cubicBezTo>
                    <a:pt x="31244" y="15466"/>
                    <a:pt x="37173" y="13822"/>
                    <a:pt x="41613" y="9810"/>
                  </a:cubicBezTo>
                  <a:cubicBezTo>
                    <a:pt x="44371" y="7317"/>
                    <a:pt x="46404" y="3746"/>
                    <a:pt x="47071" y="1"/>
                  </a:cubicBezTo>
                  <a:lnTo>
                    <a:pt x="1" y="0"/>
                  </a:lnTo>
                  <a:close/>
                </a:path>
              </a:pathLst>
            </a:custGeom>
            <a:gradFill rotWithShape="0">
              <a:gsLst>
                <a:gs pos="0">
                  <a:srgbClr val="2D2183"/>
                </a:gs>
                <a:gs pos="100000">
                  <a:srgbClr val="224CE6"/>
                </a:gs>
              </a:gsLst>
              <a:lin ang="16194000"/>
            </a:gradFill>
            <a:ln w="0">
              <a:noFill/>
            </a:ln>
          </p:spPr>
          <p:style>
            <a:lnRef idx="0">
              <a:scrgbClr r="0" g="0" b="0"/>
            </a:lnRef>
            <a:fillRef idx="0">
              <a:scrgbClr r="0" g="0" b="0"/>
            </a:fillRef>
            <a:effectRef idx="0">
              <a:scrgbClr r="0" g="0" b="0"/>
            </a:effectRef>
            <a:fontRef idx="minor"/>
          </p:style>
        </p:sp>
      </p:grpSp>
      <p:grpSp>
        <p:nvGrpSpPr>
          <p:cNvPr id="5" name="Google Shape;16;p2"/>
          <p:cNvGrpSpPr/>
          <p:nvPr/>
        </p:nvGrpSpPr>
        <p:grpSpPr>
          <a:xfrm>
            <a:off x="8425980" y="4365720"/>
            <a:ext cx="736341" cy="777780"/>
            <a:chOff x="7031880" y="2935080"/>
            <a:chExt cx="1917000" cy="2235960"/>
          </a:xfrm>
        </p:grpSpPr>
        <p:grpSp>
          <p:nvGrpSpPr>
            <p:cNvPr id="6" name="Google Shape;17;p2"/>
            <p:cNvGrpSpPr/>
            <p:nvPr/>
          </p:nvGrpSpPr>
          <p:grpSpPr>
            <a:xfrm>
              <a:off x="7963920" y="2935080"/>
              <a:ext cx="984960" cy="2235960"/>
              <a:chOff x="7963920" y="2935080"/>
              <a:chExt cx="984960" cy="2235960"/>
            </a:xfrm>
          </p:grpSpPr>
          <p:sp>
            <p:nvSpPr>
              <p:cNvPr id="7" name="Google Shape;18;p2"/>
              <p:cNvSpPr/>
              <p:nvPr/>
            </p:nvSpPr>
            <p:spPr>
              <a:xfrm>
                <a:off x="7963920" y="2935080"/>
                <a:ext cx="984960" cy="2235960"/>
              </a:xfrm>
              <a:custGeom>
                <a:avLst/>
                <a:gdLst/>
                <a:ahLst/>
                <a:cxnLst/>
                <a:rect l="l" t="t" r="r" b="b"/>
                <a:pathLst>
                  <a:path w="16741" h="37975">
                    <a:moveTo>
                      <a:pt x="14710" y="0"/>
                    </a:moveTo>
                    <a:cubicBezTo>
                      <a:pt x="14623" y="5130"/>
                      <a:pt x="9930" y="6444"/>
                      <a:pt x="8375" y="9189"/>
                    </a:cubicBezTo>
                    <a:cubicBezTo>
                      <a:pt x="6821" y="11934"/>
                      <a:pt x="9272" y="13099"/>
                      <a:pt x="7569" y="14967"/>
                    </a:cubicBezTo>
                    <a:cubicBezTo>
                      <a:pt x="5864" y="16837"/>
                      <a:pt x="3909" y="16742"/>
                      <a:pt x="4428" y="18667"/>
                    </a:cubicBezTo>
                    <a:cubicBezTo>
                      <a:pt x="4949" y="20592"/>
                      <a:pt x="6310" y="23776"/>
                      <a:pt x="3689" y="24990"/>
                    </a:cubicBezTo>
                    <a:cubicBezTo>
                      <a:pt x="1067" y="26204"/>
                      <a:pt x="2316" y="27943"/>
                      <a:pt x="3123" y="30332"/>
                    </a:cubicBezTo>
                    <a:cubicBezTo>
                      <a:pt x="3931" y="32719"/>
                      <a:pt x="3283" y="33801"/>
                      <a:pt x="800" y="36251"/>
                    </a:cubicBezTo>
                    <a:cubicBezTo>
                      <a:pt x="167" y="36874"/>
                      <a:pt x="0" y="37455"/>
                      <a:pt x="102" y="37974"/>
                    </a:cubicBezTo>
                    <a:lnTo>
                      <a:pt x="9722" y="37974"/>
                    </a:lnTo>
                    <a:cubicBezTo>
                      <a:pt x="10022" y="37144"/>
                      <a:pt x="10150" y="36230"/>
                      <a:pt x="10101" y="35342"/>
                    </a:cubicBezTo>
                    <a:cubicBezTo>
                      <a:pt x="9912" y="31908"/>
                      <a:pt x="9276" y="32061"/>
                      <a:pt x="10575" y="30493"/>
                    </a:cubicBezTo>
                    <a:cubicBezTo>
                      <a:pt x="11874" y="28925"/>
                      <a:pt x="12633" y="28637"/>
                      <a:pt x="12050" y="26271"/>
                    </a:cubicBezTo>
                    <a:cubicBezTo>
                      <a:pt x="11467" y="23906"/>
                      <a:pt x="11249" y="22322"/>
                      <a:pt x="13116" y="20833"/>
                    </a:cubicBezTo>
                    <a:cubicBezTo>
                      <a:pt x="14983" y="19346"/>
                      <a:pt x="15058" y="16749"/>
                      <a:pt x="13940" y="14482"/>
                    </a:cubicBezTo>
                    <a:cubicBezTo>
                      <a:pt x="12821" y="12213"/>
                      <a:pt x="15068" y="10582"/>
                      <a:pt x="15904" y="7106"/>
                    </a:cubicBezTo>
                    <a:cubicBezTo>
                      <a:pt x="16741" y="3630"/>
                      <a:pt x="14710" y="0"/>
                      <a:pt x="14710" y="0"/>
                    </a:cubicBez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8" name="Google Shape;19;p2"/>
              <p:cNvSpPr/>
              <p:nvPr/>
            </p:nvSpPr>
            <p:spPr>
              <a:xfrm>
                <a:off x="8223120" y="3542760"/>
                <a:ext cx="466200" cy="1628280"/>
              </a:xfrm>
              <a:custGeom>
                <a:avLst/>
                <a:gdLst/>
                <a:ahLst/>
                <a:cxnLst/>
                <a:rect l="l" t="t" r="r" b="b"/>
                <a:pathLst>
                  <a:path w="7935" h="27660">
                    <a:moveTo>
                      <a:pt x="7664" y="1"/>
                    </a:moveTo>
                    <a:cubicBezTo>
                      <a:pt x="7557" y="1"/>
                      <a:pt x="7458" y="72"/>
                      <a:pt x="7429" y="180"/>
                    </a:cubicBezTo>
                    <a:lnTo>
                      <a:pt x="0" y="27659"/>
                    </a:lnTo>
                    <a:lnTo>
                      <a:pt x="505" y="27659"/>
                    </a:lnTo>
                    <a:lnTo>
                      <a:pt x="7898" y="308"/>
                    </a:lnTo>
                    <a:cubicBezTo>
                      <a:pt x="7934" y="180"/>
                      <a:pt x="7859" y="47"/>
                      <a:pt x="7731" y="10"/>
                    </a:cubicBezTo>
                    <a:cubicBezTo>
                      <a:pt x="7730" y="10"/>
                      <a:pt x="7729" y="9"/>
                      <a:pt x="7727" y="9"/>
                    </a:cubicBezTo>
                    <a:cubicBezTo>
                      <a:pt x="7706" y="3"/>
                      <a:pt x="7685" y="1"/>
                      <a:pt x="7664" y="1"/>
                    </a:cubicBezTo>
                    <a:close/>
                  </a:path>
                </a:pathLst>
              </a:custGeom>
              <a:solidFill>
                <a:schemeClr val="lt1"/>
              </a:solidFill>
              <a:ln w="0">
                <a:noFill/>
              </a:ln>
            </p:spPr>
            <p:style>
              <a:lnRef idx="0">
                <a:scrgbClr r="0" g="0" b="0"/>
              </a:lnRef>
              <a:fillRef idx="0">
                <a:scrgbClr r="0" g="0" b="0"/>
              </a:fillRef>
              <a:effectRef idx="0">
                <a:scrgbClr r="0" g="0" b="0"/>
              </a:effectRef>
              <a:fontRef idx="minor"/>
            </p:style>
          </p:sp>
        </p:grpSp>
        <p:grpSp>
          <p:nvGrpSpPr>
            <p:cNvPr id="9" name="Google Shape;20;p2"/>
            <p:cNvGrpSpPr/>
            <p:nvPr/>
          </p:nvGrpSpPr>
          <p:grpSpPr>
            <a:xfrm>
              <a:off x="7031880" y="3839040"/>
              <a:ext cx="1340640" cy="1332000"/>
              <a:chOff x="7031880" y="3839040"/>
              <a:chExt cx="1340640" cy="1332000"/>
            </a:xfrm>
          </p:grpSpPr>
          <p:sp>
            <p:nvSpPr>
              <p:cNvPr id="10" name="Google Shape;21;p2"/>
              <p:cNvSpPr/>
              <p:nvPr/>
            </p:nvSpPr>
            <p:spPr>
              <a:xfrm>
                <a:off x="7320960" y="4103640"/>
                <a:ext cx="1051560" cy="1067400"/>
              </a:xfrm>
              <a:custGeom>
                <a:avLst/>
                <a:gdLst/>
                <a:ahLst/>
                <a:cxnLst/>
                <a:rect l="l" t="t" r="r" b="b"/>
                <a:pathLst>
                  <a:path w="17868" h="18135">
                    <a:moveTo>
                      <a:pt x="12502" y="1"/>
                    </a:moveTo>
                    <a:cubicBezTo>
                      <a:pt x="8667" y="1"/>
                      <a:pt x="4872" y="7004"/>
                      <a:pt x="2741" y="11755"/>
                    </a:cubicBezTo>
                    <a:cubicBezTo>
                      <a:pt x="1646" y="14189"/>
                      <a:pt x="989" y="16033"/>
                      <a:pt x="989" y="16033"/>
                    </a:cubicBezTo>
                    <a:cubicBezTo>
                      <a:pt x="604" y="16793"/>
                      <a:pt x="286" y="17472"/>
                      <a:pt x="25" y="18077"/>
                    </a:cubicBezTo>
                    <a:cubicBezTo>
                      <a:pt x="16" y="18097"/>
                      <a:pt x="9" y="18116"/>
                      <a:pt x="0" y="18135"/>
                    </a:cubicBezTo>
                    <a:lnTo>
                      <a:pt x="6629" y="18135"/>
                    </a:lnTo>
                    <a:cubicBezTo>
                      <a:pt x="7654" y="16891"/>
                      <a:pt x="8654" y="15651"/>
                      <a:pt x="9346" y="14731"/>
                    </a:cubicBezTo>
                    <a:cubicBezTo>
                      <a:pt x="13164" y="9662"/>
                      <a:pt x="17868" y="2144"/>
                      <a:pt x="13836" y="298"/>
                    </a:cubicBezTo>
                    <a:cubicBezTo>
                      <a:pt x="13392" y="95"/>
                      <a:pt x="12947" y="1"/>
                      <a:pt x="12502" y="1"/>
                    </a:cubicBezTo>
                    <a:close/>
                  </a:path>
                </a:pathLst>
              </a:custGeom>
              <a:gradFill rotWithShape="0">
                <a:gsLst>
                  <a:gs pos="0">
                    <a:srgbClr val="00D4F9"/>
                  </a:gs>
                  <a:gs pos="100000">
                    <a:srgbClr val="EEEEEE"/>
                  </a:gs>
                </a:gsLst>
                <a:lin ang="5400000"/>
              </a:gradFill>
              <a:ln w="0">
                <a:noFill/>
              </a:ln>
            </p:spPr>
            <p:style>
              <a:lnRef idx="0">
                <a:scrgbClr r="0" g="0" b="0"/>
              </a:lnRef>
              <a:fillRef idx="0">
                <a:scrgbClr r="0" g="0" b="0"/>
              </a:fillRef>
              <a:effectRef idx="0">
                <a:scrgbClr r="0" g="0" b="0"/>
              </a:effectRef>
              <a:fontRef idx="minor"/>
            </p:style>
          </p:sp>
          <p:sp>
            <p:nvSpPr>
              <p:cNvPr id="11" name="Google Shape;22;p2"/>
              <p:cNvSpPr/>
              <p:nvPr/>
            </p:nvSpPr>
            <p:spPr>
              <a:xfrm>
                <a:off x="7468200" y="4457880"/>
                <a:ext cx="459360" cy="713160"/>
              </a:xfrm>
              <a:custGeom>
                <a:avLst/>
                <a:gdLst/>
                <a:ahLst/>
                <a:cxnLst/>
                <a:rect l="l" t="t" r="r" b="b"/>
                <a:pathLst>
                  <a:path w="7815" h="12122">
                    <a:moveTo>
                      <a:pt x="7505" y="1"/>
                    </a:moveTo>
                    <a:cubicBezTo>
                      <a:pt x="7416" y="1"/>
                      <a:pt x="7328" y="45"/>
                      <a:pt x="7277" y="126"/>
                    </a:cubicBezTo>
                    <a:cubicBezTo>
                      <a:pt x="7041" y="494"/>
                      <a:pt x="2651" y="7370"/>
                      <a:pt x="0" y="12122"/>
                    </a:cubicBezTo>
                    <a:lnTo>
                      <a:pt x="625" y="12122"/>
                    </a:lnTo>
                    <a:cubicBezTo>
                      <a:pt x="3321" y="7327"/>
                      <a:pt x="7677" y="506"/>
                      <a:pt x="7733" y="418"/>
                    </a:cubicBezTo>
                    <a:cubicBezTo>
                      <a:pt x="7815" y="292"/>
                      <a:pt x="7778" y="124"/>
                      <a:pt x="7651" y="44"/>
                    </a:cubicBezTo>
                    <a:cubicBezTo>
                      <a:pt x="7606" y="15"/>
                      <a:pt x="7555" y="1"/>
                      <a:pt x="7505" y="1"/>
                    </a:cubicBezTo>
                    <a:close/>
                  </a:path>
                </a:pathLst>
              </a:custGeom>
              <a:solidFill>
                <a:schemeClr val="lt1"/>
              </a:solidFill>
              <a:ln w="0">
                <a:noFill/>
              </a:ln>
            </p:spPr>
            <p:style>
              <a:lnRef idx="0">
                <a:scrgbClr r="0" g="0" b="0"/>
              </a:lnRef>
              <a:fillRef idx="0">
                <a:scrgbClr r="0" g="0" b="0"/>
              </a:fillRef>
              <a:effectRef idx="0">
                <a:scrgbClr r="0" g="0" b="0"/>
              </a:effectRef>
              <a:fontRef idx="minor"/>
            </p:style>
          </p:sp>
          <p:sp>
            <p:nvSpPr>
              <p:cNvPr id="12" name="Google Shape;23;p2"/>
              <p:cNvSpPr/>
              <p:nvPr/>
            </p:nvSpPr>
            <p:spPr>
              <a:xfrm>
                <a:off x="7031880" y="3839040"/>
                <a:ext cx="577800" cy="1332000"/>
              </a:xfrm>
              <a:custGeom>
                <a:avLst/>
                <a:gdLst/>
                <a:ahLst/>
                <a:cxnLst/>
                <a:rect l="l" t="t" r="r" b="b"/>
                <a:pathLst>
                  <a:path w="9824" h="22629">
                    <a:moveTo>
                      <a:pt x="5379" y="1"/>
                    </a:moveTo>
                    <a:cubicBezTo>
                      <a:pt x="695" y="1"/>
                      <a:pt x="0" y="9215"/>
                      <a:pt x="27" y="15021"/>
                    </a:cubicBezTo>
                    <a:cubicBezTo>
                      <a:pt x="38" y="17690"/>
                      <a:pt x="203" y="19640"/>
                      <a:pt x="203" y="19640"/>
                    </a:cubicBezTo>
                    <a:cubicBezTo>
                      <a:pt x="169" y="20492"/>
                      <a:pt x="160" y="21241"/>
                      <a:pt x="172" y="21901"/>
                    </a:cubicBezTo>
                    <a:cubicBezTo>
                      <a:pt x="178" y="22160"/>
                      <a:pt x="187" y="22401"/>
                      <a:pt x="201" y="22629"/>
                    </a:cubicBezTo>
                    <a:lnTo>
                      <a:pt x="5271" y="22629"/>
                    </a:lnTo>
                    <a:cubicBezTo>
                      <a:pt x="5936" y="20258"/>
                      <a:pt x="6833" y="16978"/>
                      <a:pt x="7273" y="14998"/>
                    </a:cubicBezTo>
                    <a:cubicBezTo>
                      <a:pt x="8651" y="8803"/>
                      <a:pt x="9823" y="13"/>
                      <a:pt x="5389" y="1"/>
                    </a:cubicBezTo>
                    <a:cubicBezTo>
                      <a:pt x="5385" y="1"/>
                      <a:pt x="5382" y="1"/>
                      <a:pt x="5379" y="1"/>
                    </a:cubicBezTo>
                    <a:close/>
                  </a:path>
                </a:pathLst>
              </a:custGeom>
              <a:gradFill rotWithShape="0">
                <a:gsLst>
                  <a:gs pos="0">
                    <a:srgbClr val="00D4F9"/>
                  </a:gs>
                  <a:gs pos="100000">
                    <a:srgbClr val="5C38F1"/>
                  </a:gs>
                </a:gsLst>
                <a:lin ang="5400000"/>
              </a:gradFill>
              <a:ln w="0">
                <a:noFill/>
              </a:ln>
            </p:spPr>
            <p:style>
              <a:lnRef idx="0">
                <a:scrgbClr r="0" g="0" b="0"/>
              </a:lnRef>
              <a:fillRef idx="0">
                <a:scrgbClr r="0" g="0" b="0"/>
              </a:fillRef>
              <a:effectRef idx="0">
                <a:scrgbClr r="0" g="0" b="0"/>
              </a:effectRef>
              <a:fontRef idx="minor"/>
            </p:style>
          </p:sp>
          <p:sp>
            <p:nvSpPr>
              <p:cNvPr id="13" name="Google Shape;24;p2"/>
              <p:cNvSpPr/>
              <p:nvPr/>
            </p:nvSpPr>
            <p:spPr>
              <a:xfrm>
                <a:off x="7169400" y="4237560"/>
                <a:ext cx="136800" cy="933480"/>
              </a:xfrm>
              <a:custGeom>
                <a:avLst/>
                <a:gdLst/>
                <a:ahLst/>
                <a:cxnLst/>
                <a:rect l="l" t="t" r="r" b="b"/>
                <a:pathLst>
                  <a:path w="2340" h="15866">
                    <a:moveTo>
                      <a:pt x="2050" y="0"/>
                    </a:moveTo>
                    <a:cubicBezTo>
                      <a:pt x="1917" y="0"/>
                      <a:pt x="1800" y="97"/>
                      <a:pt x="1781" y="233"/>
                    </a:cubicBezTo>
                    <a:cubicBezTo>
                      <a:pt x="1712" y="714"/>
                      <a:pt x="296" y="10638"/>
                      <a:pt x="0" y="15866"/>
                    </a:cubicBezTo>
                    <a:lnTo>
                      <a:pt x="545" y="15866"/>
                    </a:lnTo>
                    <a:cubicBezTo>
                      <a:pt x="849" y="10606"/>
                      <a:pt x="2301" y="428"/>
                      <a:pt x="2319" y="311"/>
                    </a:cubicBezTo>
                    <a:cubicBezTo>
                      <a:pt x="2340" y="162"/>
                      <a:pt x="2236" y="24"/>
                      <a:pt x="2089" y="3"/>
                    </a:cubicBezTo>
                    <a:cubicBezTo>
                      <a:pt x="2076" y="1"/>
                      <a:pt x="2063" y="0"/>
                      <a:pt x="2050" y="0"/>
                    </a:cubicBezTo>
                    <a:close/>
                  </a:path>
                </a:pathLst>
              </a:custGeom>
              <a:solidFill>
                <a:schemeClr val="lt1"/>
              </a:solidFill>
              <a:ln w="0">
                <a:noFill/>
              </a:ln>
            </p:spPr>
            <p:style>
              <a:lnRef idx="0">
                <a:scrgbClr r="0" g="0" b="0"/>
              </a:lnRef>
              <a:fillRef idx="0">
                <a:scrgbClr r="0" g="0" b="0"/>
              </a:fillRef>
              <a:effectRef idx="0">
                <a:scrgbClr r="0" g="0" b="0"/>
              </a:effectRef>
              <a:fontRef idx="minor"/>
            </p:style>
          </p:sp>
        </p:grpSp>
      </p:grpSp>
      <p:sp>
        <p:nvSpPr>
          <p:cNvPr id="23"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r>
              <a:rPr lang="fr-FR" sz="1800" b="0" strike="noStrike" spc="-1">
                <a:latin typeface="Arial"/>
              </a:rPr>
              <a:t>Cliquez pour éditer le format du texte-titre</a:t>
            </a:r>
          </a:p>
        </p:txBody>
      </p:sp>
      <p:sp>
        <p:nvSpPr>
          <p:cNvPr id="24"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800" b="0" strike="noStrike" spc="-1">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strike="noStrike" spc="-1">
                <a:latin typeface="Arial"/>
              </a:rPr>
              <a:t>Second niveau de plan</a:t>
            </a:r>
          </a:p>
          <a:p>
            <a:pPr marL="1296000" lvl="2" indent="-288000">
              <a:spcBef>
                <a:spcPts val="850"/>
              </a:spcBef>
              <a:buClr>
                <a:srgbClr val="000000"/>
              </a:buClr>
              <a:buSzPct val="45000"/>
              <a:buFont typeface="Wingdings" charset="2"/>
              <a:buChar char=""/>
            </a:pPr>
            <a:r>
              <a:rPr lang="fr-FR" sz="1800" b="0" strike="noStrike" spc="-1">
                <a:latin typeface="Arial"/>
              </a:rPr>
              <a:t>Troisième niveau de plan</a:t>
            </a:r>
          </a:p>
          <a:p>
            <a:pPr marL="1728000" lvl="3" indent="-216000">
              <a:spcBef>
                <a:spcPts val="567"/>
              </a:spcBef>
              <a:buClr>
                <a:srgbClr val="000000"/>
              </a:buClr>
              <a:buSzPct val="75000"/>
              <a:buFont typeface="Symbol" charset="2"/>
              <a:buChar char=""/>
            </a:pPr>
            <a:r>
              <a:rPr lang="fr-FR" sz="1800" b="0" strike="noStrike" spc="-1">
                <a:latin typeface="Arial"/>
              </a:rPr>
              <a:t>Quatrième niveau de plan</a:t>
            </a:r>
          </a:p>
          <a:p>
            <a:pPr marL="2160000" lvl="4" indent="-216000">
              <a:spcBef>
                <a:spcPts val="283"/>
              </a:spcBef>
              <a:buClr>
                <a:srgbClr val="000000"/>
              </a:buClr>
              <a:buSzPct val="45000"/>
              <a:buFont typeface="Wingdings" charset="2"/>
              <a:buChar char=""/>
            </a:pPr>
            <a:r>
              <a:rPr lang="fr-FR" sz="1800" b="0" strike="noStrike" spc="-1">
                <a:latin typeface="Arial"/>
              </a:rPr>
              <a:t>Cinquième niveau de plan</a:t>
            </a:r>
          </a:p>
          <a:p>
            <a:pPr marL="2592000" lvl="5" indent="-216000">
              <a:spcBef>
                <a:spcPts val="283"/>
              </a:spcBef>
              <a:buClr>
                <a:srgbClr val="000000"/>
              </a:buClr>
              <a:buSzPct val="45000"/>
              <a:buFont typeface="Wingdings" charset="2"/>
              <a:buChar char=""/>
            </a:pPr>
            <a:r>
              <a:rPr lang="fr-FR" sz="1800" b="0" strike="noStrike" spc="-1">
                <a:latin typeface="Arial"/>
              </a:rPr>
              <a:t>Sixième niveau de plan</a:t>
            </a:r>
          </a:p>
          <a:p>
            <a:pPr marL="3024000" lvl="6" indent="-216000">
              <a:spcBef>
                <a:spcPts val="283"/>
              </a:spcBef>
              <a:buClr>
                <a:srgbClr val="000000"/>
              </a:buClr>
              <a:buSzPct val="45000"/>
              <a:buFont typeface="Wingdings" charset="2"/>
              <a:buChar char=""/>
            </a:pPr>
            <a:r>
              <a:rPr lang="fr-FR" sz="1800" b="0" strike="noStrike" spc="-1">
                <a:latin typeface="Arial"/>
              </a:rPr>
              <a:t>Septième niveau de plan</a:t>
            </a:r>
          </a:p>
        </p:txBody>
      </p:sp>
      <p:pic>
        <p:nvPicPr>
          <p:cNvPr id="15" name="Image 14">
            <a:extLst>
              <a:ext uri="{FF2B5EF4-FFF2-40B4-BE49-F238E27FC236}">
                <a16:creationId xmlns:a16="http://schemas.microsoft.com/office/drawing/2014/main" id="{6F617517-9675-47CA-B9A1-1C4A0516DDD0}"/>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46209" y="44282"/>
            <a:ext cx="1438781" cy="57307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EEEEEE"/>
            </a:gs>
          </a:gsLst>
          <a:path path="circle">
            <a:fillToRect l="50000" t="50000" r="50000" b="50000"/>
          </a:path>
        </a:gradFill>
        <a:effectLst/>
      </p:bgPr>
    </p:bg>
    <p:spTree>
      <p:nvGrpSpPr>
        <p:cNvPr id="1" name=""/>
        <p:cNvGrpSpPr/>
        <p:nvPr/>
      </p:nvGrpSpPr>
      <p:grpSpPr>
        <a:xfrm>
          <a:off x="0" y="0"/>
          <a:ext cx="0" cy="0"/>
          <a:chOff x="0" y="0"/>
          <a:chExt cx="0" cy="0"/>
        </a:xfrm>
      </p:grpSpPr>
      <p:sp>
        <p:nvSpPr>
          <p:cNvPr id="113" name="Google Shape;299;p13"/>
          <p:cNvSpPr/>
          <p:nvPr/>
        </p:nvSpPr>
        <p:spPr>
          <a:xfrm>
            <a:off x="7973292" y="-34920"/>
            <a:ext cx="1169628" cy="1302611"/>
          </a:xfrm>
          <a:custGeom>
            <a:avLst/>
            <a:gdLst/>
            <a:ahLst/>
            <a:cxnLst/>
            <a:rect l="l" t="t" r="r" b="b"/>
            <a:pathLst>
              <a:path w="95257" h="117978">
                <a:moveTo>
                  <a:pt x="1" y="0"/>
                </a:moveTo>
                <a:cubicBezTo>
                  <a:pt x="6" y="16"/>
                  <a:pt x="7" y="33"/>
                  <a:pt x="10" y="50"/>
                </a:cubicBezTo>
                <a:cubicBezTo>
                  <a:pt x="15" y="66"/>
                  <a:pt x="22" y="85"/>
                  <a:pt x="26" y="103"/>
                </a:cubicBezTo>
                <a:cubicBezTo>
                  <a:pt x="259" y="113"/>
                  <a:pt x="491" y="116"/>
                  <a:pt x="724" y="128"/>
                </a:cubicBezTo>
                <a:cubicBezTo>
                  <a:pt x="16323" y="980"/>
                  <a:pt x="33356" y="8690"/>
                  <a:pt x="37853" y="23652"/>
                </a:cubicBezTo>
                <a:cubicBezTo>
                  <a:pt x="41475" y="35702"/>
                  <a:pt x="36482" y="50528"/>
                  <a:pt x="44575" y="60161"/>
                </a:cubicBezTo>
                <a:cubicBezTo>
                  <a:pt x="53009" y="70205"/>
                  <a:pt x="70274" y="67642"/>
                  <a:pt x="79509" y="76954"/>
                </a:cubicBezTo>
                <a:cubicBezTo>
                  <a:pt x="87937" y="85451"/>
                  <a:pt x="85896" y="99582"/>
                  <a:pt x="90533" y="110614"/>
                </a:cubicBezTo>
                <a:cubicBezTo>
                  <a:pt x="91679" y="113340"/>
                  <a:pt x="93298" y="115808"/>
                  <a:pt x="95256" y="117977"/>
                </a:cubicBezTo>
                <a:lnTo>
                  <a:pt x="95256" y="0"/>
                </a:ln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114" name="Google Shape;300;p13"/>
          <p:cNvSpPr/>
          <p:nvPr/>
        </p:nvSpPr>
        <p:spPr>
          <a:xfrm>
            <a:off x="8588054" y="-34920"/>
            <a:ext cx="554866" cy="579439"/>
          </a:xfrm>
          <a:custGeom>
            <a:avLst/>
            <a:gdLst/>
            <a:ahLst/>
            <a:cxnLst/>
            <a:rect l="l" t="t" r="r" b="b"/>
            <a:pathLst>
              <a:path w="45219" h="52504">
                <a:moveTo>
                  <a:pt x="1295" y="0"/>
                </a:moveTo>
                <a:cubicBezTo>
                  <a:pt x="2651" y="10854"/>
                  <a:pt x="1" y="22896"/>
                  <a:pt x="6925" y="31140"/>
                </a:cubicBezTo>
                <a:cubicBezTo>
                  <a:pt x="15359" y="41182"/>
                  <a:pt x="32624" y="38620"/>
                  <a:pt x="41859" y="47931"/>
                </a:cubicBezTo>
                <a:cubicBezTo>
                  <a:pt x="43234" y="49317"/>
                  <a:pt x="44326" y="50855"/>
                  <a:pt x="45218" y="52503"/>
                </a:cubicBezTo>
                <a:lnTo>
                  <a:pt x="45218" y="0"/>
                </a:lnTo>
                <a:close/>
              </a:path>
            </a:pathLst>
          </a:custGeom>
          <a:gradFill rotWithShape="0">
            <a:gsLst>
              <a:gs pos="0">
                <a:srgbClr val="00D4F9"/>
              </a:gs>
              <a:gs pos="100000">
                <a:srgbClr val="EEEEEE"/>
              </a:gs>
            </a:gsLst>
            <a:lin ang="5400000"/>
          </a:gradFill>
          <a:ln w="0">
            <a:noFill/>
          </a:ln>
        </p:spPr>
        <p:style>
          <a:lnRef idx="0">
            <a:scrgbClr r="0" g="0" b="0"/>
          </a:lnRef>
          <a:fillRef idx="0">
            <a:scrgbClr r="0" g="0" b="0"/>
          </a:fillRef>
          <a:effectRef idx="0">
            <a:scrgbClr r="0" g="0" b="0"/>
          </a:effectRef>
          <a:fontRef idx="minor"/>
        </p:style>
      </p:sp>
      <p:sp>
        <p:nvSpPr>
          <p:cNvPr id="12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r>
              <a:rPr lang="fr-FR" sz="4400" b="0" strike="noStrike" spc="-1" dirty="0">
                <a:latin typeface="Arial"/>
              </a:rPr>
              <a:t>Cliquez pour éditer le format du texte-titre</a:t>
            </a:r>
          </a:p>
        </p:txBody>
      </p:sp>
      <p:sp>
        <p:nvSpPr>
          <p:cNvPr id="121" name="PlaceHolder 2"/>
          <p:cNvSpPr>
            <a:spLocks noGrp="1"/>
          </p:cNvSpPr>
          <p:nvPr>
            <p:ph type="body"/>
          </p:nvPr>
        </p:nvSpPr>
        <p:spPr>
          <a:xfrm>
            <a:off x="457200" y="1203480"/>
            <a:ext cx="8229239" cy="2982960"/>
          </a:xfrm>
          <a:prstGeom prst="rect">
            <a:avLst/>
          </a:prstGeom>
          <a:noFill/>
          <a:ln w="0">
            <a:noFill/>
          </a:ln>
        </p:spPr>
        <p:txBody>
          <a:bodyPr lIns="0" tIns="0" rIns="0" bIns="0" anchor="t">
            <a:normAutofit fontScale="96000"/>
          </a:bodyPr>
          <a:lstStyle/>
          <a:p>
            <a:pPr marL="432000" indent="-324000">
              <a:spcBef>
                <a:spcPts val="1417"/>
              </a:spcBef>
              <a:buClr>
                <a:srgbClr val="000000"/>
              </a:buClr>
              <a:buSzPct val="45000"/>
              <a:buFont typeface="Wingdings" charset="2"/>
              <a:buChar char=""/>
            </a:pPr>
            <a:r>
              <a:rPr lang="fr-FR" sz="3200" b="0" strike="noStrike" spc="-1" dirty="0">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dirty="0">
                <a:latin typeface="Arial"/>
              </a:rPr>
              <a:t>Second niveau de plan</a:t>
            </a:r>
          </a:p>
          <a:p>
            <a:pPr marL="1296000" lvl="2" indent="-288000">
              <a:spcBef>
                <a:spcPts val="850"/>
              </a:spcBef>
              <a:buClr>
                <a:srgbClr val="000000"/>
              </a:buClr>
              <a:buSzPct val="45000"/>
              <a:buFont typeface="Wingdings" charset="2"/>
              <a:buChar char=""/>
            </a:pPr>
            <a:r>
              <a:rPr lang="fr-FR" sz="2400" b="0" strike="noStrike" spc="-1" dirty="0">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dirty="0">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dirty="0">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dirty="0">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dirty="0">
                <a:latin typeface="Arial"/>
              </a:rPr>
              <a:t>Septième niveau de plan</a:t>
            </a:r>
          </a:p>
        </p:txBody>
      </p:sp>
      <p:grpSp>
        <p:nvGrpSpPr>
          <p:cNvPr id="23" name="Groupe 22">
            <a:extLst>
              <a:ext uri="{FF2B5EF4-FFF2-40B4-BE49-F238E27FC236}">
                <a16:creationId xmlns:a16="http://schemas.microsoft.com/office/drawing/2014/main" id="{BFD0EC1F-6E5D-4A09-8854-0FFB011B7654}"/>
              </a:ext>
            </a:extLst>
          </p:cNvPr>
          <p:cNvGrpSpPr/>
          <p:nvPr userDrawn="1"/>
        </p:nvGrpSpPr>
        <p:grpSpPr>
          <a:xfrm>
            <a:off x="-20781" y="4023234"/>
            <a:ext cx="1341904" cy="1136984"/>
            <a:chOff x="1729995" y="4023234"/>
            <a:chExt cx="1341904" cy="1136984"/>
          </a:xfrm>
        </p:grpSpPr>
        <p:sp>
          <p:nvSpPr>
            <p:cNvPr id="24" name="Google Shape;13;p2">
              <a:extLst>
                <a:ext uri="{FF2B5EF4-FFF2-40B4-BE49-F238E27FC236}">
                  <a16:creationId xmlns:a16="http://schemas.microsoft.com/office/drawing/2014/main" id="{2213EA5D-2FE1-4A46-A98C-B789C798012C}"/>
                </a:ext>
              </a:extLst>
            </p:cNvPr>
            <p:cNvSpPr/>
            <p:nvPr/>
          </p:nvSpPr>
          <p:spPr>
            <a:xfrm rot="10860000" flipH="1">
              <a:off x="1738563" y="4023234"/>
              <a:ext cx="1269332" cy="1136984"/>
            </a:xfrm>
            <a:custGeom>
              <a:avLst/>
              <a:gdLst/>
              <a:ahLst/>
              <a:cxnLst/>
              <a:rect l="l" t="t" r="r" b="b"/>
              <a:pathLst>
                <a:path w="71585" h="84502">
                  <a:moveTo>
                    <a:pt x="1" y="0"/>
                  </a:moveTo>
                  <a:lnTo>
                    <a:pt x="1" y="84501"/>
                  </a:lnTo>
                  <a:cubicBezTo>
                    <a:pt x="477" y="83955"/>
                    <a:pt x="874" y="83403"/>
                    <a:pt x="1139" y="82890"/>
                  </a:cubicBezTo>
                  <a:cubicBezTo>
                    <a:pt x="2672" y="79929"/>
                    <a:pt x="2697" y="76446"/>
                    <a:pt x="2700" y="73111"/>
                  </a:cubicBezTo>
                  <a:cubicBezTo>
                    <a:pt x="2702" y="69777"/>
                    <a:pt x="2754" y="66288"/>
                    <a:pt x="4329" y="63351"/>
                  </a:cubicBezTo>
                  <a:cubicBezTo>
                    <a:pt x="6516" y="59275"/>
                    <a:pt x="11131" y="57170"/>
                    <a:pt x="15568" y="55862"/>
                  </a:cubicBezTo>
                  <a:cubicBezTo>
                    <a:pt x="20006" y="54556"/>
                    <a:pt x="24722" y="53701"/>
                    <a:pt x="28491" y="51020"/>
                  </a:cubicBezTo>
                  <a:cubicBezTo>
                    <a:pt x="39032" y="43516"/>
                    <a:pt x="35754" y="27781"/>
                    <a:pt x="44955" y="19139"/>
                  </a:cubicBezTo>
                  <a:cubicBezTo>
                    <a:pt x="51913" y="12607"/>
                    <a:pt x="67486" y="11669"/>
                    <a:pt x="71584" y="1497"/>
                  </a:cubicBezTo>
                  <a:lnTo>
                    <a:pt x="1" y="0"/>
                  </a:lnTo>
                  <a:close/>
                </a:path>
              </a:pathLst>
            </a:custGeom>
            <a:gradFill rotWithShape="0">
              <a:gsLst>
                <a:gs pos="0">
                  <a:srgbClr val="2D2183"/>
                </a:gs>
                <a:gs pos="100000">
                  <a:srgbClr val="224CE6"/>
                </a:gs>
              </a:gsLst>
              <a:lin ang="16194000"/>
            </a:gradFill>
            <a:ln w="0">
              <a:noFill/>
            </a:ln>
          </p:spPr>
          <p:style>
            <a:lnRef idx="0">
              <a:scrgbClr r="0" g="0" b="0"/>
            </a:lnRef>
            <a:fillRef idx="0">
              <a:scrgbClr r="0" g="0" b="0"/>
            </a:fillRef>
            <a:effectRef idx="0">
              <a:scrgbClr r="0" g="0" b="0"/>
            </a:effectRef>
            <a:fontRef idx="minor"/>
          </p:style>
        </p:sp>
        <p:sp>
          <p:nvSpPr>
            <p:cNvPr id="25" name="Google Shape;14;p2">
              <a:extLst>
                <a:ext uri="{FF2B5EF4-FFF2-40B4-BE49-F238E27FC236}">
                  <a16:creationId xmlns:a16="http://schemas.microsoft.com/office/drawing/2014/main" id="{0D2670AA-AF45-44E0-A33A-A7B8682F1327}"/>
                </a:ext>
              </a:extLst>
            </p:cNvPr>
            <p:cNvSpPr/>
            <p:nvPr/>
          </p:nvSpPr>
          <p:spPr>
            <a:xfrm rot="10800000" flipH="1">
              <a:off x="1730410" y="4523217"/>
              <a:ext cx="1341489" cy="620283"/>
            </a:xfrm>
            <a:custGeom>
              <a:avLst/>
              <a:gdLst/>
              <a:ahLst/>
              <a:cxnLst/>
              <a:rect l="l" t="t" r="r" b="b"/>
              <a:pathLst>
                <a:path w="75652" h="46109">
                  <a:moveTo>
                    <a:pt x="1" y="0"/>
                  </a:moveTo>
                  <a:lnTo>
                    <a:pt x="1" y="46108"/>
                  </a:lnTo>
                  <a:cubicBezTo>
                    <a:pt x="1086" y="45834"/>
                    <a:pt x="2128" y="45411"/>
                    <a:pt x="3098" y="44854"/>
                  </a:cubicBezTo>
                  <a:cubicBezTo>
                    <a:pt x="6905" y="42653"/>
                    <a:pt x="9630" y="38836"/>
                    <a:pt x="12059" y="35015"/>
                  </a:cubicBezTo>
                  <a:cubicBezTo>
                    <a:pt x="14488" y="31193"/>
                    <a:pt x="16806" y="27177"/>
                    <a:pt x="20156" y="24252"/>
                  </a:cubicBezTo>
                  <a:cubicBezTo>
                    <a:pt x="24658" y="20319"/>
                    <a:pt x="30596" y="18751"/>
                    <a:pt x="36394" y="18220"/>
                  </a:cubicBezTo>
                  <a:cubicBezTo>
                    <a:pt x="42194" y="17688"/>
                    <a:pt x="48043" y="18078"/>
                    <a:pt x="53840" y="17512"/>
                  </a:cubicBezTo>
                  <a:cubicBezTo>
                    <a:pt x="59636" y="16947"/>
                    <a:pt x="65564" y="15302"/>
                    <a:pt x="70004" y="11290"/>
                  </a:cubicBezTo>
                  <a:cubicBezTo>
                    <a:pt x="73124" y="8470"/>
                    <a:pt x="75316" y="4271"/>
                    <a:pt x="75652" y="0"/>
                  </a:cubicBezTo>
                  <a:close/>
                </a:path>
              </a:pathLst>
            </a:custGeom>
            <a:gradFill rotWithShape="0">
              <a:gsLst>
                <a:gs pos="0">
                  <a:srgbClr val="00D4F9"/>
                </a:gs>
                <a:gs pos="100000">
                  <a:srgbClr val="EEEEEE"/>
                </a:gs>
              </a:gsLst>
              <a:lin ang="16194000"/>
            </a:gradFill>
            <a:ln w="0">
              <a:noFill/>
            </a:ln>
          </p:spPr>
          <p:style>
            <a:lnRef idx="0">
              <a:scrgbClr r="0" g="0" b="0"/>
            </a:lnRef>
            <a:fillRef idx="0">
              <a:scrgbClr r="0" g="0" b="0"/>
            </a:fillRef>
            <a:effectRef idx="0">
              <a:scrgbClr r="0" g="0" b="0"/>
            </a:effectRef>
            <a:fontRef idx="minor"/>
          </p:style>
        </p:sp>
        <p:sp>
          <p:nvSpPr>
            <p:cNvPr id="26" name="Google Shape;15;p2">
              <a:extLst>
                <a:ext uri="{FF2B5EF4-FFF2-40B4-BE49-F238E27FC236}">
                  <a16:creationId xmlns:a16="http://schemas.microsoft.com/office/drawing/2014/main" id="{6006EB8F-4A0F-4B3E-A765-187F44DF3F3A}"/>
                </a:ext>
              </a:extLst>
            </p:cNvPr>
            <p:cNvSpPr/>
            <p:nvPr/>
          </p:nvSpPr>
          <p:spPr>
            <a:xfrm rot="10800000" flipH="1">
              <a:off x="1729995" y="4907206"/>
              <a:ext cx="834508" cy="245787"/>
            </a:xfrm>
            <a:custGeom>
              <a:avLst/>
              <a:gdLst/>
              <a:ahLst/>
              <a:cxnLst/>
              <a:rect l="l" t="t" r="r" b="b"/>
              <a:pathLst>
                <a:path w="47071" h="18283">
                  <a:moveTo>
                    <a:pt x="1" y="0"/>
                  </a:moveTo>
                  <a:lnTo>
                    <a:pt x="1" y="18282"/>
                  </a:lnTo>
                  <a:cubicBezTo>
                    <a:pt x="2594" y="17456"/>
                    <a:pt x="5313" y="16985"/>
                    <a:pt x="8003" y="16739"/>
                  </a:cubicBezTo>
                  <a:cubicBezTo>
                    <a:pt x="13802" y="16206"/>
                    <a:pt x="19652" y="16597"/>
                    <a:pt x="25448" y="16031"/>
                  </a:cubicBezTo>
                  <a:cubicBezTo>
                    <a:pt x="31244" y="15466"/>
                    <a:pt x="37173" y="13822"/>
                    <a:pt x="41613" y="9810"/>
                  </a:cubicBezTo>
                  <a:cubicBezTo>
                    <a:pt x="44371" y="7317"/>
                    <a:pt x="46404" y="3746"/>
                    <a:pt x="47071" y="1"/>
                  </a:cubicBezTo>
                  <a:lnTo>
                    <a:pt x="1" y="0"/>
                  </a:lnTo>
                  <a:close/>
                </a:path>
              </a:pathLst>
            </a:custGeom>
            <a:gradFill rotWithShape="0">
              <a:gsLst>
                <a:gs pos="0">
                  <a:srgbClr val="2D2183"/>
                </a:gs>
                <a:gs pos="100000">
                  <a:srgbClr val="224CE6"/>
                </a:gs>
              </a:gsLst>
              <a:lin ang="16194000"/>
            </a:gradFill>
            <a:ln w="0">
              <a:noFill/>
            </a:ln>
          </p:spPr>
          <p:style>
            <a:lnRef idx="0">
              <a:scrgbClr r="0" g="0" b="0"/>
            </a:lnRef>
            <a:fillRef idx="0">
              <a:scrgbClr r="0" g="0" b="0"/>
            </a:fillRef>
            <a:effectRef idx="0">
              <a:scrgbClr r="0" g="0" b="0"/>
            </a:effectRef>
            <a:fontRef idx="minor"/>
          </p:style>
        </p:sp>
      </p:grpSp>
      <p:pic>
        <p:nvPicPr>
          <p:cNvPr id="10" name="Image 9">
            <a:extLst>
              <a:ext uri="{FF2B5EF4-FFF2-40B4-BE49-F238E27FC236}">
                <a16:creationId xmlns:a16="http://schemas.microsoft.com/office/drawing/2014/main" id="{42473444-08E3-42F7-AE18-B6D0CA30D840}"/>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46209" y="44282"/>
            <a:ext cx="1438781" cy="573074"/>
          </a:xfrm>
          <a:prstGeom prst="rect">
            <a:avLst/>
          </a:prstGeom>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86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EEEEEE"/>
            </a:gs>
          </a:gsLst>
          <a:path path="circle">
            <a:fillToRect l="50000" t="50000" r="50000" b="50000"/>
          </a:path>
        </a:gradFill>
        <a:effectLst/>
      </p:bgPr>
    </p:bg>
    <p:spTree>
      <p:nvGrpSpPr>
        <p:cNvPr id="1" name=""/>
        <p:cNvGrpSpPr/>
        <p:nvPr/>
      </p:nvGrpSpPr>
      <p:grpSpPr>
        <a:xfrm>
          <a:off x="0" y="0"/>
          <a:ext cx="0" cy="0"/>
          <a:chOff x="0" y="0"/>
          <a:chExt cx="0" cy="0"/>
        </a:xfrm>
      </p:grpSpPr>
      <p:sp>
        <p:nvSpPr>
          <p:cNvPr id="311" name="Google Shape;176;p9"/>
          <p:cNvSpPr/>
          <p:nvPr/>
        </p:nvSpPr>
        <p:spPr>
          <a:xfrm rot="5400000">
            <a:off x="-565560" y="-3398760"/>
            <a:ext cx="8993520" cy="10984320"/>
          </a:xfrm>
          <a:custGeom>
            <a:avLst/>
            <a:gdLst/>
            <a:ahLst/>
            <a:cxnLst/>
            <a:rect l="l" t="t" r="r" b="b"/>
            <a:pathLst>
              <a:path w="96933" h="113414">
                <a:moveTo>
                  <a:pt x="39757" y="15929"/>
                </a:moveTo>
                <a:cubicBezTo>
                  <a:pt x="41119" y="20573"/>
                  <a:pt x="40469" y="26136"/>
                  <a:pt x="36897" y="29402"/>
                </a:cubicBezTo>
                <a:cubicBezTo>
                  <a:pt x="33056" y="32912"/>
                  <a:pt x="27241" y="32818"/>
                  <a:pt x="22344" y="34577"/>
                </a:cubicBezTo>
                <a:cubicBezTo>
                  <a:pt x="14529" y="37386"/>
                  <a:pt x="9067" y="45698"/>
                  <a:pt x="9592" y="53987"/>
                </a:cubicBezTo>
                <a:cubicBezTo>
                  <a:pt x="9980" y="60109"/>
                  <a:pt x="13212" y="65629"/>
                  <a:pt x="15232" y="71422"/>
                </a:cubicBezTo>
                <a:cubicBezTo>
                  <a:pt x="17252" y="77215"/>
                  <a:pt x="17803" y="84359"/>
                  <a:pt x="13610" y="88836"/>
                </a:cubicBezTo>
                <a:cubicBezTo>
                  <a:pt x="9977" y="92718"/>
                  <a:pt x="3433" y="93850"/>
                  <a:pt x="1476" y="98792"/>
                </a:cubicBezTo>
                <a:cubicBezTo>
                  <a:pt x="0" y="102521"/>
                  <a:pt x="2081" y="106921"/>
                  <a:pt x="5326" y="109277"/>
                </a:cubicBezTo>
                <a:cubicBezTo>
                  <a:pt x="8571" y="111633"/>
                  <a:pt x="12692" y="112373"/>
                  <a:pt x="16675" y="112820"/>
                </a:cubicBezTo>
                <a:cubicBezTo>
                  <a:pt x="21954" y="113414"/>
                  <a:pt x="28001" y="113337"/>
                  <a:pt x="31664" y="109490"/>
                </a:cubicBezTo>
                <a:cubicBezTo>
                  <a:pt x="35935" y="105006"/>
                  <a:pt x="35381" y="96903"/>
                  <a:pt x="40563" y="93512"/>
                </a:cubicBezTo>
                <a:cubicBezTo>
                  <a:pt x="46509" y="89620"/>
                  <a:pt x="54337" y="95216"/>
                  <a:pt x="61375" y="94237"/>
                </a:cubicBezTo>
                <a:cubicBezTo>
                  <a:pt x="65445" y="93671"/>
                  <a:pt x="68949" y="90846"/>
                  <a:pt x="71156" y="87380"/>
                </a:cubicBezTo>
                <a:cubicBezTo>
                  <a:pt x="73362" y="83913"/>
                  <a:pt x="74429" y="79846"/>
                  <a:pt x="75160" y="75803"/>
                </a:cubicBezTo>
                <a:cubicBezTo>
                  <a:pt x="75890" y="71759"/>
                  <a:pt x="76790" y="66987"/>
                  <a:pt x="80523" y="65264"/>
                </a:cubicBezTo>
                <a:cubicBezTo>
                  <a:pt x="83639" y="63827"/>
                  <a:pt x="87426" y="65254"/>
                  <a:pt x="90676" y="64151"/>
                </a:cubicBezTo>
                <a:cubicBezTo>
                  <a:pt x="93351" y="63243"/>
                  <a:pt x="95223" y="60719"/>
                  <a:pt x="96078" y="58026"/>
                </a:cubicBezTo>
                <a:cubicBezTo>
                  <a:pt x="96932" y="55333"/>
                  <a:pt x="96926" y="52455"/>
                  <a:pt x="96912" y="49630"/>
                </a:cubicBezTo>
                <a:lnTo>
                  <a:pt x="96773" y="20300"/>
                </a:lnTo>
                <a:cubicBezTo>
                  <a:pt x="96750" y="15391"/>
                  <a:pt x="96536" y="9977"/>
                  <a:pt x="93182" y="6392"/>
                </a:cubicBezTo>
                <a:cubicBezTo>
                  <a:pt x="89922" y="2905"/>
                  <a:pt x="84710" y="2255"/>
                  <a:pt x="79948" y="1917"/>
                </a:cubicBezTo>
                <a:cubicBezTo>
                  <a:pt x="68514" y="1106"/>
                  <a:pt x="57047" y="877"/>
                  <a:pt x="45591" y="1232"/>
                </a:cubicBezTo>
                <a:cubicBezTo>
                  <a:pt x="42331" y="1333"/>
                  <a:pt x="34919" y="0"/>
                  <a:pt x="34299" y="4372"/>
                </a:cubicBezTo>
                <a:cubicBezTo>
                  <a:pt x="33829" y="7701"/>
                  <a:pt x="38783" y="12600"/>
                  <a:pt x="39757" y="15929"/>
                </a:cubicBezTo>
                <a:close/>
              </a:path>
            </a:pathLst>
          </a:custGeom>
          <a:gradFill rotWithShape="0">
            <a:gsLst>
              <a:gs pos="0">
                <a:srgbClr val="2D2183"/>
              </a:gs>
              <a:gs pos="100000">
                <a:srgbClr val="224CE6"/>
              </a:gs>
            </a:gsLst>
            <a:lin ang="10800000"/>
          </a:gradFill>
          <a:ln w="0">
            <a:noFill/>
          </a:ln>
        </p:spPr>
        <p:style>
          <a:lnRef idx="0">
            <a:scrgbClr r="0" g="0" b="0"/>
          </a:lnRef>
          <a:fillRef idx="0">
            <a:scrgbClr r="0" g="0" b="0"/>
          </a:fillRef>
          <a:effectRef idx="0">
            <a:scrgbClr r="0" g="0" b="0"/>
          </a:effectRef>
          <a:fontRef idx="minor"/>
        </p:style>
        <p:txBody>
          <a:bodyPr/>
          <a:lstStyle/>
          <a:p>
            <a:endParaRPr lang="fr-FR" dirty="0"/>
          </a:p>
        </p:txBody>
      </p:sp>
      <p:grpSp>
        <p:nvGrpSpPr>
          <p:cNvPr id="312" name="Google Shape;180;p9"/>
          <p:cNvGrpSpPr/>
          <p:nvPr/>
        </p:nvGrpSpPr>
        <p:grpSpPr>
          <a:xfrm>
            <a:off x="5973120" y="3333960"/>
            <a:ext cx="3346200" cy="1808640"/>
            <a:chOff x="5973120" y="3333960"/>
            <a:chExt cx="3346200" cy="1808640"/>
          </a:xfrm>
        </p:grpSpPr>
        <p:sp>
          <p:nvSpPr>
            <p:cNvPr id="313" name="Google Shape;181;p9"/>
            <p:cNvSpPr/>
            <p:nvPr/>
          </p:nvSpPr>
          <p:spPr>
            <a:xfrm>
              <a:off x="8002080" y="4897440"/>
              <a:ext cx="11160" cy="25200"/>
            </a:xfrm>
            <a:custGeom>
              <a:avLst/>
              <a:gdLst/>
              <a:ahLst/>
              <a:cxnLst/>
              <a:rect l="l" t="t" r="r" b="b"/>
              <a:pathLst>
                <a:path w="256" h="550">
                  <a:moveTo>
                    <a:pt x="0" y="1"/>
                  </a:moveTo>
                  <a:lnTo>
                    <a:pt x="0" y="1"/>
                  </a:lnTo>
                  <a:cubicBezTo>
                    <a:pt x="53" y="194"/>
                    <a:pt x="105" y="380"/>
                    <a:pt x="153" y="550"/>
                  </a:cubicBezTo>
                  <a:lnTo>
                    <a:pt x="256" y="550"/>
                  </a:lnTo>
                  <a:cubicBezTo>
                    <a:pt x="253" y="543"/>
                    <a:pt x="251" y="538"/>
                    <a:pt x="250" y="534"/>
                  </a:cubicBezTo>
                  <a:cubicBezTo>
                    <a:pt x="181" y="375"/>
                    <a:pt x="99" y="198"/>
                    <a:pt x="0" y="1"/>
                  </a:cubicBezTo>
                  <a:close/>
                </a:path>
              </a:pathLst>
            </a:custGeom>
            <a:solidFill>
              <a:schemeClr val="lt1"/>
            </a:solidFill>
            <a:ln w="0">
              <a:noFill/>
            </a:ln>
          </p:spPr>
          <p:style>
            <a:lnRef idx="0">
              <a:scrgbClr r="0" g="0" b="0"/>
            </a:lnRef>
            <a:fillRef idx="0">
              <a:scrgbClr r="0" g="0" b="0"/>
            </a:fillRef>
            <a:effectRef idx="0">
              <a:scrgbClr r="0" g="0" b="0"/>
            </a:effectRef>
            <a:fontRef idx="minor"/>
          </p:style>
        </p:sp>
        <p:grpSp>
          <p:nvGrpSpPr>
            <p:cNvPr id="314" name="Google Shape;182;p9"/>
            <p:cNvGrpSpPr/>
            <p:nvPr/>
          </p:nvGrpSpPr>
          <p:grpSpPr>
            <a:xfrm>
              <a:off x="8522640" y="3333960"/>
              <a:ext cx="796680" cy="1808640"/>
              <a:chOff x="8522640" y="3333960"/>
              <a:chExt cx="796680" cy="1808640"/>
            </a:xfrm>
          </p:grpSpPr>
          <p:sp>
            <p:nvSpPr>
              <p:cNvPr id="315" name="Google Shape;183;p9"/>
              <p:cNvSpPr/>
              <p:nvPr/>
            </p:nvSpPr>
            <p:spPr>
              <a:xfrm>
                <a:off x="8522640" y="3333960"/>
                <a:ext cx="796680" cy="1808640"/>
              </a:xfrm>
              <a:custGeom>
                <a:avLst/>
                <a:gdLst/>
                <a:ahLst/>
                <a:cxnLst/>
                <a:rect l="l" t="t" r="r" b="b"/>
                <a:pathLst>
                  <a:path w="16741" h="37975">
                    <a:moveTo>
                      <a:pt x="14710" y="0"/>
                    </a:moveTo>
                    <a:cubicBezTo>
                      <a:pt x="14623" y="5130"/>
                      <a:pt x="9930" y="6444"/>
                      <a:pt x="8375" y="9189"/>
                    </a:cubicBezTo>
                    <a:cubicBezTo>
                      <a:pt x="6821" y="11934"/>
                      <a:pt x="9272" y="13099"/>
                      <a:pt x="7569" y="14967"/>
                    </a:cubicBezTo>
                    <a:cubicBezTo>
                      <a:pt x="5864" y="16837"/>
                      <a:pt x="3909" y="16742"/>
                      <a:pt x="4428" y="18667"/>
                    </a:cubicBezTo>
                    <a:cubicBezTo>
                      <a:pt x="4949" y="20592"/>
                      <a:pt x="6310" y="23776"/>
                      <a:pt x="3689" y="24990"/>
                    </a:cubicBezTo>
                    <a:cubicBezTo>
                      <a:pt x="1067" y="26204"/>
                      <a:pt x="2316" y="27943"/>
                      <a:pt x="3123" y="30332"/>
                    </a:cubicBezTo>
                    <a:cubicBezTo>
                      <a:pt x="3931" y="32719"/>
                      <a:pt x="3283" y="33801"/>
                      <a:pt x="800" y="36251"/>
                    </a:cubicBezTo>
                    <a:cubicBezTo>
                      <a:pt x="167" y="36874"/>
                      <a:pt x="0" y="37455"/>
                      <a:pt x="102" y="37974"/>
                    </a:cubicBezTo>
                    <a:lnTo>
                      <a:pt x="9722" y="37974"/>
                    </a:lnTo>
                    <a:cubicBezTo>
                      <a:pt x="10022" y="37144"/>
                      <a:pt x="10150" y="36230"/>
                      <a:pt x="10101" y="35342"/>
                    </a:cubicBezTo>
                    <a:cubicBezTo>
                      <a:pt x="9912" y="31908"/>
                      <a:pt x="9276" y="32061"/>
                      <a:pt x="10575" y="30493"/>
                    </a:cubicBezTo>
                    <a:cubicBezTo>
                      <a:pt x="11874" y="28925"/>
                      <a:pt x="12633" y="28637"/>
                      <a:pt x="12050" y="26271"/>
                    </a:cubicBezTo>
                    <a:cubicBezTo>
                      <a:pt x="11467" y="23906"/>
                      <a:pt x="11249" y="22322"/>
                      <a:pt x="13116" y="20833"/>
                    </a:cubicBezTo>
                    <a:cubicBezTo>
                      <a:pt x="14983" y="19346"/>
                      <a:pt x="15058" y="16749"/>
                      <a:pt x="13940" y="14482"/>
                    </a:cubicBezTo>
                    <a:cubicBezTo>
                      <a:pt x="12821" y="12213"/>
                      <a:pt x="15068" y="10582"/>
                      <a:pt x="15904" y="7106"/>
                    </a:cubicBezTo>
                    <a:cubicBezTo>
                      <a:pt x="16741" y="3630"/>
                      <a:pt x="14710" y="0"/>
                      <a:pt x="14710" y="0"/>
                    </a:cubicBezTo>
                    <a:close/>
                  </a:path>
                </a:pathLst>
              </a:custGeom>
              <a:gradFill rotWithShape="0">
                <a:gsLst>
                  <a:gs pos="0">
                    <a:srgbClr val="00D4F9"/>
                  </a:gs>
                  <a:gs pos="100000">
                    <a:srgbClr val="EEEEEE"/>
                  </a:gs>
                </a:gsLst>
                <a:lin ang="5400000"/>
              </a:gradFill>
              <a:ln w="0">
                <a:noFill/>
              </a:ln>
            </p:spPr>
            <p:style>
              <a:lnRef idx="0">
                <a:scrgbClr r="0" g="0" b="0"/>
              </a:lnRef>
              <a:fillRef idx="0">
                <a:scrgbClr r="0" g="0" b="0"/>
              </a:fillRef>
              <a:effectRef idx="0">
                <a:scrgbClr r="0" g="0" b="0"/>
              </a:effectRef>
              <a:fontRef idx="minor"/>
            </p:style>
          </p:sp>
          <p:sp>
            <p:nvSpPr>
              <p:cNvPr id="316" name="Google Shape;184;p9"/>
              <p:cNvSpPr/>
              <p:nvPr/>
            </p:nvSpPr>
            <p:spPr>
              <a:xfrm>
                <a:off x="8732520" y="3825360"/>
                <a:ext cx="376920" cy="1317240"/>
              </a:xfrm>
              <a:custGeom>
                <a:avLst/>
                <a:gdLst/>
                <a:ahLst/>
                <a:cxnLst/>
                <a:rect l="l" t="t" r="r" b="b"/>
                <a:pathLst>
                  <a:path w="7935" h="27660">
                    <a:moveTo>
                      <a:pt x="7664" y="1"/>
                    </a:moveTo>
                    <a:cubicBezTo>
                      <a:pt x="7557" y="1"/>
                      <a:pt x="7458" y="72"/>
                      <a:pt x="7429" y="180"/>
                    </a:cubicBezTo>
                    <a:lnTo>
                      <a:pt x="0" y="27659"/>
                    </a:lnTo>
                    <a:lnTo>
                      <a:pt x="505" y="27659"/>
                    </a:lnTo>
                    <a:lnTo>
                      <a:pt x="7898" y="308"/>
                    </a:lnTo>
                    <a:cubicBezTo>
                      <a:pt x="7934" y="180"/>
                      <a:pt x="7859" y="47"/>
                      <a:pt x="7731" y="10"/>
                    </a:cubicBezTo>
                    <a:cubicBezTo>
                      <a:pt x="7730" y="10"/>
                      <a:pt x="7729" y="9"/>
                      <a:pt x="7727" y="9"/>
                    </a:cubicBezTo>
                    <a:cubicBezTo>
                      <a:pt x="7706" y="3"/>
                      <a:pt x="7685" y="1"/>
                      <a:pt x="7664" y="1"/>
                    </a:cubicBezTo>
                    <a:close/>
                  </a:path>
                </a:pathLst>
              </a:custGeom>
              <a:solidFill>
                <a:schemeClr val="lt1"/>
              </a:solidFill>
              <a:ln w="0">
                <a:noFill/>
              </a:ln>
            </p:spPr>
            <p:style>
              <a:lnRef idx="0">
                <a:scrgbClr r="0" g="0" b="0"/>
              </a:lnRef>
              <a:fillRef idx="0">
                <a:scrgbClr r="0" g="0" b="0"/>
              </a:fillRef>
              <a:effectRef idx="0">
                <a:scrgbClr r="0" g="0" b="0"/>
              </a:effectRef>
              <a:fontRef idx="minor"/>
            </p:style>
          </p:sp>
        </p:grpSp>
        <p:grpSp>
          <p:nvGrpSpPr>
            <p:cNvPr id="317" name="Google Shape;185;p9"/>
            <p:cNvGrpSpPr/>
            <p:nvPr/>
          </p:nvGrpSpPr>
          <p:grpSpPr>
            <a:xfrm>
              <a:off x="6888960" y="3333960"/>
              <a:ext cx="796680" cy="1808640"/>
              <a:chOff x="6888960" y="3333960"/>
              <a:chExt cx="796680" cy="1808640"/>
            </a:xfrm>
          </p:grpSpPr>
          <p:sp>
            <p:nvSpPr>
              <p:cNvPr id="318" name="Google Shape;186;p9"/>
              <p:cNvSpPr/>
              <p:nvPr/>
            </p:nvSpPr>
            <p:spPr>
              <a:xfrm>
                <a:off x="6888960" y="3333960"/>
                <a:ext cx="796680" cy="1808640"/>
              </a:xfrm>
              <a:custGeom>
                <a:avLst/>
                <a:gdLst/>
                <a:ahLst/>
                <a:cxnLst/>
                <a:rect l="l" t="t" r="r" b="b"/>
                <a:pathLst>
                  <a:path w="16740" h="37975">
                    <a:moveTo>
                      <a:pt x="2031" y="1"/>
                    </a:moveTo>
                    <a:cubicBezTo>
                      <a:pt x="2031" y="1"/>
                      <a:pt x="0" y="3631"/>
                      <a:pt x="836" y="7107"/>
                    </a:cubicBezTo>
                    <a:cubicBezTo>
                      <a:pt x="1673" y="10583"/>
                      <a:pt x="3920" y="12214"/>
                      <a:pt x="2801" y="14481"/>
                    </a:cubicBezTo>
                    <a:cubicBezTo>
                      <a:pt x="1683" y="16748"/>
                      <a:pt x="1758" y="19346"/>
                      <a:pt x="3625" y="20834"/>
                    </a:cubicBezTo>
                    <a:cubicBezTo>
                      <a:pt x="5492" y="22322"/>
                      <a:pt x="5274" y="23905"/>
                      <a:pt x="4691" y="26272"/>
                    </a:cubicBezTo>
                    <a:cubicBezTo>
                      <a:pt x="4108" y="28637"/>
                      <a:pt x="4867" y="28925"/>
                      <a:pt x="6166" y="30492"/>
                    </a:cubicBezTo>
                    <a:cubicBezTo>
                      <a:pt x="7464" y="32061"/>
                      <a:pt x="6828" y="31907"/>
                      <a:pt x="6639" y="35341"/>
                    </a:cubicBezTo>
                    <a:cubicBezTo>
                      <a:pt x="6591" y="36230"/>
                      <a:pt x="6719" y="37144"/>
                      <a:pt x="7019" y="37975"/>
                    </a:cubicBezTo>
                    <a:lnTo>
                      <a:pt x="16639" y="37975"/>
                    </a:lnTo>
                    <a:cubicBezTo>
                      <a:pt x="16740" y="37455"/>
                      <a:pt x="16572" y="36875"/>
                      <a:pt x="15940" y="36250"/>
                    </a:cubicBezTo>
                    <a:cubicBezTo>
                      <a:pt x="13457" y="33800"/>
                      <a:pt x="12810" y="32720"/>
                      <a:pt x="13617" y="30331"/>
                    </a:cubicBezTo>
                    <a:cubicBezTo>
                      <a:pt x="14425" y="27944"/>
                      <a:pt x="15673" y="26203"/>
                      <a:pt x="13052" y="24989"/>
                    </a:cubicBezTo>
                    <a:cubicBezTo>
                      <a:pt x="10430" y="23775"/>
                      <a:pt x="11792" y="20592"/>
                      <a:pt x="12312" y="18668"/>
                    </a:cubicBezTo>
                    <a:cubicBezTo>
                      <a:pt x="12832" y="16744"/>
                      <a:pt x="10876" y="16838"/>
                      <a:pt x="9171" y="14968"/>
                    </a:cubicBezTo>
                    <a:cubicBezTo>
                      <a:pt x="7468" y="13098"/>
                      <a:pt x="9919" y="11933"/>
                      <a:pt x="8364" y="9189"/>
                    </a:cubicBezTo>
                    <a:cubicBezTo>
                      <a:pt x="6810" y="6445"/>
                      <a:pt x="2117" y="5130"/>
                      <a:pt x="2031" y="1"/>
                    </a:cubicBezTo>
                    <a:close/>
                  </a:path>
                </a:pathLst>
              </a:custGeom>
              <a:gradFill rotWithShape="0">
                <a:gsLst>
                  <a:gs pos="0">
                    <a:srgbClr val="00D4F9"/>
                  </a:gs>
                  <a:gs pos="100000">
                    <a:srgbClr val="EEEEEE"/>
                  </a:gs>
                </a:gsLst>
                <a:lin ang="5400000"/>
              </a:gradFill>
              <a:ln w="0">
                <a:noFill/>
              </a:ln>
            </p:spPr>
            <p:style>
              <a:lnRef idx="0">
                <a:scrgbClr r="0" g="0" b="0"/>
              </a:lnRef>
              <a:fillRef idx="0">
                <a:scrgbClr r="0" g="0" b="0"/>
              </a:fillRef>
              <a:effectRef idx="0">
                <a:scrgbClr r="0" g="0" b="0"/>
              </a:effectRef>
              <a:fontRef idx="minor"/>
            </p:style>
          </p:sp>
          <p:sp>
            <p:nvSpPr>
              <p:cNvPr id="319" name="Google Shape;187;p9"/>
              <p:cNvSpPr/>
              <p:nvPr/>
            </p:nvSpPr>
            <p:spPr>
              <a:xfrm>
                <a:off x="7098840" y="3825360"/>
                <a:ext cx="376920" cy="1317240"/>
              </a:xfrm>
              <a:custGeom>
                <a:avLst/>
                <a:gdLst/>
                <a:ahLst/>
                <a:cxnLst/>
                <a:rect l="l" t="t" r="r" b="b"/>
                <a:pathLst>
                  <a:path w="7934" h="27660">
                    <a:moveTo>
                      <a:pt x="269" y="0"/>
                    </a:moveTo>
                    <a:cubicBezTo>
                      <a:pt x="248" y="0"/>
                      <a:pt x="228" y="3"/>
                      <a:pt x="207" y="8"/>
                    </a:cubicBezTo>
                    <a:lnTo>
                      <a:pt x="203" y="11"/>
                    </a:lnTo>
                    <a:cubicBezTo>
                      <a:pt x="76" y="48"/>
                      <a:pt x="1" y="179"/>
                      <a:pt x="35" y="308"/>
                    </a:cubicBezTo>
                    <a:lnTo>
                      <a:pt x="7429" y="27660"/>
                    </a:lnTo>
                    <a:lnTo>
                      <a:pt x="7933" y="27660"/>
                    </a:lnTo>
                    <a:lnTo>
                      <a:pt x="505" y="180"/>
                    </a:lnTo>
                    <a:cubicBezTo>
                      <a:pt x="475" y="72"/>
                      <a:pt x="376" y="0"/>
                      <a:pt x="269" y="0"/>
                    </a:cubicBezTo>
                    <a:close/>
                  </a:path>
                </a:pathLst>
              </a:custGeom>
              <a:solidFill>
                <a:schemeClr val="lt1"/>
              </a:solidFill>
              <a:ln w="0">
                <a:noFill/>
              </a:ln>
            </p:spPr>
            <p:style>
              <a:lnRef idx="0">
                <a:scrgbClr r="0" g="0" b="0"/>
              </a:lnRef>
              <a:fillRef idx="0">
                <a:scrgbClr r="0" g="0" b="0"/>
              </a:fillRef>
              <a:effectRef idx="0">
                <a:scrgbClr r="0" g="0" b="0"/>
              </a:effectRef>
              <a:fontRef idx="minor"/>
            </p:style>
          </p:sp>
        </p:grpSp>
        <p:grpSp>
          <p:nvGrpSpPr>
            <p:cNvPr id="320" name="Google Shape;188;p9"/>
            <p:cNvGrpSpPr/>
            <p:nvPr/>
          </p:nvGrpSpPr>
          <p:grpSpPr>
            <a:xfrm>
              <a:off x="5973120" y="4065120"/>
              <a:ext cx="1083960" cy="1077480"/>
              <a:chOff x="5973120" y="4065120"/>
              <a:chExt cx="1083960" cy="1077480"/>
            </a:xfrm>
          </p:grpSpPr>
          <p:sp>
            <p:nvSpPr>
              <p:cNvPr id="321" name="Google Shape;189;p9"/>
              <p:cNvSpPr/>
              <p:nvPr/>
            </p:nvSpPr>
            <p:spPr>
              <a:xfrm>
                <a:off x="5973120" y="4279320"/>
                <a:ext cx="850320" cy="863280"/>
              </a:xfrm>
              <a:custGeom>
                <a:avLst/>
                <a:gdLst/>
                <a:ahLst/>
                <a:cxnLst/>
                <a:rect l="l" t="t" r="r" b="b"/>
                <a:pathLst>
                  <a:path w="17868" h="18135">
                    <a:moveTo>
                      <a:pt x="5366" y="1"/>
                    </a:moveTo>
                    <a:cubicBezTo>
                      <a:pt x="4921" y="1"/>
                      <a:pt x="4476" y="95"/>
                      <a:pt x="4032" y="298"/>
                    </a:cubicBezTo>
                    <a:cubicBezTo>
                      <a:pt x="0" y="2144"/>
                      <a:pt x="4705" y="9662"/>
                      <a:pt x="8522" y="14731"/>
                    </a:cubicBezTo>
                    <a:cubicBezTo>
                      <a:pt x="9215" y="15651"/>
                      <a:pt x="10215" y="16891"/>
                      <a:pt x="11239" y="18134"/>
                    </a:cubicBezTo>
                    <a:lnTo>
                      <a:pt x="17868" y="18134"/>
                    </a:lnTo>
                    <a:lnTo>
                      <a:pt x="17843" y="18077"/>
                    </a:lnTo>
                    <a:cubicBezTo>
                      <a:pt x="17583" y="17471"/>
                      <a:pt x="17264" y="16792"/>
                      <a:pt x="16879" y="16032"/>
                    </a:cubicBezTo>
                    <a:cubicBezTo>
                      <a:pt x="16879" y="16032"/>
                      <a:pt x="16223" y="14188"/>
                      <a:pt x="15129" y="11754"/>
                    </a:cubicBezTo>
                    <a:cubicBezTo>
                      <a:pt x="12996" y="7004"/>
                      <a:pt x="9201" y="1"/>
                      <a:pt x="5366" y="1"/>
                    </a:cubicBez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322" name="Google Shape;190;p9"/>
              <p:cNvSpPr/>
              <p:nvPr/>
            </p:nvSpPr>
            <p:spPr>
              <a:xfrm>
                <a:off x="6333120" y="4565880"/>
                <a:ext cx="371520" cy="576720"/>
              </a:xfrm>
              <a:custGeom>
                <a:avLst/>
                <a:gdLst/>
                <a:ahLst/>
                <a:cxnLst/>
                <a:rect l="l" t="t" r="r" b="b"/>
                <a:pathLst>
                  <a:path w="7815" h="12122">
                    <a:moveTo>
                      <a:pt x="310" y="1"/>
                    </a:moveTo>
                    <a:cubicBezTo>
                      <a:pt x="260" y="1"/>
                      <a:pt x="209" y="15"/>
                      <a:pt x="164" y="44"/>
                    </a:cubicBezTo>
                    <a:cubicBezTo>
                      <a:pt x="38" y="124"/>
                      <a:pt x="1" y="292"/>
                      <a:pt x="82" y="418"/>
                    </a:cubicBezTo>
                    <a:cubicBezTo>
                      <a:pt x="139" y="506"/>
                      <a:pt x="4494" y="7327"/>
                      <a:pt x="7190" y="12121"/>
                    </a:cubicBezTo>
                    <a:lnTo>
                      <a:pt x="7814" y="12121"/>
                    </a:lnTo>
                    <a:cubicBezTo>
                      <a:pt x="5165" y="7369"/>
                      <a:pt x="773" y="494"/>
                      <a:pt x="538" y="126"/>
                    </a:cubicBezTo>
                    <a:cubicBezTo>
                      <a:pt x="487" y="45"/>
                      <a:pt x="400" y="1"/>
                      <a:pt x="310" y="1"/>
                    </a:cubicBezTo>
                    <a:close/>
                  </a:path>
                </a:pathLst>
              </a:custGeom>
              <a:solidFill>
                <a:schemeClr val="lt1"/>
              </a:solidFill>
              <a:ln w="0">
                <a:noFill/>
              </a:ln>
            </p:spPr>
            <p:style>
              <a:lnRef idx="0">
                <a:scrgbClr r="0" g="0" b="0"/>
              </a:lnRef>
              <a:fillRef idx="0">
                <a:scrgbClr r="0" g="0" b="0"/>
              </a:fillRef>
              <a:effectRef idx="0">
                <a:scrgbClr r="0" g="0" b="0"/>
              </a:effectRef>
              <a:fontRef idx="minor"/>
            </p:style>
          </p:sp>
          <p:sp>
            <p:nvSpPr>
              <p:cNvPr id="323" name="Google Shape;191;p9"/>
              <p:cNvSpPr/>
              <p:nvPr/>
            </p:nvSpPr>
            <p:spPr>
              <a:xfrm>
                <a:off x="6590160" y="4065120"/>
                <a:ext cx="466920" cy="1077480"/>
              </a:xfrm>
              <a:custGeom>
                <a:avLst/>
                <a:gdLst/>
                <a:ahLst/>
                <a:cxnLst/>
                <a:rect l="l" t="t" r="r" b="b"/>
                <a:pathLst>
                  <a:path w="9823" h="22629">
                    <a:moveTo>
                      <a:pt x="4444" y="1"/>
                    </a:moveTo>
                    <a:cubicBezTo>
                      <a:pt x="4440" y="1"/>
                      <a:pt x="4437" y="1"/>
                      <a:pt x="4433" y="1"/>
                    </a:cubicBezTo>
                    <a:cubicBezTo>
                      <a:pt x="0" y="12"/>
                      <a:pt x="1171" y="8803"/>
                      <a:pt x="2549" y="14997"/>
                    </a:cubicBezTo>
                    <a:cubicBezTo>
                      <a:pt x="2990" y="16978"/>
                      <a:pt x="3887" y="20258"/>
                      <a:pt x="4553" y="22628"/>
                    </a:cubicBezTo>
                    <a:lnTo>
                      <a:pt x="9623" y="22628"/>
                    </a:lnTo>
                    <a:cubicBezTo>
                      <a:pt x="9636" y="22401"/>
                      <a:pt x="9645" y="22160"/>
                      <a:pt x="9651" y="21900"/>
                    </a:cubicBezTo>
                    <a:cubicBezTo>
                      <a:pt x="9663" y="21241"/>
                      <a:pt x="9655" y="20491"/>
                      <a:pt x="9619" y="19639"/>
                    </a:cubicBezTo>
                    <a:cubicBezTo>
                      <a:pt x="9619" y="19639"/>
                      <a:pt x="9784" y="17690"/>
                      <a:pt x="9795" y="15021"/>
                    </a:cubicBezTo>
                    <a:cubicBezTo>
                      <a:pt x="9822" y="9214"/>
                      <a:pt x="9127" y="1"/>
                      <a:pt x="4444" y="1"/>
                    </a:cubicBez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324" name="Google Shape;192;p9"/>
              <p:cNvSpPr/>
              <p:nvPr/>
            </p:nvSpPr>
            <p:spPr>
              <a:xfrm>
                <a:off x="6835680" y="4387680"/>
                <a:ext cx="110520" cy="754920"/>
              </a:xfrm>
              <a:custGeom>
                <a:avLst/>
                <a:gdLst/>
                <a:ahLst/>
                <a:cxnLst/>
                <a:rect l="l" t="t" r="r" b="b"/>
                <a:pathLst>
                  <a:path w="2341" h="15866">
                    <a:moveTo>
                      <a:pt x="291" y="0"/>
                    </a:moveTo>
                    <a:cubicBezTo>
                      <a:pt x="279" y="0"/>
                      <a:pt x="266" y="1"/>
                      <a:pt x="253" y="3"/>
                    </a:cubicBezTo>
                    <a:cubicBezTo>
                      <a:pt x="104" y="24"/>
                      <a:pt x="1" y="162"/>
                      <a:pt x="22" y="309"/>
                    </a:cubicBezTo>
                    <a:cubicBezTo>
                      <a:pt x="39" y="427"/>
                      <a:pt x="1492" y="10606"/>
                      <a:pt x="1795" y="15865"/>
                    </a:cubicBezTo>
                    <a:lnTo>
                      <a:pt x="2340" y="15865"/>
                    </a:lnTo>
                    <a:cubicBezTo>
                      <a:pt x="2044" y="10638"/>
                      <a:pt x="628" y="714"/>
                      <a:pt x="559" y="233"/>
                    </a:cubicBezTo>
                    <a:cubicBezTo>
                      <a:pt x="540" y="97"/>
                      <a:pt x="424" y="0"/>
                      <a:pt x="291" y="0"/>
                    </a:cubicBezTo>
                    <a:close/>
                  </a:path>
                </a:pathLst>
              </a:custGeom>
              <a:solidFill>
                <a:schemeClr val="lt1"/>
              </a:solidFill>
              <a:ln w="0">
                <a:noFill/>
              </a:ln>
            </p:spPr>
            <p:style>
              <a:lnRef idx="0">
                <a:scrgbClr r="0" g="0" b="0"/>
              </a:lnRef>
              <a:fillRef idx="0">
                <a:scrgbClr r="0" g="0" b="0"/>
              </a:fillRef>
              <a:effectRef idx="0">
                <a:scrgbClr r="0" g="0" b="0"/>
              </a:effectRef>
              <a:fontRef idx="minor"/>
            </p:style>
          </p:sp>
        </p:grpSp>
        <p:grpSp>
          <p:nvGrpSpPr>
            <p:cNvPr id="325" name="Google Shape;193;p9"/>
            <p:cNvGrpSpPr/>
            <p:nvPr/>
          </p:nvGrpSpPr>
          <p:grpSpPr>
            <a:xfrm>
              <a:off x="7867080" y="4065120"/>
              <a:ext cx="1083960" cy="1077480"/>
              <a:chOff x="7867080" y="4065120"/>
              <a:chExt cx="1083960" cy="1077480"/>
            </a:xfrm>
          </p:grpSpPr>
          <p:sp>
            <p:nvSpPr>
              <p:cNvPr id="326" name="Google Shape;194;p9"/>
              <p:cNvSpPr/>
              <p:nvPr/>
            </p:nvSpPr>
            <p:spPr>
              <a:xfrm>
                <a:off x="8100720" y="4279320"/>
                <a:ext cx="850320" cy="863280"/>
              </a:xfrm>
              <a:custGeom>
                <a:avLst/>
                <a:gdLst/>
                <a:ahLst/>
                <a:cxnLst/>
                <a:rect l="l" t="t" r="r" b="b"/>
                <a:pathLst>
                  <a:path w="17868" h="18135">
                    <a:moveTo>
                      <a:pt x="12502" y="1"/>
                    </a:moveTo>
                    <a:cubicBezTo>
                      <a:pt x="8667" y="1"/>
                      <a:pt x="4872" y="7004"/>
                      <a:pt x="2741" y="11755"/>
                    </a:cubicBezTo>
                    <a:cubicBezTo>
                      <a:pt x="1646" y="14189"/>
                      <a:pt x="989" y="16033"/>
                      <a:pt x="989" y="16033"/>
                    </a:cubicBezTo>
                    <a:cubicBezTo>
                      <a:pt x="604" y="16793"/>
                      <a:pt x="286" y="17472"/>
                      <a:pt x="25" y="18077"/>
                    </a:cubicBezTo>
                    <a:cubicBezTo>
                      <a:pt x="16" y="18097"/>
                      <a:pt x="9" y="18116"/>
                      <a:pt x="0" y="18135"/>
                    </a:cubicBezTo>
                    <a:lnTo>
                      <a:pt x="6629" y="18135"/>
                    </a:lnTo>
                    <a:cubicBezTo>
                      <a:pt x="7654" y="16891"/>
                      <a:pt x="8654" y="15651"/>
                      <a:pt x="9346" y="14731"/>
                    </a:cubicBezTo>
                    <a:cubicBezTo>
                      <a:pt x="13164" y="9662"/>
                      <a:pt x="17868" y="2144"/>
                      <a:pt x="13836" y="298"/>
                    </a:cubicBezTo>
                    <a:cubicBezTo>
                      <a:pt x="13392" y="95"/>
                      <a:pt x="12947" y="1"/>
                      <a:pt x="12502" y="1"/>
                    </a:cubicBezTo>
                    <a:close/>
                  </a:path>
                </a:pathLst>
              </a:custGeom>
              <a:gradFill rotWithShape="0">
                <a:gsLst>
                  <a:gs pos="0">
                    <a:srgbClr val="00D4F9"/>
                  </a:gs>
                  <a:gs pos="100000">
                    <a:srgbClr val="5C38F1"/>
                  </a:gs>
                </a:gsLst>
                <a:lin ang="5400000"/>
              </a:gradFill>
              <a:ln w="0">
                <a:noFill/>
              </a:ln>
            </p:spPr>
            <p:style>
              <a:lnRef idx="0">
                <a:scrgbClr r="0" g="0" b="0"/>
              </a:lnRef>
              <a:fillRef idx="0">
                <a:scrgbClr r="0" g="0" b="0"/>
              </a:fillRef>
              <a:effectRef idx="0">
                <a:scrgbClr r="0" g="0" b="0"/>
              </a:effectRef>
              <a:fontRef idx="minor"/>
            </p:style>
          </p:sp>
          <p:sp>
            <p:nvSpPr>
              <p:cNvPr id="327" name="Google Shape;195;p9"/>
              <p:cNvSpPr/>
              <p:nvPr/>
            </p:nvSpPr>
            <p:spPr>
              <a:xfrm>
                <a:off x="8219880" y="4565880"/>
                <a:ext cx="371520" cy="576720"/>
              </a:xfrm>
              <a:custGeom>
                <a:avLst/>
                <a:gdLst/>
                <a:ahLst/>
                <a:cxnLst/>
                <a:rect l="l" t="t" r="r" b="b"/>
                <a:pathLst>
                  <a:path w="7815" h="12122">
                    <a:moveTo>
                      <a:pt x="7505" y="1"/>
                    </a:moveTo>
                    <a:cubicBezTo>
                      <a:pt x="7416" y="1"/>
                      <a:pt x="7328" y="45"/>
                      <a:pt x="7277" y="126"/>
                    </a:cubicBezTo>
                    <a:cubicBezTo>
                      <a:pt x="7041" y="494"/>
                      <a:pt x="2651" y="7370"/>
                      <a:pt x="0" y="12122"/>
                    </a:cubicBezTo>
                    <a:lnTo>
                      <a:pt x="625" y="12122"/>
                    </a:lnTo>
                    <a:cubicBezTo>
                      <a:pt x="3321" y="7327"/>
                      <a:pt x="7677" y="506"/>
                      <a:pt x="7733" y="418"/>
                    </a:cubicBezTo>
                    <a:cubicBezTo>
                      <a:pt x="7815" y="292"/>
                      <a:pt x="7778" y="124"/>
                      <a:pt x="7651" y="44"/>
                    </a:cubicBezTo>
                    <a:cubicBezTo>
                      <a:pt x="7606" y="15"/>
                      <a:pt x="7555" y="1"/>
                      <a:pt x="7505" y="1"/>
                    </a:cubicBezTo>
                    <a:close/>
                  </a:path>
                </a:pathLst>
              </a:custGeom>
              <a:solidFill>
                <a:schemeClr val="lt1"/>
              </a:solidFill>
              <a:ln w="0">
                <a:noFill/>
              </a:ln>
            </p:spPr>
            <p:style>
              <a:lnRef idx="0">
                <a:scrgbClr r="0" g="0" b="0"/>
              </a:lnRef>
              <a:fillRef idx="0">
                <a:scrgbClr r="0" g="0" b="0"/>
              </a:fillRef>
              <a:effectRef idx="0">
                <a:scrgbClr r="0" g="0" b="0"/>
              </a:effectRef>
              <a:fontRef idx="minor"/>
            </p:style>
          </p:sp>
          <p:sp>
            <p:nvSpPr>
              <p:cNvPr id="328" name="Google Shape;196;p9"/>
              <p:cNvSpPr/>
              <p:nvPr/>
            </p:nvSpPr>
            <p:spPr>
              <a:xfrm>
                <a:off x="7867080" y="4065120"/>
                <a:ext cx="467280" cy="1077480"/>
              </a:xfrm>
              <a:custGeom>
                <a:avLst/>
                <a:gdLst/>
                <a:ahLst/>
                <a:cxnLst/>
                <a:rect l="l" t="t" r="r" b="b"/>
                <a:pathLst>
                  <a:path w="9824" h="22629">
                    <a:moveTo>
                      <a:pt x="5379" y="1"/>
                    </a:moveTo>
                    <a:cubicBezTo>
                      <a:pt x="695" y="1"/>
                      <a:pt x="0" y="9215"/>
                      <a:pt x="27" y="15021"/>
                    </a:cubicBezTo>
                    <a:cubicBezTo>
                      <a:pt x="38" y="17690"/>
                      <a:pt x="203" y="19640"/>
                      <a:pt x="203" y="19640"/>
                    </a:cubicBezTo>
                    <a:cubicBezTo>
                      <a:pt x="169" y="20492"/>
                      <a:pt x="160" y="21241"/>
                      <a:pt x="172" y="21901"/>
                    </a:cubicBezTo>
                    <a:cubicBezTo>
                      <a:pt x="178" y="22160"/>
                      <a:pt x="187" y="22401"/>
                      <a:pt x="201" y="22629"/>
                    </a:cubicBezTo>
                    <a:lnTo>
                      <a:pt x="5271" y="22629"/>
                    </a:lnTo>
                    <a:cubicBezTo>
                      <a:pt x="5936" y="20258"/>
                      <a:pt x="6833" y="16978"/>
                      <a:pt x="7273" y="14998"/>
                    </a:cubicBezTo>
                    <a:cubicBezTo>
                      <a:pt x="8651" y="8803"/>
                      <a:pt x="9823" y="13"/>
                      <a:pt x="5389" y="1"/>
                    </a:cubicBezTo>
                    <a:cubicBezTo>
                      <a:pt x="5385" y="1"/>
                      <a:pt x="5382" y="1"/>
                      <a:pt x="5379" y="1"/>
                    </a:cubicBezTo>
                    <a:close/>
                  </a:path>
                </a:pathLst>
              </a:custGeom>
              <a:gradFill rotWithShape="0">
                <a:gsLst>
                  <a:gs pos="0">
                    <a:srgbClr val="00D4F9"/>
                  </a:gs>
                  <a:gs pos="100000">
                    <a:srgbClr val="5C38F1"/>
                  </a:gs>
                </a:gsLst>
                <a:lin ang="5400000"/>
              </a:gradFill>
              <a:ln w="0">
                <a:noFill/>
              </a:ln>
            </p:spPr>
            <p:style>
              <a:lnRef idx="0">
                <a:scrgbClr r="0" g="0" b="0"/>
              </a:lnRef>
              <a:fillRef idx="0">
                <a:scrgbClr r="0" g="0" b="0"/>
              </a:fillRef>
              <a:effectRef idx="0">
                <a:scrgbClr r="0" g="0" b="0"/>
              </a:effectRef>
              <a:fontRef idx="minor"/>
            </p:style>
          </p:sp>
          <p:sp>
            <p:nvSpPr>
              <p:cNvPr id="329" name="Google Shape;197;p9"/>
              <p:cNvSpPr/>
              <p:nvPr/>
            </p:nvSpPr>
            <p:spPr>
              <a:xfrm>
                <a:off x="7978320" y="4387680"/>
                <a:ext cx="110520" cy="754920"/>
              </a:xfrm>
              <a:custGeom>
                <a:avLst/>
                <a:gdLst/>
                <a:ahLst/>
                <a:cxnLst/>
                <a:rect l="l" t="t" r="r" b="b"/>
                <a:pathLst>
                  <a:path w="2340" h="15866">
                    <a:moveTo>
                      <a:pt x="2050" y="0"/>
                    </a:moveTo>
                    <a:cubicBezTo>
                      <a:pt x="1917" y="0"/>
                      <a:pt x="1800" y="97"/>
                      <a:pt x="1781" y="233"/>
                    </a:cubicBezTo>
                    <a:cubicBezTo>
                      <a:pt x="1712" y="714"/>
                      <a:pt x="296" y="10638"/>
                      <a:pt x="0" y="15866"/>
                    </a:cubicBezTo>
                    <a:lnTo>
                      <a:pt x="545" y="15866"/>
                    </a:lnTo>
                    <a:cubicBezTo>
                      <a:pt x="849" y="10606"/>
                      <a:pt x="2301" y="428"/>
                      <a:pt x="2319" y="311"/>
                    </a:cubicBezTo>
                    <a:cubicBezTo>
                      <a:pt x="2340" y="162"/>
                      <a:pt x="2236" y="24"/>
                      <a:pt x="2089" y="3"/>
                    </a:cubicBezTo>
                    <a:cubicBezTo>
                      <a:pt x="2076" y="1"/>
                      <a:pt x="2063" y="0"/>
                      <a:pt x="2050" y="0"/>
                    </a:cubicBezTo>
                    <a:close/>
                  </a:path>
                </a:pathLst>
              </a:custGeom>
              <a:solidFill>
                <a:schemeClr val="lt1"/>
              </a:solidFill>
              <a:ln w="0">
                <a:noFill/>
              </a:ln>
            </p:spPr>
            <p:style>
              <a:lnRef idx="0">
                <a:scrgbClr r="0" g="0" b="0"/>
              </a:lnRef>
              <a:fillRef idx="0">
                <a:scrgbClr r="0" g="0" b="0"/>
              </a:fillRef>
              <a:effectRef idx="0">
                <a:scrgbClr r="0" g="0" b="0"/>
              </a:effectRef>
              <a:fontRef idx="minor"/>
            </p:style>
          </p:sp>
        </p:grpSp>
        <p:grpSp>
          <p:nvGrpSpPr>
            <p:cNvPr id="330" name="Google Shape;198;p9"/>
            <p:cNvGrpSpPr/>
            <p:nvPr/>
          </p:nvGrpSpPr>
          <p:grpSpPr>
            <a:xfrm>
              <a:off x="7493760" y="4838040"/>
              <a:ext cx="306720" cy="304560"/>
              <a:chOff x="7493760" y="4838040"/>
              <a:chExt cx="306720" cy="304560"/>
            </a:xfrm>
          </p:grpSpPr>
          <p:sp>
            <p:nvSpPr>
              <p:cNvPr id="331" name="Google Shape;199;p9"/>
              <p:cNvSpPr/>
              <p:nvPr/>
            </p:nvSpPr>
            <p:spPr>
              <a:xfrm>
                <a:off x="7493760" y="4898880"/>
                <a:ext cx="235440" cy="243720"/>
              </a:xfrm>
              <a:custGeom>
                <a:avLst/>
                <a:gdLst/>
                <a:ahLst/>
                <a:cxnLst/>
                <a:rect l="l" t="t" r="r" b="b"/>
                <a:pathLst>
                  <a:path w="4962" h="5140">
                    <a:moveTo>
                      <a:pt x="1522" y="1"/>
                    </a:moveTo>
                    <a:cubicBezTo>
                      <a:pt x="1396" y="1"/>
                      <a:pt x="1269" y="28"/>
                      <a:pt x="1144" y="85"/>
                    </a:cubicBezTo>
                    <a:cubicBezTo>
                      <a:pt x="1" y="608"/>
                      <a:pt x="1334" y="2738"/>
                      <a:pt x="2417" y="4175"/>
                    </a:cubicBezTo>
                    <a:cubicBezTo>
                      <a:pt x="2612" y="4435"/>
                      <a:pt x="2896" y="4786"/>
                      <a:pt x="3187" y="5140"/>
                    </a:cubicBezTo>
                    <a:lnTo>
                      <a:pt x="4962" y="5140"/>
                    </a:lnTo>
                    <a:cubicBezTo>
                      <a:pt x="4914" y="4970"/>
                      <a:pt x="4862" y="4784"/>
                      <a:pt x="4809" y="4591"/>
                    </a:cubicBezTo>
                    <a:cubicBezTo>
                      <a:pt x="4800" y="4576"/>
                      <a:pt x="4793" y="4559"/>
                      <a:pt x="4786" y="4544"/>
                    </a:cubicBezTo>
                    <a:cubicBezTo>
                      <a:pt x="4786" y="4544"/>
                      <a:pt x="4599" y="4021"/>
                      <a:pt x="4289" y="3331"/>
                    </a:cubicBezTo>
                    <a:cubicBezTo>
                      <a:pt x="3685" y="1986"/>
                      <a:pt x="2609" y="1"/>
                      <a:pt x="1522" y="1"/>
                    </a:cubicBez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332" name="Google Shape;200;p9"/>
              <p:cNvSpPr/>
              <p:nvPr/>
            </p:nvSpPr>
            <p:spPr>
              <a:xfrm>
                <a:off x="7668720" y="4838040"/>
                <a:ext cx="131760" cy="304560"/>
              </a:xfrm>
              <a:custGeom>
                <a:avLst/>
                <a:gdLst/>
                <a:ahLst/>
                <a:cxnLst/>
                <a:rect l="l" t="t" r="r" b="b"/>
                <a:pathLst>
                  <a:path w="2784" h="6413">
                    <a:moveTo>
                      <a:pt x="1260" y="0"/>
                    </a:moveTo>
                    <a:cubicBezTo>
                      <a:pt x="1259" y="0"/>
                      <a:pt x="1257" y="0"/>
                      <a:pt x="1256" y="0"/>
                    </a:cubicBezTo>
                    <a:cubicBezTo>
                      <a:pt x="0" y="3"/>
                      <a:pt x="332" y="2495"/>
                      <a:pt x="722" y="4250"/>
                    </a:cubicBezTo>
                    <a:cubicBezTo>
                      <a:pt x="816" y="4670"/>
                      <a:pt x="982" y="5294"/>
                      <a:pt x="1138" y="5865"/>
                    </a:cubicBezTo>
                    <a:cubicBezTo>
                      <a:pt x="1237" y="6061"/>
                      <a:pt x="1319" y="6238"/>
                      <a:pt x="1388" y="6397"/>
                    </a:cubicBezTo>
                    <a:cubicBezTo>
                      <a:pt x="1389" y="6401"/>
                      <a:pt x="1391" y="6408"/>
                      <a:pt x="1394" y="6413"/>
                    </a:cubicBezTo>
                    <a:lnTo>
                      <a:pt x="2727" y="6413"/>
                    </a:lnTo>
                    <a:cubicBezTo>
                      <a:pt x="2731" y="6349"/>
                      <a:pt x="2733" y="6280"/>
                      <a:pt x="2735" y="6207"/>
                    </a:cubicBezTo>
                    <a:cubicBezTo>
                      <a:pt x="2738" y="6020"/>
                      <a:pt x="2736" y="5807"/>
                      <a:pt x="2726" y="5565"/>
                    </a:cubicBezTo>
                    <a:cubicBezTo>
                      <a:pt x="2726" y="5565"/>
                      <a:pt x="2773" y="5013"/>
                      <a:pt x="2777" y="4256"/>
                    </a:cubicBezTo>
                    <a:cubicBezTo>
                      <a:pt x="2784" y="2611"/>
                      <a:pt x="2587" y="0"/>
                      <a:pt x="1260" y="0"/>
                    </a:cubicBez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grpSp>
      </p:grpSp>
      <p:grpSp>
        <p:nvGrpSpPr>
          <p:cNvPr id="333" name="Google Shape;201;p9"/>
          <p:cNvGrpSpPr/>
          <p:nvPr/>
        </p:nvGrpSpPr>
        <p:grpSpPr>
          <a:xfrm>
            <a:off x="-94680" y="-1080"/>
            <a:ext cx="3627720" cy="1960920"/>
            <a:chOff x="-94680" y="-1080"/>
            <a:chExt cx="3627720" cy="1960920"/>
          </a:xfrm>
        </p:grpSpPr>
        <p:sp>
          <p:nvSpPr>
            <p:cNvPr id="334" name="Google Shape;202;p9"/>
            <p:cNvSpPr/>
            <p:nvPr/>
          </p:nvSpPr>
          <p:spPr>
            <a:xfrm flipV="1">
              <a:off x="2104560" y="237960"/>
              <a:ext cx="12240" cy="27360"/>
            </a:xfrm>
            <a:custGeom>
              <a:avLst/>
              <a:gdLst/>
              <a:ahLst/>
              <a:cxnLst/>
              <a:rect l="l" t="t" r="r" b="b"/>
              <a:pathLst>
                <a:path w="256" h="550">
                  <a:moveTo>
                    <a:pt x="0" y="1"/>
                  </a:moveTo>
                  <a:lnTo>
                    <a:pt x="0" y="1"/>
                  </a:lnTo>
                  <a:cubicBezTo>
                    <a:pt x="53" y="194"/>
                    <a:pt x="105" y="380"/>
                    <a:pt x="153" y="550"/>
                  </a:cubicBezTo>
                  <a:lnTo>
                    <a:pt x="256" y="550"/>
                  </a:lnTo>
                  <a:cubicBezTo>
                    <a:pt x="253" y="543"/>
                    <a:pt x="251" y="538"/>
                    <a:pt x="250" y="534"/>
                  </a:cubicBezTo>
                  <a:cubicBezTo>
                    <a:pt x="181" y="375"/>
                    <a:pt x="99" y="198"/>
                    <a:pt x="0" y="1"/>
                  </a:cubicBezTo>
                  <a:close/>
                </a:path>
              </a:pathLst>
            </a:custGeom>
            <a:solidFill>
              <a:schemeClr val="lt1"/>
            </a:solidFill>
            <a:ln w="0">
              <a:noFill/>
            </a:ln>
          </p:spPr>
          <p:style>
            <a:lnRef idx="0">
              <a:scrgbClr r="0" g="0" b="0"/>
            </a:lnRef>
            <a:fillRef idx="0">
              <a:scrgbClr r="0" g="0" b="0"/>
            </a:fillRef>
            <a:effectRef idx="0">
              <a:scrgbClr r="0" g="0" b="0"/>
            </a:effectRef>
            <a:fontRef idx="minor"/>
          </p:style>
        </p:sp>
        <p:grpSp>
          <p:nvGrpSpPr>
            <p:cNvPr id="335" name="Google Shape;203;p9"/>
            <p:cNvGrpSpPr/>
            <p:nvPr/>
          </p:nvGrpSpPr>
          <p:grpSpPr>
            <a:xfrm>
              <a:off x="2669040" y="-1080"/>
              <a:ext cx="864000" cy="1960920"/>
              <a:chOff x="2669040" y="-1080"/>
              <a:chExt cx="864000" cy="1960920"/>
            </a:xfrm>
          </p:grpSpPr>
          <p:sp>
            <p:nvSpPr>
              <p:cNvPr id="336" name="Google Shape;204;p9"/>
              <p:cNvSpPr/>
              <p:nvPr/>
            </p:nvSpPr>
            <p:spPr>
              <a:xfrm flipV="1">
                <a:off x="2669040" y="-1440"/>
                <a:ext cx="864000" cy="1960920"/>
              </a:xfrm>
              <a:custGeom>
                <a:avLst/>
                <a:gdLst/>
                <a:ahLst/>
                <a:cxnLst/>
                <a:rect l="l" t="t" r="r" b="b"/>
                <a:pathLst>
                  <a:path w="16741" h="37975">
                    <a:moveTo>
                      <a:pt x="14710" y="0"/>
                    </a:moveTo>
                    <a:cubicBezTo>
                      <a:pt x="14623" y="5130"/>
                      <a:pt x="9930" y="6444"/>
                      <a:pt x="8375" y="9189"/>
                    </a:cubicBezTo>
                    <a:cubicBezTo>
                      <a:pt x="6821" y="11934"/>
                      <a:pt x="9272" y="13099"/>
                      <a:pt x="7569" y="14967"/>
                    </a:cubicBezTo>
                    <a:cubicBezTo>
                      <a:pt x="5864" y="16837"/>
                      <a:pt x="3909" y="16742"/>
                      <a:pt x="4428" y="18667"/>
                    </a:cubicBezTo>
                    <a:cubicBezTo>
                      <a:pt x="4949" y="20592"/>
                      <a:pt x="6310" y="23776"/>
                      <a:pt x="3689" y="24990"/>
                    </a:cubicBezTo>
                    <a:cubicBezTo>
                      <a:pt x="1067" y="26204"/>
                      <a:pt x="2316" y="27943"/>
                      <a:pt x="3123" y="30332"/>
                    </a:cubicBezTo>
                    <a:cubicBezTo>
                      <a:pt x="3931" y="32719"/>
                      <a:pt x="3283" y="33801"/>
                      <a:pt x="800" y="36251"/>
                    </a:cubicBezTo>
                    <a:cubicBezTo>
                      <a:pt x="167" y="36874"/>
                      <a:pt x="0" y="37455"/>
                      <a:pt x="102" y="37974"/>
                    </a:cubicBezTo>
                    <a:lnTo>
                      <a:pt x="9722" y="37974"/>
                    </a:lnTo>
                    <a:cubicBezTo>
                      <a:pt x="10022" y="37144"/>
                      <a:pt x="10150" y="36230"/>
                      <a:pt x="10101" y="35342"/>
                    </a:cubicBezTo>
                    <a:cubicBezTo>
                      <a:pt x="9912" y="31908"/>
                      <a:pt x="9276" y="32061"/>
                      <a:pt x="10575" y="30493"/>
                    </a:cubicBezTo>
                    <a:cubicBezTo>
                      <a:pt x="11874" y="28925"/>
                      <a:pt x="12633" y="28637"/>
                      <a:pt x="12050" y="26271"/>
                    </a:cubicBezTo>
                    <a:cubicBezTo>
                      <a:pt x="11467" y="23906"/>
                      <a:pt x="11249" y="22322"/>
                      <a:pt x="13116" y="20833"/>
                    </a:cubicBezTo>
                    <a:cubicBezTo>
                      <a:pt x="14983" y="19346"/>
                      <a:pt x="15058" y="16749"/>
                      <a:pt x="13940" y="14482"/>
                    </a:cubicBezTo>
                    <a:cubicBezTo>
                      <a:pt x="12821" y="12213"/>
                      <a:pt x="15068" y="10582"/>
                      <a:pt x="15904" y="7106"/>
                    </a:cubicBezTo>
                    <a:cubicBezTo>
                      <a:pt x="16741" y="3630"/>
                      <a:pt x="14710" y="0"/>
                      <a:pt x="14710" y="0"/>
                    </a:cubicBezTo>
                    <a:close/>
                  </a:path>
                </a:pathLst>
              </a:custGeom>
              <a:gradFill rotWithShape="0">
                <a:gsLst>
                  <a:gs pos="0">
                    <a:srgbClr val="00D4F9"/>
                  </a:gs>
                  <a:gs pos="100000">
                    <a:srgbClr val="EEEEEE"/>
                  </a:gs>
                </a:gsLst>
                <a:lin ang="16200000"/>
              </a:gradFill>
              <a:ln w="0">
                <a:noFill/>
              </a:ln>
            </p:spPr>
            <p:style>
              <a:lnRef idx="0">
                <a:scrgbClr r="0" g="0" b="0"/>
              </a:lnRef>
              <a:fillRef idx="0">
                <a:scrgbClr r="0" g="0" b="0"/>
              </a:fillRef>
              <a:effectRef idx="0">
                <a:scrgbClr r="0" g="0" b="0"/>
              </a:effectRef>
              <a:fontRef idx="minor"/>
            </p:style>
          </p:sp>
          <p:sp>
            <p:nvSpPr>
              <p:cNvPr id="337" name="Google Shape;205;p9"/>
              <p:cNvSpPr/>
              <p:nvPr/>
            </p:nvSpPr>
            <p:spPr>
              <a:xfrm flipV="1">
                <a:off x="2896560" y="-1440"/>
                <a:ext cx="408960" cy="1428120"/>
              </a:xfrm>
              <a:custGeom>
                <a:avLst/>
                <a:gdLst/>
                <a:ahLst/>
                <a:cxnLst/>
                <a:rect l="l" t="t" r="r" b="b"/>
                <a:pathLst>
                  <a:path w="7935" h="27660">
                    <a:moveTo>
                      <a:pt x="7664" y="1"/>
                    </a:moveTo>
                    <a:cubicBezTo>
                      <a:pt x="7557" y="1"/>
                      <a:pt x="7458" y="72"/>
                      <a:pt x="7429" y="180"/>
                    </a:cubicBezTo>
                    <a:lnTo>
                      <a:pt x="0" y="27659"/>
                    </a:lnTo>
                    <a:lnTo>
                      <a:pt x="505" y="27659"/>
                    </a:lnTo>
                    <a:lnTo>
                      <a:pt x="7898" y="308"/>
                    </a:lnTo>
                    <a:cubicBezTo>
                      <a:pt x="7934" y="180"/>
                      <a:pt x="7859" y="47"/>
                      <a:pt x="7731" y="10"/>
                    </a:cubicBezTo>
                    <a:cubicBezTo>
                      <a:pt x="7730" y="10"/>
                      <a:pt x="7729" y="9"/>
                      <a:pt x="7727" y="9"/>
                    </a:cubicBezTo>
                    <a:cubicBezTo>
                      <a:pt x="7706" y="3"/>
                      <a:pt x="7685" y="1"/>
                      <a:pt x="7664" y="1"/>
                    </a:cubicBezTo>
                    <a:close/>
                  </a:path>
                </a:pathLst>
              </a:custGeom>
              <a:solidFill>
                <a:schemeClr val="lt1"/>
              </a:solidFill>
              <a:ln w="0">
                <a:noFill/>
              </a:ln>
            </p:spPr>
            <p:style>
              <a:lnRef idx="0">
                <a:scrgbClr r="0" g="0" b="0"/>
              </a:lnRef>
              <a:fillRef idx="0">
                <a:scrgbClr r="0" g="0" b="0"/>
              </a:fillRef>
              <a:effectRef idx="0">
                <a:scrgbClr r="0" g="0" b="0"/>
              </a:effectRef>
              <a:fontRef idx="minor"/>
            </p:style>
          </p:sp>
        </p:grpSp>
        <p:grpSp>
          <p:nvGrpSpPr>
            <p:cNvPr id="338" name="Google Shape;206;p9"/>
            <p:cNvGrpSpPr/>
            <p:nvPr/>
          </p:nvGrpSpPr>
          <p:grpSpPr>
            <a:xfrm>
              <a:off x="897480" y="-1080"/>
              <a:ext cx="864000" cy="1960920"/>
              <a:chOff x="897480" y="-1080"/>
              <a:chExt cx="864000" cy="1960920"/>
            </a:xfrm>
          </p:grpSpPr>
          <p:sp>
            <p:nvSpPr>
              <p:cNvPr id="339" name="Google Shape;207;p9"/>
              <p:cNvSpPr/>
              <p:nvPr/>
            </p:nvSpPr>
            <p:spPr>
              <a:xfrm flipV="1">
                <a:off x="897480" y="-1440"/>
                <a:ext cx="864000" cy="1960920"/>
              </a:xfrm>
              <a:custGeom>
                <a:avLst/>
                <a:gdLst/>
                <a:ahLst/>
                <a:cxnLst/>
                <a:rect l="l" t="t" r="r" b="b"/>
                <a:pathLst>
                  <a:path w="16740" h="37975">
                    <a:moveTo>
                      <a:pt x="2031" y="1"/>
                    </a:moveTo>
                    <a:cubicBezTo>
                      <a:pt x="2031" y="1"/>
                      <a:pt x="0" y="3631"/>
                      <a:pt x="836" y="7107"/>
                    </a:cubicBezTo>
                    <a:cubicBezTo>
                      <a:pt x="1673" y="10583"/>
                      <a:pt x="3920" y="12214"/>
                      <a:pt x="2801" y="14481"/>
                    </a:cubicBezTo>
                    <a:cubicBezTo>
                      <a:pt x="1683" y="16748"/>
                      <a:pt x="1758" y="19346"/>
                      <a:pt x="3625" y="20834"/>
                    </a:cubicBezTo>
                    <a:cubicBezTo>
                      <a:pt x="5492" y="22322"/>
                      <a:pt x="5274" y="23905"/>
                      <a:pt x="4691" y="26272"/>
                    </a:cubicBezTo>
                    <a:cubicBezTo>
                      <a:pt x="4108" y="28637"/>
                      <a:pt x="4867" y="28925"/>
                      <a:pt x="6166" y="30492"/>
                    </a:cubicBezTo>
                    <a:cubicBezTo>
                      <a:pt x="7464" y="32061"/>
                      <a:pt x="6828" y="31907"/>
                      <a:pt x="6639" y="35341"/>
                    </a:cubicBezTo>
                    <a:cubicBezTo>
                      <a:pt x="6591" y="36230"/>
                      <a:pt x="6719" y="37144"/>
                      <a:pt x="7019" y="37975"/>
                    </a:cubicBezTo>
                    <a:lnTo>
                      <a:pt x="16639" y="37975"/>
                    </a:lnTo>
                    <a:cubicBezTo>
                      <a:pt x="16740" y="37455"/>
                      <a:pt x="16572" y="36875"/>
                      <a:pt x="15940" y="36250"/>
                    </a:cubicBezTo>
                    <a:cubicBezTo>
                      <a:pt x="13457" y="33800"/>
                      <a:pt x="12810" y="32720"/>
                      <a:pt x="13617" y="30331"/>
                    </a:cubicBezTo>
                    <a:cubicBezTo>
                      <a:pt x="14425" y="27944"/>
                      <a:pt x="15673" y="26203"/>
                      <a:pt x="13052" y="24989"/>
                    </a:cubicBezTo>
                    <a:cubicBezTo>
                      <a:pt x="10430" y="23775"/>
                      <a:pt x="11792" y="20592"/>
                      <a:pt x="12312" y="18668"/>
                    </a:cubicBezTo>
                    <a:cubicBezTo>
                      <a:pt x="12832" y="16744"/>
                      <a:pt x="10876" y="16838"/>
                      <a:pt x="9171" y="14968"/>
                    </a:cubicBezTo>
                    <a:cubicBezTo>
                      <a:pt x="7468" y="13098"/>
                      <a:pt x="9919" y="11933"/>
                      <a:pt x="8364" y="9189"/>
                    </a:cubicBezTo>
                    <a:cubicBezTo>
                      <a:pt x="6810" y="6445"/>
                      <a:pt x="2117" y="5130"/>
                      <a:pt x="2031" y="1"/>
                    </a:cubicBezTo>
                    <a:close/>
                  </a:path>
                </a:pathLst>
              </a:custGeom>
              <a:gradFill rotWithShape="0">
                <a:gsLst>
                  <a:gs pos="0">
                    <a:srgbClr val="00D4F9"/>
                  </a:gs>
                  <a:gs pos="100000">
                    <a:srgbClr val="EEEEEE"/>
                  </a:gs>
                </a:gsLst>
                <a:lin ang="16200000"/>
              </a:gradFill>
              <a:ln w="0">
                <a:noFill/>
              </a:ln>
            </p:spPr>
            <p:style>
              <a:lnRef idx="0">
                <a:scrgbClr r="0" g="0" b="0"/>
              </a:lnRef>
              <a:fillRef idx="0">
                <a:scrgbClr r="0" g="0" b="0"/>
              </a:fillRef>
              <a:effectRef idx="0">
                <a:scrgbClr r="0" g="0" b="0"/>
              </a:effectRef>
              <a:fontRef idx="minor"/>
            </p:style>
          </p:sp>
          <p:sp>
            <p:nvSpPr>
              <p:cNvPr id="340" name="Google Shape;208;p9"/>
              <p:cNvSpPr/>
              <p:nvPr/>
            </p:nvSpPr>
            <p:spPr>
              <a:xfrm flipV="1">
                <a:off x="1125360" y="-1440"/>
                <a:ext cx="408960" cy="1428120"/>
              </a:xfrm>
              <a:custGeom>
                <a:avLst/>
                <a:gdLst/>
                <a:ahLst/>
                <a:cxnLst/>
                <a:rect l="l" t="t" r="r" b="b"/>
                <a:pathLst>
                  <a:path w="7934" h="27660">
                    <a:moveTo>
                      <a:pt x="269" y="0"/>
                    </a:moveTo>
                    <a:cubicBezTo>
                      <a:pt x="248" y="0"/>
                      <a:pt x="228" y="3"/>
                      <a:pt x="207" y="8"/>
                    </a:cubicBezTo>
                    <a:lnTo>
                      <a:pt x="203" y="11"/>
                    </a:lnTo>
                    <a:cubicBezTo>
                      <a:pt x="76" y="48"/>
                      <a:pt x="1" y="179"/>
                      <a:pt x="35" y="308"/>
                    </a:cubicBezTo>
                    <a:lnTo>
                      <a:pt x="7429" y="27660"/>
                    </a:lnTo>
                    <a:lnTo>
                      <a:pt x="7933" y="27660"/>
                    </a:lnTo>
                    <a:lnTo>
                      <a:pt x="505" y="180"/>
                    </a:lnTo>
                    <a:cubicBezTo>
                      <a:pt x="475" y="72"/>
                      <a:pt x="376" y="0"/>
                      <a:pt x="269" y="0"/>
                    </a:cubicBezTo>
                    <a:close/>
                  </a:path>
                </a:pathLst>
              </a:custGeom>
              <a:solidFill>
                <a:schemeClr val="lt1"/>
              </a:solidFill>
              <a:ln w="0">
                <a:noFill/>
              </a:ln>
            </p:spPr>
            <p:style>
              <a:lnRef idx="0">
                <a:scrgbClr r="0" g="0" b="0"/>
              </a:lnRef>
              <a:fillRef idx="0">
                <a:scrgbClr r="0" g="0" b="0"/>
              </a:fillRef>
              <a:effectRef idx="0">
                <a:scrgbClr r="0" g="0" b="0"/>
              </a:effectRef>
              <a:fontRef idx="minor"/>
            </p:style>
          </p:sp>
        </p:grpSp>
        <p:grpSp>
          <p:nvGrpSpPr>
            <p:cNvPr id="341" name="Google Shape;209;p9"/>
            <p:cNvGrpSpPr/>
            <p:nvPr/>
          </p:nvGrpSpPr>
          <p:grpSpPr>
            <a:xfrm>
              <a:off x="-94680" y="-1080"/>
              <a:ext cx="1175040" cy="1168200"/>
              <a:chOff x="-94680" y="-1080"/>
              <a:chExt cx="1175040" cy="1168200"/>
            </a:xfrm>
          </p:grpSpPr>
          <p:sp>
            <p:nvSpPr>
              <p:cNvPr id="342" name="Google Shape;210;p9"/>
              <p:cNvSpPr/>
              <p:nvPr/>
            </p:nvSpPr>
            <p:spPr>
              <a:xfrm flipV="1">
                <a:off x="-94320" y="-720"/>
                <a:ext cx="922320" cy="936000"/>
              </a:xfrm>
              <a:custGeom>
                <a:avLst/>
                <a:gdLst/>
                <a:ahLst/>
                <a:cxnLst/>
                <a:rect l="l" t="t" r="r" b="b"/>
                <a:pathLst>
                  <a:path w="17868" h="18135">
                    <a:moveTo>
                      <a:pt x="5366" y="1"/>
                    </a:moveTo>
                    <a:cubicBezTo>
                      <a:pt x="4921" y="1"/>
                      <a:pt x="4476" y="95"/>
                      <a:pt x="4032" y="298"/>
                    </a:cubicBezTo>
                    <a:cubicBezTo>
                      <a:pt x="0" y="2144"/>
                      <a:pt x="4705" y="9662"/>
                      <a:pt x="8522" y="14731"/>
                    </a:cubicBezTo>
                    <a:cubicBezTo>
                      <a:pt x="9215" y="15651"/>
                      <a:pt x="10215" y="16891"/>
                      <a:pt x="11239" y="18134"/>
                    </a:cubicBezTo>
                    <a:lnTo>
                      <a:pt x="17868" y="18134"/>
                    </a:lnTo>
                    <a:lnTo>
                      <a:pt x="17843" y="18077"/>
                    </a:lnTo>
                    <a:cubicBezTo>
                      <a:pt x="17583" y="17471"/>
                      <a:pt x="17264" y="16792"/>
                      <a:pt x="16879" y="16032"/>
                    </a:cubicBezTo>
                    <a:cubicBezTo>
                      <a:pt x="16879" y="16032"/>
                      <a:pt x="16223" y="14188"/>
                      <a:pt x="15129" y="11754"/>
                    </a:cubicBezTo>
                    <a:cubicBezTo>
                      <a:pt x="12996" y="7004"/>
                      <a:pt x="9201" y="1"/>
                      <a:pt x="5366" y="1"/>
                    </a:cubicBezTo>
                    <a:close/>
                  </a:path>
                </a:pathLst>
              </a:custGeom>
              <a:gradFill rotWithShape="0">
                <a:gsLst>
                  <a:gs pos="0">
                    <a:srgbClr val="2D2183"/>
                  </a:gs>
                  <a:gs pos="100000">
                    <a:srgbClr val="224CE6"/>
                  </a:gs>
                </a:gsLst>
                <a:lin ang="16200000"/>
              </a:gradFill>
              <a:ln w="0">
                <a:noFill/>
              </a:ln>
            </p:spPr>
            <p:style>
              <a:lnRef idx="0">
                <a:scrgbClr r="0" g="0" b="0"/>
              </a:lnRef>
              <a:fillRef idx="0">
                <a:scrgbClr r="0" g="0" b="0"/>
              </a:fillRef>
              <a:effectRef idx="0">
                <a:scrgbClr r="0" g="0" b="0"/>
              </a:effectRef>
              <a:fontRef idx="minor"/>
            </p:style>
          </p:sp>
          <p:sp>
            <p:nvSpPr>
              <p:cNvPr id="343" name="Google Shape;211;p9"/>
              <p:cNvSpPr/>
              <p:nvPr/>
            </p:nvSpPr>
            <p:spPr>
              <a:xfrm flipV="1">
                <a:off x="294840" y="-1440"/>
                <a:ext cx="402840" cy="625320"/>
              </a:xfrm>
              <a:custGeom>
                <a:avLst/>
                <a:gdLst/>
                <a:ahLst/>
                <a:cxnLst/>
                <a:rect l="l" t="t" r="r" b="b"/>
                <a:pathLst>
                  <a:path w="7815" h="12122">
                    <a:moveTo>
                      <a:pt x="310" y="1"/>
                    </a:moveTo>
                    <a:cubicBezTo>
                      <a:pt x="260" y="1"/>
                      <a:pt x="209" y="15"/>
                      <a:pt x="164" y="44"/>
                    </a:cubicBezTo>
                    <a:cubicBezTo>
                      <a:pt x="38" y="124"/>
                      <a:pt x="1" y="292"/>
                      <a:pt x="82" y="418"/>
                    </a:cubicBezTo>
                    <a:cubicBezTo>
                      <a:pt x="139" y="506"/>
                      <a:pt x="4494" y="7327"/>
                      <a:pt x="7190" y="12121"/>
                    </a:cubicBezTo>
                    <a:lnTo>
                      <a:pt x="7814" y="12121"/>
                    </a:lnTo>
                    <a:cubicBezTo>
                      <a:pt x="5165" y="7369"/>
                      <a:pt x="773" y="494"/>
                      <a:pt x="538" y="126"/>
                    </a:cubicBezTo>
                    <a:cubicBezTo>
                      <a:pt x="487" y="45"/>
                      <a:pt x="400" y="1"/>
                      <a:pt x="310" y="1"/>
                    </a:cubicBezTo>
                    <a:close/>
                  </a:path>
                </a:pathLst>
              </a:custGeom>
              <a:solidFill>
                <a:schemeClr val="lt1"/>
              </a:solidFill>
              <a:ln w="0">
                <a:noFill/>
              </a:ln>
            </p:spPr>
            <p:style>
              <a:lnRef idx="0">
                <a:scrgbClr r="0" g="0" b="0"/>
              </a:lnRef>
              <a:fillRef idx="0">
                <a:scrgbClr r="0" g="0" b="0"/>
              </a:fillRef>
              <a:effectRef idx="0">
                <a:scrgbClr r="0" g="0" b="0"/>
              </a:effectRef>
              <a:fontRef idx="minor"/>
            </p:style>
          </p:sp>
          <p:sp>
            <p:nvSpPr>
              <p:cNvPr id="344" name="Google Shape;212;p9"/>
              <p:cNvSpPr/>
              <p:nvPr/>
            </p:nvSpPr>
            <p:spPr>
              <a:xfrm flipV="1">
                <a:off x="573840" y="-1440"/>
                <a:ext cx="506520" cy="1168200"/>
              </a:xfrm>
              <a:custGeom>
                <a:avLst/>
                <a:gdLst/>
                <a:ahLst/>
                <a:cxnLst/>
                <a:rect l="l" t="t" r="r" b="b"/>
                <a:pathLst>
                  <a:path w="9823" h="22629">
                    <a:moveTo>
                      <a:pt x="4444" y="1"/>
                    </a:moveTo>
                    <a:cubicBezTo>
                      <a:pt x="4440" y="1"/>
                      <a:pt x="4437" y="1"/>
                      <a:pt x="4433" y="1"/>
                    </a:cubicBezTo>
                    <a:cubicBezTo>
                      <a:pt x="0" y="12"/>
                      <a:pt x="1171" y="8803"/>
                      <a:pt x="2549" y="14997"/>
                    </a:cubicBezTo>
                    <a:cubicBezTo>
                      <a:pt x="2990" y="16978"/>
                      <a:pt x="3887" y="20258"/>
                      <a:pt x="4553" y="22628"/>
                    </a:cubicBezTo>
                    <a:lnTo>
                      <a:pt x="9623" y="22628"/>
                    </a:lnTo>
                    <a:cubicBezTo>
                      <a:pt x="9636" y="22401"/>
                      <a:pt x="9645" y="22160"/>
                      <a:pt x="9651" y="21900"/>
                    </a:cubicBezTo>
                    <a:cubicBezTo>
                      <a:pt x="9663" y="21241"/>
                      <a:pt x="9655" y="20491"/>
                      <a:pt x="9619" y="19639"/>
                    </a:cubicBezTo>
                    <a:cubicBezTo>
                      <a:pt x="9619" y="19639"/>
                      <a:pt x="9784" y="17690"/>
                      <a:pt x="9795" y="15021"/>
                    </a:cubicBezTo>
                    <a:cubicBezTo>
                      <a:pt x="9822" y="9214"/>
                      <a:pt x="9127" y="1"/>
                      <a:pt x="4444" y="1"/>
                    </a:cubicBezTo>
                    <a:close/>
                  </a:path>
                </a:pathLst>
              </a:custGeom>
              <a:gradFill rotWithShape="0">
                <a:gsLst>
                  <a:gs pos="0">
                    <a:srgbClr val="2D2183"/>
                  </a:gs>
                  <a:gs pos="100000">
                    <a:srgbClr val="224CE6"/>
                  </a:gs>
                </a:gsLst>
                <a:lin ang="16200000"/>
              </a:gradFill>
              <a:ln w="0">
                <a:noFill/>
              </a:ln>
            </p:spPr>
            <p:style>
              <a:lnRef idx="0">
                <a:scrgbClr r="0" g="0" b="0"/>
              </a:lnRef>
              <a:fillRef idx="0">
                <a:scrgbClr r="0" g="0" b="0"/>
              </a:fillRef>
              <a:effectRef idx="0">
                <a:scrgbClr r="0" g="0" b="0"/>
              </a:effectRef>
              <a:fontRef idx="minor"/>
            </p:style>
          </p:sp>
          <p:sp>
            <p:nvSpPr>
              <p:cNvPr id="345" name="Google Shape;213;p9"/>
              <p:cNvSpPr/>
              <p:nvPr/>
            </p:nvSpPr>
            <p:spPr>
              <a:xfrm flipV="1">
                <a:off x="839880" y="-720"/>
                <a:ext cx="119880" cy="818640"/>
              </a:xfrm>
              <a:custGeom>
                <a:avLst/>
                <a:gdLst/>
                <a:ahLst/>
                <a:cxnLst/>
                <a:rect l="l" t="t" r="r" b="b"/>
                <a:pathLst>
                  <a:path w="2341" h="15866">
                    <a:moveTo>
                      <a:pt x="291" y="0"/>
                    </a:moveTo>
                    <a:cubicBezTo>
                      <a:pt x="279" y="0"/>
                      <a:pt x="266" y="1"/>
                      <a:pt x="253" y="3"/>
                    </a:cubicBezTo>
                    <a:cubicBezTo>
                      <a:pt x="104" y="24"/>
                      <a:pt x="1" y="162"/>
                      <a:pt x="22" y="309"/>
                    </a:cubicBezTo>
                    <a:cubicBezTo>
                      <a:pt x="39" y="427"/>
                      <a:pt x="1492" y="10606"/>
                      <a:pt x="1795" y="15865"/>
                    </a:cubicBezTo>
                    <a:lnTo>
                      <a:pt x="2340" y="15865"/>
                    </a:lnTo>
                    <a:cubicBezTo>
                      <a:pt x="2044" y="10638"/>
                      <a:pt x="628" y="714"/>
                      <a:pt x="559" y="233"/>
                    </a:cubicBezTo>
                    <a:cubicBezTo>
                      <a:pt x="540" y="97"/>
                      <a:pt x="424" y="0"/>
                      <a:pt x="291" y="0"/>
                    </a:cubicBezTo>
                    <a:close/>
                  </a:path>
                </a:pathLst>
              </a:custGeom>
              <a:solidFill>
                <a:schemeClr val="lt1"/>
              </a:solidFill>
              <a:ln w="0">
                <a:noFill/>
              </a:ln>
            </p:spPr>
            <p:style>
              <a:lnRef idx="0">
                <a:scrgbClr r="0" g="0" b="0"/>
              </a:lnRef>
              <a:fillRef idx="0">
                <a:scrgbClr r="0" g="0" b="0"/>
              </a:fillRef>
              <a:effectRef idx="0">
                <a:scrgbClr r="0" g="0" b="0"/>
              </a:effectRef>
              <a:fontRef idx="minor"/>
            </p:style>
          </p:sp>
        </p:grpSp>
        <p:grpSp>
          <p:nvGrpSpPr>
            <p:cNvPr id="346" name="Google Shape;214;p9"/>
            <p:cNvGrpSpPr/>
            <p:nvPr/>
          </p:nvGrpSpPr>
          <p:grpSpPr>
            <a:xfrm>
              <a:off x="1958040" y="-1080"/>
              <a:ext cx="1175760" cy="1168200"/>
              <a:chOff x="1958040" y="-1080"/>
              <a:chExt cx="1175760" cy="1168200"/>
            </a:xfrm>
          </p:grpSpPr>
          <p:sp>
            <p:nvSpPr>
              <p:cNvPr id="347" name="Google Shape;215;p9"/>
              <p:cNvSpPr/>
              <p:nvPr/>
            </p:nvSpPr>
            <p:spPr>
              <a:xfrm flipV="1">
                <a:off x="2211480" y="-720"/>
                <a:ext cx="922320" cy="936000"/>
              </a:xfrm>
              <a:custGeom>
                <a:avLst/>
                <a:gdLst/>
                <a:ahLst/>
                <a:cxnLst/>
                <a:rect l="l" t="t" r="r" b="b"/>
                <a:pathLst>
                  <a:path w="17868" h="18135">
                    <a:moveTo>
                      <a:pt x="12502" y="1"/>
                    </a:moveTo>
                    <a:cubicBezTo>
                      <a:pt x="8667" y="1"/>
                      <a:pt x="4872" y="7004"/>
                      <a:pt x="2741" y="11755"/>
                    </a:cubicBezTo>
                    <a:cubicBezTo>
                      <a:pt x="1646" y="14189"/>
                      <a:pt x="989" y="16033"/>
                      <a:pt x="989" y="16033"/>
                    </a:cubicBezTo>
                    <a:cubicBezTo>
                      <a:pt x="604" y="16793"/>
                      <a:pt x="286" y="17472"/>
                      <a:pt x="25" y="18077"/>
                    </a:cubicBezTo>
                    <a:cubicBezTo>
                      <a:pt x="16" y="18097"/>
                      <a:pt x="9" y="18116"/>
                      <a:pt x="0" y="18135"/>
                    </a:cubicBezTo>
                    <a:lnTo>
                      <a:pt x="6629" y="18135"/>
                    </a:lnTo>
                    <a:cubicBezTo>
                      <a:pt x="7654" y="16891"/>
                      <a:pt x="8654" y="15651"/>
                      <a:pt x="9346" y="14731"/>
                    </a:cubicBezTo>
                    <a:cubicBezTo>
                      <a:pt x="13164" y="9662"/>
                      <a:pt x="17868" y="2144"/>
                      <a:pt x="13836" y="298"/>
                    </a:cubicBezTo>
                    <a:cubicBezTo>
                      <a:pt x="13392" y="95"/>
                      <a:pt x="12947" y="1"/>
                      <a:pt x="12502" y="1"/>
                    </a:cubicBezTo>
                    <a:close/>
                  </a:path>
                </a:pathLst>
              </a:custGeom>
              <a:gradFill rotWithShape="0">
                <a:gsLst>
                  <a:gs pos="0">
                    <a:srgbClr val="00D4F9"/>
                  </a:gs>
                  <a:gs pos="100000">
                    <a:srgbClr val="5C38F1"/>
                  </a:gs>
                </a:gsLst>
                <a:lin ang="16200000"/>
              </a:gradFill>
              <a:ln w="0">
                <a:noFill/>
              </a:ln>
            </p:spPr>
            <p:style>
              <a:lnRef idx="0">
                <a:scrgbClr r="0" g="0" b="0"/>
              </a:lnRef>
              <a:fillRef idx="0">
                <a:scrgbClr r="0" g="0" b="0"/>
              </a:fillRef>
              <a:effectRef idx="0">
                <a:scrgbClr r="0" g="0" b="0"/>
              </a:effectRef>
              <a:fontRef idx="minor"/>
            </p:style>
          </p:sp>
          <p:sp>
            <p:nvSpPr>
              <p:cNvPr id="348" name="Google Shape;216;p9"/>
              <p:cNvSpPr/>
              <p:nvPr/>
            </p:nvSpPr>
            <p:spPr>
              <a:xfrm flipV="1">
                <a:off x="2340720" y="-1440"/>
                <a:ext cx="402840" cy="625320"/>
              </a:xfrm>
              <a:custGeom>
                <a:avLst/>
                <a:gdLst/>
                <a:ahLst/>
                <a:cxnLst/>
                <a:rect l="l" t="t" r="r" b="b"/>
                <a:pathLst>
                  <a:path w="7815" h="12122">
                    <a:moveTo>
                      <a:pt x="7505" y="1"/>
                    </a:moveTo>
                    <a:cubicBezTo>
                      <a:pt x="7416" y="1"/>
                      <a:pt x="7328" y="45"/>
                      <a:pt x="7277" y="126"/>
                    </a:cubicBezTo>
                    <a:cubicBezTo>
                      <a:pt x="7041" y="494"/>
                      <a:pt x="2651" y="7370"/>
                      <a:pt x="0" y="12122"/>
                    </a:cubicBezTo>
                    <a:lnTo>
                      <a:pt x="625" y="12122"/>
                    </a:lnTo>
                    <a:cubicBezTo>
                      <a:pt x="3321" y="7327"/>
                      <a:pt x="7677" y="506"/>
                      <a:pt x="7733" y="418"/>
                    </a:cubicBezTo>
                    <a:cubicBezTo>
                      <a:pt x="7815" y="292"/>
                      <a:pt x="7778" y="124"/>
                      <a:pt x="7651" y="44"/>
                    </a:cubicBezTo>
                    <a:cubicBezTo>
                      <a:pt x="7606" y="15"/>
                      <a:pt x="7555" y="1"/>
                      <a:pt x="7505" y="1"/>
                    </a:cubicBezTo>
                    <a:close/>
                  </a:path>
                </a:pathLst>
              </a:custGeom>
              <a:solidFill>
                <a:schemeClr val="lt1"/>
              </a:solidFill>
              <a:ln w="0">
                <a:noFill/>
              </a:ln>
            </p:spPr>
            <p:style>
              <a:lnRef idx="0">
                <a:scrgbClr r="0" g="0" b="0"/>
              </a:lnRef>
              <a:fillRef idx="0">
                <a:scrgbClr r="0" g="0" b="0"/>
              </a:fillRef>
              <a:effectRef idx="0">
                <a:scrgbClr r="0" g="0" b="0"/>
              </a:effectRef>
              <a:fontRef idx="minor"/>
            </p:style>
          </p:sp>
          <p:sp>
            <p:nvSpPr>
              <p:cNvPr id="349" name="Google Shape;217;p9"/>
              <p:cNvSpPr/>
              <p:nvPr/>
            </p:nvSpPr>
            <p:spPr>
              <a:xfrm flipV="1">
                <a:off x="1958040" y="-1440"/>
                <a:ext cx="506520" cy="1168200"/>
              </a:xfrm>
              <a:custGeom>
                <a:avLst/>
                <a:gdLst/>
                <a:ahLst/>
                <a:cxnLst/>
                <a:rect l="l" t="t" r="r" b="b"/>
                <a:pathLst>
                  <a:path w="9824" h="22629">
                    <a:moveTo>
                      <a:pt x="5379" y="1"/>
                    </a:moveTo>
                    <a:cubicBezTo>
                      <a:pt x="695" y="1"/>
                      <a:pt x="0" y="9215"/>
                      <a:pt x="27" y="15021"/>
                    </a:cubicBezTo>
                    <a:cubicBezTo>
                      <a:pt x="38" y="17690"/>
                      <a:pt x="203" y="19640"/>
                      <a:pt x="203" y="19640"/>
                    </a:cubicBezTo>
                    <a:cubicBezTo>
                      <a:pt x="169" y="20492"/>
                      <a:pt x="160" y="21241"/>
                      <a:pt x="172" y="21901"/>
                    </a:cubicBezTo>
                    <a:cubicBezTo>
                      <a:pt x="178" y="22160"/>
                      <a:pt x="187" y="22401"/>
                      <a:pt x="201" y="22629"/>
                    </a:cubicBezTo>
                    <a:lnTo>
                      <a:pt x="5271" y="22629"/>
                    </a:lnTo>
                    <a:cubicBezTo>
                      <a:pt x="5936" y="20258"/>
                      <a:pt x="6833" y="16978"/>
                      <a:pt x="7273" y="14998"/>
                    </a:cubicBezTo>
                    <a:cubicBezTo>
                      <a:pt x="8651" y="8803"/>
                      <a:pt x="9823" y="13"/>
                      <a:pt x="5389" y="1"/>
                    </a:cubicBezTo>
                    <a:cubicBezTo>
                      <a:pt x="5385" y="1"/>
                      <a:pt x="5382" y="1"/>
                      <a:pt x="5379" y="1"/>
                    </a:cubicBezTo>
                    <a:close/>
                  </a:path>
                </a:pathLst>
              </a:custGeom>
              <a:gradFill rotWithShape="0">
                <a:gsLst>
                  <a:gs pos="0">
                    <a:srgbClr val="00D4F9"/>
                  </a:gs>
                  <a:gs pos="100000">
                    <a:srgbClr val="5C38F1"/>
                  </a:gs>
                </a:gsLst>
                <a:lin ang="16200000"/>
              </a:gradFill>
              <a:ln w="0">
                <a:noFill/>
              </a:ln>
            </p:spPr>
            <p:style>
              <a:lnRef idx="0">
                <a:scrgbClr r="0" g="0" b="0"/>
              </a:lnRef>
              <a:fillRef idx="0">
                <a:scrgbClr r="0" g="0" b="0"/>
              </a:fillRef>
              <a:effectRef idx="0">
                <a:scrgbClr r="0" g="0" b="0"/>
              </a:effectRef>
              <a:fontRef idx="minor"/>
            </p:style>
          </p:sp>
          <p:sp>
            <p:nvSpPr>
              <p:cNvPr id="350" name="Google Shape;218;p9"/>
              <p:cNvSpPr/>
              <p:nvPr/>
            </p:nvSpPr>
            <p:spPr>
              <a:xfrm flipV="1">
                <a:off x="2078640" y="-720"/>
                <a:ext cx="119880" cy="818640"/>
              </a:xfrm>
              <a:custGeom>
                <a:avLst/>
                <a:gdLst/>
                <a:ahLst/>
                <a:cxnLst/>
                <a:rect l="l" t="t" r="r" b="b"/>
                <a:pathLst>
                  <a:path w="2340" h="15866">
                    <a:moveTo>
                      <a:pt x="2050" y="0"/>
                    </a:moveTo>
                    <a:cubicBezTo>
                      <a:pt x="1917" y="0"/>
                      <a:pt x="1800" y="97"/>
                      <a:pt x="1781" y="233"/>
                    </a:cubicBezTo>
                    <a:cubicBezTo>
                      <a:pt x="1712" y="714"/>
                      <a:pt x="296" y="10638"/>
                      <a:pt x="0" y="15866"/>
                    </a:cubicBezTo>
                    <a:lnTo>
                      <a:pt x="545" y="15866"/>
                    </a:lnTo>
                    <a:cubicBezTo>
                      <a:pt x="849" y="10606"/>
                      <a:pt x="2301" y="428"/>
                      <a:pt x="2319" y="311"/>
                    </a:cubicBezTo>
                    <a:cubicBezTo>
                      <a:pt x="2340" y="162"/>
                      <a:pt x="2236" y="24"/>
                      <a:pt x="2089" y="3"/>
                    </a:cubicBezTo>
                    <a:cubicBezTo>
                      <a:pt x="2076" y="1"/>
                      <a:pt x="2063" y="0"/>
                      <a:pt x="2050" y="0"/>
                    </a:cubicBezTo>
                    <a:close/>
                  </a:path>
                </a:pathLst>
              </a:custGeom>
              <a:solidFill>
                <a:schemeClr val="lt1"/>
              </a:solidFill>
              <a:ln w="0">
                <a:noFill/>
              </a:ln>
            </p:spPr>
            <p:style>
              <a:lnRef idx="0">
                <a:scrgbClr r="0" g="0" b="0"/>
              </a:lnRef>
              <a:fillRef idx="0">
                <a:scrgbClr r="0" g="0" b="0"/>
              </a:fillRef>
              <a:effectRef idx="0">
                <a:scrgbClr r="0" g="0" b="0"/>
              </a:effectRef>
              <a:fontRef idx="minor"/>
            </p:style>
          </p:sp>
        </p:grpSp>
        <p:grpSp>
          <p:nvGrpSpPr>
            <p:cNvPr id="351" name="Google Shape;219;p9"/>
            <p:cNvGrpSpPr/>
            <p:nvPr/>
          </p:nvGrpSpPr>
          <p:grpSpPr>
            <a:xfrm>
              <a:off x="1553400" y="-1080"/>
              <a:ext cx="332640" cy="330120"/>
              <a:chOff x="1553400" y="-1080"/>
              <a:chExt cx="332640" cy="330120"/>
            </a:xfrm>
          </p:grpSpPr>
          <p:sp>
            <p:nvSpPr>
              <p:cNvPr id="352" name="Google Shape;220;p9"/>
              <p:cNvSpPr/>
              <p:nvPr/>
            </p:nvSpPr>
            <p:spPr>
              <a:xfrm flipV="1">
                <a:off x="1553400" y="-1440"/>
                <a:ext cx="255240" cy="264600"/>
              </a:xfrm>
              <a:custGeom>
                <a:avLst/>
                <a:gdLst/>
                <a:ahLst/>
                <a:cxnLst/>
                <a:rect l="l" t="t" r="r" b="b"/>
                <a:pathLst>
                  <a:path w="4962" h="5140">
                    <a:moveTo>
                      <a:pt x="1522" y="1"/>
                    </a:moveTo>
                    <a:cubicBezTo>
                      <a:pt x="1396" y="1"/>
                      <a:pt x="1269" y="28"/>
                      <a:pt x="1144" y="85"/>
                    </a:cubicBezTo>
                    <a:cubicBezTo>
                      <a:pt x="1" y="608"/>
                      <a:pt x="1334" y="2738"/>
                      <a:pt x="2417" y="4175"/>
                    </a:cubicBezTo>
                    <a:cubicBezTo>
                      <a:pt x="2612" y="4435"/>
                      <a:pt x="2896" y="4786"/>
                      <a:pt x="3187" y="5140"/>
                    </a:cubicBezTo>
                    <a:lnTo>
                      <a:pt x="4962" y="5140"/>
                    </a:lnTo>
                    <a:cubicBezTo>
                      <a:pt x="4914" y="4970"/>
                      <a:pt x="4862" y="4784"/>
                      <a:pt x="4809" y="4591"/>
                    </a:cubicBezTo>
                    <a:cubicBezTo>
                      <a:pt x="4800" y="4576"/>
                      <a:pt x="4793" y="4559"/>
                      <a:pt x="4786" y="4544"/>
                    </a:cubicBezTo>
                    <a:cubicBezTo>
                      <a:pt x="4786" y="4544"/>
                      <a:pt x="4599" y="4021"/>
                      <a:pt x="4289" y="3331"/>
                    </a:cubicBezTo>
                    <a:cubicBezTo>
                      <a:pt x="3685" y="1986"/>
                      <a:pt x="2609" y="1"/>
                      <a:pt x="1522" y="1"/>
                    </a:cubicBezTo>
                    <a:close/>
                  </a:path>
                </a:pathLst>
              </a:custGeom>
              <a:gradFill rotWithShape="0">
                <a:gsLst>
                  <a:gs pos="0">
                    <a:srgbClr val="2D2183"/>
                  </a:gs>
                  <a:gs pos="100000">
                    <a:srgbClr val="224CE6"/>
                  </a:gs>
                </a:gsLst>
                <a:lin ang="16200000"/>
              </a:gradFill>
              <a:ln w="0">
                <a:noFill/>
              </a:ln>
            </p:spPr>
            <p:style>
              <a:lnRef idx="0">
                <a:scrgbClr r="0" g="0" b="0"/>
              </a:lnRef>
              <a:fillRef idx="0">
                <a:scrgbClr r="0" g="0" b="0"/>
              </a:fillRef>
              <a:effectRef idx="0">
                <a:scrgbClr r="0" g="0" b="0"/>
              </a:effectRef>
              <a:fontRef idx="minor"/>
            </p:style>
          </p:sp>
          <p:sp>
            <p:nvSpPr>
              <p:cNvPr id="353" name="Google Shape;221;p9"/>
              <p:cNvSpPr/>
              <p:nvPr/>
            </p:nvSpPr>
            <p:spPr>
              <a:xfrm flipV="1">
                <a:off x="1743120" y="-1440"/>
                <a:ext cx="142920" cy="330120"/>
              </a:xfrm>
              <a:custGeom>
                <a:avLst/>
                <a:gdLst/>
                <a:ahLst/>
                <a:cxnLst/>
                <a:rect l="l" t="t" r="r" b="b"/>
                <a:pathLst>
                  <a:path w="2784" h="6413">
                    <a:moveTo>
                      <a:pt x="1260" y="0"/>
                    </a:moveTo>
                    <a:cubicBezTo>
                      <a:pt x="1259" y="0"/>
                      <a:pt x="1257" y="0"/>
                      <a:pt x="1256" y="0"/>
                    </a:cubicBezTo>
                    <a:cubicBezTo>
                      <a:pt x="0" y="3"/>
                      <a:pt x="332" y="2495"/>
                      <a:pt x="722" y="4250"/>
                    </a:cubicBezTo>
                    <a:cubicBezTo>
                      <a:pt x="816" y="4670"/>
                      <a:pt x="982" y="5294"/>
                      <a:pt x="1138" y="5865"/>
                    </a:cubicBezTo>
                    <a:cubicBezTo>
                      <a:pt x="1237" y="6061"/>
                      <a:pt x="1319" y="6238"/>
                      <a:pt x="1388" y="6397"/>
                    </a:cubicBezTo>
                    <a:cubicBezTo>
                      <a:pt x="1389" y="6401"/>
                      <a:pt x="1391" y="6408"/>
                      <a:pt x="1394" y="6413"/>
                    </a:cubicBezTo>
                    <a:lnTo>
                      <a:pt x="2727" y="6413"/>
                    </a:lnTo>
                    <a:cubicBezTo>
                      <a:pt x="2731" y="6349"/>
                      <a:pt x="2733" y="6280"/>
                      <a:pt x="2735" y="6207"/>
                    </a:cubicBezTo>
                    <a:cubicBezTo>
                      <a:pt x="2738" y="6020"/>
                      <a:pt x="2736" y="5807"/>
                      <a:pt x="2726" y="5565"/>
                    </a:cubicBezTo>
                    <a:cubicBezTo>
                      <a:pt x="2726" y="5565"/>
                      <a:pt x="2773" y="5013"/>
                      <a:pt x="2777" y="4256"/>
                    </a:cubicBezTo>
                    <a:cubicBezTo>
                      <a:pt x="2784" y="2611"/>
                      <a:pt x="2587" y="0"/>
                      <a:pt x="1260" y="0"/>
                    </a:cubicBezTo>
                    <a:close/>
                  </a:path>
                </a:pathLst>
              </a:custGeom>
              <a:gradFill rotWithShape="0">
                <a:gsLst>
                  <a:gs pos="0">
                    <a:srgbClr val="2D2183"/>
                  </a:gs>
                  <a:gs pos="100000">
                    <a:srgbClr val="224CE6"/>
                  </a:gs>
                </a:gsLst>
                <a:lin ang="16200000"/>
              </a:gradFill>
              <a:ln w="0">
                <a:noFill/>
              </a:ln>
            </p:spPr>
            <p:style>
              <a:lnRef idx="0">
                <a:scrgbClr r="0" g="0" b="0"/>
              </a:lnRef>
              <a:fillRef idx="0">
                <a:scrgbClr r="0" g="0" b="0"/>
              </a:fillRef>
              <a:effectRef idx="0">
                <a:scrgbClr r="0" g="0" b="0"/>
              </a:effectRef>
              <a:fontRef idx="minor"/>
            </p:style>
          </p:sp>
        </p:grpSp>
      </p:grpSp>
      <p:sp>
        <p:nvSpPr>
          <p:cNvPr id="35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r>
              <a:rPr lang="fr-FR" sz="4400" b="0" strike="noStrike" spc="-1">
                <a:latin typeface="Arial"/>
              </a:rPr>
              <a:t>Cliquez pour éditer le format du texte-titre</a:t>
            </a:r>
          </a:p>
        </p:txBody>
      </p:sp>
      <p:sp>
        <p:nvSpPr>
          <p:cNvPr id="35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fontScale="96000"/>
          </a:bodyPr>
          <a:lstStyle/>
          <a:p>
            <a:pPr marL="432000" indent="-324000">
              <a:spcBef>
                <a:spcPts val="1417"/>
              </a:spcBef>
              <a:buClr>
                <a:srgbClr val="000000"/>
              </a:buClr>
              <a:buSzPct val="45000"/>
              <a:buFont typeface="Wingdings" charset="2"/>
              <a:buChar char=""/>
            </a:pPr>
            <a:r>
              <a:rPr lang="fr-FR" sz="3200" b="0" strike="noStrike" spc="-1">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latin typeface="Arial"/>
              </a:rPr>
              <a:t>Septième niveau de plan</a:t>
            </a:r>
          </a:p>
        </p:txBody>
      </p:sp>
      <p:pic>
        <p:nvPicPr>
          <p:cNvPr id="47" name="Image 46">
            <a:extLst>
              <a:ext uri="{FF2B5EF4-FFF2-40B4-BE49-F238E27FC236}">
                <a16:creationId xmlns:a16="http://schemas.microsoft.com/office/drawing/2014/main" id="{49915301-EDCB-454C-889A-8A57FAEFF6FF}"/>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46209" y="44282"/>
            <a:ext cx="1438781" cy="573074"/>
          </a:xfrm>
          <a:prstGeom prst="rect">
            <a:avLst/>
          </a:prstGeom>
        </p:spPr>
      </p:pic>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5.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5.xml"/><Relationship Id="rId5" Type="http://schemas.microsoft.com/office/2007/relationships/hdphoto" Target="../media/hdphoto1.wdp"/><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5.xml"/><Relationship Id="rId5" Type="http://schemas.openxmlformats.org/officeDocument/2006/relationships/image" Target="../media/image8.png"/><Relationship Id="rId4" Type="http://schemas.microsoft.com/office/2007/relationships/hdphoto" Target="../media/hdphoto2.wdp"/></Relationships>
</file>

<file path=ppt/slides/_rels/slide1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5.xml"/><Relationship Id="rId5" Type="http://schemas.openxmlformats.org/officeDocument/2006/relationships/image" Target="../media/image14.jpg"/><Relationship Id="rId4"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https://www.bojankomazec.com/2020/09/how-to-install-anaconda-on-ubuntu.html" TargetMode="External"/><Relationship Id="rId7" Type="http://schemas.openxmlformats.org/officeDocument/2006/relationships/hyperlink" Target="https://www.marcosbox.org/2019/04/visual-studio-code-snap.html" TargetMode="External"/><Relationship Id="rId2" Type="http://schemas.openxmlformats.org/officeDocument/2006/relationships/image" Target="../media/image16.png"/><Relationship Id="rId1" Type="http://schemas.openxmlformats.org/officeDocument/2006/relationships/slideLayout" Target="../slideLayouts/slideLayout25.xml"/><Relationship Id="rId6" Type="http://schemas.openxmlformats.org/officeDocument/2006/relationships/image" Target="../media/image18.png"/><Relationship Id="rId11" Type="http://schemas.openxmlformats.org/officeDocument/2006/relationships/image" Target="../media/image21.png"/><Relationship Id="rId5" Type="http://schemas.openxmlformats.org/officeDocument/2006/relationships/hyperlink" Target="https://www.marcus-povey.co.uk/2015/08/20/fixing-firefox-sync-on-debian-jessie/" TargetMode="External"/><Relationship Id="rId10" Type="http://schemas.openxmlformats.org/officeDocument/2006/relationships/hyperlink" Target="https://www.callysto.ca/callysto/" TargetMode="External"/><Relationship Id="rId4" Type="http://schemas.openxmlformats.org/officeDocument/2006/relationships/image" Target="../media/image17.png"/><Relationship Id="rId9"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9.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5.xml"/></Relationships>
</file>

<file path=ppt/slides/_rels/slide6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5.xml"/><Relationship Id="rId4" Type="http://schemas.openxmlformats.org/officeDocument/2006/relationships/image" Target="../media/image33.png"/></Relationships>
</file>

<file path=ppt/slides/_rels/slide7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5.xml"/><Relationship Id="rId5" Type="http://schemas.openxmlformats.org/officeDocument/2006/relationships/image" Target="../media/image35.png"/><Relationship Id="rId4" Type="http://schemas.openxmlformats.org/officeDocument/2006/relationships/image" Target="../media/image3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5.xml"/></Relationships>
</file>

<file path=ppt/slides/_rels/slide8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3.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5.xml"/></Relationships>
</file>

<file path=ppt/slides/_rels/slide84.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5.xml"/></Relationships>
</file>

<file path=ppt/slides/_rels/slide85.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5.xml"/></Relationships>
</file>

<file path=ppt/slides/_rels/slide86.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8.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25.xml"/><Relationship Id="rId5" Type="http://schemas.openxmlformats.org/officeDocument/2006/relationships/image" Target="../media/image4.svg"/><Relationship Id="rId4" Type="http://schemas.openxmlformats.org/officeDocument/2006/relationships/image" Target="../media/image3.png"/></Relationships>
</file>

<file path=ppt/slides/_rels/slide8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0.png"/><Relationship Id="rId1" Type="http://schemas.openxmlformats.org/officeDocument/2006/relationships/slideLayout" Target="../slideLayouts/slideLayout25.xml"/><Relationship Id="rId4" Type="http://schemas.openxmlformats.org/officeDocument/2006/relationships/image" Target="../media/image40.png"/></Relationships>
</file>

<file path=ppt/slides/_rels/slide9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5.xml"/><Relationship Id="rId5" Type="http://schemas.openxmlformats.org/officeDocument/2006/relationships/image" Target="../media/image46.png"/><Relationship Id="rId4" Type="http://schemas.openxmlformats.org/officeDocument/2006/relationships/image" Target="../media/image45.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5.xml"/><Relationship Id="rId5" Type="http://schemas.openxmlformats.org/officeDocument/2006/relationships/image" Target="../media/image50.png"/><Relationship Id="rId4" Type="http://schemas.openxmlformats.org/officeDocument/2006/relationships/image" Target="../media/image49.png"/></Relationships>
</file>

<file path=ppt/slides/_rels/slide10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1.png"/><Relationship Id="rId1" Type="http://schemas.openxmlformats.org/officeDocument/2006/relationships/slideLayout" Target="../slideLayouts/slideLayout25.xml"/><Relationship Id="rId4" Type="http://schemas.openxmlformats.org/officeDocument/2006/relationships/image" Target="../media/image50.png"/></Relationships>
</file>

<file path=ppt/slides/_rels/slide10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5.xml"/></Relationships>
</file>

<file path=ppt/slides/_rels/slide10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5.xml"/><Relationship Id="rId4" Type="http://schemas.openxmlformats.org/officeDocument/2006/relationships/image" Target="../media/image55.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5.xml"/></Relationships>
</file>

<file path=ppt/slides/_rels/slide10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5.xml"/></Relationships>
</file>

<file path=ppt/slides/_rels/slide11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5.xml"/></Relationships>
</file>

<file path=ppt/slides/_rels/slide11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5.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11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5.xml"/></Relationships>
</file>

<file path=ppt/slides/_rels/slide12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5.xml"/></Relationships>
</file>

<file path=ppt/slides/_rels/slide12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5.xml"/></Relationships>
</file>

<file path=ppt/slides/_rels/slide12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5.xml"/></Relationships>
</file>

<file path=ppt/slides/_rels/slide13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5.xml"/></Relationships>
</file>

<file path=ppt/slides/_rels/slide13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59.png"/><Relationship Id="rId1" Type="http://schemas.openxmlformats.org/officeDocument/2006/relationships/slideLayout" Target="../slideLayouts/slideLayout25.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61.png"/><Relationship Id="rId9" Type="http://schemas.openxmlformats.org/officeDocument/2006/relationships/image" Target="../media/image570.png"/></Relationships>
</file>

<file path=ppt/slides/_rels/slide13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5.xml"/><Relationship Id="rId6" Type="http://schemas.openxmlformats.org/officeDocument/2006/relationships/image" Target="../media/image64.png"/><Relationship Id="rId5" Type="http://schemas.openxmlformats.org/officeDocument/2006/relationships/image" Target="../media/image590.png"/></Relationships>
</file>

<file path=ppt/slides/_rels/slide13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5.xml"/></Relationships>
</file>

<file path=ppt/slides/_rels/slide13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5.xml"/><Relationship Id="rId6" Type="http://schemas.openxmlformats.org/officeDocument/2006/relationships/image" Target="../media/image761.png"/><Relationship Id="rId5" Type="http://schemas.openxmlformats.org/officeDocument/2006/relationships/image" Target="../media/image610.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5.xml"/><Relationship Id="rId6" Type="http://schemas.openxmlformats.org/officeDocument/2006/relationships/image" Target="../media/image77.png"/><Relationship Id="rId5" Type="http://schemas.openxmlformats.org/officeDocument/2006/relationships/image" Target="../media/image610.png"/><Relationship Id="rId4" Type="http://schemas.openxmlformats.org/officeDocument/2006/relationships/image" Target="../media/image580.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5.xml"/><Relationship Id="rId6" Type="http://schemas.openxmlformats.org/officeDocument/2006/relationships/image" Target="../media/image78.png"/><Relationship Id="rId5" Type="http://schemas.openxmlformats.org/officeDocument/2006/relationships/image" Target="../media/image610.png"/><Relationship Id="rId4" Type="http://schemas.openxmlformats.org/officeDocument/2006/relationships/image" Target="../media/image580.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5.xml"/><Relationship Id="rId6" Type="http://schemas.openxmlformats.org/officeDocument/2006/relationships/image" Target="../media/image79.png"/><Relationship Id="rId5" Type="http://schemas.openxmlformats.org/officeDocument/2006/relationships/image" Target="../media/image610.png"/><Relationship Id="rId4" Type="http://schemas.openxmlformats.org/officeDocument/2006/relationships/image" Target="../media/image580.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5.xml"/><Relationship Id="rId6" Type="http://schemas.openxmlformats.org/officeDocument/2006/relationships/image" Target="../media/image80.png"/><Relationship Id="rId5" Type="http://schemas.openxmlformats.org/officeDocument/2006/relationships/image" Target="../media/image610.png"/><Relationship Id="rId4" Type="http://schemas.openxmlformats.org/officeDocument/2006/relationships/image" Target="../media/image580.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5.xml"/></Relationships>
</file>

<file path=ppt/slides/_rels/slide144.xml.rels><?xml version="1.0" encoding="UTF-8" standalone="yes"?>
<Relationships xmlns="http://schemas.openxmlformats.org/package/2006/relationships"><Relationship Id="rId8" Type="http://schemas.openxmlformats.org/officeDocument/2006/relationships/image" Target="../media/image730.png"/><Relationship Id="rId13" Type="http://schemas.openxmlformats.org/officeDocument/2006/relationships/image" Target="../media/image780.png"/><Relationship Id="rId7" Type="http://schemas.openxmlformats.org/officeDocument/2006/relationships/image" Target="../media/image720.png"/><Relationship Id="rId12" Type="http://schemas.openxmlformats.org/officeDocument/2006/relationships/image" Target="../media/image770.png"/><Relationship Id="rId16" Type="http://schemas.openxmlformats.org/officeDocument/2006/relationships/image" Target="../media/image85.png"/><Relationship Id="rId1" Type="http://schemas.openxmlformats.org/officeDocument/2006/relationships/slideLayout" Target="../slideLayouts/slideLayout25.xml"/><Relationship Id="rId6" Type="http://schemas.openxmlformats.org/officeDocument/2006/relationships/image" Target="../media/image710.png"/><Relationship Id="rId11" Type="http://schemas.openxmlformats.org/officeDocument/2006/relationships/image" Target="../media/image760.png"/><Relationship Id="rId5" Type="http://schemas.openxmlformats.org/officeDocument/2006/relationships/image" Target="../media/image700.png"/><Relationship Id="rId15" Type="http://schemas.openxmlformats.org/officeDocument/2006/relationships/image" Target="../media/image84.png"/><Relationship Id="rId10" Type="http://schemas.openxmlformats.org/officeDocument/2006/relationships/image" Target="../media/image750.png"/><Relationship Id="rId4" Type="http://schemas.openxmlformats.org/officeDocument/2006/relationships/image" Target="../media/image690.png"/><Relationship Id="rId9" Type="http://schemas.openxmlformats.org/officeDocument/2006/relationships/image" Target="../media/image740.png"/><Relationship Id="rId14" Type="http://schemas.openxmlformats.org/officeDocument/2006/relationships/image" Target="../media/image83.png"/></Relationships>
</file>

<file path=ppt/slides/_rels/slide14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5.xml"/><Relationship Id="rId5" Type="http://schemas.openxmlformats.org/officeDocument/2006/relationships/image" Target="../media/image87.png"/><Relationship Id="rId4" Type="http://schemas.openxmlformats.org/officeDocument/2006/relationships/image" Target="../media/image830.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5.xml"/></Relationships>
</file>

<file path=ppt/slides/_rels/slide16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5.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5.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5.xml"/></Relationships>
</file>

<file path=ppt/slides/_rels/slide166.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5.xml"/></Relationships>
</file>

<file path=ppt/slides/_rels/slide16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5.xml"/><Relationship Id="rId4" Type="http://schemas.openxmlformats.org/officeDocument/2006/relationships/image" Target="../media/image98.png"/></Relationships>
</file>

<file path=ppt/slides/_rels/slide168.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9.png"/><Relationship Id="rId7" Type="http://schemas.openxmlformats.org/officeDocument/2006/relationships/image" Target="../media/image101.png"/><Relationship Id="rId2" Type="http://schemas.openxmlformats.org/officeDocument/2006/relationships/image" Target="../media/image70.png"/><Relationship Id="rId1" Type="http://schemas.openxmlformats.org/officeDocument/2006/relationships/slideLayout" Target="../slideLayouts/slideLayout25.xml"/><Relationship Id="rId6" Type="http://schemas.openxmlformats.org/officeDocument/2006/relationships/image" Target="../media/image100.png"/><Relationship Id="rId5" Type="http://schemas.openxmlformats.org/officeDocument/2006/relationships/image" Target="../media/image98.png"/><Relationship Id="rId4" Type="http://schemas.openxmlformats.org/officeDocument/2006/relationships/image" Target="../media/image97.png"/></Relationships>
</file>

<file path=ppt/slides/_rels/slide16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5.xml"/></Relationships>
</file>

<file path=ppt/slides/_rels/slide170.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5.xml"/><Relationship Id="rId5" Type="http://schemas.openxmlformats.org/officeDocument/2006/relationships/image" Target="../media/image95.png"/><Relationship Id="rId4" Type="http://schemas.openxmlformats.org/officeDocument/2006/relationships/image" Target="../media/image98.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7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5.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1.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5.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6.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5.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8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5.xml"/></Relationships>
</file>

<file path=ppt/slides/_rels/slide190.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5.xml"/></Relationships>
</file>

<file path=ppt/slides/_rels/slide191.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5.xml"/></Relationships>
</file>

<file path=ppt/slides/_rels/slide19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5.xml"/></Relationships>
</file>

<file path=ppt/slides/_rels/slide193.xml.rels><?xml version="1.0" encoding="UTF-8" standalone="yes"?>
<Relationships xmlns="http://schemas.openxmlformats.org/package/2006/relationships"><Relationship Id="rId7" Type="http://schemas.openxmlformats.org/officeDocument/2006/relationships/image" Target="../media/image115.png"/><Relationship Id="rId2" Type="http://schemas.openxmlformats.org/officeDocument/2006/relationships/image" Target="../media/image111.png"/><Relationship Id="rId1" Type="http://schemas.openxmlformats.org/officeDocument/2006/relationships/slideLayout" Target="../slideLayouts/slideLayout25.xml"/><Relationship Id="rId6" Type="http://schemas.openxmlformats.org/officeDocument/2006/relationships/image" Target="../media/image114.png"/><Relationship Id="rId5" Type="http://schemas.openxmlformats.org/officeDocument/2006/relationships/image" Target="../media/image113.png"/></Relationships>
</file>

<file path=ppt/slides/_rels/slide194.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2.png"/><Relationship Id="rId1" Type="http://schemas.openxmlformats.org/officeDocument/2006/relationships/slideLayout" Target="../slideLayouts/slideLayout25.xml"/><Relationship Id="rId6" Type="http://schemas.openxmlformats.org/officeDocument/2006/relationships/image" Target="../media/image118.png"/></Relationships>
</file>

<file path=ppt/slides/_rels/slide195.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5.xml"/><Relationship Id="rId5" Type="http://schemas.openxmlformats.org/officeDocument/2006/relationships/image" Target="../media/image121.png"/><Relationship Id="rId4" Type="http://schemas.openxmlformats.org/officeDocument/2006/relationships/image" Target="../media/image120.png"/></Relationships>
</file>

<file path=ppt/slides/_rels/slide197.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5.xml"/></Relationships>
</file>

<file path=ppt/slides/_rels/slide198.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5.xml"/></Relationships>
</file>

<file path=ppt/slides/_rels/slide199.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5.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1.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5.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3.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5.xml"/><Relationship Id="rId5" Type="http://schemas.openxmlformats.org/officeDocument/2006/relationships/image" Target="../media/image1250.png"/></Relationships>
</file>

<file path=ppt/slides/_rels/slide204.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5.xml"/><Relationship Id="rId5" Type="http://schemas.openxmlformats.org/officeDocument/2006/relationships/image" Target="../media/image127.png"/></Relationships>
</file>

<file path=ppt/slides/_rels/slide205.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5.xml"/><Relationship Id="rId5" Type="http://schemas.openxmlformats.org/officeDocument/2006/relationships/image" Target="../media/image127.png"/></Relationships>
</file>

<file path=ppt/slides/_rels/slide206.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5.xml"/><Relationship Id="rId5" Type="http://schemas.openxmlformats.org/officeDocument/2006/relationships/image" Target="../media/image127.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5.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5.xml"/></Relationships>
</file>

<file path=ppt/slides/_rels/slide213.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25.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5.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3.png"/><Relationship Id="rId1" Type="http://schemas.openxmlformats.org/officeDocument/2006/relationships/slideLayout" Target="../slideLayouts/slideLayout25.xml"/></Relationships>
</file>

<file path=ppt/slides/_rels/slide216.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4.png"/><Relationship Id="rId1" Type="http://schemas.openxmlformats.org/officeDocument/2006/relationships/slideLayout" Target="../slideLayouts/slideLayout25.xml"/></Relationships>
</file>

<file path=ppt/slides/_rels/slide217.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5.png"/><Relationship Id="rId1" Type="http://schemas.openxmlformats.org/officeDocument/2006/relationships/slideLayout" Target="../slideLayouts/slideLayout25.xml"/></Relationships>
</file>

<file path=ppt/slides/_rels/slide218.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5.xml"/></Relationships>
</file>

<file path=ppt/slides/_rels/slide219.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5.xml"/></Relationships>
</file>

<file path=ppt/slides/_rels/slide220.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25.xml"/></Relationships>
</file>

<file path=ppt/slides/_rels/slide22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41.png"/><Relationship Id="rId1" Type="http://schemas.openxmlformats.org/officeDocument/2006/relationships/slideLayout" Target="../slideLayouts/slideLayout25.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5.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8.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5.xml"/></Relationships>
</file>

<file path=ppt/slides/_rels/slide229.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5.xml"/></Relationships>
</file>

<file path=ppt/slides/_rels/slide230.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145.png"/><Relationship Id="rId7" Type="http://schemas.openxmlformats.org/officeDocument/2006/relationships/image" Target="../media/image149.png"/><Relationship Id="rId2" Type="http://schemas.openxmlformats.org/officeDocument/2006/relationships/image" Target="../media/image144.png"/><Relationship Id="rId1" Type="http://schemas.openxmlformats.org/officeDocument/2006/relationships/slideLayout" Target="../slideLayouts/slideLayout25.xml"/><Relationship Id="rId6" Type="http://schemas.openxmlformats.org/officeDocument/2006/relationships/image" Target="../media/image148.png"/><Relationship Id="rId5" Type="http://schemas.openxmlformats.org/officeDocument/2006/relationships/image" Target="../media/image147.png"/><Relationship Id="rId4" Type="http://schemas.openxmlformats.org/officeDocument/2006/relationships/image" Target="../media/image146.png"/><Relationship Id="rId9" Type="http://schemas.openxmlformats.org/officeDocument/2006/relationships/image" Target="../media/image151.sv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3.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25.xml"/></Relationships>
</file>

<file path=ppt/slides/_rels/slide234.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235.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23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4.xml"/><Relationship Id="rId1" Type="http://schemas.openxmlformats.org/officeDocument/2006/relationships/slideLayout" Target="../slideLayouts/slideLayout25.xml"/><Relationship Id="rId4" Type="http://schemas.openxmlformats.org/officeDocument/2006/relationships/image" Target="../media/image156.png"/></Relationships>
</file>

<file path=ppt/slides/_rels/slide237.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241.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24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5.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26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5.xml"/></Relationships>
</file>

<file path=ppt/slides/_rels/slide26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5.xml"/></Relationships>
</file>

<file path=ppt/slides/_rels/slide26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26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5.xml"/></Relationships>
</file>

<file path=ppt/slides/_rels/slide26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5.xml"/></Relationships>
</file>

<file path=ppt/slides/_rels/slide26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5.xml"/></Relationships>
</file>

<file path=ppt/slides/_rels/slide26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5.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5.xml"/></Relationships>
</file>

<file path=ppt/slides/_rels/slide272.xml.rels><?xml version="1.0" encoding="UTF-8" standalone="yes"?>
<Relationships xmlns="http://schemas.openxmlformats.org/package/2006/relationships"><Relationship Id="rId3" Type="http://schemas.openxmlformats.org/officeDocument/2006/relationships/hyperlink" Target="https://www.anaconda.com/" TargetMode="External"/><Relationship Id="rId2" Type="http://schemas.openxmlformats.org/officeDocument/2006/relationships/notesSlide" Target="../notesSlides/notesSlide34.xml"/><Relationship Id="rId1" Type="http://schemas.openxmlformats.org/officeDocument/2006/relationships/slideLayout" Target="../slideLayouts/slideLayout25.xml"/></Relationships>
</file>

<file path=ppt/slides/_rels/slide273.xml.rels><?xml version="1.0" encoding="UTF-8" standalone="yes"?>
<Relationships xmlns="http://schemas.openxmlformats.org/package/2006/relationships"><Relationship Id="rId3" Type="http://schemas.openxmlformats.org/officeDocument/2006/relationships/hyperlink" Target="https://colab.research.google.com/" TargetMode="External"/><Relationship Id="rId2" Type="http://schemas.openxmlformats.org/officeDocument/2006/relationships/notesSlide" Target="../notesSlides/notesSlide35.xml"/><Relationship Id="rId1" Type="http://schemas.openxmlformats.org/officeDocument/2006/relationships/slideLayout" Target="../slideLayouts/slideLayout25.xml"/><Relationship Id="rId5" Type="http://schemas.openxmlformats.org/officeDocument/2006/relationships/image" Target="../media/image160.png"/><Relationship Id="rId4" Type="http://schemas.openxmlformats.org/officeDocument/2006/relationships/image" Target="../media/image159.png"/></Relationships>
</file>

<file path=ppt/slides/_rels/slide274.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5.xml"/></Relationships>
</file>

<file path=ppt/slides/_rels/slide275.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7.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25.xml"/></Relationships>
</file>

<file path=ppt/slides/_rels/slide278.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64.png"/><Relationship Id="rId1" Type="http://schemas.openxmlformats.org/officeDocument/2006/relationships/slideLayout" Target="../slideLayouts/slideLayout25.xml"/><Relationship Id="rId4" Type="http://schemas.openxmlformats.org/officeDocument/2006/relationships/image" Target="../media/image166.pn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5.xml"/></Relationships>
</file>

<file path=ppt/slides/_rels/slide281.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25.xml"/></Relationships>
</file>

<file path=ppt/slides/_rels/slide282.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25.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84.xml.rels><?xml version="1.0" encoding="UTF-8" standalone="yes"?>
<Relationships xmlns="http://schemas.openxmlformats.org/package/2006/relationships"><Relationship Id="rId3" Type="http://schemas.openxmlformats.org/officeDocument/2006/relationships/image" Target="../media/image169.jpg"/><Relationship Id="rId2" Type="http://schemas.openxmlformats.org/officeDocument/2006/relationships/image" Target="../media/image169.png"/><Relationship Id="rId1" Type="http://schemas.openxmlformats.org/officeDocument/2006/relationships/slideLayout" Target="../slideLayouts/slideLayout25.xml"/><Relationship Id="rId4" Type="http://schemas.openxmlformats.org/officeDocument/2006/relationships/hyperlink" Target="https://pxhere.com/es/photo/1524615" TargetMode="External"/></Relationships>
</file>

<file path=ppt/slides/_rels/slide285.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5.xml"/></Relationships>
</file>

<file path=ppt/slides/_rels/slide286.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25.xml"/></Relationships>
</file>

<file path=ppt/slides/_rels/slide287.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25.xml"/></Relationships>
</file>

<file path=ppt/slides/_rels/slide288.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25.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0.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5.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3.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25.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9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5.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00.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25.xml"/></Relationships>
</file>

<file path=ppt/slides/_rels/slide301.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38.xml"/><Relationship Id="rId1" Type="http://schemas.openxmlformats.org/officeDocument/2006/relationships/slideLayout" Target="../slideLayouts/slideLayout25.xml"/><Relationship Id="rId5" Type="http://schemas.openxmlformats.org/officeDocument/2006/relationships/image" Target="../media/image179.png"/><Relationship Id="rId4" Type="http://schemas.openxmlformats.org/officeDocument/2006/relationships/image" Target="../media/image177.png"/></Relationships>
</file>

<file path=ppt/slides/_rels/slide302.xml.rels><?xml version="1.0" encoding="UTF-8" standalone="yes"?>
<Relationships xmlns="http://schemas.openxmlformats.org/package/2006/relationships"><Relationship Id="rId2" Type="http://schemas.openxmlformats.org/officeDocument/2006/relationships/image" Target="../media/image180.gif"/><Relationship Id="rId1" Type="http://schemas.openxmlformats.org/officeDocument/2006/relationships/slideLayout" Target="../slideLayouts/slideLayout25.xml"/></Relationships>
</file>

<file path=ppt/slides/_rels/slide303.xml.rels><?xml version="1.0" encoding="UTF-8" standalone="yes"?>
<Relationships xmlns="http://schemas.openxmlformats.org/package/2006/relationships"><Relationship Id="rId2" Type="http://schemas.openxmlformats.org/officeDocument/2006/relationships/image" Target="../media/image180.gif"/><Relationship Id="rId1" Type="http://schemas.openxmlformats.org/officeDocument/2006/relationships/slideLayout" Target="../slideLayouts/slideLayout25.xml"/></Relationships>
</file>

<file path=ppt/slides/_rels/slide304.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25.xml"/></Relationships>
</file>

<file path=ppt/slides/_rels/slide305.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25.xml"/></Relationships>
</file>

<file path=ppt/slides/_rels/slide306.xml.rels><?xml version="1.0" encoding="UTF-8" standalone="yes"?>
<Relationships xmlns="http://schemas.openxmlformats.org/package/2006/relationships"><Relationship Id="rId3" Type="http://schemas.openxmlformats.org/officeDocument/2006/relationships/hyperlink" Target="https://creativecommons.org/licenses/by/3.0/" TargetMode="External"/><Relationship Id="rId2" Type="http://schemas.openxmlformats.org/officeDocument/2006/relationships/hyperlink" Target="https://necromuralist.github.io/Neurotic-Networking/posts/nano/introduction-to-neural-networks/gradient-descent-practice/index.html" TargetMode="External"/><Relationship Id="rId1" Type="http://schemas.openxmlformats.org/officeDocument/2006/relationships/slideLayout" Target="../slideLayouts/slideLayout25.xml"/><Relationship Id="rId6" Type="http://schemas.openxmlformats.org/officeDocument/2006/relationships/image" Target="../media/image185.png"/><Relationship Id="rId5" Type="http://schemas.openxmlformats.org/officeDocument/2006/relationships/image" Target="../media/image184.png"/><Relationship Id="rId4" Type="http://schemas.openxmlformats.org/officeDocument/2006/relationships/image" Target="../media/image183.png"/></Relationships>
</file>

<file path=ppt/slides/_rels/slide307.xml.rels><?xml version="1.0" encoding="UTF-8" standalone="yes"?>
<Relationships xmlns="http://schemas.openxmlformats.org/package/2006/relationships"><Relationship Id="rId2" Type="http://schemas.openxmlformats.org/officeDocument/2006/relationships/image" Target="../media/image186.png"/><Relationship Id="rId1" Type="http://schemas.openxmlformats.org/officeDocument/2006/relationships/slideLayout" Target="../slideLayouts/slideLayout25.xml"/></Relationships>
</file>

<file path=ppt/slides/_rels/slide308.xml.rels><?xml version="1.0" encoding="UTF-8" standalone="yes"?>
<Relationships xmlns="http://schemas.openxmlformats.org/package/2006/relationships"><Relationship Id="rId2" Type="http://schemas.openxmlformats.org/officeDocument/2006/relationships/image" Target="../media/image187.png"/><Relationship Id="rId1" Type="http://schemas.openxmlformats.org/officeDocument/2006/relationships/slideLayout" Target="../slideLayouts/slideLayout25.xml"/></Relationships>
</file>

<file path=ppt/slides/_rels/slide309.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25.xml"/></Relationships>
</file>

<file path=ppt/slides/_rels/slide310.xml.rels><?xml version="1.0" encoding="UTF-8" standalone="yes"?>
<Relationships xmlns="http://schemas.openxmlformats.org/package/2006/relationships"><Relationship Id="rId2" Type="http://schemas.openxmlformats.org/officeDocument/2006/relationships/image" Target="../media/image189.png"/><Relationship Id="rId1" Type="http://schemas.openxmlformats.org/officeDocument/2006/relationships/slideLayout" Target="../slideLayouts/slideLayout25.xml"/></Relationships>
</file>

<file path=ppt/slides/_rels/slide311.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91.png"/><Relationship Id="rId1" Type="http://schemas.openxmlformats.org/officeDocument/2006/relationships/slideLayout" Target="../slideLayouts/slideLayout25.xml"/></Relationships>
</file>

<file path=ppt/slides/_rels/slide312.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image" Target="../media/image192.png"/><Relationship Id="rId1" Type="http://schemas.openxmlformats.org/officeDocument/2006/relationships/slideLayout" Target="../slideLayouts/slideLayout25.xml"/></Relationships>
</file>

<file path=ppt/slides/_rels/slide313.xml.rels><?xml version="1.0" encoding="UTF-8" standalone="yes"?>
<Relationships xmlns="http://schemas.openxmlformats.org/package/2006/relationships"><Relationship Id="rId2" Type="http://schemas.openxmlformats.org/officeDocument/2006/relationships/image" Target="../media/image194.png"/><Relationship Id="rId1" Type="http://schemas.openxmlformats.org/officeDocument/2006/relationships/slideLayout" Target="../slideLayouts/slideLayout25.xml"/></Relationships>
</file>

<file path=ppt/slides/_rels/slide314.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25.xml"/></Relationships>
</file>

<file path=ppt/slides/_rels/slide315.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25.xml"/></Relationships>
</file>

<file path=ppt/slides/_rels/slide316.xml.rels><?xml version="1.0" encoding="UTF-8" standalone="yes"?>
<Relationships xmlns="http://schemas.openxmlformats.org/package/2006/relationships"><Relationship Id="rId2" Type="http://schemas.openxmlformats.org/officeDocument/2006/relationships/image" Target="../media/image197.png"/><Relationship Id="rId1" Type="http://schemas.openxmlformats.org/officeDocument/2006/relationships/slideLayout" Target="../slideLayouts/slideLayout25.xml"/></Relationships>
</file>

<file path=ppt/slides/_rels/slide317.xml.rels><?xml version="1.0" encoding="UTF-8" standalone="yes"?>
<Relationships xmlns="http://schemas.openxmlformats.org/package/2006/relationships"><Relationship Id="rId2" Type="http://schemas.openxmlformats.org/officeDocument/2006/relationships/image" Target="../media/image198.png"/><Relationship Id="rId1" Type="http://schemas.openxmlformats.org/officeDocument/2006/relationships/slideLayout" Target="../slideLayouts/slideLayout25.xml"/></Relationships>
</file>

<file path=ppt/slides/_rels/slide318.xml.rels><?xml version="1.0" encoding="UTF-8" standalone="yes"?>
<Relationships xmlns="http://schemas.openxmlformats.org/package/2006/relationships"><Relationship Id="rId2" Type="http://schemas.openxmlformats.org/officeDocument/2006/relationships/image" Target="../media/image198.png"/><Relationship Id="rId1" Type="http://schemas.openxmlformats.org/officeDocument/2006/relationships/slideLayout" Target="../slideLayouts/slideLayout25.xml"/></Relationships>
</file>

<file path=ppt/slides/_rels/slide319.xml.rels><?xml version="1.0" encoding="UTF-8" standalone="yes"?>
<Relationships xmlns="http://schemas.openxmlformats.org/package/2006/relationships"><Relationship Id="rId2" Type="http://schemas.openxmlformats.org/officeDocument/2006/relationships/image" Target="../media/image199.png"/><Relationship Id="rId1" Type="http://schemas.openxmlformats.org/officeDocument/2006/relationships/slideLayout" Target="../slideLayouts/slideLayout25.xml"/></Relationships>
</file>

<file path=ppt/slides/_rels/slide320.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25.xml"/></Relationships>
</file>

<file path=ppt/slides/_rels/slide321.xml.rels><?xml version="1.0" encoding="UTF-8" standalone="yes"?>
<Relationships xmlns="http://schemas.openxmlformats.org/package/2006/relationships"><Relationship Id="rId2" Type="http://schemas.openxmlformats.org/officeDocument/2006/relationships/image" Target="../media/image202.png"/><Relationship Id="rId1" Type="http://schemas.openxmlformats.org/officeDocument/2006/relationships/slideLayout" Target="../slideLayouts/slideLayout25.xml"/></Relationships>
</file>

<file path=ppt/slides/_rels/slide322.xml.rels><?xml version="1.0" encoding="UTF-8" standalone="yes"?>
<Relationships xmlns="http://schemas.openxmlformats.org/package/2006/relationships"><Relationship Id="rId2" Type="http://schemas.openxmlformats.org/officeDocument/2006/relationships/image" Target="../media/image203.png"/><Relationship Id="rId1" Type="http://schemas.openxmlformats.org/officeDocument/2006/relationships/slideLayout" Target="../slideLayouts/slideLayout25.xml"/></Relationships>
</file>

<file path=ppt/slides/_rels/slide323.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204.png"/><Relationship Id="rId1" Type="http://schemas.openxmlformats.org/officeDocument/2006/relationships/slideLayout" Target="../slideLayouts/slideLayout25.xml"/></Relationships>
</file>

<file path=ppt/slides/_rels/slide324.xml.rels><?xml version="1.0" encoding="UTF-8" standalone="yes"?>
<Relationships xmlns="http://schemas.openxmlformats.org/package/2006/relationships"><Relationship Id="rId2" Type="http://schemas.openxmlformats.org/officeDocument/2006/relationships/image" Target="../media/image206.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 name="Google Shape;700;p37"/>
          <p:cNvSpPr/>
          <p:nvPr/>
        </p:nvSpPr>
        <p:spPr>
          <a:xfrm>
            <a:off x="2779200" y="3081240"/>
            <a:ext cx="3989880" cy="522720"/>
          </a:xfrm>
          <a:prstGeom prst="roundRect">
            <a:avLst>
              <a:gd name="adj" fmla="val 50000"/>
            </a:avLst>
          </a:pr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991" name="PlaceHolder 1"/>
          <p:cNvSpPr>
            <a:spLocks noGrp="1"/>
          </p:cNvSpPr>
          <p:nvPr>
            <p:ph type="title"/>
          </p:nvPr>
        </p:nvSpPr>
        <p:spPr>
          <a:xfrm>
            <a:off x="1742040" y="720000"/>
            <a:ext cx="5962680" cy="1651680"/>
          </a:xfrm>
          <a:prstGeom prst="rect">
            <a:avLst/>
          </a:prstGeom>
          <a:noFill/>
          <a:ln w="0">
            <a:noFill/>
          </a:ln>
        </p:spPr>
        <p:txBody>
          <a:bodyPr lIns="0" tIns="91440" rIns="0" bIns="91440" anchor="t">
            <a:noAutofit/>
          </a:bodyPr>
          <a:lstStyle/>
          <a:p>
            <a:pPr algn="ctr">
              <a:lnSpc>
                <a:spcPct val="100000"/>
              </a:lnSpc>
              <a:buNone/>
              <a:tabLst>
                <a:tab pos="0" algn="l"/>
              </a:tabLst>
            </a:pPr>
            <a:r>
              <a:rPr lang="fr-FR" sz="5000" b="1" strike="noStrike" spc="-1" dirty="0">
                <a:solidFill>
                  <a:srgbClr val="000000"/>
                </a:solidFill>
                <a:latin typeface="Archivo"/>
                <a:ea typeface="Archivo"/>
              </a:rPr>
              <a:t>Machine Learning</a:t>
            </a:r>
            <a:r>
              <a:rPr lang="en" sz="5000" b="1" strike="noStrike" spc="-1" dirty="0">
                <a:solidFill>
                  <a:srgbClr val="000000"/>
                </a:solidFill>
                <a:latin typeface="Archivo"/>
                <a:ea typeface="Archivo"/>
              </a:rPr>
              <a:t> </a:t>
            </a:r>
            <a:r>
              <a:rPr lang="fr-FR" sz="5000" b="1" strike="noStrike" spc="-1" dirty="0">
                <a:solidFill>
                  <a:srgbClr val="224CE6"/>
                </a:solidFill>
                <a:latin typeface="Archivo"/>
                <a:ea typeface="Archivo"/>
              </a:rPr>
              <a:t>avec Python</a:t>
            </a:r>
            <a:endParaRPr lang="fr-FR" sz="5000" b="0" strike="noStrike" spc="-1" dirty="0">
              <a:latin typeface="Arial"/>
            </a:endParaRPr>
          </a:p>
        </p:txBody>
      </p:sp>
      <p:sp>
        <p:nvSpPr>
          <p:cNvPr id="992" name="PlaceHolder 2"/>
          <p:cNvSpPr>
            <a:spLocks noGrp="1"/>
          </p:cNvSpPr>
          <p:nvPr>
            <p:ph type="subTitle"/>
          </p:nvPr>
        </p:nvSpPr>
        <p:spPr>
          <a:xfrm>
            <a:off x="2845080" y="3008880"/>
            <a:ext cx="3857760" cy="432000"/>
          </a:xfrm>
          <a:prstGeom prst="rect">
            <a:avLst/>
          </a:prstGeom>
          <a:noFill/>
          <a:ln w="0">
            <a:noFill/>
          </a:ln>
        </p:spPr>
        <p:txBody>
          <a:bodyPr lIns="0" tIns="91440" rIns="0" bIns="91440" anchor="t">
            <a:noAutofit/>
          </a:bodyPr>
          <a:lstStyle/>
          <a:p>
            <a:pPr algn="ctr">
              <a:lnSpc>
                <a:spcPct val="100000"/>
              </a:lnSpc>
              <a:buNone/>
              <a:tabLst>
                <a:tab pos="0" algn="l"/>
              </a:tabLst>
            </a:pPr>
            <a:r>
              <a:rPr lang="fr-FR" sz="1600" spc="-1" dirty="0">
                <a:solidFill>
                  <a:srgbClr val="FFFFFF"/>
                </a:solidFill>
                <a:latin typeface="Archivo"/>
              </a:rPr>
              <a:t>Joyce MBIGUIDI </a:t>
            </a:r>
            <a:r>
              <a:rPr lang="fr-FR" sz="1600" spc="-1" dirty="0">
                <a:solidFill>
                  <a:srgbClr val="FFFFFF"/>
                </a:solidFill>
                <a:latin typeface="Calibri" panose="020F0502020204030204" pitchFamily="34" charset="0"/>
                <a:cs typeface="Calibri" panose="020F0502020204030204" pitchFamily="34" charset="0"/>
              </a:rPr>
              <a:t>• </a:t>
            </a:r>
            <a:r>
              <a:rPr lang="fr-FR" sz="1600" b="1" spc="-1" dirty="0">
                <a:solidFill>
                  <a:srgbClr val="FFFFFF"/>
                </a:solidFill>
                <a:latin typeface="Archivo"/>
              </a:rPr>
              <a:t>Data Scientist</a:t>
            </a:r>
            <a:endParaRPr lang="fr-FR" sz="1600" b="1" strike="noStrike" spc="-1"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PlaceHolder 6"/>
          <p:cNvSpPr>
            <a:spLocks noGrp="1"/>
          </p:cNvSpPr>
          <p:nvPr>
            <p:ph type="title"/>
          </p:nvPr>
        </p:nvSpPr>
        <p:spPr>
          <a:xfrm>
            <a:off x="4840200" y="3405960"/>
            <a:ext cx="950400" cy="649440"/>
          </a:xfrm>
          <a:prstGeom prst="rect">
            <a:avLst/>
          </a:prstGeom>
          <a:noFill/>
          <a:ln w="0">
            <a:noFill/>
          </a:ln>
        </p:spPr>
        <p:txBody>
          <a:bodyPr lIns="90000" tIns="91440" rIns="90000" bIns="91440" anchor="b">
            <a:noAutofit/>
          </a:bodyPr>
          <a:lstStyle/>
          <a:p>
            <a:pPr algn="ctr">
              <a:lnSpc>
                <a:spcPct val="100000"/>
              </a:lnSpc>
              <a:buNone/>
              <a:tabLst>
                <a:tab pos="0" algn="l"/>
              </a:tabLst>
            </a:pPr>
            <a:r>
              <a:rPr lang="en" sz="3500" b="1" strike="noStrike" spc="-1">
                <a:solidFill>
                  <a:srgbClr val="FFFFFF"/>
                </a:solidFill>
                <a:latin typeface="Archivo"/>
                <a:ea typeface="Archivo"/>
              </a:rPr>
              <a:t>0</a:t>
            </a:r>
            <a:endParaRPr lang="fr-FR" sz="3500" b="0" strike="noStrike" spc="-1" dirty="0">
              <a:latin typeface="Arial"/>
            </a:endParaRPr>
          </a:p>
        </p:txBody>
      </p:sp>
      <p:sp>
        <p:nvSpPr>
          <p:cNvPr id="1031" name="PlaceHolder 8"/>
          <p:cNvSpPr>
            <a:spLocks noGrp="1"/>
          </p:cNvSpPr>
          <p:nvPr>
            <p:ph type="title"/>
          </p:nvPr>
        </p:nvSpPr>
        <p:spPr>
          <a:xfrm>
            <a:off x="713160" y="444960"/>
            <a:ext cx="7716600" cy="571680"/>
          </a:xfrm>
          <a:prstGeom prst="rect">
            <a:avLst/>
          </a:prstGeom>
          <a:noFill/>
          <a:ln w="0">
            <a:noFill/>
          </a:ln>
        </p:spPr>
        <p:txBody>
          <a:bodyPr lIns="0" tIns="0" rIns="0" bIns="0" anchor="b">
            <a:noAutofit/>
          </a:bodyPr>
          <a:lstStyle/>
          <a:p>
            <a:r>
              <a:rPr lang="fr-FR" sz="2100" b="1" dirty="0">
                <a:solidFill>
                  <a:schemeClr val="accent1"/>
                </a:solidFill>
              </a:rPr>
              <a:t>Objectifs pédagogiques</a:t>
            </a:r>
          </a:p>
        </p:txBody>
      </p:sp>
      <p:sp>
        <p:nvSpPr>
          <p:cNvPr id="14" name="PlaceHolder 2">
            <a:extLst>
              <a:ext uri="{FF2B5EF4-FFF2-40B4-BE49-F238E27FC236}">
                <a16:creationId xmlns:a16="http://schemas.microsoft.com/office/drawing/2014/main" id="{160309A9-DA75-4A5C-90C6-8F055AC8AFF7}"/>
              </a:ext>
            </a:extLst>
          </p:cNvPr>
          <p:cNvSpPr txBox="1">
            <a:spLocks/>
          </p:cNvSpPr>
          <p:nvPr/>
        </p:nvSpPr>
        <p:spPr>
          <a:xfrm>
            <a:off x="713160" y="1514520"/>
            <a:ext cx="7573590" cy="3184020"/>
          </a:xfrm>
          <a:prstGeom prst="rect">
            <a:avLst/>
          </a:prstGeom>
          <a:noFill/>
          <a:ln w="0">
            <a:noFill/>
          </a:ln>
        </p:spPr>
        <p:txBody>
          <a:bodyPr lIns="0" tIns="91440" rIns="0" bIns="9144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just">
              <a:lnSpc>
                <a:spcPct val="100000"/>
              </a:lnSpc>
              <a:buClr>
                <a:schemeClr val="accent2"/>
              </a:buClr>
            </a:pPr>
            <a:r>
              <a:rPr lang="fr-FR" sz="1800" dirty="0"/>
              <a:t>Identifier les principaux algorithmes supervisés et non supervisés</a:t>
            </a:r>
          </a:p>
          <a:p>
            <a:pPr lvl="1" algn="just">
              <a:lnSpc>
                <a:spcPct val="100000"/>
              </a:lnSpc>
              <a:buClr>
                <a:schemeClr val="accent2"/>
              </a:buClr>
            </a:pPr>
            <a:r>
              <a:rPr lang="fr-FR" sz="1800" dirty="0"/>
              <a:t>Savoir implémenter des algorithmes supervisés et non supervisés</a:t>
            </a:r>
          </a:p>
          <a:p>
            <a:pPr lvl="1" algn="just">
              <a:lnSpc>
                <a:spcPct val="100000"/>
              </a:lnSpc>
              <a:buClr>
                <a:schemeClr val="accent2"/>
              </a:buClr>
            </a:pPr>
            <a:r>
              <a:rPr lang="fr-FR" sz="1800" dirty="0"/>
              <a:t>Traduire un problème réel en solution opérationnelle</a:t>
            </a:r>
          </a:p>
          <a:p>
            <a:pPr lvl="1" algn="just">
              <a:lnSpc>
                <a:spcPct val="100000"/>
              </a:lnSpc>
              <a:buClr>
                <a:schemeClr val="accent2"/>
              </a:buClr>
            </a:pPr>
            <a:r>
              <a:rPr lang="fr-FR" sz="1800" dirty="0"/>
              <a:t>Choisir l’algorithme le plus approprié face à un problème donné</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Le formateur</a:t>
            </a:r>
          </a:p>
        </p:txBody>
      </p:sp>
    </p:spTree>
    <p:extLst>
      <p:ext uri="{BB962C8B-B14F-4D97-AF65-F5344CB8AC3E}">
        <p14:creationId xmlns:p14="http://schemas.microsoft.com/office/powerpoint/2010/main" val="348430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PlaceHolder 6"/>
          <p:cNvSpPr>
            <a:spLocks noGrp="1"/>
          </p:cNvSpPr>
          <p:nvPr>
            <p:ph type="title"/>
          </p:nvPr>
        </p:nvSpPr>
        <p:spPr>
          <a:xfrm>
            <a:off x="4840200" y="3405960"/>
            <a:ext cx="950400" cy="649440"/>
          </a:xfrm>
          <a:prstGeom prst="rect">
            <a:avLst/>
          </a:prstGeom>
          <a:noFill/>
          <a:ln w="0">
            <a:noFill/>
          </a:ln>
        </p:spPr>
        <p:txBody>
          <a:bodyPr lIns="90000" tIns="91440" rIns="90000" bIns="91440" anchor="b">
            <a:noAutofit/>
          </a:bodyPr>
          <a:lstStyle/>
          <a:p>
            <a:pPr algn="ctr">
              <a:lnSpc>
                <a:spcPct val="100000"/>
              </a:lnSpc>
              <a:buNone/>
              <a:tabLst>
                <a:tab pos="0" algn="l"/>
              </a:tabLst>
            </a:pPr>
            <a:r>
              <a:rPr lang="en" sz="3500" b="1" strike="noStrike" spc="-1">
                <a:solidFill>
                  <a:srgbClr val="FFFFFF"/>
                </a:solidFill>
                <a:latin typeface="Archivo"/>
                <a:ea typeface="Archivo"/>
              </a:rPr>
              <a:t>0</a:t>
            </a:r>
            <a:endParaRPr lang="fr-FR" sz="3500" b="0" strike="noStrike" spc="-1" dirty="0">
              <a:latin typeface="Arial"/>
            </a:endParaRPr>
          </a:p>
        </p:txBody>
      </p:sp>
      <p:pic>
        <p:nvPicPr>
          <p:cNvPr id="3" name="Image 2">
            <a:extLst>
              <a:ext uri="{FF2B5EF4-FFF2-40B4-BE49-F238E27FC236}">
                <a16:creationId xmlns:a16="http://schemas.microsoft.com/office/drawing/2014/main" id="{4DC6588F-05F6-4C81-920D-BBD88D989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26127" y="955422"/>
            <a:ext cx="6844146" cy="3679313"/>
          </a:xfrm>
          <a:prstGeom prst="rect">
            <a:avLst/>
          </a:prstGeom>
        </p:spPr>
      </p:pic>
    </p:spTree>
    <p:extLst>
      <p:ext uri="{BB962C8B-B14F-4D97-AF65-F5344CB8AC3E}">
        <p14:creationId xmlns:p14="http://schemas.microsoft.com/office/powerpoint/2010/main" val="1818060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Déroulement des séances</a:t>
            </a:r>
          </a:p>
        </p:txBody>
      </p:sp>
    </p:spTree>
    <p:extLst>
      <p:ext uri="{BB962C8B-B14F-4D97-AF65-F5344CB8AC3E}">
        <p14:creationId xmlns:p14="http://schemas.microsoft.com/office/powerpoint/2010/main" val="4087920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PlaceHolder 6"/>
          <p:cNvSpPr>
            <a:spLocks noGrp="1"/>
          </p:cNvSpPr>
          <p:nvPr>
            <p:ph type="title"/>
          </p:nvPr>
        </p:nvSpPr>
        <p:spPr>
          <a:xfrm>
            <a:off x="4840200" y="3405960"/>
            <a:ext cx="950400" cy="649440"/>
          </a:xfrm>
          <a:prstGeom prst="rect">
            <a:avLst/>
          </a:prstGeom>
          <a:noFill/>
          <a:ln w="0">
            <a:noFill/>
          </a:ln>
        </p:spPr>
        <p:txBody>
          <a:bodyPr lIns="90000" tIns="91440" rIns="90000" bIns="91440" anchor="b">
            <a:noAutofit/>
          </a:bodyPr>
          <a:lstStyle/>
          <a:p>
            <a:pPr algn="ctr">
              <a:lnSpc>
                <a:spcPct val="100000"/>
              </a:lnSpc>
              <a:buNone/>
              <a:tabLst>
                <a:tab pos="0" algn="l"/>
              </a:tabLst>
            </a:pPr>
            <a:r>
              <a:rPr lang="en" sz="3500" b="1" strike="noStrike" spc="-1">
                <a:solidFill>
                  <a:srgbClr val="FFFFFF"/>
                </a:solidFill>
                <a:latin typeface="Archivo"/>
                <a:ea typeface="Archivo"/>
              </a:rPr>
              <a:t>0</a:t>
            </a:r>
            <a:endParaRPr lang="fr-FR" sz="3500" b="0" strike="noStrike" spc="-1" dirty="0">
              <a:latin typeface="Arial"/>
            </a:endParaRPr>
          </a:p>
        </p:txBody>
      </p:sp>
      <p:sp>
        <p:nvSpPr>
          <p:cNvPr id="5" name="Content Placeholder 15">
            <a:extLst>
              <a:ext uri="{FF2B5EF4-FFF2-40B4-BE49-F238E27FC236}">
                <a16:creationId xmlns:a16="http://schemas.microsoft.com/office/drawing/2014/main" id="{419BC166-0F05-45CC-B532-23C68EBA982E}"/>
              </a:ext>
            </a:extLst>
          </p:cNvPr>
          <p:cNvSpPr txBox="1">
            <a:spLocks/>
          </p:cNvSpPr>
          <p:nvPr/>
        </p:nvSpPr>
        <p:spPr>
          <a:xfrm>
            <a:off x="622836" y="2425356"/>
            <a:ext cx="3794664" cy="15330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just">
              <a:lnSpc>
                <a:spcPct val="100000"/>
              </a:lnSpc>
              <a:buClr>
                <a:schemeClr val="accent2"/>
              </a:buClr>
            </a:pPr>
            <a:r>
              <a:rPr lang="fr-FR" sz="2000" dirty="0"/>
              <a:t>Approche théorique</a:t>
            </a:r>
          </a:p>
          <a:p>
            <a:pPr lvl="1" algn="just">
              <a:lnSpc>
                <a:spcPct val="100000"/>
              </a:lnSpc>
              <a:buClr>
                <a:schemeClr val="accent2"/>
              </a:buClr>
            </a:pPr>
            <a:r>
              <a:rPr lang="fr-FR" sz="2000" dirty="0"/>
              <a:t>Démonstration python</a:t>
            </a:r>
          </a:p>
          <a:p>
            <a:pPr lvl="1" algn="just">
              <a:lnSpc>
                <a:spcPct val="100000"/>
              </a:lnSpc>
              <a:buClr>
                <a:schemeClr val="accent2"/>
              </a:buClr>
            </a:pPr>
            <a:r>
              <a:rPr lang="fr-FR" sz="2000" dirty="0"/>
              <a:t>Conseil &amp; astuces</a:t>
            </a:r>
          </a:p>
          <a:p>
            <a:pPr lvl="1" algn="just">
              <a:lnSpc>
                <a:spcPct val="100000"/>
              </a:lnSpc>
              <a:buClr>
                <a:schemeClr val="accent2"/>
              </a:buClr>
            </a:pPr>
            <a:endParaRPr lang="fr-FR" sz="2000" dirty="0"/>
          </a:p>
        </p:txBody>
      </p:sp>
      <p:sp>
        <p:nvSpPr>
          <p:cNvPr id="6" name="Content Placeholder 15">
            <a:extLst>
              <a:ext uri="{FF2B5EF4-FFF2-40B4-BE49-F238E27FC236}">
                <a16:creationId xmlns:a16="http://schemas.microsoft.com/office/drawing/2014/main" id="{69A6546D-125B-42CD-B4CC-9B62ED17167F}"/>
              </a:ext>
            </a:extLst>
          </p:cNvPr>
          <p:cNvSpPr txBox="1">
            <a:spLocks/>
          </p:cNvSpPr>
          <p:nvPr/>
        </p:nvSpPr>
        <p:spPr>
          <a:xfrm>
            <a:off x="4388988" y="1686587"/>
            <a:ext cx="3794664" cy="1533073"/>
          </a:xfrm>
          <a:prstGeom prst="rect">
            <a:avLst/>
          </a:prstGeom>
        </p:spPr>
        <p:txBody>
          <a:bodyPr>
            <a:normAutofit/>
          </a:bodyPr>
          <a:lstStyle>
            <a:defPPr>
              <a:defRPr lang="fr-FR"/>
            </a:defPPr>
            <a:lvl1pPr marL="228600" indent="-228600">
              <a:lnSpc>
                <a:spcPct val="90000"/>
              </a:lnSpc>
              <a:spcBef>
                <a:spcPts val="1000"/>
              </a:spcBef>
              <a:buFont typeface="Arial" panose="020B0604020202020204" pitchFamily="34" charset="0"/>
              <a:buChar char="•"/>
              <a:defRPr sz="2800"/>
            </a:lvl1pPr>
            <a:lvl2pPr marL="685800" lvl="1" indent="-228600" algn="just">
              <a:lnSpc>
                <a:spcPct val="100000"/>
              </a:lnSpc>
              <a:spcBef>
                <a:spcPts val="500"/>
              </a:spcBef>
              <a:buClr>
                <a:schemeClr val="accent2"/>
              </a:buClr>
              <a:buFont typeface="Arial" panose="020B0604020202020204" pitchFamily="34" charset="0"/>
              <a:buChar char="•"/>
              <a:defRPr sz="20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fr-FR" dirty="0"/>
              <a:t>Exercice pratique</a:t>
            </a:r>
          </a:p>
          <a:p>
            <a:pPr lvl="1"/>
            <a:r>
              <a:rPr lang="fr-FR" dirty="0"/>
              <a:t>Correction des exercices</a:t>
            </a:r>
          </a:p>
          <a:p>
            <a:pPr lvl="1"/>
            <a:endParaRPr lang="fr-FR" dirty="0"/>
          </a:p>
        </p:txBody>
      </p:sp>
      <p:grpSp>
        <p:nvGrpSpPr>
          <p:cNvPr id="9" name="Google Shape;739;p40">
            <a:extLst>
              <a:ext uri="{FF2B5EF4-FFF2-40B4-BE49-F238E27FC236}">
                <a16:creationId xmlns:a16="http://schemas.microsoft.com/office/drawing/2014/main" id="{BD62DC2A-02B8-41B9-BE36-7B0EFC5391D7}"/>
              </a:ext>
            </a:extLst>
          </p:cNvPr>
          <p:cNvGrpSpPr/>
          <p:nvPr/>
        </p:nvGrpSpPr>
        <p:grpSpPr>
          <a:xfrm>
            <a:off x="4440900" y="2762053"/>
            <a:ext cx="4223160" cy="2412000"/>
            <a:chOff x="4402800" y="2778120"/>
            <a:chExt cx="4223160" cy="2412000"/>
          </a:xfrm>
        </p:grpSpPr>
        <p:sp>
          <p:nvSpPr>
            <p:cNvPr id="10" name="Google Shape;740;p40">
              <a:extLst>
                <a:ext uri="{FF2B5EF4-FFF2-40B4-BE49-F238E27FC236}">
                  <a16:creationId xmlns:a16="http://schemas.microsoft.com/office/drawing/2014/main" id="{3B68EC8C-36DD-40E0-8A5F-2853AF4906B3}"/>
                </a:ext>
              </a:extLst>
            </p:cNvPr>
            <p:cNvSpPr/>
            <p:nvPr/>
          </p:nvSpPr>
          <p:spPr>
            <a:xfrm>
              <a:off x="5537880" y="3537000"/>
              <a:ext cx="888840" cy="1613520"/>
            </a:xfrm>
            <a:custGeom>
              <a:avLst/>
              <a:gdLst/>
              <a:ahLst/>
              <a:cxnLst/>
              <a:rect l="l" t="t" r="r" b="b"/>
              <a:pathLst>
                <a:path w="46615" h="84582">
                  <a:moveTo>
                    <a:pt x="4940" y="68152"/>
                  </a:moveTo>
                  <a:cubicBezTo>
                    <a:pt x="6163" y="73315"/>
                    <a:pt x="7961" y="79113"/>
                    <a:pt x="9826" y="84581"/>
                  </a:cubicBezTo>
                  <a:lnTo>
                    <a:pt x="40765" y="84581"/>
                  </a:lnTo>
                  <a:cubicBezTo>
                    <a:pt x="41462" y="82332"/>
                    <a:pt x="42155" y="79918"/>
                    <a:pt x="42814" y="77353"/>
                  </a:cubicBezTo>
                  <a:cubicBezTo>
                    <a:pt x="46615" y="62549"/>
                    <a:pt x="42615" y="49746"/>
                    <a:pt x="39013" y="43944"/>
                  </a:cubicBezTo>
                  <a:cubicBezTo>
                    <a:pt x="35412" y="38143"/>
                    <a:pt x="32311" y="31240"/>
                    <a:pt x="37805" y="22779"/>
                  </a:cubicBezTo>
                  <a:cubicBezTo>
                    <a:pt x="43297" y="14318"/>
                    <a:pt x="43815" y="7734"/>
                    <a:pt x="43815" y="7734"/>
                  </a:cubicBezTo>
                  <a:cubicBezTo>
                    <a:pt x="43014" y="4533"/>
                    <a:pt x="40513" y="3432"/>
                    <a:pt x="34018" y="334"/>
                  </a:cubicBezTo>
                  <a:cubicBezTo>
                    <a:pt x="34018" y="334"/>
                    <a:pt x="33631" y="205"/>
                    <a:pt x="33029" y="1"/>
                  </a:cubicBezTo>
                  <a:cubicBezTo>
                    <a:pt x="31654" y="5586"/>
                    <a:pt x="28751" y="10030"/>
                    <a:pt x="23608" y="10935"/>
                  </a:cubicBezTo>
                  <a:cubicBezTo>
                    <a:pt x="16909" y="12115"/>
                    <a:pt x="10861" y="8028"/>
                    <a:pt x="7802" y="854"/>
                  </a:cubicBezTo>
                  <a:cubicBezTo>
                    <a:pt x="4852" y="1724"/>
                    <a:pt x="1567" y="2652"/>
                    <a:pt x="1" y="3534"/>
                  </a:cubicBezTo>
                  <a:cubicBezTo>
                    <a:pt x="1" y="3534"/>
                    <a:pt x="8204" y="21339"/>
                    <a:pt x="9768" y="31406"/>
                  </a:cubicBezTo>
                  <a:cubicBezTo>
                    <a:pt x="11331" y="41473"/>
                    <a:pt x="1202" y="52346"/>
                    <a:pt x="4940" y="68152"/>
                  </a:cubicBez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11" name="Google Shape;741;p40">
              <a:extLst>
                <a:ext uri="{FF2B5EF4-FFF2-40B4-BE49-F238E27FC236}">
                  <a16:creationId xmlns:a16="http://schemas.microsoft.com/office/drawing/2014/main" id="{E519AF3F-68BB-44CE-9A16-E4CE035A50AC}"/>
                </a:ext>
              </a:extLst>
            </p:cNvPr>
            <p:cNvSpPr/>
            <p:nvPr/>
          </p:nvSpPr>
          <p:spPr>
            <a:xfrm>
              <a:off x="5686560" y="3319920"/>
              <a:ext cx="480600" cy="447120"/>
            </a:xfrm>
            <a:custGeom>
              <a:avLst/>
              <a:gdLst/>
              <a:ahLst/>
              <a:cxnLst/>
              <a:rect l="l" t="t" r="r" b="b"/>
              <a:pathLst>
                <a:path w="25229" h="23488">
                  <a:moveTo>
                    <a:pt x="15807" y="22308"/>
                  </a:moveTo>
                  <a:cubicBezTo>
                    <a:pt x="20949" y="21402"/>
                    <a:pt x="23853" y="16959"/>
                    <a:pt x="25228" y="11372"/>
                  </a:cubicBezTo>
                  <a:cubicBezTo>
                    <a:pt x="23076" y="10644"/>
                    <a:pt x="18014" y="8907"/>
                    <a:pt x="16607" y="8203"/>
                  </a:cubicBezTo>
                  <a:cubicBezTo>
                    <a:pt x="14807" y="7303"/>
                    <a:pt x="15308" y="1"/>
                    <a:pt x="15308" y="1"/>
                  </a:cubicBezTo>
                  <a:lnTo>
                    <a:pt x="5800" y="2714"/>
                  </a:lnTo>
                  <a:lnTo>
                    <a:pt x="5800" y="9804"/>
                  </a:lnTo>
                  <a:cubicBezTo>
                    <a:pt x="5800" y="10469"/>
                    <a:pt x="3083" y="11315"/>
                    <a:pt x="1" y="12227"/>
                  </a:cubicBezTo>
                  <a:cubicBezTo>
                    <a:pt x="3060" y="19401"/>
                    <a:pt x="9108" y="23488"/>
                    <a:pt x="15807" y="22308"/>
                  </a:cubicBezTo>
                  <a:close/>
                </a:path>
              </a:pathLst>
            </a:custGeom>
            <a:solidFill>
              <a:srgbClr val="F8C2C4"/>
            </a:solidFill>
            <a:ln w="0">
              <a:noFill/>
            </a:ln>
          </p:spPr>
          <p:style>
            <a:lnRef idx="0">
              <a:scrgbClr r="0" g="0" b="0"/>
            </a:lnRef>
            <a:fillRef idx="0">
              <a:scrgbClr r="0" g="0" b="0"/>
            </a:fillRef>
            <a:effectRef idx="0">
              <a:scrgbClr r="0" g="0" b="0"/>
            </a:effectRef>
            <a:fontRef idx="minor"/>
          </p:style>
        </p:sp>
        <p:sp>
          <p:nvSpPr>
            <p:cNvPr id="12" name="Google Shape;742;p40">
              <a:extLst>
                <a:ext uri="{FF2B5EF4-FFF2-40B4-BE49-F238E27FC236}">
                  <a16:creationId xmlns:a16="http://schemas.microsoft.com/office/drawing/2014/main" id="{5BBF6E98-896C-4D78-92F6-3C6B95221CA0}"/>
                </a:ext>
              </a:extLst>
            </p:cNvPr>
            <p:cNvSpPr/>
            <p:nvPr/>
          </p:nvSpPr>
          <p:spPr>
            <a:xfrm>
              <a:off x="5797440" y="3322080"/>
              <a:ext cx="369720" cy="424440"/>
            </a:xfrm>
            <a:custGeom>
              <a:avLst/>
              <a:gdLst/>
              <a:ahLst/>
              <a:cxnLst/>
              <a:rect l="l" t="t" r="r" b="b"/>
              <a:pathLst>
                <a:path w="19430" h="22295">
                  <a:moveTo>
                    <a:pt x="9509" y="0"/>
                  </a:moveTo>
                  <a:lnTo>
                    <a:pt x="1" y="2713"/>
                  </a:lnTo>
                  <a:lnTo>
                    <a:pt x="1" y="8738"/>
                  </a:lnTo>
                  <a:cubicBezTo>
                    <a:pt x="4019" y="10909"/>
                    <a:pt x="8526" y="14936"/>
                    <a:pt x="10057" y="22295"/>
                  </a:cubicBezTo>
                  <a:cubicBezTo>
                    <a:pt x="15168" y="21369"/>
                    <a:pt x="18058" y="16940"/>
                    <a:pt x="19429" y="11372"/>
                  </a:cubicBezTo>
                  <a:cubicBezTo>
                    <a:pt x="17277" y="10644"/>
                    <a:pt x="12215" y="8905"/>
                    <a:pt x="10808" y="8202"/>
                  </a:cubicBezTo>
                  <a:cubicBezTo>
                    <a:pt x="9008" y="7302"/>
                    <a:pt x="9509" y="0"/>
                    <a:pt x="9509" y="0"/>
                  </a:cubicBezTo>
                  <a:close/>
                </a:path>
              </a:pathLst>
            </a:custGeom>
            <a:solidFill>
              <a:srgbClr val="CB9EAE"/>
            </a:solidFill>
            <a:ln w="0">
              <a:noFill/>
            </a:ln>
          </p:spPr>
          <p:style>
            <a:lnRef idx="0">
              <a:scrgbClr r="0" g="0" b="0"/>
            </a:lnRef>
            <a:fillRef idx="0">
              <a:scrgbClr r="0" g="0" b="0"/>
            </a:fillRef>
            <a:effectRef idx="0">
              <a:scrgbClr r="0" g="0" b="0"/>
            </a:effectRef>
            <a:fontRef idx="minor"/>
          </p:style>
        </p:sp>
        <p:sp>
          <p:nvSpPr>
            <p:cNvPr id="13" name="Google Shape;743;p40">
              <a:extLst>
                <a:ext uri="{FF2B5EF4-FFF2-40B4-BE49-F238E27FC236}">
                  <a16:creationId xmlns:a16="http://schemas.microsoft.com/office/drawing/2014/main" id="{DC3D14F3-C626-4E8E-8926-9CA8E87EB680}"/>
                </a:ext>
              </a:extLst>
            </p:cNvPr>
            <p:cNvSpPr/>
            <p:nvPr/>
          </p:nvSpPr>
          <p:spPr>
            <a:xfrm>
              <a:off x="5573880" y="4104720"/>
              <a:ext cx="541800" cy="243360"/>
            </a:xfrm>
            <a:custGeom>
              <a:avLst/>
              <a:gdLst/>
              <a:ahLst/>
              <a:cxnLst/>
              <a:rect l="l" t="t" r="r" b="b"/>
              <a:pathLst>
                <a:path w="28441" h="12805">
                  <a:moveTo>
                    <a:pt x="27071" y="3178"/>
                  </a:moveTo>
                  <a:cubicBezTo>
                    <a:pt x="22828" y="4476"/>
                    <a:pt x="18825" y="5902"/>
                    <a:pt x="16705" y="5902"/>
                  </a:cubicBezTo>
                  <a:cubicBezTo>
                    <a:pt x="12505" y="5902"/>
                    <a:pt x="6303" y="1"/>
                    <a:pt x="3369" y="3609"/>
                  </a:cubicBezTo>
                  <a:cubicBezTo>
                    <a:pt x="437" y="7218"/>
                    <a:pt x="1" y="9604"/>
                    <a:pt x="2297" y="11205"/>
                  </a:cubicBezTo>
                  <a:cubicBezTo>
                    <a:pt x="4593" y="12805"/>
                    <a:pt x="11905" y="10605"/>
                    <a:pt x="15404" y="11305"/>
                  </a:cubicBezTo>
                  <a:cubicBezTo>
                    <a:pt x="16968" y="11617"/>
                    <a:pt x="22296" y="11889"/>
                    <a:pt x="27959" y="11802"/>
                  </a:cubicBezTo>
                  <a:cubicBezTo>
                    <a:pt x="28440" y="9550"/>
                    <a:pt x="28371" y="5436"/>
                    <a:pt x="27071" y="3178"/>
                  </a:cubicBezTo>
                  <a:close/>
                </a:path>
              </a:pathLst>
            </a:custGeom>
            <a:solidFill>
              <a:srgbClr val="F8C2C4"/>
            </a:solidFill>
            <a:ln w="0">
              <a:noFill/>
            </a:ln>
          </p:spPr>
          <p:style>
            <a:lnRef idx="0">
              <a:scrgbClr r="0" g="0" b="0"/>
            </a:lnRef>
            <a:fillRef idx="0">
              <a:scrgbClr r="0" g="0" b="0"/>
            </a:fillRef>
            <a:effectRef idx="0">
              <a:scrgbClr r="0" g="0" b="0"/>
            </a:effectRef>
            <a:fontRef idx="minor"/>
          </p:style>
        </p:sp>
        <p:sp>
          <p:nvSpPr>
            <p:cNvPr id="14" name="Google Shape;744;p40">
              <a:extLst>
                <a:ext uri="{FF2B5EF4-FFF2-40B4-BE49-F238E27FC236}">
                  <a16:creationId xmlns:a16="http://schemas.microsoft.com/office/drawing/2014/main" id="{3CB91EE4-0C26-49CE-B7CB-446613C74FE2}"/>
                </a:ext>
              </a:extLst>
            </p:cNvPr>
            <p:cNvSpPr/>
            <p:nvPr/>
          </p:nvSpPr>
          <p:spPr>
            <a:xfrm>
              <a:off x="6203520" y="3609360"/>
              <a:ext cx="261360" cy="669960"/>
            </a:xfrm>
            <a:custGeom>
              <a:avLst/>
              <a:gdLst/>
              <a:ahLst/>
              <a:cxnLst/>
              <a:rect l="l" t="t" r="r" b="b"/>
              <a:pathLst>
                <a:path w="13741" h="35155">
                  <a:moveTo>
                    <a:pt x="9104" y="3945"/>
                  </a:moveTo>
                  <a:cubicBezTo>
                    <a:pt x="8117" y="0"/>
                    <a:pt x="0" y="7246"/>
                    <a:pt x="2001" y="13848"/>
                  </a:cubicBezTo>
                  <a:cubicBezTo>
                    <a:pt x="3718" y="19509"/>
                    <a:pt x="3094" y="27116"/>
                    <a:pt x="3094" y="27116"/>
                  </a:cubicBezTo>
                  <a:lnTo>
                    <a:pt x="11040" y="35154"/>
                  </a:lnTo>
                  <a:cubicBezTo>
                    <a:pt x="13741" y="31852"/>
                    <a:pt x="9903" y="7146"/>
                    <a:pt x="9104" y="3945"/>
                  </a:cubicBez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16" name="Google Shape;745;p40">
              <a:extLst>
                <a:ext uri="{FF2B5EF4-FFF2-40B4-BE49-F238E27FC236}">
                  <a16:creationId xmlns:a16="http://schemas.microsoft.com/office/drawing/2014/main" id="{23421536-A918-4792-A6CB-0C6E589D6AF6}"/>
                </a:ext>
              </a:extLst>
            </p:cNvPr>
            <p:cNvSpPr/>
            <p:nvPr/>
          </p:nvSpPr>
          <p:spPr>
            <a:xfrm>
              <a:off x="6090840" y="4119120"/>
              <a:ext cx="390960" cy="209880"/>
            </a:xfrm>
            <a:custGeom>
              <a:avLst/>
              <a:gdLst/>
              <a:ahLst/>
              <a:cxnLst/>
              <a:rect l="l" t="t" r="r" b="b"/>
              <a:pathLst>
                <a:path w="20544" h="11050">
                  <a:moveTo>
                    <a:pt x="11642" y="449"/>
                  </a:moveTo>
                  <a:cubicBezTo>
                    <a:pt x="8569" y="1"/>
                    <a:pt x="4169" y="1152"/>
                    <a:pt x="0" y="2426"/>
                  </a:cubicBezTo>
                  <a:cubicBezTo>
                    <a:pt x="1300" y="4684"/>
                    <a:pt x="1369" y="8798"/>
                    <a:pt x="889" y="11050"/>
                  </a:cubicBezTo>
                  <a:cubicBezTo>
                    <a:pt x="7912" y="10941"/>
                    <a:pt x="15448" y="10279"/>
                    <a:pt x="16943" y="8452"/>
                  </a:cubicBezTo>
                  <a:cubicBezTo>
                    <a:pt x="16943" y="8452"/>
                    <a:pt x="20544" y="1750"/>
                    <a:pt x="11642" y="449"/>
                  </a:cubicBez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17" name="Google Shape;746;p40">
              <a:extLst>
                <a:ext uri="{FF2B5EF4-FFF2-40B4-BE49-F238E27FC236}">
                  <a16:creationId xmlns:a16="http://schemas.microsoft.com/office/drawing/2014/main" id="{86C1B850-4362-402D-A37F-42383901F628}"/>
                </a:ext>
              </a:extLst>
            </p:cNvPr>
            <p:cNvSpPr/>
            <p:nvPr/>
          </p:nvSpPr>
          <p:spPr>
            <a:xfrm>
              <a:off x="5723640" y="3081960"/>
              <a:ext cx="211320" cy="337680"/>
            </a:xfrm>
            <a:custGeom>
              <a:avLst/>
              <a:gdLst/>
              <a:ahLst/>
              <a:cxnLst/>
              <a:rect l="l" t="t" r="r" b="b"/>
              <a:pathLst>
                <a:path w="11128" h="17742">
                  <a:moveTo>
                    <a:pt x="1670" y="1554"/>
                  </a:moveTo>
                  <a:cubicBezTo>
                    <a:pt x="1" y="4799"/>
                    <a:pt x="187" y="15831"/>
                    <a:pt x="4822" y="16851"/>
                  </a:cubicBezTo>
                  <a:cubicBezTo>
                    <a:pt x="8871" y="17742"/>
                    <a:pt x="11128" y="13792"/>
                    <a:pt x="11128" y="13792"/>
                  </a:cubicBezTo>
                  <a:lnTo>
                    <a:pt x="11128" y="6473"/>
                  </a:lnTo>
                  <a:cubicBezTo>
                    <a:pt x="11128" y="6473"/>
                    <a:pt x="8844" y="5284"/>
                    <a:pt x="8532" y="2481"/>
                  </a:cubicBezTo>
                  <a:cubicBezTo>
                    <a:pt x="8282" y="238"/>
                    <a:pt x="6954" y="0"/>
                    <a:pt x="6954" y="0"/>
                  </a:cubicBezTo>
                  <a:cubicBezTo>
                    <a:pt x="6954" y="0"/>
                    <a:pt x="4173" y="1646"/>
                    <a:pt x="1670" y="1554"/>
                  </a:cubicBezTo>
                  <a:close/>
                </a:path>
              </a:pathLst>
            </a:custGeom>
            <a:solidFill>
              <a:srgbClr val="F8C2C4"/>
            </a:solidFill>
            <a:ln w="0">
              <a:noFill/>
            </a:ln>
          </p:spPr>
          <p:style>
            <a:lnRef idx="0">
              <a:scrgbClr r="0" g="0" b="0"/>
            </a:lnRef>
            <a:fillRef idx="0">
              <a:scrgbClr r="0" g="0" b="0"/>
            </a:fillRef>
            <a:effectRef idx="0">
              <a:scrgbClr r="0" g="0" b="0"/>
            </a:effectRef>
            <a:fontRef idx="minor"/>
          </p:style>
        </p:sp>
        <p:sp>
          <p:nvSpPr>
            <p:cNvPr id="18" name="Google Shape;747;p40">
              <a:extLst>
                <a:ext uri="{FF2B5EF4-FFF2-40B4-BE49-F238E27FC236}">
                  <a16:creationId xmlns:a16="http://schemas.microsoft.com/office/drawing/2014/main" id="{2271105B-9007-44E1-B608-0F2EB159DCAF}"/>
                </a:ext>
              </a:extLst>
            </p:cNvPr>
            <p:cNvSpPr/>
            <p:nvPr/>
          </p:nvSpPr>
          <p:spPr>
            <a:xfrm>
              <a:off x="5476680" y="3546720"/>
              <a:ext cx="293040" cy="588600"/>
            </a:xfrm>
            <a:custGeom>
              <a:avLst/>
              <a:gdLst/>
              <a:ahLst/>
              <a:cxnLst/>
              <a:rect l="l" t="t" r="r" b="b"/>
              <a:pathLst>
                <a:path w="15404" h="30896">
                  <a:moveTo>
                    <a:pt x="7397" y="30896"/>
                  </a:moveTo>
                  <a:cubicBezTo>
                    <a:pt x="5305" y="26681"/>
                    <a:pt x="3913" y="21369"/>
                    <a:pt x="2688" y="18370"/>
                  </a:cubicBezTo>
                  <a:cubicBezTo>
                    <a:pt x="376" y="12712"/>
                    <a:pt x="0" y="4824"/>
                    <a:pt x="3200" y="3022"/>
                  </a:cubicBezTo>
                  <a:cubicBezTo>
                    <a:pt x="9103" y="1"/>
                    <a:pt x="11602" y="10393"/>
                    <a:pt x="12004" y="13410"/>
                  </a:cubicBezTo>
                  <a:cubicBezTo>
                    <a:pt x="12403" y="16426"/>
                    <a:pt x="13204" y="23477"/>
                    <a:pt x="15404" y="26004"/>
                  </a:cubicBez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19" name="Google Shape;748;p40">
              <a:extLst>
                <a:ext uri="{FF2B5EF4-FFF2-40B4-BE49-F238E27FC236}">
                  <a16:creationId xmlns:a16="http://schemas.microsoft.com/office/drawing/2014/main" id="{1370BB7C-5698-461C-BD5D-F62AAF0F1FB4}"/>
                </a:ext>
              </a:extLst>
            </p:cNvPr>
            <p:cNvSpPr/>
            <p:nvPr/>
          </p:nvSpPr>
          <p:spPr>
            <a:xfrm>
              <a:off x="5724000" y="2990880"/>
              <a:ext cx="468360" cy="636480"/>
            </a:xfrm>
            <a:custGeom>
              <a:avLst/>
              <a:gdLst/>
              <a:ahLst/>
              <a:cxnLst/>
              <a:rect l="l" t="t" r="r" b="b"/>
              <a:pathLst>
                <a:path w="24586" h="33393">
                  <a:moveTo>
                    <a:pt x="8777" y="1"/>
                  </a:moveTo>
                  <a:cubicBezTo>
                    <a:pt x="4301" y="1"/>
                    <a:pt x="1" y="3341"/>
                    <a:pt x="1" y="9105"/>
                  </a:cubicBezTo>
                  <a:lnTo>
                    <a:pt x="1" y="28879"/>
                  </a:lnTo>
                  <a:cubicBezTo>
                    <a:pt x="2185" y="28197"/>
                    <a:pt x="3834" y="27568"/>
                    <a:pt x="3834" y="27050"/>
                  </a:cubicBezTo>
                  <a:lnTo>
                    <a:pt x="3834" y="21242"/>
                  </a:lnTo>
                  <a:cubicBezTo>
                    <a:pt x="152" y="18899"/>
                    <a:pt x="77" y="9370"/>
                    <a:pt x="1640" y="6330"/>
                  </a:cubicBezTo>
                  <a:lnTo>
                    <a:pt x="1640" y="6330"/>
                  </a:lnTo>
                  <a:cubicBezTo>
                    <a:pt x="1708" y="6332"/>
                    <a:pt x="1776" y="6334"/>
                    <a:pt x="1844" y="6334"/>
                  </a:cubicBezTo>
                  <a:cubicBezTo>
                    <a:pt x="4292" y="6334"/>
                    <a:pt x="6924" y="4776"/>
                    <a:pt x="6924" y="4776"/>
                  </a:cubicBezTo>
                  <a:cubicBezTo>
                    <a:pt x="6924" y="4776"/>
                    <a:pt x="8250" y="5014"/>
                    <a:pt x="8502" y="7257"/>
                  </a:cubicBezTo>
                  <a:cubicBezTo>
                    <a:pt x="8813" y="10060"/>
                    <a:pt x="11098" y="11251"/>
                    <a:pt x="11098" y="11251"/>
                  </a:cubicBezTo>
                  <a:lnTo>
                    <a:pt x="11098" y="18568"/>
                  </a:lnTo>
                  <a:cubicBezTo>
                    <a:pt x="11098" y="25439"/>
                    <a:pt x="12751" y="32952"/>
                    <a:pt x="16667" y="33368"/>
                  </a:cubicBezTo>
                  <a:cubicBezTo>
                    <a:pt x="16820" y="33385"/>
                    <a:pt x="16967" y="33392"/>
                    <a:pt x="17109" y="33392"/>
                  </a:cubicBezTo>
                  <a:cubicBezTo>
                    <a:pt x="20524" y="33392"/>
                    <a:pt x="21318" y="28936"/>
                    <a:pt x="23976" y="28936"/>
                  </a:cubicBezTo>
                  <a:cubicBezTo>
                    <a:pt x="24065" y="28936"/>
                    <a:pt x="24157" y="28941"/>
                    <a:pt x="24251" y="28952"/>
                  </a:cubicBezTo>
                  <a:cubicBezTo>
                    <a:pt x="24251" y="28952"/>
                    <a:pt x="24585" y="26035"/>
                    <a:pt x="20585" y="23535"/>
                  </a:cubicBezTo>
                  <a:cubicBezTo>
                    <a:pt x="16584" y="21035"/>
                    <a:pt x="21043" y="7244"/>
                    <a:pt x="14335" y="1938"/>
                  </a:cubicBezTo>
                  <a:cubicBezTo>
                    <a:pt x="12670" y="622"/>
                    <a:pt x="10707" y="1"/>
                    <a:pt x="8777" y="1"/>
                  </a:cubicBezTo>
                  <a:close/>
                </a:path>
              </a:pathLst>
            </a:custGeom>
            <a:solidFill>
              <a:schemeClr val="dk1"/>
            </a:solidFill>
            <a:ln w="0">
              <a:noFill/>
            </a:ln>
          </p:spPr>
          <p:style>
            <a:lnRef idx="0">
              <a:scrgbClr r="0" g="0" b="0"/>
            </a:lnRef>
            <a:fillRef idx="0">
              <a:scrgbClr r="0" g="0" b="0"/>
            </a:fillRef>
            <a:effectRef idx="0">
              <a:scrgbClr r="0" g="0" b="0"/>
            </a:effectRef>
            <a:fontRef idx="minor"/>
          </p:style>
        </p:sp>
        <p:sp>
          <p:nvSpPr>
            <p:cNvPr id="20" name="Google Shape;749;p40">
              <a:extLst>
                <a:ext uri="{FF2B5EF4-FFF2-40B4-BE49-F238E27FC236}">
                  <a16:creationId xmlns:a16="http://schemas.microsoft.com/office/drawing/2014/main" id="{20E78021-5FCF-41B6-B492-13BE9DF4A7C6}"/>
                </a:ext>
              </a:extLst>
            </p:cNvPr>
            <p:cNvSpPr/>
            <p:nvPr/>
          </p:nvSpPr>
          <p:spPr>
            <a:xfrm>
              <a:off x="5617800" y="3946320"/>
              <a:ext cx="281520" cy="315360"/>
            </a:xfrm>
            <a:custGeom>
              <a:avLst/>
              <a:gdLst/>
              <a:ahLst/>
              <a:cxnLst/>
              <a:rect l="l" t="t" r="r" b="b"/>
              <a:pathLst>
                <a:path w="14812" h="16586">
                  <a:moveTo>
                    <a:pt x="5721" y="1"/>
                  </a:moveTo>
                  <a:cubicBezTo>
                    <a:pt x="3536" y="2987"/>
                    <a:pt x="114" y="5598"/>
                    <a:pt x="0" y="9975"/>
                  </a:cubicBezTo>
                  <a:cubicBezTo>
                    <a:pt x="1859" y="13711"/>
                    <a:pt x="4269" y="16585"/>
                    <a:pt x="7607" y="16208"/>
                  </a:cubicBezTo>
                  <a:cubicBezTo>
                    <a:pt x="12528" y="15654"/>
                    <a:pt x="14230" y="9864"/>
                    <a:pt x="14811" y="4563"/>
                  </a:cubicBezTo>
                  <a:cubicBezTo>
                    <a:pt x="11526" y="4816"/>
                    <a:pt x="7339" y="2215"/>
                    <a:pt x="5721" y="1"/>
                  </a:cubicBez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21" name="Google Shape;750;p40">
              <a:extLst>
                <a:ext uri="{FF2B5EF4-FFF2-40B4-BE49-F238E27FC236}">
                  <a16:creationId xmlns:a16="http://schemas.microsoft.com/office/drawing/2014/main" id="{64AA5F24-B87D-4700-99B3-7DE2682B63BF}"/>
                </a:ext>
              </a:extLst>
            </p:cNvPr>
            <p:cNvSpPr/>
            <p:nvPr/>
          </p:nvSpPr>
          <p:spPr>
            <a:xfrm>
              <a:off x="5726880" y="3423600"/>
              <a:ext cx="219960" cy="613440"/>
            </a:xfrm>
            <a:custGeom>
              <a:avLst/>
              <a:gdLst/>
              <a:ahLst/>
              <a:cxnLst/>
              <a:rect l="l" t="t" r="r" b="b"/>
              <a:pathLst>
                <a:path w="11583" h="32200">
                  <a:moveTo>
                    <a:pt x="7430" y="428"/>
                  </a:moveTo>
                  <a:cubicBezTo>
                    <a:pt x="6492" y="855"/>
                    <a:pt x="3165" y="3754"/>
                    <a:pt x="3165" y="4479"/>
                  </a:cubicBezTo>
                  <a:cubicBezTo>
                    <a:pt x="3165" y="5204"/>
                    <a:pt x="4657" y="10664"/>
                    <a:pt x="4657" y="12327"/>
                  </a:cubicBezTo>
                  <a:cubicBezTo>
                    <a:pt x="4657" y="13990"/>
                    <a:pt x="3134" y="21238"/>
                    <a:pt x="1131" y="25527"/>
                  </a:cubicBezTo>
                  <a:cubicBezTo>
                    <a:pt x="830" y="26173"/>
                    <a:pt x="438" y="26784"/>
                    <a:pt x="0" y="27383"/>
                  </a:cubicBezTo>
                  <a:cubicBezTo>
                    <a:pt x="1618" y="29597"/>
                    <a:pt x="5805" y="32199"/>
                    <a:pt x="9092" y="31945"/>
                  </a:cubicBezTo>
                  <a:cubicBezTo>
                    <a:pt x="9349" y="29595"/>
                    <a:pt x="9387" y="27344"/>
                    <a:pt x="9387" y="25685"/>
                  </a:cubicBezTo>
                  <a:cubicBezTo>
                    <a:pt x="9387" y="25685"/>
                    <a:pt x="9723" y="13561"/>
                    <a:pt x="10275" y="12698"/>
                  </a:cubicBezTo>
                  <a:cubicBezTo>
                    <a:pt x="10775" y="11912"/>
                    <a:pt x="10772" y="10615"/>
                    <a:pt x="10772" y="9510"/>
                  </a:cubicBezTo>
                  <a:lnTo>
                    <a:pt x="10772" y="7264"/>
                  </a:lnTo>
                  <a:cubicBezTo>
                    <a:pt x="10772" y="7264"/>
                    <a:pt x="11535" y="7215"/>
                    <a:pt x="11579" y="5902"/>
                  </a:cubicBezTo>
                  <a:cubicBezTo>
                    <a:pt x="11581" y="5862"/>
                    <a:pt x="11581" y="5823"/>
                    <a:pt x="11581" y="5782"/>
                  </a:cubicBezTo>
                  <a:cubicBezTo>
                    <a:pt x="11582" y="4351"/>
                    <a:pt x="8368" y="0"/>
                    <a:pt x="7430" y="428"/>
                  </a:cubicBezTo>
                  <a:close/>
                </a:path>
              </a:pathLst>
            </a:custGeom>
            <a:solidFill>
              <a:srgbClr val="F8C2C4"/>
            </a:solidFill>
            <a:ln w="0">
              <a:noFill/>
            </a:ln>
          </p:spPr>
          <p:style>
            <a:lnRef idx="0">
              <a:scrgbClr r="0" g="0" b="0"/>
            </a:lnRef>
            <a:fillRef idx="0">
              <a:scrgbClr r="0" g="0" b="0"/>
            </a:fillRef>
            <a:effectRef idx="0">
              <a:scrgbClr r="0" g="0" b="0"/>
            </a:effectRef>
            <a:fontRef idx="minor"/>
          </p:style>
        </p:sp>
        <p:sp>
          <p:nvSpPr>
            <p:cNvPr id="22" name="Google Shape;751;p40">
              <a:extLst>
                <a:ext uri="{FF2B5EF4-FFF2-40B4-BE49-F238E27FC236}">
                  <a16:creationId xmlns:a16="http://schemas.microsoft.com/office/drawing/2014/main" id="{7338A445-EE0C-4A60-A623-1BAE38A3C6D7}"/>
                </a:ext>
              </a:extLst>
            </p:cNvPr>
            <p:cNvSpPr/>
            <p:nvPr/>
          </p:nvSpPr>
          <p:spPr>
            <a:xfrm>
              <a:off x="7405560" y="3534120"/>
              <a:ext cx="224280" cy="681480"/>
            </a:xfrm>
            <a:custGeom>
              <a:avLst/>
              <a:gdLst/>
              <a:ahLst/>
              <a:cxnLst/>
              <a:rect l="l" t="t" r="r" b="b"/>
              <a:pathLst>
                <a:path w="11811" h="35751">
                  <a:moveTo>
                    <a:pt x="0" y="1"/>
                  </a:moveTo>
                  <a:lnTo>
                    <a:pt x="0" y="35390"/>
                  </a:lnTo>
                  <a:cubicBezTo>
                    <a:pt x="0" y="35390"/>
                    <a:pt x="11811" y="35750"/>
                    <a:pt x="11451" y="35390"/>
                  </a:cubicBezTo>
                  <a:cubicBezTo>
                    <a:pt x="11091" y="35030"/>
                    <a:pt x="11451" y="18948"/>
                    <a:pt x="11451" y="18948"/>
                  </a:cubicBez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23" name="Google Shape;752;p40">
              <a:extLst>
                <a:ext uri="{FF2B5EF4-FFF2-40B4-BE49-F238E27FC236}">
                  <a16:creationId xmlns:a16="http://schemas.microsoft.com/office/drawing/2014/main" id="{D7DFA7CB-A66A-47E2-83D1-01BDDE91F5E4}"/>
                </a:ext>
              </a:extLst>
            </p:cNvPr>
            <p:cNvSpPr/>
            <p:nvPr/>
          </p:nvSpPr>
          <p:spPr>
            <a:xfrm>
              <a:off x="7683840" y="4238280"/>
              <a:ext cx="497520" cy="907920"/>
            </a:xfrm>
            <a:custGeom>
              <a:avLst/>
              <a:gdLst/>
              <a:ahLst/>
              <a:cxnLst/>
              <a:rect l="l" t="t" r="r" b="b"/>
              <a:pathLst>
                <a:path w="26114" h="47626">
                  <a:moveTo>
                    <a:pt x="8765" y="2265"/>
                  </a:moveTo>
                  <a:cubicBezTo>
                    <a:pt x="9742" y="8890"/>
                    <a:pt x="9131" y="16437"/>
                    <a:pt x="8765" y="19289"/>
                  </a:cubicBezTo>
                  <a:cubicBezTo>
                    <a:pt x="8400" y="22141"/>
                    <a:pt x="0" y="47625"/>
                    <a:pt x="0" y="47625"/>
                  </a:cubicBezTo>
                  <a:lnTo>
                    <a:pt x="20476" y="47625"/>
                  </a:lnTo>
                  <a:lnTo>
                    <a:pt x="26114" y="20626"/>
                  </a:lnTo>
                  <a:lnTo>
                    <a:pt x="18632" y="1"/>
                  </a:lnTo>
                  <a:close/>
                </a:path>
              </a:pathLst>
            </a:custGeom>
            <a:solidFill>
              <a:srgbClr val="1C399B"/>
            </a:solidFill>
            <a:ln w="0">
              <a:noFill/>
            </a:ln>
          </p:spPr>
          <p:style>
            <a:lnRef idx="0">
              <a:scrgbClr r="0" g="0" b="0"/>
            </a:lnRef>
            <a:fillRef idx="0">
              <a:scrgbClr r="0" g="0" b="0"/>
            </a:fillRef>
            <a:effectRef idx="0">
              <a:scrgbClr r="0" g="0" b="0"/>
            </a:effectRef>
            <a:fontRef idx="minor"/>
          </p:style>
        </p:sp>
        <p:sp>
          <p:nvSpPr>
            <p:cNvPr id="24" name="Google Shape;753;p40">
              <a:extLst>
                <a:ext uri="{FF2B5EF4-FFF2-40B4-BE49-F238E27FC236}">
                  <a16:creationId xmlns:a16="http://schemas.microsoft.com/office/drawing/2014/main" id="{95A512FC-548D-4CBE-BC80-FA6A97AFA5B0}"/>
                </a:ext>
              </a:extLst>
            </p:cNvPr>
            <p:cNvSpPr/>
            <p:nvPr/>
          </p:nvSpPr>
          <p:spPr>
            <a:xfrm>
              <a:off x="7651800" y="4238280"/>
              <a:ext cx="529200" cy="912240"/>
            </a:xfrm>
            <a:custGeom>
              <a:avLst/>
              <a:gdLst/>
              <a:ahLst/>
              <a:cxnLst/>
              <a:rect l="l" t="t" r="r" b="b"/>
              <a:pathLst>
                <a:path w="27788" h="47841">
                  <a:moveTo>
                    <a:pt x="10439" y="2265"/>
                  </a:moveTo>
                  <a:cubicBezTo>
                    <a:pt x="11416" y="8890"/>
                    <a:pt x="10805" y="16437"/>
                    <a:pt x="10439" y="19289"/>
                  </a:cubicBezTo>
                  <a:cubicBezTo>
                    <a:pt x="10074" y="22141"/>
                    <a:pt x="1" y="47840"/>
                    <a:pt x="1" y="47840"/>
                  </a:cubicBezTo>
                  <a:lnTo>
                    <a:pt x="22150" y="47840"/>
                  </a:lnTo>
                  <a:lnTo>
                    <a:pt x="27788" y="20626"/>
                  </a:lnTo>
                  <a:lnTo>
                    <a:pt x="20306" y="1"/>
                  </a:lnTo>
                  <a:close/>
                </a:path>
              </a:pathLst>
            </a:custGeom>
            <a:gradFill rotWithShape="0">
              <a:gsLst>
                <a:gs pos="0">
                  <a:srgbClr val="00D4F9"/>
                </a:gs>
                <a:gs pos="100000">
                  <a:srgbClr val="EEEEEE"/>
                </a:gs>
              </a:gsLst>
              <a:lin ang="5400000"/>
            </a:gradFill>
            <a:ln w="0">
              <a:noFill/>
            </a:ln>
          </p:spPr>
          <p:style>
            <a:lnRef idx="0">
              <a:scrgbClr r="0" g="0" b="0"/>
            </a:lnRef>
            <a:fillRef idx="0">
              <a:scrgbClr r="0" g="0" b="0"/>
            </a:fillRef>
            <a:effectRef idx="0">
              <a:scrgbClr r="0" g="0" b="0"/>
            </a:effectRef>
            <a:fontRef idx="minor"/>
          </p:style>
        </p:sp>
        <p:sp>
          <p:nvSpPr>
            <p:cNvPr id="25" name="Google Shape;754;p40">
              <a:extLst>
                <a:ext uri="{FF2B5EF4-FFF2-40B4-BE49-F238E27FC236}">
                  <a16:creationId xmlns:a16="http://schemas.microsoft.com/office/drawing/2014/main" id="{8AAA87B9-2FED-42FD-9573-E80C139E7778}"/>
                </a:ext>
              </a:extLst>
            </p:cNvPr>
            <p:cNvSpPr/>
            <p:nvPr/>
          </p:nvSpPr>
          <p:spPr>
            <a:xfrm>
              <a:off x="7912080" y="4147560"/>
              <a:ext cx="713880" cy="1002960"/>
            </a:xfrm>
            <a:custGeom>
              <a:avLst/>
              <a:gdLst/>
              <a:ahLst/>
              <a:cxnLst/>
              <a:rect l="l" t="t" r="r" b="b"/>
              <a:pathLst>
                <a:path w="37464" h="52599">
                  <a:moveTo>
                    <a:pt x="20931" y="1"/>
                  </a:moveTo>
                  <a:cubicBezTo>
                    <a:pt x="23947" y="9455"/>
                    <a:pt x="37463" y="12513"/>
                    <a:pt x="33735" y="27782"/>
                  </a:cubicBezTo>
                  <a:cubicBezTo>
                    <a:pt x="31042" y="38804"/>
                    <a:pt x="25553" y="52598"/>
                    <a:pt x="25553" y="52598"/>
                  </a:cubicBezTo>
                  <a:lnTo>
                    <a:pt x="1" y="52598"/>
                  </a:lnTo>
                  <a:cubicBezTo>
                    <a:pt x="1" y="52598"/>
                    <a:pt x="8015" y="28566"/>
                    <a:pt x="8015" y="25384"/>
                  </a:cubicBezTo>
                  <a:cubicBezTo>
                    <a:pt x="8015" y="22202"/>
                    <a:pt x="2982" y="5847"/>
                    <a:pt x="2982" y="5847"/>
                  </a:cubicBezTo>
                  <a:close/>
                </a:path>
              </a:pathLst>
            </a:custGeom>
            <a:gradFill rotWithShape="0">
              <a:gsLst>
                <a:gs pos="0">
                  <a:srgbClr val="00D4F9"/>
                </a:gs>
                <a:gs pos="100000">
                  <a:srgbClr val="EEEEEE"/>
                </a:gs>
              </a:gsLst>
              <a:lin ang="5400000"/>
            </a:gradFill>
            <a:ln w="0">
              <a:noFill/>
            </a:ln>
          </p:spPr>
          <p:style>
            <a:lnRef idx="0">
              <a:scrgbClr r="0" g="0" b="0"/>
            </a:lnRef>
            <a:fillRef idx="0">
              <a:scrgbClr r="0" g="0" b="0"/>
            </a:fillRef>
            <a:effectRef idx="0">
              <a:scrgbClr r="0" g="0" b="0"/>
            </a:effectRef>
            <a:fontRef idx="minor"/>
          </p:style>
        </p:sp>
        <p:sp>
          <p:nvSpPr>
            <p:cNvPr id="26" name="Google Shape;755;p40">
              <a:extLst>
                <a:ext uri="{FF2B5EF4-FFF2-40B4-BE49-F238E27FC236}">
                  <a16:creationId xmlns:a16="http://schemas.microsoft.com/office/drawing/2014/main" id="{26E0941B-2470-4E61-9A54-E6CB2E401D73}"/>
                </a:ext>
              </a:extLst>
            </p:cNvPr>
            <p:cNvSpPr/>
            <p:nvPr/>
          </p:nvSpPr>
          <p:spPr>
            <a:xfrm>
              <a:off x="7374600" y="3381120"/>
              <a:ext cx="947160" cy="956520"/>
            </a:xfrm>
            <a:custGeom>
              <a:avLst/>
              <a:gdLst/>
              <a:ahLst/>
              <a:cxnLst/>
              <a:rect l="l" t="t" r="r" b="b"/>
              <a:pathLst>
                <a:path w="49673" h="50174">
                  <a:moveTo>
                    <a:pt x="5770" y="0"/>
                  </a:moveTo>
                  <a:cubicBezTo>
                    <a:pt x="2754" y="1437"/>
                    <a:pt x="0" y="7839"/>
                    <a:pt x="2754" y="13851"/>
                  </a:cubicBezTo>
                  <a:cubicBezTo>
                    <a:pt x="5510" y="19861"/>
                    <a:pt x="5901" y="18786"/>
                    <a:pt x="6947" y="23505"/>
                  </a:cubicBezTo>
                  <a:cubicBezTo>
                    <a:pt x="7992" y="28225"/>
                    <a:pt x="7582" y="30837"/>
                    <a:pt x="16215" y="36716"/>
                  </a:cubicBezTo>
                  <a:cubicBezTo>
                    <a:pt x="24848" y="42597"/>
                    <a:pt x="24586" y="44163"/>
                    <a:pt x="24979" y="47168"/>
                  </a:cubicBezTo>
                  <a:cubicBezTo>
                    <a:pt x="25371" y="50174"/>
                    <a:pt x="49673" y="49521"/>
                    <a:pt x="49283" y="38284"/>
                  </a:cubicBezTo>
                  <a:cubicBezTo>
                    <a:pt x="48891" y="27047"/>
                    <a:pt x="49510" y="14071"/>
                    <a:pt x="42275" y="7950"/>
                  </a:cubicBezTo>
                  <a:cubicBezTo>
                    <a:pt x="35039" y="1829"/>
                    <a:pt x="5770" y="0"/>
                    <a:pt x="5770" y="0"/>
                  </a:cubicBez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27" name="Google Shape;756;p40">
              <a:extLst>
                <a:ext uri="{FF2B5EF4-FFF2-40B4-BE49-F238E27FC236}">
                  <a16:creationId xmlns:a16="http://schemas.microsoft.com/office/drawing/2014/main" id="{A6E1F200-CF87-4CF0-9E48-199FB24C00DA}"/>
                </a:ext>
              </a:extLst>
            </p:cNvPr>
            <p:cNvSpPr/>
            <p:nvPr/>
          </p:nvSpPr>
          <p:spPr>
            <a:xfrm>
              <a:off x="7427160" y="3115800"/>
              <a:ext cx="232560" cy="642600"/>
            </a:xfrm>
            <a:custGeom>
              <a:avLst/>
              <a:gdLst/>
              <a:ahLst/>
              <a:cxnLst/>
              <a:rect l="l" t="t" r="r" b="b"/>
              <a:pathLst>
                <a:path w="12247" h="33730">
                  <a:moveTo>
                    <a:pt x="0" y="0"/>
                  </a:moveTo>
                  <a:lnTo>
                    <a:pt x="0" y="33730"/>
                  </a:lnTo>
                  <a:cubicBezTo>
                    <a:pt x="0" y="33730"/>
                    <a:pt x="12247" y="27159"/>
                    <a:pt x="12138" y="20730"/>
                  </a:cubicBezTo>
                  <a:cubicBezTo>
                    <a:pt x="12027" y="14301"/>
                    <a:pt x="6601" y="0"/>
                    <a:pt x="6601" y="0"/>
                  </a:cubicBezTo>
                  <a:close/>
                </a:path>
              </a:pathLst>
            </a:custGeom>
            <a:solidFill>
              <a:schemeClr val="accent4"/>
            </a:solidFill>
            <a:ln w="0">
              <a:noFill/>
            </a:ln>
          </p:spPr>
          <p:style>
            <a:lnRef idx="0">
              <a:scrgbClr r="0" g="0" b="0"/>
            </a:lnRef>
            <a:fillRef idx="0">
              <a:scrgbClr r="0" g="0" b="0"/>
            </a:fillRef>
            <a:effectRef idx="0">
              <a:scrgbClr r="0" g="0" b="0"/>
            </a:effectRef>
            <a:fontRef idx="minor"/>
          </p:style>
        </p:sp>
        <p:sp>
          <p:nvSpPr>
            <p:cNvPr id="28" name="Google Shape;757;p40">
              <a:extLst>
                <a:ext uri="{FF2B5EF4-FFF2-40B4-BE49-F238E27FC236}">
                  <a16:creationId xmlns:a16="http://schemas.microsoft.com/office/drawing/2014/main" id="{4BA64F94-CE95-4382-80A3-FE30FE7E50EB}"/>
                </a:ext>
              </a:extLst>
            </p:cNvPr>
            <p:cNvSpPr/>
            <p:nvPr/>
          </p:nvSpPr>
          <p:spPr>
            <a:xfrm>
              <a:off x="7591320" y="3366720"/>
              <a:ext cx="184320" cy="487800"/>
            </a:xfrm>
            <a:custGeom>
              <a:avLst/>
              <a:gdLst/>
              <a:ahLst/>
              <a:cxnLst/>
              <a:rect l="l" t="t" r="r" b="b"/>
              <a:pathLst>
                <a:path w="9720" h="25615">
                  <a:moveTo>
                    <a:pt x="1" y="7093"/>
                  </a:moveTo>
                  <a:cubicBezTo>
                    <a:pt x="1" y="7093"/>
                    <a:pt x="1631" y="9733"/>
                    <a:pt x="2183" y="10867"/>
                  </a:cubicBezTo>
                  <a:cubicBezTo>
                    <a:pt x="2736" y="12002"/>
                    <a:pt x="284" y="17018"/>
                    <a:pt x="1092" y="21316"/>
                  </a:cubicBezTo>
                  <a:cubicBezTo>
                    <a:pt x="1901" y="25615"/>
                    <a:pt x="7221" y="24884"/>
                    <a:pt x="8410" y="21316"/>
                  </a:cubicBezTo>
                  <a:cubicBezTo>
                    <a:pt x="8767" y="20243"/>
                    <a:pt x="9719" y="12615"/>
                    <a:pt x="9719" y="12615"/>
                  </a:cubicBezTo>
                  <a:lnTo>
                    <a:pt x="9719" y="1"/>
                  </a:lnTo>
                  <a:close/>
                </a:path>
              </a:pathLst>
            </a:custGeom>
            <a:solidFill>
              <a:srgbClr val="F8C2C4"/>
            </a:solidFill>
            <a:ln w="0">
              <a:noFill/>
            </a:ln>
          </p:spPr>
          <p:style>
            <a:lnRef idx="0">
              <a:scrgbClr r="0" g="0" b="0"/>
            </a:lnRef>
            <a:fillRef idx="0">
              <a:scrgbClr r="0" g="0" b="0"/>
            </a:fillRef>
            <a:effectRef idx="0">
              <a:scrgbClr r="0" g="0" b="0"/>
            </a:effectRef>
            <a:fontRef idx="minor"/>
          </p:style>
        </p:sp>
        <p:sp>
          <p:nvSpPr>
            <p:cNvPr id="29" name="Google Shape;758;p40">
              <a:extLst>
                <a:ext uri="{FF2B5EF4-FFF2-40B4-BE49-F238E27FC236}">
                  <a16:creationId xmlns:a16="http://schemas.microsoft.com/office/drawing/2014/main" id="{24A945D0-6F37-4032-AE82-FA2D06E262FF}"/>
                </a:ext>
              </a:extLst>
            </p:cNvPr>
            <p:cNvSpPr/>
            <p:nvPr/>
          </p:nvSpPr>
          <p:spPr>
            <a:xfrm>
              <a:off x="7591320" y="3366720"/>
              <a:ext cx="184320" cy="461880"/>
            </a:xfrm>
            <a:custGeom>
              <a:avLst/>
              <a:gdLst/>
              <a:ahLst/>
              <a:cxnLst/>
              <a:rect l="l" t="t" r="r" b="b"/>
              <a:pathLst>
                <a:path w="9721" h="24262">
                  <a:moveTo>
                    <a:pt x="9720" y="1"/>
                  </a:moveTo>
                  <a:lnTo>
                    <a:pt x="0" y="7093"/>
                  </a:lnTo>
                  <a:cubicBezTo>
                    <a:pt x="0" y="7093"/>
                    <a:pt x="1632" y="9733"/>
                    <a:pt x="2184" y="10867"/>
                  </a:cubicBezTo>
                  <a:cubicBezTo>
                    <a:pt x="2547" y="10461"/>
                    <a:pt x="2910" y="10279"/>
                    <a:pt x="3265" y="10279"/>
                  </a:cubicBezTo>
                  <a:cubicBezTo>
                    <a:pt x="6274" y="10279"/>
                    <a:pt x="8594" y="23423"/>
                    <a:pt x="3547" y="24165"/>
                  </a:cubicBezTo>
                  <a:cubicBezTo>
                    <a:pt x="3560" y="24168"/>
                    <a:pt x="3574" y="24168"/>
                    <a:pt x="3588" y="24173"/>
                  </a:cubicBezTo>
                  <a:lnTo>
                    <a:pt x="4395" y="24261"/>
                  </a:lnTo>
                  <a:cubicBezTo>
                    <a:pt x="6041" y="24260"/>
                    <a:pt x="7789" y="23181"/>
                    <a:pt x="8409" y="21316"/>
                  </a:cubicBezTo>
                  <a:cubicBezTo>
                    <a:pt x="8768" y="20243"/>
                    <a:pt x="9720" y="12615"/>
                    <a:pt x="9720" y="12615"/>
                  </a:cubicBezTo>
                  <a:lnTo>
                    <a:pt x="9720" y="1"/>
                  </a:lnTo>
                  <a:close/>
                </a:path>
              </a:pathLst>
            </a:custGeom>
            <a:solidFill>
              <a:srgbClr val="CB9EAE"/>
            </a:solidFill>
            <a:ln w="0">
              <a:noFill/>
            </a:ln>
          </p:spPr>
          <p:style>
            <a:lnRef idx="0">
              <a:scrgbClr r="0" g="0" b="0"/>
            </a:lnRef>
            <a:fillRef idx="0">
              <a:scrgbClr r="0" g="0" b="0"/>
            </a:fillRef>
            <a:effectRef idx="0">
              <a:scrgbClr r="0" g="0" b="0"/>
            </a:effectRef>
            <a:fontRef idx="minor"/>
          </p:style>
        </p:sp>
        <p:sp>
          <p:nvSpPr>
            <p:cNvPr id="30" name="Google Shape;759;p40">
              <a:extLst>
                <a:ext uri="{FF2B5EF4-FFF2-40B4-BE49-F238E27FC236}">
                  <a16:creationId xmlns:a16="http://schemas.microsoft.com/office/drawing/2014/main" id="{58EE7239-4AFD-4B6A-9096-F67A73B89C3D}"/>
                </a:ext>
              </a:extLst>
            </p:cNvPr>
            <p:cNvSpPr/>
            <p:nvPr/>
          </p:nvSpPr>
          <p:spPr>
            <a:xfrm>
              <a:off x="7422480" y="2882880"/>
              <a:ext cx="454320" cy="637560"/>
            </a:xfrm>
            <a:custGeom>
              <a:avLst/>
              <a:gdLst/>
              <a:ahLst/>
              <a:cxnLst/>
              <a:rect l="l" t="t" r="r" b="b"/>
              <a:pathLst>
                <a:path w="23860" h="33450">
                  <a:moveTo>
                    <a:pt x="1673" y="11241"/>
                  </a:moveTo>
                  <a:cubicBezTo>
                    <a:pt x="1" y="21618"/>
                    <a:pt x="1841" y="31185"/>
                    <a:pt x="6845" y="32317"/>
                  </a:cubicBezTo>
                  <a:cubicBezTo>
                    <a:pt x="11851" y="33449"/>
                    <a:pt x="19022" y="27977"/>
                    <a:pt x="19022" y="23150"/>
                  </a:cubicBezTo>
                  <a:cubicBezTo>
                    <a:pt x="19022" y="18322"/>
                    <a:pt x="23859" y="5744"/>
                    <a:pt x="18356" y="2872"/>
                  </a:cubicBezTo>
                  <a:cubicBezTo>
                    <a:pt x="12851" y="1"/>
                    <a:pt x="2741" y="4628"/>
                    <a:pt x="1673" y="11241"/>
                  </a:cubicBezTo>
                  <a:close/>
                </a:path>
              </a:pathLst>
            </a:custGeom>
            <a:solidFill>
              <a:srgbClr val="F8C2C4"/>
            </a:solidFill>
            <a:ln w="0">
              <a:noFill/>
            </a:ln>
          </p:spPr>
          <p:style>
            <a:lnRef idx="0">
              <a:scrgbClr r="0" g="0" b="0"/>
            </a:lnRef>
            <a:fillRef idx="0">
              <a:scrgbClr r="0" g="0" b="0"/>
            </a:fillRef>
            <a:effectRef idx="0">
              <a:scrgbClr r="0" g="0" b="0"/>
            </a:effectRef>
            <a:fontRef idx="minor"/>
          </p:style>
        </p:sp>
        <p:sp>
          <p:nvSpPr>
            <p:cNvPr id="31" name="Google Shape;760;p40">
              <a:extLst>
                <a:ext uri="{FF2B5EF4-FFF2-40B4-BE49-F238E27FC236}">
                  <a16:creationId xmlns:a16="http://schemas.microsoft.com/office/drawing/2014/main" id="{97BD0486-6B13-43DB-90E3-098F92D7A3FB}"/>
                </a:ext>
              </a:extLst>
            </p:cNvPr>
            <p:cNvSpPr/>
            <p:nvPr/>
          </p:nvSpPr>
          <p:spPr>
            <a:xfrm>
              <a:off x="7413120" y="2893680"/>
              <a:ext cx="773280" cy="829800"/>
            </a:xfrm>
            <a:custGeom>
              <a:avLst/>
              <a:gdLst/>
              <a:ahLst/>
              <a:cxnLst/>
              <a:rect l="l" t="t" r="r" b="b"/>
              <a:pathLst>
                <a:path w="40569" h="43535">
                  <a:moveTo>
                    <a:pt x="12930" y="0"/>
                  </a:moveTo>
                  <a:cubicBezTo>
                    <a:pt x="10549" y="0"/>
                    <a:pt x="6972" y="2123"/>
                    <a:pt x="4089" y="4523"/>
                  </a:cubicBezTo>
                  <a:cubicBezTo>
                    <a:pt x="667" y="7375"/>
                    <a:pt x="1" y="13188"/>
                    <a:pt x="1419" y="13188"/>
                  </a:cubicBezTo>
                  <a:cubicBezTo>
                    <a:pt x="1539" y="13188"/>
                    <a:pt x="1675" y="13146"/>
                    <a:pt x="1825" y="13057"/>
                  </a:cubicBezTo>
                  <a:cubicBezTo>
                    <a:pt x="3742" y="11917"/>
                    <a:pt x="6355" y="9721"/>
                    <a:pt x="6355" y="9721"/>
                  </a:cubicBezTo>
                  <a:cubicBezTo>
                    <a:pt x="6905" y="16251"/>
                    <a:pt x="17607" y="17616"/>
                    <a:pt x="17607" y="17616"/>
                  </a:cubicBezTo>
                  <a:lnTo>
                    <a:pt x="17646" y="43535"/>
                  </a:lnTo>
                  <a:cubicBezTo>
                    <a:pt x="22384" y="43535"/>
                    <a:pt x="25782" y="32651"/>
                    <a:pt x="28479" y="32651"/>
                  </a:cubicBezTo>
                  <a:cubicBezTo>
                    <a:pt x="31177" y="32651"/>
                    <a:pt x="34002" y="30426"/>
                    <a:pt x="34002" y="30426"/>
                  </a:cubicBezTo>
                  <a:cubicBezTo>
                    <a:pt x="38195" y="31895"/>
                    <a:pt x="40240" y="33493"/>
                    <a:pt x="40240" y="33493"/>
                  </a:cubicBezTo>
                  <a:cubicBezTo>
                    <a:pt x="40240" y="33493"/>
                    <a:pt x="40568" y="32026"/>
                    <a:pt x="39581" y="27486"/>
                  </a:cubicBezTo>
                  <a:cubicBezTo>
                    <a:pt x="38956" y="24611"/>
                    <a:pt x="36090" y="24084"/>
                    <a:pt x="34071" y="24084"/>
                  </a:cubicBezTo>
                  <a:cubicBezTo>
                    <a:pt x="32901" y="24084"/>
                    <a:pt x="32015" y="24261"/>
                    <a:pt x="32015" y="24261"/>
                  </a:cubicBezTo>
                  <a:cubicBezTo>
                    <a:pt x="32936" y="21300"/>
                    <a:pt x="30962" y="20313"/>
                    <a:pt x="29778" y="18734"/>
                  </a:cubicBezTo>
                  <a:cubicBezTo>
                    <a:pt x="28593" y="17156"/>
                    <a:pt x="28329" y="11498"/>
                    <a:pt x="24580" y="5181"/>
                  </a:cubicBezTo>
                  <a:cubicBezTo>
                    <a:pt x="22147" y="1084"/>
                    <a:pt x="18690" y="364"/>
                    <a:pt x="16562" y="364"/>
                  </a:cubicBezTo>
                  <a:cubicBezTo>
                    <a:pt x="15409" y="364"/>
                    <a:pt x="14646" y="575"/>
                    <a:pt x="14646" y="575"/>
                  </a:cubicBezTo>
                  <a:cubicBezTo>
                    <a:pt x="14204" y="177"/>
                    <a:pt x="13617" y="0"/>
                    <a:pt x="12930" y="0"/>
                  </a:cubicBezTo>
                  <a:close/>
                </a:path>
              </a:pathLst>
            </a:custGeom>
            <a:solidFill>
              <a:schemeClr val="dk1"/>
            </a:solidFill>
            <a:ln w="0">
              <a:noFill/>
            </a:ln>
          </p:spPr>
          <p:style>
            <a:lnRef idx="0">
              <a:scrgbClr r="0" g="0" b="0"/>
            </a:lnRef>
            <a:fillRef idx="0">
              <a:scrgbClr r="0" g="0" b="0"/>
            </a:fillRef>
            <a:effectRef idx="0">
              <a:scrgbClr r="0" g="0" b="0"/>
            </a:effectRef>
            <a:fontRef idx="minor"/>
          </p:style>
        </p:sp>
        <p:sp>
          <p:nvSpPr>
            <p:cNvPr id="32" name="Google Shape;761;p40">
              <a:extLst>
                <a:ext uri="{FF2B5EF4-FFF2-40B4-BE49-F238E27FC236}">
                  <a16:creationId xmlns:a16="http://schemas.microsoft.com/office/drawing/2014/main" id="{4A3EFC0B-FC5D-448D-A41D-510505D59ABD}"/>
                </a:ext>
              </a:extLst>
            </p:cNvPr>
            <p:cNvSpPr/>
            <p:nvPr/>
          </p:nvSpPr>
          <p:spPr>
            <a:xfrm>
              <a:off x="5946840" y="4131720"/>
              <a:ext cx="552600" cy="999720"/>
            </a:xfrm>
            <a:custGeom>
              <a:avLst/>
              <a:gdLst/>
              <a:ahLst/>
              <a:cxnLst/>
              <a:rect l="l" t="t" r="r" b="b"/>
              <a:pathLst>
                <a:path w="29001" h="52429">
                  <a:moveTo>
                    <a:pt x="23140" y="0"/>
                  </a:moveTo>
                  <a:cubicBezTo>
                    <a:pt x="10709" y="12945"/>
                    <a:pt x="1" y="52429"/>
                    <a:pt x="1" y="52429"/>
                  </a:cubicBezTo>
                  <a:lnTo>
                    <a:pt x="17847" y="52429"/>
                  </a:lnTo>
                  <a:lnTo>
                    <a:pt x="29001" y="26214"/>
                  </a:lnTo>
                  <a:close/>
                </a:path>
              </a:pathLst>
            </a:custGeom>
            <a:gradFill rotWithShape="0">
              <a:gsLst>
                <a:gs pos="0">
                  <a:srgbClr val="00D4F9"/>
                </a:gs>
                <a:gs pos="100000">
                  <a:srgbClr val="5C38F1"/>
                </a:gs>
              </a:gsLst>
              <a:lin ang="5400000"/>
            </a:gradFill>
            <a:ln w="0">
              <a:noFill/>
            </a:ln>
          </p:spPr>
          <p:style>
            <a:lnRef idx="0">
              <a:scrgbClr r="0" g="0" b="0"/>
            </a:lnRef>
            <a:fillRef idx="0">
              <a:scrgbClr r="0" g="0" b="0"/>
            </a:fillRef>
            <a:effectRef idx="0">
              <a:scrgbClr r="0" g="0" b="0"/>
            </a:effectRef>
            <a:fontRef idx="minor"/>
          </p:style>
        </p:sp>
        <p:sp>
          <p:nvSpPr>
            <p:cNvPr id="33" name="Google Shape;762;p40">
              <a:extLst>
                <a:ext uri="{FF2B5EF4-FFF2-40B4-BE49-F238E27FC236}">
                  <a16:creationId xmlns:a16="http://schemas.microsoft.com/office/drawing/2014/main" id="{0EF00311-B52A-40FA-BCFF-08891DC9EF59}"/>
                </a:ext>
              </a:extLst>
            </p:cNvPr>
            <p:cNvSpPr/>
            <p:nvPr/>
          </p:nvSpPr>
          <p:spPr>
            <a:xfrm>
              <a:off x="6354360" y="3930480"/>
              <a:ext cx="1269000" cy="1168200"/>
            </a:xfrm>
            <a:custGeom>
              <a:avLst/>
              <a:gdLst/>
              <a:ahLst/>
              <a:cxnLst/>
              <a:rect l="l" t="t" r="r" b="b"/>
              <a:pathLst>
                <a:path w="66539" h="61257">
                  <a:moveTo>
                    <a:pt x="66539" y="12679"/>
                  </a:moveTo>
                  <a:cubicBezTo>
                    <a:pt x="63938" y="9725"/>
                    <a:pt x="50084" y="0"/>
                    <a:pt x="32422" y="1057"/>
                  </a:cubicBezTo>
                  <a:cubicBezTo>
                    <a:pt x="16849" y="1988"/>
                    <a:pt x="4253" y="6800"/>
                    <a:pt x="1797" y="10541"/>
                  </a:cubicBezTo>
                  <a:cubicBezTo>
                    <a:pt x="0" y="13278"/>
                    <a:pt x="3936" y="31751"/>
                    <a:pt x="6672" y="39105"/>
                  </a:cubicBezTo>
                  <a:cubicBezTo>
                    <a:pt x="9411" y="46461"/>
                    <a:pt x="10606" y="54330"/>
                    <a:pt x="10606" y="61000"/>
                  </a:cubicBezTo>
                  <a:cubicBezTo>
                    <a:pt x="10606" y="61000"/>
                    <a:pt x="54652" y="60743"/>
                    <a:pt x="54908" y="61000"/>
                  </a:cubicBezTo>
                  <a:cubicBezTo>
                    <a:pt x="55166" y="61256"/>
                    <a:pt x="60382" y="44751"/>
                    <a:pt x="61065" y="36541"/>
                  </a:cubicBezTo>
                  <a:cubicBezTo>
                    <a:pt x="61749" y="28331"/>
                    <a:pt x="60211" y="19265"/>
                    <a:pt x="66539" y="12679"/>
                  </a:cubicBezTo>
                  <a:close/>
                </a:path>
              </a:pathLst>
            </a:custGeom>
            <a:gradFill rotWithShape="0">
              <a:gsLst>
                <a:gs pos="0">
                  <a:srgbClr val="00D4F9"/>
                </a:gs>
                <a:gs pos="100000">
                  <a:srgbClr val="5C38F1"/>
                </a:gs>
              </a:gsLst>
              <a:lin ang="5400000"/>
            </a:gradFill>
            <a:ln w="0">
              <a:noFill/>
            </a:ln>
          </p:spPr>
          <p:style>
            <a:lnRef idx="0">
              <a:scrgbClr r="0" g="0" b="0"/>
            </a:lnRef>
            <a:fillRef idx="0">
              <a:scrgbClr r="0" g="0" b="0"/>
            </a:fillRef>
            <a:effectRef idx="0">
              <a:scrgbClr r="0" g="0" b="0"/>
            </a:effectRef>
            <a:fontRef idx="minor"/>
          </p:style>
        </p:sp>
        <p:sp>
          <p:nvSpPr>
            <p:cNvPr id="34" name="Google Shape;763;p40">
              <a:extLst>
                <a:ext uri="{FF2B5EF4-FFF2-40B4-BE49-F238E27FC236}">
                  <a16:creationId xmlns:a16="http://schemas.microsoft.com/office/drawing/2014/main" id="{7469E2B4-CD31-4C54-A925-FE5EBA72E2C0}"/>
                </a:ext>
              </a:extLst>
            </p:cNvPr>
            <p:cNvSpPr/>
            <p:nvPr/>
          </p:nvSpPr>
          <p:spPr>
            <a:xfrm>
              <a:off x="6839640" y="3657960"/>
              <a:ext cx="333000" cy="490320"/>
            </a:xfrm>
            <a:custGeom>
              <a:avLst/>
              <a:gdLst/>
              <a:ahLst/>
              <a:cxnLst/>
              <a:rect l="l" t="t" r="r" b="b"/>
              <a:pathLst>
                <a:path w="17499" h="25743">
                  <a:moveTo>
                    <a:pt x="17279" y="0"/>
                  </a:moveTo>
                  <a:cubicBezTo>
                    <a:pt x="17279" y="0"/>
                    <a:pt x="17499" y="13689"/>
                    <a:pt x="17279" y="17775"/>
                  </a:cubicBezTo>
                  <a:cubicBezTo>
                    <a:pt x="17060" y="21862"/>
                    <a:pt x="10726" y="25539"/>
                    <a:pt x="8378" y="25641"/>
                  </a:cubicBezTo>
                  <a:cubicBezTo>
                    <a:pt x="6028" y="25742"/>
                    <a:pt x="818" y="22270"/>
                    <a:pt x="0" y="16447"/>
                  </a:cubicBezTo>
                  <a:lnTo>
                    <a:pt x="0" y="4087"/>
                  </a:lnTo>
                  <a:close/>
                </a:path>
              </a:pathLst>
            </a:custGeom>
            <a:solidFill>
              <a:srgbClr val="F8C2C4"/>
            </a:solidFill>
            <a:ln w="0">
              <a:noFill/>
            </a:ln>
          </p:spPr>
          <p:style>
            <a:lnRef idx="0">
              <a:scrgbClr r="0" g="0" b="0"/>
            </a:lnRef>
            <a:fillRef idx="0">
              <a:scrgbClr r="0" g="0" b="0"/>
            </a:fillRef>
            <a:effectRef idx="0">
              <a:scrgbClr r="0" g="0" b="0"/>
            </a:effectRef>
            <a:fontRef idx="minor"/>
          </p:style>
        </p:sp>
        <p:sp>
          <p:nvSpPr>
            <p:cNvPr id="35" name="Google Shape;764;p40">
              <a:extLst>
                <a:ext uri="{FF2B5EF4-FFF2-40B4-BE49-F238E27FC236}">
                  <a16:creationId xmlns:a16="http://schemas.microsoft.com/office/drawing/2014/main" id="{4DB11E34-2D68-49E8-8D0A-53D149490CA7}"/>
                </a:ext>
              </a:extLst>
            </p:cNvPr>
            <p:cNvSpPr/>
            <p:nvPr/>
          </p:nvSpPr>
          <p:spPr>
            <a:xfrm>
              <a:off x="6839640" y="3657960"/>
              <a:ext cx="330480" cy="346680"/>
            </a:xfrm>
            <a:custGeom>
              <a:avLst/>
              <a:gdLst/>
              <a:ahLst/>
              <a:cxnLst/>
              <a:rect l="l" t="t" r="r" b="b"/>
              <a:pathLst>
                <a:path w="17364" h="18223">
                  <a:moveTo>
                    <a:pt x="17279" y="0"/>
                  </a:moveTo>
                  <a:lnTo>
                    <a:pt x="0" y="4087"/>
                  </a:lnTo>
                  <a:lnTo>
                    <a:pt x="0" y="14222"/>
                  </a:lnTo>
                  <a:cubicBezTo>
                    <a:pt x="630" y="16995"/>
                    <a:pt x="2816" y="18223"/>
                    <a:pt x="5265" y="18223"/>
                  </a:cubicBezTo>
                  <a:cubicBezTo>
                    <a:pt x="8411" y="18223"/>
                    <a:pt x="11992" y="16198"/>
                    <a:pt x="13271" y="12822"/>
                  </a:cubicBezTo>
                  <a:cubicBezTo>
                    <a:pt x="14574" y="9381"/>
                    <a:pt x="15689" y="8359"/>
                    <a:pt x="17363" y="7438"/>
                  </a:cubicBezTo>
                  <a:cubicBezTo>
                    <a:pt x="17336" y="3470"/>
                    <a:pt x="17279" y="0"/>
                    <a:pt x="17279" y="0"/>
                  </a:cubicBezTo>
                  <a:close/>
                </a:path>
              </a:pathLst>
            </a:custGeom>
            <a:solidFill>
              <a:srgbClr val="CB9EAE"/>
            </a:solidFill>
            <a:ln w="0">
              <a:noFill/>
            </a:ln>
          </p:spPr>
          <p:style>
            <a:lnRef idx="0">
              <a:scrgbClr r="0" g="0" b="0"/>
            </a:lnRef>
            <a:fillRef idx="0">
              <a:scrgbClr r="0" g="0" b="0"/>
            </a:fillRef>
            <a:effectRef idx="0">
              <a:scrgbClr r="0" g="0" b="0"/>
            </a:effectRef>
            <a:fontRef idx="minor"/>
          </p:style>
        </p:sp>
        <p:sp>
          <p:nvSpPr>
            <p:cNvPr id="36" name="Google Shape;765;p40">
              <a:extLst>
                <a:ext uri="{FF2B5EF4-FFF2-40B4-BE49-F238E27FC236}">
                  <a16:creationId xmlns:a16="http://schemas.microsoft.com/office/drawing/2014/main" id="{3D5B9F0D-1ACF-4C1A-8141-D62A84382C7B}"/>
                </a:ext>
              </a:extLst>
            </p:cNvPr>
            <p:cNvSpPr/>
            <p:nvPr/>
          </p:nvSpPr>
          <p:spPr>
            <a:xfrm>
              <a:off x="6741720" y="3324240"/>
              <a:ext cx="423360" cy="608040"/>
            </a:xfrm>
            <a:custGeom>
              <a:avLst/>
              <a:gdLst/>
              <a:ahLst/>
              <a:cxnLst/>
              <a:rect l="l" t="t" r="r" b="b"/>
              <a:pathLst>
                <a:path w="22236" h="31917">
                  <a:moveTo>
                    <a:pt x="549" y="12179"/>
                  </a:moveTo>
                  <a:cubicBezTo>
                    <a:pt x="1198" y="22208"/>
                    <a:pt x="5286" y="31917"/>
                    <a:pt x="11763" y="30893"/>
                  </a:cubicBezTo>
                  <a:cubicBezTo>
                    <a:pt x="19796" y="29624"/>
                    <a:pt x="22236" y="17440"/>
                    <a:pt x="21918" y="10800"/>
                  </a:cubicBezTo>
                  <a:cubicBezTo>
                    <a:pt x="21601" y="4160"/>
                    <a:pt x="17817" y="10"/>
                    <a:pt x="12058" y="3"/>
                  </a:cubicBezTo>
                  <a:cubicBezTo>
                    <a:pt x="6578" y="0"/>
                    <a:pt x="1" y="3687"/>
                    <a:pt x="549" y="12179"/>
                  </a:cubicBezTo>
                  <a:close/>
                </a:path>
              </a:pathLst>
            </a:custGeom>
            <a:solidFill>
              <a:srgbClr val="F8C2C4"/>
            </a:solidFill>
            <a:ln w="0">
              <a:noFill/>
            </a:ln>
          </p:spPr>
          <p:style>
            <a:lnRef idx="0">
              <a:scrgbClr r="0" g="0" b="0"/>
            </a:lnRef>
            <a:fillRef idx="0">
              <a:scrgbClr r="0" g="0" b="0"/>
            </a:fillRef>
            <a:effectRef idx="0">
              <a:scrgbClr r="0" g="0" b="0"/>
            </a:effectRef>
            <a:fontRef idx="minor"/>
          </p:style>
        </p:sp>
        <p:sp>
          <p:nvSpPr>
            <p:cNvPr id="37" name="Google Shape;766;p40">
              <a:extLst>
                <a:ext uri="{FF2B5EF4-FFF2-40B4-BE49-F238E27FC236}">
                  <a16:creationId xmlns:a16="http://schemas.microsoft.com/office/drawing/2014/main" id="{B563C9A7-EE99-4EF2-B2F7-9849A837EF00}"/>
                </a:ext>
              </a:extLst>
            </p:cNvPr>
            <p:cNvSpPr/>
            <p:nvPr/>
          </p:nvSpPr>
          <p:spPr>
            <a:xfrm>
              <a:off x="7134480" y="3544200"/>
              <a:ext cx="68760" cy="142200"/>
            </a:xfrm>
            <a:custGeom>
              <a:avLst/>
              <a:gdLst/>
              <a:ahLst/>
              <a:cxnLst/>
              <a:rect l="l" t="t" r="r" b="b"/>
              <a:pathLst>
                <a:path w="3650" h="7500">
                  <a:moveTo>
                    <a:pt x="3220" y="3983"/>
                  </a:moveTo>
                  <a:cubicBezTo>
                    <a:pt x="2791" y="5982"/>
                    <a:pt x="1818" y="7500"/>
                    <a:pt x="1047" y="7372"/>
                  </a:cubicBezTo>
                  <a:cubicBezTo>
                    <a:pt x="277" y="7243"/>
                    <a:pt x="0" y="5518"/>
                    <a:pt x="430" y="3517"/>
                  </a:cubicBezTo>
                  <a:cubicBezTo>
                    <a:pt x="859" y="1518"/>
                    <a:pt x="1832" y="0"/>
                    <a:pt x="2603" y="130"/>
                  </a:cubicBezTo>
                  <a:cubicBezTo>
                    <a:pt x="3374" y="258"/>
                    <a:pt x="3650" y="1984"/>
                    <a:pt x="3220" y="3983"/>
                  </a:cubicBezTo>
                  <a:close/>
                </a:path>
              </a:pathLst>
            </a:custGeom>
            <a:solidFill>
              <a:srgbClr val="C1BCDA"/>
            </a:solidFill>
            <a:ln w="0">
              <a:noFill/>
            </a:ln>
          </p:spPr>
          <p:style>
            <a:lnRef idx="0">
              <a:scrgbClr r="0" g="0" b="0"/>
            </a:lnRef>
            <a:fillRef idx="0">
              <a:scrgbClr r="0" g="0" b="0"/>
            </a:fillRef>
            <a:effectRef idx="0">
              <a:scrgbClr r="0" g="0" b="0"/>
            </a:effectRef>
            <a:fontRef idx="minor"/>
          </p:style>
        </p:sp>
        <p:sp>
          <p:nvSpPr>
            <p:cNvPr id="38" name="Google Shape;767;p40">
              <a:extLst>
                <a:ext uri="{FF2B5EF4-FFF2-40B4-BE49-F238E27FC236}">
                  <a16:creationId xmlns:a16="http://schemas.microsoft.com/office/drawing/2014/main" id="{5DB84FCB-50C7-474B-808A-A21EC442924B}"/>
                </a:ext>
              </a:extLst>
            </p:cNvPr>
            <p:cNvSpPr/>
            <p:nvPr/>
          </p:nvSpPr>
          <p:spPr>
            <a:xfrm>
              <a:off x="6729480" y="3291120"/>
              <a:ext cx="484560" cy="335520"/>
            </a:xfrm>
            <a:custGeom>
              <a:avLst/>
              <a:gdLst/>
              <a:ahLst/>
              <a:cxnLst/>
              <a:rect l="l" t="t" r="r" b="b"/>
              <a:pathLst>
                <a:path w="25437" h="17631">
                  <a:moveTo>
                    <a:pt x="12170" y="1"/>
                  </a:moveTo>
                  <a:cubicBezTo>
                    <a:pt x="11898" y="1"/>
                    <a:pt x="11614" y="7"/>
                    <a:pt x="11316" y="19"/>
                  </a:cubicBezTo>
                  <a:cubicBezTo>
                    <a:pt x="4391" y="306"/>
                    <a:pt x="2695" y="3878"/>
                    <a:pt x="2750" y="5207"/>
                  </a:cubicBezTo>
                  <a:cubicBezTo>
                    <a:pt x="2805" y="6536"/>
                    <a:pt x="181" y="6645"/>
                    <a:pt x="91" y="9756"/>
                  </a:cubicBezTo>
                  <a:cubicBezTo>
                    <a:pt x="1" y="12866"/>
                    <a:pt x="86" y="13601"/>
                    <a:pt x="1310" y="15474"/>
                  </a:cubicBezTo>
                  <a:cubicBezTo>
                    <a:pt x="1310" y="15474"/>
                    <a:pt x="1219" y="11976"/>
                    <a:pt x="2408" y="11976"/>
                  </a:cubicBezTo>
                  <a:cubicBezTo>
                    <a:pt x="2414" y="11976"/>
                    <a:pt x="2420" y="11976"/>
                    <a:pt x="2426" y="11976"/>
                  </a:cubicBezTo>
                  <a:cubicBezTo>
                    <a:pt x="2491" y="11978"/>
                    <a:pt x="2554" y="11979"/>
                    <a:pt x="2615" y="11979"/>
                  </a:cubicBezTo>
                  <a:cubicBezTo>
                    <a:pt x="4555" y="11979"/>
                    <a:pt x="5237" y="11070"/>
                    <a:pt x="5237" y="11070"/>
                  </a:cubicBezTo>
                  <a:cubicBezTo>
                    <a:pt x="6898" y="12558"/>
                    <a:pt x="8754" y="12970"/>
                    <a:pt x="10493" y="12970"/>
                  </a:cubicBezTo>
                  <a:cubicBezTo>
                    <a:pt x="12644" y="12970"/>
                    <a:pt x="14614" y="12340"/>
                    <a:pt x="15809" y="12340"/>
                  </a:cubicBezTo>
                  <a:cubicBezTo>
                    <a:pt x="16494" y="12340"/>
                    <a:pt x="16925" y="12547"/>
                    <a:pt x="16990" y="13197"/>
                  </a:cubicBezTo>
                  <a:cubicBezTo>
                    <a:pt x="17176" y="15083"/>
                    <a:pt x="17782" y="15325"/>
                    <a:pt x="18408" y="15325"/>
                  </a:cubicBezTo>
                  <a:cubicBezTo>
                    <a:pt x="18624" y="15325"/>
                    <a:pt x="18843" y="15296"/>
                    <a:pt x="19047" y="15296"/>
                  </a:cubicBezTo>
                  <a:cubicBezTo>
                    <a:pt x="19441" y="15296"/>
                    <a:pt x="19784" y="15403"/>
                    <a:pt x="19955" y="16033"/>
                  </a:cubicBezTo>
                  <a:cubicBezTo>
                    <a:pt x="20135" y="16698"/>
                    <a:pt x="20377" y="17170"/>
                    <a:pt x="20588" y="17491"/>
                  </a:cubicBezTo>
                  <a:cubicBezTo>
                    <a:pt x="20652" y="17587"/>
                    <a:pt x="20755" y="17630"/>
                    <a:pt x="20859" y="17630"/>
                  </a:cubicBezTo>
                  <a:cubicBezTo>
                    <a:pt x="21010" y="17630"/>
                    <a:pt x="21162" y="17537"/>
                    <a:pt x="21193" y="17377"/>
                  </a:cubicBezTo>
                  <a:cubicBezTo>
                    <a:pt x="21934" y="13573"/>
                    <a:pt x="23816" y="13393"/>
                    <a:pt x="23816" y="13393"/>
                  </a:cubicBezTo>
                  <a:cubicBezTo>
                    <a:pt x="25437" y="5519"/>
                    <a:pt x="22112" y="3319"/>
                    <a:pt x="19968" y="3113"/>
                  </a:cubicBezTo>
                  <a:cubicBezTo>
                    <a:pt x="17916" y="2915"/>
                    <a:pt x="18209" y="1"/>
                    <a:pt x="12170" y="1"/>
                  </a:cubicBezTo>
                  <a:close/>
                </a:path>
              </a:pathLst>
            </a:custGeom>
            <a:solidFill>
              <a:schemeClr val="dk1"/>
            </a:solidFill>
            <a:ln w="0">
              <a:noFill/>
            </a:ln>
          </p:spPr>
          <p:style>
            <a:lnRef idx="0">
              <a:scrgbClr r="0" g="0" b="0"/>
            </a:lnRef>
            <a:fillRef idx="0">
              <a:scrgbClr r="0" g="0" b="0"/>
            </a:fillRef>
            <a:effectRef idx="0">
              <a:scrgbClr r="0" g="0" b="0"/>
            </a:effectRef>
            <a:fontRef idx="minor"/>
          </p:style>
        </p:sp>
        <p:sp>
          <p:nvSpPr>
            <p:cNvPr id="39" name="Google Shape;768;p40">
              <a:extLst>
                <a:ext uri="{FF2B5EF4-FFF2-40B4-BE49-F238E27FC236}">
                  <a16:creationId xmlns:a16="http://schemas.microsoft.com/office/drawing/2014/main" id="{C7A6D7FE-6928-4DF6-9794-FC7D3C20BCC9}"/>
                </a:ext>
              </a:extLst>
            </p:cNvPr>
            <p:cNvSpPr/>
            <p:nvPr/>
          </p:nvSpPr>
          <p:spPr>
            <a:xfrm>
              <a:off x="6717960" y="3963960"/>
              <a:ext cx="265320" cy="317160"/>
            </a:xfrm>
            <a:custGeom>
              <a:avLst/>
              <a:gdLst/>
              <a:ahLst/>
              <a:cxnLst/>
              <a:rect l="l" t="t" r="r" b="b"/>
              <a:pathLst>
                <a:path w="13966" h="16682">
                  <a:moveTo>
                    <a:pt x="6360" y="1"/>
                  </a:moveTo>
                  <a:cubicBezTo>
                    <a:pt x="4323" y="283"/>
                    <a:pt x="2370" y="631"/>
                    <a:pt x="514" y="1024"/>
                  </a:cubicBezTo>
                  <a:cubicBezTo>
                    <a:pt x="1" y="3923"/>
                    <a:pt x="2177" y="13313"/>
                    <a:pt x="6362" y="16519"/>
                  </a:cubicBezTo>
                  <a:cubicBezTo>
                    <a:pt x="6362" y="16519"/>
                    <a:pt x="6489" y="16681"/>
                    <a:pt x="6736" y="16681"/>
                  </a:cubicBezTo>
                  <a:cubicBezTo>
                    <a:pt x="7011" y="16681"/>
                    <a:pt x="7435" y="16479"/>
                    <a:pt x="7996" y="15622"/>
                  </a:cubicBezTo>
                  <a:cubicBezTo>
                    <a:pt x="9012" y="14071"/>
                    <a:pt x="12369" y="9511"/>
                    <a:pt x="13774" y="9511"/>
                  </a:cubicBezTo>
                  <a:cubicBezTo>
                    <a:pt x="13842" y="9511"/>
                    <a:pt x="13907" y="9522"/>
                    <a:pt x="13966" y="9545"/>
                  </a:cubicBezTo>
                  <a:lnTo>
                    <a:pt x="13961" y="9537"/>
                  </a:lnTo>
                  <a:cubicBezTo>
                    <a:pt x="11398" y="9003"/>
                    <a:pt x="7098" y="5674"/>
                    <a:pt x="6360" y="425"/>
                  </a:cubicBezTo>
                  <a:lnTo>
                    <a:pt x="6360" y="1"/>
                  </a:lnTo>
                  <a:close/>
                </a:path>
              </a:pathLst>
            </a:custGeom>
            <a:solidFill>
              <a:srgbClr val="385FD4"/>
            </a:solidFill>
            <a:ln w="0">
              <a:noFill/>
            </a:ln>
          </p:spPr>
          <p:style>
            <a:lnRef idx="0">
              <a:scrgbClr r="0" g="0" b="0"/>
            </a:lnRef>
            <a:fillRef idx="0">
              <a:scrgbClr r="0" g="0" b="0"/>
            </a:fillRef>
            <a:effectRef idx="0">
              <a:scrgbClr r="0" g="0" b="0"/>
            </a:effectRef>
            <a:fontRef idx="minor"/>
          </p:style>
        </p:sp>
        <p:sp>
          <p:nvSpPr>
            <p:cNvPr id="40" name="Google Shape;769;p40">
              <a:extLst>
                <a:ext uri="{FF2B5EF4-FFF2-40B4-BE49-F238E27FC236}">
                  <a16:creationId xmlns:a16="http://schemas.microsoft.com/office/drawing/2014/main" id="{E9179954-0FC8-4CE8-9188-F1AA2E07AB03}"/>
                </a:ext>
              </a:extLst>
            </p:cNvPr>
            <p:cNvSpPr/>
            <p:nvPr/>
          </p:nvSpPr>
          <p:spPr>
            <a:xfrm>
              <a:off x="7020360" y="3961440"/>
              <a:ext cx="262080" cy="328680"/>
            </a:xfrm>
            <a:custGeom>
              <a:avLst/>
              <a:gdLst/>
              <a:ahLst/>
              <a:cxnLst/>
              <a:rect l="l" t="t" r="r" b="b"/>
              <a:pathLst>
                <a:path w="13781" h="17269">
                  <a:moveTo>
                    <a:pt x="55" y="9512"/>
                  </a:moveTo>
                  <a:cubicBezTo>
                    <a:pt x="36" y="9516"/>
                    <a:pt x="18" y="9522"/>
                    <a:pt x="0" y="9529"/>
                  </a:cubicBezTo>
                  <a:cubicBezTo>
                    <a:pt x="19" y="9523"/>
                    <a:pt x="37" y="9518"/>
                    <a:pt x="55" y="9512"/>
                  </a:cubicBezTo>
                  <a:close/>
                  <a:moveTo>
                    <a:pt x="7865" y="0"/>
                  </a:moveTo>
                  <a:cubicBezTo>
                    <a:pt x="7849" y="738"/>
                    <a:pt x="7828" y="1384"/>
                    <a:pt x="7803" y="1879"/>
                  </a:cubicBezTo>
                  <a:cubicBezTo>
                    <a:pt x="7613" y="5410"/>
                    <a:pt x="2859" y="8634"/>
                    <a:pt x="55" y="9512"/>
                  </a:cubicBezTo>
                  <a:lnTo>
                    <a:pt x="55" y="9512"/>
                  </a:lnTo>
                  <a:cubicBezTo>
                    <a:pt x="91" y="9504"/>
                    <a:pt x="128" y="9500"/>
                    <a:pt x="168" y="9500"/>
                  </a:cubicBezTo>
                  <a:cubicBezTo>
                    <a:pt x="1688" y="9500"/>
                    <a:pt x="6207" y="15454"/>
                    <a:pt x="7017" y="16807"/>
                  </a:cubicBezTo>
                  <a:cubicBezTo>
                    <a:pt x="7203" y="17120"/>
                    <a:pt x="7425" y="17269"/>
                    <a:pt x="7673" y="17269"/>
                  </a:cubicBezTo>
                  <a:cubicBezTo>
                    <a:pt x="8543" y="17269"/>
                    <a:pt x="9744" y="15438"/>
                    <a:pt x="10939" y="12386"/>
                  </a:cubicBezTo>
                  <a:cubicBezTo>
                    <a:pt x="12056" y="9535"/>
                    <a:pt x="13780" y="4624"/>
                    <a:pt x="13057" y="1156"/>
                  </a:cubicBezTo>
                  <a:cubicBezTo>
                    <a:pt x="11348" y="679"/>
                    <a:pt x="9615" y="292"/>
                    <a:pt x="7865" y="0"/>
                  </a:cubicBezTo>
                  <a:close/>
                </a:path>
              </a:pathLst>
            </a:custGeom>
            <a:solidFill>
              <a:srgbClr val="385FD4"/>
            </a:solidFill>
            <a:ln w="0">
              <a:noFill/>
            </a:ln>
          </p:spPr>
          <p:style>
            <a:lnRef idx="0">
              <a:scrgbClr r="0" g="0" b="0"/>
            </a:lnRef>
            <a:fillRef idx="0">
              <a:scrgbClr r="0" g="0" b="0"/>
            </a:fillRef>
            <a:effectRef idx="0">
              <a:scrgbClr r="0" g="0" b="0"/>
            </a:effectRef>
            <a:fontRef idx="minor"/>
          </p:style>
        </p:sp>
        <p:sp>
          <p:nvSpPr>
            <p:cNvPr id="41" name="Google Shape;770;p40">
              <a:extLst>
                <a:ext uri="{FF2B5EF4-FFF2-40B4-BE49-F238E27FC236}">
                  <a16:creationId xmlns:a16="http://schemas.microsoft.com/office/drawing/2014/main" id="{27387485-3C52-4C79-B57A-C5429CDD23E9}"/>
                </a:ext>
              </a:extLst>
            </p:cNvPr>
            <p:cNvSpPr/>
            <p:nvPr/>
          </p:nvSpPr>
          <p:spPr>
            <a:xfrm>
              <a:off x="6729840" y="3915360"/>
              <a:ext cx="253800" cy="353520"/>
            </a:xfrm>
            <a:custGeom>
              <a:avLst/>
              <a:gdLst/>
              <a:ahLst/>
              <a:cxnLst/>
              <a:rect l="l" t="t" r="r" b="b"/>
              <a:pathLst>
                <a:path w="13359" h="18585">
                  <a:moveTo>
                    <a:pt x="5753" y="2977"/>
                  </a:moveTo>
                  <a:lnTo>
                    <a:pt x="5753" y="1"/>
                  </a:lnTo>
                  <a:cubicBezTo>
                    <a:pt x="3171" y="1136"/>
                    <a:pt x="779" y="2093"/>
                    <a:pt x="515" y="3571"/>
                  </a:cubicBezTo>
                  <a:cubicBezTo>
                    <a:pt x="0" y="6467"/>
                    <a:pt x="2325" y="14884"/>
                    <a:pt x="5753" y="17855"/>
                  </a:cubicBezTo>
                  <a:cubicBezTo>
                    <a:pt x="5753" y="17855"/>
                    <a:pt x="6323" y="18584"/>
                    <a:pt x="7389" y="16958"/>
                  </a:cubicBezTo>
                  <a:cubicBezTo>
                    <a:pt x="8453" y="15333"/>
                    <a:pt x="12097" y="11609"/>
                    <a:pt x="13358" y="12097"/>
                  </a:cubicBezTo>
                  <a:lnTo>
                    <a:pt x="13354" y="12089"/>
                  </a:lnTo>
                  <a:cubicBezTo>
                    <a:pt x="10791" y="11557"/>
                    <a:pt x="6491" y="8226"/>
                    <a:pt x="5753" y="2977"/>
                  </a:cubicBezTo>
                  <a:close/>
                </a:path>
              </a:pathLst>
            </a:custGeom>
            <a:solidFill>
              <a:schemeClr val="accent4"/>
            </a:solidFill>
            <a:ln w="0">
              <a:noFill/>
            </a:ln>
          </p:spPr>
          <p:style>
            <a:lnRef idx="0">
              <a:scrgbClr r="0" g="0" b="0"/>
            </a:lnRef>
            <a:fillRef idx="0">
              <a:scrgbClr r="0" g="0" b="0"/>
            </a:fillRef>
            <a:effectRef idx="0">
              <a:scrgbClr r="0" g="0" b="0"/>
            </a:effectRef>
            <a:fontRef idx="minor"/>
          </p:style>
        </p:sp>
        <p:sp>
          <p:nvSpPr>
            <p:cNvPr id="42" name="Google Shape;771;p40">
              <a:extLst>
                <a:ext uri="{FF2B5EF4-FFF2-40B4-BE49-F238E27FC236}">
                  <a16:creationId xmlns:a16="http://schemas.microsoft.com/office/drawing/2014/main" id="{3A2062EE-70A3-4BD3-A1B0-169C55195FA7}"/>
                </a:ext>
              </a:extLst>
            </p:cNvPr>
            <p:cNvSpPr/>
            <p:nvPr/>
          </p:nvSpPr>
          <p:spPr>
            <a:xfrm>
              <a:off x="7020360" y="3895560"/>
              <a:ext cx="252360" cy="389160"/>
            </a:xfrm>
            <a:custGeom>
              <a:avLst/>
              <a:gdLst/>
              <a:ahLst/>
              <a:cxnLst/>
              <a:rect l="l" t="t" r="r" b="b"/>
              <a:pathLst>
                <a:path w="13283" h="20447">
                  <a:moveTo>
                    <a:pt x="12117" y="3494"/>
                  </a:moveTo>
                  <a:cubicBezTo>
                    <a:pt x="11403" y="1877"/>
                    <a:pt x="9085" y="563"/>
                    <a:pt x="7898" y="1"/>
                  </a:cubicBezTo>
                  <a:cubicBezTo>
                    <a:pt x="7891" y="2199"/>
                    <a:pt x="7865" y="4157"/>
                    <a:pt x="7801" y="5327"/>
                  </a:cubicBezTo>
                  <a:cubicBezTo>
                    <a:pt x="7610" y="8881"/>
                    <a:pt x="2797" y="12124"/>
                    <a:pt x="0" y="12977"/>
                  </a:cubicBezTo>
                  <a:lnTo>
                    <a:pt x="0" y="12977"/>
                  </a:lnTo>
                  <a:cubicBezTo>
                    <a:pt x="1320" y="12464"/>
                    <a:pt x="6175" y="17632"/>
                    <a:pt x="7015" y="19039"/>
                  </a:cubicBezTo>
                  <a:cubicBezTo>
                    <a:pt x="7857" y="20446"/>
                    <a:pt x="8897" y="18807"/>
                    <a:pt x="10604" y="14952"/>
                  </a:cubicBezTo>
                  <a:cubicBezTo>
                    <a:pt x="12341" y="11028"/>
                    <a:pt x="13283" y="6131"/>
                    <a:pt x="12117" y="3494"/>
                  </a:cubicBezTo>
                  <a:close/>
                </a:path>
              </a:pathLst>
            </a:custGeom>
            <a:solidFill>
              <a:schemeClr val="accent4"/>
            </a:solidFill>
            <a:ln w="0">
              <a:noFill/>
            </a:ln>
          </p:spPr>
          <p:style>
            <a:lnRef idx="0">
              <a:scrgbClr r="0" g="0" b="0"/>
            </a:lnRef>
            <a:fillRef idx="0">
              <a:scrgbClr r="0" g="0" b="0"/>
            </a:fillRef>
            <a:effectRef idx="0">
              <a:scrgbClr r="0" g="0" b="0"/>
            </a:effectRef>
            <a:fontRef idx="minor"/>
          </p:style>
        </p:sp>
        <p:sp>
          <p:nvSpPr>
            <p:cNvPr id="43" name="Google Shape;772;p40">
              <a:extLst>
                <a:ext uri="{FF2B5EF4-FFF2-40B4-BE49-F238E27FC236}">
                  <a16:creationId xmlns:a16="http://schemas.microsoft.com/office/drawing/2014/main" id="{2FB03E01-86E8-48D0-B911-C6A28A2599E6}"/>
                </a:ext>
              </a:extLst>
            </p:cNvPr>
            <p:cNvSpPr/>
            <p:nvPr/>
          </p:nvSpPr>
          <p:spPr>
            <a:xfrm>
              <a:off x="7403040" y="4172400"/>
              <a:ext cx="383400" cy="764640"/>
            </a:xfrm>
            <a:custGeom>
              <a:avLst/>
              <a:gdLst/>
              <a:ahLst/>
              <a:cxnLst/>
              <a:rect l="l" t="t" r="r" b="b"/>
              <a:pathLst>
                <a:path w="20137" h="40117">
                  <a:moveTo>
                    <a:pt x="20137" y="40116"/>
                  </a:moveTo>
                  <a:cubicBezTo>
                    <a:pt x="20137" y="28765"/>
                    <a:pt x="16830" y="6015"/>
                    <a:pt x="11584" y="0"/>
                  </a:cubicBezTo>
                  <a:cubicBezTo>
                    <a:pt x="11584" y="0"/>
                    <a:pt x="3374" y="4392"/>
                    <a:pt x="776" y="18311"/>
                  </a:cubicBezTo>
                  <a:cubicBezTo>
                    <a:pt x="1" y="22470"/>
                    <a:pt x="1321" y="34352"/>
                    <a:pt x="1663" y="39369"/>
                  </a:cubicBezTo>
                  <a:close/>
                </a:path>
              </a:pathLst>
            </a:custGeom>
            <a:gradFill rotWithShape="0">
              <a:gsLst>
                <a:gs pos="0">
                  <a:srgbClr val="00D4F9"/>
                </a:gs>
                <a:gs pos="100000">
                  <a:srgbClr val="5C38F1"/>
                </a:gs>
              </a:gsLst>
              <a:lin ang="5400000"/>
            </a:gradFill>
            <a:ln w="0">
              <a:noFill/>
            </a:ln>
          </p:spPr>
          <p:style>
            <a:lnRef idx="0">
              <a:scrgbClr r="0" g="0" b="0"/>
            </a:lnRef>
            <a:fillRef idx="0">
              <a:scrgbClr r="0" g="0" b="0"/>
            </a:fillRef>
            <a:effectRef idx="0">
              <a:scrgbClr r="0" g="0" b="0"/>
            </a:effectRef>
            <a:fontRef idx="minor"/>
          </p:style>
        </p:sp>
        <p:sp>
          <p:nvSpPr>
            <p:cNvPr id="44" name="Google Shape;773;p40">
              <a:extLst>
                <a:ext uri="{FF2B5EF4-FFF2-40B4-BE49-F238E27FC236}">
                  <a16:creationId xmlns:a16="http://schemas.microsoft.com/office/drawing/2014/main" id="{A2914B4A-B57C-4FA6-8539-60A5AA21BDB3}"/>
                </a:ext>
              </a:extLst>
            </p:cNvPr>
            <p:cNvSpPr/>
            <p:nvPr/>
          </p:nvSpPr>
          <p:spPr>
            <a:xfrm>
              <a:off x="7173000" y="4782240"/>
              <a:ext cx="624240" cy="367920"/>
            </a:xfrm>
            <a:custGeom>
              <a:avLst/>
              <a:gdLst/>
              <a:ahLst/>
              <a:cxnLst/>
              <a:rect l="l" t="t" r="r" b="b"/>
              <a:pathLst>
                <a:path w="32758" h="19338">
                  <a:moveTo>
                    <a:pt x="185" y="19337"/>
                  </a:moveTo>
                  <a:lnTo>
                    <a:pt x="25099" y="19337"/>
                  </a:lnTo>
                  <a:cubicBezTo>
                    <a:pt x="28789" y="19337"/>
                    <a:pt x="32758" y="16324"/>
                    <a:pt x="32200" y="8163"/>
                  </a:cubicBezTo>
                  <a:cubicBezTo>
                    <a:pt x="31644" y="0"/>
                    <a:pt x="18289" y="1145"/>
                    <a:pt x="13727" y="7416"/>
                  </a:cubicBezTo>
                  <a:lnTo>
                    <a:pt x="1" y="9513"/>
                  </a:lnTo>
                  <a:close/>
                </a:path>
              </a:pathLst>
            </a:custGeom>
            <a:gradFill rotWithShape="0">
              <a:gsLst>
                <a:gs pos="0">
                  <a:srgbClr val="00D4F9"/>
                </a:gs>
                <a:gs pos="100000">
                  <a:srgbClr val="5C38F1"/>
                </a:gs>
              </a:gsLst>
              <a:lin ang="5400000"/>
            </a:gradFill>
            <a:ln w="0">
              <a:noFill/>
            </a:ln>
          </p:spPr>
          <p:style>
            <a:lnRef idx="0">
              <a:scrgbClr r="0" g="0" b="0"/>
            </a:lnRef>
            <a:fillRef idx="0">
              <a:scrgbClr r="0" g="0" b="0"/>
            </a:fillRef>
            <a:effectRef idx="0">
              <a:scrgbClr r="0" g="0" b="0"/>
            </a:effectRef>
            <a:fontRef idx="minor"/>
          </p:style>
        </p:sp>
        <p:sp>
          <p:nvSpPr>
            <p:cNvPr id="45" name="Google Shape;774;p40">
              <a:extLst>
                <a:ext uri="{FF2B5EF4-FFF2-40B4-BE49-F238E27FC236}">
                  <a16:creationId xmlns:a16="http://schemas.microsoft.com/office/drawing/2014/main" id="{C2B10E02-8BA3-48CE-A0DA-D244C854C582}"/>
                </a:ext>
              </a:extLst>
            </p:cNvPr>
            <p:cNvSpPr/>
            <p:nvPr/>
          </p:nvSpPr>
          <p:spPr>
            <a:xfrm>
              <a:off x="6638400" y="4936320"/>
              <a:ext cx="629640" cy="214200"/>
            </a:xfrm>
            <a:custGeom>
              <a:avLst/>
              <a:gdLst/>
              <a:ahLst/>
              <a:cxnLst/>
              <a:rect l="l" t="t" r="r" b="b"/>
              <a:pathLst>
                <a:path w="33036" h="11277">
                  <a:moveTo>
                    <a:pt x="15638" y="10777"/>
                  </a:moveTo>
                  <a:lnTo>
                    <a:pt x="16816" y="9672"/>
                  </a:lnTo>
                  <a:lnTo>
                    <a:pt x="20399" y="10941"/>
                  </a:lnTo>
                  <a:cubicBezTo>
                    <a:pt x="21021" y="11163"/>
                    <a:pt x="21676" y="11275"/>
                    <a:pt x="22336" y="11275"/>
                  </a:cubicBezTo>
                  <a:lnTo>
                    <a:pt x="29449" y="11275"/>
                  </a:lnTo>
                  <a:cubicBezTo>
                    <a:pt x="29449" y="11275"/>
                    <a:pt x="32814" y="10555"/>
                    <a:pt x="32925" y="6583"/>
                  </a:cubicBezTo>
                  <a:cubicBezTo>
                    <a:pt x="33035" y="2611"/>
                    <a:pt x="29615" y="1452"/>
                    <a:pt x="28124" y="1452"/>
                  </a:cubicBezTo>
                  <a:lnTo>
                    <a:pt x="20328" y="1452"/>
                  </a:lnTo>
                  <a:cubicBezTo>
                    <a:pt x="19936" y="1452"/>
                    <a:pt x="19548" y="1411"/>
                    <a:pt x="19164" y="1332"/>
                  </a:cubicBezTo>
                  <a:lnTo>
                    <a:pt x="13619" y="173"/>
                  </a:lnTo>
                  <a:cubicBezTo>
                    <a:pt x="12800" y="1"/>
                    <a:pt x="11947" y="137"/>
                    <a:pt x="11221" y="554"/>
                  </a:cubicBezTo>
                  <a:lnTo>
                    <a:pt x="8077" y="2360"/>
                  </a:lnTo>
                  <a:cubicBezTo>
                    <a:pt x="7469" y="2709"/>
                    <a:pt x="6910" y="3139"/>
                    <a:pt x="6414" y="3635"/>
                  </a:cubicBezTo>
                  <a:lnTo>
                    <a:pt x="711" y="9350"/>
                  </a:lnTo>
                  <a:cubicBezTo>
                    <a:pt x="1" y="10060"/>
                    <a:pt x="506" y="11276"/>
                    <a:pt x="1510" y="11276"/>
                  </a:cubicBezTo>
                  <a:lnTo>
                    <a:pt x="14376" y="11276"/>
                  </a:lnTo>
                  <a:cubicBezTo>
                    <a:pt x="14845" y="11276"/>
                    <a:pt x="15295" y="11098"/>
                    <a:pt x="15638" y="10777"/>
                  </a:cubicBezTo>
                  <a:close/>
                </a:path>
              </a:pathLst>
            </a:custGeom>
            <a:solidFill>
              <a:srgbClr val="F8C2C4"/>
            </a:solidFill>
            <a:ln w="0">
              <a:noFill/>
            </a:ln>
          </p:spPr>
          <p:style>
            <a:lnRef idx="0">
              <a:scrgbClr r="0" g="0" b="0"/>
            </a:lnRef>
            <a:fillRef idx="0">
              <a:scrgbClr r="0" g="0" b="0"/>
            </a:fillRef>
            <a:effectRef idx="0">
              <a:scrgbClr r="0" g="0" b="0"/>
            </a:effectRef>
            <a:fontRef idx="minor"/>
          </p:style>
        </p:sp>
        <p:sp>
          <p:nvSpPr>
            <p:cNvPr id="46" name="Google Shape;775;p40">
              <a:extLst>
                <a:ext uri="{FF2B5EF4-FFF2-40B4-BE49-F238E27FC236}">
                  <a16:creationId xmlns:a16="http://schemas.microsoft.com/office/drawing/2014/main" id="{7C070EF2-2B9D-491A-B1EC-D5901077EB35}"/>
                </a:ext>
              </a:extLst>
            </p:cNvPr>
            <p:cNvSpPr/>
            <p:nvPr/>
          </p:nvSpPr>
          <p:spPr>
            <a:xfrm>
              <a:off x="7431120" y="3501360"/>
              <a:ext cx="843120" cy="1074600"/>
            </a:xfrm>
            <a:custGeom>
              <a:avLst/>
              <a:gdLst/>
              <a:ahLst/>
              <a:cxnLst/>
              <a:rect l="l" t="t" r="r" b="b"/>
              <a:pathLst>
                <a:path w="44219" h="56351">
                  <a:moveTo>
                    <a:pt x="40175" y="3086"/>
                  </a:moveTo>
                  <a:cubicBezTo>
                    <a:pt x="34834" y="1"/>
                    <a:pt x="25474" y="8781"/>
                    <a:pt x="27488" y="19158"/>
                  </a:cubicBezTo>
                  <a:cubicBezTo>
                    <a:pt x="29501" y="29536"/>
                    <a:pt x="18104" y="42412"/>
                    <a:pt x="18104" y="42412"/>
                  </a:cubicBezTo>
                  <a:cubicBezTo>
                    <a:pt x="18104" y="42412"/>
                    <a:pt x="5186" y="47600"/>
                    <a:pt x="0" y="48582"/>
                  </a:cubicBezTo>
                  <a:cubicBezTo>
                    <a:pt x="1245" y="50349"/>
                    <a:pt x="2663" y="52972"/>
                    <a:pt x="3307" y="56350"/>
                  </a:cubicBezTo>
                  <a:cubicBezTo>
                    <a:pt x="11791" y="55652"/>
                    <a:pt x="23961" y="53926"/>
                    <a:pt x="28882" y="49827"/>
                  </a:cubicBezTo>
                  <a:cubicBezTo>
                    <a:pt x="36317" y="43631"/>
                    <a:pt x="44214" y="20784"/>
                    <a:pt x="44216" y="13526"/>
                  </a:cubicBezTo>
                  <a:cubicBezTo>
                    <a:pt x="44219" y="5078"/>
                    <a:pt x="40175" y="3086"/>
                    <a:pt x="40175" y="3086"/>
                  </a:cubicBez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47" name="Google Shape;776;p40">
              <a:extLst>
                <a:ext uri="{FF2B5EF4-FFF2-40B4-BE49-F238E27FC236}">
                  <a16:creationId xmlns:a16="http://schemas.microsoft.com/office/drawing/2014/main" id="{19120A5E-941D-4490-81B8-A6DBF55F078D}"/>
                </a:ext>
              </a:extLst>
            </p:cNvPr>
            <p:cNvSpPr/>
            <p:nvPr/>
          </p:nvSpPr>
          <p:spPr>
            <a:xfrm>
              <a:off x="6835320" y="4428720"/>
              <a:ext cx="658080" cy="253440"/>
            </a:xfrm>
            <a:custGeom>
              <a:avLst/>
              <a:gdLst/>
              <a:ahLst/>
              <a:cxnLst/>
              <a:rect l="l" t="t" r="r" b="b"/>
              <a:pathLst>
                <a:path w="34525" h="13327">
                  <a:moveTo>
                    <a:pt x="29867" y="161"/>
                  </a:moveTo>
                  <a:lnTo>
                    <a:pt x="13166" y="161"/>
                  </a:lnTo>
                  <a:cubicBezTo>
                    <a:pt x="13166" y="161"/>
                    <a:pt x="1238" y="4201"/>
                    <a:pt x="929" y="4891"/>
                  </a:cubicBezTo>
                  <a:cubicBezTo>
                    <a:pt x="619" y="5581"/>
                    <a:pt x="0" y="9690"/>
                    <a:pt x="929" y="10656"/>
                  </a:cubicBezTo>
                  <a:cubicBezTo>
                    <a:pt x="1859" y="11623"/>
                    <a:pt x="7899" y="13327"/>
                    <a:pt x="9449" y="13017"/>
                  </a:cubicBezTo>
                  <a:cubicBezTo>
                    <a:pt x="10998" y="12706"/>
                    <a:pt x="23078" y="8215"/>
                    <a:pt x="25867" y="8215"/>
                  </a:cubicBezTo>
                  <a:cubicBezTo>
                    <a:pt x="26810" y="8215"/>
                    <a:pt x="30186" y="8125"/>
                    <a:pt x="34524" y="7768"/>
                  </a:cubicBezTo>
                  <a:cubicBezTo>
                    <a:pt x="33880" y="4390"/>
                    <a:pt x="32462" y="1767"/>
                    <a:pt x="31217" y="0"/>
                  </a:cubicBezTo>
                  <a:cubicBezTo>
                    <a:pt x="30676" y="103"/>
                    <a:pt x="30216" y="161"/>
                    <a:pt x="29867" y="161"/>
                  </a:cubicBezTo>
                  <a:close/>
                </a:path>
              </a:pathLst>
            </a:custGeom>
            <a:solidFill>
              <a:srgbClr val="F8C2C4"/>
            </a:solidFill>
            <a:ln w="0">
              <a:noFill/>
            </a:ln>
          </p:spPr>
          <p:style>
            <a:lnRef idx="0">
              <a:scrgbClr r="0" g="0" b="0"/>
            </a:lnRef>
            <a:fillRef idx="0">
              <a:scrgbClr r="0" g="0" b="0"/>
            </a:fillRef>
            <a:effectRef idx="0">
              <a:scrgbClr r="0" g="0" b="0"/>
            </a:effectRef>
            <a:fontRef idx="minor"/>
          </p:style>
        </p:sp>
        <p:sp>
          <p:nvSpPr>
            <p:cNvPr id="48" name="Google Shape;777;p40">
              <a:extLst>
                <a:ext uri="{FF2B5EF4-FFF2-40B4-BE49-F238E27FC236}">
                  <a16:creationId xmlns:a16="http://schemas.microsoft.com/office/drawing/2014/main" id="{1CDFC415-7FFE-4279-AF19-494589E67EDE}"/>
                </a:ext>
              </a:extLst>
            </p:cNvPr>
            <p:cNvSpPr/>
            <p:nvPr/>
          </p:nvSpPr>
          <p:spPr>
            <a:xfrm>
              <a:off x="5362200" y="4048920"/>
              <a:ext cx="242280" cy="233280"/>
            </a:xfrm>
            <a:custGeom>
              <a:avLst/>
              <a:gdLst/>
              <a:ahLst/>
              <a:cxnLst/>
              <a:rect l="l" t="t" r="r" b="b"/>
              <a:pathLst>
                <a:path w="12747" h="12278">
                  <a:moveTo>
                    <a:pt x="1" y="8967"/>
                  </a:moveTo>
                  <a:cubicBezTo>
                    <a:pt x="1" y="8967"/>
                    <a:pt x="4185" y="12277"/>
                    <a:pt x="8467" y="8967"/>
                  </a:cubicBezTo>
                  <a:cubicBezTo>
                    <a:pt x="12746" y="5656"/>
                    <a:pt x="9798" y="1"/>
                    <a:pt x="9798" y="1"/>
                  </a:cubicBezTo>
                  <a:lnTo>
                    <a:pt x="1" y="5220"/>
                  </a:ln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49" name="Google Shape;778;p40">
              <a:extLst>
                <a:ext uri="{FF2B5EF4-FFF2-40B4-BE49-F238E27FC236}">
                  <a16:creationId xmlns:a16="http://schemas.microsoft.com/office/drawing/2014/main" id="{6528C8A8-3AA7-46A2-9AD5-57B25BB0E324}"/>
                </a:ext>
              </a:extLst>
            </p:cNvPr>
            <p:cNvSpPr/>
            <p:nvPr/>
          </p:nvSpPr>
          <p:spPr>
            <a:xfrm>
              <a:off x="5324040" y="3627720"/>
              <a:ext cx="152640" cy="471600"/>
            </a:xfrm>
            <a:custGeom>
              <a:avLst/>
              <a:gdLst/>
              <a:ahLst/>
              <a:cxnLst/>
              <a:rect l="l" t="t" r="r" b="b"/>
              <a:pathLst>
                <a:path w="8051" h="24761">
                  <a:moveTo>
                    <a:pt x="8051" y="1"/>
                  </a:moveTo>
                  <a:lnTo>
                    <a:pt x="8051" y="24761"/>
                  </a:lnTo>
                  <a:lnTo>
                    <a:pt x="0" y="24761"/>
                  </a:lnTo>
                  <a:lnTo>
                    <a:pt x="0" y="1356"/>
                  </a:ln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50" name="Google Shape;779;p40">
              <a:extLst>
                <a:ext uri="{FF2B5EF4-FFF2-40B4-BE49-F238E27FC236}">
                  <a16:creationId xmlns:a16="http://schemas.microsoft.com/office/drawing/2014/main" id="{B891D0C9-0393-4070-8D98-C2897D5EFBD6}"/>
                </a:ext>
              </a:extLst>
            </p:cNvPr>
            <p:cNvSpPr/>
            <p:nvPr/>
          </p:nvSpPr>
          <p:spPr>
            <a:xfrm>
              <a:off x="5074920" y="4472280"/>
              <a:ext cx="360000" cy="678240"/>
            </a:xfrm>
            <a:custGeom>
              <a:avLst/>
              <a:gdLst/>
              <a:ahLst/>
              <a:cxnLst/>
              <a:rect l="l" t="t" r="r" b="b"/>
              <a:pathLst>
                <a:path w="18924" h="35586">
                  <a:moveTo>
                    <a:pt x="7979" y="17272"/>
                  </a:moveTo>
                  <a:cubicBezTo>
                    <a:pt x="7205" y="21403"/>
                    <a:pt x="2802" y="27206"/>
                    <a:pt x="1" y="35585"/>
                  </a:cubicBezTo>
                  <a:lnTo>
                    <a:pt x="16002" y="35585"/>
                  </a:lnTo>
                  <a:cubicBezTo>
                    <a:pt x="17537" y="25520"/>
                    <a:pt x="18924" y="12010"/>
                    <a:pt x="16735" y="0"/>
                  </a:cubicBezTo>
                  <a:lnTo>
                    <a:pt x="7508" y="0"/>
                  </a:lnTo>
                  <a:cubicBezTo>
                    <a:pt x="8361" y="4048"/>
                    <a:pt x="8708" y="13385"/>
                    <a:pt x="7979" y="17272"/>
                  </a:cubicBezTo>
                  <a:close/>
                </a:path>
              </a:pathLst>
            </a:custGeom>
            <a:gradFill rotWithShape="0">
              <a:gsLst>
                <a:gs pos="0">
                  <a:srgbClr val="00D4F9"/>
                </a:gs>
                <a:gs pos="100000">
                  <a:srgbClr val="5C38F1"/>
                </a:gs>
              </a:gsLst>
              <a:lin ang="5400000"/>
            </a:gradFill>
            <a:ln w="0">
              <a:noFill/>
            </a:ln>
          </p:spPr>
          <p:style>
            <a:lnRef idx="0">
              <a:scrgbClr r="0" g="0" b="0"/>
            </a:lnRef>
            <a:fillRef idx="0">
              <a:scrgbClr r="0" g="0" b="0"/>
            </a:fillRef>
            <a:effectRef idx="0">
              <a:scrgbClr r="0" g="0" b="0"/>
            </a:effectRef>
            <a:fontRef idx="minor"/>
          </p:style>
        </p:sp>
        <p:sp>
          <p:nvSpPr>
            <p:cNvPr id="51" name="Google Shape;780;p40">
              <a:extLst>
                <a:ext uri="{FF2B5EF4-FFF2-40B4-BE49-F238E27FC236}">
                  <a16:creationId xmlns:a16="http://schemas.microsoft.com/office/drawing/2014/main" id="{26DD1671-71EE-4C35-BEB5-FC08A5648C76}"/>
                </a:ext>
              </a:extLst>
            </p:cNvPr>
            <p:cNvSpPr/>
            <p:nvPr/>
          </p:nvSpPr>
          <p:spPr>
            <a:xfrm>
              <a:off x="4934160" y="4472280"/>
              <a:ext cx="305640" cy="678240"/>
            </a:xfrm>
            <a:custGeom>
              <a:avLst/>
              <a:gdLst/>
              <a:ahLst/>
              <a:cxnLst/>
              <a:rect l="l" t="t" r="r" b="b"/>
              <a:pathLst>
                <a:path w="16076" h="35586">
                  <a:moveTo>
                    <a:pt x="1" y="16376"/>
                  </a:moveTo>
                  <a:cubicBezTo>
                    <a:pt x="1" y="16376"/>
                    <a:pt x="1853" y="25366"/>
                    <a:pt x="3118" y="35585"/>
                  </a:cubicBezTo>
                  <a:lnTo>
                    <a:pt x="7368" y="35585"/>
                  </a:lnTo>
                  <a:cubicBezTo>
                    <a:pt x="10169" y="27206"/>
                    <a:pt x="14572" y="21403"/>
                    <a:pt x="15346" y="17272"/>
                  </a:cubicBezTo>
                  <a:cubicBezTo>
                    <a:pt x="16075" y="13385"/>
                    <a:pt x="15728" y="4048"/>
                    <a:pt x="14875" y="0"/>
                  </a:cubicBezTo>
                  <a:lnTo>
                    <a:pt x="383" y="0"/>
                  </a:lnTo>
                  <a:close/>
                </a:path>
              </a:pathLst>
            </a:custGeom>
            <a:solidFill>
              <a:srgbClr val="1C399B"/>
            </a:solidFill>
            <a:ln w="0">
              <a:noFill/>
            </a:ln>
          </p:spPr>
          <p:style>
            <a:lnRef idx="0">
              <a:scrgbClr r="0" g="0" b="0"/>
            </a:lnRef>
            <a:fillRef idx="0">
              <a:scrgbClr r="0" g="0" b="0"/>
            </a:fillRef>
            <a:effectRef idx="0">
              <a:scrgbClr r="0" g="0" b="0"/>
            </a:effectRef>
            <a:fontRef idx="minor"/>
          </p:style>
        </p:sp>
        <p:sp>
          <p:nvSpPr>
            <p:cNvPr id="52" name="Google Shape;781;p40">
              <a:extLst>
                <a:ext uri="{FF2B5EF4-FFF2-40B4-BE49-F238E27FC236}">
                  <a16:creationId xmlns:a16="http://schemas.microsoft.com/office/drawing/2014/main" id="{9CFD4669-868D-4C51-9EB3-865D97BFB44A}"/>
                </a:ext>
              </a:extLst>
            </p:cNvPr>
            <p:cNvSpPr/>
            <p:nvPr/>
          </p:nvSpPr>
          <p:spPr>
            <a:xfrm>
              <a:off x="4680360" y="4447800"/>
              <a:ext cx="559440" cy="702720"/>
            </a:xfrm>
            <a:custGeom>
              <a:avLst/>
              <a:gdLst/>
              <a:ahLst/>
              <a:cxnLst/>
              <a:rect l="l" t="t" r="r" b="b"/>
              <a:pathLst>
                <a:path w="29366" h="36865">
                  <a:moveTo>
                    <a:pt x="28165" y="1279"/>
                  </a:moveTo>
                  <a:cubicBezTo>
                    <a:pt x="28056" y="760"/>
                    <a:pt x="27939" y="322"/>
                    <a:pt x="27815" y="0"/>
                  </a:cubicBezTo>
                  <a:lnTo>
                    <a:pt x="1" y="0"/>
                  </a:lnTo>
                  <a:cubicBezTo>
                    <a:pt x="384" y="13387"/>
                    <a:pt x="1439" y="26710"/>
                    <a:pt x="2074" y="36864"/>
                  </a:cubicBezTo>
                  <a:lnTo>
                    <a:pt x="20659" y="36864"/>
                  </a:lnTo>
                  <a:cubicBezTo>
                    <a:pt x="23459" y="28485"/>
                    <a:pt x="27863" y="22682"/>
                    <a:pt x="28637" y="18551"/>
                  </a:cubicBezTo>
                  <a:cubicBezTo>
                    <a:pt x="29365" y="14664"/>
                    <a:pt x="29018" y="5327"/>
                    <a:pt x="28165" y="1279"/>
                  </a:cubicBezTo>
                  <a:close/>
                </a:path>
              </a:pathLst>
            </a:custGeom>
            <a:gradFill rotWithShape="0">
              <a:gsLst>
                <a:gs pos="0">
                  <a:srgbClr val="00D4F9"/>
                </a:gs>
                <a:gs pos="100000">
                  <a:srgbClr val="5C38F1"/>
                </a:gs>
              </a:gsLst>
              <a:lin ang="5400000"/>
            </a:gradFill>
            <a:ln w="0">
              <a:noFill/>
            </a:ln>
          </p:spPr>
          <p:style>
            <a:lnRef idx="0">
              <a:scrgbClr r="0" g="0" b="0"/>
            </a:lnRef>
            <a:fillRef idx="0">
              <a:scrgbClr r="0" g="0" b="0"/>
            </a:fillRef>
            <a:effectRef idx="0">
              <a:scrgbClr r="0" g="0" b="0"/>
            </a:effectRef>
            <a:fontRef idx="minor"/>
          </p:style>
        </p:sp>
        <p:sp>
          <p:nvSpPr>
            <p:cNvPr id="53" name="Google Shape;782;p40">
              <a:extLst>
                <a:ext uri="{FF2B5EF4-FFF2-40B4-BE49-F238E27FC236}">
                  <a16:creationId xmlns:a16="http://schemas.microsoft.com/office/drawing/2014/main" id="{22FF7B59-6313-497D-9FDE-20CB01C3C6DD}"/>
                </a:ext>
              </a:extLst>
            </p:cNvPr>
            <p:cNvSpPr/>
            <p:nvPr/>
          </p:nvSpPr>
          <p:spPr>
            <a:xfrm>
              <a:off x="4449600" y="3123000"/>
              <a:ext cx="1062720" cy="1515960"/>
            </a:xfrm>
            <a:custGeom>
              <a:avLst/>
              <a:gdLst/>
              <a:ahLst/>
              <a:cxnLst/>
              <a:rect l="l" t="t" r="r" b="b"/>
              <a:pathLst>
                <a:path w="55739" h="79471">
                  <a:moveTo>
                    <a:pt x="31055" y="4414"/>
                  </a:moveTo>
                  <a:cubicBezTo>
                    <a:pt x="14603" y="0"/>
                    <a:pt x="3490" y="7345"/>
                    <a:pt x="1666" y="17892"/>
                  </a:cubicBezTo>
                  <a:cubicBezTo>
                    <a:pt x="0" y="27525"/>
                    <a:pt x="12095" y="57356"/>
                    <a:pt x="12095" y="69419"/>
                  </a:cubicBezTo>
                  <a:cubicBezTo>
                    <a:pt x="12095" y="69419"/>
                    <a:pt x="31596" y="79471"/>
                    <a:pt x="49487" y="70698"/>
                  </a:cubicBezTo>
                  <a:cubicBezTo>
                    <a:pt x="49487" y="70698"/>
                    <a:pt x="46804" y="57904"/>
                    <a:pt x="49487" y="46573"/>
                  </a:cubicBezTo>
                  <a:cubicBezTo>
                    <a:pt x="52171" y="35241"/>
                    <a:pt x="55739" y="28749"/>
                    <a:pt x="52708" y="20620"/>
                  </a:cubicBezTo>
                  <a:cubicBezTo>
                    <a:pt x="50060" y="13518"/>
                    <a:pt x="38750" y="6480"/>
                    <a:pt x="31055" y="4414"/>
                  </a:cubicBezTo>
                  <a:close/>
                </a:path>
              </a:pathLst>
            </a:custGeom>
            <a:gradFill rotWithShape="0">
              <a:gsLst>
                <a:gs pos="0">
                  <a:srgbClr val="00D4F9"/>
                </a:gs>
                <a:gs pos="100000">
                  <a:srgbClr val="EEEEEE"/>
                </a:gs>
              </a:gsLst>
              <a:lin ang="5400000"/>
            </a:gradFill>
            <a:ln w="0">
              <a:noFill/>
            </a:ln>
          </p:spPr>
          <p:style>
            <a:lnRef idx="0">
              <a:scrgbClr r="0" g="0" b="0"/>
            </a:lnRef>
            <a:fillRef idx="0">
              <a:scrgbClr r="0" g="0" b="0"/>
            </a:fillRef>
            <a:effectRef idx="0">
              <a:scrgbClr r="0" g="0" b="0"/>
            </a:effectRef>
            <a:fontRef idx="minor"/>
          </p:style>
        </p:sp>
        <p:sp>
          <p:nvSpPr>
            <p:cNvPr id="54" name="Google Shape;783;p40">
              <a:extLst>
                <a:ext uri="{FF2B5EF4-FFF2-40B4-BE49-F238E27FC236}">
                  <a16:creationId xmlns:a16="http://schemas.microsoft.com/office/drawing/2014/main" id="{8FE54D82-D32D-4467-9EEA-799566165C1A}"/>
                </a:ext>
              </a:extLst>
            </p:cNvPr>
            <p:cNvSpPr/>
            <p:nvPr/>
          </p:nvSpPr>
          <p:spPr>
            <a:xfrm>
              <a:off x="4941360" y="2977920"/>
              <a:ext cx="338760" cy="460080"/>
            </a:xfrm>
            <a:custGeom>
              <a:avLst/>
              <a:gdLst/>
              <a:ahLst/>
              <a:cxnLst/>
              <a:rect l="l" t="t" r="r" b="b"/>
              <a:pathLst>
                <a:path w="17803" h="24169">
                  <a:moveTo>
                    <a:pt x="11450" y="1115"/>
                  </a:moveTo>
                  <a:cubicBezTo>
                    <a:pt x="11450" y="1115"/>
                    <a:pt x="5240" y="8924"/>
                    <a:pt x="2621" y="11413"/>
                  </a:cubicBezTo>
                  <a:cubicBezTo>
                    <a:pt x="1" y="13902"/>
                    <a:pt x="4835" y="18993"/>
                    <a:pt x="8503" y="21155"/>
                  </a:cubicBezTo>
                  <a:cubicBezTo>
                    <a:pt x="10926" y="22583"/>
                    <a:pt x="16034" y="24168"/>
                    <a:pt x="14528" y="19715"/>
                  </a:cubicBezTo>
                  <a:cubicBezTo>
                    <a:pt x="14528" y="19715"/>
                    <a:pt x="13676" y="17226"/>
                    <a:pt x="17803" y="13689"/>
                  </a:cubicBezTo>
                  <a:cubicBezTo>
                    <a:pt x="17803" y="13689"/>
                    <a:pt x="13218" y="1"/>
                    <a:pt x="11450" y="1115"/>
                  </a:cubicBezTo>
                  <a:close/>
                </a:path>
              </a:pathLst>
            </a:custGeom>
            <a:solidFill>
              <a:srgbClr val="F8C2C4"/>
            </a:solidFill>
            <a:ln w="0">
              <a:noFill/>
            </a:ln>
          </p:spPr>
          <p:style>
            <a:lnRef idx="0">
              <a:scrgbClr r="0" g="0" b="0"/>
            </a:lnRef>
            <a:fillRef idx="0">
              <a:scrgbClr r="0" g="0" b="0"/>
            </a:fillRef>
            <a:effectRef idx="0">
              <a:scrgbClr r="0" g="0" b="0"/>
            </a:effectRef>
            <a:fontRef idx="minor"/>
          </p:style>
        </p:sp>
        <p:sp>
          <p:nvSpPr>
            <p:cNvPr id="55" name="Google Shape;784;p40">
              <a:extLst>
                <a:ext uri="{FF2B5EF4-FFF2-40B4-BE49-F238E27FC236}">
                  <a16:creationId xmlns:a16="http://schemas.microsoft.com/office/drawing/2014/main" id="{30960545-CEAE-4750-850A-E7B5E8D852F4}"/>
                </a:ext>
              </a:extLst>
            </p:cNvPr>
            <p:cNvSpPr/>
            <p:nvPr/>
          </p:nvSpPr>
          <p:spPr>
            <a:xfrm>
              <a:off x="5112360" y="3047400"/>
              <a:ext cx="167760" cy="305640"/>
            </a:xfrm>
            <a:custGeom>
              <a:avLst/>
              <a:gdLst/>
              <a:ahLst/>
              <a:cxnLst/>
              <a:rect l="l" t="t" r="r" b="b"/>
              <a:pathLst>
                <a:path w="8844" h="16068">
                  <a:moveTo>
                    <a:pt x="4803" y="1"/>
                  </a:moveTo>
                  <a:lnTo>
                    <a:pt x="2780" y="955"/>
                  </a:lnTo>
                  <a:cubicBezTo>
                    <a:pt x="424" y="5789"/>
                    <a:pt x="0" y="14897"/>
                    <a:pt x="5569" y="16067"/>
                  </a:cubicBezTo>
                  <a:lnTo>
                    <a:pt x="5569" y="16067"/>
                  </a:lnTo>
                  <a:cubicBezTo>
                    <a:pt x="5567" y="16066"/>
                    <a:pt x="4720" y="13578"/>
                    <a:pt x="8844" y="10043"/>
                  </a:cubicBezTo>
                  <a:cubicBezTo>
                    <a:pt x="8844" y="10043"/>
                    <a:pt x="6717" y="3699"/>
                    <a:pt x="4803" y="1"/>
                  </a:cubicBezTo>
                  <a:close/>
                  <a:moveTo>
                    <a:pt x="5569" y="16067"/>
                  </a:moveTo>
                  <a:cubicBezTo>
                    <a:pt x="5569" y="16067"/>
                    <a:pt x="5569" y="16067"/>
                    <a:pt x="5569" y="16067"/>
                  </a:cubicBezTo>
                  <a:cubicBezTo>
                    <a:pt x="5569" y="16067"/>
                    <a:pt x="5569" y="16067"/>
                    <a:pt x="5569" y="16067"/>
                  </a:cubicBezTo>
                  <a:cubicBezTo>
                    <a:pt x="5569" y="16067"/>
                    <a:pt x="5569" y="16067"/>
                    <a:pt x="5569" y="16067"/>
                  </a:cubicBezTo>
                  <a:close/>
                </a:path>
              </a:pathLst>
            </a:custGeom>
            <a:solidFill>
              <a:srgbClr val="CB9EAE"/>
            </a:solidFill>
            <a:ln w="0">
              <a:noFill/>
            </a:ln>
          </p:spPr>
          <p:style>
            <a:lnRef idx="0">
              <a:scrgbClr r="0" g="0" b="0"/>
            </a:lnRef>
            <a:fillRef idx="0">
              <a:scrgbClr r="0" g="0" b="0"/>
            </a:fillRef>
            <a:effectRef idx="0">
              <a:scrgbClr r="0" g="0" b="0"/>
            </a:effectRef>
            <a:fontRef idx="minor"/>
          </p:style>
        </p:sp>
        <p:sp>
          <p:nvSpPr>
            <p:cNvPr id="56" name="Google Shape;785;p40">
              <a:extLst>
                <a:ext uri="{FF2B5EF4-FFF2-40B4-BE49-F238E27FC236}">
                  <a16:creationId xmlns:a16="http://schemas.microsoft.com/office/drawing/2014/main" id="{4D9C6626-1223-4FF5-9D95-D24A4C78E5C7}"/>
                </a:ext>
              </a:extLst>
            </p:cNvPr>
            <p:cNvSpPr/>
            <p:nvPr/>
          </p:nvSpPr>
          <p:spPr>
            <a:xfrm>
              <a:off x="5131440" y="2860920"/>
              <a:ext cx="388440" cy="445680"/>
            </a:xfrm>
            <a:custGeom>
              <a:avLst/>
              <a:gdLst/>
              <a:ahLst/>
              <a:cxnLst/>
              <a:rect l="l" t="t" r="r" b="b"/>
              <a:pathLst>
                <a:path w="20415" h="23408">
                  <a:moveTo>
                    <a:pt x="3925" y="5832"/>
                  </a:moveTo>
                  <a:cubicBezTo>
                    <a:pt x="4450" y="2856"/>
                    <a:pt x="1789" y="2631"/>
                    <a:pt x="954" y="5117"/>
                  </a:cubicBezTo>
                  <a:cubicBezTo>
                    <a:pt x="0" y="7956"/>
                    <a:pt x="1052" y="9924"/>
                    <a:pt x="2145" y="9269"/>
                  </a:cubicBezTo>
                  <a:cubicBezTo>
                    <a:pt x="2145" y="9269"/>
                    <a:pt x="24" y="15682"/>
                    <a:pt x="2693" y="19544"/>
                  </a:cubicBezTo>
                  <a:cubicBezTo>
                    <a:pt x="5363" y="23407"/>
                    <a:pt x="8771" y="21921"/>
                    <a:pt x="13030" y="17727"/>
                  </a:cubicBezTo>
                  <a:cubicBezTo>
                    <a:pt x="16694" y="14118"/>
                    <a:pt x="19078" y="9712"/>
                    <a:pt x="19448" y="8015"/>
                  </a:cubicBezTo>
                  <a:cubicBezTo>
                    <a:pt x="20414" y="3584"/>
                    <a:pt x="15814" y="1"/>
                    <a:pt x="11497" y="234"/>
                  </a:cubicBezTo>
                  <a:cubicBezTo>
                    <a:pt x="6214" y="517"/>
                    <a:pt x="3925" y="5832"/>
                    <a:pt x="3925" y="5832"/>
                  </a:cubicBezTo>
                  <a:close/>
                </a:path>
              </a:pathLst>
            </a:custGeom>
            <a:solidFill>
              <a:srgbClr val="F8C2C4"/>
            </a:solidFill>
            <a:ln w="0">
              <a:noFill/>
            </a:ln>
          </p:spPr>
          <p:style>
            <a:lnRef idx="0">
              <a:scrgbClr r="0" g="0" b="0"/>
            </a:lnRef>
            <a:fillRef idx="0">
              <a:scrgbClr r="0" g="0" b="0"/>
            </a:fillRef>
            <a:effectRef idx="0">
              <a:scrgbClr r="0" g="0" b="0"/>
            </a:effectRef>
            <a:fontRef idx="minor"/>
          </p:style>
        </p:sp>
        <p:sp>
          <p:nvSpPr>
            <p:cNvPr id="57" name="Google Shape;786;p40">
              <a:extLst>
                <a:ext uri="{FF2B5EF4-FFF2-40B4-BE49-F238E27FC236}">
                  <a16:creationId xmlns:a16="http://schemas.microsoft.com/office/drawing/2014/main" id="{16819ABA-ADAE-4239-A74B-1CA1E8B91D25}"/>
                </a:ext>
              </a:extLst>
            </p:cNvPr>
            <p:cNvSpPr/>
            <p:nvPr/>
          </p:nvSpPr>
          <p:spPr>
            <a:xfrm>
              <a:off x="5178240" y="2778120"/>
              <a:ext cx="430200" cy="298080"/>
            </a:xfrm>
            <a:custGeom>
              <a:avLst/>
              <a:gdLst/>
              <a:ahLst/>
              <a:cxnLst/>
              <a:rect l="l" t="t" r="r" b="b"/>
              <a:pathLst>
                <a:path w="22597" h="15676">
                  <a:moveTo>
                    <a:pt x="9033" y="1"/>
                  </a:moveTo>
                  <a:cubicBezTo>
                    <a:pt x="6230" y="1"/>
                    <a:pt x="1561" y="1922"/>
                    <a:pt x="0" y="7807"/>
                  </a:cubicBezTo>
                  <a:cubicBezTo>
                    <a:pt x="0" y="7807"/>
                    <a:pt x="0" y="7807"/>
                    <a:pt x="0" y="7807"/>
                  </a:cubicBezTo>
                  <a:cubicBezTo>
                    <a:pt x="2" y="7807"/>
                    <a:pt x="76" y="7792"/>
                    <a:pt x="191" y="7792"/>
                  </a:cubicBezTo>
                  <a:cubicBezTo>
                    <a:pt x="637" y="7792"/>
                    <a:pt x="1690" y="8015"/>
                    <a:pt x="1485" y="10180"/>
                  </a:cubicBezTo>
                  <a:cubicBezTo>
                    <a:pt x="1344" y="11648"/>
                    <a:pt x="1523" y="12839"/>
                    <a:pt x="2189" y="12839"/>
                  </a:cubicBezTo>
                  <a:cubicBezTo>
                    <a:pt x="2319" y="12839"/>
                    <a:pt x="2467" y="12794"/>
                    <a:pt x="2636" y="12696"/>
                  </a:cubicBezTo>
                  <a:cubicBezTo>
                    <a:pt x="3399" y="12254"/>
                    <a:pt x="4936" y="10206"/>
                    <a:pt x="6585" y="10206"/>
                  </a:cubicBezTo>
                  <a:cubicBezTo>
                    <a:pt x="7164" y="10206"/>
                    <a:pt x="7757" y="10458"/>
                    <a:pt x="8335" y="11122"/>
                  </a:cubicBezTo>
                  <a:cubicBezTo>
                    <a:pt x="10385" y="13474"/>
                    <a:pt x="12079" y="15676"/>
                    <a:pt x="15426" y="15676"/>
                  </a:cubicBezTo>
                  <a:cubicBezTo>
                    <a:pt x="15710" y="15676"/>
                    <a:pt x="16005" y="15660"/>
                    <a:pt x="16313" y="15627"/>
                  </a:cubicBezTo>
                  <a:cubicBezTo>
                    <a:pt x="21414" y="15084"/>
                    <a:pt x="22597" y="8180"/>
                    <a:pt x="18104" y="6943"/>
                  </a:cubicBezTo>
                  <a:cubicBezTo>
                    <a:pt x="18104" y="6943"/>
                    <a:pt x="20057" y="4571"/>
                    <a:pt x="16583" y="3469"/>
                  </a:cubicBezTo>
                  <a:cubicBezTo>
                    <a:pt x="13404" y="2460"/>
                    <a:pt x="13276" y="3085"/>
                    <a:pt x="11051" y="589"/>
                  </a:cubicBezTo>
                  <a:cubicBezTo>
                    <a:pt x="10726" y="223"/>
                    <a:pt x="9987" y="1"/>
                    <a:pt x="9033" y="1"/>
                  </a:cubicBezTo>
                  <a:close/>
                </a:path>
              </a:pathLst>
            </a:custGeom>
            <a:solidFill>
              <a:schemeClr val="accent4"/>
            </a:solidFill>
            <a:ln w="0">
              <a:noFill/>
            </a:ln>
          </p:spPr>
          <p:style>
            <a:lnRef idx="0">
              <a:scrgbClr r="0" g="0" b="0"/>
            </a:lnRef>
            <a:fillRef idx="0">
              <a:scrgbClr r="0" g="0" b="0"/>
            </a:fillRef>
            <a:effectRef idx="0">
              <a:scrgbClr r="0" g="0" b="0"/>
            </a:effectRef>
            <a:fontRef idx="minor"/>
          </p:style>
        </p:sp>
        <p:sp>
          <p:nvSpPr>
            <p:cNvPr id="58" name="Google Shape;787;p40">
              <a:extLst>
                <a:ext uri="{FF2B5EF4-FFF2-40B4-BE49-F238E27FC236}">
                  <a16:creationId xmlns:a16="http://schemas.microsoft.com/office/drawing/2014/main" id="{55D8842C-B637-486D-8BEC-0C2DD6103E4F}"/>
                </a:ext>
              </a:extLst>
            </p:cNvPr>
            <p:cNvSpPr/>
            <p:nvPr/>
          </p:nvSpPr>
          <p:spPr>
            <a:xfrm>
              <a:off x="4402800" y="3243240"/>
              <a:ext cx="478800" cy="961200"/>
            </a:xfrm>
            <a:custGeom>
              <a:avLst/>
              <a:gdLst/>
              <a:ahLst/>
              <a:cxnLst/>
              <a:rect l="l" t="t" r="r" b="b"/>
              <a:pathLst>
                <a:path w="25141" h="50409">
                  <a:moveTo>
                    <a:pt x="16869" y="36722"/>
                  </a:moveTo>
                  <a:cubicBezTo>
                    <a:pt x="17033" y="33290"/>
                    <a:pt x="19154" y="24390"/>
                    <a:pt x="22148" y="18704"/>
                  </a:cubicBezTo>
                  <a:cubicBezTo>
                    <a:pt x="25141" y="13017"/>
                    <a:pt x="23672" y="5704"/>
                    <a:pt x="19604" y="2843"/>
                  </a:cubicBezTo>
                  <a:cubicBezTo>
                    <a:pt x="15563" y="0"/>
                    <a:pt x="9899" y="504"/>
                    <a:pt x="7216" y="4463"/>
                  </a:cubicBezTo>
                  <a:cubicBezTo>
                    <a:pt x="0" y="15113"/>
                    <a:pt x="2096" y="39054"/>
                    <a:pt x="5987" y="47135"/>
                  </a:cubicBezTo>
                  <a:cubicBezTo>
                    <a:pt x="6759" y="48740"/>
                    <a:pt x="8621" y="49782"/>
                    <a:pt x="11148" y="50409"/>
                  </a:cubicBezTo>
                  <a:cubicBezTo>
                    <a:pt x="5671" y="47907"/>
                    <a:pt x="11164" y="35418"/>
                    <a:pt x="16869" y="36722"/>
                  </a:cubicBez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59" name="Google Shape;788;p40">
              <a:extLst>
                <a:ext uri="{FF2B5EF4-FFF2-40B4-BE49-F238E27FC236}">
                  <a16:creationId xmlns:a16="http://schemas.microsoft.com/office/drawing/2014/main" id="{6DA28B32-217C-4111-8037-245D978046E3}"/>
                </a:ext>
              </a:extLst>
            </p:cNvPr>
            <p:cNvSpPr/>
            <p:nvPr/>
          </p:nvSpPr>
          <p:spPr>
            <a:xfrm>
              <a:off x="5122080" y="3865320"/>
              <a:ext cx="611280" cy="364320"/>
            </a:xfrm>
            <a:custGeom>
              <a:avLst/>
              <a:gdLst/>
              <a:ahLst/>
              <a:cxnLst/>
              <a:rect l="l" t="t" r="r" b="b"/>
              <a:pathLst>
                <a:path w="32077" h="19150">
                  <a:moveTo>
                    <a:pt x="417" y="13880"/>
                  </a:moveTo>
                  <a:lnTo>
                    <a:pt x="11226" y="801"/>
                  </a:lnTo>
                  <a:cubicBezTo>
                    <a:pt x="11692" y="238"/>
                    <a:pt x="12446" y="1"/>
                    <a:pt x="13151" y="195"/>
                  </a:cubicBezTo>
                  <a:lnTo>
                    <a:pt x="31489" y="5248"/>
                  </a:lnTo>
                  <a:cubicBezTo>
                    <a:pt x="31940" y="5373"/>
                    <a:pt x="32076" y="5946"/>
                    <a:pt x="31729" y="6260"/>
                  </a:cubicBezTo>
                  <a:lnTo>
                    <a:pt x="17859" y="18782"/>
                  </a:lnTo>
                  <a:cubicBezTo>
                    <a:pt x="17565" y="19045"/>
                    <a:pt x="17159" y="19150"/>
                    <a:pt x="16774" y="19060"/>
                  </a:cubicBezTo>
                  <a:lnTo>
                    <a:pt x="895" y="15304"/>
                  </a:lnTo>
                  <a:cubicBezTo>
                    <a:pt x="258" y="15153"/>
                    <a:pt x="0" y="14385"/>
                    <a:pt x="417" y="13880"/>
                  </a:cubicBez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60" name="Google Shape;789;p40">
              <a:extLst>
                <a:ext uri="{FF2B5EF4-FFF2-40B4-BE49-F238E27FC236}">
                  <a16:creationId xmlns:a16="http://schemas.microsoft.com/office/drawing/2014/main" id="{E0DCF1AF-66CE-4026-B45D-517F94D383E8}"/>
                </a:ext>
              </a:extLst>
            </p:cNvPr>
            <p:cNvSpPr/>
            <p:nvPr/>
          </p:nvSpPr>
          <p:spPr>
            <a:xfrm>
              <a:off x="4511160" y="3919320"/>
              <a:ext cx="869760" cy="328680"/>
            </a:xfrm>
            <a:custGeom>
              <a:avLst/>
              <a:gdLst/>
              <a:ahLst/>
              <a:cxnLst/>
              <a:rect l="l" t="t" r="r" b="b"/>
              <a:pathLst>
                <a:path w="45631" h="17277">
                  <a:moveTo>
                    <a:pt x="45387" y="5883"/>
                  </a:moveTo>
                  <a:cubicBezTo>
                    <a:pt x="44759" y="4086"/>
                    <a:pt x="42963" y="2740"/>
                    <a:pt x="41916" y="2440"/>
                  </a:cubicBezTo>
                  <a:cubicBezTo>
                    <a:pt x="41155" y="2224"/>
                    <a:pt x="35499" y="2322"/>
                    <a:pt x="32460" y="2391"/>
                  </a:cubicBezTo>
                  <a:cubicBezTo>
                    <a:pt x="31281" y="2417"/>
                    <a:pt x="30129" y="2759"/>
                    <a:pt x="29128" y="3386"/>
                  </a:cubicBezTo>
                  <a:cubicBezTo>
                    <a:pt x="28171" y="3988"/>
                    <a:pt x="26977" y="4653"/>
                    <a:pt x="26385" y="4653"/>
                  </a:cubicBezTo>
                  <a:lnTo>
                    <a:pt x="16834" y="4653"/>
                  </a:lnTo>
                  <a:cubicBezTo>
                    <a:pt x="16834" y="4653"/>
                    <a:pt x="14191" y="2650"/>
                    <a:pt x="11198" y="1305"/>
                  </a:cubicBezTo>
                  <a:cubicBezTo>
                    <a:pt x="5493" y="1"/>
                    <a:pt x="0" y="12490"/>
                    <a:pt x="5477" y="14992"/>
                  </a:cubicBezTo>
                  <a:cubicBezTo>
                    <a:pt x="14687" y="17277"/>
                    <a:pt x="32864" y="13942"/>
                    <a:pt x="40506" y="11331"/>
                  </a:cubicBezTo>
                  <a:cubicBezTo>
                    <a:pt x="42197" y="10753"/>
                    <a:pt x="43701" y="9695"/>
                    <a:pt x="44718" y="8225"/>
                  </a:cubicBezTo>
                  <a:cubicBezTo>
                    <a:pt x="45261" y="7437"/>
                    <a:pt x="45631" y="6581"/>
                    <a:pt x="45387" y="5883"/>
                  </a:cubicBezTo>
                  <a:close/>
                </a:path>
              </a:pathLst>
            </a:custGeom>
            <a:solidFill>
              <a:srgbClr val="F8C2C4"/>
            </a:solidFill>
            <a:ln w="0">
              <a:noFill/>
            </a:ln>
          </p:spPr>
          <p:style>
            <a:lnRef idx="0">
              <a:scrgbClr r="0" g="0" b="0"/>
            </a:lnRef>
            <a:fillRef idx="0">
              <a:scrgbClr r="0" g="0" b="0"/>
            </a:fillRef>
            <a:effectRef idx="0">
              <a:scrgbClr r="0" g="0" b="0"/>
            </a:effectRef>
            <a:fontRef idx="minor"/>
          </p:style>
        </p:sp>
        <p:sp>
          <p:nvSpPr>
            <p:cNvPr id="61" name="Google Shape;790;p40">
              <a:extLst>
                <a:ext uri="{FF2B5EF4-FFF2-40B4-BE49-F238E27FC236}">
                  <a16:creationId xmlns:a16="http://schemas.microsoft.com/office/drawing/2014/main" id="{2750EB18-7C21-4C54-A800-B6A67C49E488}"/>
                </a:ext>
              </a:extLst>
            </p:cNvPr>
            <p:cNvSpPr/>
            <p:nvPr/>
          </p:nvSpPr>
          <p:spPr>
            <a:xfrm>
              <a:off x="6591600" y="5115600"/>
              <a:ext cx="573840" cy="74520"/>
            </a:xfrm>
            <a:custGeom>
              <a:avLst/>
              <a:gdLst/>
              <a:ahLst/>
              <a:cxnLst/>
              <a:rect l="l" t="t" r="r" b="b"/>
              <a:pathLst>
                <a:path w="30125" h="3957">
                  <a:moveTo>
                    <a:pt x="1240" y="3956"/>
                  </a:moveTo>
                  <a:lnTo>
                    <a:pt x="27408" y="3956"/>
                  </a:lnTo>
                  <a:cubicBezTo>
                    <a:pt x="28909" y="3956"/>
                    <a:pt x="30125" y="2740"/>
                    <a:pt x="30125" y="1240"/>
                  </a:cubicBezTo>
                  <a:lnTo>
                    <a:pt x="30125" y="1240"/>
                  </a:lnTo>
                  <a:cubicBezTo>
                    <a:pt x="30125" y="556"/>
                    <a:pt x="29570" y="0"/>
                    <a:pt x="28885" y="0"/>
                  </a:cubicBezTo>
                  <a:lnTo>
                    <a:pt x="1240" y="0"/>
                  </a:lnTo>
                  <a:cubicBezTo>
                    <a:pt x="555" y="0"/>
                    <a:pt x="0" y="556"/>
                    <a:pt x="0" y="1240"/>
                  </a:cubicBezTo>
                  <a:lnTo>
                    <a:pt x="0" y="2718"/>
                  </a:lnTo>
                  <a:cubicBezTo>
                    <a:pt x="0" y="3402"/>
                    <a:pt x="555" y="3956"/>
                    <a:pt x="1240" y="3956"/>
                  </a:cubicBez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sp>
          <p:nvSpPr>
            <p:cNvPr id="62" name="Google Shape;791;p40">
              <a:extLst>
                <a:ext uri="{FF2B5EF4-FFF2-40B4-BE49-F238E27FC236}">
                  <a16:creationId xmlns:a16="http://schemas.microsoft.com/office/drawing/2014/main" id="{2724E496-F2B4-405D-9FC6-74777C4DC83F}"/>
                </a:ext>
              </a:extLst>
            </p:cNvPr>
            <p:cNvSpPr/>
            <p:nvPr/>
          </p:nvSpPr>
          <p:spPr>
            <a:xfrm>
              <a:off x="5439960" y="4370040"/>
              <a:ext cx="1402920" cy="819720"/>
            </a:xfrm>
            <a:custGeom>
              <a:avLst/>
              <a:gdLst/>
              <a:ahLst/>
              <a:cxnLst/>
              <a:rect l="l" t="t" r="r" b="b"/>
              <a:pathLst>
                <a:path w="73555" h="43010">
                  <a:moveTo>
                    <a:pt x="15256" y="43009"/>
                  </a:moveTo>
                  <a:lnTo>
                    <a:pt x="69916" y="43009"/>
                  </a:lnTo>
                  <a:cubicBezTo>
                    <a:pt x="72024" y="43009"/>
                    <a:pt x="73554" y="41004"/>
                    <a:pt x="72995" y="38970"/>
                  </a:cubicBezTo>
                  <a:lnTo>
                    <a:pt x="63348" y="3851"/>
                  </a:lnTo>
                  <a:cubicBezTo>
                    <a:pt x="62723" y="1577"/>
                    <a:pt x="60655" y="1"/>
                    <a:pt x="58298" y="1"/>
                  </a:cubicBezTo>
                  <a:lnTo>
                    <a:pt x="3639" y="1"/>
                  </a:lnTo>
                  <a:cubicBezTo>
                    <a:pt x="1530" y="1"/>
                    <a:pt x="1" y="2008"/>
                    <a:pt x="560" y="4042"/>
                  </a:cubicBezTo>
                  <a:lnTo>
                    <a:pt x="10207" y="39161"/>
                  </a:lnTo>
                  <a:cubicBezTo>
                    <a:pt x="10833" y="41433"/>
                    <a:pt x="12898" y="43009"/>
                    <a:pt x="15256" y="43009"/>
                  </a:cubicBezTo>
                  <a:close/>
                </a:path>
              </a:pathLst>
            </a:custGeom>
            <a:gradFill rotWithShape="0">
              <a:gsLst>
                <a:gs pos="0">
                  <a:srgbClr val="2D2183"/>
                </a:gs>
                <a:gs pos="100000">
                  <a:srgbClr val="224CE6"/>
                </a:gs>
              </a:gsLst>
              <a:lin ang="5400000"/>
            </a:gradFill>
            <a:ln w="0">
              <a:noFill/>
            </a:ln>
          </p:spPr>
          <p:style>
            <a:lnRef idx="0">
              <a:scrgbClr r="0" g="0" b="0"/>
            </a:lnRef>
            <a:fillRef idx="0">
              <a:scrgbClr r="0" g="0" b="0"/>
            </a:fillRef>
            <a:effectRef idx="0">
              <a:scrgbClr r="0" g="0" b="0"/>
            </a:effectRef>
            <a:fontRef idx="minor"/>
          </p:style>
        </p:sp>
      </p:grpSp>
      <p:sp>
        <p:nvSpPr>
          <p:cNvPr id="64" name="Google Shape;797;p41">
            <a:extLst>
              <a:ext uri="{FF2B5EF4-FFF2-40B4-BE49-F238E27FC236}">
                <a16:creationId xmlns:a16="http://schemas.microsoft.com/office/drawing/2014/main" id="{B3BB1007-3533-4678-A960-BB33A861EAB9}"/>
              </a:ext>
            </a:extLst>
          </p:cNvPr>
          <p:cNvSpPr/>
          <p:nvPr/>
        </p:nvSpPr>
        <p:spPr>
          <a:xfrm>
            <a:off x="1951872" y="1474956"/>
            <a:ext cx="950400" cy="950400"/>
          </a:xfrm>
          <a:prstGeom prst="ellipse">
            <a:avLst/>
          </a:prstGeom>
          <a:gradFill rotWithShape="0">
            <a:gsLst>
              <a:gs pos="0">
                <a:srgbClr val="00D4F9"/>
              </a:gs>
              <a:gs pos="100000">
                <a:srgbClr val="5C38F1"/>
              </a:gs>
            </a:gsLst>
            <a:lin ang="5400000"/>
          </a:gradFill>
          <a:ln w="0">
            <a:noFill/>
          </a:ln>
        </p:spPr>
        <p:style>
          <a:lnRef idx="0">
            <a:scrgbClr r="0" g="0" b="0"/>
          </a:lnRef>
          <a:fillRef idx="0">
            <a:scrgbClr r="0" g="0" b="0"/>
          </a:fillRef>
          <a:effectRef idx="0">
            <a:scrgbClr r="0" g="0" b="0"/>
          </a:effectRef>
          <a:fontRef idx="minor"/>
        </p:style>
      </p:sp>
      <p:sp>
        <p:nvSpPr>
          <p:cNvPr id="65" name="PlaceHolder 3">
            <a:extLst>
              <a:ext uri="{FF2B5EF4-FFF2-40B4-BE49-F238E27FC236}">
                <a16:creationId xmlns:a16="http://schemas.microsoft.com/office/drawing/2014/main" id="{7D896DEE-E4FC-4009-8104-E33FECA8DAE3}"/>
              </a:ext>
            </a:extLst>
          </p:cNvPr>
          <p:cNvSpPr txBox="1">
            <a:spLocks/>
          </p:cNvSpPr>
          <p:nvPr/>
        </p:nvSpPr>
        <p:spPr>
          <a:xfrm>
            <a:off x="1873032" y="1625436"/>
            <a:ext cx="1108080" cy="649440"/>
          </a:xfrm>
          <a:prstGeom prst="rect">
            <a:avLst/>
          </a:prstGeom>
          <a:noFill/>
          <a:ln w="0">
            <a:noFill/>
          </a:ln>
        </p:spPr>
        <p:txBody>
          <a:bodyPr lIns="90000" tIns="91440" rIns="90000" bIns="9144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tabLst>
                <a:tab pos="0" algn="l"/>
              </a:tabLst>
            </a:pPr>
            <a:r>
              <a:rPr lang="en" sz="3500" b="1" spc="-1" dirty="0">
                <a:solidFill>
                  <a:srgbClr val="FFFFFF"/>
                </a:solidFill>
                <a:latin typeface="Archivo"/>
                <a:ea typeface="Archivo"/>
              </a:rPr>
              <a:t>01</a:t>
            </a:r>
            <a:endParaRPr lang="fr-FR" sz="3500" spc="-1" dirty="0">
              <a:latin typeface="Arial"/>
            </a:endParaRPr>
          </a:p>
        </p:txBody>
      </p:sp>
      <p:sp>
        <p:nvSpPr>
          <p:cNvPr id="66" name="Google Shape;797;p41">
            <a:extLst>
              <a:ext uri="{FF2B5EF4-FFF2-40B4-BE49-F238E27FC236}">
                <a16:creationId xmlns:a16="http://schemas.microsoft.com/office/drawing/2014/main" id="{CCE8FA22-E059-4A4A-9296-992681456AAA}"/>
              </a:ext>
            </a:extLst>
          </p:cNvPr>
          <p:cNvSpPr/>
          <p:nvPr/>
        </p:nvSpPr>
        <p:spPr>
          <a:xfrm>
            <a:off x="5653270" y="701350"/>
            <a:ext cx="950400" cy="950400"/>
          </a:xfrm>
          <a:prstGeom prst="ellipse">
            <a:avLst/>
          </a:prstGeom>
          <a:gradFill rotWithShape="0">
            <a:gsLst>
              <a:gs pos="0">
                <a:srgbClr val="00D4F9"/>
              </a:gs>
              <a:gs pos="100000">
                <a:srgbClr val="5C38F1"/>
              </a:gs>
            </a:gsLst>
            <a:lin ang="5400000"/>
          </a:gradFill>
          <a:ln w="0">
            <a:noFill/>
          </a:ln>
        </p:spPr>
        <p:style>
          <a:lnRef idx="0">
            <a:scrgbClr r="0" g="0" b="0"/>
          </a:lnRef>
          <a:fillRef idx="0">
            <a:scrgbClr r="0" g="0" b="0"/>
          </a:fillRef>
          <a:effectRef idx="0">
            <a:scrgbClr r="0" g="0" b="0"/>
          </a:effectRef>
          <a:fontRef idx="minor"/>
        </p:style>
      </p:sp>
      <p:sp>
        <p:nvSpPr>
          <p:cNvPr id="67" name="PlaceHolder 3">
            <a:extLst>
              <a:ext uri="{FF2B5EF4-FFF2-40B4-BE49-F238E27FC236}">
                <a16:creationId xmlns:a16="http://schemas.microsoft.com/office/drawing/2014/main" id="{54492240-0A88-45D4-A189-BFCE423BD944}"/>
              </a:ext>
            </a:extLst>
          </p:cNvPr>
          <p:cNvSpPr txBox="1">
            <a:spLocks/>
          </p:cNvSpPr>
          <p:nvPr/>
        </p:nvSpPr>
        <p:spPr>
          <a:xfrm>
            <a:off x="5574430" y="851830"/>
            <a:ext cx="1108080" cy="649440"/>
          </a:xfrm>
          <a:prstGeom prst="rect">
            <a:avLst/>
          </a:prstGeom>
          <a:noFill/>
          <a:ln w="0">
            <a:noFill/>
          </a:ln>
        </p:spPr>
        <p:txBody>
          <a:bodyPr lIns="90000" tIns="91440" rIns="90000" bIns="9144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tabLst>
                <a:tab pos="0" algn="l"/>
              </a:tabLst>
            </a:pPr>
            <a:r>
              <a:rPr lang="en" sz="3500" b="1" spc="-1" dirty="0">
                <a:solidFill>
                  <a:srgbClr val="FFFFFF"/>
                </a:solidFill>
                <a:latin typeface="Archivo"/>
                <a:ea typeface="Archivo"/>
              </a:rPr>
              <a:t>02</a:t>
            </a:r>
            <a:endParaRPr lang="fr-FR" sz="3500" spc="-1" dirty="0">
              <a:latin typeface="Arial"/>
            </a:endParaRPr>
          </a:p>
        </p:txBody>
      </p:sp>
    </p:spTree>
    <p:extLst>
      <p:ext uri="{BB962C8B-B14F-4D97-AF65-F5344CB8AC3E}">
        <p14:creationId xmlns:p14="http://schemas.microsoft.com/office/powerpoint/2010/main" val="3674536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Plan de formation</a:t>
            </a:r>
          </a:p>
        </p:txBody>
      </p:sp>
    </p:spTree>
    <p:extLst>
      <p:ext uri="{BB962C8B-B14F-4D97-AF65-F5344CB8AC3E}">
        <p14:creationId xmlns:p14="http://schemas.microsoft.com/office/powerpoint/2010/main" val="4241518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PlaceHolder 6"/>
          <p:cNvSpPr>
            <a:spLocks noGrp="1"/>
          </p:cNvSpPr>
          <p:nvPr>
            <p:ph type="title"/>
          </p:nvPr>
        </p:nvSpPr>
        <p:spPr>
          <a:xfrm>
            <a:off x="4840200" y="3405960"/>
            <a:ext cx="950400" cy="649440"/>
          </a:xfrm>
          <a:prstGeom prst="rect">
            <a:avLst/>
          </a:prstGeom>
          <a:noFill/>
          <a:ln w="0">
            <a:noFill/>
          </a:ln>
        </p:spPr>
        <p:txBody>
          <a:bodyPr lIns="90000" tIns="91440" rIns="90000" bIns="91440" anchor="b">
            <a:noAutofit/>
          </a:bodyPr>
          <a:lstStyle/>
          <a:p>
            <a:pPr algn="ctr">
              <a:lnSpc>
                <a:spcPct val="100000"/>
              </a:lnSpc>
              <a:buNone/>
              <a:tabLst>
                <a:tab pos="0" algn="l"/>
              </a:tabLst>
            </a:pPr>
            <a:r>
              <a:rPr lang="en" sz="3500" b="1" strike="noStrike" spc="-1">
                <a:solidFill>
                  <a:srgbClr val="FFFFFF"/>
                </a:solidFill>
                <a:latin typeface="Archivo"/>
                <a:ea typeface="Archivo"/>
              </a:rPr>
              <a:t>0</a:t>
            </a:r>
            <a:endParaRPr lang="fr-FR" sz="3500" b="0" strike="noStrike" spc="-1" dirty="0">
              <a:latin typeface="Arial"/>
            </a:endParaRPr>
          </a:p>
        </p:txBody>
      </p:sp>
      <p:sp>
        <p:nvSpPr>
          <p:cNvPr id="1031" name="PlaceHolder 8"/>
          <p:cNvSpPr>
            <a:spLocks noGrp="1"/>
          </p:cNvSpPr>
          <p:nvPr>
            <p:ph type="title"/>
          </p:nvPr>
        </p:nvSpPr>
        <p:spPr>
          <a:xfrm>
            <a:off x="713160" y="444960"/>
            <a:ext cx="7716600" cy="571680"/>
          </a:xfrm>
          <a:prstGeom prst="rect">
            <a:avLst/>
          </a:prstGeom>
          <a:noFill/>
          <a:ln w="0">
            <a:noFill/>
          </a:ln>
        </p:spPr>
        <p:txBody>
          <a:bodyPr lIns="0" tIns="0" rIns="0" bIns="0" anchor="b">
            <a:noAutofit/>
          </a:bodyPr>
          <a:lstStyle/>
          <a:p>
            <a:r>
              <a:rPr lang="fr-FR" sz="2100" b="1" dirty="0">
                <a:solidFill>
                  <a:schemeClr val="accent1"/>
                </a:solidFill>
              </a:rPr>
              <a:t>Plan de formation</a:t>
            </a:r>
          </a:p>
        </p:txBody>
      </p:sp>
      <p:sp>
        <p:nvSpPr>
          <p:cNvPr id="6" name="Content Placeholder 15">
            <a:extLst>
              <a:ext uri="{FF2B5EF4-FFF2-40B4-BE49-F238E27FC236}">
                <a16:creationId xmlns:a16="http://schemas.microsoft.com/office/drawing/2014/main" id="{D46C6B2A-3412-4A7E-A4FB-F47FB5969021}"/>
              </a:ext>
            </a:extLst>
          </p:cNvPr>
          <p:cNvSpPr txBox="1">
            <a:spLocks/>
          </p:cNvSpPr>
          <p:nvPr/>
        </p:nvSpPr>
        <p:spPr>
          <a:xfrm>
            <a:off x="761382" y="1299904"/>
            <a:ext cx="3539239" cy="33629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Clr>
                <a:schemeClr val="accent2"/>
              </a:buClr>
            </a:pPr>
            <a:r>
              <a:rPr lang="fr-FR" sz="1400" dirty="0"/>
              <a:t>Introduction</a:t>
            </a:r>
          </a:p>
          <a:p>
            <a:pPr algn="just">
              <a:lnSpc>
                <a:spcPct val="100000"/>
              </a:lnSpc>
              <a:buClr>
                <a:schemeClr val="accent2"/>
              </a:buClr>
            </a:pPr>
            <a:r>
              <a:rPr lang="fr-FR" sz="1400" dirty="0"/>
              <a:t>Régression linéaire simple</a:t>
            </a:r>
          </a:p>
          <a:p>
            <a:pPr algn="just">
              <a:lnSpc>
                <a:spcPct val="100000"/>
              </a:lnSpc>
              <a:buClr>
                <a:schemeClr val="accent2"/>
              </a:buClr>
            </a:pPr>
            <a:r>
              <a:rPr lang="fr-FR" sz="1400" dirty="0"/>
              <a:t>Régression linéaire multiple</a:t>
            </a:r>
          </a:p>
          <a:p>
            <a:pPr algn="just">
              <a:lnSpc>
                <a:spcPct val="100000"/>
              </a:lnSpc>
              <a:buClr>
                <a:schemeClr val="accent2"/>
              </a:buClr>
            </a:pPr>
            <a:r>
              <a:rPr lang="fr-FR" sz="1400" dirty="0"/>
              <a:t>Régression logistique</a:t>
            </a:r>
          </a:p>
          <a:p>
            <a:pPr algn="just">
              <a:lnSpc>
                <a:spcPct val="100000"/>
              </a:lnSpc>
              <a:buClr>
                <a:schemeClr val="accent2"/>
              </a:buClr>
            </a:pPr>
            <a:r>
              <a:rPr lang="fr-FR" sz="1400" dirty="0"/>
              <a:t>Arbres de décision pour la régression</a:t>
            </a:r>
          </a:p>
          <a:p>
            <a:pPr algn="just">
              <a:lnSpc>
                <a:spcPct val="100000"/>
              </a:lnSpc>
              <a:buClr>
                <a:schemeClr val="accent2"/>
              </a:buClr>
            </a:pPr>
            <a:r>
              <a:rPr lang="fr-FR" sz="1400" dirty="0"/>
              <a:t>Arbres de décision pour la classification</a:t>
            </a:r>
          </a:p>
          <a:p>
            <a:pPr algn="just">
              <a:lnSpc>
                <a:spcPct val="100000"/>
              </a:lnSpc>
              <a:buClr>
                <a:schemeClr val="accent2"/>
              </a:buClr>
            </a:pPr>
            <a:r>
              <a:rPr lang="fr-FR" sz="1400" dirty="0"/>
              <a:t>Random Forest pour la régression</a:t>
            </a:r>
          </a:p>
          <a:p>
            <a:pPr algn="just">
              <a:lnSpc>
                <a:spcPct val="100000"/>
              </a:lnSpc>
              <a:buClr>
                <a:schemeClr val="accent2"/>
              </a:buClr>
            </a:pPr>
            <a:r>
              <a:rPr lang="fr-FR" sz="1400" dirty="0"/>
              <a:t>Random Forest pour la classification</a:t>
            </a:r>
          </a:p>
          <a:p>
            <a:pPr algn="just">
              <a:lnSpc>
                <a:spcPct val="100000"/>
              </a:lnSpc>
              <a:buClr>
                <a:schemeClr val="accent2"/>
              </a:buClr>
            </a:pPr>
            <a:r>
              <a:rPr lang="fr-FR" sz="1400" dirty="0"/>
              <a:t>XG Boost pour la régression</a:t>
            </a:r>
          </a:p>
          <a:p>
            <a:pPr algn="just">
              <a:lnSpc>
                <a:spcPct val="100000"/>
              </a:lnSpc>
              <a:buClr>
                <a:schemeClr val="accent2"/>
              </a:buClr>
            </a:pPr>
            <a:r>
              <a:rPr lang="fr-FR" sz="1400" dirty="0"/>
              <a:t>XG Boost pour la classification</a:t>
            </a:r>
          </a:p>
        </p:txBody>
      </p:sp>
      <p:sp>
        <p:nvSpPr>
          <p:cNvPr id="7" name="Content Placeholder 15">
            <a:extLst>
              <a:ext uri="{FF2B5EF4-FFF2-40B4-BE49-F238E27FC236}">
                <a16:creationId xmlns:a16="http://schemas.microsoft.com/office/drawing/2014/main" id="{AD3E4A2E-8066-48C9-8EB6-C779BE7C8658}"/>
              </a:ext>
            </a:extLst>
          </p:cNvPr>
          <p:cNvSpPr txBox="1">
            <a:spLocks/>
          </p:cNvSpPr>
          <p:nvPr/>
        </p:nvSpPr>
        <p:spPr>
          <a:xfrm>
            <a:off x="4300621" y="1299904"/>
            <a:ext cx="4637488" cy="3411365"/>
          </a:xfrm>
          <a:prstGeom prst="rect">
            <a:avLst/>
          </a:prstGeom>
        </p:spPr>
        <p:txBody>
          <a:bodyPr>
            <a:noAutofit/>
          </a:bodyPr>
          <a:lstStyle>
            <a:lvl1pPr marL="228600" indent="-228600" algn="l" defTabSz="914400" rtl="0" eaLnBrk="1" latinLnBrk="0" hangingPunct="1">
              <a:lnSpc>
                <a:spcPct val="90000"/>
              </a:lnSpc>
              <a:spcBef>
                <a:spcPts val="1000"/>
              </a:spcBef>
              <a:buClr>
                <a:srgbClr val="2E7A40"/>
              </a:buClr>
              <a:buFont typeface="Arial" panose="020B0604020202020204" pitchFamily="34" charset="0"/>
              <a:buChar char="•"/>
              <a:defRPr lang="en-US" sz="2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2E7A40"/>
              </a:buClr>
              <a:buFont typeface="Arial" panose="020B0604020202020204" pitchFamily="34" charset="0"/>
              <a:buChar char="•"/>
              <a:defRPr lang="en-US" sz="20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2E7A40"/>
              </a:buClr>
              <a:buFont typeface="Arial" panose="020B0604020202020204" pitchFamily="34" charset="0"/>
              <a:buChar char="•"/>
              <a:defRPr lang="en-US" sz="18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2E7A40"/>
              </a:buClr>
              <a:buFont typeface="Arial" panose="020B0604020202020204" pitchFamily="34" charset="0"/>
              <a:buChar char="•"/>
              <a:defRPr lang="en-US" sz="160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2E7A40"/>
              </a:buClr>
              <a:buFont typeface="Arial" panose="020B0604020202020204" pitchFamily="34" charset="0"/>
              <a:buChar char="•"/>
              <a:defRPr lang="en-IN" sz="16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Clr>
                <a:schemeClr val="accent2"/>
              </a:buClr>
            </a:pPr>
            <a:r>
              <a:rPr lang="fr-FR" sz="1400" dirty="0"/>
              <a:t>K Neirest Neighbor (KNN) pour la régression</a:t>
            </a:r>
          </a:p>
          <a:p>
            <a:pPr algn="just">
              <a:lnSpc>
                <a:spcPct val="100000"/>
              </a:lnSpc>
              <a:buClr>
                <a:schemeClr val="accent2"/>
              </a:buClr>
            </a:pPr>
            <a:r>
              <a:rPr lang="fr-FR" sz="1400" dirty="0"/>
              <a:t>K Neirest Neighbor (KNN) pour la classification</a:t>
            </a:r>
          </a:p>
          <a:p>
            <a:pPr algn="just">
              <a:lnSpc>
                <a:spcPct val="100000"/>
              </a:lnSpc>
              <a:buClr>
                <a:schemeClr val="accent2"/>
              </a:buClr>
            </a:pPr>
            <a:r>
              <a:rPr lang="fr-FR" sz="1400" dirty="0"/>
              <a:t>Support Vector Machine (SVM) pour la régression</a:t>
            </a:r>
          </a:p>
          <a:p>
            <a:pPr algn="just">
              <a:lnSpc>
                <a:spcPct val="100000"/>
              </a:lnSpc>
              <a:buClr>
                <a:schemeClr val="accent2"/>
              </a:buClr>
            </a:pPr>
            <a:r>
              <a:rPr lang="fr-FR" sz="1400" dirty="0"/>
              <a:t>Support Vector Machine (SVM) pour la classification</a:t>
            </a:r>
          </a:p>
          <a:p>
            <a:pPr algn="just">
              <a:lnSpc>
                <a:spcPct val="100000"/>
              </a:lnSpc>
              <a:buClr>
                <a:schemeClr val="accent2"/>
              </a:buClr>
            </a:pPr>
            <a:r>
              <a:rPr lang="fr-FR" sz="1400" dirty="0"/>
              <a:t>Analyse en Composantes Principales (ACP)</a:t>
            </a:r>
          </a:p>
          <a:p>
            <a:pPr algn="just">
              <a:lnSpc>
                <a:spcPct val="100000"/>
              </a:lnSpc>
              <a:buClr>
                <a:schemeClr val="accent2"/>
              </a:buClr>
            </a:pPr>
            <a:r>
              <a:rPr lang="fr-FR" sz="1400" dirty="0"/>
              <a:t>Analyse Factorielle des Correspondances (AFC)</a:t>
            </a:r>
          </a:p>
          <a:p>
            <a:pPr algn="just">
              <a:lnSpc>
                <a:spcPct val="100000"/>
              </a:lnSpc>
              <a:buClr>
                <a:schemeClr val="accent2"/>
              </a:buClr>
            </a:pPr>
            <a:r>
              <a:rPr lang="fr-FR" sz="1400" dirty="0"/>
              <a:t>Analyse en Correspondance Multiples (ACM)</a:t>
            </a:r>
          </a:p>
          <a:p>
            <a:pPr algn="just">
              <a:lnSpc>
                <a:spcPct val="100000"/>
              </a:lnSpc>
              <a:buClr>
                <a:schemeClr val="accent2"/>
              </a:buClr>
            </a:pPr>
            <a:r>
              <a:rPr lang="fr-FR" sz="1400" dirty="0"/>
              <a:t>Classification Ascendante Hiérarchique (CAH)</a:t>
            </a:r>
          </a:p>
          <a:p>
            <a:pPr algn="just">
              <a:lnSpc>
                <a:spcPct val="100000"/>
              </a:lnSpc>
              <a:buClr>
                <a:schemeClr val="accent2"/>
              </a:buClr>
            </a:pPr>
            <a:r>
              <a:rPr lang="fr-FR" sz="1400" dirty="0"/>
              <a:t>K-Means</a:t>
            </a:r>
          </a:p>
          <a:p>
            <a:pPr algn="just">
              <a:lnSpc>
                <a:spcPct val="100000"/>
              </a:lnSpc>
              <a:buClr>
                <a:schemeClr val="accent2"/>
              </a:buClr>
            </a:pPr>
            <a:r>
              <a:rPr lang="fr-FR" sz="1400" dirty="0"/>
              <a:t>DB Scan</a:t>
            </a:r>
          </a:p>
          <a:p>
            <a:pPr algn="just">
              <a:lnSpc>
                <a:spcPct val="100000"/>
              </a:lnSpc>
              <a:buClr>
                <a:schemeClr val="accent2"/>
              </a:buClr>
            </a:pPr>
            <a:r>
              <a:rPr lang="fr-FR" sz="1400" dirty="0" err="1"/>
              <a:t>Deep</a:t>
            </a:r>
            <a:r>
              <a:rPr lang="fr-FR" sz="1400" dirty="0"/>
              <a:t> Learning (CNN)</a:t>
            </a:r>
          </a:p>
        </p:txBody>
      </p:sp>
    </p:spTree>
    <p:extLst>
      <p:ext uri="{BB962C8B-B14F-4D97-AF65-F5344CB8AC3E}">
        <p14:creationId xmlns:p14="http://schemas.microsoft.com/office/powerpoint/2010/main" val="3789757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Introduction</a:t>
            </a:r>
          </a:p>
        </p:txBody>
      </p:sp>
    </p:spTree>
    <p:extLst>
      <p:ext uri="{BB962C8B-B14F-4D97-AF65-F5344CB8AC3E}">
        <p14:creationId xmlns:p14="http://schemas.microsoft.com/office/powerpoint/2010/main" val="303436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PlaceHolder 6"/>
          <p:cNvSpPr>
            <a:spLocks noGrp="1"/>
          </p:cNvSpPr>
          <p:nvPr>
            <p:ph type="title"/>
          </p:nvPr>
        </p:nvSpPr>
        <p:spPr>
          <a:xfrm>
            <a:off x="4840200" y="3405960"/>
            <a:ext cx="950400" cy="649440"/>
          </a:xfrm>
          <a:prstGeom prst="rect">
            <a:avLst/>
          </a:prstGeom>
          <a:noFill/>
          <a:ln w="0">
            <a:noFill/>
          </a:ln>
        </p:spPr>
        <p:txBody>
          <a:bodyPr lIns="90000" tIns="91440" rIns="90000" bIns="91440" anchor="b">
            <a:noAutofit/>
          </a:bodyPr>
          <a:lstStyle/>
          <a:p>
            <a:pPr algn="ctr">
              <a:lnSpc>
                <a:spcPct val="100000"/>
              </a:lnSpc>
              <a:buNone/>
              <a:tabLst>
                <a:tab pos="0" algn="l"/>
              </a:tabLst>
            </a:pPr>
            <a:r>
              <a:rPr lang="en" sz="3500" b="1" strike="noStrike" spc="-1">
                <a:solidFill>
                  <a:srgbClr val="FFFFFF"/>
                </a:solidFill>
                <a:latin typeface="Archivo"/>
                <a:ea typeface="Archivo"/>
              </a:rPr>
              <a:t>0</a:t>
            </a:r>
            <a:endParaRPr lang="fr-FR" sz="3500" b="0" strike="noStrike" spc="-1" dirty="0">
              <a:latin typeface="Arial"/>
            </a:endParaRPr>
          </a:p>
        </p:txBody>
      </p:sp>
      <p:grpSp>
        <p:nvGrpSpPr>
          <p:cNvPr id="2" name="Groupe 1">
            <a:extLst>
              <a:ext uri="{FF2B5EF4-FFF2-40B4-BE49-F238E27FC236}">
                <a16:creationId xmlns:a16="http://schemas.microsoft.com/office/drawing/2014/main" id="{DDD728BA-1743-4EDF-8A4A-01018F1ACA3D}"/>
              </a:ext>
            </a:extLst>
          </p:cNvPr>
          <p:cNvGrpSpPr/>
          <p:nvPr/>
        </p:nvGrpSpPr>
        <p:grpSpPr>
          <a:xfrm>
            <a:off x="2014301" y="1475096"/>
            <a:ext cx="5115398" cy="2193308"/>
            <a:chOff x="3023918" y="2394237"/>
            <a:chExt cx="5115398" cy="2193308"/>
          </a:xfrm>
        </p:grpSpPr>
        <p:sp>
          <p:nvSpPr>
            <p:cNvPr id="6" name="Freeform: Shape 32">
              <a:extLst>
                <a:ext uri="{FF2B5EF4-FFF2-40B4-BE49-F238E27FC236}">
                  <a16:creationId xmlns:a16="http://schemas.microsoft.com/office/drawing/2014/main" id="{260335F2-5740-4EF0-963C-240CFF64B379}"/>
                </a:ext>
              </a:extLst>
            </p:cNvPr>
            <p:cNvSpPr/>
            <p:nvPr/>
          </p:nvSpPr>
          <p:spPr>
            <a:xfrm>
              <a:off x="3308983" y="4204586"/>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3">
                <a:lumMod val="75000"/>
              </a:schemeClr>
            </a:solidFill>
            <a:ln w="12700">
              <a:miter lim="400000"/>
            </a:ln>
          </p:spPr>
          <p:txBody>
            <a:bodyPr wrap="square" lIns="960120" tIns="28575" rIns="28575" bIns="28575" anchor="ctr">
              <a:noAutofit/>
            </a:bodyPr>
            <a:lstStyle/>
            <a:p>
              <a:pPr>
                <a:lnSpc>
                  <a:spcPts val="1200"/>
                </a:lnSpc>
              </a:pPr>
              <a:r>
                <a:rPr lang="en-US" sz="1050" noProof="1">
                  <a:solidFill>
                    <a:srgbClr val="FFFFFF"/>
                  </a:solidFill>
                </a:rPr>
                <a:t>Méthodes descriptives et prédictives</a:t>
              </a:r>
            </a:p>
          </p:txBody>
        </p:sp>
        <p:sp>
          <p:nvSpPr>
            <p:cNvPr id="7" name="Freeform: Shape 30">
              <a:extLst>
                <a:ext uri="{FF2B5EF4-FFF2-40B4-BE49-F238E27FC236}">
                  <a16:creationId xmlns:a16="http://schemas.microsoft.com/office/drawing/2014/main" id="{AFE925C4-9947-4881-9DCB-2DDDF0B7352F}"/>
                </a:ext>
              </a:extLst>
            </p:cNvPr>
            <p:cNvSpPr/>
            <p:nvPr/>
          </p:nvSpPr>
          <p:spPr>
            <a:xfrm>
              <a:off x="3308983" y="3751999"/>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5">
                <a:lumMod val="75000"/>
              </a:schemeClr>
            </a:solidFill>
            <a:ln w="12700">
              <a:miter lim="400000"/>
            </a:ln>
          </p:spPr>
          <p:txBody>
            <a:bodyPr wrap="square" lIns="1165860" tIns="28575" rIns="28575" bIns="28575" anchor="ctr">
              <a:noAutofit/>
            </a:bodyPr>
            <a:lstStyle/>
            <a:p>
              <a:pPr>
                <a:lnSpc>
                  <a:spcPts val="1200"/>
                </a:lnSpc>
              </a:pPr>
              <a:r>
                <a:rPr lang="en-US" sz="1050" noProof="1">
                  <a:solidFill>
                    <a:srgbClr val="FFFFFF"/>
                  </a:solidFill>
                </a:rPr>
                <a:t>Déroulement d’une étude</a:t>
              </a:r>
            </a:p>
          </p:txBody>
        </p:sp>
        <p:sp>
          <p:nvSpPr>
            <p:cNvPr id="10" name="Freeform: Shape 28">
              <a:extLst>
                <a:ext uri="{FF2B5EF4-FFF2-40B4-BE49-F238E27FC236}">
                  <a16:creationId xmlns:a16="http://schemas.microsoft.com/office/drawing/2014/main" id="{9D79A2A0-343E-4391-91C0-575BABB04704}"/>
                </a:ext>
              </a:extLst>
            </p:cNvPr>
            <p:cNvSpPr/>
            <p:nvPr/>
          </p:nvSpPr>
          <p:spPr>
            <a:xfrm>
              <a:off x="3308983" y="3299411"/>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2">
                <a:lumMod val="75000"/>
              </a:schemeClr>
            </a:solidFill>
            <a:ln w="12700">
              <a:miter lim="400000"/>
            </a:ln>
          </p:spPr>
          <p:txBody>
            <a:bodyPr wrap="square" lIns="1303020" tIns="28575" rIns="28575" bIns="28575" anchor="ctr">
              <a:noAutofit/>
            </a:bodyPr>
            <a:lstStyle/>
            <a:p>
              <a:pPr>
                <a:lnSpc>
                  <a:spcPts val="1200"/>
                </a:lnSpc>
              </a:pPr>
              <a:r>
                <a:rPr lang="en-US" sz="1050" noProof="1">
                  <a:solidFill>
                    <a:srgbClr val="FFFFFF"/>
                  </a:solidFill>
                </a:rPr>
                <a:t>Machine Learning par type d’application</a:t>
              </a:r>
            </a:p>
          </p:txBody>
        </p:sp>
        <p:sp>
          <p:nvSpPr>
            <p:cNvPr id="11" name="Freeform: Shape 26">
              <a:extLst>
                <a:ext uri="{FF2B5EF4-FFF2-40B4-BE49-F238E27FC236}">
                  <a16:creationId xmlns:a16="http://schemas.microsoft.com/office/drawing/2014/main" id="{15F63D1D-D34B-4EF6-82EC-27B825B6F78C}"/>
                </a:ext>
              </a:extLst>
            </p:cNvPr>
            <p:cNvSpPr/>
            <p:nvPr/>
          </p:nvSpPr>
          <p:spPr>
            <a:xfrm>
              <a:off x="3308983" y="2846825"/>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6">
                <a:lumMod val="75000"/>
              </a:schemeClr>
            </a:solidFill>
            <a:ln w="12700">
              <a:miter lim="400000"/>
            </a:ln>
          </p:spPr>
          <p:txBody>
            <a:bodyPr wrap="square" lIns="1165860" tIns="28575" rIns="28575" bIns="28575" anchor="ctr">
              <a:noAutofit/>
            </a:bodyPr>
            <a:lstStyle/>
            <a:p>
              <a:pPr>
                <a:lnSpc>
                  <a:spcPts val="1200"/>
                </a:lnSpc>
              </a:pPr>
              <a:r>
                <a:rPr lang="en-US" sz="1050" noProof="1">
                  <a:solidFill>
                    <a:srgbClr val="FFFFFF"/>
                  </a:solidFill>
                </a:rPr>
                <a:t>Machine Learning par secteur d’activité</a:t>
              </a:r>
              <a:endParaRPr sz="1050" dirty="0">
                <a:solidFill>
                  <a:srgbClr val="FFFFFF"/>
                </a:solidFill>
              </a:endParaRPr>
            </a:p>
          </p:txBody>
        </p:sp>
        <p:sp>
          <p:nvSpPr>
            <p:cNvPr id="12" name="Freeform: Shape 24">
              <a:extLst>
                <a:ext uri="{FF2B5EF4-FFF2-40B4-BE49-F238E27FC236}">
                  <a16:creationId xmlns:a16="http://schemas.microsoft.com/office/drawing/2014/main" id="{2EDD565A-4431-44AE-A247-087547577DFD}"/>
                </a:ext>
              </a:extLst>
            </p:cNvPr>
            <p:cNvSpPr/>
            <p:nvPr/>
          </p:nvSpPr>
          <p:spPr>
            <a:xfrm>
              <a:off x="3308983" y="2394237"/>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4">
                <a:lumMod val="75000"/>
              </a:schemeClr>
            </a:solidFill>
            <a:ln w="12700">
              <a:miter lim="400000"/>
            </a:ln>
          </p:spPr>
          <p:txBody>
            <a:bodyPr wrap="square" lIns="960120" tIns="28575" rIns="28575" bIns="28575" anchor="ctr">
              <a:noAutofit/>
            </a:bodyPr>
            <a:lstStyle/>
            <a:p>
              <a:pPr>
                <a:lnSpc>
                  <a:spcPts val="1200"/>
                </a:lnSpc>
              </a:pPr>
              <a:r>
                <a:rPr lang="en-US" sz="1050" noProof="1">
                  <a:solidFill>
                    <a:schemeClr val="bg1"/>
                  </a:solidFill>
                </a:rPr>
                <a:t>Définition</a:t>
              </a:r>
            </a:p>
          </p:txBody>
        </p:sp>
        <p:sp>
          <p:nvSpPr>
            <p:cNvPr id="13" name="Shape">
              <a:extLst>
                <a:ext uri="{FF2B5EF4-FFF2-40B4-BE49-F238E27FC236}">
                  <a16:creationId xmlns:a16="http://schemas.microsoft.com/office/drawing/2014/main" id="{2F1B5B73-4DE8-4007-A508-0A5E1CD26C0E}"/>
                </a:ext>
              </a:extLst>
            </p:cNvPr>
            <p:cNvSpPr/>
            <p:nvPr/>
          </p:nvSpPr>
          <p:spPr>
            <a:xfrm>
              <a:off x="3023919" y="4204586"/>
              <a:ext cx="1116383"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16638" y="21600"/>
                  </a:lnTo>
                  <a:cubicBezTo>
                    <a:pt x="18614" y="15120"/>
                    <a:pt x="20298" y="7920"/>
                    <a:pt x="21600" y="0"/>
                  </a:cubicBezTo>
                  <a:lnTo>
                    <a:pt x="3705" y="0"/>
                  </a:lnTo>
                  <a:cubicBezTo>
                    <a:pt x="1662" y="0"/>
                    <a:pt x="0" y="4844"/>
                    <a:pt x="0" y="10800"/>
                  </a:cubicBezTo>
                  <a:close/>
                </a:path>
              </a:pathLst>
            </a:custGeom>
            <a:solidFill>
              <a:schemeClr val="accent3"/>
            </a:solidFill>
            <a:ln w="12700">
              <a:miter lim="400000"/>
            </a:ln>
          </p:spPr>
          <p:txBody>
            <a:bodyPr lIns="28575" tIns="28575" rIns="28575" bIns="28575" anchor="ctr"/>
            <a:lstStyle/>
            <a:p>
              <a:pPr>
                <a:defRPr sz="3000">
                  <a:solidFill>
                    <a:srgbClr val="FFFFFF"/>
                  </a:solidFill>
                </a:defRPr>
              </a:pPr>
              <a:endParaRPr sz="2250" dirty="0"/>
            </a:p>
          </p:txBody>
        </p:sp>
        <p:sp>
          <p:nvSpPr>
            <p:cNvPr id="14" name="Shape">
              <a:extLst>
                <a:ext uri="{FF2B5EF4-FFF2-40B4-BE49-F238E27FC236}">
                  <a16:creationId xmlns:a16="http://schemas.microsoft.com/office/drawing/2014/main" id="{51A9B443-D6B2-4FFB-9C94-994D5AB3FA12}"/>
                </a:ext>
              </a:extLst>
            </p:cNvPr>
            <p:cNvSpPr/>
            <p:nvPr/>
          </p:nvSpPr>
          <p:spPr>
            <a:xfrm>
              <a:off x="3023919" y="3751999"/>
              <a:ext cx="1257960"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19707" y="21600"/>
                  </a:lnTo>
                  <a:cubicBezTo>
                    <a:pt x="20584" y="14793"/>
                    <a:pt x="21241" y="7527"/>
                    <a:pt x="21600" y="0"/>
                  </a:cubicBezTo>
                  <a:lnTo>
                    <a:pt x="3288" y="0"/>
                  </a:lnTo>
                  <a:cubicBezTo>
                    <a:pt x="1475" y="0"/>
                    <a:pt x="0" y="4844"/>
                    <a:pt x="0" y="10800"/>
                  </a:cubicBezTo>
                  <a:close/>
                </a:path>
              </a:pathLst>
            </a:custGeom>
            <a:solidFill>
              <a:schemeClr val="accent5"/>
            </a:solidFill>
            <a:ln w="12700">
              <a:miter lim="400000"/>
            </a:ln>
          </p:spPr>
          <p:txBody>
            <a:bodyPr lIns="28575" tIns="28575" rIns="28575" bIns="28575" anchor="ctr"/>
            <a:lstStyle/>
            <a:p>
              <a:pPr>
                <a:defRPr sz="3000">
                  <a:solidFill>
                    <a:srgbClr val="FFFFFF"/>
                  </a:solidFill>
                </a:defRPr>
              </a:pPr>
              <a:endParaRPr sz="2250" dirty="0"/>
            </a:p>
          </p:txBody>
        </p:sp>
        <p:sp>
          <p:nvSpPr>
            <p:cNvPr id="15" name="Shape">
              <a:extLst>
                <a:ext uri="{FF2B5EF4-FFF2-40B4-BE49-F238E27FC236}">
                  <a16:creationId xmlns:a16="http://schemas.microsoft.com/office/drawing/2014/main" id="{7F63DADE-572D-4238-BC6B-2C6A862F7EBD}"/>
                </a:ext>
              </a:extLst>
            </p:cNvPr>
            <p:cNvSpPr/>
            <p:nvPr/>
          </p:nvSpPr>
          <p:spPr>
            <a:xfrm>
              <a:off x="3023918" y="3299411"/>
              <a:ext cx="1280012"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49" y="21600"/>
                    <a:pt x="3231" y="21600"/>
                  </a:cubicBezTo>
                  <a:lnTo>
                    <a:pt x="21404" y="21600"/>
                  </a:lnTo>
                  <a:cubicBezTo>
                    <a:pt x="21522" y="18065"/>
                    <a:pt x="21600" y="14465"/>
                    <a:pt x="21600" y="10800"/>
                  </a:cubicBezTo>
                  <a:cubicBezTo>
                    <a:pt x="21600" y="7135"/>
                    <a:pt x="21541" y="3535"/>
                    <a:pt x="21404" y="0"/>
                  </a:cubicBezTo>
                  <a:lnTo>
                    <a:pt x="3231" y="0"/>
                  </a:lnTo>
                  <a:cubicBezTo>
                    <a:pt x="1449" y="0"/>
                    <a:pt x="0" y="4844"/>
                    <a:pt x="0" y="10800"/>
                  </a:cubicBezTo>
                  <a:close/>
                </a:path>
              </a:pathLst>
            </a:custGeom>
            <a:solidFill>
              <a:schemeClr val="accent2"/>
            </a:solidFill>
            <a:ln w="12700">
              <a:miter lim="400000"/>
            </a:ln>
          </p:spPr>
          <p:txBody>
            <a:bodyPr lIns="28575" tIns="28575" rIns="28575" bIns="28575" anchor="ctr"/>
            <a:lstStyle/>
            <a:p>
              <a:pPr>
                <a:defRPr sz="3000">
                  <a:solidFill>
                    <a:srgbClr val="FFFFFF"/>
                  </a:solidFill>
                </a:defRPr>
              </a:pPr>
              <a:endParaRPr sz="2250" dirty="0"/>
            </a:p>
          </p:txBody>
        </p:sp>
        <p:sp>
          <p:nvSpPr>
            <p:cNvPr id="16" name="Shape">
              <a:extLst>
                <a:ext uri="{FF2B5EF4-FFF2-40B4-BE49-F238E27FC236}">
                  <a16:creationId xmlns:a16="http://schemas.microsoft.com/office/drawing/2014/main" id="{2695C9F9-7386-4A08-8669-7A7942705D82}"/>
                </a:ext>
              </a:extLst>
            </p:cNvPr>
            <p:cNvSpPr/>
            <p:nvPr/>
          </p:nvSpPr>
          <p:spPr>
            <a:xfrm>
              <a:off x="3023919" y="2846825"/>
              <a:ext cx="1257960"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21600" y="21600"/>
                  </a:lnTo>
                  <a:cubicBezTo>
                    <a:pt x="21241" y="14073"/>
                    <a:pt x="20584" y="6807"/>
                    <a:pt x="19707" y="0"/>
                  </a:cubicBezTo>
                  <a:lnTo>
                    <a:pt x="3288" y="0"/>
                  </a:lnTo>
                  <a:cubicBezTo>
                    <a:pt x="1475" y="0"/>
                    <a:pt x="0" y="4844"/>
                    <a:pt x="0" y="10800"/>
                  </a:cubicBezTo>
                  <a:close/>
                </a:path>
              </a:pathLst>
            </a:custGeom>
            <a:solidFill>
              <a:schemeClr val="accent6"/>
            </a:solidFill>
            <a:ln w="12700">
              <a:miter lim="400000"/>
            </a:ln>
          </p:spPr>
          <p:txBody>
            <a:bodyPr lIns="28575" tIns="28575" rIns="28575" bIns="28575" anchor="ctr"/>
            <a:lstStyle/>
            <a:p>
              <a:pPr>
                <a:defRPr sz="3000">
                  <a:solidFill>
                    <a:srgbClr val="FFFFFF"/>
                  </a:solidFill>
                </a:defRPr>
              </a:pPr>
              <a:endParaRPr sz="2250" dirty="0"/>
            </a:p>
          </p:txBody>
        </p:sp>
        <p:sp>
          <p:nvSpPr>
            <p:cNvPr id="17" name="Shape">
              <a:extLst>
                <a:ext uri="{FF2B5EF4-FFF2-40B4-BE49-F238E27FC236}">
                  <a16:creationId xmlns:a16="http://schemas.microsoft.com/office/drawing/2014/main" id="{61A8E8CD-11E4-40A2-876F-060917C3AF17}"/>
                </a:ext>
              </a:extLst>
            </p:cNvPr>
            <p:cNvSpPr/>
            <p:nvPr/>
          </p:nvSpPr>
          <p:spPr>
            <a:xfrm>
              <a:off x="3023919" y="2394237"/>
              <a:ext cx="1116383"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21600" y="21600"/>
                  </a:lnTo>
                  <a:cubicBezTo>
                    <a:pt x="20298" y="13745"/>
                    <a:pt x="18614" y="6480"/>
                    <a:pt x="16638" y="0"/>
                  </a:cubicBezTo>
                  <a:lnTo>
                    <a:pt x="3705" y="0"/>
                  </a:lnTo>
                  <a:cubicBezTo>
                    <a:pt x="1662" y="65"/>
                    <a:pt x="0" y="4844"/>
                    <a:pt x="0" y="10800"/>
                  </a:cubicBezTo>
                  <a:close/>
                </a:path>
              </a:pathLst>
            </a:custGeom>
            <a:solidFill>
              <a:schemeClr val="accent4"/>
            </a:solidFill>
            <a:ln w="12700">
              <a:miter lim="400000"/>
            </a:ln>
          </p:spPr>
          <p:txBody>
            <a:bodyPr lIns="28575" tIns="28575" rIns="28575" bIns="28575" anchor="ctr"/>
            <a:lstStyle/>
            <a:p>
              <a:pPr>
                <a:defRPr sz="3000">
                  <a:solidFill>
                    <a:srgbClr val="FFFFFF"/>
                  </a:solidFill>
                </a:defRPr>
              </a:pPr>
              <a:endParaRPr sz="2250" dirty="0"/>
            </a:p>
          </p:txBody>
        </p:sp>
        <p:pic>
          <p:nvPicPr>
            <p:cNvPr id="18" name="Graphic 14" descr="Livres">
              <a:extLst>
                <a:ext uri="{FF2B5EF4-FFF2-40B4-BE49-F238E27FC236}">
                  <a16:creationId xmlns:a16="http://schemas.microsoft.com/office/drawing/2014/main" id="{562F7F16-7A19-46CE-883B-DF90FD4C8DF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2417565"/>
              <a:ext cx="336304" cy="336304"/>
            </a:xfrm>
            <a:prstGeom prst="rect">
              <a:avLst/>
            </a:prstGeom>
          </p:spPr>
        </p:pic>
        <p:pic>
          <p:nvPicPr>
            <p:cNvPr id="19" name="Graphic 16" descr="Livres">
              <a:extLst>
                <a:ext uri="{FF2B5EF4-FFF2-40B4-BE49-F238E27FC236}">
                  <a16:creationId xmlns:a16="http://schemas.microsoft.com/office/drawing/2014/main" id="{3FA31383-0FF9-40F5-AFD0-5850BF53D3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4227914"/>
              <a:ext cx="336304" cy="336304"/>
            </a:xfrm>
            <a:prstGeom prst="rect">
              <a:avLst/>
            </a:prstGeom>
          </p:spPr>
        </p:pic>
        <p:pic>
          <p:nvPicPr>
            <p:cNvPr id="20" name="Graphic 18" descr="Livres">
              <a:extLst>
                <a:ext uri="{FF2B5EF4-FFF2-40B4-BE49-F238E27FC236}">
                  <a16:creationId xmlns:a16="http://schemas.microsoft.com/office/drawing/2014/main" id="{41CA74C7-FBC5-41D3-AEC2-D262DF6EBFC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2870153"/>
              <a:ext cx="336304" cy="336304"/>
            </a:xfrm>
            <a:prstGeom prst="rect">
              <a:avLst/>
            </a:prstGeom>
          </p:spPr>
        </p:pic>
        <p:pic>
          <p:nvPicPr>
            <p:cNvPr id="21" name="Graphic 20" descr="Livres">
              <a:extLst>
                <a:ext uri="{FF2B5EF4-FFF2-40B4-BE49-F238E27FC236}">
                  <a16:creationId xmlns:a16="http://schemas.microsoft.com/office/drawing/2014/main" id="{CF53749A-CBE5-4164-81FF-86904106318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3322740"/>
              <a:ext cx="336304" cy="336304"/>
            </a:xfrm>
            <a:prstGeom prst="rect">
              <a:avLst/>
            </a:prstGeom>
          </p:spPr>
        </p:pic>
        <p:pic>
          <p:nvPicPr>
            <p:cNvPr id="22" name="Graphic 22" descr="Livres">
              <a:extLst>
                <a:ext uri="{FF2B5EF4-FFF2-40B4-BE49-F238E27FC236}">
                  <a16:creationId xmlns:a16="http://schemas.microsoft.com/office/drawing/2014/main" id="{0920EA20-6312-47DB-BCC3-52F180BEFA6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3775327"/>
              <a:ext cx="336304" cy="336304"/>
            </a:xfrm>
            <a:prstGeom prst="rect">
              <a:avLst/>
            </a:prstGeom>
          </p:spPr>
        </p:pic>
      </p:grpSp>
    </p:spTree>
    <p:extLst>
      <p:ext uri="{BB962C8B-B14F-4D97-AF65-F5344CB8AC3E}">
        <p14:creationId xmlns:p14="http://schemas.microsoft.com/office/powerpoint/2010/main" val="78359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PlaceHolder 6"/>
          <p:cNvSpPr>
            <a:spLocks noGrp="1"/>
          </p:cNvSpPr>
          <p:nvPr>
            <p:ph type="title"/>
          </p:nvPr>
        </p:nvSpPr>
        <p:spPr>
          <a:xfrm>
            <a:off x="4840200" y="3405960"/>
            <a:ext cx="950400" cy="649440"/>
          </a:xfrm>
          <a:prstGeom prst="rect">
            <a:avLst/>
          </a:prstGeom>
          <a:noFill/>
          <a:ln w="0">
            <a:noFill/>
          </a:ln>
        </p:spPr>
        <p:txBody>
          <a:bodyPr lIns="90000" tIns="91440" rIns="90000" bIns="91440" anchor="b">
            <a:noAutofit/>
          </a:bodyPr>
          <a:lstStyle/>
          <a:p>
            <a:pPr algn="ctr">
              <a:lnSpc>
                <a:spcPct val="100000"/>
              </a:lnSpc>
              <a:buNone/>
              <a:tabLst>
                <a:tab pos="0" algn="l"/>
              </a:tabLst>
            </a:pPr>
            <a:r>
              <a:rPr lang="en" sz="3500" b="1" strike="noStrike" spc="-1">
                <a:solidFill>
                  <a:srgbClr val="FFFFFF"/>
                </a:solidFill>
                <a:latin typeface="Archivo"/>
                <a:ea typeface="Archivo"/>
              </a:rPr>
              <a:t>0</a:t>
            </a:r>
            <a:endParaRPr lang="fr-FR" sz="3500" b="0" strike="noStrike" spc="-1" dirty="0">
              <a:latin typeface="Arial"/>
            </a:endParaRPr>
          </a:p>
        </p:txBody>
      </p:sp>
      <p:sp>
        <p:nvSpPr>
          <p:cNvPr id="1031" name="PlaceHolder 8"/>
          <p:cNvSpPr>
            <a:spLocks noGrp="1"/>
          </p:cNvSpPr>
          <p:nvPr>
            <p:ph type="title"/>
          </p:nvPr>
        </p:nvSpPr>
        <p:spPr>
          <a:xfrm>
            <a:off x="713160" y="444960"/>
            <a:ext cx="7716600" cy="571680"/>
          </a:xfrm>
          <a:prstGeom prst="rect">
            <a:avLst/>
          </a:prstGeom>
          <a:noFill/>
          <a:ln w="0">
            <a:noFill/>
          </a:ln>
        </p:spPr>
        <p:txBody>
          <a:bodyPr lIns="0" tIns="0" rIns="0" bIns="0" anchor="b">
            <a:noAutofit/>
          </a:bodyPr>
          <a:lstStyle/>
          <a:p>
            <a:r>
              <a:rPr lang="fr-FR" sz="2100" b="1" dirty="0">
                <a:solidFill>
                  <a:schemeClr val="accent1"/>
                </a:solidFill>
              </a:rPr>
              <a:t>Introduction</a:t>
            </a:r>
          </a:p>
        </p:txBody>
      </p:sp>
      <p:sp>
        <p:nvSpPr>
          <p:cNvPr id="8" name="Content Placeholder 15">
            <a:extLst>
              <a:ext uri="{FF2B5EF4-FFF2-40B4-BE49-F238E27FC236}">
                <a16:creationId xmlns:a16="http://schemas.microsoft.com/office/drawing/2014/main" id="{8F5B86B8-7EA6-408B-A880-E22E14B3422E}"/>
              </a:ext>
            </a:extLst>
          </p:cNvPr>
          <p:cNvSpPr txBox="1">
            <a:spLocks/>
          </p:cNvSpPr>
          <p:nvPr/>
        </p:nvSpPr>
        <p:spPr>
          <a:xfrm>
            <a:off x="573742" y="1189840"/>
            <a:ext cx="7770916" cy="24435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Clr>
                <a:schemeClr val="accent2"/>
              </a:buClr>
            </a:pPr>
            <a:r>
              <a:rPr lang="fr-FR" sz="1800" dirty="0"/>
              <a:t>Le Machine Learning est un domaine scientifique qui mobilise des algorithmes d’apprentissage automatique pour découvrir des « patterns  » dans de petits ou grands ensembles de données.</a:t>
            </a:r>
          </a:p>
          <a:p>
            <a:pPr algn="just">
              <a:lnSpc>
                <a:spcPct val="100000"/>
              </a:lnSpc>
              <a:buClr>
                <a:schemeClr val="accent2"/>
              </a:buClr>
            </a:pPr>
            <a:r>
              <a:rPr lang="fr-FR" sz="1800" dirty="0"/>
              <a:t>Les algorithmes apprennent de façon autonomes à réaliser les tâches qu’on leur demande.</a:t>
            </a:r>
          </a:p>
          <a:p>
            <a:pPr algn="just">
              <a:lnSpc>
                <a:spcPct val="100000"/>
              </a:lnSpc>
              <a:buClr>
                <a:schemeClr val="accent2"/>
              </a:buClr>
            </a:pPr>
            <a:r>
              <a:rPr lang="fr-FR" sz="1800" dirty="0"/>
              <a:t>Pour être autonomes, certains algorithmes ont besoin d’être entrainés à partir d’un ensemble de données labélisées.</a:t>
            </a:r>
          </a:p>
        </p:txBody>
      </p:sp>
      <p:pic>
        <p:nvPicPr>
          <p:cNvPr id="9" name="Image 8">
            <a:extLst>
              <a:ext uri="{FF2B5EF4-FFF2-40B4-BE49-F238E27FC236}">
                <a16:creationId xmlns:a16="http://schemas.microsoft.com/office/drawing/2014/main" id="{5B12E743-8AB2-4BC5-91B0-55733C92D00E}"/>
              </a:ext>
            </a:extLst>
          </p:cNvPr>
          <p:cNvPicPr>
            <a:picLocks noChangeAspect="1"/>
          </p:cNvPicPr>
          <p:nvPr/>
        </p:nvPicPr>
        <p:blipFill>
          <a:blip r:embed="rId2">
            <a:duotone>
              <a:prstClr val="black"/>
              <a:srgbClr val="014067">
                <a:tint val="45000"/>
                <a:satMod val="400000"/>
              </a:srgbClr>
            </a:duotone>
          </a:blip>
          <a:stretch>
            <a:fillRect/>
          </a:stretch>
        </p:blipFill>
        <p:spPr>
          <a:xfrm>
            <a:off x="2895270" y="3513884"/>
            <a:ext cx="2817061" cy="1584332"/>
          </a:xfrm>
          <a:prstGeom prst="rect">
            <a:avLst/>
          </a:prstGeom>
        </p:spPr>
      </p:pic>
    </p:spTree>
    <p:extLst>
      <p:ext uri="{BB962C8B-B14F-4D97-AF65-F5344CB8AC3E}">
        <p14:creationId xmlns:p14="http://schemas.microsoft.com/office/powerpoint/2010/main" val="1328635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502797"/>
            <a:ext cx="5892014" cy="3264466"/>
          </a:xfrm>
        </p:spPr>
        <p:txBody>
          <a:bodyPr>
            <a:normAutofit/>
          </a:bodyPr>
          <a:lstStyle/>
          <a:p>
            <a:pPr lvl="1" algn="just">
              <a:lnSpc>
                <a:spcPct val="150000"/>
              </a:lnSpc>
              <a:buClr>
                <a:schemeClr val="accent2"/>
              </a:buClr>
            </a:pPr>
            <a:r>
              <a:rPr lang="fr-FR" sz="1200" dirty="0"/>
              <a:t>L'intelligence au sens général, peut être décrite comme la capacité d'un système ou d'un être à comprendre, apprendre, raisonner et s'adapter de manière autonome à son environnement.</a:t>
            </a:r>
          </a:p>
          <a:p>
            <a:pPr lvl="1" algn="just">
              <a:lnSpc>
                <a:spcPct val="150000"/>
              </a:lnSpc>
              <a:buClr>
                <a:schemeClr val="accent2"/>
              </a:buClr>
            </a:pPr>
            <a:r>
              <a:rPr lang="fr-FR" sz="1200" b="1" dirty="0"/>
              <a:t>Chez les animaux : </a:t>
            </a:r>
            <a:r>
              <a:rPr lang="fr-FR" sz="1200" dirty="0"/>
              <a:t>l'intelligence animale fait référence à la capacité des animaux à acquérir, comprendre et utiliser des connaissances pour résoudre des problèmes et s'adapter à leur environnement.</a:t>
            </a:r>
          </a:p>
          <a:p>
            <a:pPr lvl="1" algn="just">
              <a:lnSpc>
                <a:spcPct val="150000"/>
              </a:lnSpc>
              <a:buClr>
                <a:schemeClr val="accent2"/>
              </a:buClr>
            </a:pPr>
            <a:r>
              <a:rPr lang="fr-FR" sz="1200" b="1" dirty="0"/>
              <a:t>Chez l’homme : </a:t>
            </a:r>
            <a:r>
              <a:rPr lang="fr-FR" sz="1200" dirty="0"/>
              <a:t>l'intelligence humaine peut être définie comme la capacité de comprendre, d'apprendre, de raisonner et de s'adapter de manière complexe et créative à différents domaines de la connaissance et de l'expérience.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Introduction : </a:t>
            </a:r>
            <a:r>
              <a:rPr lang="fr-FR" sz="2100" b="0" dirty="0"/>
              <a:t>définition</a:t>
            </a:r>
          </a:p>
        </p:txBody>
      </p:sp>
      <p:sp>
        <p:nvSpPr>
          <p:cNvPr id="6" name="Title 13">
            <a:extLst>
              <a:ext uri="{FF2B5EF4-FFF2-40B4-BE49-F238E27FC236}">
                <a16:creationId xmlns:a16="http://schemas.microsoft.com/office/drawing/2014/main" id="{9529B2B5-800A-49B6-8A28-9FEADF6FB361}"/>
              </a:ext>
            </a:extLst>
          </p:cNvPr>
          <p:cNvSpPr txBox="1">
            <a:spLocks/>
          </p:cNvSpPr>
          <p:nvPr/>
        </p:nvSpPr>
        <p:spPr>
          <a:xfrm>
            <a:off x="389008" y="966082"/>
            <a:ext cx="6249917" cy="27100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Qu’est-ce que l’intelligence ?</a:t>
            </a:r>
          </a:p>
        </p:txBody>
      </p:sp>
    </p:spTree>
    <p:extLst>
      <p:ext uri="{BB962C8B-B14F-4D97-AF65-F5344CB8AC3E}">
        <p14:creationId xmlns:p14="http://schemas.microsoft.com/office/powerpoint/2010/main" val="2570622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502797"/>
            <a:ext cx="5892014" cy="3264466"/>
          </a:xfrm>
        </p:spPr>
        <p:txBody>
          <a:bodyPr>
            <a:normAutofit/>
          </a:bodyPr>
          <a:lstStyle/>
          <a:p>
            <a:pPr algn="just">
              <a:lnSpc>
                <a:spcPct val="100000"/>
              </a:lnSpc>
              <a:buClr>
                <a:schemeClr val="accent2"/>
              </a:buClr>
            </a:pPr>
            <a:r>
              <a:rPr lang="fr-FR" sz="1500" b="1" dirty="0"/>
              <a:t>Chimpanzé :</a:t>
            </a:r>
          </a:p>
          <a:p>
            <a:pPr lvl="1" algn="just">
              <a:lnSpc>
                <a:spcPct val="100000"/>
              </a:lnSpc>
              <a:buClr>
                <a:schemeClr val="accent2"/>
              </a:buClr>
            </a:pPr>
            <a:r>
              <a:rPr lang="fr-FR" sz="1200" dirty="0"/>
              <a:t>Conscience d’eux-mêmes, se reconnaissent dans un miroir</a:t>
            </a:r>
          </a:p>
          <a:p>
            <a:pPr lvl="1" algn="just">
              <a:lnSpc>
                <a:spcPct val="100000"/>
              </a:lnSpc>
              <a:buClr>
                <a:schemeClr val="accent2"/>
              </a:buClr>
            </a:pPr>
            <a:r>
              <a:rPr lang="fr-FR" sz="1200" dirty="0"/>
              <a:t>Juge l’intention de ses congénères et réagit en conséquence</a:t>
            </a:r>
          </a:p>
          <a:p>
            <a:pPr lvl="1" algn="just">
              <a:lnSpc>
                <a:spcPct val="100000"/>
              </a:lnSpc>
              <a:buClr>
                <a:schemeClr val="accent2"/>
              </a:buClr>
            </a:pPr>
            <a:r>
              <a:rPr lang="fr-FR" sz="1200" dirty="0"/>
              <a:t>Fabrique et utilise des outils</a:t>
            </a:r>
          </a:p>
          <a:p>
            <a:pPr lvl="1" algn="just">
              <a:lnSpc>
                <a:spcPct val="100000"/>
              </a:lnSpc>
              <a:buClr>
                <a:schemeClr val="accent2"/>
              </a:buClr>
            </a:pPr>
            <a:r>
              <a:rPr lang="fr-FR" sz="1200" dirty="0"/>
              <a:t>Transmets la culture aux générations suivantes…</a:t>
            </a:r>
          </a:p>
          <a:p>
            <a:pPr lvl="1" algn="just">
              <a:lnSpc>
                <a:spcPct val="100000"/>
              </a:lnSpc>
              <a:buClr>
                <a:schemeClr val="accent2"/>
              </a:buClr>
            </a:pPr>
            <a:endParaRPr lang="fr-FR" sz="1200" dirty="0"/>
          </a:p>
          <a:p>
            <a:pPr algn="just">
              <a:lnSpc>
                <a:spcPct val="100000"/>
              </a:lnSpc>
              <a:buClr>
                <a:schemeClr val="accent2"/>
              </a:buClr>
            </a:pPr>
            <a:r>
              <a:rPr lang="fr-FR" sz="1500" b="1" dirty="0"/>
              <a:t>Pieuvre :</a:t>
            </a:r>
          </a:p>
          <a:p>
            <a:pPr lvl="1" algn="just">
              <a:lnSpc>
                <a:spcPct val="100000"/>
              </a:lnSpc>
              <a:buClr>
                <a:schemeClr val="accent2"/>
              </a:buClr>
            </a:pPr>
            <a:r>
              <a:rPr lang="fr-FR" sz="1200" dirty="0"/>
              <a:t>Mémoire</a:t>
            </a:r>
          </a:p>
          <a:p>
            <a:pPr lvl="1" algn="just">
              <a:lnSpc>
                <a:spcPct val="100000"/>
              </a:lnSpc>
              <a:buClr>
                <a:schemeClr val="accent2"/>
              </a:buClr>
            </a:pPr>
            <a:r>
              <a:rPr lang="fr-FR" sz="1200" dirty="0"/>
              <a:t>Apprentissage</a:t>
            </a:r>
          </a:p>
          <a:p>
            <a:pPr lvl="1" algn="just">
              <a:lnSpc>
                <a:spcPct val="100000"/>
              </a:lnSpc>
              <a:buClr>
                <a:schemeClr val="accent2"/>
              </a:buClr>
            </a:pPr>
            <a:r>
              <a:rPr lang="fr-FR" sz="1200" dirty="0"/>
              <a:t>Orientation</a:t>
            </a:r>
          </a:p>
          <a:p>
            <a:pPr lvl="1" algn="just">
              <a:lnSpc>
                <a:spcPct val="100000"/>
              </a:lnSpc>
              <a:buClr>
                <a:schemeClr val="accent2"/>
              </a:buClr>
            </a:pPr>
            <a:r>
              <a:rPr lang="fr-FR" sz="1200" dirty="0"/>
              <a:t>En captivité, il teste plusieurs stratégies pour s’échapper</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Introduction : </a:t>
            </a:r>
            <a:r>
              <a:rPr lang="fr-FR" sz="2100" b="0" dirty="0"/>
              <a:t>définition</a:t>
            </a:r>
          </a:p>
        </p:txBody>
      </p:sp>
      <p:sp>
        <p:nvSpPr>
          <p:cNvPr id="6" name="Title 13">
            <a:extLst>
              <a:ext uri="{FF2B5EF4-FFF2-40B4-BE49-F238E27FC236}">
                <a16:creationId xmlns:a16="http://schemas.microsoft.com/office/drawing/2014/main" id="{9529B2B5-800A-49B6-8A28-9FEADF6FB361}"/>
              </a:ext>
            </a:extLst>
          </p:cNvPr>
          <p:cNvSpPr txBox="1">
            <a:spLocks/>
          </p:cNvSpPr>
          <p:nvPr/>
        </p:nvSpPr>
        <p:spPr>
          <a:xfrm>
            <a:off x="322392" y="966082"/>
            <a:ext cx="6249917" cy="27100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Les animaux intelligents</a:t>
            </a:r>
          </a:p>
        </p:txBody>
      </p:sp>
    </p:spTree>
    <p:extLst>
      <p:ext uri="{BB962C8B-B14F-4D97-AF65-F5344CB8AC3E}">
        <p14:creationId xmlns:p14="http://schemas.microsoft.com/office/powerpoint/2010/main" val="3272274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502797"/>
            <a:ext cx="5892014" cy="3264466"/>
          </a:xfrm>
        </p:spPr>
        <p:txBody>
          <a:bodyPr>
            <a:normAutofit fontScale="92500"/>
          </a:bodyPr>
          <a:lstStyle/>
          <a:p>
            <a:pPr algn="just">
              <a:lnSpc>
                <a:spcPct val="150000"/>
              </a:lnSpc>
              <a:buClr>
                <a:schemeClr val="accent2"/>
              </a:buClr>
            </a:pPr>
            <a:r>
              <a:rPr lang="fr-FR" sz="1350" dirty="0"/>
              <a:t>« L'intelligence humaine est caractérisée par plusieurs aptitudes, surtout cognitives, qui permettent à l'individu humain d'apprendre, de former des concepts, de comprendre, d'appliquer la logique et la raison » (cf. Wikipédia).</a:t>
            </a:r>
          </a:p>
          <a:p>
            <a:pPr algn="just">
              <a:lnSpc>
                <a:spcPct val="150000"/>
              </a:lnSpc>
              <a:buClr>
                <a:schemeClr val="accent2"/>
              </a:buClr>
            </a:pPr>
            <a:r>
              <a:rPr lang="fr-FR" sz="1350" dirty="0"/>
              <a:t>L'activité neuronale basée sur l'interconnexion complexe de milliards de neurones, qui communiquent entre elles par des signaux électriques et chimiques pour traiter l'information et contrôler les fonctions du corps et de l'esprit.</a:t>
            </a:r>
          </a:p>
          <a:p>
            <a:pPr algn="just">
              <a:lnSpc>
                <a:spcPct val="150000"/>
              </a:lnSpc>
              <a:buClr>
                <a:schemeClr val="accent2"/>
              </a:buClr>
            </a:pPr>
            <a:r>
              <a:rPr lang="fr-FR" sz="1350" dirty="0"/>
              <a:t>Ces signaux électriques, appelés influx nerveux, se propagent le long des neurones via des synapses, permettant ainsi la transmission et le traitement des informations dans le cerveau, ce qui sous-tend les processus cognitifs, émotionnels et moteurs qui caractérisent notre fonctionnement mental et comportemental.</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Introduction : </a:t>
            </a:r>
            <a:r>
              <a:rPr lang="fr-FR" sz="2100" b="0" dirty="0"/>
              <a:t>définition</a:t>
            </a:r>
          </a:p>
        </p:txBody>
      </p:sp>
      <p:sp>
        <p:nvSpPr>
          <p:cNvPr id="6" name="Title 13">
            <a:extLst>
              <a:ext uri="{FF2B5EF4-FFF2-40B4-BE49-F238E27FC236}">
                <a16:creationId xmlns:a16="http://schemas.microsoft.com/office/drawing/2014/main" id="{9529B2B5-800A-49B6-8A28-9FEADF6FB361}"/>
              </a:ext>
            </a:extLst>
          </p:cNvPr>
          <p:cNvSpPr txBox="1">
            <a:spLocks/>
          </p:cNvSpPr>
          <p:nvPr/>
        </p:nvSpPr>
        <p:spPr>
          <a:xfrm>
            <a:off x="322394" y="966082"/>
            <a:ext cx="6249917" cy="27100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L’intelligence chez l’humain</a:t>
            </a:r>
          </a:p>
        </p:txBody>
      </p:sp>
    </p:spTree>
    <p:extLst>
      <p:ext uri="{BB962C8B-B14F-4D97-AF65-F5344CB8AC3E}">
        <p14:creationId xmlns:p14="http://schemas.microsoft.com/office/powerpoint/2010/main" val="3927885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a:noFill/>
          <a:ln w="0">
            <a:noFill/>
          </a:ln>
        </p:spPr>
        <p:txBody>
          <a:bodyPr lIns="0" tIns="0" rIns="0" bIns="0" anchor="b">
            <a:noAutofit/>
          </a:bodyPr>
          <a:lstStyle/>
          <a:p>
            <a:r>
              <a:rPr lang="fr-FR" sz="2100" dirty="0"/>
              <a:t>Introduction : </a:t>
            </a:r>
            <a:r>
              <a:rPr lang="fr-FR" sz="2100" b="0" dirty="0"/>
              <a:t>définition</a:t>
            </a:r>
          </a:p>
        </p:txBody>
      </p:sp>
      <p:grpSp>
        <p:nvGrpSpPr>
          <p:cNvPr id="30" name="Groupe 29">
            <a:extLst>
              <a:ext uri="{FF2B5EF4-FFF2-40B4-BE49-F238E27FC236}">
                <a16:creationId xmlns:a16="http://schemas.microsoft.com/office/drawing/2014/main" id="{8334A8AA-3B89-499B-B1EB-60BA735D7E7C}"/>
              </a:ext>
            </a:extLst>
          </p:cNvPr>
          <p:cNvGrpSpPr/>
          <p:nvPr/>
        </p:nvGrpSpPr>
        <p:grpSpPr>
          <a:xfrm>
            <a:off x="1078296" y="1551044"/>
            <a:ext cx="5377136" cy="2599786"/>
            <a:chOff x="1437728" y="2068058"/>
            <a:chExt cx="7169514" cy="3466381"/>
          </a:xfrm>
        </p:grpSpPr>
        <p:grpSp>
          <p:nvGrpSpPr>
            <p:cNvPr id="16" name="Groupe 15">
              <a:extLst>
                <a:ext uri="{FF2B5EF4-FFF2-40B4-BE49-F238E27FC236}">
                  <a16:creationId xmlns:a16="http://schemas.microsoft.com/office/drawing/2014/main" id="{25A9FBE6-1223-4515-83C5-C7F5658B2611}"/>
                </a:ext>
              </a:extLst>
            </p:cNvPr>
            <p:cNvGrpSpPr>
              <a:grpSpLocks noChangeAspect="1"/>
            </p:cNvGrpSpPr>
            <p:nvPr/>
          </p:nvGrpSpPr>
          <p:grpSpPr>
            <a:xfrm>
              <a:off x="1437728" y="2068058"/>
              <a:ext cx="7169514" cy="3466381"/>
              <a:chOff x="2314807" y="1797472"/>
              <a:chExt cx="6065867" cy="2932778"/>
            </a:xfrm>
          </p:grpSpPr>
          <p:sp>
            <p:nvSpPr>
              <p:cNvPr id="2" name="Organigramme : Connecteur 1">
                <a:extLst>
                  <a:ext uri="{FF2B5EF4-FFF2-40B4-BE49-F238E27FC236}">
                    <a16:creationId xmlns:a16="http://schemas.microsoft.com/office/drawing/2014/main" id="{924854E1-BADE-42B7-A8B6-CAD1647477A8}"/>
                  </a:ext>
                </a:extLst>
              </p:cNvPr>
              <p:cNvSpPr/>
              <p:nvPr/>
            </p:nvSpPr>
            <p:spPr>
              <a:xfrm>
                <a:off x="2314807" y="1797472"/>
                <a:ext cx="2289976" cy="2289976"/>
              </a:xfrm>
              <a:prstGeom prst="flowChartConnector">
                <a:avLst/>
              </a:prstGeom>
              <a:solidFill>
                <a:srgbClr val="0A4674"/>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 name="Organigramme : Connecteur 5">
                <a:extLst>
                  <a:ext uri="{FF2B5EF4-FFF2-40B4-BE49-F238E27FC236}">
                    <a16:creationId xmlns:a16="http://schemas.microsoft.com/office/drawing/2014/main" id="{4C6D0372-B827-4C41-9E9A-3081D95E2500}"/>
                  </a:ext>
                </a:extLst>
              </p:cNvPr>
              <p:cNvSpPr/>
              <p:nvPr/>
            </p:nvSpPr>
            <p:spPr>
              <a:xfrm>
                <a:off x="2555909" y="2376326"/>
                <a:ext cx="1807771" cy="1711122"/>
              </a:xfrm>
              <a:prstGeom prst="flowChartConnector">
                <a:avLst/>
              </a:prstGeom>
              <a:solidFill>
                <a:srgbClr val="02698A"/>
              </a:solidFill>
              <a:ln w="3175">
                <a:solidFill>
                  <a:schemeClr val="bg1">
                    <a:lumMod val="9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sz="1350" dirty="0"/>
              </a:p>
            </p:txBody>
          </p:sp>
          <p:sp>
            <p:nvSpPr>
              <p:cNvPr id="8" name="Organigramme : Connecteur 7">
                <a:extLst>
                  <a:ext uri="{FF2B5EF4-FFF2-40B4-BE49-F238E27FC236}">
                    <a16:creationId xmlns:a16="http://schemas.microsoft.com/office/drawing/2014/main" id="{53478005-9CE4-4ECD-A91A-57C555F4D5DF}"/>
                  </a:ext>
                </a:extLst>
              </p:cNvPr>
              <p:cNvSpPr>
                <a:spLocks noChangeAspect="1"/>
              </p:cNvSpPr>
              <p:nvPr/>
            </p:nvSpPr>
            <p:spPr>
              <a:xfrm>
                <a:off x="2794206" y="2827448"/>
                <a:ext cx="1331176" cy="1260000"/>
              </a:xfrm>
              <a:prstGeom prst="flowChartConnector">
                <a:avLst/>
              </a:prstGeom>
              <a:solidFill>
                <a:srgbClr val="08ABC0"/>
              </a:solidFill>
              <a:ln w="3175">
                <a:solidFill>
                  <a:schemeClr val="bg1">
                    <a:lumMod val="9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r-FR" sz="1350" dirty="0"/>
              </a:p>
            </p:txBody>
          </p:sp>
          <p:sp>
            <p:nvSpPr>
              <p:cNvPr id="9" name="Légende : flèche courbée 8">
                <a:extLst>
                  <a:ext uri="{FF2B5EF4-FFF2-40B4-BE49-F238E27FC236}">
                    <a16:creationId xmlns:a16="http://schemas.microsoft.com/office/drawing/2014/main" id="{4CE43D9B-326B-4426-BA24-DE81DC958A18}"/>
                  </a:ext>
                </a:extLst>
              </p:cNvPr>
              <p:cNvSpPr/>
              <p:nvPr/>
            </p:nvSpPr>
            <p:spPr>
              <a:xfrm>
                <a:off x="5672821" y="2124766"/>
                <a:ext cx="2707853" cy="251560"/>
              </a:xfrm>
              <a:prstGeom prst="borderCallout2">
                <a:avLst>
                  <a:gd name="adj1" fmla="val 18750"/>
                  <a:gd name="adj2" fmla="val -8333"/>
                  <a:gd name="adj3" fmla="val 18750"/>
                  <a:gd name="adj4" fmla="val -16667"/>
                  <a:gd name="adj5" fmla="val 147268"/>
                  <a:gd name="adj6" fmla="val -46959"/>
                </a:avLst>
              </a:prstGeom>
              <a:ln>
                <a:tailEnd type="oval"/>
              </a:ln>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INTELLIGENCE ARTIFICIELLE</a:t>
                </a:r>
              </a:p>
            </p:txBody>
          </p:sp>
          <p:sp>
            <p:nvSpPr>
              <p:cNvPr id="10" name="Légende : flèche courbée 9">
                <a:extLst>
                  <a:ext uri="{FF2B5EF4-FFF2-40B4-BE49-F238E27FC236}">
                    <a16:creationId xmlns:a16="http://schemas.microsoft.com/office/drawing/2014/main" id="{87CB6FED-C8D6-4841-9943-2547CDBFF200}"/>
                  </a:ext>
                </a:extLst>
              </p:cNvPr>
              <p:cNvSpPr/>
              <p:nvPr/>
            </p:nvSpPr>
            <p:spPr>
              <a:xfrm>
                <a:off x="5672819" y="3051377"/>
                <a:ext cx="2707853" cy="251560"/>
              </a:xfrm>
              <a:prstGeom prst="borderCallout2">
                <a:avLst>
                  <a:gd name="adj1" fmla="val 18750"/>
                  <a:gd name="adj2" fmla="val -8333"/>
                  <a:gd name="adj3" fmla="val 18750"/>
                  <a:gd name="adj4" fmla="val -16667"/>
                  <a:gd name="adj5" fmla="val 73661"/>
                  <a:gd name="adj6" fmla="val -53854"/>
                </a:avLst>
              </a:prstGeom>
              <a:ln>
                <a:tailEnd type="oval"/>
              </a:ln>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MACHINE LEARNING</a:t>
                </a:r>
              </a:p>
            </p:txBody>
          </p:sp>
          <p:sp>
            <p:nvSpPr>
              <p:cNvPr id="11" name="Légende : flèche courbée 10">
                <a:extLst>
                  <a:ext uri="{FF2B5EF4-FFF2-40B4-BE49-F238E27FC236}">
                    <a16:creationId xmlns:a16="http://schemas.microsoft.com/office/drawing/2014/main" id="{E70E16EB-4C75-4025-BCED-BDB47999FACD}"/>
                  </a:ext>
                </a:extLst>
              </p:cNvPr>
              <p:cNvSpPr/>
              <p:nvPr/>
            </p:nvSpPr>
            <p:spPr>
              <a:xfrm>
                <a:off x="5672821" y="4033001"/>
                <a:ext cx="2707853" cy="251560"/>
              </a:xfrm>
              <a:prstGeom prst="borderCallout2">
                <a:avLst>
                  <a:gd name="adj1" fmla="val 18750"/>
                  <a:gd name="adj2" fmla="val -8333"/>
                  <a:gd name="adj3" fmla="val 18750"/>
                  <a:gd name="adj4" fmla="val -16667"/>
                  <a:gd name="adj5" fmla="val -101242"/>
                  <a:gd name="adj6" fmla="val -64532"/>
                </a:avLst>
              </a:prstGeom>
              <a:ln>
                <a:tailEnd type="oval"/>
              </a:ln>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DEEP LEARNING</a:t>
                </a:r>
              </a:p>
            </p:txBody>
          </p:sp>
          <p:sp>
            <p:nvSpPr>
              <p:cNvPr id="3" name="ZoneTexte 2">
                <a:extLst>
                  <a:ext uri="{FF2B5EF4-FFF2-40B4-BE49-F238E27FC236}">
                    <a16:creationId xmlns:a16="http://schemas.microsoft.com/office/drawing/2014/main" id="{4F4B4438-416E-4262-B16B-71BDBDBE2ED4}"/>
                  </a:ext>
                </a:extLst>
              </p:cNvPr>
              <p:cNvSpPr txBox="1"/>
              <p:nvPr/>
            </p:nvSpPr>
            <p:spPr>
              <a:xfrm>
                <a:off x="5672820" y="2382142"/>
                <a:ext cx="2707853" cy="338518"/>
              </a:xfrm>
              <a:prstGeom prst="rect">
                <a:avLst/>
              </a:prstGeom>
              <a:noFill/>
            </p:spPr>
            <p:txBody>
              <a:bodyPr wrap="square" rtlCol="0">
                <a:spAutoFit/>
              </a:bodyPr>
              <a:lstStyle/>
              <a:p>
                <a:pPr algn="just"/>
                <a:r>
                  <a:rPr lang="fr-FR" sz="675" dirty="0"/>
                  <a:t>Ensemble de techniques mises en œuvre pour imiter le comportement humain.</a:t>
                </a:r>
              </a:p>
            </p:txBody>
          </p:sp>
          <p:sp>
            <p:nvSpPr>
              <p:cNvPr id="13" name="ZoneTexte 12">
                <a:extLst>
                  <a:ext uri="{FF2B5EF4-FFF2-40B4-BE49-F238E27FC236}">
                    <a16:creationId xmlns:a16="http://schemas.microsoft.com/office/drawing/2014/main" id="{E77EBCE4-D8F1-427E-A1E7-33426A5C3976}"/>
                  </a:ext>
                </a:extLst>
              </p:cNvPr>
              <p:cNvSpPr txBox="1"/>
              <p:nvPr/>
            </p:nvSpPr>
            <p:spPr>
              <a:xfrm>
                <a:off x="5672819" y="3302938"/>
                <a:ext cx="2707853" cy="455698"/>
              </a:xfrm>
              <a:prstGeom prst="rect">
                <a:avLst/>
              </a:prstGeom>
              <a:noFill/>
            </p:spPr>
            <p:txBody>
              <a:bodyPr wrap="square" rtlCol="0">
                <a:spAutoFit/>
              </a:bodyPr>
              <a:lstStyle/>
              <a:p>
                <a:pPr algn="just"/>
                <a:r>
                  <a:rPr lang="fr-FR" sz="675" dirty="0"/>
                  <a:t>Une partie de l’IA qui comprend l’ensemble de techniques et méthodes statistiques visant à améliorer le pouvoir prédictif des algorithmes.</a:t>
                </a:r>
              </a:p>
            </p:txBody>
          </p:sp>
          <p:sp>
            <p:nvSpPr>
              <p:cNvPr id="15" name="ZoneTexte 14">
                <a:extLst>
                  <a:ext uri="{FF2B5EF4-FFF2-40B4-BE49-F238E27FC236}">
                    <a16:creationId xmlns:a16="http://schemas.microsoft.com/office/drawing/2014/main" id="{4BA9A63D-01BA-4F58-85FE-0C389596650A}"/>
                  </a:ext>
                </a:extLst>
              </p:cNvPr>
              <p:cNvSpPr txBox="1"/>
              <p:nvPr/>
            </p:nvSpPr>
            <p:spPr>
              <a:xfrm>
                <a:off x="5672817" y="4274552"/>
                <a:ext cx="2707853" cy="455698"/>
              </a:xfrm>
              <a:prstGeom prst="rect">
                <a:avLst/>
              </a:prstGeom>
              <a:noFill/>
            </p:spPr>
            <p:txBody>
              <a:bodyPr wrap="square" rtlCol="0">
                <a:spAutoFit/>
              </a:bodyPr>
              <a:lstStyle/>
              <a:p>
                <a:pPr algn="just"/>
                <a:r>
                  <a:rPr lang="fr-FR" sz="675" dirty="0"/>
                  <a:t>Une partie de l’IA qui utilise une architecture de type « réseau de neurones » doté d’au moins une couche, disposant d’un pouvoir prédictif très puissant.</a:t>
                </a:r>
              </a:p>
            </p:txBody>
          </p:sp>
        </p:grpSp>
        <p:pic>
          <p:nvPicPr>
            <p:cNvPr id="25" name="Image 24">
              <a:extLst>
                <a:ext uri="{FF2B5EF4-FFF2-40B4-BE49-F238E27FC236}">
                  <a16:creationId xmlns:a16="http://schemas.microsoft.com/office/drawing/2014/main" id="{F10C2128-3FCF-43FE-BEDF-12F1568816B5}"/>
                </a:ext>
              </a:extLst>
            </p:cNvPr>
            <p:cNvPicPr>
              <a:picLocks noChangeAspect="1"/>
            </p:cNvPicPr>
            <p:nvPr/>
          </p:nvPicPr>
          <p:blipFill>
            <a:blip r:embed="rId2"/>
            <a:stretch>
              <a:fillRect/>
            </a:stretch>
          </p:blipFill>
          <p:spPr>
            <a:xfrm>
              <a:off x="2629038" y="2222416"/>
              <a:ext cx="324000" cy="324000"/>
            </a:xfrm>
            <a:prstGeom prst="rect">
              <a:avLst/>
            </a:prstGeom>
          </p:spPr>
        </p:pic>
        <p:pic>
          <p:nvPicPr>
            <p:cNvPr id="27" name="Image 26">
              <a:extLst>
                <a:ext uri="{FF2B5EF4-FFF2-40B4-BE49-F238E27FC236}">
                  <a16:creationId xmlns:a16="http://schemas.microsoft.com/office/drawing/2014/main" id="{9F040198-005B-4F1F-A4FA-154174226136}"/>
                </a:ext>
              </a:extLst>
            </p:cNvPr>
            <p:cNvPicPr>
              <a:picLocks noChangeAspect="1"/>
            </p:cNvPicPr>
            <p:nvPr/>
          </p:nvPicPr>
          <p:blipFill>
            <a:blip r:embed="rId3"/>
            <a:stretch>
              <a:fillRect/>
            </a:stretch>
          </p:blipFill>
          <p:spPr>
            <a:xfrm>
              <a:off x="2629038" y="2858526"/>
              <a:ext cx="324000" cy="324000"/>
            </a:xfrm>
            <a:prstGeom prst="rect">
              <a:avLst/>
            </a:prstGeom>
          </p:spPr>
        </p:pic>
        <p:pic>
          <p:nvPicPr>
            <p:cNvPr id="29" name="Image 28">
              <a:extLst>
                <a:ext uri="{FF2B5EF4-FFF2-40B4-BE49-F238E27FC236}">
                  <a16:creationId xmlns:a16="http://schemas.microsoft.com/office/drawing/2014/main" id="{AF5BEABA-39E6-449E-9ED4-A1763F49F6A6}"/>
                </a:ext>
              </a:extLst>
            </p:cNvPr>
            <p:cNvPicPr>
              <a:picLocks noChangeAspect="1"/>
            </p:cNvPicPr>
            <p:nvPr/>
          </p:nvPicPr>
          <p:blipFill>
            <a:blip r:embed="rId4"/>
            <a:stretch>
              <a:fillRect/>
            </a:stretch>
          </p:blipFill>
          <p:spPr>
            <a:xfrm>
              <a:off x="2629038" y="3466127"/>
              <a:ext cx="324000" cy="324000"/>
            </a:xfrm>
            <a:prstGeom prst="rect">
              <a:avLst/>
            </a:prstGeom>
          </p:spPr>
        </p:pic>
      </p:grpSp>
    </p:spTree>
    <p:extLst>
      <p:ext uri="{BB962C8B-B14F-4D97-AF65-F5344CB8AC3E}">
        <p14:creationId xmlns:p14="http://schemas.microsoft.com/office/powerpoint/2010/main" val="2583009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Introduction :</a:t>
            </a:r>
            <a:r>
              <a:rPr lang="fr-FR" sz="2100" b="0" dirty="0"/>
              <a:t> définition</a:t>
            </a:r>
          </a:p>
        </p:txBody>
      </p:sp>
      <p:grpSp>
        <p:nvGrpSpPr>
          <p:cNvPr id="30" name="Groupe 29">
            <a:extLst>
              <a:ext uri="{FF2B5EF4-FFF2-40B4-BE49-F238E27FC236}">
                <a16:creationId xmlns:a16="http://schemas.microsoft.com/office/drawing/2014/main" id="{8334A8AA-3B89-499B-B1EB-60BA735D7E7C}"/>
              </a:ext>
            </a:extLst>
          </p:cNvPr>
          <p:cNvGrpSpPr/>
          <p:nvPr/>
        </p:nvGrpSpPr>
        <p:grpSpPr>
          <a:xfrm>
            <a:off x="1078297" y="1551044"/>
            <a:ext cx="5746397" cy="2134113"/>
            <a:chOff x="1437728" y="2068058"/>
            <a:chExt cx="7661863" cy="2845484"/>
          </a:xfrm>
        </p:grpSpPr>
        <p:grpSp>
          <p:nvGrpSpPr>
            <p:cNvPr id="16" name="Groupe 15">
              <a:extLst>
                <a:ext uri="{FF2B5EF4-FFF2-40B4-BE49-F238E27FC236}">
                  <a16:creationId xmlns:a16="http://schemas.microsoft.com/office/drawing/2014/main" id="{25A9FBE6-1223-4515-83C5-C7F5658B2611}"/>
                </a:ext>
              </a:extLst>
            </p:cNvPr>
            <p:cNvGrpSpPr>
              <a:grpSpLocks noChangeAspect="1"/>
            </p:cNvGrpSpPr>
            <p:nvPr/>
          </p:nvGrpSpPr>
          <p:grpSpPr>
            <a:xfrm>
              <a:off x="1437728" y="2068058"/>
              <a:ext cx="7661863" cy="2845484"/>
              <a:chOff x="2314807" y="1797472"/>
              <a:chExt cx="6482425" cy="2407459"/>
            </a:xfrm>
          </p:grpSpPr>
          <p:sp>
            <p:nvSpPr>
              <p:cNvPr id="2" name="Organigramme : Connecteur 1">
                <a:extLst>
                  <a:ext uri="{FF2B5EF4-FFF2-40B4-BE49-F238E27FC236}">
                    <a16:creationId xmlns:a16="http://schemas.microsoft.com/office/drawing/2014/main" id="{924854E1-BADE-42B7-A8B6-CAD1647477A8}"/>
                  </a:ext>
                </a:extLst>
              </p:cNvPr>
              <p:cNvSpPr/>
              <p:nvPr/>
            </p:nvSpPr>
            <p:spPr>
              <a:xfrm>
                <a:off x="2314807" y="1797472"/>
                <a:ext cx="2289976" cy="2289976"/>
              </a:xfrm>
              <a:prstGeom prst="flowChartConnector">
                <a:avLst/>
              </a:prstGeom>
              <a:solidFill>
                <a:srgbClr val="E1E0DD"/>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1350" dirty="0"/>
              </a:p>
            </p:txBody>
          </p:sp>
          <p:sp>
            <p:nvSpPr>
              <p:cNvPr id="6" name="Organigramme : Connecteur 5">
                <a:extLst>
                  <a:ext uri="{FF2B5EF4-FFF2-40B4-BE49-F238E27FC236}">
                    <a16:creationId xmlns:a16="http://schemas.microsoft.com/office/drawing/2014/main" id="{4C6D0372-B827-4C41-9E9A-3081D95E2500}"/>
                  </a:ext>
                </a:extLst>
              </p:cNvPr>
              <p:cNvSpPr/>
              <p:nvPr/>
            </p:nvSpPr>
            <p:spPr>
              <a:xfrm>
                <a:off x="2555909" y="2376326"/>
                <a:ext cx="1807771" cy="1711122"/>
              </a:xfrm>
              <a:prstGeom prst="flowChartConnector">
                <a:avLst/>
              </a:prstGeom>
              <a:solidFill>
                <a:srgbClr val="02698A"/>
              </a:solidFill>
              <a:ln w="3175">
                <a:solidFill>
                  <a:schemeClr val="bg1">
                    <a:lumMod val="9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sz="1350" dirty="0"/>
              </a:p>
            </p:txBody>
          </p:sp>
          <p:sp>
            <p:nvSpPr>
              <p:cNvPr id="8" name="Organigramme : Connecteur 7">
                <a:extLst>
                  <a:ext uri="{FF2B5EF4-FFF2-40B4-BE49-F238E27FC236}">
                    <a16:creationId xmlns:a16="http://schemas.microsoft.com/office/drawing/2014/main" id="{53478005-9CE4-4ECD-A91A-57C555F4D5DF}"/>
                  </a:ext>
                </a:extLst>
              </p:cNvPr>
              <p:cNvSpPr>
                <a:spLocks noChangeAspect="1"/>
              </p:cNvSpPr>
              <p:nvPr/>
            </p:nvSpPr>
            <p:spPr>
              <a:xfrm>
                <a:off x="2794206" y="2827448"/>
                <a:ext cx="1331176" cy="1260000"/>
              </a:xfrm>
              <a:prstGeom prst="flowChartConnector">
                <a:avLst/>
              </a:prstGeom>
              <a:solidFill>
                <a:srgbClr val="E1E0DD"/>
              </a:solidFill>
              <a:ln w="3175">
                <a:solidFill>
                  <a:schemeClr val="bg1">
                    <a:lumMod val="9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r-FR" sz="1350" dirty="0"/>
              </a:p>
            </p:txBody>
          </p:sp>
          <p:sp>
            <p:nvSpPr>
              <p:cNvPr id="9" name="Légende : flèche courbée 8">
                <a:extLst>
                  <a:ext uri="{FF2B5EF4-FFF2-40B4-BE49-F238E27FC236}">
                    <a16:creationId xmlns:a16="http://schemas.microsoft.com/office/drawing/2014/main" id="{4CE43D9B-326B-4426-BA24-DE81DC958A18}"/>
                  </a:ext>
                </a:extLst>
              </p:cNvPr>
              <p:cNvSpPr/>
              <p:nvPr/>
            </p:nvSpPr>
            <p:spPr>
              <a:xfrm>
                <a:off x="5672821" y="2124766"/>
                <a:ext cx="2707853" cy="251560"/>
              </a:xfrm>
              <a:prstGeom prst="borderCallout2">
                <a:avLst>
                  <a:gd name="adj1" fmla="val 18750"/>
                  <a:gd name="adj2" fmla="val -8333"/>
                  <a:gd name="adj3" fmla="val 18750"/>
                  <a:gd name="adj4" fmla="val -16667"/>
                  <a:gd name="adj5" fmla="val 257103"/>
                  <a:gd name="adj6" fmla="val -56871"/>
                </a:avLst>
              </a:prstGeom>
              <a:ln>
                <a:tailEnd type="oval"/>
              </a:ln>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MACHINE LEARNING</a:t>
                </a:r>
              </a:p>
            </p:txBody>
          </p:sp>
          <p:sp>
            <p:nvSpPr>
              <p:cNvPr id="3" name="ZoneTexte 2">
                <a:extLst>
                  <a:ext uri="{FF2B5EF4-FFF2-40B4-BE49-F238E27FC236}">
                    <a16:creationId xmlns:a16="http://schemas.microsoft.com/office/drawing/2014/main" id="{4F4B4438-416E-4262-B16B-71BDBDBE2ED4}"/>
                  </a:ext>
                </a:extLst>
              </p:cNvPr>
              <p:cNvSpPr txBox="1"/>
              <p:nvPr/>
            </p:nvSpPr>
            <p:spPr>
              <a:xfrm>
                <a:off x="5672820" y="2382142"/>
                <a:ext cx="3124412" cy="1822789"/>
              </a:xfrm>
              <a:prstGeom prst="rect">
                <a:avLst/>
              </a:prstGeom>
              <a:noFill/>
            </p:spPr>
            <p:txBody>
              <a:bodyPr wrap="square" rtlCol="0">
                <a:spAutoFit/>
              </a:bodyPr>
              <a:lstStyle/>
              <a:p>
                <a:pPr marL="128588" indent="-128588" algn="just">
                  <a:buFont typeface="Arial" panose="020B0604020202020204" pitchFamily="34" charset="0"/>
                  <a:buChar char="•"/>
                </a:pPr>
                <a:r>
                  <a:rPr lang="fr-FR" sz="900" dirty="0"/>
                  <a:t>Modèles Supervisés :</a:t>
                </a:r>
              </a:p>
              <a:p>
                <a:pPr marL="471488" lvl="1" indent="-128588" algn="just">
                  <a:buFont typeface="Calibri" panose="020F0502020204030204" pitchFamily="34" charset="0"/>
                  <a:buChar char="‐"/>
                </a:pPr>
                <a:r>
                  <a:rPr lang="fr-FR" sz="900" dirty="0"/>
                  <a:t>Régression linéaire</a:t>
                </a:r>
              </a:p>
              <a:p>
                <a:pPr marL="471488" lvl="1" indent="-128588" algn="just">
                  <a:buFont typeface="Calibri" panose="020F0502020204030204" pitchFamily="34" charset="0"/>
                  <a:buChar char="‐"/>
                </a:pPr>
                <a:r>
                  <a:rPr lang="fr-FR" sz="900" dirty="0"/>
                  <a:t>Régression Logistique</a:t>
                </a:r>
              </a:p>
              <a:p>
                <a:pPr marL="471488" lvl="1" indent="-128588" algn="just">
                  <a:buFont typeface="Calibri" panose="020F0502020204030204" pitchFamily="34" charset="0"/>
                  <a:buChar char="‐"/>
                </a:pPr>
                <a:r>
                  <a:rPr lang="fr-FR" sz="900" dirty="0"/>
                  <a:t>Arbres de décisions</a:t>
                </a:r>
              </a:p>
              <a:p>
                <a:pPr marL="471488" lvl="1" indent="-128588" algn="just">
                  <a:buFont typeface="Calibri" panose="020F0502020204030204" pitchFamily="34" charset="0"/>
                  <a:buChar char="‐"/>
                </a:pPr>
                <a:r>
                  <a:rPr lang="fr-FR" sz="900" dirty="0"/>
                  <a:t>Random Forest</a:t>
                </a:r>
              </a:p>
              <a:p>
                <a:pPr marL="471488" lvl="1" indent="-128588" algn="just">
                  <a:buFont typeface="Calibri" panose="020F0502020204030204" pitchFamily="34" charset="0"/>
                  <a:buChar char="‐"/>
                </a:pPr>
                <a:r>
                  <a:rPr lang="fr-FR" sz="900" dirty="0"/>
                  <a:t>XG Boost</a:t>
                </a:r>
              </a:p>
              <a:p>
                <a:pPr lvl="1" algn="just"/>
                <a:endParaRPr lang="fr-FR" sz="900" dirty="0"/>
              </a:p>
              <a:p>
                <a:pPr marL="128588" indent="-128588" algn="just">
                  <a:buFont typeface="Arial" panose="020B0604020202020204" pitchFamily="34" charset="0"/>
                  <a:buChar char="•"/>
                </a:pPr>
                <a:r>
                  <a:rPr lang="fr-FR" sz="900" dirty="0"/>
                  <a:t>Modèles Non supervisés :</a:t>
                </a:r>
              </a:p>
              <a:p>
                <a:pPr marL="471488" lvl="1" indent="-128588" algn="just">
                  <a:buFont typeface="Calibri" panose="020F0502020204030204" pitchFamily="34" charset="0"/>
                  <a:buChar char="‐"/>
                </a:pPr>
                <a:r>
                  <a:rPr lang="fr-FR" sz="900" dirty="0"/>
                  <a:t>Analyse Multivariée (ACP, AFC, ACM…)</a:t>
                </a:r>
              </a:p>
              <a:p>
                <a:pPr marL="471488" lvl="1" indent="-128588" algn="just">
                  <a:buFont typeface="Calibri" panose="020F0502020204030204" pitchFamily="34" charset="0"/>
                  <a:buChar char="‐"/>
                </a:pPr>
                <a:r>
                  <a:rPr lang="fr-FR" sz="900" dirty="0"/>
                  <a:t>K-Means</a:t>
                </a:r>
              </a:p>
              <a:p>
                <a:pPr marL="471488" lvl="1" indent="-128588" algn="just">
                  <a:buFont typeface="Calibri" panose="020F0502020204030204" pitchFamily="34" charset="0"/>
                  <a:buChar char="‐"/>
                </a:pPr>
                <a:r>
                  <a:rPr lang="fr-FR" sz="900" dirty="0"/>
                  <a:t>DB SCAN</a:t>
                </a:r>
              </a:p>
            </p:txBody>
          </p:sp>
        </p:grpSp>
        <p:pic>
          <p:nvPicPr>
            <p:cNvPr id="25" name="Image 24">
              <a:extLst>
                <a:ext uri="{FF2B5EF4-FFF2-40B4-BE49-F238E27FC236}">
                  <a16:creationId xmlns:a16="http://schemas.microsoft.com/office/drawing/2014/main" id="{F10C2128-3FCF-43FE-BEDF-12F1568816B5}"/>
                </a:ext>
              </a:extLst>
            </p:cNvPr>
            <p:cNvPicPr>
              <a:picLocks noChangeAspect="1"/>
            </p:cNvPicPr>
            <p:nvPr/>
          </p:nvPicPr>
          <p:blipFill>
            <a:blip r:embed="rId2">
              <a:duotone>
                <a:schemeClr val="bg2">
                  <a:shade val="45000"/>
                  <a:satMod val="135000"/>
                </a:schemeClr>
                <a:prstClr val="white"/>
              </a:duotone>
            </a:blip>
            <a:stretch>
              <a:fillRect/>
            </a:stretch>
          </p:blipFill>
          <p:spPr>
            <a:xfrm>
              <a:off x="2629038" y="2222416"/>
              <a:ext cx="324000" cy="324000"/>
            </a:xfrm>
            <a:prstGeom prst="rect">
              <a:avLst/>
            </a:prstGeom>
          </p:spPr>
        </p:pic>
        <p:pic>
          <p:nvPicPr>
            <p:cNvPr id="27" name="Image 26">
              <a:extLst>
                <a:ext uri="{FF2B5EF4-FFF2-40B4-BE49-F238E27FC236}">
                  <a16:creationId xmlns:a16="http://schemas.microsoft.com/office/drawing/2014/main" id="{9F040198-005B-4F1F-A4FA-154174226136}"/>
                </a:ext>
              </a:extLst>
            </p:cNvPr>
            <p:cNvPicPr>
              <a:picLocks noChangeAspect="1"/>
            </p:cNvPicPr>
            <p:nvPr/>
          </p:nvPicPr>
          <p:blipFill>
            <a:blip r:embed="rId3"/>
            <a:stretch>
              <a:fillRect/>
            </a:stretch>
          </p:blipFill>
          <p:spPr>
            <a:xfrm>
              <a:off x="2629038" y="2858526"/>
              <a:ext cx="324000" cy="324000"/>
            </a:xfrm>
            <a:prstGeom prst="rect">
              <a:avLst/>
            </a:prstGeom>
          </p:spPr>
        </p:pic>
        <p:pic>
          <p:nvPicPr>
            <p:cNvPr id="29" name="Image 28">
              <a:extLst>
                <a:ext uri="{FF2B5EF4-FFF2-40B4-BE49-F238E27FC236}">
                  <a16:creationId xmlns:a16="http://schemas.microsoft.com/office/drawing/2014/main" id="{AF5BEABA-39E6-449E-9ED4-A1763F49F6A6}"/>
                </a:ext>
              </a:extLst>
            </p:cNvPr>
            <p:cNvPicPr>
              <a:picLocks noChangeAspect="1"/>
            </p:cNvPicPr>
            <p:nvPr/>
          </p:nvPicPr>
          <p:blipFill>
            <a:blip r:embed="rId4">
              <a:extLst>
                <a:ext uri="{BEBA8EAE-BF5A-486C-A8C5-ECC9F3942E4B}">
                  <a14:imgProps xmlns:a14="http://schemas.microsoft.com/office/drawing/2010/main">
                    <a14:imgLayer r:embed="rId5">
                      <a14:imgEffect>
                        <a14:artisticPhotocopy/>
                      </a14:imgEffect>
                    </a14:imgLayer>
                  </a14:imgProps>
                </a:ext>
              </a:extLst>
            </a:blip>
            <a:stretch>
              <a:fillRect/>
            </a:stretch>
          </p:blipFill>
          <p:spPr>
            <a:xfrm>
              <a:off x="2629038" y="3466127"/>
              <a:ext cx="324000" cy="324000"/>
            </a:xfrm>
            <a:prstGeom prst="rect">
              <a:avLst/>
            </a:prstGeom>
          </p:spPr>
        </p:pic>
      </p:grpSp>
    </p:spTree>
    <p:extLst>
      <p:ext uri="{BB962C8B-B14F-4D97-AF65-F5344CB8AC3E}">
        <p14:creationId xmlns:p14="http://schemas.microsoft.com/office/powerpoint/2010/main" val="1141246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Introduction :</a:t>
            </a:r>
            <a:r>
              <a:rPr lang="fr-FR" sz="2100" b="0" dirty="0"/>
              <a:t> définition</a:t>
            </a:r>
          </a:p>
        </p:txBody>
      </p:sp>
      <p:grpSp>
        <p:nvGrpSpPr>
          <p:cNvPr id="30" name="Groupe 29">
            <a:extLst>
              <a:ext uri="{FF2B5EF4-FFF2-40B4-BE49-F238E27FC236}">
                <a16:creationId xmlns:a16="http://schemas.microsoft.com/office/drawing/2014/main" id="{8334A8AA-3B89-499B-B1EB-60BA735D7E7C}"/>
              </a:ext>
            </a:extLst>
          </p:cNvPr>
          <p:cNvGrpSpPr/>
          <p:nvPr/>
        </p:nvGrpSpPr>
        <p:grpSpPr>
          <a:xfrm>
            <a:off x="1078297" y="1551044"/>
            <a:ext cx="5460737" cy="3657607"/>
            <a:chOff x="1437728" y="2068058"/>
            <a:chExt cx="7280983" cy="4876810"/>
          </a:xfrm>
        </p:grpSpPr>
        <p:grpSp>
          <p:nvGrpSpPr>
            <p:cNvPr id="16" name="Groupe 15">
              <a:extLst>
                <a:ext uri="{FF2B5EF4-FFF2-40B4-BE49-F238E27FC236}">
                  <a16:creationId xmlns:a16="http://schemas.microsoft.com/office/drawing/2014/main" id="{25A9FBE6-1223-4515-83C5-C7F5658B2611}"/>
                </a:ext>
              </a:extLst>
            </p:cNvPr>
            <p:cNvGrpSpPr>
              <a:grpSpLocks noChangeAspect="1"/>
            </p:cNvGrpSpPr>
            <p:nvPr/>
          </p:nvGrpSpPr>
          <p:grpSpPr>
            <a:xfrm>
              <a:off x="1437728" y="2068058"/>
              <a:ext cx="7280983" cy="4876810"/>
              <a:chOff x="2314807" y="1797472"/>
              <a:chExt cx="6160176" cy="4126088"/>
            </a:xfrm>
          </p:grpSpPr>
          <p:sp>
            <p:nvSpPr>
              <p:cNvPr id="2" name="Organigramme : Connecteur 1">
                <a:extLst>
                  <a:ext uri="{FF2B5EF4-FFF2-40B4-BE49-F238E27FC236}">
                    <a16:creationId xmlns:a16="http://schemas.microsoft.com/office/drawing/2014/main" id="{924854E1-BADE-42B7-A8B6-CAD1647477A8}"/>
                  </a:ext>
                </a:extLst>
              </p:cNvPr>
              <p:cNvSpPr/>
              <p:nvPr/>
            </p:nvSpPr>
            <p:spPr>
              <a:xfrm>
                <a:off x="2314807" y="1797472"/>
                <a:ext cx="2289976" cy="2289976"/>
              </a:xfrm>
              <a:prstGeom prst="flowChartConnector">
                <a:avLst/>
              </a:prstGeom>
              <a:solidFill>
                <a:srgbClr val="E1E0DD"/>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1350" dirty="0"/>
              </a:p>
            </p:txBody>
          </p:sp>
          <p:sp>
            <p:nvSpPr>
              <p:cNvPr id="6" name="Organigramme : Connecteur 5">
                <a:extLst>
                  <a:ext uri="{FF2B5EF4-FFF2-40B4-BE49-F238E27FC236}">
                    <a16:creationId xmlns:a16="http://schemas.microsoft.com/office/drawing/2014/main" id="{4C6D0372-B827-4C41-9E9A-3081D95E2500}"/>
                  </a:ext>
                </a:extLst>
              </p:cNvPr>
              <p:cNvSpPr/>
              <p:nvPr/>
            </p:nvSpPr>
            <p:spPr>
              <a:xfrm>
                <a:off x="2555909" y="2376326"/>
                <a:ext cx="1807771" cy="1711122"/>
              </a:xfrm>
              <a:prstGeom prst="flowChartConnector">
                <a:avLst/>
              </a:prstGeom>
              <a:solidFill>
                <a:srgbClr val="E1E0DD"/>
              </a:solidFill>
              <a:ln w="3175">
                <a:solidFill>
                  <a:schemeClr val="bg1">
                    <a:lumMod val="9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sz="1350" dirty="0"/>
              </a:p>
            </p:txBody>
          </p:sp>
          <p:sp>
            <p:nvSpPr>
              <p:cNvPr id="8" name="Organigramme : Connecteur 7">
                <a:extLst>
                  <a:ext uri="{FF2B5EF4-FFF2-40B4-BE49-F238E27FC236}">
                    <a16:creationId xmlns:a16="http://schemas.microsoft.com/office/drawing/2014/main" id="{53478005-9CE4-4ECD-A91A-57C555F4D5DF}"/>
                  </a:ext>
                </a:extLst>
              </p:cNvPr>
              <p:cNvSpPr>
                <a:spLocks noChangeAspect="1"/>
              </p:cNvSpPr>
              <p:nvPr/>
            </p:nvSpPr>
            <p:spPr>
              <a:xfrm>
                <a:off x="2794206" y="2827448"/>
                <a:ext cx="1331176" cy="1260000"/>
              </a:xfrm>
              <a:prstGeom prst="flowChartConnector">
                <a:avLst/>
              </a:prstGeom>
              <a:solidFill>
                <a:srgbClr val="08ABC0"/>
              </a:solidFill>
              <a:ln w="3175">
                <a:solidFill>
                  <a:schemeClr val="bg1">
                    <a:lumMod val="9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r-FR" sz="1350" dirty="0"/>
              </a:p>
            </p:txBody>
          </p:sp>
          <p:sp>
            <p:nvSpPr>
              <p:cNvPr id="9" name="Légende : flèche courbée 8">
                <a:extLst>
                  <a:ext uri="{FF2B5EF4-FFF2-40B4-BE49-F238E27FC236}">
                    <a16:creationId xmlns:a16="http://schemas.microsoft.com/office/drawing/2014/main" id="{4CE43D9B-326B-4426-BA24-DE81DC958A18}"/>
                  </a:ext>
                </a:extLst>
              </p:cNvPr>
              <p:cNvSpPr/>
              <p:nvPr/>
            </p:nvSpPr>
            <p:spPr>
              <a:xfrm>
                <a:off x="5672821" y="2124766"/>
                <a:ext cx="2707853" cy="251560"/>
              </a:xfrm>
              <a:prstGeom prst="borderCallout2">
                <a:avLst>
                  <a:gd name="adj1" fmla="val 18750"/>
                  <a:gd name="adj2" fmla="val -8333"/>
                  <a:gd name="adj3" fmla="val 18750"/>
                  <a:gd name="adj4" fmla="val -16667"/>
                  <a:gd name="adj5" fmla="val 432838"/>
                  <a:gd name="adj6" fmla="val -64159"/>
                </a:avLst>
              </a:prstGeom>
              <a:ln>
                <a:tailEnd type="oval"/>
              </a:ln>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DEEP LEARNING</a:t>
                </a:r>
              </a:p>
            </p:txBody>
          </p:sp>
          <p:sp>
            <p:nvSpPr>
              <p:cNvPr id="3" name="ZoneTexte 2">
                <a:extLst>
                  <a:ext uri="{FF2B5EF4-FFF2-40B4-BE49-F238E27FC236}">
                    <a16:creationId xmlns:a16="http://schemas.microsoft.com/office/drawing/2014/main" id="{4F4B4438-416E-4262-B16B-71BDBDBE2ED4}"/>
                  </a:ext>
                </a:extLst>
              </p:cNvPr>
              <p:cNvSpPr txBox="1"/>
              <p:nvPr/>
            </p:nvSpPr>
            <p:spPr>
              <a:xfrm>
                <a:off x="5672820" y="2382142"/>
                <a:ext cx="2802163" cy="3541418"/>
              </a:xfrm>
              <a:prstGeom prst="rect">
                <a:avLst/>
              </a:prstGeom>
              <a:noFill/>
            </p:spPr>
            <p:txBody>
              <a:bodyPr wrap="square" rtlCol="0">
                <a:spAutoFit/>
              </a:bodyPr>
              <a:lstStyle/>
              <a:p>
                <a:pPr marL="128588" indent="-128588" algn="just">
                  <a:buFont typeface="Arial" panose="020B0604020202020204" pitchFamily="34" charset="0"/>
                  <a:buChar char="•"/>
                </a:pPr>
                <a:r>
                  <a:rPr lang="fr-FR" sz="900" dirty="0"/>
                  <a:t>ANN (Artificial Neural Network) :</a:t>
                </a:r>
              </a:p>
              <a:p>
                <a:pPr marL="471488" lvl="1" indent="-128588" algn="just">
                  <a:buFont typeface="Arial" panose="020B0604020202020204" pitchFamily="34" charset="0"/>
                  <a:buChar char="•"/>
                </a:pPr>
                <a:r>
                  <a:rPr lang="fr-FR" sz="900" dirty="0"/>
                  <a:t> Prédire le départ d’un client</a:t>
                </a:r>
              </a:p>
              <a:p>
                <a:pPr marL="471488" lvl="1" indent="-128588" algn="just">
                  <a:buFont typeface="Arial" panose="020B0604020202020204" pitchFamily="34" charset="0"/>
                  <a:buChar char="•"/>
                </a:pPr>
                <a:r>
                  <a:rPr lang="fr-FR" sz="900" dirty="0"/>
                  <a:t>Prédire la conversion d’un prospect en client</a:t>
                </a:r>
              </a:p>
              <a:p>
                <a:pPr marL="128588" indent="-128588" algn="just">
                  <a:buFont typeface="Arial" panose="020B0604020202020204" pitchFamily="34" charset="0"/>
                  <a:buChar char="•"/>
                </a:pPr>
                <a:r>
                  <a:rPr lang="fr-FR" sz="900" dirty="0"/>
                  <a:t>CNN (Convolution Neural Network) :</a:t>
                </a:r>
              </a:p>
              <a:p>
                <a:pPr marL="471488" lvl="1" indent="-128588" algn="just">
                  <a:buFont typeface="Calibri" panose="020F0502020204030204" pitchFamily="34" charset="0"/>
                  <a:buChar char="‐"/>
                </a:pPr>
                <a:r>
                  <a:rPr lang="fr-FR" sz="900" dirty="0"/>
                  <a:t>Reconnaissance faciale</a:t>
                </a:r>
              </a:p>
              <a:p>
                <a:pPr marL="471488" lvl="1" indent="-128588" algn="just">
                  <a:buFont typeface="Calibri" panose="020F0502020204030204" pitchFamily="34" charset="0"/>
                  <a:buChar char="‐"/>
                </a:pPr>
                <a:r>
                  <a:rPr lang="fr-FR" sz="900" dirty="0"/>
                  <a:t>Voiture autonome</a:t>
                </a:r>
              </a:p>
              <a:p>
                <a:pPr marL="471488" lvl="1" indent="-128588" algn="just">
                  <a:buFont typeface="Calibri" panose="020F0502020204030204" pitchFamily="34" charset="0"/>
                  <a:buChar char="‐"/>
                </a:pPr>
                <a:r>
                  <a:rPr lang="fr-FR" sz="900" dirty="0"/>
                  <a:t>Détection d’incendie par image satellite.</a:t>
                </a:r>
              </a:p>
              <a:p>
                <a:pPr marL="128588" indent="-128588" algn="just">
                  <a:buFont typeface="Arial" panose="020B0604020202020204" pitchFamily="34" charset="0"/>
                  <a:buChar char="•"/>
                </a:pPr>
                <a:r>
                  <a:rPr lang="fr-FR" sz="900" dirty="0"/>
                  <a:t>RNN (Recurrent Neural Network) :</a:t>
                </a:r>
              </a:p>
              <a:p>
                <a:pPr marL="471488" lvl="1" indent="-128588" algn="just">
                  <a:buFont typeface="Calibri" panose="020F0502020204030204" pitchFamily="34" charset="0"/>
                  <a:buChar char="‐"/>
                </a:pPr>
                <a:r>
                  <a:rPr lang="fr-FR" sz="900" dirty="0"/>
                  <a:t>Prédire le prix d’une action au CAC40</a:t>
                </a:r>
              </a:p>
              <a:p>
                <a:pPr marL="471488" lvl="1" indent="-128588" algn="just">
                  <a:buFont typeface="Calibri" panose="020F0502020204030204" pitchFamily="34" charset="0"/>
                  <a:buChar char="‐"/>
                </a:pPr>
                <a:r>
                  <a:rPr lang="fr-FR" sz="900" dirty="0"/>
                  <a:t>Prédire l’évolution et le prix du baril de pétrole</a:t>
                </a:r>
              </a:p>
              <a:p>
                <a:pPr marL="128588" indent="-128588" algn="just">
                  <a:buFont typeface="Arial" panose="020B0604020202020204" pitchFamily="34" charset="0"/>
                  <a:buChar char="•"/>
                </a:pPr>
                <a:r>
                  <a:rPr lang="fr-FR" sz="900" dirty="0"/>
                  <a:t>SOM (Self Organizing Map) : </a:t>
                </a:r>
              </a:p>
              <a:p>
                <a:pPr marL="471488" lvl="1" indent="-128588" algn="just">
                  <a:buFont typeface="Calibri" panose="020F0502020204030204" pitchFamily="34" charset="0"/>
                  <a:buChar char="‐"/>
                </a:pPr>
                <a:r>
                  <a:rPr lang="fr-FR" sz="900" dirty="0"/>
                  <a:t>cartes auto-adaptative pour la détection de fraude bancaire</a:t>
                </a:r>
              </a:p>
              <a:p>
                <a:pPr marL="128588" indent="-128588" algn="just">
                  <a:buFont typeface="Arial" panose="020B0604020202020204" pitchFamily="34" charset="0"/>
                  <a:buChar char="•"/>
                </a:pPr>
                <a:r>
                  <a:rPr lang="fr-FR" sz="900" dirty="0"/>
                  <a:t>BM (Boltzmann machine) :</a:t>
                </a:r>
              </a:p>
              <a:p>
                <a:pPr marL="471488" lvl="1" indent="-128588" algn="just">
                  <a:buFont typeface="Calibri" panose="020F0502020204030204" pitchFamily="34" charset="0"/>
                  <a:buChar char="‐"/>
                </a:pPr>
                <a:r>
                  <a:rPr lang="fr-FR" sz="900" dirty="0"/>
                  <a:t>Système de recommandation</a:t>
                </a:r>
              </a:p>
              <a:p>
                <a:pPr marL="128588" indent="-128588" algn="just">
                  <a:buFont typeface="Arial" panose="020B0604020202020204" pitchFamily="34" charset="0"/>
                  <a:buChar char="•"/>
                </a:pPr>
                <a:r>
                  <a:rPr lang="fr-FR" sz="900" dirty="0"/>
                  <a:t>AE (AutoEncoders) :</a:t>
                </a:r>
              </a:p>
              <a:p>
                <a:pPr marL="471488" lvl="1" indent="-128588" algn="just">
                  <a:buFont typeface="Calibri" panose="020F0502020204030204" pitchFamily="34" charset="0"/>
                  <a:buChar char="‐"/>
                </a:pPr>
                <a:r>
                  <a:rPr lang="fr-FR" sz="900" dirty="0"/>
                  <a:t>Dé-bruitage d’image (rendre une image floue plus claire)…</a:t>
                </a:r>
              </a:p>
            </p:txBody>
          </p:sp>
        </p:grpSp>
        <p:pic>
          <p:nvPicPr>
            <p:cNvPr id="25" name="Image 24">
              <a:extLst>
                <a:ext uri="{FF2B5EF4-FFF2-40B4-BE49-F238E27FC236}">
                  <a16:creationId xmlns:a16="http://schemas.microsoft.com/office/drawing/2014/main" id="{F10C2128-3FCF-43FE-BEDF-12F1568816B5}"/>
                </a:ext>
              </a:extLst>
            </p:cNvPr>
            <p:cNvPicPr>
              <a:picLocks noChangeAspect="1"/>
            </p:cNvPicPr>
            <p:nvPr/>
          </p:nvPicPr>
          <p:blipFill>
            <a:blip r:embed="rId2">
              <a:duotone>
                <a:schemeClr val="bg2">
                  <a:shade val="45000"/>
                  <a:satMod val="135000"/>
                </a:schemeClr>
                <a:prstClr val="white"/>
              </a:duotone>
            </a:blip>
            <a:stretch>
              <a:fillRect/>
            </a:stretch>
          </p:blipFill>
          <p:spPr>
            <a:xfrm>
              <a:off x="2629038" y="2222416"/>
              <a:ext cx="324000" cy="324000"/>
            </a:xfrm>
            <a:prstGeom prst="rect">
              <a:avLst/>
            </a:prstGeom>
          </p:spPr>
        </p:pic>
        <p:pic>
          <p:nvPicPr>
            <p:cNvPr id="27" name="Image 26">
              <a:extLst>
                <a:ext uri="{FF2B5EF4-FFF2-40B4-BE49-F238E27FC236}">
                  <a16:creationId xmlns:a16="http://schemas.microsoft.com/office/drawing/2014/main" id="{9F040198-005B-4F1F-A4FA-154174226136}"/>
                </a:ext>
              </a:extLst>
            </p:cNvPr>
            <p:cNvPicPr>
              <a:picLocks noChangeAspect="1"/>
            </p:cNvPicPr>
            <p:nvPr/>
          </p:nvPicPr>
          <p:blipFill>
            <a:blip r:embed="rId3">
              <a:extLst>
                <a:ext uri="{BEBA8EAE-BF5A-486C-A8C5-ECC9F3942E4B}">
                  <a14:imgProps xmlns:a14="http://schemas.microsoft.com/office/drawing/2010/main">
                    <a14:imgLayer r:embed="rId4">
                      <a14:imgEffect>
                        <a14:artisticPhotocopy/>
                      </a14:imgEffect>
                    </a14:imgLayer>
                  </a14:imgProps>
                </a:ext>
              </a:extLst>
            </a:blip>
            <a:stretch>
              <a:fillRect/>
            </a:stretch>
          </p:blipFill>
          <p:spPr>
            <a:xfrm>
              <a:off x="2629038" y="2858526"/>
              <a:ext cx="324000" cy="324000"/>
            </a:xfrm>
            <a:prstGeom prst="rect">
              <a:avLst/>
            </a:prstGeom>
          </p:spPr>
        </p:pic>
        <p:pic>
          <p:nvPicPr>
            <p:cNvPr id="29" name="Image 28">
              <a:extLst>
                <a:ext uri="{FF2B5EF4-FFF2-40B4-BE49-F238E27FC236}">
                  <a16:creationId xmlns:a16="http://schemas.microsoft.com/office/drawing/2014/main" id="{AF5BEABA-39E6-449E-9ED4-A1763F49F6A6}"/>
                </a:ext>
              </a:extLst>
            </p:cNvPr>
            <p:cNvPicPr>
              <a:picLocks noChangeAspect="1"/>
            </p:cNvPicPr>
            <p:nvPr/>
          </p:nvPicPr>
          <p:blipFill>
            <a:blip r:embed="rId5"/>
            <a:stretch>
              <a:fillRect/>
            </a:stretch>
          </p:blipFill>
          <p:spPr>
            <a:xfrm>
              <a:off x="2629038" y="3466127"/>
              <a:ext cx="324000" cy="324000"/>
            </a:xfrm>
            <a:prstGeom prst="rect">
              <a:avLst/>
            </a:prstGeom>
          </p:spPr>
        </p:pic>
      </p:grpSp>
    </p:spTree>
    <p:extLst>
      <p:ext uri="{BB962C8B-B14F-4D97-AF65-F5344CB8AC3E}">
        <p14:creationId xmlns:p14="http://schemas.microsoft.com/office/powerpoint/2010/main" val="1165110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Introduction :</a:t>
            </a:r>
            <a:r>
              <a:rPr lang="fr-FR" sz="2100" b="0" dirty="0"/>
              <a:t> définition</a:t>
            </a:r>
          </a:p>
        </p:txBody>
      </p:sp>
      <p:pic>
        <p:nvPicPr>
          <p:cNvPr id="6" name="Image 5">
            <a:extLst>
              <a:ext uri="{FF2B5EF4-FFF2-40B4-BE49-F238E27FC236}">
                <a16:creationId xmlns:a16="http://schemas.microsoft.com/office/drawing/2014/main" id="{D12E5C04-C21D-423D-9CC6-53F872ED6575}"/>
              </a:ext>
            </a:extLst>
          </p:cNvPr>
          <p:cNvPicPr>
            <a:picLocks noChangeAspect="1"/>
          </p:cNvPicPr>
          <p:nvPr/>
        </p:nvPicPr>
        <p:blipFill>
          <a:blip r:embed="rId2"/>
          <a:stretch>
            <a:fillRect/>
          </a:stretch>
        </p:blipFill>
        <p:spPr>
          <a:xfrm>
            <a:off x="1127585" y="1620828"/>
            <a:ext cx="3333584" cy="1666793"/>
          </a:xfrm>
          <a:prstGeom prst="roundRect">
            <a:avLst>
              <a:gd name="adj" fmla="val 4658"/>
            </a:avLst>
          </a:prstGeom>
          <a:solidFill>
            <a:srgbClr val="FFFFFF">
              <a:shade val="85000"/>
            </a:srgbClr>
          </a:solidFill>
          <a:ln>
            <a:noFill/>
          </a:ln>
          <a:effectLst/>
        </p:spPr>
      </p:pic>
      <p:sp>
        <p:nvSpPr>
          <p:cNvPr id="9" name="Title 13">
            <a:extLst>
              <a:ext uri="{FF2B5EF4-FFF2-40B4-BE49-F238E27FC236}">
                <a16:creationId xmlns:a16="http://schemas.microsoft.com/office/drawing/2014/main" id="{83A99CD3-6E80-4380-A7BB-48B9FF9F7917}"/>
              </a:ext>
            </a:extLst>
          </p:cNvPr>
          <p:cNvSpPr txBox="1">
            <a:spLocks/>
          </p:cNvSpPr>
          <p:nvPr/>
        </p:nvSpPr>
        <p:spPr>
          <a:xfrm>
            <a:off x="1127585" y="1364896"/>
            <a:ext cx="3232205" cy="266312"/>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Moteur de recommandation Netflix</a:t>
            </a:r>
          </a:p>
        </p:txBody>
      </p:sp>
      <p:pic>
        <p:nvPicPr>
          <p:cNvPr id="8" name="Image 7">
            <a:extLst>
              <a:ext uri="{FF2B5EF4-FFF2-40B4-BE49-F238E27FC236}">
                <a16:creationId xmlns:a16="http://schemas.microsoft.com/office/drawing/2014/main" id="{DB03DA45-F979-49B0-92F8-92554D18F2D7}"/>
              </a:ext>
            </a:extLst>
          </p:cNvPr>
          <p:cNvPicPr>
            <a:picLocks noChangeAspect="1"/>
          </p:cNvPicPr>
          <p:nvPr/>
        </p:nvPicPr>
        <p:blipFill>
          <a:blip r:embed="rId3"/>
          <a:stretch>
            <a:fillRect/>
          </a:stretch>
        </p:blipFill>
        <p:spPr>
          <a:xfrm>
            <a:off x="5208106" y="1747677"/>
            <a:ext cx="1773141" cy="1329856"/>
          </a:xfrm>
          <a:prstGeom prst="roundRect">
            <a:avLst>
              <a:gd name="adj" fmla="val 4658"/>
            </a:avLst>
          </a:prstGeom>
          <a:solidFill>
            <a:srgbClr val="FFFFFF">
              <a:shade val="85000"/>
            </a:srgbClr>
          </a:solidFill>
          <a:ln>
            <a:noFill/>
          </a:ln>
          <a:effectLst/>
        </p:spPr>
      </p:pic>
      <p:sp>
        <p:nvSpPr>
          <p:cNvPr id="13" name="Title 13">
            <a:extLst>
              <a:ext uri="{FF2B5EF4-FFF2-40B4-BE49-F238E27FC236}">
                <a16:creationId xmlns:a16="http://schemas.microsoft.com/office/drawing/2014/main" id="{A2F2922E-9799-458C-B7E4-F2DA0B1BD8B7}"/>
              </a:ext>
            </a:extLst>
          </p:cNvPr>
          <p:cNvSpPr txBox="1">
            <a:spLocks/>
          </p:cNvSpPr>
          <p:nvPr/>
        </p:nvSpPr>
        <p:spPr>
          <a:xfrm>
            <a:off x="5158410" y="1481365"/>
            <a:ext cx="2072276" cy="266312"/>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Agent conversationnel</a:t>
            </a:r>
          </a:p>
        </p:txBody>
      </p:sp>
      <p:pic>
        <p:nvPicPr>
          <p:cNvPr id="12" name="Image 11">
            <a:extLst>
              <a:ext uri="{FF2B5EF4-FFF2-40B4-BE49-F238E27FC236}">
                <a16:creationId xmlns:a16="http://schemas.microsoft.com/office/drawing/2014/main" id="{B0F47EC0-AEB9-4228-87BB-855634307C5C}"/>
              </a:ext>
            </a:extLst>
          </p:cNvPr>
          <p:cNvPicPr>
            <a:picLocks noChangeAspect="1"/>
          </p:cNvPicPr>
          <p:nvPr/>
        </p:nvPicPr>
        <p:blipFill>
          <a:blip r:embed="rId4"/>
          <a:stretch>
            <a:fillRect/>
          </a:stretch>
        </p:blipFill>
        <p:spPr>
          <a:xfrm>
            <a:off x="1512263" y="3585193"/>
            <a:ext cx="2525012" cy="1402784"/>
          </a:xfrm>
          <a:prstGeom prst="roundRect">
            <a:avLst>
              <a:gd name="adj" fmla="val 4658"/>
            </a:avLst>
          </a:prstGeom>
          <a:solidFill>
            <a:srgbClr val="FFFFFF">
              <a:shade val="85000"/>
            </a:srgbClr>
          </a:solidFill>
          <a:ln>
            <a:noFill/>
          </a:ln>
          <a:effectLst/>
        </p:spPr>
      </p:pic>
      <p:sp>
        <p:nvSpPr>
          <p:cNvPr id="16" name="Title 13">
            <a:extLst>
              <a:ext uri="{FF2B5EF4-FFF2-40B4-BE49-F238E27FC236}">
                <a16:creationId xmlns:a16="http://schemas.microsoft.com/office/drawing/2014/main" id="{0ECAD2CF-58DE-49E8-9801-04E53E43BA2C}"/>
              </a:ext>
            </a:extLst>
          </p:cNvPr>
          <p:cNvSpPr txBox="1">
            <a:spLocks/>
          </p:cNvSpPr>
          <p:nvPr/>
        </p:nvSpPr>
        <p:spPr>
          <a:xfrm>
            <a:off x="1838503" y="3303251"/>
            <a:ext cx="1872533" cy="266312"/>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Computer vision</a:t>
            </a:r>
          </a:p>
        </p:txBody>
      </p:sp>
      <p:pic>
        <p:nvPicPr>
          <p:cNvPr id="17" name="Image 16">
            <a:extLst>
              <a:ext uri="{FF2B5EF4-FFF2-40B4-BE49-F238E27FC236}">
                <a16:creationId xmlns:a16="http://schemas.microsoft.com/office/drawing/2014/main" id="{37C86EEF-F410-4EE9-B9FF-FFDBE5896CF3}"/>
              </a:ext>
            </a:extLst>
          </p:cNvPr>
          <p:cNvPicPr>
            <a:picLocks noChangeAspect="1"/>
          </p:cNvPicPr>
          <p:nvPr/>
        </p:nvPicPr>
        <p:blipFill>
          <a:blip r:embed="rId5"/>
          <a:stretch>
            <a:fillRect/>
          </a:stretch>
        </p:blipFill>
        <p:spPr>
          <a:xfrm>
            <a:off x="4678161" y="3330356"/>
            <a:ext cx="2467613" cy="1540934"/>
          </a:xfrm>
          <a:prstGeom prst="roundRect">
            <a:avLst>
              <a:gd name="adj" fmla="val 4658"/>
            </a:avLst>
          </a:prstGeom>
          <a:solidFill>
            <a:srgbClr val="FFFFFF">
              <a:shade val="85000"/>
            </a:srgbClr>
          </a:solidFill>
          <a:ln>
            <a:noFill/>
          </a:ln>
          <a:effectLst/>
        </p:spPr>
      </p:pic>
    </p:spTree>
    <p:extLst>
      <p:ext uri="{BB962C8B-B14F-4D97-AF65-F5344CB8AC3E}">
        <p14:creationId xmlns:p14="http://schemas.microsoft.com/office/powerpoint/2010/main" val="2853837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752222"/>
            <a:ext cx="5892014" cy="3015041"/>
          </a:xfrm>
        </p:spPr>
        <p:txBody>
          <a:bodyPr>
            <a:normAutofit fontScale="92500"/>
          </a:bodyPr>
          <a:lstStyle/>
          <a:p>
            <a:pPr algn="just">
              <a:lnSpc>
                <a:spcPct val="150000"/>
              </a:lnSpc>
              <a:buClr>
                <a:schemeClr val="accent2"/>
              </a:buClr>
            </a:pPr>
            <a:r>
              <a:rPr lang="fr-FR" sz="1350" dirty="0"/>
              <a:t>Naissance du scoring de risque au début du XXème siècle.</a:t>
            </a:r>
          </a:p>
          <a:p>
            <a:pPr algn="just">
              <a:lnSpc>
                <a:spcPct val="150000"/>
              </a:lnSpc>
              <a:buClr>
                <a:schemeClr val="accent2"/>
              </a:buClr>
            </a:pPr>
            <a:r>
              <a:rPr lang="fr-FR" sz="1350" dirty="0"/>
              <a:t>Plus tard : méthodes de classifications et associations de produits.</a:t>
            </a:r>
          </a:p>
          <a:p>
            <a:pPr algn="just">
              <a:lnSpc>
                <a:spcPct val="150000"/>
              </a:lnSpc>
              <a:buClr>
                <a:schemeClr val="accent2"/>
              </a:buClr>
            </a:pPr>
            <a:r>
              <a:rPr lang="fr-FR" sz="1350" dirty="0"/>
              <a:t>Le Data Mining est rendu possible grâce à l’essor d’internet, la téléphonie mobile (NTIC), le traitement de l’information (entrepôts de données), la concurrence entre les banques…</a:t>
            </a:r>
          </a:p>
          <a:p>
            <a:pPr algn="just">
              <a:lnSpc>
                <a:spcPct val="150000"/>
              </a:lnSpc>
              <a:buClr>
                <a:schemeClr val="accent2"/>
              </a:buClr>
            </a:pPr>
            <a:r>
              <a:rPr lang="fr-FR" sz="1350" dirty="0"/>
              <a:t>La prise en compte des données des réseaux sociaux interviendra bien plus tard.</a:t>
            </a:r>
          </a:p>
          <a:p>
            <a:pPr algn="just">
              <a:lnSpc>
                <a:spcPct val="150000"/>
              </a:lnSpc>
              <a:buClr>
                <a:schemeClr val="accent2"/>
              </a:buClr>
            </a:pPr>
            <a:r>
              <a:rPr lang="fr-FR" sz="1350" dirty="0"/>
              <a:t>Grâce au Big Data, il est désormais possible de détecter les profils de clients risquant par exemple le surendettement.</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920136" cy="413741"/>
          </a:xfrm>
        </p:spPr>
        <p:txBody>
          <a:bodyPr>
            <a:noAutofit/>
          </a:bodyPr>
          <a:lstStyle/>
          <a:p>
            <a:r>
              <a:rPr lang="fr-FR" sz="2100" dirty="0"/>
              <a:t>Introduction : </a:t>
            </a:r>
            <a:r>
              <a:rPr lang="fr-FR" sz="2100" b="0" dirty="0"/>
              <a:t>Machine Learning par secteur d’activité</a:t>
            </a:r>
          </a:p>
        </p:txBody>
      </p:sp>
      <p:sp>
        <p:nvSpPr>
          <p:cNvPr id="6" name="Title 13">
            <a:extLst>
              <a:ext uri="{FF2B5EF4-FFF2-40B4-BE49-F238E27FC236}">
                <a16:creationId xmlns:a16="http://schemas.microsoft.com/office/drawing/2014/main" id="{088B8309-1159-4AC5-BB1C-FF1EC4F6E417}"/>
              </a:ext>
            </a:extLst>
          </p:cNvPr>
          <p:cNvSpPr txBox="1">
            <a:spLocks/>
          </p:cNvSpPr>
          <p:nvPr/>
        </p:nvSpPr>
        <p:spPr>
          <a:xfrm>
            <a:off x="389008" y="1110692"/>
            <a:ext cx="6249917" cy="28127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Banque</a:t>
            </a:r>
          </a:p>
        </p:txBody>
      </p:sp>
    </p:spTree>
    <p:extLst>
      <p:ext uri="{BB962C8B-B14F-4D97-AF65-F5344CB8AC3E}">
        <p14:creationId xmlns:p14="http://schemas.microsoft.com/office/powerpoint/2010/main" val="3837370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752222"/>
            <a:ext cx="6386620" cy="1796048"/>
          </a:xfrm>
        </p:spPr>
        <p:txBody>
          <a:bodyPr>
            <a:normAutofit/>
          </a:bodyPr>
          <a:lstStyle/>
          <a:p>
            <a:pPr algn="just">
              <a:lnSpc>
                <a:spcPct val="150000"/>
              </a:lnSpc>
              <a:buClr>
                <a:schemeClr val="accent2"/>
              </a:buClr>
            </a:pPr>
            <a:r>
              <a:rPr lang="fr-FR" sz="1500" dirty="0"/>
              <a:t>Utilise les méthodes de séries temporelles pour effectuer des prévisions de prix, d’indicateurs économiques (PIB, taux d'intérêts directeurs, indice des prix à la consommation, taux de chômage…), d’évolution des marchés.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696078" cy="413741"/>
          </a:xfrm>
        </p:spPr>
        <p:txBody>
          <a:bodyPr>
            <a:noAutofit/>
          </a:bodyPr>
          <a:lstStyle/>
          <a:p>
            <a:r>
              <a:rPr lang="fr-FR" sz="2100" dirty="0"/>
              <a:t>Introduction : </a:t>
            </a:r>
            <a:r>
              <a:rPr lang="fr-FR" sz="2100" b="0" dirty="0"/>
              <a:t>Machine Learning par secteur d’activité</a:t>
            </a:r>
          </a:p>
        </p:txBody>
      </p:sp>
      <p:sp>
        <p:nvSpPr>
          <p:cNvPr id="6" name="Title 13">
            <a:extLst>
              <a:ext uri="{FF2B5EF4-FFF2-40B4-BE49-F238E27FC236}">
                <a16:creationId xmlns:a16="http://schemas.microsoft.com/office/drawing/2014/main" id="{088B8309-1159-4AC5-BB1C-FF1EC4F6E417}"/>
              </a:ext>
            </a:extLst>
          </p:cNvPr>
          <p:cNvSpPr txBox="1">
            <a:spLocks/>
          </p:cNvSpPr>
          <p:nvPr/>
        </p:nvSpPr>
        <p:spPr>
          <a:xfrm>
            <a:off x="389008" y="1110692"/>
            <a:ext cx="6249917" cy="28127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Secteur financier</a:t>
            </a:r>
          </a:p>
        </p:txBody>
      </p:sp>
      <p:pic>
        <p:nvPicPr>
          <p:cNvPr id="7" name="Image 6">
            <a:extLst>
              <a:ext uri="{FF2B5EF4-FFF2-40B4-BE49-F238E27FC236}">
                <a16:creationId xmlns:a16="http://schemas.microsoft.com/office/drawing/2014/main" id="{AE9FAFF0-2852-41AB-88D0-78C6BDADDF53}"/>
              </a:ext>
            </a:extLst>
          </p:cNvPr>
          <p:cNvPicPr>
            <a:picLocks noChangeAspect="1"/>
          </p:cNvPicPr>
          <p:nvPr/>
        </p:nvPicPr>
        <p:blipFill>
          <a:blip r:embed="rId2"/>
          <a:stretch>
            <a:fillRect/>
          </a:stretch>
        </p:blipFill>
        <p:spPr>
          <a:xfrm>
            <a:off x="2615321" y="3247362"/>
            <a:ext cx="2757773" cy="1656823"/>
          </a:xfrm>
          <a:prstGeom prst="roundRect">
            <a:avLst>
              <a:gd name="adj" fmla="val 4658"/>
            </a:avLst>
          </a:prstGeom>
          <a:solidFill>
            <a:srgbClr val="FFFFFF">
              <a:shade val="85000"/>
            </a:srgbClr>
          </a:solidFill>
          <a:ln>
            <a:noFill/>
          </a:ln>
          <a:effectLst/>
        </p:spPr>
      </p:pic>
    </p:spTree>
    <p:extLst>
      <p:ext uri="{BB962C8B-B14F-4D97-AF65-F5344CB8AC3E}">
        <p14:creationId xmlns:p14="http://schemas.microsoft.com/office/powerpoint/2010/main" val="11958582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752221"/>
            <a:ext cx="5892014" cy="2280587"/>
          </a:xfrm>
        </p:spPr>
        <p:txBody>
          <a:bodyPr>
            <a:normAutofit fontScale="47500" lnSpcReduction="20000"/>
          </a:bodyPr>
          <a:lstStyle/>
          <a:p>
            <a:pPr algn="just">
              <a:lnSpc>
                <a:spcPct val="150000"/>
              </a:lnSpc>
              <a:buClr>
                <a:schemeClr val="accent2"/>
              </a:buClr>
            </a:pPr>
            <a:r>
              <a:rPr lang="fr-FR" dirty="0"/>
              <a:t>Développement des cartes de crédit : donne naissance à l’enrichissement de leurs bases de données, études comportementales provenant des tickets de caisse.</a:t>
            </a:r>
          </a:p>
          <a:p>
            <a:pPr algn="just">
              <a:lnSpc>
                <a:spcPct val="150000"/>
              </a:lnSpc>
              <a:buClr>
                <a:schemeClr val="accent2"/>
              </a:buClr>
            </a:pPr>
            <a:r>
              <a:rPr lang="fr-FR" dirty="0"/>
              <a:t>Cartes de fidélité : détection des associations de produits, profils de clients, optimisation de la disposition des produits en rayon.</a:t>
            </a:r>
          </a:p>
          <a:p>
            <a:pPr algn="just">
              <a:lnSpc>
                <a:spcPct val="150000"/>
              </a:lnSpc>
              <a:buClr>
                <a:schemeClr val="accent2"/>
              </a:buClr>
            </a:pPr>
            <a:r>
              <a:rPr lang="fr-FR" dirty="0"/>
              <a:t>Segmentation de la clientèle et segmentation des tickets de caisses par familles de produits (textile, alimentaire…).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677911" cy="413741"/>
          </a:xfrm>
        </p:spPr>
        <p:txBody>
          <a:bodyPr>
            <a:noAutofit/>
          </a:bodyPr>
          <a:lstStyle/>
          <a:p>
            <a:r>
              <a:rPr lang="fr-FR" sz="2100" dirty="0"/>
              <a:t>Introduction : </a:t>
            </a:r>
            <a:r>
              <a:rPr lang="fr-FR" sz="2100" b="0" dirty="0"/>
              <a:t>Machine Learning par secteur d’activité</a:t>
            </a:r>
          </a:p>
        </p:txBody>
      </p:sp>
      <p:sp>
        <p:nvSpPr>
          <p:cNvPr id="6" name="Title 13">
            <a:extLst>
              <a:ext uri="{FF2B5EF4-FFF2-40B4-BE49-F238E27FC236}">
                <a16:creationId xmlns:a16="http://schemas.microsoft.com/office/drawing/2014/main" id="{088B8309-1159-4AC5-BB1C-FF1EC4F6E417}"/>
              </a:ext>
            </a:extLst>
          </p:cNvPr>
          <p:cNvSpPr txBox="1">
            <a:spLocks/>
          </p:cNvSpPr>
          <p:nvPr/>
        </p:nvSpPr>
        <p:spPr>
          <a:xfrm>
            <a:off x="389008" y="1110692"/>
            <a:ext cx="6249917" cy="28127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Grande distribution</a:t>
            </a:r>
          </a:p>
        </p:txBody>
      </p:sp>
    </p:spTree>
    <p:extLst>
      <p:ext uri="{BB962C8B-B14F-4D97-AF65-F5344CB8AC3E}">
        <p14:creationId xmlns:p14="http://schemas.microsoft.com/office/powerpoint/2010/main" val="994550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752221"/>
            <a:ext cx="5892014" cy="2280587"/>
          </a:xfrm>
        </p:spPr>
        <p:txBody>
          <a:bodyPr>
            <a:normAutofit fontScale="47500" lnSpcReduction="20000"/>
          </a:bodyPr>
          <a:lstStyle/>
          <a:p>
            <a:pPr algn="just">
              <a:lnSpc>
                <a:spcPct val="150000"/>
              </a:lnSpc>
              <a:buClr>
                <a:schemeClr val="accent2"/>
              </a:buClr>
            </a:pPr>
            <a:r>
              <a:rPr lang="fr-FR" b="1" dirty="0"/>
              <a:t>Études de ventes croisées (cross-selling) : </a:t>
            </a:r>
            <a:r>
              <a:rPr lang="fr-FR" dirty="0"/>
              <a:t>technique de vente croisée ou additionnelle qui consiste à proposer un service/produit complémentaire lors de l’achat pour augmenter le panier moyen du client.</a:t>
            </a:r>
          </a:p>
          <a:p>
            <a:pPr algn="just">
              <a:lnSpc>
                <a:spcPct val="150000"/>
              </a:lnSpc>
              <a:buClr>
                <a:schemeClr val="accent2"/>
              </a:buClr>
            </a:pPr>
            <a:r>
              <a:rPr lang="fr-FR" b="1" dirty="0"/>
              <a:t>Études de montée en gamme (up-selling) :</a:t>
            </a:r>
            <a:r>
              <a:rPr lang="fr-FR" dirty="0"/>
              <a:t> proposer un produit/service plus cher que le produit initial pour monter en gamme et faire plus de marge.</a:t>
            </a:r>
          </a:p>
          <a:p>
            <a:pPr algn="just">
              <a:lnSpc>
                <a:spcPct val="150000"/>
              </a:lnSpc>
              <a:buClr>
                <a:schemeClr val="accent2"/>
              </a:buClr>
            </a:pPr>
            <a:r>
              <a:rPr lang="fr-FR" dirty="0"/>
              <a:t>Tarification en fonction du risque encourus.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550743" cy="413741"/>
          </a:xfrm>
        </p:spPr>
        <p:txBody>
          <a:bodyPr>
            <a:noAutofit/>
          </a:bodyPr>
          <a:lstStyle/>
          <a:p>
            <a:r>
              <a:rPr lang="fr-FR" sz="2100" dirty="0"/>
              <a:t>Introduction : </a:t>
            </a:r>
            <a:r>
              <a:rPr lang="fr-FR" sz="2100" b="0" dirty="0"/>
              <a:t>Machine Learning par secteur d’activité</a:t>
            </a:r>
          </a:p>
        </p:txBody>
      </p:sp>
      <p:sp>
        <p:nvSpPr>
          <p:cNvPr id="6" name="Title 13">
            <a:extLst>
              <a:ext uri="{FF2B5EF4-FFF2-40B4-BE49-F238E27FC236}">
                <a16:creationId xmlns:a16="http://schemas.microsoft.com/office/drawing/2014/main" id="{088B8309-1159-4AC5-BB1C-FF1EC4F6E417}"/>
              </a:ext>
            </a:extLst>
          </p:cNvPr>
          <p:cNvSpPr txBox="1">
            <a:spLocks/>
          </p:cNvSpPr>
          <p:nvPr/>
        </p:nvSpPr>
        <p:spPr>
          <a:xfrm>
            <a:off x="389008" y="1110692"/>
            <a:ext cx="6249917" cy="28127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Assurances</a:t>
            </a:r>
          </a:p>
        </p:txBody>
      </p:sp>
    </p:spTree>
    <p:extLst>
      <p:ext uri="{BB962C8B-B14F-4D97-AF65-F5344CB8AC3E}">
        <p14:creationId xmlns:p14="http://schemas.microsoft.com/office/powerpoint/2010/main" val="26885594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752221"/>
            <a:ext cx="5892014" cy="2280587"/>
          </a:xfrm>
        </p:spPr>
        <p:txBody>
          <a:bodyPr>
            <a:normAutofit/>
          </a:bodyPr>
          <a:lstStyle/>
          <a:p>
            <a:pPr algn="just">
              <a:lnSpc>
                <a:spcPct val="150000"/>
              </a:lnSpc>
              <a:buClr>
                <a:schemeClr val="accent2"/>
              </a:buClr>
            </a:pPr>
            <a:r>
              <a:rPr lang="fr-FR" sz="1500" b="1" dirty="0"/>
              <a:t>Yield Management :</a:t>
            </a:r>
            <a:r>
              <a:rPr lang="fr-FR" sz="1500" dirty="0"/>
              <a:t> fixation dynamique des prix en fonction des critères de concurrence, taux de remplissage, événements locaux ou mondiaux, préférences touristiques…).</a:t>
            </a:r>
          </a:p>
          <a:p>
            <a:pPr algn="just">
              <a:lnSpc>
                <a:spcPct val="150000"/>
              </a:lnSpc>
              <a:buClr>
                <a:schemeClr val="accent2"/>
              </a:buClr>
            </a:pPr>
            <a:r>
              <a:rPr lang="fr-FR" sz="1500" b="1" dirty="0"/>
              <a:t>Géolocalisation :</a:t>
            </a:r>
            <a:r>
              <a:rPr lang="fr-FR" sz="1500" dirty="0"/>
              <a:t> amélioration du trafic routier (accidents, bouchons, places libres de stationnement…)</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696078" cy="413741"/>
          </a:xfrm>
        </p:spPr>
        <p:txBody>
          <a:bodyPr>
            <a:noAutofit/>
          </a:bodyPr>
          <a:lstStyle/>
          <a:p>
            <a:r>
              <a:rPr lang="fr-FR" sz="2100" dirty="0"/>
              <a:t>Introduction : </a:t>
            </a:r>
            <a:r>
              <a:rPr lang="fr-FR" sz="2100" b="0" dirty="0"/>
              <a:t>Machine Learning par secteur d’activité</a:t>
            </a:r>
          </a:p>
        </p:txBody>
      </p:sp>
      <p:sp>
        <p:nvSpPr>
          <p:cNvPr id="6" name="Title 13">
            <a:extLst>
              <a:ext uri="{FF2B5EF4-FFF2-40B4-BE49-F238E27FC236}">
                <a16:creationId xmlns:a16="http://schemas.microsoft.com/office/drawing/2014/main" id="{088B8309-1159-4AC5-BB1C-FF1EC4F6E417}"/>
              </a:ext>
            </a:extLst>
          </p:cNvPr>
          <p:cNvSpPr txBox="1">
            <a:spLocks/>
          </p:cNvSpPr>
          <p:nvPr/>
        </p:nvSpPr>
        <p:spPr>
          <a:xfrm>
            <a:off x="389008" y="1110692"/>
            <a:ext cx="6249917" cy="28127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Transports</a:t>
            </a:r>
          </a:p>
        </p:txBody>
      </p:sp>
    </p:spTree>
    <p:extLst>
      <p:ext uri="{BB962C8B-B14F-4D97-AF65-F5344CB8AC3E}">
        <p14:creationId xmlns:p14="http://schemas.microsoft.com/office/powerpoint/2010/main" val="702213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768746" cy="413741"/>
          </a:xfrm>
        </p:spPr>
        <p:txBody>
          <a:bodyPr>
            <a:noAutofit/>
          </a:bodyPr>
          <a:lstStyle/>
          <a:p>
            <a:r>
              <a:rPr lang="fr-FR" sz="2100" dirty="0"/>
              <a:t>Introduction : </a:t>
            </a:r>
            <a:r>
              <a:rPr lang="fr-FR" sz="2100" b="0" dirty="0"/>
              <a:t>Machine Learning par secteur d’activité</a:t>
            </a:r>
          </a:p>
        </p:txBody>
      </p:sp>
      <p:sp>
        <p:nvSpPr>
          <p:cNvPr id="6" name="Title 13">
            <a:extLst>
              <a:ext uri="{FF2B5EF4-FFF2-40B4-BE49-F238E27FC236}">
                <a16:creationId xmlns:a16="http://schemas.microsoft.com/office/drawing/2014/main" id="{088B8309-1159-4AC5-BB1C-FF1EC4F6E417}"/>
              </a:ext>
            </a:extLst>
          </p:cNvPr>
          <p:cNvSpPr txBox="1">
            <a:spLocks/>
          </p:cNvSpPr>
          <p:nvPr/>
        </p:nvSpPr>
        <p:spPr>
          <a:xfrm>
            <a:off x="389008" y="1110692"/>
            <a:ext cx="6249917" cy="28127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Automobile</a:t>
            </a:r>
          </a:p>
        </p:txBody>
      </p:sp>
      <p:sp>
        <p:nvSpPr>
          <p:cNvPr id="8" name="Content Placeholder 15">
            <a:extLst>
              <a:ext uri="{FF2B5EF4-FFF2-40B4-BE49-F238E27FC236}">
                <a16:creationId xmlns:a16="http://schemas.microsoft.com/office/drawing/2014/main" id="{4D5F305C-ABEF-4E1D-9C89-DCB451470596}"/>
              </a:ext>
            </a:extLst>
          </p:cNvPr>
          <p:cNvSpPr>
            <a:spLocks noGrp="1"/>
          </p:cNvSpPr>
          <p:nvPr>
            <p:ph sz="half" idx="13"/>
          </p:nvPr>
        </p:nvSpPr>
        <p:spPr>
          <a:xfrm>
            <a:off x="746523" y="1752601"/>
            <a:ext cx="5892403" cy="2280047"/>
          </a:xfrm>
        </p:spPr>
        <p:txBody>
          <a:bodyPr>
            <a:normAutofit/>
          </a:bodyPr>
          <a:lstStyle/>
          <a:p>
            <a:pPr algn="just">
              <a:lnSpc>
                <a:spcPct val="150000"/>
              </a:lnSpc>
              <a:buClr>
                <a:schemeClr val="accent2"/>
              </a:buClr>
            </a:pPr>
            <a:r>
              <a:rPr lang="fr-FR" sz="1500" dirty="0"/>
              <a:t>Score de ré-achat</a:t>
            </a:r>
          </a:p>
          <a:p>
            <a:pPr algn="just">
              <a:lnSpc>
                <a:spcPct val="150000"/>
              </a:lnSpc>
              <a:buClr>
                <a:schemeClr val="accent2"/>
              </a:buClr>
            </a:pPr>
            <a:r>
              <a:rPr lang="fr-FR" sz="1500" dirty="0"/>
              <a:t>Origine des défauts de construction (minimisation)</a:t>
            </a:r>
          </a:p>
          <a:p>
            <a:pPr algn="just">
              <a:lnSpc>
                <a:spcPct val="150000"/>
              </a:lnSpc>
              <a:buClr>
                <a:schemeClr val="accent2"/>
              </a:buClr>
            </a:pPr>
            <a:r>
              <a:rPr lang="fr-FR" sz="1500" dirty="0"/>
              <a:t>Études de satisfaction pour améliorer la conception des véhicules (qualité, confort...)</a:t>
            </a:r>
          </a:p>
        </p:txBody>
      </p:sp>
    </p:spTree>
    <p:extLst>
      <p:ext uri="{BB962C8B-B14F-4D97-AF65-F5344CB8AC3E}">
        <p14:creationId xmlns:p14="http://schemas.microsoft.com/office/powerpoint/2010/main" val="5226663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738467" cy="413741"/>
          </a:xfrm>
        </p:spPr>
        <p:txBody>
          <a:bodyPr>
            <a:noAutofit/>
          </a:bodyPr>
          <a:lstStyle/>
          <a:p>
            <a:r>
              <a:rPr lang="fr-FR" sz="2100" dirty="0"/>
              <a:t>Introduction : </a:t>
            </a:r>
            <a:r>
              <a:rPr lang="fr-FR" sz="2100" b="0" dirty="0"/>
              <a:t>Machine Learning par secteur d’activité</a:t>
            </a:r>
          </a:p>
        </p:txBody>
      </p:sp>
      <p:sp>
        <p:nvSpPr>
          <p:cNvPr id="6" name="Title 13">
            <a:extLst>
              <a:ext uri="{FF2B5EF4-FFF2-40B4-BE49-F238E27FC236}">
                <a16:creationId xmlns:a16="http://schemas.microsoft.com/office/drawing/2014/main" id="{088B8309-1159-4AC5-BB1C-FF1EC4F6E417}"/>
              </a:ext>
            </a:extLst>
          </p:cNvPr>
          <p:cNvSpPr txBox="1">
            <a:spLocks/>
          </p:cNvSpPr>
          <p:nvPr/>
        </p:nvSpPr>
        <p:spPr>
          <a:xfrm>
            <a:off x="389008" y="1110692"/>
            <a:ext cx="6249917" cy="28127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Vente par correspondance</a:t>
            </a:r>
          </a:p>
        </p:txBody>
      </p:sp>
      <p:sp>
        <p:nvSpPr>
          <p:cNvPr id="8" name="Content Placeholder 15">
            <a:extLst>
              <a:ext uri="{FF2B5EF4-FFF2-40B4-BE49-F238E27FC236}">
                <a16:creationId xmlns:a16="http://schemas.microsoft.com/office/drawing/2014/main" id="{4D5F305C-ABEF-4E1D-9C89-DCB451470596}"/>
              </a:ext>
            </a:extLst>
          </p:cNvPr>
          <p:cNvSpPr>
            <a:spLocks noGrp="1"/>
          </p:cNvSpPr>
          <p:nvPr>
            <p:ph sz="half" idx="13"/>
          </p:nvPr>
        </p:nvSpPr>
        <p:spPr>
          <a:xfrm>
            <a:off x="746523" y="1752601"/>
            <a:ext cx="6586844" cy="2280047"/>
          </a:xfrm>
        </p:spPr>
        <p:txBody>
          <a:bodyPr>
            <a:normAutofit/>
          </a:bodyPr>
          <a:lstStyle/>
          <a:p>
            <a:pPr algn="just">
              <a:lnSpc>
                <a:spcPct val="110000"/>
              </a:lnSpc>
              <a:buClr>
                <a:schemeClr val="accent2"/>
              </a:buClr>
            </a:pPr>
            <a:r>
              <a:rPr lang="fr-FR" sz="1500" dirty="0"/>
              <a:t>Réduction des coûts (catalogues de produits adressés à des millions de clients)</a:t>
            </a:r>
          </a:p>
          <a:p>
            <a:pPr algn="just">
              <a:lnSpc>
                <a:spcPct val="110000"/>
              </a:lnSpc>
              <a:buClr>
                <a:schemeClr val="accent2"/>
              </a:buClr>
            </a:pPr>
            <a:r>
              <a:rPr lang="fr-FR" sz="1500" dirty="0"/>
              <a:t>Segmentation RFM</a:t>
            </a:r>
          </a:p>
          <a:p>
            <a:pPr algn="just">
              <a:lnSpc>
                <a:spcPct val="110000"/>
              </a:lnSpc>
              <a:buClr>
                <a:schemeClr val="accent2"/>
              </a:buClr>
            </a:pPr>
            <a:r>
              <a:rPr lang="fr-FR" sz="1500" dirty="0"/>
              <a:t>Actions marketing (prospection commerciale)</a:t>
            </a:r>
          </a:p>
          <a:p>
            <a:pPr algn="just">
              <a:lnSpc>
                <a:spcPct val="110000"/>
              </a:lnSpc>
              <a:buClr>
                <a:schemeClr val="accent2"/>
              </a:buClr>
            </a:pPr>
            <a:r>
              <a:rPr lang="fr-FR" sz="1500" dirty="0"/>
              <a:t>Si la banque est pionnière en matière de score de risque, la vente par correspondance l’est pour le score d’appétence.</a:t>
            </a:r>
          </a:p>
        </p:txBody>
      </p:sp>
    </p:spTree>
    <p:extLst>
      <p:ext uri="{BB962C8B-B14F-4D97-AF65-F5344CB8AC3E}">
        <p14:creationId xmlns:p14="http://schemas.microsoft.com/office/powerpoint/2010/main" val="14000744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683967" cy="413741"/>
          </a:xfrm>
        </p:spPr>
        <p:txBody>
          <a:bodyPr>
            <a:noAutofit/>
          </a:bodyPr>
          <a:lstStyle/>
          <a:p>
            <a:r>
              <a:rPr lang="fr-FR" sz="2100" dirty="0"/>
              <a:t>Introduction : </a:t>
            </a:r>
            <a:r>
              <a:rPr lang="fr-FR" sz="2100" b="0" dirty="0"/>
              <a:t>Machine Learning par secteur d’activité</a:t>
            </a:r>
          </a:p>
        </p:txBody>
      </p:sp>
      <p:sp>
        <p:nvSpPr>
          <p:cNvPr id="6" name="Title 13">
            <a:extLst>
              <a:ext uri="{FF2B5EF4-FFF2-40B4-BE49-F238E27FC236}">
                <a16:creationId xmlns:a16="http://schemas.microsoft.com/office/drawing/2014/main" id="{088B8309-1159-4AC5-BB1C-FF1EC4F6E417}"/>
              </a:ext>
            </a:extLst>
          </p:cNvPr>
          <p:cNvSpPr txBox="1">
            <a:spLocks/>
          </p:cNvSpPr>
          <p:nvPr/>
        </p:nvSpPr>
        <p:spPr>
          <a:xfrm>
            <a:off x="389008" y="1110692"/>
            <a:ext cx="6249917" cy="28127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Médecine</a:t>
            </a:r>
          </a:p>
        </p:txBody>
      </p:sp>
      <p:sp>
        <p:nvSpPr>
          <p:cNvPr id="8" name="Content Placeholder 15">
            <a:extLst>
              <a:ext uri="{FF2B5EF4-FFF2-40B4-BE49-F238E27FC236}">
                <a16:creationId xmlns:a16="http://schemas.microsoft.com/office/drawing/2014/main" id="{4D5F305C-ABEF-4E1D-9C89-DCB451470596}"/>
              </a:ext>
            </a:extLst>
          </p:cNvPr>
          <p:cNvSpPr>
            <a:spLocks noGrp="1"/>
          </p:cNvSpPr>
          <p:nvPr>
            <p:ph sz="half" idx="13"/>
          </p:nvPr>
        </p:nvSpPr>
        <p:spPr>
          <a:xfrm>
            <a:off x="746523" y="1752601"/>
            <a:ext cx="5892403" cy="2280047"/>
          </a:xfrm>
        </p:spPr>
        <p:txBody>
          <a:bodyPr>
            <a:normAutofit/>
          </a:bodyPr>
          <a:lstStyle/>
          <a:p>
            <a:pPr algn="just">
              <a:lnSpc>
                <a:spcPct val="110000"/>
              </a:lnSpc>
              <a:buClr>
                <a:schemeClr val="accent2"/>
              </a:buClr>
            </a:pPr>
            <a:r>
              <a:rPr lang="fr-FR" sz="1500" dirty="0"/>
              <a:t>Études d’association de médicaments (contre indication)</a:t>
            </a:r>
          </a:p>
          <a:p>
            <a:pPr algn="just">
              <a:lnSpc>
                <a:spcPct val="110000"/>
              </a:lnSpc>
              <a:buClr>
                <a:schemeClr val="accent2"/>
              </a:buClr>
            </a:pPr>
            <a:r>
              <a:rPr lang="fr-FR" sz="1500" dirty="0"/>
              <a:t>Études sur les facteurs de décès ou de survie face à une pathologie (Covid, cancers, infarctus…)</a:t>
            </a:r>
          </a:p>
          <a:p>
            <a:pPr algn="just">
              <a:lnSpc>
                <a:spcPct val="110000"/>
              </a:lnSpc>
              <a:buClr>
                <a:schemeClr val="accent2"/>
              </a:buClr>
            </a:pPr>
            <a:r>
              <a:rPr lang="fr-FR" sz="1500" dirty="0"/>
              <a:t>Décryptage du génome humain : trouver les gènes responsables de la survenue d’une maladie héréditaire</a:t>
            </a:r>
          </a:p>
          <a:p>
            <a:pPr algn="just">
              <a:lnSpc>
                <a:spcPct val="110000"/>
              </a:lnSpc>
              <a:buClr>
                <a:schemeClr val="accent2"/>
              </a:buClr>
            </a:pPr>
            <a:r>
              <a:rPr lang="fr-FR" sz="1500" dirty="0"/>
              <a:t>Reconnaissance d’image en imagerie médicale : cancer du sein</a:t>
            </a:r>
          </a:p>
        </p:txBody>
      </p:sp>
    </p:spTree>
    <p:extLst>
      <p:ext uri="{BB962C8B-B14F-4D97-AF65-F5344CB8AC3E}">
        <p14:creationId xmlns:p14="http://schemas.microsoft.com/office/powerpoint/2010/main" val="1746364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671856" cy="413741"/>
          </a:xfrm>
        </p:spPr>
        <p:txBody>
          <a:bodyPr>
            <a:noAutofit/>
          </a:bodyPr>
          <a:lstStyle/>
          <a:p>
            <a:r>
              <a:rPr lang="fr-FR" sz="2100" dirty="0"/>
              <a:t>Introduction : </a:t>
            </a:r>
            <a:r>
              <a:rPr lang="fr-FR" sz="2100" b="0" dirty="0"/>
              <a:t>Machine Learning par secteur d’activité</a:t>
            </a:r>
          </a:p>
        </p:txBody>
      </p:sp>
      <p:sp>
        <p:nvSpPr>
          <p:cNvPr id="6" name="Title 13">
            <a:extLst>
              <a:ext uri="{FF2B5EF4-FFF2-40B4-BE49-F238E27FC236}">
                <a16:creationId xmlns:a16="http://schemas.microsoft.com/office/drawing/2014/main" id="{088B8309-1159-4AC5-BB1C-FF1EC4F6E417}"/>
              </a:ext>
            </a:extLst>
          </p:cNvPr>
          <p:cNvSpPr txBox="1">
            <a:spLocks/>
          </p:cNvSpPr>
          <p:nvPr/>
        </p:nvSpPr>
        <p:spPr>
          <a:xfrm>
            <a:off x="389008" y="1110692"/>
            <a:ext cx="6249917" cy="28127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Agroalimentaire</a:t>
            </a:r>
          </a:p>
        </p:txBody>
      </p:sp>
      <p:sp>
        <p:nvSpPr>
          <p:cNvPr id="8" name="Content Placeholder 15">
            <a:extLst>
              <a:ext uri="{FF2B5EF4-FFF2-40B4-BE49-F238E27FC236}">
                <a16:creationId xmlns:a16="http://schemas.microsoft.com/office/drawing/2014/main" id="{4D5F305C-ABEF-4E1D-9C89-DCB451470596}"/>
              </a:ext>
            </a:extLst>
          </p:cNvPr>
          <p:cNvSpPr>
            <a:spLocks noGrp="1"/>
          </p:cNvSpPr>
          <p:nvPr>
            <p:ph sz="half" idx="13"/>
          </p:nvPr>
        </p:nvSpPr>
        <p:spPr>
          <a:xfrm>
            <a:off x="746523" y="1752601"/>
            <a:ext cx="5892403" cy="2280047"/>
          </a:xfrm>
        </p:spPr>
        <p:txBody>
          <a:bodyPr>
            <a:normAutofit/>
          </a:bodyPr>
          <a:lstStyle/>
          <a:p>
            <a:pPr algn="just">
              <a:lnSpc>
                <a:spcPct val="100000"/>
              </a:lnSpc>
              <a:buClr>
                <a:schemeClr val="accent2"/>
              </a:buClr>
            </a:pPr>
            <a:r>
              <a:rPr lang="fr-FR" sz="1500" dirty="0"/>
              <a:t>Analyses sensorielles (goût, saveur, texture…)</a:t>
            </a:r>
          </a:p>
          <a:p>
            <a:pPr algn="just">
              <a:lnSpc>
                <a:spcPct val="100000"/>
              </a:lnSpc>
              <a:buClr>
                <a:schemeClr val="accent2"/>
              </a:buClr>
            </a:pPr>
            <a:r>
              <a:rPr lang="fr-FR" sz="1500" dirty="0"/>
              <a:t>Analyse des risques sanitaires : évolution des micro-organismes afin de prévenir des risques liés à la santé (date limite de consommation)</a:t>
            </a:r>
          </a:p>
          <a:p>
            <a:pPr algn="just">
              <a:lnSpc>
                <a:spcPct val="100000"/>
              </a:lnSpc>
              <a:buClr>
                <a:schemeClr val="accent2"/>
              </a:buClr>
            </a:pPr>
            <a:r>
              <a:rPr lang="fr-FR" sz="1500" dirty="0"/>
              <a:t>Classification des espèces vivantes : plantes, animaux</a:t>
            </a:r>
          </a:p>
        </p:txBody>
      </p:sp>
    </p:spTree>
    <p:extLst>
      <p:ext uri="{BB962C8B-B14F-4D97-AF65-F5344CB8AC3E}">
        <p14:creationId xmlns:p14="http://schemas.microsoft.com/office/powerpoint/2010/main" val="1347928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528956"/>
            <a:ext cx="5892014" cy="2275570"/>
          </a:xfrm>
        </p:spPr>
        <p:txBody>
          <a:bodyPr>
            <a:noAutofit/>
          </a:bodyPr>
          <a:lstStyle/>
          <a:p>
            <a:pPr algn="just">
              <a:lnSpc>
                <a:spcPct val="100000"/>
              </a:lnSpc>
              <a:buClr>
                <a:schemeClr val="accent2"/>
              </a:buClr>
            </a:pPr>
            <a:r>
              <a:rPr lang="fr-FR" sz="1425" dirty="0"/>
              <a:t>Conversion de prospects en clients</a:t>
            </a:r>
          </a:p>
          <a:p>
            <a:pPr algn="just">
              <a:lnSpc>
                <a:spcPct val="100000"/>
              </a:lnSpc>
              <a:buClr>
                <a:schemeClr val="accent2"/>
              </a:buClr>
            </a:pPr>
            <a:r>
              <a:rPr lang="fr-FR" sz="1425" dirty="0"/>
              <a:t>Reconversion d’anciens clients en clients</a:t>
            </a:r>
          </a:p>
          <a:p>
            <a:pPr algn="just">
              <a:lnSpc>
                <a:spcPct val="100000"/>
              </a:lnSpc>
              <a:buClr>
                <a:schemeClr val="accent2"/>
              </a:buClr>
            </a:pPr>
            <a:r>
              <a:rPr lang="fr-FR" sz="1425" dirty="0"/>
              <a:t>Détection des clients susceptibles de partir pour la concurrence</a:t>
            </a:r>
          </a:p>
          <a:p>
            <a:pPr algn="just">
              <a:lnSpc>
                <a:spcPct val="100000"/>
              </a:lnSpc>
              <a:buClr>
                <a:schemeClr val="accent2"/>
              </a:buClr>
            </a:pPr>
            <a:r>
              <a:rPr lang="fr-FR" sz="1425" dirty="0"/>
              <a:t>Personnalisation dynamique des pages d’un site web en fonction du profil du visiteur</a:t>
            </a:r>
          </a:p>
          <a:p>
            <a:pPr algn="just">
              <a:lnSpc>
                <a:spcPct val="100000"/>
              </a:lnSpc>
              <a:buClr>
                <a:schemeClr val="accent2"/>
              </a:buClr>
            </a:pPr>
            <a:r>
              <a:rPr lang="fr-FR" sz="1425" dirty="0"/>
              <a:t>Gestion des appels entrants dans une plateforme téléphonique</a:t>
            </a:r>
          </a:p>
          <a:p>
            <a:pPr algn="just">
              <a:lnSpc>
                <a:spcPct val="100000"/>
              </a:lnSpc>
              <a:buClr>
                <a:schemeClr val="accent2"/>
              </a:buClr>
            </a:pPr>
            <a:r>
              <a:rPr lang="fr-FR" sz="1425" dirty="0"/>
              <a:t>Analyse des lettres de réclamation de la clientèle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847469" cy="413741"/>
          </a:xfrm>
        </p:spPr>
        <p:txBody>
          <a:bodyPr>
            <a:noAutofit/>
          </a:bodyPr>
          <a:lstStyle/>
          <a:p>
            <a:r>
              <a:rPr lang="fr-FR" sz="2100" dirty="0"/>
              <a:t>Introduction : </a:t>
            </a:r>
            <a:r>
              <a:rPr lang="fr-FR" sz="2100" b="0" dirty="0"/>
              <a:t>Machine Learning par type d’application</a:t>
            </a:r>
          </a:p>
        </p:txBody>
      </p:sp>
      <p:sp>
        <p:nvSpPr>
          <p:cNvPr id="5" name="Title 13">
            <a:extLst>
              <a:ext uri="{FF2B5EF4-FFF2-40B4-BE49-F238E27FC236}">
                <a16:creationId xmlns:a16="http://schemas.microsoft.com/office/drawing/2014/main" id="{11897C25-2F88-456B-B3C3-25EDD923F73C}"/>
              </a:ext>
            </a:extLst>
          </p:cNvPr>
          <p:cNvSpPr txBox="1">
            <a:spLocks/>
          </p:cNvSpPr>
          <p:nvPr/>
        </p:nvSpPr>
        <p:spPr>
          <a:xfrm>
            <a:off x="389008" y="1110692"/>
            <a:ext cx="6249917" cy="28127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Gestion de la relation client</a:t>
            </a:r>
          </a:p>
        </p:txBody>
      </p:sp>
    </p:spTree>
    <p:extLst>
      <p:ext uri="{BB962C8B-B14F-4D97-AF65-F5344CB8AC3E}">
        <p14:creationId xmlns:p14="http://schemas.microsoft.com/office/powerpoint/2010/main" val="27008574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528956"/>
            <a:ext cx="5892014" cy="2275570"/>
          </a:xfrm>
        </p:spPr>
        <p:txBody>
          <a:bodyPr>
            <a:noAutofit/>
          </a:bodyPr>
          <a:lstStyle/>
          <a:p>
            <a:pPr algn="just">
              <a:lnSpc>
                <a:spcPct val="100000"/>
              </a:lnSpc>
              <a:buClr>
                <a:schemeClr val="accent2"/>
              </a:buClr>
            </a:pPr>
            <a:r>
              <a:rPr lang="fr-FR" sz="1500" dirty="0"/>
              <a:t>Aide à la création des packages et des promotions</a:t>
            </a:r>
          </a:p>
          <a:p>
            <a:pPr algn="just">
              <a:lnSpc>
                <a:spcPct val="100000"/>
              </a:lnSpc>
              <a:buClr>
                <a:schemeClr val="accent2"/>
              </a:buClr>
            </a:pPr>
            <a:r>
              <a:rPr lang="fr-FR" sz="1500" dirty="0"/>
              <a:t>Aide à la conception des nouveaux produits</a:t>
            </a:r>
          </a:p>
          <a:p>
            <a:pPr algn="just">
              <a:lnSpc>
                <a:spcPct val="100000"/>
              </a:lnSpc>
              <a:buClr>
                <a:schemeClr val="accent2"/>
              </a:buClr>
            </a:pPr>
            <a:r>
              <a:rPr lang="fr-FR" sz="1500" dirty="0"/>
              <a:t>Politique de fidélisation de la clientèle</a:t>
            </a:r>
          </a:p>
          <a:p>
            <a:pPr algn="just">
              <a:lnSpc>
                <a:spcPct val="100000"/>
              </a:lnSpc>
              <a:buClr>
                <a:schemeClr val="accent2"/>
              </a:buClr>
            </a:pPr>
            <a:r>
              <a:rPr lang="fr-FR" sz="1500" dirty="0"/>
              <a:t>Adaptation de la communication à chaque segment de clientèle</a:t>
            </a:r>
          </a:p>
          <a:p>
            <a:pPr algn="just">
              <a:lnSpc>
                <a:spcPct val="100000"/>
              </a:lnSpc>
              <a:buClr>
                <a:schemeClr val="accent2"/>
              </a:buClr>
            </a:pPr>
            <a:r>
              <a:rPr lang="fr-FR" sz="1500" dirty="0"/>
              <a:t>Associations de produits</a:t>
            </a:r>
          </a:p>
          <a:p>
            <a:pPr algn="just">
              <a:lnSpc>
                <a:spcPct val="100000"/>
              </a:lnSpc>
              <a:buClr>
                <a:schemeClr val="accent2"/>
              </a:buClr>
            </a:pPr>
            <a:r>
              <a:rPr lang="fr-FR" sz="1500" dirty="0"/>
              <a:t>Surveillance de la e-réputation de l’entreprise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726356" cy="413741"/>
          </a:xfrm>
        </p:spPr>
        <p:txBody>
          <a:bodyPr>
            <a:noAutofit/>
          </a:bodyPr>
          <a:lstStyle/>
          <a:p>
            <a:r>
              <a:rPr lang="fr-FR" sz="2100" dirty="0"/>
              <a:t>Introduction : </a:t>
            </a:r>
            <a:r>
              <a:rPr lang="fr-FR" sz="2100" b="0" dirty="0"/>
              <a:t>Machine Learning par type d’application</a:t>
            </a:r>
          </a:p>
        </p:txBody>
      </p:sp>
      <p:sp>
        <p:nvSpPr>
          <p:cNvPr id="5" name="Title 13">
            <a:extLst>
              <a:ext uri="{FF2B5EF4-FFF2-40B4-BE49-F238E27FC236}">
                <a16:creationId xmlns:a16="http://schemas.microsoft.com/office/drawing/2014/main" id="{11897C25-2F88-456B-B3C3-25EDD923F73C}"/>
              </a:ext>
            </a:extLst>
          </p:cNvPr>
          <p:cNvSpPr txBox="1">
            <a:spLocks/>
          </p:cNvSpPr>
          <p:nvPr/>
        </p:nvSpPr>
        <p:spPr>
          <a:xfrm>
            <a:off x="389008" y="1110692"/>
            <a:ext cx="6249917" cy="28127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Marketing stratégique</a:t>
            </a:r>
          </a:p>
        </p:txBody>
      </p:sp>
    </p:spTree>
    <p:extLst>
      <p:ext uri="{BB962C8B-B14F-4D97-AF65-F5344CB8AC3E}">
        <p14:creationId xmlns:p14="http://schemas.microsoft.com/office/powerpoint/2010/main" val="4004480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528956"/>
            <a:ext cx="5892014" cy="2275570"/>
          </a:xfrm>
        </p:spPr>
        <p:txBody>
          <a:bodyPr>
            <a:noAutofit/>
          </a:bodyPr>
          <a:lstStyle/>
          <a:p>
            <a:pPr algn="just">
              <a:lnSpc>
                <a:spcPct val="100000"/>
              </a:lnSpc>
              <a:buClr>
                <a:schemeClr val="accent2"/>
              </a:buClr>
            </a:pPr>
            <a:r>
              <a:rPr lang="fr-FR" sz="1425" dirty="0"/>
              <a:t>Recherche des facteurs de risques de sinistre (assurance habitation / automobile)</a:t>
            </a:r>
          </a:p>
          <a:p>
            <a:pPr algn="just">
              <a:lnSpc>
                <a:spcPct val="100000"/>
              </a:lnSpc>
              <a:buClr>
                <a:schemeClr val="accent2"/>
              </a:buClr>
            </a:pPr>
            <a:r>
              <a:rPr lang="fr-FR" sz="1425" dirty="0"/>
              <a:t>Prévention des impayées (téléphonie, factures d’énergie…)</a:t>
            </a:r>
          </a:p>
          <a:p>
            <a:pPr algn="just">
              <a:lnSpc>
                <a:spcPct val="100000"/>
              </a:lnSpc>
              <a:buClr>
                <a:schemeClr val="accent2"/>
              </a:buClr>
            </a:pPr>
            <a:r>
              <a:rPr lang="fr-FR" sz="1425" dirty="0"/>
              <a:t>Autorisation des transactions bancaires (cas de fraudes ou de compte débiteur)</a:t>
            </a:r>
          </a:p>
          <a:p>
            <a:pPr algn="just">
              <a:lnSpc>
                <a:spcPct val="100000"/>
              </a:lnSpc>
              <a:buClr>
                <a:schemeClr val="accent2"/>
              </a:buClr>
            </a:pPr>
            <a:r>
              <a:rPr lang="fr-FR" sz="1425" dirty="0"/>
              <a:t>Optimisation des procédures de recouvrement et de contentieux</a:t>
            </a:r>
          </a:p>
          <a:p>
            <a:pPr algn="just">
              <a:lnSpc>
                <a:spcPct val="100000"/>
              </a:lnSpc>
              <a:buClr>
                <a:schemeClr val="accent2"/>
              </a:buClr>
            </a:pPr>
            <a:r>
              <a:rPr lang="fr-FR" sz="1425" dirty="0"/>
              <a:t>Détection de fraude automatisée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30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756634" cy="413741"/>
          </a:xfrm>
        </p:spPr>
        <p:txBody>
          <a:bodyPr>
            <a:noAutofit/>
          </a:bodyPr>
          <a:lstStyle/>
          <a:p>
            <a:r>
              <a:rPr lang="fr-FR" sz="2100" dirty="0"/>
              <a:t>Introduction : </a:t>
            </a:r>
            <a:r>
              <a:rPr lang="fr-FR" sz="2100" b="0" dirty="0"/>
              <a:t>Machine Learning par type d’application</a:t>
            </a:r>
          </a:p>
        </p:txBody>
      </p:sp>
      <p:sp>
        <p:nvSpPr>
          <p:cNvPr id="5" name="Title 13">
            <a:extLst>
              <a:ext uri="{FF2B5EF4-FFF2-40B4-BE49-F238E27FC236}">
                <a16:creationId xmlns:a16="http://schemas.microsoft.com/office/drawing/2014/main" id="{11897C25-2F88-456B-B3C3-25EDD923F73C}"/>
              </a:ext>
            </a:extLst>
          </p:cNvPr>
          <p:cNvSpPr txBox="1">
            <a:spLocks/>
          </p:cNvSpPr>
          <p:nvPr/>
        </p:nvSpPr>
        <p:spPr>
          <a:xfrm>
            <a:off x="389008" y="1110692"/>
            <a:ext cx="6249917" cy="28127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Gestion du risque</a:t>
            </a:r>
          </a:p>
        </p:txBody>
      </p:sp>
    </p:spTree>
    <p:extLst>
      <p:ext uri="{BB962C8B-B14F-4D97-AF65-F5344CB8AC3E}">
        <p14:creationId xmlns:p14="http://schemas.microsoft.com/office/powerpoint/2010/main" val="14344410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2740721"/>
          </a:xfrm>
        </p:spPr>
        <p:txBody>
          <a:bodyPr>
            <a:normAutofit fontScale="92500" lnSpcReduction="20000"/>
          </a:bodyPr>
          <a:lstStyle/>
          <a:p>
            <a:pPr marL="942975" lvl="2" indent="-257175" algn="just">
              <a:lnSpc>
                <a:spcPct val="120000"/>
              </a:lnSpc>
              <a:buClr>
                <a:schemeClr val="accent2"/>
              </a:buClr>
              <a:buFont typeface="+mj-lt"/>
              <a:buAutoNum type="arabicPeriod"/>
            </a:pPr>
            <a:r>
              <a:rPr lang="fr-FR" sz="1575" dirty="0"/>
              <a:t>Définition des objectifs</a:t>
            </a:r>
          </a:p>
          <a:p>
            <a:pPr marL="942975" lvl="2" indent="-257175" algn="just">
              <a:lnSpc>
                <a:spcPct val="120000"/>
              </a:lnSpc>
              <a:buClr>
                <a:schemeClr val="accent2"/>
              </a:buClr>
              <a:buFont typeface="+mj-lt"/>
              <a:buAutoNum type="arabicPeriod"/>
            </a:pPr>
            <a:r>
              <a:rPr lang="fr-FR" sz="1575" dirty="0"/>
              <a:t>Inventaire des données existantes</a:t>
            </a:r>
          </a:p>
          <a:p>
            <a:pPr marL="942975" lvl="2" indent="-257175" algn="just">
              <a:lnSpc>
                <a:spcPct val="120000"/>
              </a:lnSpc>
              <a:buClr>
                <a:schemeClr val="accent2"/>
              </a:buClr>
              <a:buFont typeface="+mj-lt"/>
              <a:buAutoNum type="arabicPeriod"/>
            </a:pPr>
            <a:r>
              <a:rPr lang="fr-FR" sz="1575" dirty="0"/>
              <a:t>Collecte des données</a:t>
            </a:r>
          </a:p>
          <a:p>
            <a:pPr marL="942975" lvl="2" indent="-257175" algn="just">
              <a:lnSpc>
                <a:spcPct val="120000"/>
              </a:lnSpc>
              <a:buClr>
                <a:schemeClr val="accent2"/>
              </a:buClr>
              <a:buFont typeface="+mj-lt"/>
              <a:buAutoNum type="arabicPeriod"/>
            </a:pPr>
            <a:r>
              <a:rPr lang="fr-FR" sz="1575" dirty="0"/>
              <a:t>Exploration et préparation des données</a:t>
            </a:r>
          </a:p>
          <a:p>
            <a:pPr marL="942975" lvl="2" indent="-257175" algn="just">
              <a:lnSpc>
                <a:spcPct val="120000"/>
              </a:lnSpc>
              <a:buClr>
                <a:schemeClr val="accent2"/>
              </a:buClr>
              <a:buFont typeface="+mj-lt"/>
              <a:buAutoNum type="arabicPeriod"/>
            </a:pPr>
            <a:r>
              <a:rPr lang="fr-FR" sz="1575" dirty="0"/>
              <a:t>Segmentation de la population</a:t>
            </a:r>
          </a:p>
          <a:p>
            <a:pPr marL="942975" lvl="2" indent="-257175" algn="just">
              <a:lnSpc>
                <a:spcPct val="120000"/>
              </a:lnSpc>
              <a:buClr>
                <a:schemeClr val="accent2"/>
              </a:buClr>
              <a:buFont typeface="+mj-lt"/>
              <a:buAutoNum type="arabicPeriod"/>
            </a:pPr>
            <a:r>
              <a:rPr lang="fr-FR" sz="1575" dirty="0"/>
              <a:t>Élaboration et validation des modèles prédictifs</a:t>
            </a:r>
          </a:p>
          <a:p>
            <a:pPr marL="942975" lvl="2" indent="-257175" algn="just">
              <a:lnSpc>
                <a:spcPct val="120000"/>
              </a:lnSpc>
              <a:buClr>
                <a:schemeClr val="accent2"/>
              </a:buClr>
              <a:buFont typeface="+mj-lt"/>
              <a:buAutoNum type="arabicPeriod"/>
            </a:pPr>
            <a:r>
              <a:rPr lang="fr-FR" sz="1575" dirty="0"/>
              <a:t>Déploiement des modèles</a:t>
            </a:r>
          </a:p>
          <a:p>
            <a:pPr marL="942975" lvl="2" indent="-257175" algn="just">
              <a:lnSpc>
                <a:spcPct val="120000"/>
              </a:lnSpc>
              <a:buClr>
                <a:schemeClr val="accent2"/>
              </a:buClr>
              <a:buFont typeface="+mj-lt"/>
              <a:buAutoNum type="arabicPeriod"/>
            </a:pPr>
            <a:r>
              <a:rPr lang="fr-FR" sz="1575" dirty="0"/>
              <a:t>Suivi des modèles</a:t>
            </a:r>
          </a:p>
          <a:p>
            <a:pPr marL="942975" lvl="2" indent="-257175" algn="just">
              <a:lnSpc>
                <a:spcPct val="120000"/>
              </a:lnSpc>
              <a:buClr>
                <a:schemeClr val="accent2"/>
              </a:buClr>
              <a:buFont typeface="+mj-lt"/>
              <a:buAutoNum type="arabicPeriod"/>
            </a:pPr>
            <a:r>
              <a:rPr lang="fr-FR" sz="1575" dirty="0"/>
              <a:t>Enrichissement des modèles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31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Introduction : </a:t>
            </a:r>
            <a:r>
              <a:rPr lang="fr-FR" sz="2100" b="0" dirty="0"/>
              <a:t>déroulement d’une étude</a:t>
            </a:r>
          </a:p>
        </p:txBody>
      </p:sp>
    </p:spTree>
    <p:extLst>
      <p:ext uri="{BB962C8B-B14F-4D97-AF65-F5344CB8AC3E}">
        <p14:creationId xmlns:p14="http://schemas.microsoft.com/office/powerpoint/2010/main" val="10202709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69"/>
            <a:ext cx="5892014" cy="3074676"/>
          </a:xfrm>
        </p:spPr>
        <p:txBody>
          <a:bodyPr>
            <a:normAutofit/>
          </a:bodyPr>
          <a:lstStyle/>
          <a:p>
            <a:pPr lvl="1" algn="just">
              <a:lnSpc>
                <a:spcPct val="150000"/>
              </a:lnSpc>
              <a:buClr>
                <a:schemeClr val="accent2"/>
              </a:buClr>
            </a:pPr>
            <a:r>
              <a:rPr lang="fr-FR" sz="1200" b="1" dirty="0"/>
              <a:t>Description : </a:t>
            </a:r>
            <a:r>
              <a:rPr lang="fr-FR" sz="1200" dirty="0"/>
              <a:t>l’objectif est de décrire les tendances et modèles cachés au sein des données. Cela sert à expliquer ou vérifier une hypothèse.</a:t>
            </a:r>
          </a:p>
          <a:p>
            <a:pPr lvl="1" algn="just">
              <a:lnSpc>
                <a:spcPct val="150000"/>
              </a:lnSpc>
              <a:buClr>
                <a:schemeClr val="accent2"/>
              </a:buClr>
            </a:pPr>
            <a:r>
              <a:rPr lang="fr-FR" sz="1200" b="1" dirty="0"/>
              <a:t>Classification : </a:t>
            </a:r>
            <a:r>
              <a:rPr lang="fr-FR" sz="1200" dirty="0"/>
              <a:t>consiste à créer des sous-ensembles de données similaires, afin d’obtenir une vision générale de l’ensemble à l’aide de l’exploration des données. Les informations sont classifiées selon des critères bien précis, en fonction d’une problématique définie.</a:t>
            </a:r>
          </a:p>
          <a:p>
            <a:pPr lvl="1" algn="just">
              <a:lnSpc>
                <a:spcPct val="150000"/>
              </a:lnSpc>
              <a:buClr>
                <a:schemeClr val="accent2"/>
              </a:buClr>
            </a:pPr>
            <a:r>
              <a:rPr lang="fr-FR" sz="1200" b="1" dirty="0"/>
              <a:t>Association : </a:t>
            </a:r>
            <a:r>
              <a:rPr lang="fr-FR" sz="1200" dirty="0"/>
              <a:t>cette méthode se concentre sur la possible corrélation entre deux événements. Elle s’efforce d’expliquer de quelle façon un fait est lié à un autre, afin de mieux comprendre des comportements ou des tendances. </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32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Introduction : </a:t>
            </a:r>
            <a:r>
              <a:rPr lang="fr-FR" sz="2100" b="0" dirty="0"/>
              <a:t>méthodes descriptives et prédictives</a:t>
            </a:r>
          </a:p>
        </p:txBody>
      </p:sp>
    </p:spTree>
    <p:extLst>
      <p:ext uri="{BB962C8B-B14F-4D97-AF65-F5344CB8AC3E}">
        <p14:creationId xmlns:p14="http://schemas.microsoft.com/office/powerpoint/2010/main" val="23811969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69"/>
            <a:ext cx="5892014" cy="3074676"/>
          </a:xfrm>
        </p:spPr>
        <p:txBody>
          <a:bodyPr>
            <a:normAutofit/>
          </a:bodyPr>
          <a:lstStyle/>
          <a:p>
            <a:pPr lvl="1" algn="just">
              <a:lnSpc>
                <a:spcPct val="150000"/>
              </a:lnSpc>
              <a:buClr>
                <a:schemeClr val="accent2"/>
              </a:buClr>
            </a:pPr>
            <a:r>
              <a:rPr lang="fr-FR" sz="1200" dirty="0"/>
              <a:t>Les méthodes prédictives visent à expliquer des phénomènes observés ou non dans l’analyse descriptive.</a:t>
            </a:r>
          </a:p>
          <a:p>
            <a:pPr lvl="1" algn="just">
              <a:lnSpc>
                <a:spcPct val="150000"/>
              </a:lnSpc>
              <a:buClr>
                <a:schemeClr val="accent2"/>
              </a:buClr>
            </a:pPr>
            <a:r>
              <a:rPr lang="fr-FR" sz="1200" dirty="0"/>
              <a:t>Si les informations extrapolées sont </a:t>
            </a:r>
            <a:r>
              <a:rPr lang="fr-FR" sz="1200" b="1" dirty="0"/>
              <a:t>qualitatives</a:t>
            </a:r>
            <a:r>
              <a:rPr lang="fr-FR" sz="1200" dirty="0"/>
              <a:t>, on parle alors de </a:t>
            </a:r>
            <a:r>
              <a:rPr lang="fr-FR" sz="1200" b="1" dirty="0"/>
              <a:t>discrimination</a:t>
            </a:r>
            <a:r>
              <a:rPr lang="fr-FR" sz="1200" dirty="0"/>
              <a:t> ou classement.</a:t>
            </a:r>
          </a:p>
          <a:p>
            <a:pPr lvl="1" algn="just">
              <a:lnSpc>
                <a:spcPct val="150000"/>
              </a:lnSpc>
              <a:buClr>
                <a:schemeClr val="accent2"/>
              </a:buClr>
            </a:pPr>
            <a:r>
              <a:rPr lang="fr-FR" sz="1200" dirty="0"/>
              <a:t>Si les informations extrapolées sont </a:t>
            </a:r>
            <a:r>
              <a:rPr lang="fr-FR" sz="1200" b="1" dirty="0"/>
              <a:t>quantitatives</a:t>
            </a:r>
            <a:r>
              <a:rPr lang="fr-FR" sz="1200" dirty="0"/>
              <a:t>, on parle alors de </a:t>
            </a:r>
            <a:r>
              <a:rPr lang="fr-FR" sz="1200" b="1" dirty="0"/>
              <a:t>prédictions</a:t>
            </a:r>
            <a:r>
              <a:rPr lang="fr-FR" sz="1200" dirty="0"/>
              <a:t>.</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33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Introduction : </a:t>
            </a:r>
            <a:r>
              <a:rPr lang="fr-FR" sz="2100" b="0" dirty="0"/>
              <a:t>méthodes descriptives et prédictives</a:t>
            </a:r>
          </a:p>
        </p:txBody>
      </p:sp>
    </p:spTree>
    <p:extLst>
      <p:ext uri="{BB962C8B-B14F-4D97-AF65-F5344CB8AC3E}">
        <p14:creationId xmlns:p14="http://schemas.microsoft.com/office/powerpoint/2010/main" val="22459676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69"/>
            <a:ext cx="5892014" cy="3074676"/>
          </a:xfrm>
        </p:spPr>
        <p:txBody>
          <a:bodyPr>
            <a:normAutofit fontScale="85000" lnSpcReduction="20000"/>
          </a:bodyPr>
          <a:lstStyle/>
          <a:p>
            <a:pPr lvl="1" algn="just">
              <a:lnSpc>
                <a:spcPct val="150000"/>
              </a:lnSpc>
              <a:buClr>
                <a:schemeClr val="accent2"/>
              </a:buClr>
            </a:pPr>
            <a:r>
              <a:rPr lang="fr-FR" sz="1275" dirty="0"/>
              <a:t>On recherche une variable « cible », c’est-à-dire une donnée dont on souhaite connaître la valeur.</a:t>
            </a:r>
          </a:p>
          <a:p>
            <a:pPr lvl="2" algn="just">
              <a:lnSpc>
                <a:spcPct val="150000"/>
              </a:lnSpc>
              <a:buClr>
                <a:schemeClr val="accent2"/>
              </a:buClr>
            </a:pPr>
            <a:r>
              <a:rPr lang="fr-FR" sz="1275" b="1" dirty="0"/>
              <a:t>Estimation :</a:t>
            </a:r>
            <a:r>
              <a:rPr lang="fr-FR" sz="1275" dirty="0"/>
              <a:t> l’estimation établit le lien entre une combinaison de critères et une valeur cible unique.</a:t>
            </a:r>
          </a:p>
          <a:p>
            <a:pPr lvl="2" algn="just">
              <a:lnSpc>
                <a:spcPct val="150000"/>
              </a:lnSpc>
              <a:buClr>
                <a:schemeClr val="accent2"/>
              </a:buClr>
            </a:pPr>
            <a:r>
              <a:rPr lang="fr-FR" sz="1275" b="1" dirty="0"/>
              <a:t>Segmentation :</a:t>
            </a:r>
            <a:r>
              <a:rPr lang="fr-FR" sz="1275" dirty="0"/>
              <a:t> il s’agit de classer des données en fonction de critères qui déterminent leurs valeurs. Les sociétés peuvent ainsi segmenter les consommateurs ou prospects selon leurs caractéristiques comme leur âge, sexe ou lieu d’habitation.</a:t>
            </a:r>
          </a:p>
          <a:p>
            <a:pPr lvl="2" algn="just">
              <a:lnSpc>
                <a:spcPct val="150000"/>
              </a:lnSpc>
              <a:buClr>
                <a:schemeClr val="accent2"/>
              </a:buClr>
            </a:pPr>
            <a:r>
              <a:rPr lang="fr-FR" sz="1275" b="1" dirty="0"/>
              <a:t>Prévision et prédiction :</a:t>
            </a:r>
            <a:r>
              <a:rPr lang="fr-FR" sz="1275" dirty="0"/>
              <a:t> cette technique d’analyse vise à estimer et prédire des valeurs et tendances futures. Sa finalité : découvrir des structures qui peuvent mener à des prédictions et modèles vraisemblables. Par exemple pour un site e-commerce : il est intéressant de prédire quel type de produit un client sera amené à choisir en fonction de ses achats précédents.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34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Introduction : </a:t>
            </a:r>
            <a:r>
              <a:rPr lang="fr-FR" sz="2100" b="0" dirty="0"/>
              <a:t>méthodes descriptives et prédictives</a:t>
            </a:r>
          </a:p>
        </p:txBody>
      </p:sp>
    </p:spTree>
    <p:extLst>
      <p:ext uri="{BB962C8B-B14F-4D97-AF65-F5344CB8AC3E}">
        <p14:creationId xmlns:p14="http://schemas.microsoft.com/office/powerpoint/2010/main" val="828708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Vocabulaire</a:t>
            </a:r>
          </a:p>
        </p:txBody>
      </p:sp>
    </p:spTree>
    <p:extLst>
      <p:ext uri="{BB962C8B-B14F-4D97-AF65-F5344CB8AC3E}">
        <p14:creationId xmlns:p14="http://schemas.microsoft.com/office/powerpoint/2010/main" val="9067229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fontScale="62500" lnSpcReduction="20000"/>
          </a:bodyPr>
          <a:lstStyle/>
          <a:p>
            <a:pPr lvl="1" algn="just">
              <a:lnSpc>
                <a:spcPct val="150000"/>
              </a:lnSpc>
              <a:buClr>
                <a:schemeClr val="accent2"/>
              </a:buClr>
            </a:pPr>
            <a:r>
              <a:rPr lang="fr-FR" sz="1800" b="1" dirty="0"/>
              <a:t>Données : </a:t>
            </a:r>
            <a:r>
              <a:rPr lang="fr-FR" sz="1800" dirty="0"/>
              <a:t>les données sont à la base de l'apprentissage automatique. C'est la matière première qu'un algorithme d'apprentissage automatique utilise pour apprendre des modèles ou des relations. Les données peuvent être sous forme de texte, d'images, de nombres ou de tout autre format.</a:t>
            </a:r>
          </a:p>
          <a:p>
            <a:pPr lvl="1" algn="just">
              <a:lnSpc>
                <a:spcPct val="150000"/>
              </a:lnSpc>
              <a:buClr>
                <a:schemeClr val="accent2"/>
              </a:buClr>
            </a:pPr>
            <a:endParaRPr lang="fr-FR" sz="1800" dirty="0"/>
          </a:p>
          <a:p>
            <a:pPr lvl="1" algn="just">
              <a:lnSpc>
                <a:spcPct val="150000"/>
              </a:lnSpc>
              <a:buClr>
                <a:schemeClr val="accent2"/>
              </a:buClr>
            </a:pPr>
            <a:r>
              <a:rPr lang="fr-FR" sz="1800" b="1" dirty="0"/>
              <a:t>Features : </a:t>
            </a:r>
            <a:r>
              <a:rPr lang="fr-FR" sz="1800" dirty="0"/>
              <a:t>les features sont les caractéristiques ou propriétés mesurables des données. Par exemple, dans un ensemble de données sur les prix des maisons, les caractéristiques peuvent inclure la taille, l'emplacement et l'âge des maisons.</a:t>
            </a:r>
          </a:p>
          <a:p>
            <a:pPr lvl="1" algn="just">
              <a:lnSpc>
                <a:spcPct val="150000"/>
              </a:lnSpc>
              <a:buClr>
                <a:schemeClr val="accent2"/>
              </a:buClr>
            </a:pPr>
            <a:endParaRPr lang="fr-FR" sz="1800" dirty="0"/>
          </a:p>
          <a:p>
            <a:pPr lvl="1" algn="just">
              <a:lnSpc>
                <a:spcPct val="150000"/>
              </a:lnSpc>
              <a:buClr>
                <a:schemeClr val="accent2"/>
              </a:buClr>
            </a:pPr>
            <a:r>
              <a:rPr lang="fr-FR" sz="1800" b="1" dirty="0"/>
              <a:t>Labels : </a:t>
            </a:r>
            <a:r>
              <a:rPr lang="fr-FR" sz="1800" dirty="0"/>
              <a:t>les labels sont les résultats que nous voulons que l'algorithme prédise. Dans l'exemple du prix de la maison, l'étiquette serait le prix réel de la maison.</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36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Vocabulaire</a:t>
            </a:r>
            <a:endParaRPr lang="fr-FR" sz="2100" b="0" dirty="0"/>
          </a:p>
        </p:txBody>
      </p:sp>
    </p:spTree>
    <p:extLst>
      <p:ext uri="{BB962C8B-B14F-4D97-AF65-F5344CB8AC3E}">
        <p14:creationId xmlns:p14="http://schemas.microsoft.com/office/powerpoint/2010/main" val="30744999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fontScale="92500"/>
          </a:bodyPr>
          <a:lstStyle/>
          <a:p>
            <a:pPr lvl="1" algn="just">
              <a:lnSpc>
                <a:spcPct val="150000"/>
              </a:lnSpc>
              <a:buClr>
                <a:schemeClr val="accent2"/>
              </a:buClr>
            </a:pPr>
            <a:r>
              <a:rPr lang="fr-FR" sz="1200" b="1" dirty="0"/>
              <a:t>Modèle :</a:t>
            </a:r>
            <a:r>
              <a:rPr lang="fr-FR" sz="1200" dirty="0"/>
              <a:t> un modèle est la représentation mathématique d'une relation entre des entités et des étiquettes. C'est le "cerveau" qui apprend à partir des données.</a:t>
            </a:r>
          </a:p>
          <a:p>
            <a:pPr lvl="1" algn="just">
              <a:lnSpc>
                <a:spcPct val="150000"/>
              </a:lnSpc>
              <a:buClr>
                <a:schemeClr val="accent2"/>
              </a:buClr>
            </a:pPr>
            <a:r>
              <a:rPr lang="fr-FR" sz="1200" b="1" dirty="0"/>
              <a:t>Entrainement : </a:t>
            </a:r>
            <a:r>
              <a:rPr lang="fr-FR" sz="1200" dirty="0"/>
              <a:t>l’entrainement est le processus d'introduction de données (caractéristiques et étiquettes) dans un algorithme d'apprentissage automatique pour créer un modèle. L'algorithme analyse les données et essaie de découvrir des modèles ou des relations entre les caractéristiques et les étiquettes.</a:t>
            </a:r>
          </a:p>
          <a:p>
            <a:pPr lvl="1" algn="just">
              <a:lnSpc>
                <a:spcPct val="150000"/>
              </a:lnSpc>
              <a:buClr>
                <a:schemeClr val="accent2"/>
              </a:buClr>
            </a:pPr>
            <a:r>
              <a:rPr lang="fr-FR" sz="1200" b="1" dirty="0"/>
              <a:t>Test : </a:t>
            </a:r>
            <a:r>
              <a:rPr lang="fr-FR" sz="1200" dirty="0"/>
              <a:t>le test est le processus d'évaluation des performances du modèle formé sur de nouvelles données inédites. Cela nous aide à déterminer dans quelle mesure le modèle se généralise à de nouvelles situations.</a:t>
            </a:r>
          </a:p>
          <a:p>
            <a:pPr lvl="1" algn="just">
              <a:lnSpc>
                <a:spcPct val="150000"/>
              </a:lnSpc>
              <a:buClr>
                <a:schemeClr val="accent2"/>
              </a:buClr>
            </a:pPr>
            <a:r>
              <a:rPr lang="fr-FR" sz="1200" b="1" dirty="0"/>
              <a:t>Évaluation : </a:t>
            </a:r>
            <a:r>
              <a:rPr lang="fr-FR" sz="1200" dirty="0"/>
              <a:t>L'évaluation est le processus de mesure de la performance d'un modèle. Nous utilisons généralement des mesures telles que l’accuracy, la précision, le rappel et le score F1 pour évaluer les performances du modèle.</a:t>
            </a:r>
            <a:endParaRPr lang="fr-FR" sz="1200" dirty="0">
              <a:solidFill>
                <a:srgbClr val="00194C"/>
              </a:solidFill>
            </a:endParaRP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37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Vocabulaire</a:t>
            </a:r>
            <a:endParaRPr lang="fr-FR" sz="2100" b="0" dirty="0"/>
          </a:p>
        </p:txBody>
      </p:sp>
    </p:spTree>
    <p:extLst>
      <p:ext uri="{BB962C8B-B14F-4D97-AF65-F5344CB8AC3E}">
        <p14:creationId xmlns:p14="http://schemas.microsoft.com/office/powerpoint/2010/main" val="30350846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a:bodyPr>
          <a:lstStyle/>
          <a:p>
            <a:pPr lvl="1" algn="just">
              <a:lnSpc>
                <a:spcPct val="150000"/>
              </a:lnSpc>
              <a:buClr>
                <a:schemeClr val="accent2"/>
              </a:buClr>
            </a:pPr>
            <a:r>
              <a:rPr lang="fr-FR" sz="1200" b="1" dirty="0"/>
              <a:t>Apprentissage supervisé :</a:t>
            </a:r>
            <a:r>
              <a:rPr lang="fr-FR" sz="1200" dirty="0"/>
              <a:t> le modèle s’entraine à partir d’un exemple de données labélisées. Il apprend à identifier certaines tendances, relations, redondances (patterns) dans les données.</a:t>
            </a:r>
          </a:p>
          <a:p>
            <a:pPr lvl="1" algn="just">
              <a:lnSpc>
                <a:spcPct val="150000"/>
              </a:lnSpc>
              <a:buClr>
                <a:schemeClr val="accent2"/>
              </a:buClr>
            </a:pPr>
            <a:endParaRPr lang="fr-FR" sz="1200" dirty="0"/>
          </a:p>
          <a:p>
            <a:pPr lvl="1" algn="just">
              <a:lnSpc>
                <a:spcPct val="150000"/>
              </a:lnSpc>
              <a:buClr>
                <a:schemeClr val="accent2"/>
              </a:buClr>
            </a:pPr>
            <a:r>
              <a:rPr lang="fr-FR" sz="1200" b="1" dirty="0"/>
              <a:t>Apprentissage non supervisé  : </a:t>
            </a:r>
            <a:r>
              <a:rPr lang="fr-FR" sz="1200" dirty="0"/>
              <a:t>le modèle ne dispose pas d’exemples en entrée et les données ne sont pas labélisées. Il cherche tout seul des patterns. Il analyse tout seul les données et essaie de détecter des classements, des densités dans les données.</a:t>
            </a:r>
            <a:endParaRPr lang="fr-FR" sz="1200" dirty="0">
              <a:solidFill>
                <a:srgbClr val="00194C"/>
              </a:solidFill>
            </a:endParaRP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38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Vocabulaire</a:t>
            </a:r>
            <a:endParaRPr lang="fr-FR" sz="2100" b="0" dirty="0"/>
          </a:p>
        </p:txBody>
      </p:sp>
    </p:spTree>
    <p:extLst>
      <p:ext uri="{BB962C8B-B14F-4D97-AF65-F5344CB8AC3E}">
        <p14:creationId xmlns:p14="http://schemas.microsoft.com/office/powerpoint/2010/main" val="18727952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Environnement de développement</a:t>
            </a:r>
          </a:p>
        </p:txBody>
      </p:sp>
    </p:spTree>
    <p:extLst>
      <p:ext uri="{BB962C8B-B14F-4D97-AF65-F5344CB8AC3E}">
        <p14:creationId xmlns:p14="http://schemas.microsoft.com/office/powerpoint/2010/main" val="19024774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40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Environnement de développement</a:t>
            </a:r>
            <a:endParaRPr lang="fr-FR" sz="2100" b="0" dirty="0"/>
          </a:p>
        </p:txBody>
      </p:sp>
      <p:pic>
        <p:nvPicPr>
          <p:cNvPr id="5" name="Espace réservé du contenu 4">
            <a:extLst>
              <a:ext uri="{FF2B5EF4-FFF2-40B4-BE49-F238E27FC236}">
                <a16:creationId xmlns:a16="http://schemas.microsoft.com/office/drawing/2014/main" id="{866A9D70-DF1C-4583-9B59-A8A9FD7074AA}"/>
              </a:ext>
            </a:extLst>
          </p:cNvPr>
          <p:cNvPicPr>
            <a:picLocks noGrp="1" noChangeAspect="1"/>
          </p:cNvPicPr>
          <p:nvPr>
            <p:ph sz="half" idx="13"/>
          </p:nvPr>
        </p:nvPicPr>
        <p:blipFill>
          <a:blip r:embed="rId2">
            <a:extLst>
              <a:ext uri="{837473B0-CC2E-450A-ABE3-18F120FF3D39}">
                <a1611:picAttrSrcUrl xmlns:a1611="http://schemas.microsoft.com/office/drawing/2016/11/main" r:id="rId3"/>
              </a:ext>
            </a:extLst>
          </a:blip>
          <a:stretch>
            <a:fillRect/>
          </a:stretch>
        </p:blipFill>
        <p:spPr>
          <a:xfrm>
            <a:off x="1619233" y="1437779"/>
            <a:ext cx="1652070" cy="1652070"/>
          </a:xfrm>
        </p:spPr>
      </p:pic>
      <p:pic>
        <p:nvPicPr>
          <p:cNvPr id="10" name="Espace réservé du contenu 4">
            <a:extLst>
              <a:ext uri="{FF2B5EF4-FFF2-40B4-BE49-F238E27FC236}">
                <a16:creationId xmlns:a16="http://schemas.microsoft.com/office/drawing/2014/main" id="{83743ED9-0F63-4E51-A574-8FEC0C02046A}"/>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4094060" y="1557859"/>
            <a:ext cx="991133" cy="991133"/>
          </a:xfrm>
          <a:prstGeom prst="rect">
            <a:avLst/>
          </a:prstGeom>
        </p:spPr>
      </p:pic>
      <p:pic>
        <p:nvPicPr>
          <p:cNvPr id="12" name="Espace réservé du contenu 4">
            <a:extLst>
              <a:ext uri="{FF2B5EF4-FFF2-40B4-BE49-F238E27FC236}">
                <a16:creationId xmlns:a16="http://schemas.microsoft.com/office/drawing/2014/main" id="{6F850513-D13E-48E3-80BE-705BEFE914AD}"/>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2576680" y="3553922"/>
            <a:ext cx="1652070" cy="826035"/>
          </a:xfrm>
          <a:prstGeom prst="rect">
            <a:avLst/>
          </a:prstGeom>
        </p:spPr>
      </p:pic>
      <p:pic>
        <p:nvPicPr>
          <p:cNvPr id="15" name="Espace réservé du contenu 4">
            <a:extLst>
              <a:ext uri="{FF2B5EF4-FFF2-40B4-BE49-F238E27FC236}">
                <a16:creationId xmlns:a16="http://schemas.microsoft.com/office/drawing/2014/main" id="{EC7A1F6E-36E2-46F9-AB34-03C4B3508230}"/>
              </a:ext>
            </a:extLst>
          </p:cNvPr>
          <p:cNvPicPr>
            <a:picLocks noChangeAspect="1"/>
          </p:cNvPicPr>
          <p:nvPr/>
        </p:nvPicPr>
        <p:blipFill>
          <a:blip r:embed="rId8"/>
          <a:stretch>
            <a:fillRect/>
          </a:stretch>
        </p:blipFill>
        <p:spPr>
          <a:xfrm>
            <a:off x="4520858" y="3090076"/>
            <a:ext cx="927695" cy="927695"/>
          </a:xfrm>
          <a:prstGeom prst="rect">
            <a:avLst/>
          </a:prstGeom>
        </p:spPr>
      </p:pic>
      <p:pic>
        <p:nvPicPr>
          <p:cNvPr id="16" name="Espace réservé du contenu 4">
            <a:extLst>
              <a:ext uri="{FF2B5EF4-FFF2-40B4-BE49-F238E27FC236}">
                <a16:creationId xmlns:a16="http://schemas.microsoft.com/office/drawing/2014/main" id="{3F74CF8A-D79C-4D1B-98DC-D21BA647E154}"/>
              </a:ext>
            </a:extLst>
          </p:cNvPr>
          <p:cNvPicPr>
            <a:picLocks noChangeAspect="1"/>
          </p:cNvPicPr>
          <p:nvPr/>
        </p:nvPicPr>
        <p:blipFill>
          <a:blip r:embed="rId9">
            <a:extLst>
              <a:ext uri="{837473B0-CC2E-450A-ABE3-18F120FF3D39}">
                <a1611:picAttrSrcUrl xmlns:a1611="http://schemas.microsoft.com/office/drawing/2016/11/main" r:id="rId10"/>
              </a:ext>
            </a:extLst>
          </a:blip>
          <a:stretch>
            <a:fillRect/>
          </a:stretch>
        </p:blipFill>
        <p:spPr>
          <a:xfrm>
            <a:off x="5663655" y="1712921"/>
            <a:ext cx="991134" cy="991134"/>
          </a:xfrm>
          <a:prstGeom prst="rect">
            <a:avLst/>
          </a:prstGeom>
        </p:spPr>
      </p:pic>
      <p:pic>
        <p:nvPicPr>
          <p:cNvPr id="19" name="Espace réservé du contenu 4">
            <a:extLst>
              <a:ext uri="{FF2B5EF4-FFF2-40B4-BE49-F238E27FC236}">
                <a16:creationId xmlns:a16="http://schemas.microsoft.com/office/drawing/2014/main" id="{2C9D9D2C-6B33-41E6-83F5-E60EAA67DDA4}"/>
              </a:ext>
            </a:extLst>
          </p:cNvPr>
          <p:cNvPicPr>
            <a:picLocks noChangeAspect="1"/>
          </p:cNvPicPr>
          <p:nvPr/>
        </p:nvPicPr>
        <p:blipFill rotWithShape="1">
          <a:blip r:embed="rId11"/>
          <a:srcRect l="51101"/>
          <a:stretch/>
        </p:blipFill>
        <p:spPr>
          <a:xfrm>
            <a:off x="6271310" y="3341612"/>
            <a:ext cx="1229360" cy="927695"/>
          </a:xfrm>
          <a:prstGeom prst="rect">
            <a:avLst/>
          </a:prstGeom>
        </p:spPr>
      </p:pic>
    </p:spTree>
    <p:extLst>
      <p:ext uri="{BB962C8B-B14F-4D97-AF65-F5344CB8AC3E}">
        <p14:creationId xmlns:p14="http://schemas.microsoft.com/office/powerpoint/2010/main" val="36274445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Avant de débuter…</a:t>
            </a:r>
          </a:p>
        </p:txBody>
      </p:sp>
    </p:spTree>
    <p:extLst>
      <p:ext uri="{BB962C8B-B14F-4D97-AF65-F5344CB8AC3E}">
        <p14:creationId xmlns:p14="http://schemas.microsoft.com/office/powerpoint/2010/main" val="12698983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fontScale="92500" lnSpcReduction="20000"/>
          </a:bodyPr>
          <a:lstStyle/>
          <a:p>
            <a:pPr lvl="1" algn="just">
              <a:lnSpc>
                <a:spcPct val="150000"/>
              </a:lnSpc>
              <a:buClr>
                <a:schemeClr val="accent2"/>
              </a:buClr>
            </a:pPr>
            <a:r>
              <a:rPr lang="fr-FR" sz="1200" dirty="0"/>
              <a:t>Dans le Machine Learning, les données sont la matière première que nous utilisons pour enseigner nos algorithmes. Considérez les données comme les ingrédients d'une recette. Plus les ingrédients sont bons, meilleur est le plat final. Les données peuvent prendre de nombreuses formes, telles que des nombres, du texte, des images ou de l'audio.</a:t>
            </a:r>
          </a:p>
          <a:p>
            <a:pPr lvl="1" algn="just">
              <a:lnSpc>
                <a:spcPct val="150000"/>
              </a:lnSpc>
              <a:buClr>
                <a:schemeClr val="accent2"/>
              </a:buClr>
            </a:pPr>
            <a:endParaRPr lang="fr-FR" sz="1200" dirty="0"/>
          </a:p>
          <a:p>
            <a:pPr lvl="1" algn="just">
              <a:lnSpc>
                <a:spcPct val="150000"/>
              </a:lnSpc>
              <a:buClr>
                <a:schemeClr val="accent2"/>
              </a:buClr>
            </a:pPr>
            <a:r>
              <a:rPr lang="fr-FR" sz="1200" dirty="0"/>
              <a:t>Imaginez que nous ayons les données suivantes sur les tailles (en pouces) et les poids (en livres) d'un groupe de personnes :</a:t>
            </a:r>
          </a:p>
          <a:p>
            <a:pPr lvl="2" algn="just">
              <a:lnSpc>
                <a:spcPct val="150000"/>
              </a:lnSpc>
              <a:buClr>
                <a:schemeClr val="accent2"/>
              </a:buClr>
            </a:pPr>
            <a:r>
              <a:rPr lang="fr-FR" sz="1200" dirty="0"/>
              <a:t>Tailles : [62, 64, 68, 70, 72, 74]</a:t>
            </a:r>
          </a:p>
          <a:p>
            <a:pPr lvl="2" algn="just">
              <a:lnSpc>
                <a:spcPct val="150000"/>
              </a:lnSpc>
              <a:buClr>
                <a:schemeClr val="accent2"/>
              </a:buClr>
            </a:pPr>
            <a:r>
              <a:rPr lang="fr-FR" sz="1200" dirty="0"/>
              <a:t>Poids : [120, 130, 145, 160, 180, 200]</a:t>
            </a:r>
          </a:p>
          <a:p>
            <a:pPr lvl="1" algn="just">
              <a:lnSpc>
                <a:spcPct val="150000"/>
              </a:lnSpc>
              <a:buClr>
                <a:schemeClr val="accent2"/>
              </a:buClr>
            </a:pPr>
            <a:endParaRPr lang="fr-FR" sz="1200" dirty="0"/>
          </a:p>
          <a:p>
            <a:pPr lvl="1" algn="just">
              <a:lnSpc>
                <a:spcPct val="150000"/>
              </a:lnSpc>
              <a:buClr>
                <a:schemeClr val="accent2"/>
              </a:buClr>
            </a:pPr>
            <a:r>
              <a:rPr lang="fr-FR" sz="1200" dirty="0"/>
              <a:t>Notre objectif est de créer un modèle d'apprentissage automatique capable de prédire le poids d'une personne en fonction de sa taille. Dans ce cas, la "hauteur" est la feature et le "poids" est la cible.</a:t>
            </a:r>
            <a:endParaRPr lang="fr-FR" sz="1200" dirty="0">
              <a:solidFill>
                <a:srgbClr val="00194C"/>
              </a:solidFill>
            </a:endParaRP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42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Avant de débuter :</a:t>
            </a:r>
            <a:r>
              <a:rPr lang="fr-FR" sz="2100" b="0" dirty="0"/>
              <a:t> comprendre les données</a:t>
            </a:r>
          </a:p>
        </p:txBody>
      </p:sp>
    </p:spTree>
    <p:extLst>
      <p:ext uri="{BB962C8B-B14F-4D97-AF65-F5344CB8AC3E}">
        <p14:creationId xmlns:p14="http://schemas.microsoft.com/office/powerpoint/2010/main" val="31715920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0" y="1391970"/>
                <a:ext cx="5986949" cy="3454790"/>
              </a:xfrm>
            </p:spPr>
            <p:txBody>
              <a:bodyPr>
                <a:normAutofit fontScale="77500" lnSpcReduction="20000"/>
              </a:bodyPr>
              <a:lstStyle/>
              <a:p>
                <a:pPr lvl="1" algn="just">
                  <a:lnSpc>
                    <a:spcPct val="150000"/>
                  </a:lnSpc>
                  <a:buClr>
                    <a:schemeClr val="accent2"/>
                  </a:buClr>
                </a:pPr>
                <a:r>
                  <a:rPr lang="fr-FR" sz="1800" dirty="0"/>
                  <a:t>Il existe un large choix d’algorithmes d'apprentissage automatique :</a:t>
                </a:r>
              </a:p>
              <a:p>
                <a:pPr lvl="2" algn="just">
                  <a:lnSpc>
                    <a:spcPct val="150000"/>
                  </a:lnSpc>
                  <a:buClr>
                    <a:schemeClr val="accent2"/>
                  </a:buClr>
                </a:pPr>
                <a:r>
                  <a:rPr lang="fr-FR" sz="1650" dirty="0"/>
                  <a:t>Si la variable </a:t>
                </a:r>
                <a14:m>
                  <m:oMath xmlns:m="http://schemas.openxmlformats.org/officeDocument/2006/math">
                    <m:r>
                      <a:rPr lang="fr-FR" sz="1650" i="1" dirty="0">
                        <a:latin typeface="Cambria Math" panose="02040503050406030204" pitchFamily="18" charset="0"/>
                      </a:rPr>
                      <m:t>𝑦</m:t>
                    </m:r>
                  </m:oMath>
                </a14:m>
                <a:r>
                  <a:rPr lang="fr-FR" sz="1650" dirty="0"/>
                  <a:t> est une variable quantitative, dans la plupart des cas, vous aurez à faire à un problème de régression.</a:t>
                </a:r>
              </a:p>
              <a:p>
                <a:pPr lvl="2" algn="just">
                  <a:lnSpc>
                    <a:spcPct val="150000"/>
                  </a:lnSpc>
                  <a:buClr>
                    <a:schemeClr val="accent2"/>
                  </a:buClr>
                </a:pPr>
                <a:r>
                  <a:rPr lang="fr-FR" sz="1650" dirty="0"/>
                  <a:t>Si la variable </a:t>
                </a:r>
                <a14:m>
                  <m:oMath xmlns:m="http://schemas.openxmlformats.org/officeDocument/2006/math">
                    <m:r>
                      <a:rPr lang="fr-FR" sz="1650" i="1" dirty="0">
                        <a:latin typeface="Cambria Math" panose="02040503050406030204" pitchFamily="18" charset="0"/>
                      </a:rPr>
                      <m:t>𝑦</m:t>
                    </m:r>
                  </m:oMath>
                </a14:m>
                <a:r>
                  <a:rPr lang="fr-FR" sz="1650" dirty="0"/>
                  <a:t> est qualitative nominale ou ordinale, dans la plupart des cas, vous aurez à faire à un problème de classification.</a:t>
                </a:r>
              </a:p>
              <a:p>
                <a:pPr lvl="1" algn="just">
                  <a:lnSpc>
                    <a:spcPct val="150000"/>
                  </a:lnSpc>
                  <a:buClr>
                    <a:schemeClr val="accent2"/>
                  </a:buClr>
                </a:pPr>
                <a:endParaRPr lang="fr-FR" sz="1800" dirty="0"/>
              </a:p>
              <a:p>
                <a:pPr lvl="1" algn="just">
                  <a:lnSpc>
                    <a:spcPct val="150000"/>
                  </a:lnSpc>
                  <a:buClr>
                    <a:schemeClr val="accent2"/>
                  </a:buClr>
                </a:pPr>
                <a:r>
                  <a:rPr lang="fr-FR" sz="1800" dirty="0"/>
                  <a:t>Dans notre cas, nous avons une variable indépendante (taille) et une variable dépendante (poids), il s’agit d’un modèle de régression dont la régression linéaire est le choix le plus approprié.</a:t>
                </a:r>
                <a:endParaRPr lang="fr-FR" sz="1800" dirty="0">
                  <a:solidFill>
                    <a:srgbClr val="00194C"/>
                  </a:solidFill>
                </a:endParaRP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0" y="1391970"/>
                <a:ext cx="5986949" cy="3454790"/>
              </a:xfrm>
              <a:blipFill>
                <a:blip r:embed="rId2"/>
                <a:stretch>
                  <a:fillRect t="-529" r="-183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43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Avant de débuter :</a:t>
            </a:r>
            <a:r>
              <a:rPr lang="fr-FR" sz="2100" b="0" dirty="0"/>
              <a:t> choix de l’algorithme</a:t>
            </a:r>
          </a:p>
        </p:txBody>
      </p:sp>
    </p:spTree>
    <p:extLst>
      <p:ext uri="{BB962C8B-B14F-4D97-AF65-F5344CB8AC3E}">
        <p14:creationId xmlns:p14="http://schemas.microsoft.com/office/powerpoint/2010/main" val="12723814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fontScale="62500" lnSpcReduction="20000"/>
          </a:bodyPr>
          <a:lstStyle/>
          <a:p>
            <a:pPr lvl="1" algn="just">
              <a:lnSpc>
                <a:spcPct val="150000"/>
              </a:lnSpc>
              <a:buClr>
                <a:schemeClr val="accent2"/>
              </a:buClr>
            </a:pPr>
            <a:r>
              <a:rPr lang="fr-FR" sz="1800" dirty="0"/>
              <a:t>Avant d'introduire les données dans l'algorithme, nous devons les diviser en deux parties : un ensemble d'apprentissage (80%) et un ensemble de test (20%). L'ensemble d'apprentissage est utilisé pour « enseigner » l'algorithme et l'ensemble de test est utilisé pour évaluer ses performances.</a:t>
            </a:r>
          </a:p>
          <a:p>
            <a:pPr lvl="1" algn="just">
              <a:lnSpc>
                <a:spcPct val="150000"/>
              </a:lnSpc>
              <a:buClr>
                <a:schemeClr val="accent2"/>
              </a:buClr>
            </a:pPr>
            <a:endParaRPr lang="fr-FR" sz="1800" dirty="0"/>
          </a:p>
          <a:p>
            <a:pPr lvl="1" algn="just">
              <a:lnSpc>
                <a:spcPct val="150000"/>
              </a:lnSpc>
              <a:buClr>
                <a:schemeClr val="accent2"/>
              </a:buClr>
            </a:pPr>
            <a:r>
              <a:rPr lang="fr-FR" sz="1800" dirty="0"/>
              <a:t>Utilisons les 4 premiers points de données pour la formation et les 2 derniers pour les tests :</a:t>
            </a:r>
          </a:p>
          <a:p>
            <a:pPr lvl="2" algn="just">
              <a:lnSpc>
                <a:spcPct val="150000"/>
              </a:lnSpc>
              <a:buClr>
                <a:schemeClr val="accent2"/>
              </a:buClr>
            </a:pPr>
            <a:r>
              <a:rPr lang="fr-FR" sz="1650" b="1" dirty="0"/>
              <a:t>Ensemble d'entraînement :</a:t>
            </a:r>
          </a:p>
          <a:p>
            <a:pPr lvl="3" algn="just">
              <a:lnSpc>
                <a:spcPct val="150000"/>
              </a:lnSpc>
              <a:buClr>
                <a:schemeClr val="accent2"/>
              </a:buClr>
            </a:pPr>
            <a:r>
              <a:rPr lang="fr-FR" sz="1500" dirty="0"/>
              <a:t>Tailles : [62, 64, 68, 70]</a:t>
            </a:r>
          </a:p>
          <a:p>
            <a:pPr lvl="3" algn="just">
              <a:lnSpc>
                <a:spcPct val="150000"/>
              </a:lnSpc>
              <a:buClr>
                <a:schemeClr val="accent2"/>
              </a:buClr>
            </a:pPr>
            <a:r>
              <a:rPr lang="fr-FR" sz="1500" dirty="0"/>
              <a:t>Poids : [120, 130, 145, 160]</a:t>
            </a:r>
          </a:p>
          <a:p>
            <a:pPr lvl="2" algn="just">
              <a:lnSpc>
                <a:spcPct val="150000"/>
              </a:lnSpc>
              <a:buClr>
                <a:schemeClr val="accent2"/>
              </a:buClr>
            </a:pPr>
            <a:r>
              <a:rPr lang="fr-FR" sz="1650" b="1" dirty="0"/>
              <a:t>Ensemble de test :</a:t>
            </a:r>
          </a:p>
          <a:p>
            <a:pPr lvl="3" algn="just">
              <a:lnSpc>
                <a:spcPct val="150000"/>
              </a:lnSpc>
              <a:buClr>
                <a:schemeClr val="accent2"/>
              </a:buClr>
            </a:pPr>
            <a:r>
              <a:rPr lang="fr-FR" sz="1500" dirty="0"/>
              <a:t>Hauteurs : [72, 74]</a:t>
            </a:r>
          </a:p>
          <a:p>
            <a:pPr lvl="3" algn="just">
              <a:lnSpc>
                <a:spcPct val="150000"/>
              </a:lnSpc>
              <a:buClr>
                <a:schemeClr val="accent2"/>
              </a:buClr>
            </a:pPr>
            <a:r>
              <a:rPr lang="fr-FR" sz="1500" dirty="0"/>
              <a:t>Poids : [180, 200]</a:t>
            </a:r>
            <a:endParaRPr lang="fr-FR" sz="1500" dirty="0">
              <a:solidFill>
                <a:srgbClr val="00194C"/>
              </a:solidFill>
            </a:endParaRP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44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Avant de débuter :</a:t>
            </a:r>
            <a:r>
              <a:rPr lang="fr-FR" sz="2100" b="0" dirty="0"/>
              <a:t> préparer les données</a:t>
            </a:r>
          </a:p>
        </p:txBody>
      </p:sp>
    </p:spTree>
    <p:extLst>
      <p:ext uri="{BB962C8B-B14F-4D97-AF65-F5344CB8AC3E}">
        <p14:creationId xmlns:p14="http://schemas.microsoft.com/office/powerpoint/2010/main" val="11273796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0" y="1391970"/>
            <a:ext cx="6368453" cy="3454790"/>
          </a:xfrm>
        </p:spPr>
        <p:txBody>
          <a:bodyPr>
            <a:normAutofit/>
          </a:bodyPr>
          <a:lstStyle/>
          <a:p>
            <a:pPr lvl="1" algn="just">
              <a:lnSpc>
                <a:spcPct val="120000"/>
              </a:lnSpc>
              <a:buClr>
                <a:schemeClr val="accent2"/>
              </a:buClr>
            </a:pPr>
            <a:r>
              <a:rPr lang="fr-FR" sz="1800" dirty="0"/>
              <a:t>Il s’agit d’alimenter les données d’entrainement dans l'algorithme de régression linéaire pour créer un modèle. </a:t>
            </a:r>
          </a:p>
          <a:p>
            <a:pPr lvl="1" algn="just">
              <a:lnSpc>
                <a:spcPct val="120000"/>
              </a:lnSpc>
              <a:buClr>
                <a:schemeClr val="accent2"/>
              </a:buClr>
            </a:pPr>
            <a:r>
              <a:rPr lang="fr-FR" sz="1800" dirty="0"/>
              <a:t>L'algorithme analysera les données et tentera de découvrir un modèle (pattern) ou une relation entre la taille et le poids. </a:t>
            </a:r>
          </a:p>
          <a:p>
            <a:pPr lvl="1" algn="just">
              <a:lnSpc>
                <a:spcPct val="120000"/>
              </a:lnSpc>
              <a:buClr>
                <a:schemeClr val="accent2"/>
              </a:buClr>
            </a:pPr>
            <a:r>
              <a:rPr lang="fr-FR" sz="1800" dirty="0"/>
              <a:t>Dans ce cas, l'algorithme trouvera la ligne droite la mieux ajustée qui représente cette relation.</a:t>
            </a:r>
            <a:endParaRPr lang="fr-FR" sz="1050" dirty="0">
              <a:solidFill>
                <a:srgbClr val="00194C"/>
              </a:solidFill>
            </a:endParaRP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45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Avant de débuter :</a:t>
            </a:r>
            <a:r>
              <a:rPr lang="fr-FR" sz="2100" b="0" dirty="0"/>
              <a:t> entraînement du modèle</a:t>
            </a:r>
          </a:p>
        </p:txBody>
      </p:sp>
    </p:spTree>
    <p:extLst>
      <p:ext uri="{BB962C8B-B14F-4D97-AF65-F5344CB8AC3E}">
        <p14:creationId xmlns:p14="http://schemas.microsoft.com/office/powerpoint/2010/main" val="31517172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0" y="1391970"/>
            <a:ext cx="6374509" cy="3454790"/>
          </a:xfrm>
        </p:spPr>
        <p:txBody>
          <a:bodyPr>
            <a:normAutofit/>
          </a:bodyPr>
          <a:lstStyle/>
          <a:p>
            <a:pPr lvl="1" algn="just">
              <a:lnSpc>
                <a:spcPct val="100000"/>
              </a:lnSpc>
              <a:buClr>
                <a:schemeClr val="accent2"/>
              </a:buClr>
            </a:pPr>
            <a:r>
              <a:rPr lang="fr-FR" sz="1800" dirty="0"/>
              <a:t>Une fois que nous avons un modèle entrainé, il convient d’utiliser les données de test pour évaluer ses performances. </a:t>
            </a:r>
          </a:p>
          <a:p>
            <a:pPr lvl="1" algn="just">
              <a:lnSpc>
                <a:spcPct val="100000"/>
              </a:lnSpc>
              <a:buClr>
                <a:schemeClr val="accent2"/>
              </a:buClr>
            </a:pPr>
            <a:r>
              <a:rPr lang="fr-FR" sz="1800" dirty="0"/>
              <a:t>Pour chaque « hauteur » de l'ensemble de test, le modèle prédira les poids correspondants. </a:t>
            </a:r>
          </a:p>
          <a:p>
            <a:pPr lvl="1" algn="just">
              <a:lnSpc>
                <a:spcPct val="100000"/>
              </a:lnSpc>
              <a:buClr>
                <a:schemeClr val="accent2"/>
              </a:buClr>
            </a:pPr>
            <a:r>
              <a:rPr lang="fr-FR" sz="1800" dirty="0"/>
              <a:t>Nous pouvons ensuite comparer les poids prédits aux poids réels pour voir à quel point notre modèle est précis.</a:t>
            </a:r>
            <a:endParaRPr lang="fr-FR" sz="1050" dirty="0">
              <a:solidFill>
                <a:srgbClr val="00194C"/>
              </a:solidFill>
            </a:endParaRP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46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Avant de débuter :</a:t>
            </a:r>
            <a:r>
              <a:rPr lang="fr-FR" sz="2100" b="0" dirty="0"/>
              <a:t> test du modèle</a:t>
            </a:r>
          </a:p>
        </p:txBody>
      </p:sp>
    </p:spTree>
    <p:extLst>
      <p:ext uri="{BB962C8B-B14F-4D97-AF65-F5344CB8AC3E}">
        <p14:creationId xmlns:p14="http://schemas.microsoft.com/office/powerpoint/2010/main" val="35897939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0" y="1391970"/>
            <a:ext cx="6441121" cy="3454790"/>
          </a:xfrm>
        </p:spPr>
        <p:txBody>
          <a:bodyPr>
            <a:normAutofit fontScale="62500" lnSpcReduction="20000"/>
          </a:bodyPr>
          <a:lstStyle/>
          <a:p>
            <a:pPr lvl="1" algn="just">
              <a:lnSpc>
                <a:spcPct val="150000"/>
              </a:lnSpc>
              <a:buClr>
                <a:schemeClr val="accent2"/>
              </a:buClr>
            </a:pPr>
            <a:r>
              <a:rPr lang="fr-FR" dirty="0"/>
              <a:t>Il existe plusieurs façons de mesurer les performances d'un modèle, selon qu’il soit un modèle de régression ou de classification. </a:t>
            </a:r>
          </a:p>
          <a:p>
            <a:pPr lvl="1" algn="just">
              <a:lnSpc>
                <a:spcPct val="150000"/>
              </a:lnSpc>
              <a:buClr>
                <a:schemeClr val="accent2"/>
              </a:buClr>
            </a:pPr>
            <a:r>
              <a:rPr lang="fr-FR" dirty="0"/>
              <a:t>Pour la régression linéaire, une métrique commune est appelée « erreur quadratique moyenne » (MSE), qui calcule la différence quadratique moyenne entre les valeurs prédites et réelles. Plus le MSE est bas, meilleures sont les performances du modèle. Il y a également le R², qui mesure la qualité d’ajustement du modèle.</a:t>
            </a:r>
          </a:p>
          <a:p>
            <a:pPr lvl="1" algn="just">
              <a:lnSpc>
                <a:spcPct val="150000"/>
              </a:lnSpc>
              <a:buClr>
                <a:schemeClr val="accent2"/>
              </a:buClr>
            </a:pPr>
            <a:r>
              <a:rPr lang="fr-FR" dirty="0"/>
              <a:t>À ce stade, vous avez appris les étapes de base de la création d'un modèle d'apprentissage automatique à l'aide de la régression linéaire.</a:t>
            </a:r>
            <a:endParaRPr lang="fr-FR" sz="1350" dirty="0">
              <a:solidFill>
                <a:srgbClr val="00194C"/>
              </a:solidFill>
            </a:endParaRP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47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Avant de débuter :</a:t>
            </a:r>
            <a:r>
              <a:rPr lang="fr-FR" sz="2100" b="0" dirty="0"/>
              <a:t> évaluation du modèle</a:t>
            </a:r>
          </a:p>
        </p:txBody>
      </p:sp>
    </p:spTree>
    <p:extLst>
      <p:ext uri="{BB962C8B-B14F-4D97-AF65-F5344CB8AC3E}">
        <p14:creationId xmlns:p14="http://schemas.microsoft.com/office/powerpoint/2010/main" val="27713731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Feature scaling</a:t>
            </a:r>
          </a:p>
        </p:txBody>
      </p:sp>
    </p:spTree>
    <p:extLst>
      <p:ext uri="{BB962C8B-B14F-4D97-AF65-F5344CB8AC3E}">
        <p14:creationId xmlns:p14="http://schemas.microsoft.com/office/powerpoint/2010/main" val="40003356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fontScale="47500" lnSpcReduction="20000"/>
              </a:bodyPr>
              <a:lstStyle/>
              <a:p>
                <a:pPr lvl="1" algn="just">
                  <a:lnSpc>
                    <a:spcPct val="150000"/>
                  </a:lnSpc>
                  <a:buClr>
                    <a:schemeClr val="accent2"/>
                  </a:buClr>
                </a:pPr>
                <a:r>
                  <a:rPr lang="fr-FR" dirty="0"/>
                  <a:t>La normalisation met à l'échelle les features en les transformant en une plage de [0, 1]. Cela se fait en soustrayant la valeur minimale de la caractéristique et en la divisant par la plage (valeur maximale moins valeur minimale).</a:t>
                </a:r>
              </a:p>
              <a:p>
                <a:pPr lvl="2" algn="just">
                  <a:lnSpc>
                    <a:spcPct val="150000"/>
                  </a:lnSpc>
                  <a:buClr>
                    <a:schemeClr val="accent2"/>
                  </a:buClr>
                </a:pPr>
                <a:r>
                  <a:rPr lang="fr-FR" dirty="0"/>
                  <a:t>Formule : </a:t>
                </a:r>
                <a14:m>
                  <m:oMath xmlns:m="http://schemas.openxmlformats.org/officeDocument/2006/math">
                    <m:r>
                      <a:rPr lang="fr-FR" i="1" dirty="0" smtClean="0">
                        <a:latin typeface="Cambria Math" panose="02040503050406030204" pitchFamily="18" charset="0"/>
                      </a:rPr>
                      <m:t>(</m:t>
                    </m:r>
                    <m:r>
                      <a:rPr lang="fr-FR" i="1" dirty="0" smtClean="0">
                        <a:latin typeface="Cambria Math" panose="02040503050406030204" pitchFamily="18" charset="0"/>
                      </a:rPr>
                      <m:t>𝑥</m:t>
                    </m:r>
                    <m:r>
                      <a:rPr lang="fr-FR" i="1" dirty="0" smtClean="0">
                        <a:latin typeface="Cambria Math" panose="02040503050406030204" pitchFamily="18" charset="0"/>
                      </a:rPr>
                      <m:t> — </m:t>
                    </m:r>
                    <m:r>
                      <m:rPr>
                        <m:sty m:val="p"/>
                      </m:rPr>
                      <a:rPr lang="fr-FR" i="1" dirty="0" smtClean="0">
                        <a:latin typeface="Cambria Math" panose="02040503050406030204" pitchFamily="18" charset="0"/>
                      </a:rPr>
                      <m:t>min</m:t>
                    </m:r>
                    <m:r>
                      <a:rPr lang="fr-FR" i="1" dirty="0" smtClean="0">
                        <a:latin typeface="Cambria Math" panose="02040503050406030204" pitchFamily="18" charset="0"/>
                      </a:rPr>
                      <m:t>⁡(</m:t>
                    </m:r>
                    <m:r>
                      <a:rPr lang="fr-FR" i="1" dirty="0" smtClean="0">
                        <a:latin typeface="Cambria Math" panose="02040503050406030204" pitchFamily="18" charset="0"/>
                      </a:rPr>
                      <m:t>𝑥</m:t>
                    </m:r>
                    <m:r>
                      <a:rPr lang="fr-FR" i="1" dirty="0" smtClean="0">
                        <a:latin typeface="Cambria Math" panose="02040503050406030204" pitchFamily="18" charset="0"/>
                      </a:rPr>
                      <m:t>)) / (</m:t>
                    </m:r>
                    <m:r>
                      <m:rPr>
                        <m:sty m:val="p"/>
                      </m:rPr>
                      <a:rPr lang="fr-FR" i="1" dirty="0" smtClean="0">
                        <a:latin typeface="Cambria Math" panose="02040503050406030204" pitchFamily="18" charset="0"/>
                      </a:rPr>
                      <m:t>max</m:t>
                    </m:r>
                    <m:r>
                      <a:rPr lang="fr-FR" i="1" dirty="0" smtClean="0">
                        <a:latin typeface="Cambria Math" panose="02040503050406030204" pitchFamily="18" charset="0"/>
                      </a:rPr>
                      <m:t>⁡(</m:t>
                    </m:r>
                    <m:r>
                      <a:rPr lang="fr-FR" i="1" dirty="0" smtClean="0">
                        <a:latin typeface="Cambria Math" panose="02040503050406030204" pitchFamily="18" charset="0"/>
                      </a:rPr>
                      <m:t>𝑥</m:t>
                    </m:r>
                    <m:r>
                      <a:rPr lang="fr-FR" i="1" dirty="0" smtClean="0">
                        <a:latin typeface="Cambria Math" panose="02040503050406030204" pitchFamily="18" charset="0"/>
                      </a:rPr>
                      <m:t>) — </m:t>
                    </m:r>
                    <m:r>
                      <m:rPr>
                        <m:sty m:val="p"/>
                      </m:rPr>
                      <a:rPr lang="fr-FR" i="1" dirty="0" smtClean="0">
                        <a:latin typeface="Cambria Math" panose="02040503050406030204" pitchFamily="18" charset="0"/>
                      </a:rPr>
                      <m:t>min</m:t>
                    </m:r>
                    <m:r>
                      <a:rPr lang="fr-FR" i="1" dirty="0" smtClean="0">
                        <a:latin typeface="Cambria Math" panose="02040503050406030204" pitchFamily="18" charset="0"/>
                      </a:rPr>
                      <m:t>⁡(</m:t>
                    </m:r>
                    <m:r>
                      <a:rPr lang="fr-FR" i="1" dirty="0" smtClean="0">
                        <a:latin typeface="Cambria Math" panose="02040503050406030204" pitchFamily="18" charset="0"/>
                      </a:rPr>
                      <m:t>𝑥</m:t>
                    </m:r>
                    <m:r>
                      <a:rPr lang="fr-FR" i="1" dirty="0" smtClean="0">
                        <a:latin typeface="Cambria Math" panose="02040503050406030204" pitchFamily="18" charset="0"/>
                      </a:rPr>
                      <m:t>))</m:t>
                    </m:r>
                  </m:oMath>
                </a14:m>
                <a:endParaRPr lang="fr-FR" dirty="0"/>
              </a:p>
              <a:p>
                <a:pPr lvl="1" algn="just">
                  <a:lnSpc>
                    <a:spcPct val="150000"/>
                  </a:lnSpc>
                  <a:buClr>
                    <a:schemeClr val="accent2"/>
                  </a:buClr>
                </a:pPr>
                <a:endParaRPr lang="fr-FR" dirty="0"/>
              </a:p>
              <a:p>
                <a:pPr lvl="1" algn="just">
                  <a:lnSpc>
                    <a:spcPct val="150000"/>
                  </a:lnSpc>
                  <a:buClr>
                    <a:schemeClr val="accent2"/>
                  </a:buClr>
                </a:pPr>
                <a:r>
                  <a:rPr lang="fr-FR" dirty="0"/>
                  <a:t>Par exemple, supposons que nous ayons un ensemble de données avec des tailles en pouces et des âges en années :</a:t>
                </a:r>
              </a:p>
              <a:p>
                <a:pPr lvl="2" algn="just">
                  <a:lnSpc>
                    <a:spcPct val="150000"/>
                  </a:lnSpc>
                  <a:buClr>
                    <a:schemeClr val="accent2"/>
                  </a:buClr>
                </a:pPr>
                <a:r>
                  <a:rPr lang="fr-FR" dirty="0"/>
                  <a:t>Tailles : [62, 64, 68, 70]</a:t>
                </a:r>
              </a:p>
              <a:p>
                <a:pPr lvl="2" algn="just">
                  <a:lnSpc>
                    <a:spcPct val="150000"/>
                  </a:lnSpc>
                  <a:buClr>
                    <a:schemeClr val="accent2"/>
                  </a:buClr>
                </a:pPr>
                <a:r>
                  <a:rPr lang="fr-FR" dirty="0"/>
                  <a:t>Âges : [20, 25, 30, 35]</a:t>
                </a:r>
              </a:p>
              <a:p>
                <a:pPr lvl="1" algn="just">
                  <a:lnSpc>
                    <a:spcPct val="150000"/>
                  </a:lnSpc>
                  <a:buClr>
                    <a:schemeClr val="accent2"/>
                  </a:buClr>
                </a:pPr>
                <a:endParaRPr lang="fr-FR" dirty="0"/>
              </a:p>
              <a:p>
                <a:pPr lvl="1" algn="just">
                  <a:lnSpc>
                    <a:spcPct val="150000"/>
                  </a:lnSpc>
                  <a:buClr>
                    <a:schemeClr val="accent2"/>
                  </a:buClr>
                </a:pPr>
                <a:r>
                  <a:rPr lang="fr-FR" dirty="0"/>
                  <a:t>Après normalisation, l'ensemble de données ressemblerait à ceci :</a:t>
                </a:r>
              </a:p>
              <a:p>
                <a:pPr lvl="2" algn="just">
                  <a:lnSpc>
                    <a:spcPct val="150000"/>
                  </a:lnSpc>
                  <a:buClr>
                    <a:schemeClr val="accent2"/>
                  </a:buClr>
                </a:pPr>
                <a:r>
                  <a:rPr lang="fr-FR" dirty="0"/>
                  <a:t>Hauteurs normalisées : [0, 0,25, 0,75, 1]</a:t>
                </a:r>
              </a:p>
              <a:p>
                <a:pPr lvl="2" algn="just">
                  <a:lnSpc>
                    <a:spcPct val="150000"/>
                  </a:lnSpc>
                  <a:buClr>
                    <a:schemeClr val="accent2"/>
                  </a:buClr>
                </a:pPr>
                <a:r>
                  <a:rPr lang="fr-FR" dirty="0"/>
                  <a:t>Âges normalisés : [0, 0,333, 0,667, 1]</a:t>
                </a:r>
                <a:endParaRPr lang="fr-FR" sz="1200" dirty="0">
                  <a:solidFill>
                    <a:srgbClr val="00194C"/>
                  </a:solidFill>
                </a:endParaRP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2014" cy="3454790"/>
              </a:xfrm>
              <a:blipFill>
                <a:blip r:embed="rId2"/>
                <a:stretch>
                  <a:fillRect t="-529" r="-1449"/>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49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Feature scaling :</a:t>
            </a:r>
            <a:r>
              <a:rPr lang="fr-FR" sz="2100" b="0" dirty="0"/>
              <a:t> normalization (Min-Max Scaling)</a:t>
            </a:r>
          </a:p>
        </p:txBody>
      </p:sp>
    </p:spTree>
    <p:extLst>
      <p:ext uri="{BB962C8B-B14F-4D97-AF65-F5344CB8AC3E}">
        <p14:creationId xmlns:p14="http://schemas.microsoft.com/office/powerpoint/2010/main" val="41068122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a:bodyPr>
              <a:lstStyle/>
              <a:p>
                <a:pPr lvl="1" algn="just">
                  <a:lnSpc>
                    <a:spcPct val="150000"/>
                  </a:lnSpc>
                  <a:buClr>
                    <a:schemeClr val="accent2"/>
                  </a:buClr>
                </a:pPr>
                <a:r>
                  <a:rPr lang="fr-FR" sz="1350" dirty="0"/>
                  <a:t>La standardisation met à l'échelle les caractéristiques en les transformant pour avoir une moyenne de 0 et un écart type de 1. Cela se fait en soustrayant la moyenne de la caractéristique et en la divisant par l'écart type.</a:t>
                </a:r>
              </a:p>
              <a:p>
                <a:pPr lvl="2" algn="just">
                  <a:lnSpc>
                    <a:spcPct val="150000"/>
                  </a:lnSpc>
                  <a:buClr>
                    <a:schemeClr val="accent2"/>
                  </a:buClr>
                </a:pPr>
                <a:r>
                  <a:rPr lang="fr-FR" sz="1200" dirty="0"/>
                  <a:t>Formule : </a:t>
                </a:r>
                <a14:m>
                  <m:oMath xmlns:m="http://schemas.openxmlformats.org/officeDocument/2006/math">
                    <m:r>
                      <a:rPr lang="fr-FR" sz="1200" i="1" dirty="0">
                        <a:latin typeface="Cambria Math" panose="02040503050406030204" pitchFamily="18" charset="0"/>
                      </a:rPr>
                      <m:t>(</m:t>
                    </m:r>
                    <m:r>
                      <a:rPr lang="fr-FR" sz="1200" i="1" dirty="0">
                        <a:latin typeface="Cambria Math" panose="02040503050406030204" pitchFamily="18" charset="0"/>
                      </a:rPr>
                      <m:t>𝑥</m:t>
                    </m:r>
                    <m:r>
                      <a:rPr lang="fr-FR" sz="1200" i="1" dirty="0">
                        <a:latin typeface="Cambria Math" panose="02040503050406030204" pitchFamily="18" charset="0"/>
                      </a:rPr>
                      <m:t> — </m:t>
                    </m:r>
                    <m:r>
                      <a:rPr lang="fr-FR" sz="1200" i="1" dirty="0">
                        <a:latin typeface="Cambria Math" panose="02040503050406030204" pitchFamily="18" charset="0"/>
                      </a:rPr>
                      <m:t>𝑚𝑜𝑦𝑒𝑛𝑛𝑒</m:t>
                    </m:r>
                    <m:r>
                      <a:rPr lang="fr-FR" sz="1200" i="1" dirty="0">
                        <a:latin typeface="Cambria Math" panose="02040503050406030204" pitchFamily="18" charset="0"/>
                      </a:rPr>
                      <m:t>(</m:t>
                    </m:r>
                    <m:r>
                      <a:rPr lang="fr-FR" sz="1200" i="1" dirty="0">
                        <a:latin typeface="Cambria Math" panose="02040503050406030204" pitchFamily="18" charset="0"/>
                      </a:rPr>
                      <m:t>𝑥</m:t>
                    </m:r>
                    <m:r>
                      <a:rPr lang="fr-FR" sz="1200" i="1" dirty="0">
                        <a:latin typeface="Cambria Math" panose="02040503050406030204" pitchFamily="18" charset="0"/>
                      </a:rPr>
                      <m:t>)) / </m:t>
                    </m:r>
                    <m:r>
                      <a:rPr lang="fr-FR" sz="1200" i="1" dirty="0">
                        <a:latin typeface="Cambria Math" panose="02040503050406030204" pitchFamily="18" charset="0"/>
                      </a:rPr>
                      <m:t>𝑠𝑡𝑑</m:t>
                    </m:r>
                    <m:r>
                      <a:rPr lang="fr-FR" sz="1200" i="1" dirty="0">
                        <a:latin typeface="Cambria Math" panose="02040503050406030204" pitchFamily="18" charset="0"/>
                      </a:rPr>
                      <m:t>(</m:t>
                    </m:r>
                    <m:r>
                      <a:rPr lang="fr-FR" sz="1200" i="1" dirty="0">
                        <a:latin typeface="Cambria Math" panose="02040503050406030204" pitchFamily="18" charset="0"/>
                      </a:rPr>
                      <m:t>𝑥</m:t>
                    </m:r>
                    <m:r>
                      <a:rPr lang="fr-FR" sz="1200" i="1" dirty="0">
                        <a:latin typeface="Cambria Math" panose="02040503050406030204" pitchFamily="18" charset="0"/>
                      </a:rPr>
                      <m:t>)</m:t>
                    </m:r>
                  </m:oMath>
                </a14:m>
                <a:endParaRPr lang="fr-FR" sz="1200" dirty="0"/>
              </a:p>
              <a:p>
                <a:pPr lvl="1" algn="just">
                  <a:lnSpc>
                    <a:spcPct val="150000"/>
                  </a:lnSpc>
                  <a:buClr>
                    <a:schemeClr val="accent2"/>
                  </a:buClr>
                </a:pPr>
                <a:r>
                  <a:rPr lang="fr-FR" sz="1350" dirty="0"/>
                  <a:t>En utilisant le même jeu de données, après normalisation, cela ressemblerait à ceci :</a:t>
                </a:r>
              </a:p>
              <a:p>
                <a:pPr lvl="2" algn="just">
                  <a:lnSpc>
                    <a:spcPct val="150000"/>
                  </a:lnSpc>
                  <a:buClr>
                    <a:schemeClr val="accent2"/>
                  </a:buClr>
                </a:pPr>
                <a:r>
                  <a:rPr lang="fr-FR" sz="1200" dirty="0"/>
                  <a:t>Hauteurs normalisées : [-1,341, -0,447, 0,447, 1,341]</a:t>
                </a:r>
              </a:p>
              <a:p>
                <a:pPr lvl="2" algn="just">
                  <a:lnSpc>
                    <a:spcPct val="150000"/>
                  </a:lnSpc>
                  <a:buClr>
                    <a:schemeClr val="accent2"/>
                  </a:buClr>
                </a:pPr>
                <a:r>
                  <a:rPr lang="fr-FR" sz="1200" dirty="0"/>
                  <a:t>Âges standardisés : [-1,341, -0,447, 0,447, 1,341]</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2014" cy="3454790"/>
              </a:xfrm>
              <a:blipFill>
                <a:blip r:embed="rId2"/>
                <a:stretch>
                  <a:fillRect r="-1760"/>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50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Feature scaling :</a:t>
            </a:r>
            <a:r>
              <a:rPr lang="fr-FR" sz="2100" b="0" dirty="0"/>
              <a:t> standardization (Z-score Scaling):</a:t>
            </a:r>
          </a:p>
        </p:txBody>
      </p:sp>
    </p:spTree>
    <p:extLst>
      <p:ext uri="{BB962C8B-B14F-4D97-AF65-F5344CB8AC3E}">
        <p14:creationId xmlns:p14="http://schemas.microsoft.com/office/powerpoint/2010/main" val="9470754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lnSpcReduction="10000"/>
          </a:bodyPr>
          <a:lstStyle/>
          <a:p>
            <a:pPr lvl="1" algn="just">
              <a:lnSpc>
                <a:spcPct val="150000"/>
              </a:lnSpc>
              <a:buClr>
                <a:schemeClr val="accent2"/>
              </a:buClr>
            </a:pPr>
            <a:r>
              <a:rPr lang="fr-FR" sz="1200" dirty="0"/>
              <a:t>Maintenant que nous en savons plus sur la mise à l'échelle des features, voyons comment l'appliquer dans un flux de travail Machine Learning :</a:t>
            </a:r>
          </a:p>
          <a:p>
            <a:pPr marL="1028700" lvl="2" indent="-342900" algn="just">
              <a:lnSpc>
                <a:spcPct val="150000"/>
              </a:lnSpc>
              <a:buClr>
                <a:schemeClr val="accent2"/>
              </a:buClr>
              <a:buFont typeface="+mj-lt"/>
              <a:buAutoNum type="arabicPeriod"/>
            </a:pPr>
            <a:r>
              <a:rPr lang="fr-FR" sz="1050" dirty="0"/>
              <a:t>Préparez l'ensemble de données en le divisant en ensembles d'apprentissage et de test.</a:t>
            </a:r>
          </a:p>
          <a:p>
            <a:pPr marL="1028700" lvl="2" indent="-342900" algn="just">
              <a:lnSpc>
                <a:spcPct val="150000"/>
              </a:lnSpc>
              <a:buClr>
                <a:schemeClr val="accent2"/>
              </a:buClr>
              <a:buFont typeface="+mj-lt"/>
              <a:buAutoNum type="arabicPeriod"/>
            </a:pPr>
            <a:r>
              <a:rPr lang="fr-FR" sz="1050" dirty="0"/>
              <a:t>Appliquez la mise à l'échelle des fonctionnalités à l'ensemble d'apprentissage. Assurez-vous d'enregistrer les paramètres de mise à l'échelle (min, max, moyenne, std) pour chaque fonctionnalité.</a:t>
            </a:r>
          </a:p>
          <a:p>
            <a:pPr marL="1028700" lvl="2" indent="-342900" algn="just">
              <a:lnSpc>
                <a:spcPct val="150000"/>
              </a:lnSpc>
              <a:buClr>
                <a:schemeClr val="accent2"/>
              </a:buClr>
              <a:buFont typeface="+mj-lt"/>
              <a:buAutoNum type="arabicPeriod"/>
            </a:pPr>
            <a:r>
              <a:rPr lang="fr-FR" sz="1050" dirty="0"/>
              <a:t>Entraînez le modèle à l'aide de l'ensemble d'entraînement à l'échelle.</a:t>
            </a:r>
          </a:p>
          <a:p>
            <a:pPr marL="1028700" lvl="2" indent="-342900" algn="just">
              <a:lnSpc>
                <a:spcPct val="150000"/>
              </a:lnSpc>
              <a:buClr>
                <a:schemeClr val="accent2"/>
              </a:buClr>
              <a:buFont typeface="+mj-lt"/>
              <a:buAutoNum type="arabicPeriod"/>
            </a:pPr>
            <a:r>
              <a:rPr lang="fr-FR" sz="1050" dirty="0"/>
              <a:t>Avant de faire des prédictions avec l'ensemble de test, appliquez la même mise à l'échelle aux données de test à l'aide des paramètres de mise à l'échelle de l'ensemble d'apprentissage. Cela garantit la cohérence du processus de mise à l'échelle.</a:t>
            </a:r>
          </a:p>
          <a:p>
            <a:pPr marL="1028700" lvl="2" indent="-342900" algn="just">
              <a:lnSpc>
                <a:spcPct val="150000"/>
              </a:lnSpc>
              <a:buClr>
                <a:schemeClr val="accent2"/>
              </a:buClr>
              <a:buFont typeface="+mj-lt"/>
              <a:buAutoNum type="arabicPeriod"/>
            </a:pPr>
            <a:r>
              <a:rPr lang="fr-FR" sz="1050" dirty="0"/>
              <a:t>Évaluez les performances du modèle sur l'ensemble de test à l'échelle.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51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Feature scaling :</a:t>
            </a:r>
            <a:r>
              <a:rPr lang="fr-FR" sz="2100" b="0" dirty="0"/>
              <a:t> standardization (Z-score Scaling):</a:t>
            </a:r>
          </a:p>
        </p:txBody>
      </p:sp>
    </p:spTree>
    <p:extLst>
      <p:ext uri="{BB962C8B-B14F-4D97-AF65-F5344CB8AC3E}">
        <p14:creationId xmlns:p14="http://schemas.microsoft.com/office/powerpoint/2010/main" val="39310969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2633378"/>
              </a:xfrm>
            </p:spPr>
            <p:txBody>
              <a:bodyPr>
                <a:normAutofit lnSpcReduction="10000"/>
              </a:bodyPr>
              <a:lstStyle/>
              <a:p>
                <a:pPr lvl="1" algn="just">
                  <a:lnSpc>
                    <a:spcPct val="150000"/>
                  </a:lnSpc>
                  <a:buClr>
                    <a:schemeClr val="accent2"/>
                  </a:buClr>
                </a:pPr>
                <a:r>
                  <a:rPr lang="fr-FR" sz="1200" dirty="0"/>
                  <a:t>Discrétiser une variable aléatoire continue consiste à la découper en un nombre fini de compartiments.</a:t>
                </a:r>
              </a:p>
              <a:p>
                <a:pPr lvl="1" algn="just">
                  <a:lnSpc>
                    <a:spcPct val="150000"/>
                  </a:lnSpc>
                  <a:buClr>
                    <a:schemeClr val="accent2"/>
                  </a:buClr>
                </a:pPr>
                <a:r>
                  <a:rPr lang="fr-FR" sz="1200" dirty="0"/>
                  <a:t>La nouvelle variable obtenue est une variable catégorielle.</a:t>
                </a:r>
              </a:p>
              <a:p>
                <a:pPr lvl="1" algn="just">
                  <a:lnSpc>
                    <a:spcPct val="150000"/>
                  </a:lnSpc>
                  <a:buClr>
                    <a:schemeClr val="accent2"/>
                  </a:buClr>
                </a:pPr>
                <a:r>
                  <a:rPr lang="fr-FR" sz="1200" dirty="0"/>
                  <a:t>On peut discrétiser une variable de trois manières :</a:t>
                </a:r>
              </a:p>
              <a:p>
                <a:pPr lvl="2" algn="just">
                  <a:lnSpc>
                    <a:spcPct val="150000"/>
                  </a:lnSpc>
                  <a:buClr>
                    <a:schemeClr val="accent2"/>
                  </a:buClr>
                </a:pPr>
                <a:r>
                  <a:rPr lang="fr-FR" sz="1050" b="1" dirty="0"/>
                  <a:t>Quantile :</a:t>
                </a:r>
                <a:r>
                  <a:rPr lang="fr-FR" sz="1050" dirty="0"/>
                  <a:t> chaque groupe a la même amplitude dans l’étendue des valeurs.</a:t>
                </a:r>
              </a:p>
              <a:p>
                <a:pPr lvl="2" algn="just">
                  <a:lnSpc>
                    <a:spcPct val="150000"/>
                  </a:lnSpc>
                  <a:buClr>
                    <a:schemeClr val="accent2"/>
                  </a:buClr>
                </a:pPr>
                <a:r>
                  <a:rPr lang="fr-FR" sz="1050" b="1" dirty="0"/>
                  <a:t>Uniforme :</a:t>
                </a:r>
                <a:r>
                  <a:rPr lang="fr-FR" sz="1050" dirty="0"/>
                  <a:t> chaque groupe a le même nombre de valeurs réparties en centiles.</a:t>
                </a:r>
              </a:p>
              <a:p>
                <a:pPr lvl="2" algn="just">
                  <a:lnSpc>
                    <a:spcPct val="150000"/>
                  </a:lnSpc>
                  <a:buClr>
                    <a:schemeClr val="accent2"/>
                  </a:buClr>
                </a:pPr>
                <a:r>
                  <a:rPr lang="fr-FR" sz="1050" b="1" dirty="0"/>
                  <a:t>K-Means :</a:t>
                </a:r>
                <a:r>
                  <a:rPr lang="fr-FR" sz="1050" dirty="0"/>
                  <a:t> des clusters sont identifiés et les points sont répartis entre les groupes.</a:t>
                </a:r>
              </a:p>
              <a:p>
                <a:pPr lvl="1" algn="just">
                  <a:lnSpc>
                    <a:spcPct val="150000"/>
                  </a:lnSpc>
                  <a:buClr>
                    <a:schemeClr val="accent2"/>
                  </a:buClr>
                </a:pPr>
                <a14:m>
                  <m:oMath xmlns:m="http://schemas.openxmlformats.org/officeDocument/2006/math">
                    <m:r>
                      <a:rPr lang="fr-FR" sz="1200" i="1">
                        <a:latin typeface="Cambria Math" panose="02040503050406030204" pitchFamily="18" charset="0"/>
                      </a:rPr>
                      <m:t>𝑎𝑔𝑒</m:t>
                    </m:r>
                    <m:r>
                      <a:rPr lang="fr-FR" sz="1200" i="1">
                        <a:latin typeface="Cambria Math" panose="02040503050406030204" pitchFamily="18" charset="0"/>
                      </a:rPr>
                      <m:t>=[</m:t>
                    </m:r>
                    <m:r>
                      <m:rPr>
                        <m:nor/>
                      </m:rPr>
                      <a:rPr lang="fr-FR" sz="1200" i="1" dirty="0">
                        <a:latin typeface="Cambria Math" panose="02040503050406030204" pitchFamily="18" charset="0"/>
                      </a:rPr>
                      <m:t>1, 5, 9, 4, 7, 11, 14 , </m:t>
                    </m:r>
                    <m:r>
                      <a:rPr lang="fr-FR" sz="1200" i="1" dirty="0">
                        <a:latin typeface="Cambria Math" panose="02040503050406030204" pitchFamily="18" charset="0"/>
                      </a:rPr>
                      <m:t>…</m:t>
                    </m:r>
                    <m:r>
                      <m:rPr>
                        <m:nor/>
                      </m:rPr>
                      <a:rPr lang="fr-FR" sz="1200" i="1" dirty="0">
                        <a:latin typeface="Cambria Math" panose="02040503050406030204" pitchFamily="18" charset="0"/>
                      </a:rPr>
                      <m:t>, 42, 44 , 46, 70, 74, 78, 77</m:t>
                    </m:r>
                    <m:r>
                      <a:rPr lang="fr-FR" sz="1200" i="1">
                        <a:latin typeface="Cambria Math" panose="02040503050406030204" pitchFamily="18" charset="0"/>
                      </a:rPr>
                      <m:t>]</m:t>
                    </m:r>
                  </m:oMath>
                </a14:m>
                <a:endParaRPr lang="fr-FR" sz="1200" i="1" dirty="0">
                  <a:latin typeface="Cambria Math" panose="02040503050406030204" pitchFamily="18" charset="0"/>
                </a:endParaRP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2014" cy="2633378"/>
              </a:xfrm>
              <a:blipFill>
                <a:blip r:embed="rId2"/>
                <a:stretch>
                  <a:fillRect t="-231" r="-155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52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Feature scaling :</a:t>
            </a:r>
            <a:r>
              <a:rPr lang="fr-FR" sz="2100" b="0" dirty="0"/>
              <a:t> discrétisation</a:t>
            </a:r>
          </a:p>
        </p:txBody>
      </p:sp>
      <mc:AlternateContent xmlns:mc="http://schemas.openxmlformats.org/markup-compatibility/2006" xmlns:a14="http://schemas.microsoft.com/office/drawing/2010/main">
        <mc:Choice Requires="a14">
          <p:graphicFrame>
            <p:nvGraphicFramePr>
              <p:cNvPr id="2" name="Tableau 1">
                <a:extLst>
                  <a:ext uri="{FF2B5EF4-FFF2-40B4-BE49-F238E27FC236}">
                    <a16:creationId xmlns:a16="http://schemas.microsoft.com/office/drawing/2014/main" id="{271B36AE-75D1-4FE5-AAF2-F5FD5F044F29}"/>
                  </a:ext>
                </a:extLst>
              </p:cNvPr>
              <p:cNvGraphicFramePr>
                <a:graphicFrameLocks noGrp="1"/>
              </p:cNvGraphicFramePr>
              <p:nvPr>
                <p:extLst/>
              </p:nvPr>
            </p:nvGraphicFramePr>
            <p:xfrm>
              <a:off x="855383" y="4240031"/>
              <a:ext cx="6249918" cy="556260"/>
            </p:xfrm>
            <a:graphic>
              <a:graphicData uri="http://schemas.openxmlformats.org/drawingml/2006/table">
                <a:tbl>
                  <a:tblPr firstRow="1" bandRow="1">
                    <a:tableStyleId>{9D7B26C5-4107-4FEC-AEDC-1716B250A1EF}</a:tableStyleId>
                  </a:tblPr>
                  <a:tblGrid>
                    <a:gridCol w="1231739">
                      <a:extLst>
                        <a:ext uri="{9D8B030D-6E8A-4147-A177-3AD203B41FA5}">
                          <a16:colId xmlns:a16="http://schemas.microsoft.com/office/drawing/2014/main" val="1141109962"/>
                        </a:ext>
                      </a:extLst>
                    </a:gridCol>
                    <a:gridCol w="851567">
                      <a:extLst>
                        <a:ext uri="{9D8B030D-6E8A-4147-A177-3AD203B41FA5}">
                          <a16:colId xmlns:a16="http://schemas.microsoft.com/office/drawing/2014/main" val="3407731985"/>
                        </a:ext>
                      </a:extLst>
                    </a:gridCol>
                    <a:gridCol w="1041653">
                      <a:extLst>
                        <a:ext uri="{9D8B030D-6E8A-4147-A177-3AD203B41FA5}">
                          <a16:colId xmlns:a16="http://schemas.microsoft.com/office/drawing/2014/main" val="2532679883"/>
                        </a:ext>
                      </a:extLst>
                    </a:gridCol>
                    <a:gridCol w="1041653">
                      <a:extLst>
                        <a:ext uri="{9D8B030D-6E8A-4147-A177-3AD203B41FA5}">
                          <a16:colId xmlns:a16="http://schemas.microsoft.com/office/drawing/2014/main" val="576026724"/>
                        </a:ext>
                      </a:extLst>
                    </a:gridCol>
                    <a:gridCol w="1041653">
                      <a:extLst>
                        <a:ext uri="{9D8B030D-6E8A-4147-A177-3AD203B41FA5}">
                          <a16:colId xmlns:a16="http://schemas.microsoft.com/office/drawing/2014/main" val="3515420662"/>
                        </a:ext>
                      </a:extLst>
                    </a:gridCol>
                    <a:gridCol w="1041653">
                      <a:extLst>
                        <a:ext uri="{9D8B030D-6E8A-4147-A177-3AD203B41FA5}">
                          <a16:colId xmlns:a16="http://schemas.microsoft.com/office/drawing/2014/main" val="3672026755"/>
                        </a:ext>
                      </a:extLst>
                    </a:gridCol>
                  </a:tblGrid>
                  <a:tr h="278130">
                    <a:tc>
                      <a:txBody>
                        <a:bodyPr/>
                        <a:lstStyle/>
                        <a:p>
                          <a:pPr algn="ctr"/>
                          <a14:m>
                            <m:oMathPara xmlns:m="http://schemas.openxmlformats.org/officeDocument/2006/math">
                              <m:oMathParaPr>
                                <m:jc m:val="centerGroup"/>
                              </m:oMathParaPr>
                              <m:oMath xmlns:m="http://schemas.openxmlformats.org/officeDocument/2006/math">
                                <m:r>
                                  <a:rPr lang="fr-FR" sz="1200" b="0" i="1" kern="1200" smtClean="0">
                                    <a:solidFill>
                                      <a:schemeClr val="tx1"/>
                                    </a:solidFill>
                                    <a:latin typeface="Cambria Math" panose="02040503050406030204" pitchFamily="18" charset="0"/>
                                    <a:ea typeface="+mn-ea"/>
                                    <a:cs typeface="+mn-cs"/>
                                  </a:rPr>
                                  <m:t>𝒂𝒈𝒆</m:t>
                                </m:r>
                                <m:r>
                                  <a:rPr lang="fr-FR" sz="1200" b="0" i="1" kern="1200" smtClean="0">
                                    <a:solidFill>
                                      <a:schemeClr val="tx1"/>
                                    </a:solidFill>
                                    <a:latin typeface="Cambria Math" panose="02040503050406030204" pitchFamily="18" charset="0"/>
                                    <a:ea typeface="+mn-ea"/>
                                    <a:cs typeface="+mn-cs"/>
                                  </a:rPr>
                                  <m:t>_</m:t>
                                </m:r>
                                <m:r>
                                  <a:rPr lang="fr-FR" sz="1200" b="0" i="1" kern="1200" smtClean="0">
                                    <a:solidFill>
                                      <a:schemeClr val="tx1"/>
                                    </a:solidFill>
                                    <a:latin typeface="Cambria Math" panose="02040503050406030204" pitchFamily="18" charset="0"/>
                                    <a:ea typeface="+mn-ea"/>
                                    <a:cs typeface="+mn-cs"/>
                                  </a:rPr>
                                  <m:t>𝒄𝒖𝒕</m:t>
                                </m:r>
                              </m:oMath>
                            </m:oMathPara>
                          </a14:m>
                          <a:endParaRPr lang="fr-FR" sz="1200" b="0" i="1" kern="1200" dirty="0">
                            <a:solidFill>
                              <a:schemeClr val="tx1"/>
                            </a:solidFill>
                            <a:latin typeface="Cambria Math" panose="02040503050406030204" pitchFamily="18" charset="0"/>
                            <a:ea typeface="+mn-ea"/>
                            <a:cs typeface="+mn-cs"/>
                          </a:endParaRPr>
                        </a:p>
                      </a:txBody>
                      <a:tcPr marL="68580" marR="68580" marT="34290" marB="34290"/>
                    </a:tc>
                    <a:tc>
                      <a:txBody>
                        <a:bodyPr/>
                        <a:lstStyle/>
                        <a:p>
                          <a:pPr algn="ctr"/>
                          <a14:m>
                            <m:oMathPara xmlns:m="http://schemas.openxmlformats.org/officeDocument/2006/math">
                              <m:oMathParaPr>
                                <m:jc m:val="centerGroup"/>
                              </m:oMathParaPr>
                              <m:oMath xmlns:m="http://schemas.openxmlformats.org/officeDocument/2006/math">
                                <m:r>
                                  <a:rPr lang="fr-FR" sz="1200" b="0" i="0" kern="1200" smtClean="0">
                                    <a:solidFill>
                                      <a:schemeClr val="tx1"/>
                                    </a:solidFill>
                                    <a:latin typeface="Cambria Math" panose="02040503050406030204" pitchFamily="18" charset="0"/>
                                    <a:ea typeface="+mn-ea"/>
                                    <a:cs typeface="+mn-cs"/>
                                  </a:rPr>
                                  <m:t>[1 −11[</m:t>
                                </m:r>
                              </m:oMath>
                            </m:oMathPara>
                          </a14:m>
                          <a:endParaRPr lang="fr-FR" sz="1200" b="0" i="0" kern="1200" dirty="0">
                            <a:solidFill>
                              <a:schemeClr val="tx1"/>
                            </a:solidFill>
                            <a:latin typeface="Cambria Math" panose="02040503050406030204" pitchFamily="18" charset="0"/>
                            <a:ea typeface="+mn-ea"/>
                            <a:cs typeface="+mn-cs"/>
                          </a:endParaRPr>
                        </a:p>
                      </a:txBody>
                      <a:tcPr marL="68580" marR="68580" marT="34290" marB="34290"/>
                    </a:tc>
                    <a:tc>
                      <a:txBody>
                        <a:bodyPr/>
                        <a:lstStyle/>
                        <a:p>
                          <a:pPr algn="ctr"/>
                          <a14:m>
                            <m:oMathPara xmlns:m="http://schemas.openxmlformats.org/officeDocument/2006/math">
                              <m:oMathParaPr>
                                <m:jc m:val="centerGroup"/>
                              </m:oMathParaPr>
                              <m:oMath xmlns:m="http://schemas.openxmlformats.org/officeDocument/2006/math">
                                <m:r>
                                  <a:rPr lang="fr-FR" sz="1200" b="0" i="0" kern="1200" smtClean="0">
                                    <a:solidFill>
                                      <a:schemeClr val="tx1"/>
                                    </a:solidFill>
                                    <a:latin typeface="Cambria Math" panose="02040503050406030204" pitchFamily="18" charset="0"/>
                                    <a:ea typeface="+mn-ea"/>
                                    <a:cs typeface="+mn-cs"/>
                                  </a:rPr>
                                  <m:t>[11 −21[</m:t>
                                </m:r>
                              </m:oMath>
                            </m:oMathPara>
                          </a14:m>
                          <a:endParaRPr lang="fr-FR" sz="1200" b="0" i="1" kern="1200" dirty="0">
                            <a:solidFill>
                              <a:schemeClr val="tx1"/>
                            </a:solidFill>
                            <a:latin typeface="Cambria Math" panose="02040503050406030204" pitchFamily="18" charset="0"/>
                            <a:ea typeface="+mn-ea"/>
                            <a:cs typeface="+mn-cs"/>
                          </a:endParaRPr>
                        </a:p>
                      </a:txBody>
                      <a:tcPr marL="68580" marR="68580" marT="34290" marB="34290"/>
                    </a:tc>
                    <a:tc>
                      <a:txBody>
                        <a:bodyPr/>
                        <a:lstStyle/>
                        <a:p>
                          <a:pPr algn="ctr"/>
                          <a14:m>
                            <m:oMathPara xmlns:m="http://schemas.openxmlformats.org/officeDocument/2006/math">
                              <m:oMathParaPr>
                                <m:jc m:val="centerGroup"/>
                              </m:oMathParaPr>
                              <m:oMath xmlns:m="http://schemas.openxmlformats.org/officeDocument/2006/math">
                                <m:r>
                                  <a:rPr lang="fr-FR" sz="1200" b="0" i="0" kern="1200" smtClean="0">
                                    <a:solidFill>
                                      <a:schemeClr val="tx1"/>
                                    </a:solidFill>
                                    <a:latin typeface="Cambria Math" panose="02040503050406030204" pitchFamily="18" charset="0"/>
                                    <a:ea typeface="+mn-ea"/>
                                    <a:cs typeface="+mn-cs"/>
                                  </a:rPr>
                                  <m:t>[21 −31[</m:t>
                                </m:r>
                              </m:oMath>
                            </m:oMathPara>
                          </a14:m>
                          <a:endParaRPr lang="fr-FR" sz="1200" b="0" i="1" kern="1200" dirty="0">
                            <a:solidFill>
                              <a:schemeClr val="tx1"/>
                            </a:solidFill>
                            <a:latin typeface="Cambria Math" panose="02040503050406030204" pitchFamily="18" charset="0"/>
                            <a:ea typeface="+mn-ea"/>
                            <a:cs typeface="+mn-cs"/>
                          </a:endParaRPr>
                        </a:p>
                      </a:txBody>
                      <a:tcPr marL="68580" marR="68580" marT="34290" marB="34290"/>
                    </a:tc>
                    <a:tc>
                      <a:txBody>
                        <a:bodyPr/>
                        <a:lstStyle/>
                        <a:p>
                          <a:pPr algn="ctr"/>
                          <a14:m>
                            <m:oMathPara xmlns:m="http://schemas.openxmlformats.org/officeDocument/2006/math">
                              <m:oMathParaPr>
                                <m:jc m:val="centerGroup"/>
                              </m:oMathParaPr>
                              <m:oMath xmlns:m="http://schemas.openxmlformats.org/officeDocument/2006/math">
                                <m:r>
                                  <a:rPr lang="fr-FR" sz="1200" b="0" i="0" kern="1200" smtClean="0">
                                    <a:solidFill>
                                      <a:schemeClr val="tx1"/>
                                    </a:solidFill>
                                    <a:latin typeface="Cambria Math" panose="02040503050406030204" pitchFamily="18" charset="0"/>
                                    <a:ea typeface="+mn-ea"/>
                                    <a:cs typeface="+mn-cs"/>
                                  </a:rPr>
                                  <m:t>[…[</m:t>
                                </m:r>
                              </m:oMath>
                            </m:oMathPara>
                          </a14:m>
                          <a:endParaRPr lang="fr-FR" sz="1200" b="0" i="1" kern="1200" dirty="0">
                            <a:solidFill>
                              <a:schemeClr val="tx1"/>
                            </a:solidFill>
                            <a:latin typeface="Cambria Math" panose="02040503050406030204" pitchFamily="18" charset="0"/>
                            <a:ea typeface="+mn-ea"/>
                            <a:cs typeface="+mn-cs"/>
                          </a:endParaRPr>
                        </a:p>
                      </a:txBody>
                      <a:tcPr marL="68580" marR="68580" marT="34290" marB="34290"/>
                    </a:tc>
                    <a:tc>
                      <a:txBody>
                        <a:bodyPr/>
                        <a:lstStyle/>
                        <a:p>
                          <a:pPr algn="ctr"/>
                          <a14:m>
                            <m:oMathPara xmlns:m="http://schemas.openxmlformats.org/officeDocument/2006/math">
                              <m:oMathParaPr>
                                <m:jc m:val="centerGroup"/>
                              </m:oMathParaPr>
                              <m:oMath xmlns:m="http://schemas.openxmlformats.org/officeDocument/2006/math">
                                <m:r>
                                  <a:rPr lang="fr-FR" sz="1200" b="0" i="0" kern="1200" smtClean="0">
                                    <a:solidFill>
                                      <a:schemeClr val="tx1"/>
                                    </a:solidFill>
                                    <a:latin typeface="Cambria Math" panose="02040503050406030204" pitchFamily="18" charset="0"/>
                                    <a:ea typeface="+mn-ea"/>
                                    <a:cs typeface="+mn-cs"/>
                                  </a:rPr>
                                  <m:t>[67 −77]</m:t>
                                </m:r>
                              </m:oMath>
                            </m:oMathPara>
                          </a14:m>
                          <a:endParaRPr lang="fr-FR" sz="1200" b="0" i="1" kern="1200" dirty="0">
                            <a:solidFill>
                              <a:schemeClr val="tx1"/>
                            </a:solidFill>
                            <a:latin typeface="Cambria Math" panose="02040503050406030204" pitchFamily="18" charset="0"/>
                            <a:ea typeface="+mn-ea"/>
                            <a:cs typeface="+mn-cs"/>
                          </a:endParaRPr>
                        </a:p>
                      </a:txBody>
                      <a:tcPr marL="68580" marR="68580" marT="34290" marB="34290"/>
                    </a:tc>
                    <a:extLst>
                      <a:ext uri="{0D108BD9-81ED-4DB2-BD59-A6C34878D82A}">
                        <a16:rowId xmlns:a16="http://schemas.microsoft.com/office/drawing/2014/main" val="1634346241"/>
                      </a:ext>
                    </a:extLst>
                  </a:tr>
                  <a:tr h="278130">
                    <a:tc>
                      <a:txBody>
                        <a:bodyPr/>
                        <a:lstStyle/>
                        <a:p>
                          <a:pPr algn="ctr"/>
                          <a14:m>
                            <m:oMathPara xmlns:m="http://schemas.openxmlformats.org/officeDocument/2006/math">
                              <m:oMathParaPr>
                                <m:jc m:val="centerGroup"/>
                              </m:oMathParaPr>
                              <m:oMath xmlns:m="http://schemas.openxmlformats.org/officeDocument/2006/math">
                                <m:r>
                                  <a:rPr lang="fr-FR" sz="1200" b="1" i="1" smtClean="0">
                                    <a:latin typeface="Cambria Math" panose="02040503050406030204" pitchFamily="18" charset="0"/>
                                  </a:rPr>
                                  <m:t>𝒂𝒈𝒆</m:t>
                                </m:r>
                                <m:r>
                                  <a:rPr lang="fr-FR" sz="1200" b="1" i="1" smtClean="0">
                                    <a:latin typeface="Cambria Math" panose="02040503050406030204" pitchFamily="18" charset="0"/>
                                  </a:rPr>
                                  <m:t>_</m:t>
                                </m:r>
                                <m:r>
                                  <a:rPr lang="fr-FR" sz="1200" b="1" i="1" smtClean="0">
                                    <a:latin typeface="Cambria Math" panose="02040503050406030204" pitchFamily="18" charset="0"/>
                                  </a:rPr>
                                  <m:t>𝒅𝒊𝒔𝒄𝒓𝒆𝒕𝒊𝒛𝒆𝒅</m:t>
                                </m:r>
                              </m:oMath>
                            </m:oMathPara>
                          </a14:m>
                          <a:endParaRPr lang="fr-FR" sz="1200" b="1" dirty="0"/>
                        </a:p>
                      </a:txBody>
                      <a:tcPr marL="68580" marR="68580" marT="34290" marB="34290"/>
                    </a:tc>
                    <a:tc>
                      <a:txBody>
                        <a:bodyPr/>
                        <a:lstStyle/>
                        <a:p>
                          <a:pPr algn="ctr"/>
                          <a:r>
                            <a:rPr lang="fr-FR" sz="1200" dirty="0"/>
                            <a:t>enfant</a:t>
                          </a:r>
                        </a:p>
                      </a:txBody>
                      <a:tcPr marL="68580" marR="68580" marT="34290" marB="34290"/>
                    </a:tc>
                    <a:tc>
                      <a:txBody>
                        <a:bodyPr/>
                        <a:lstStyle/>
                        <a:p>
                          <a:pPr algn="ctr"/>
                          <a:r>
                            <a:rPr lang="fr-FR" sz="1200" dirty="0"/>
                            <a:t>jeune</a:t>
                          </a:r>
                        </a:p>
                      </a:txBody>
                      <a:tcPr marL="68580" marR="68580" marT="34290" marB="34290"/>
                    </a:tc>
                    <a:tc>
                      <a:txBody>
                        <a:bodyPr/>
                        <a:lstStyle/>
                        <a:p>
                          <a:pPr algn="ctr"/>
                          <a:r>
                            <a:rPr lang="fr-FR" sz="1200" dirty="0"/>
                            <a:t>Mature</a:t>
                          </a:r>
                        </a:p>
                      </a:txBody>
                      <a:tcPr marL="68580" marR="68580" marT="34290" marB="34290"/>
                    </a:tc>
                    <a:tc>
                      <a:txBody>
                        <a:bodyPr/>
                        <a:lstStyle/>
                        <a:p>
                          <a:pPr algn="ctr"/>
                          <a:r>
                            <a:rPr lang="fr-FR" sz="1200" dirty="0"/>
                            <a:t>…</a:t>
                          </a:r>
                        </a:p>
                      </a:txBody>
                      <a:tcPr marL="68580" marR="68580" marT="34290" marB="34290"/>
                    </a:tc>
                    <a:tc>
                      <a:txBody>
                        <a:bodyPr/>
                        <a:lstStyle/>
                        <a:p>
                          <a:pPr algn="ctr"/>
                          <a:r>
                            <a:rPr lang="fr-FR" sz="1200" dirty="0"/>
                            <a:t>Vieux</a:t>
                          </a:r>
                        </a:p>
                      </a:txBody>
                      <a:tcPr marL="68580" marR="68580" marT="34290" marB="34290"/>
                    </a:tc>
                    <a:extLst>
                      <a:ext uri="{0D108BD9-81ED-4DB2-BD59-A6C34878D82A}">
                        <a16:rowId xmlns:a16="http://schemas.microsoft.com/office/drawing/2014/main" val="965298797"/>
                      </a:ext>
                    </a:extLst>
                  </a:tr>
                </a:tbl>
              </a:graphicData>
            </a:graphic>
          </p:graphicFrame>
        </mc:Choice>
        <mc:Fallback xmlns="">
          <p:graphicFrame>
            <p:nvGraphicFramePr>
              <p:cNvPr id="2" name="Tableau 1">
                <a:extLst>
                  <a:ext uri="{FF2B5EF4-FFF2-40B4-BE49-F238E27FC236}">
                    <a16:creationId xmlns:a16="http://schemas.microsoft.com/office/drawing/2014/main" id="{271B36AE-75D1-4FE5-AAF2-F5FD5F044F29}"/>
                  </a:ext>
                </a:extLst>
              </p:cNvPr>
              <p:cNvGraphicFramePr>
                <a:graphicFrameLocks noGrp="1"/>
              </p:cNvGraphicFramePr>
              <p:nvPr>
                <p:extLst/>
              </p:nvPr>
            </p:nvGraphicFramePr>
            <p:xfrm>
              <a:off x="855383" y="4240031"/>
              <a:ext cx="6249918" cy="556260"/>
            </p:xfrm>
            <a:graphic>
              <a:graphicData uri="http://schemas.openxmlformats.org/drawingml/2006/table">
                <a:tbl>
                  <a:tblPr firstRow="1" bandRow="1">
                    <a:tableStyleId>{9D7B26C5-4107-4FEC-AEDC-1716B250A1EF}</a:tableStyleId>
                  </a:tblPr>
                  <a:tblGrid>
                    <a:gridCol w="1231739">
                      <a:extLst>
                        <a:ext uri="{9D8B030D-6E8A-4147-A177-3AD203B41FA5}">
                          <a16:colId xmlns:a16="http://schemas.microsoft.com/office/drawing/2014/main" val="1141109962"/>
                        </a:ext>
                      </a:extLst>
                    </a:gridCol>
                    <a:gridCol w="851567">
                      <a:extLst>
                        <a:ext uri="{9D8B030D-6E8A-4147-A177-3AD203B41FA5}">
                          <a16:colId xmlns:a16="http://schemas.microsoft.com/office/drawing/2014/main" val="3407731985"/>
                        </a:ext>
                      </a:extLst>
                    </a:gridCol>
                    <a:gridCol w="1041653">
                      <a:extLst>
                        <a:ext uri="{9D8B030D-6E8A-4147-A177-3AD203B41FA5}">
                          <a16:colId xmlns:a16="http://schemas.microsoft.com/office/drawing/2014/main" val="2532679883"/>
                        </a:ext>
                      </a:extLst>
                    </a:gridCol>
                    <a:gridCol w="1041653">
                      <a:extLst>
                        <a:ext uri="{9D8B030D-6E8A-4147-A177-3AD203B41FA5}">
                          <a16:colId xmlns:a16="http://schemas.microsoft.com/office/drawing/2014/main" val="576026724"/>
                        </a:ext>
                      </a:extLst>
                    </a:gridCol>
                    <a:gridCol w="1041653">
                      <a:extLst>
                        <a:ext uri="{9D8B030D-6E8A-4147-A177-3AD203B41FA5}">
                          <a16:colId xmlns:a16="http://schemas.microsoft.com/office/drawing/2014/main" val="3515420662"/>
                        </a:ext>
                      </a:extLst>
                    </a:gridCol>
                    <a:gridCol w="1041653">
                      <a:extLst>
                        <a:ext uri="{9D8B030D-6E8A-4147-A177-3AD203B41FA5}">
                          <a16:colId xmlns:a16="http://schemas.microsoft.com/office/drawing/2014/main" val="3672026755"/>
                        </a:ext>
                      </a:extLst>
                    </a:gridCol>
                  </a:tblGrid>
                  <a:tr h="278130">
                    <a:tc>
                      <a:txBody>
                        <a:bodyPr/>
                        <a:lstStyle/>
                        <a:p>
                          <a:endParaRPr lang="fr-FR"/>
                        </a:p>
                      </a:txBody>
                      <a:tcPr marL="68580" marR="68580" marT="34290" marB="34290">
                        <a:blipFill>
                          <a:blip r:embed="rId3"/>
                          <a:stretch>
                            <a:fillRect t="-2174" r="-408416" b="-108696"/>
                          </a:stretch>
                        </a:blipFill>
                      </a:tcPr>
                    </a:tc>
                    <a:tc>
                      <a:txBody>
                        <a:bodyPr/>
                        <a:lstStyle/>
                        <a:p>
                          <a:endParaRPr lang="fr-FR"/>
                        </a:p>
                      </a:txBody>
                      <a:tcPr marL="68580" marR="68580" marT="34290" marB="34290">
                        <a:blipFill>
                          <a:blip r:embed="rId3"/>
                          <a:stretch>
                            <a:fillRect l="-144286" t="-2174" r="-489286" b="-108696"/>
                          </a:stretch>
                        </a:blipFill>
                      </a:tcPr>
                    </a:tc>
                    <a:tc>
                      <a:txBody>
                        <a:bodyPr/>
                        <a:lstStyle/>
                        <a:p>
                          <a:endParaRPr lang="fr-FR"/>
                        </a:p>
                      </a:txBody>
                      <a:tcPr marL="68580" marR="68580" marT="34290" marB="34290">
                        <a:blipFill>
                          <a:blip r:embed="rId3"/>
                          <a:stretch>
                            <a:fillRect l="-200000" t="-2174" r="-300585" b="-108696"/>
                          </a:stretch>
                        </a:blipFill>
                      </a:tcPr>
                    </a:tc>
                    <a:tc>
                      <a:txBody>
                        <a:bodyPr/>
                        <a:lstStyle/>
                        <a:p>
                          <a:endParaRPr lang="fr-FR"/>
                        </a:p>
                      </a:txBody>
                      <a:tcPr marL="68580" marR="68580" marT="34290" marB="34290">
                        <a:blipFill>
                          <a:blip r:embed="rId3"/>
                          <a:stretch>
                            <a:fillRect l="-300000" t="-2174" r="-200585" b="-108696"/>
                          </a:stretch>
                        </a:blipFill>
                      </a:tcPr>
                    </a:tc>
                    <a:tc>
                      <a:txBody>
                        <a:bodyPr/>
                        <a:lstStyle/>
                        <a:p>
                          <a:endParaRPr lang="fr-FR"/>
                        </a:p>
                      </a:txBody>
                      <a:tcPr marL="68580" marR="68580" marT="34290" marB="34290">
                        <a:blipFill>
                          <a:blip r:embed="rId3"/>
                          <a:stretch>
                            <a:fillRect l="-400000" t="-2174" r="-100585" b="-108696"/>
                          </a:stretch>
                        </a:blipFill>
                      </a:tcPr>
                    </a:tc>
                    <a:tc>
                      <a:txBody>
                        <a:bodyPr/>
                        <a:lstStyle/>
                        <a:p>
                          <a:endParaRPr lang="fr-FR"/>
                        </a:p>
                      </a:txBody>
                      <a:tcPr marL="68580" marR="68580" marT="34290" marB="34290">
                        <a:blipFill>
                          <a:blip r:embed="rId3"/>
                          <a:stretch>
                            <a:fillRect l="-500000" t="-2174" r="-585" b="-108696"/>
                          </a:stretch>
                        </a:blipFill>
                      </a:tcPr>
                    </a:tc>
                    <a:extLst>
                      <a:ext uri="{0D108BD9-81ED-4DB2-BD59-A6C34878D82A}">
                        <a16:rowId xmlns:a16="http://schemas.microsoft.com/office/drawing/2014/main" val="1634346241"/>
                      </a:ext>
                    </a:extLst>
                  </a:tr>
                  <a:tr h="278130">
                    <a:tc>
                      <a:txBody>
                        <a:bodyPr/>
                        <a:lstStyle/>
                        <a:p>
                          <a:endParaRPr lang="fr-FR"/>
                        </a:p>
                      </a:txBody>
                      <a:tcPr marL="68580" marR="68580" marT="34290" marB="34290">
                        <a:blipFill>
                          <a:blip r:embed="rId3"/>
                          <a:stretch>
                            <a:fillRect t="-102174" r="-408416" b="-8696"/>
                          </a:stretch>
                        </a:blipFill>
                      </a:tcPr>
                    </a:tc>
                    <a:tc>
                      <a:txBody>
                        <a:bodyPr/>
                        <a:lstStyle/>
                        <a:p>
                          <a:pPr algn="ctr"/>
                          <a:r>
                            <a:rPr lang="fr-FR" sz="1200" dirty="0"/>
                            <a:t>enfant</a:t>
                          </a:r>
                        </a:p>
                      </a:txBody>
                      <a:tcPr marL="68580" marR="68580" marT="34290" marB="34290"/>
                    </a:tc>
                    <a:tc>
                      <a:txBody>
                        <a:bodyPr/>
                        <a:lstStyle/>
                        <a:p>
                          <a:pPr algn="ctr"/>
                          <a:r>
                            <a:rPr lang="fr-FR" sz="1200" dirty="0"/>
                            <a:t>jeune</a:t>
                          </a:r>
                        </a:p>
                      </a:txBody>
                      <a:tcPr marL="68580" marR="68580" marT="34290" marB="34290"/>
                    </a:tc>
                    <a:tc>
                      <a:txBody>
                        <a:bodyPr/>
                        <a:lstStyle/>
                        <a:p>
                          <a:pPr algn="ctr"/>
                          <a:r>
                            <a:rPr lang="fr-FR" sz="1200" dirty="0"/>
                            <a:t>Mature</a:t>
                          </a:r>
                        </a:p>
                      </a:txBody>
                      <a:tcPr marL="68580" marR="68580" marT="34290" marB="34290"/>
                    </a:tc>
                    <a:tc>
                      <a:txBody>
                        <a:bodyPr/>
                        <a:lstStyle/>
                        <a:p>
                          <a:pPr algn="ctr"/>
                          <a:r>
                            <a:rPr lang="fr-FR" sz="1200" dirty="0"/>
                            <a:t>…</a:t>
                          </a:r>
                        </a:p>
                      </a:txBody>
                      <a:tcPr marL="68580" marR="68580" marT="34290" marB="34290"/>
                    </a:tc>
                    <a:tc>
                      <a:txBody>
                        <a:bodyPr/>
                        <a:lstStyle/>
                        <a:p>
                          <a:pPr algn="ctr"/>
                          <a:r>
                            <a:rPr lang="fr-FR" sz="1200" dirty="0"/>
                            <a:t>Vieux</a:t>
                          </a:r>
                        </a:p>
                      </a:txBody>
                      <a:tcPr marL="68580" marR="68580" marT="34290" marB="34290"/>
                    </a:tc>
                    <a:extLst>
                      <a:ext uri="{0D108BD9-81ED-4DB2-BD59-A6C34878D82A}">
                        <a16:rowId xmlns:a16="http://schemas.microsoft.com/office/drawing/2014/main" val="965298797"/>
                      </a:ext>
                    </a:extLst>
                  </a:tr>
                </a:tbl>
              </a:graphicData>
            </a:graphic>
          </p:graphicFrame>
        </mc:Fallback>
      </mc:AlternateContent>
    </p:spTree>
    <p:extLst>
      <p:ext uri="{BB962C8B-B14F-4D97-AF65-F5344CB8AC3E}">
        <p14:creationId xmlns:p14="http://schemas.microsoft.com/office/powerpoint/2010/main" val="15594560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2441163"/>
          </a:xfrm>
        </p:spPr>
        <p:txBody>
          <a:bodyPr>
            <a:normAutofit/>
          </a:bodyPr>
          <a:lstStyle/>
          <a:p>
            <a:pPr lvl="1" algn="just">
              <a:lnSpc>
                <a:spcPct val="150000"/>
              </a:lnSpc>
              <a:buClr>
                <a:schemeClr val="accent2"/>
              </a:buClr>
            </a:pPr>
            <a:r>
              <a:rPr lang="fr-FR" sz="1200" dirty="0"/>
              <a:t>Les données résultantes après une standardisation auront une moyenne de 0 et un écart type de 1</a:t>
            </a:r>
          </a:p>
          <a:p>
            <a:pPr lvl="1" algn="just">
              <a:lnSpc>
                <a:spcPct val="150000"/>
              </a:lnSpc>
              <a:buClr>
                <a:schemeClr val="accent2"/>
              </a:buClr>
            </a:pPr>
            <a:r>
              <a:rPr lang="fr-FR" sz="1200" dirty="0"/>
              <a:t>Les données résultantes après une normalisation auront une valeur minimale de 0 et une valeur maximale de 1.</a:t>
            </a:r>
          </a:p>
          <a:p>
            <a:pPr lvl="1" algn="just">
              <a:lnSpc>
                <a:spcPct val="150000"/>
              </a:lnSpc>
              <a:buClr>
                <a:schemeClr val="accent2"/>
              </a:buClr>
            </a:pPr>
            <a:r>
              <a:rPr lang="fr-FR" sz="1200" dirty="0"/>
              <a:t>Il n’y a en réalité aucun changement dans la distribution des données avant et après </a:t>
            </a:r>
            <a:r>
              <a:rPr lang="fr-FR" sz="1200" b="1" dirty="0"/>
              <a:t>feature scaling</a:t>
            </a:r>
            <a:r>
              <a:rPr lang="fr-FR" sz="1200" dirty="0"/>
              <a:t>. Tout ce qui change, c’est l’échelle de mesure.</a:t>
            </a:r>
          </a:p>
          <a:p>
            <a:pPr lvl="1" algn="just">
              <a:lnSpc>
                <a:spcPct val="150000"/>
              </a:lnSpc>
              <a:buClr>
                <a:schemeClr val="accent2"/>
              </a:buClr>
            </a:pPr>
            <a:r>
              <a:rPr lang="fr-FR" sz="1200" dirty="0"/>
              <a:t>Dans certains cas d’usages, la précision du modèle peut significativement augmenter (tout dépendra alors de l’algorithme utilisé).</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53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Feature scaling :</a:t>
            </a:r>
            <a:r>
              <a:rPr lang="fr-FR" sz="2100" b="0" dirty="0"/>
              <a:t> résumé</a:t>
            </a:r>
          </a:p>
        </p:txBody>
      </p:sp>
      <p:pic>
        <p:nvPicPr>
          <p:cNvPr id="3" name="Image 2">
            <a:extLst>
              <a:ext uri="{FF2B5EF4-FFF2-40B4-BE49-F238E27FC236}">
                <a16:creationId xmlns:a16="http://schemas.microsoft.com/office/drawing/2014/main" id="{86BAE0DD-2A21-4E6D-84C3-3A65D211BF49}"/>
              </a:ext>
            </a:extLst>
          </p:cNvPr>
          <p:cNvPicPr>
            <a:picLocks noChangeAspect="1"/>
          </p:cNvPicPr>
          <p:nvPr/>
        </p:nvPicPr>
        <p:blipFill>
          <a:blip r:embed="rId2"/>
          <a:stretch>
            <a:fillRect/>
          </a:stretch>
        </p:blipFill>
        <p:spPr>
          <a:xfrm>
            <a:off x="2929662" y="3806174"/>
            <a:ext cx="3284676" cy="1211018"/>
          </a:xfrm>
          <a:prstGeom prst="rect">
            <a:avLst/>
          </a:prstGeom>
        </p:spPr>
      </p:pic>
    </p:spTree>
    <p:extLst>
      <p:ext uri="{BB962C8B-B14F-4D97-AF65-F5344CB8AC3E}">
        <p14:creationId xmlns:p14="http://schemas.microsoft.com/office/powerpoint/2010/main" val="833512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Valeurs manquantes</a:t>
            </a:r>
          </a:p>
        </p:txBody>
      </p:sp>
    </p:spTree>
    <p:extLst>
      <p:ext uri="{BB962C8B-B14F-4D97-AF65-F5344CB8AC3E}">
        <p14:creationId xmlns:p14="http://schemas.microsoft.com/office/powerpoint/2010/main" val="1009715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fontScale="92500"/>
          </a:bodyPr>
          <a:lstStyle/>
          <a:p>
            <a:pPr lvl="1" algn="just">
              <a:lnSpc>
                <a:spcPct val="150000"/>
              </a:lnSpc>
              <a:buClr>
                <a:schemeClr val="accent2"/>
              </a:buClr>
            </a:pPr>
            <a:r>
              <a:rPr lang="fr-FR" sz="1200" dirty="0"/>
              <a:t>Les données manquantes se produisent lorsque certaines valeurs ne sont pas disponibles ou ne sont pas enregistrées dans votre jeu de données. </a:t>
            </a:r>
          </a:p>
          <a:p>
            <a:pPr lvl="1" algn="just">
              <a:lnSpc>
                <a:spcPct val="150000"/>
              </a:lnSpc>
              <a:buClr>
                <a:schemeClr val="accent2"/>
              </a:buClr>
            </a:pPr>
            <a:r>
              <a:rPr lang="fr-FR" sz="1200" dirty="0"/>
              <a:t>Cela peut se produire pour diverses raisons, telles que des erreurs de saisie de données, des capteurs défectueux ou des participants qui ne fournissent pas d'informations. </a:t>
            </a:r>
          </a:p>
          <a:p>
            <a:pPr lvl="1" algn="just">
              <a:lnSpc>
                <a:spcPct val="150000"/>
              </a:lnSpc>
              <a:buClr>
                <a:schemeClr val="accent2"/>
              </a:buClr>
            </a:pPr>
            <a:r>
              <a:rPr lang="fr-FR" sz="1200" dirty="0"/>
              <a:t>Le fait d'avoir des données manquantes peut entraîner des résultats biaisés ou incorrects lors de la formation d'un modèle d'apprentissage automatique.</a:t>
            </a:r>
          </a:p>
          <a:p>
            <a:pPr lvl="1" algn="just">
              <a:lnSpc>
                <a:spcPct val="150000"/>
              </a:lnSpc>
              <a:buClr>
                <a:schemeClr val="accent2"/>
              </a:buClr>
            </a:pPr>
            <a:r>
              <a:rPr lang="fr-FR" sz="1200" dirty="0"/>
              <a:t>Certains algorithmes ne fonctionnent pas en raison de la présence de données manquantes. Il convient donc, selon les cas, de les supprimer ou de les imputer.</a:t>
            </a:r>
          </a:p>
          <a:p>
            <a:pPr lvl="1" algn="just">
              <a:lnSpc>
                <a:spcPct val="150000"/>
              </a:lnSpc>
              <a:buClr>
                <a:schemeClr val="accent2"/>
              </a:buClr>
            </a:pPr>
            <a:r>
              <a:rPr lang="fr-FR" sz="1200" dirty="0"/>
              <a:t>D’autres algorithmes tels que les arbres de décision et leurs versions ensemblistes (Random Forest, XGBoost, etc.), peuvent accepter les données manquantes sans nécessiter de prétraitement. </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55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Les valeurs manquantes :</a:t>
            </a:r>
            <a:endParaRPr lang="fr-FR" sz="2100" b="0" dirty="0"/>
          </a:p>
        </p:txBody>
      </p:sp>
    </p:spTree>
    <p:extLst>
      <p:ext uri="{BB962C8B-B14F-4D97-AF65-F5344CB8AC3E}">
        <p14:creationId xmlns:p14="http://schemas.microsoft.com/office/powerpoint/2010/main" val="41140597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a:bodyPr>
          <a:lstStyle/>
          <a:p>
            <a:pPr lvl="1" algn="just">
              <a:lnSpc>
                <a:spcPct val="150000"/>
              </a:lnSpc>
              <a:buClr>
                <a:schemeClr val="accent2"/>
              </a:buClr>
            </a:pPr>
            <a:r>
              <a:rPr lang="fr-FR" sz="1200" dirty="0"/>
              <a:t>Une approche simple consiste à supprimer toutes les lignes de votre ensemble de données contenant des valeurs manquantes. </a:t>
            </a:r>
          </a:p>
          <a:p>
            <a:pPr lvl="1" algn="just">
              <a:lnSpc>
                <a:spcPct val="150000"/>
              </a:lnSpc>
              <a:buClr>
                <a:schemeClr val="accent2"/>
              </a:buClr>
            </a:pPr>
            <a:r>
              <a:rPr lang="fr-FR" sz="1200" dirty="0"/>
              <a:t>Cela peut être une stratégie efficace si le nombre de valeurs manquantes est faible et si leur suppression n'a pas d'impact significatif sur l'ensemble des données.</a:t>
            </a:r>
          </a:p>
          <a:p>
            <a:pPr lvl="1" algn="just">
              <a:lnSpc>
                <a:spcPct val="150000"/>
              </a:lnSpc>
              <a:buClr>
                <a:schemeClr val="accent2"/>
              </a:buClr>
            </a:pPr>
            <a:r>
              <a:rPr lang="fr-FR" sz="1200" dirty="0"/>
              <a:t>Cependant, si une grande partie de vos données contient des valeurs manquantes, cette méthode peut entraîner la perte de trop d'informations précieuses.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56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841413" cy="413741"/>
          </a:xfrm>
        </p:spPr>
        <p:txBody>
          <a:bodyPr>
            <a:noAutofit/>
          </a:bodyPr>
          <a:lstStyle/>
          <a:p>
            <a:r>
              <a:rPr lang="fr-FR" sz="2100" dirty="0"/>
              <a:t>Les valeurs manquantes :</a:t>
            </a:r>
            <a:r>
              <a:rPr lang="fr-FR" sz="1800" b="0" dirty="0"/>
              <a:t> supprimer les lignes concernées</a:t>
            </a:r>
            <a:endParaRPr lang="fr-FR" sz="2100" b="0" dirty="0"/>
          </a:p>
        </p:txBody>
      </p:sp>
    </p:spTree>
    <p:extLst>
      <p:ext uri="{BB962C8B-B14F-4D97-AF65-F5344CB8AC3E}">
        <p14:creationId xmlns:p14="http://schemas.microsoft.com/office/powerpoint/2010/main" val="13040382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a:bodyPr>
          <a:lstStyle/>
          <a:p>
            <a:pPr lvl="1" algn="just">
              <a:lnSpc>
                <a:spcPct val="150000"/>
              </a:lnSpc>
              <a:buClr>
                <a:schemeClr val="accent2"/>
              </a:buClr>
            </a:pPr>
            <a:r>
              <a:rPr lang="fr-FR" sz="1200" dirty="0"/>
              <a:t>Une autre approche consiste à remplir les valeurs manquantes avec une valeur constante ou la moyenne, la médiane ou le mode des données disponibles pour cette caractéristique. </a:t>
            </a:r>
          </a:p>
          <a:p>
            <a:pPr lvl="1" algn="just">
              <a:lnSpc>
                <a:spcPct val="150000"/>
              </a:lnSpc>
              <a:buClr>
                <a:schemeClr val="accent2"/>
              </a:buClr>
            </a:pPr>
            <a:r>
              <a:rPr lang="fr-FR" sz="1200" dirty="0"/>
              <a:t>Cette méthode est facile à mettre en œuvre mais ne fournit pas toujours les résultats les plus précis, surtout si les données manquantes ne manquent pas au hasard.</a:t>
            </a:r>
          </a:p>
          <a:p>
            <a:pPr lvl="1" algn="just">
              <a:lnSpc>
                <a:spcPct val="150000"/>
              </a:lnSpc>
              <a:buClr>
                <a:schemeClr val="accent2"/>
              </a:buClr>
            </a:pPr>
            <a:r>
              <a:rPr lang="fr-FR" sz="1200" dirty="0"/>
              <a:t>Attention, n’imputez jamais par une donnée arbitraire.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57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599188" cy="413741"/>
          </a:xfrm>
        </p:spPr>
        <p:txBody>
          <a:bodyPr>
            <a:noAutofit/>
          </a:bodyPr>
          <a:lstStyle/>
          <a:p>
            <a:r>
              <a:rPr lang="fr-FR" sz="2100" dirty="0"/>
              <a:t>Les valeurs manquantes : </a:t>
            </a:r>
            <a:r>
              <a:rPr lang="fr-FR" sz="2100" b="0" dirty="0"/>
              <a:t>imputer par une constante</a:t>
            </a:r>
          </a:p>
        </p:txBody>
      </p:sp>
    </p:spTree>
    <p:extLst>
      <p:ext uri="{BB962C8B-B14F-4D97-AF65-F5344CB8AC3E}">
        <p14:creationId xmlns:p14="http://schemas.microsoft.com/office/powerpoint/2010/main" val="17379849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a:bodyPr>
              <a:lstStyle/>
              <a:p>
                <a:pPr lvl="1" algn="just">
                  <a:lnSpc>
                    <a:spcPct val="150000"/>
                  </a:lnSpc>
                  <a:buClr>
                    <a:schemeClr val="accent2"/>
                  </a:buClr>
                </a:pPr>
                <a:r>
                  <a:rPr lang="fr-FR" sz="1200" dirty="0"/>
                  <a:t>Les méthodes d'imputation sont des techniques plus avancées qui estiment les valeurs manquantes en fonction des relations entre les entités de votre jeu de données. </a:t>
                </a:r>
              </a:p>
              <a:p>
                <a:pPr lvl="1" algn="just">
                  <a:lnSpc>
                    <a:spcPct val="150000"/>
                  </a:lnSpc>
                  <a:buClr>
                    <a:schemeClr val="accent2"/>
                  </a:buClr>
                </a:pPr>
                <a:r>
                  <a:rPr lang="fr-FR" sz="1200" dirty="0"/>
                  <a:t>Une méthode d'imputation populaire est k-Nearest Neighbors (KNN), qui remplit les valeurs manquantes en fonction de la valeur moyenne des </a:t>
                </a:r>
                <a14:m>
                  <m:oMath xmlns:m="http://schemas.openxmlformats.org/officeDocument/2006/math">
                    <m:r>
                      <a:rPr lang="fr-FR" sz="1200" i="1" dirty="0">
                        <a:latin typeface="Cambria Math" panose="02040503050406030204" pitchFamily="18" charset="0"/>
                      </a:rPr>
                      <m:t>𝑘</m:t>
                    </m:r>
                  </m:oMath>
                </a14:m>
                <a:r>
                  <a:rPr lang="fr-FR" sz="1200" dirty="0"/>
                  <a:t> points de données les plus similaires. </a:t>
                </a:r>
              </a:p>
              <a:p>
                <a:pPr lvl="1" algn="just">
                  <a:lnSpc>
                    <a:spcPct val="150000"/>
                  </a:lnSpc>
                  <a:buClr>
                    <a:schemeClr val="accent2"/>
                  </a:buClr>
                </a:pPr>
                <a:r>
                  <a:rPr lang="fr-FR" sz="1200" dirty="0"/>
                  <a:t>Une autre option est l'imputation par la régression, qui estime les valeurs manquantes en ajustant un modèle de régression aux données disponibles.</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2014" cy="3454790"/>
              </a:xfrm>
              <a:blipFill>
                <a:blip r:embed="rId2"/>
                <a:stretch>
                  <a:fillRect r="-155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58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968581" cy="413741"/>
          </a:xfrm>
        </p:spPr>
        <p:txBody>
          <a:bodyPr>
            <a:noAutofit/>
          </a:bodyPr>
          <a:lstStyle/>
          <a:p>
            <a:r>
              <a:rPr lang="fr-FR" sz="2100" dirty="0"/>
              <a:t>Les valeurs manquantes : </a:t>
            </a:r>
            <a:r>
              <a:rPr lang="fr-FR" sz="1800" b="0" dirty="0"/>
              <a:t>autres méthodes d’imputation</a:t>
            </a:r>
            <a:endParaRPr lang="fr-FR" sz="2100" b="0" dirty="0"/>
          </a:p>
        </p:txBody>
      </p:sp>
    </p:spTree>
    <p:extLst>
      <p:ext uri="{BB962C8B-B14F-4D97-AF65-F5344CB8AC3E}">
        <p14:creationId xmlns:p14="http://schemas.microsoft.com/office/powerpoint/2010/main" val="35587215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fontScale="92500"/>
          </a:bodyPr>
          <a:lstStyle/>
          <a:p>
            <a:pPr marL="600075" lvl="1" indent="-257175" algn="just">
              <a:lnSpc>
                <a:spcPct val="150000"/>
              </a:lnSpc>
              <a:buClr>
                <a:schemeClr val="accent2"/>
              </a:buClr>
              <a:buFont typeface="+mj-lt"/>
              <a:buAutoNum type="arabicPeriod"/>
            </a:pPr>
            <a:r>
              <a:rPr lang="fr-FR" sz="1200" dirty="0"/>
              <a:t>Identifiez les entités avec des données manquantes dans votre jeu de données.</a:t>
            </a:r>
          </a:p>
          <a:p>
            <a:pPr marL="600075" lvl="1" indent="-257175" algn="just">
              <a:lnSpc>
                <a:spcPct val="150000"/>
              </a:lnSpc>
              <a:buClr>
                <a:schemeClr val="accent2"/>
              </a:buClr>
              <a:buFont typeface="+mj-lt"/>
              <a:buAutoNum type="arabicPeriod"/>
            </a:pPr>
            <a:r>
              <a:rPr lang="fr-FR" sz="1200" dirty="0"/>
              <a:t>Décidez d'une stratégie pour gérer les données manquantes (par exemple, suppression, remplissage ou imputation).</a:t>
            </a:r>
          </a:p>
          <a:p>
            <a:pPr marL="600075" lvl="1" indent="-257175" algn="just">
              <a:lnSpc>
                <a:spcPct val="150000"/>
              </a:lnSpc>
              <a:buClr>
                <a:schemeClr val="accent2"/>
              </a:buClr>
              <a:buFont typeface="+mj-lt"/>
              <a:buAutoNum type="arabicPeriod"/>
            </a:pPr>
            <a:r>
              <a:rPr lang="fr-FR" sz="1200" dirty="0"/>
              <a:t>Appliquez la stratégie choisie à l'ensemble d'entraînement. Si vous utilisez l'imputation, ajustez l'imputation sur l'ensemble d'apprentissage et enregistrez les paramètres d'imputation.</a:t>
            </a:r>
          </a:p>
          <a:p>
            <a:pPr marL="600075" lvl="1" indent="-257175" algn="just">
              <a:lnSpc>
                <a:spcPct val="150000"/>
              </a:lnSpc>
              <a:buClr>
                <a:schemeClr val="accent2"/>
              </a:buClr>
              <a:buFont typeface="+mj-lt"/>
              <a:buAutoNum type="arabicPeriod"/>
            </a:pPr>
            <a:r>
              <a:rPr lang="fr-FR" sz="1200" dirty="0"/>
              <a:t>Entraînez votre modèle d'apprentissage automatique à l'aide de l'ensemble d'entraînement traité.</a:t>
            </a:r>
          </a:p>
          <a:p>
            <a:pPr marL="600075" lvl="1" indent="-257175" algn="just">
              <a:lnSpc>
                <a:spcPct val="150000"/>
              </a:lnSpc>
              <a:buClr>
                <a:schemeClr val="accent2"/>
              </a:buClr>
              <a:buFont typeface="+mj-lt"/>
              <a:buAutoNum type="arabicPeriod"/>
            </a:pPr>
            <a:r>
              <a:rPr lang="fr-FR" sz="1200" dirty="0"/>
              <a:t>Avant de faire des prédictions avec l'ensemble de test, appliquez la même stratégie pour gérer les données manquantes à l'aide des paramètres de l'ensemble d'apprentissage.</a:t>
            </a:r>
          </a:p>
          <a:p>
            <a:pPr marL="600075" lvl="1" indent="-257175" algn="just">
              <a:lnSpc>
                <a:spcPct val="150000"/>
              </a:lnSpc>
              <a:buClr>
                <a:schemeClr val="accent2"/>
              </a:buClr>
              <a:buFont typeface="+mj-lt"/>
              <a:buAutoNum type="arabicPeriod"/>
            </a:pPr>
            <a:r>
              <a:rPr lang="fr-FR" sz="1200" dirty="0"/>
              <a:t>Évaluez les performances du modèle sur l'ensemble de test traité.</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59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Les valeurs manquantes : </a:t>
            </a:r>
            <a:r>
              <a:rPr lang="fr-FR" sz="1800" b="0" dirty="0"/>
              <a:t>conseils</a:t>
            </a:r>
            <a:endParaRPr lang="fr-FR" sz="2100" b="0" dirty="0"/>
          </a:p>
        </p:txBody>
      </p:sp>
    </p:spTree>
    <p:extLst>
      <p:ext uri="{BB962C8B-B14F-4D97-AF65-F5344CB8AC3E}">
        <p14:creationId xmlns:p14="http://schemas.microsoft.com/office/powerpoint/2010/main" val="22692260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Construction d’un modèle</a:t>
            </a:r>
          </a:p>
        </p:txBody>
      </p:sp>
    </p:spTree>
    <p:extLst>
      <p:ext uri="{BB962C8B-B14F-4D97-AF65-F5344CB8AC3E}">
        <p14:creationId xmlns:p14="http://schemas.microsoft.com/office/powerpoint/2010/main" val="40449029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1777117" y="1391970"/>
            <a:ext cx="4861808" cy="3454790"/>
          </a:xfrm>
        </p:spPr>
        <p:txBody>
          <a:bodyPr>
            <a:normAutofit fontScale="85000" lnSpcReduction="20000"/>
          </a:bodyPr>
          <a:lstStyle/>
          <a:p>
            <a:pPr algn="just">
              <a:lnSpc>
                <a:spcPct val="150000"/>
              </a:lnSpc>
              <a:buClr>
                <a:schemeClr val="accent2"/>
              </a:buClr>
            </a:pPr>
            <a:r>
              <a:rPr lang="fr-FR" sz="1500" b="1" dirty="0"/>
              <a:t>Prétraitement (data pre-processing)</a:t>
            </a:r>
          </a:p>
          <a:p>
            <a:pPr lvl="1" algn="just">
              <a:lnSpc>
                <a:spcPct val="150000"/>
              </a:lnSpc>
              <a:buClr>
                <a:schemeClr val="accent2"/>
              </a:buClr>
            </a:pPr>
            <a:r>
              <a:rPr lang="fr-FR" sz="1200" dirty="0"/>
              <a:t>Importation des données (import)</a:t>
            </a:r>
          </a:p>
          <a:p>
            <a:pPr lvl="1" algn="just">
              <a:lnSpc>
                <a:spcPct val="150000"/>
              </a:lnSpc>
              <a:buClr>
                <a:schemeClr val="accent2"/>
              </a:buClr>
            </a:pPr>
            <a:r>
              <a:rPr lang="fr-FR" sz="1200" dirty="0"/>
              <a:t>Nettoyage des données (data wrangling)</a:t>
            </a:r>
          </a:p>
          <a:p>
            <a:pPr lvl="1" algn="just">
              <a:lnSpc>
                <a:spcPct val="150000"/>
              </a:lnSpc>
              <a:buClr>
                <a:schemeClr val="accent2"/>
              </a:buClr>
            </a:pPr>
            <a:r>
              <a:rPr lang="fr-FR" sz="1200" dirty="0"/>
              <a:t>Imputation des valeurs manquantes (data imputation)</a:t>
            </a:r>
          </a:p>
          <a:p>
            <a:pPr lvl="1" algn="just">
              <a:lnSpc>
                <a:spcPct val="150000"/>
              </a:lnSpc>
              <a:buClr>
                <a:schemeClr val="accent2"/>
              </a:buClr>
            </a:pPr>
            <a:r>
              <a:rPr lang="fr-FR" sz="1200" dirty="0"/>
              <a:t>Séparation en données d’entrainement et de test (split)</a:t>
            </a:r>
          </a:p>
          <a:p>
            <a:pPr algn="just">
              <a:lnSpc>
                <a:spcPct val="150000"/>
              </a:lnSpc>
              <a:buClr>
                <a:schemeClr val="accent2"/>
              </a:buClr>
            </a:pPr>
            <a:r>
              <a:rPr lang="fr-FR" sz="1500" b="1" dirty="0"/>
              <a:t>Modélisation</a:t>
            </a:r>
          </a:p>
          <a:p>
            <a:pPr lvl="1" algn="just">
              <a:lnSpc>
                <a:spcPct val="150000"/>
              </a:lnSpc>
              <a:buClr>
                <a:schemeClr val="accent2"/>
              </a:buClr>
            </a:pPr>
            <a:r>
              <a:rPr lang="fr-FR" sz="1200" dirty="0"/>
              <a:t>Construction du modèle</a:t>
            </a:r>
          </a:p>
          <a:p>
            <a:pPr lvl="1" algn="just">
              <a:lnSpc>
                <a:spcPct val="150000"/>
              </a:lnSpc>
              <a:buClr>
                <a:schemeClr val="accent2"/>
              </a:buClr>
            </a:pPr>
            <a:r>
              <a:rPr lang="fr-FR" sz="1200" dirty="0"/>
              <a:t>Entrainement du modèle</a:t>
            </a:r>
          </a:p>
          <a:p>
            <a:pPr lvl="1" algn="just">
              <a:lnSpc>
                <a:spcPct val="150000"/>
              </a:lnSpc>
              <a:buClr>
                <a:schemeClr val="accent2"/>
              </a:buClr>
            </a:pPr>
            <a:r>
              <a:rPr lang="fr-FR" sz="1200" dirty="0"/>
              <a:t>Prédictions</a:t>
            </a:r>
          </a:p>
          <a:p>
            <a:pPr algn="just">
              <a:lnSpc>
                <a:spcPct val="150000"/>
              </a:lnSpc>
              <a:buClr>
                <a:schemeClr val="accent2"/>
              </a:buClr>
            </a:pPr>
            <a:r>
              <a:rPr lang="fr-FR" sz="1500" b="1" dirty="0"/>
              <a:t>Evaluation</a:t>
            </a:r>
          </a:p>
          <a:p>
            <a:pPr lvl="1" algn="just">
              <a:lnSpc>
                <a:spcPct val="150000"/>
              </a:lnSpc>
              <a:buClr>
                <a:schemeClr val="accent2"/>
              </a:buClr>
            </a:pPr>
            <a:r>
              <a:rPr lang="fr-FR" sz="1200" dirty="0"/>
              <a:t>Métriques de performances</a:t>
            </a:r>
          </a:p>
          <a:p>
            <a:pPr lvl="1" algn="just">
              <a:lnSpc>
                <a:spcPct val="150000"/>
              </a:lnSpc>
              <a:buClr>
                <a:schemeClr val="accent2"/>
              </a:buClr>
            </a:pPr>
            <a:r>
              <a:rPr lang="fr-FR" sz="1200" dirty="0"/>
              <a:t>Avis sur les métriques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61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Construction d’un modèle</a:t>
            </a:r>
            <a:endParaRPr lang="fr-FR" sz="2100" b="0" dirty="0"/>
          </a:p>
        </p:txBody>
      </p:sp>
      <p:grpSp>
        <p:nvGrpSpPr>
          <p:cNvPr id="5" name="Google Shape;9723;p99">
            <a:extLst>
              <a:ext uri="{FF2B5EF4-FFF2-40B4-BE49-F238E27FC236}">
                <a16:creationId xmlns:a16="http://schemas.microsoft.com/office/drawing/2014/main" id="{3DCC6E03-50D1-49F9-9DD5-516BD834E636}"/>
              </a:ext>
            </a:extLst>
          </p:cNvPr>
          <p:cNvGrpSpPr/>
          <p:nvPr/>
        </p:nvGrpSpPr>
        <p:grpSpPr>
          <a:xfrm>
            <a:off x="1134802" y="1363597"/>
            <a:ext cx="369720" cy="369360"/>
            <a:chOff x="2497320" y="2744280"/>
            <a:chExt cx="369720" cy="369360"/>
          </a:xfrm>
        </p:grpSpPr>
        <p:sp>
          <p:nvSpPr>
            <p:cNvPr id="6" name="Google Shape;9724;p99">
              <a:extLst>
                <a:ext uri="{FF2B5EF4-FFF2-40B4-BE49-F238E27FC236}">
                  <a16:creationId xmlns:a16="http://schemas.microsoft.com/office/drawing/2014/main" id="{3CA9C9CE-BC80-4002-9AA5-B13C6F8E8DEA}"/>
                </a:ext>
              </a:extLst>
            </p:cNvPr>
            <p:cNvSpPr/>
            <p:nvPr/>
          </p:nvSpPr>
          <p:spPr>
            <a:xfrm>
              <a:off x="2497320" y="2744280"/>
              <a:ext cx="283320" cy="283680"/>
            </a:xfrm>
            <a:custGeom>
              <a:avLst/>
              <a:gdLst/>
              <a:ahLst/>
              <a:cxnLst/>
              <a:rect l="l" t="t" r="r" b="b"/>
              <a:pathLst>
                <a:path w="8955" h="8967">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rgbClr val="657E93"/>
            </a:solidFill>
            <a:ln w="0">
              <a:noFill/>
            </a:ln>
          </p:spPr>
          <p:style>
            <a:lnRef idx="0">
              <a:scrgbClr r="0" g="0" b="0"/>
            </a:lnRef>
            <a:fillRef idx="0">
              <a:scrgbClr r="0" g="0" b="0"/>
            </a:fillRef>
            <a:effectRef idx="0">
              <a:scrgbClr r="0" g="0" b="0"/>
            </a:effectRef>
            <a:fontRef idx="minor"/>
          </p:style>
        </p:sp>
        <p:sp>
          <p:nvSpPr>
            <p:cNvPr id="7" name="Google Shape;9725;p99">
              <a:extLst>
                <a:ext uri="{FF2B5EF4-FFF2-40B4-BE49-F238E27FC236}">
                  <a16:creationId xmlns:a16="http://schemas.microsoft.com/office/drawing/2014/main" id="{C432CDEC-BEB6-4CA8-A043-7276E8BA6B46}"/>
                </a:ext>
              </a:extLst>
            </p:cNvPr>
            <p:cNvSpPr/>
            <p:nvPr/>
          </p:nvSpPr>
          <p:spPr>
            <a:xfrm>
              <a:off x="2592360" y="2821680"/>
              <a:ext cx="112320" cy="97200"/>
            </a:xfrm>
            <a:custGeom>
              <a:avLst/>
              <a:gdLst/>
              <a:ahLst/>
              <a:cxnLst/>
              <a:rect l="l" t="t" r="r" b="b"/>
              <a:pathLst>
                <a:path w="3573" h="3097">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rgbClr val="657E93"/>
            </a:solidFill>
            <a:ln w="0">
              <a:noFill/>
            </a:ln>
          </p:spPr>
          <p:style>
            <a:lnRef idx="0">
              <a:scrgbClr r="0" g="0" b="0"/>
            </a:lnRef>
            <a:fillRef idx="0">
              <a:scrgbClr r="0" g="0" b="0"/>
            </a:fillRef>
            <a:effectRef idx="0">
              <a:scrgbClr r="0" g="0" b="0"/>
            </a:effectRef>
            <a:fontRef idx="minor"/>
          </p:style>
        </p:sp>
        <p:sp>
          <p:nvSpPr>
            <p:cNvPr id="8" name="Google Shape;9726;p99">
              <a:extLst>
                <a:ext uri="{FF2B5EF4-FFF2-40B4-BE49-F238E27FC236}">
                  <a16:creationId xmlns:a16="http://schemas.microsoft.com/office/drawing/2014/main" id="{95D782D7-1363-41B5-AEFE-F4A9CED18E93}"/>
                </a:ext>
              </a:extLst>
            </p:cNvPr>
            <p:cNvSpPr/>
            <p:nvPr/>
          </p:nvSpPr>
          <p:spPr>
            <a:xfrm>
              <a:off x="2574360" y="2862000"/>
              <a:ext cx="105480" cy="89640"/>
            </a:xfrm>
            <a:custGeom>
              <a:avLst/>
              <a:gdLst/>
              <a:ahLst/>
              <a:cxnLst/>
              <a:rect l="l" t="t" r="r" b="b"/>
              <a:pathLst>
                <a:path w="3359" h="2858">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rgbClr val="657E93"/>
            </a:solidFill>
            <a:ln w="0">
              <a:noFill/>
            </a:ln>
          </p:spPr>
          <p:style>
            <a:lnRef idx="0">
              <a:scrgbClr r="0" g="0" b="0"/>
            </a:lnRef>
            <a:fillRef idx="0">
              <a:scrgbClr r="0" g="0" b="0"/>
            </a:fillRef>
            <a:effectRef idx="0">
              <a:scrgbClr r="0" g="0" b="0"/>
            </a:effectRef>
            <a:fontRef idx="minor"/>
          </p:style>
        </p:sp>
        <p:sp>
          <p:nvSpPr>
            <p:cNvPr id="9" name="Google Shape;9727;p99">
              <a:extLst>
                <a:ext uri="{FF2B5EF4-FFF2-40B4-BE49-F238E27FC236}">
                  <a16:creationId xmlns:a16="http://schemas.microsoft.com/office/drawing/2014/main" id="{7EC242A8-0686-4EE2-B976-10974368D2C4}"/>
                </a:ext>
              </a:extLst>
            </p:cNvPr>
            <p:cNvSpPr/>
            <p:nvPr/>
          </p:nvSpPr>
          <p:spPr>
            <a:xfrm>
              <a:off x="2676960" y="2923560"/>
              <a:ext cx="190080" cy="190080"/>
            </a:xfrm>
            <a:custGeom>
              <a:avLst/>
              <a:gdLst/>
              <a:ahLst/>
              <a:cxnLst/>
              <a:rect l="l" t="t" r="r" b="b"/>
              <a:pathLst>
                <a:path w="6025" h="6025">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rgbClr val="657E93"/>
            </a:solidFill>
            <a:ln w="0">
              <a:noFill/>
            </a:ln>
          </p:spPr>
          <p:style>
            <a:lnRef idx="0">
              <a:scrgbClr r="0" g="0" b="0"/>
            </a:lnRef>
            <a:fillRef idx="0">
              <a:scrgbClr r="0" g="0" b="0"/>
            </a:fillRef>
            <a:effectRef idx="0">
              <a:scrgbClr r="0" g="0" b="0"/>
            </a:effectRef>
            <a:fontRef idx="minor"/>
          </p:style>
        </p:sp>
        <p:sp>
          <p:nvSpPr>
            <p:cNvPr id="10" name="Google Shape;9728;p99">
              <a:extLst>
                <a:ext uri="{FF2B5EF4-FFF2-40B4-BE49-F238E27FC236}">
                  <a16:creationId xmlns:a16="http://schemas.microsoft.com/office/drawing/2014/main" id="{475D45E5-E586-462F-87A7-0793F9B9F4F6}"/>
                </a:ext>
              </a:extLst>
            </p:cNvPr>
            <p:cNvSpPr/>
            <p:nvPr/>
          </p:nvSpPr>
          <p:spPr>
            <a:xfrm>
              <a:off x="2738880" y="2986920"/>
              <a:ext cx="64080" cy="64080"/>
            </a:xfrm>
            <a:custGeom>
              <a:avLst/>
              <a:gdLst/>
              <a:ahLst/>
              <a:cxnLst/>
              <a:rect l="l" t="t" r="r" b="b"/>
              <a:pathLst>
                <a:path w="2049" h="2049">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rgbClr val="657E93"/>
            </a:solidFill>
            <a:ln w="0">
              <a:noFill/>
            </a:ln>
          </p:spPr>
          <p:style>
            <a:lnRef idx="0">
              <a:scrgbClr r="0" g="0" b="0"/>
            </a:lnRef>
            <a:fillRef idx="0">
              <a:scrgbClr r="0" g="0" b="0"/>
            </a:fillRef>
            <a:effectRef idx="0">
              <a:scrgbClr r="0" g="0" b="0"/>
            </a:effectRef>
            <a:fontRef idx="minor"/>
          </p:style>
        </p:sp>
        <p:sp>
          <p:nvSpPr>
            <p:cNvPr id="11" name="Google Shape;9729;p99">
              <a:extLst>
                <a:ext uri="{FF2B5EF4-FFF2-40B4-BE49-F238E27FC236}">
                  <a16:creationId xmlns:a16="http://schemas.microsoft.com/office/drawing/2014/main" id="{D74B557D-83AA-486B-8F4F-734F8552C610}"/>
                </a:ext>
              </a:extLst>
            </p:cNvPr>
            <p:cNvSpPr/>
            <p:nvPr/>
          </p:nvSpPr>
          <p:spPr>
            <a:xfrm>
              <a:off x="2604600" y="2851920"/>
              <a:ext cx="69480" cy="70200"/>
            </a:xfrm>
            <a:custGeom>
              <a:avLst/>
              <a:gdLst/>
              <a:ahLst/>
              <a:cxnLst/>
              <a:rect l="l" t="t" r="r" b="b"/>
              <a:pathLst>
                <a:path w="2227" h="224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rgbClr val="657E93"/>
            </a:solidFill>
            <a:ln w="0">
              <a:noFill/>
            </a:ln>
          </p:spPr>
          <p:style>
            <a:lnRef idx="0">
              <a:scrgbClr r="0" g="0" b="0"/>
            </a:lnRef>
            <a:fillRef idx="0">
              <a:scrgbClr r="0" g="0" b="0"/>
            </a:fillRef>
            <a:effectRef idx="0">
              <a:scrgbClr r="0" g="0" b="0"/>
            </a:effectRef>
            <a:fontRef idx="minor"/>
          </p:style>
        </p:sp>
      </p:grpSp>
      <p:grpSp>
        <p:nvGrpSpPr>
          <p:cNvPr id="12" name="Google Shape;9886;p99">
            <a:extLst>
              <a:ext uri="{FF2B5EF4-FFF2-40B4-BE49-F238E27FC236}">
                <a16:creationId xmlns:a16="http://schemas.microsoft.com/office/drawing/2014/main" id="{0BB13B6A-E3BB-4DFA-91F1-81EC2DF2C667}"/>
              </a:ext>
            </a:extLst>
          </p:cNvPr>
          <p:cNvGrpSpPr/>
          <p:nvPr/>
        </p:nvGrpSpPr>
        <p:grpSpPr>
          <a:xfrm>
            <a:off x="1211842" y="4008973"/>
            <a:ext cx="355320" cy="264240"/>
            <a:chOff x="5216400" y="3725640"/>
            <a:chExt cx="355320" cy="264240"/>
          </a:xfrm>
        </p:grpSpPr>
        <p:sp>
          <p:nvSpPr>
            <p:cNvPr id="13" name="Google Shape;9887;p99">
              <a:extLst>
                <a:ext uri="{FF2B5EF4-FFF2-40B4-BE49-F238E27FC236}">
                  <a16:creationId xmlns:a16="http://schemas.microsoft.com/office/drawing/2014/main" id="{5FDF7633-CF68-4F19-B256-F9126443DC60}"/>
                </a:ext>
              </a:extLst>
            </p:cNvPr>
            <p:cNvSpPr/>
            <p:nvPr/>
          </p:nvSpPr>
          <p:spPr>
            <a:xfrm>
              <a:off x="5216400" y="3814200"/>
              <a:ext cx="295560" cy="175680"/>
            </a:xfrm>
            <a:custGeom>
              <a:avLst/>
              <a:gdLst/>
              <a:ahLst/>
              <a:cxnLst/>
              <a:rect l="l" t="t" r="r" b="b"/>
              <a:pathLst>
                <a:path w="9336" h="5567">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w="0">
              <a:noFill/>
            </a:ln>
          </p:spPr>
          <p:style>
            <a:lnRef idx="0">
              <a:scrgbClr r="0" g="0" b="0"/>
            </a:lnRef>
            <a:fillRef idx="0">
              <a:scrgbClr r="0" g="0" b="0"/>
            </a:fillRef>
            <a:effectRef idx="0">
              <a:scrgbClr r="0" g="0" b="0"/>
            </a:effectRef>
            <a:fontRef idx="minor"/>
          </p:style>
        </p:sp>
        <p:sp>
          <p:nvSpPr>
            <p:cNvPr id="15" name="Google Shape;9888;p99">
              <a:extLst>
                <a:ext uri="{FF2B5EF4-FFF2-40B4-BE49-F238E27FC236}">
                  <a16:creationId xmlns:a16="http://schemas.microsoft.com/office/drawing/2014/main" id="{133804A8-218F-43F5-BE18-D935A84D3723}"/>
                </a:ext>
              </a:extLst>
            </p:cNvPr>
            <p:cNvSpPr/>
            <p:nvPr/>
          </p:nvSpPr>
          <p:spPr>
            <a:xfrm>
              <a:off x="5304960" y="3725640"/>
              <a:ext cx="266760" cy="169560"/>
            </a:xfrm>
            <a:custGeom>
              <a:avLst/>
              <a:gdLst/>
              <a:ahLst/>
              <a:cxnLst/>
              <a:rect l="l" t="t" r="r" b="b"/>
              <a:pathLst>
                <a:path w="8431" h="5376">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w="0">
              <a:noFill/>
            </a:ln>
          </p:spPr>
          <p:style>
            <a:lnRef idx="0">
              <a:scrgbClr r="0" g="0" b="0"/>
            </a:lnRef>
            <a:fillRef idx="0">
              <a:scrgbClr r="0" g="0" b="0"/>
            </a:fillRef>
            <a:effectRef idx="0">
              <a:scrgbClr r="0" g="0" b="0"/>
            </a:effectRef>
            <a:fontRef idx="minor"/>
          </p:style>
        </p:sp>
      </p:grpSp>
      <p:grpSp>
        <p:nvGrpSpPr>
          <p:cNvPr id="16" name="Google Shape;9949;p99">
            <a:extLst>
              <a:ext uri="{FF2B5EF4-FFF2-40B4-BE49-F238E27FC236}">
                <a16:creationId xmlns:a16="http://schemas.microsoft.com/office/drawing/2014/main" id="{386703E8-442B-46E5-A599-4BEDCBFC9453}"/>
              </a:ext>
            </a:extLst>
          </p:cNvPr>
          <p:cNvGrpSpPr/>
          <p:nvPr/>
        </p:nvGrpSpPr>
        <p:grpSpPr>
          <a:xfrm>
            <a:off x="1099162" y="2746405"/>
            <a:ext cx="373680" cy="372960"/>
            <a:chOff x="1421640" y="4125600"/>
            <a:chExt cx="373680" cy="372960"/>
          </a:xfrm>
        </p:grpSpPr>
        <p:sp>
          <p:nvSpPr>
            <p:cNvPr id="17" name="Google Shape;9950;p99">
              <a:extLst>
                <a:ext uri="{FF2B5EF4-FFF2-40B4-BE49-F238E27FC236}">
                  <a16:creationId xmlns:a16="http://schemas.microsoft.com/office/drawing/2014/main" id="{A5337FF7-9EE9-443F-A4AF-9BE84274D0E5}"/>
                </a:ext>
              </a:extLst>
            </p:cNvPr>
            <p:cNvSpPr/>
            <p:nvPr/>
          </p:nvSpPr>
          <p:spPr>
            <a:xfrm>
              <a:off x="1421640" y="4266000"/>
              <a:ext cx="373680" cy="232560"/>
            </a:xfrm>
            <a:custGeom>
              <a:avLst/>
              <a:gdLst/>
              <a:ahLst/>
              <a:cxnLst/>
              <a:rect l="l" t="t" r="r" b="b"/>
              <a:pathLst>
                <a:path w="11800" h="7359">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solidFill>
              <a:srgbClr val="657E93"/>
            </a:solidFill>
            <a:ln w="0">
              <a:noFill/>
            </a:ln>
          </p:spPr>
          <p:style>
            <a:lnRef idx="0">
              <a:scrgbClr r="0" g="0" b="0"/>
            </a:lnRef>
            <a:fillRef idx="0">
              <a:scrgbClr r="0" g="0" b="0"/>
            </a:fillRef>
            <a:effectRef idx="0">
              <a:scrgbClr r="0" g="0" b="0"/>
            </a:effectRef>
            <a:fontRef idx="minor"/>
          </p:style>
        </p:sp>
        <p:sp>
          <p:nvSpPr>
            <p:cNvPr id="18" name="Google Shape;9951;p99">
              <a:extLst>
                <a:ext uri="{FF2B5EF4-FFF2-40B4-BE49-F238E27FC236}">
                  <a16:creationId xmlns:a16="http://schemas.microsoft.com/office/drawing/2014/main" id="{A09008CB-857B-4961-AB64-4E7BD8A05DDB}"/>
                </a:ext>
              </a:extLst>
            </p:cNvPr>
            <p:cNvSpPr/>
            <p:nvPr/>
          </p:nvSpPr>
          <p:spPr>
            <a:xfrm>
              <a:off x="1428120" y="4125600"/>
              <a:ext cx="356040" cy="214560"/>
            </a:xfrm>
            <a:custGeom>
              <a:avLst/>
              <a:gdLst/>
              <a:ahLst/>
              <a:cxnLst/>
              <a:rect l="l" t="t" r="r" b="b"/>
              <a:pathLst>
                <a:path w="11241" h="6789">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solidFill>
              <a:srgbClr val="657E93"/>
            </a:solidFill>
            <a:ln w="0">
              <a:noFill/>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2184818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Evaluation d’un modèle</a:t>
            </a:r>
          </a:p>
        </p:txBody>
      </p:sp>
    </p:spTree>
    <p:extLst>
      <p:ext uri="{BB962C8B-B14F-4D97-AF65-F5344CB8AC3E}">
        <p14:creationId xmlns:p14="http://schemas.microsoft.com/office/powerpoint/2010/main" val="29789517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a:bodyPr>
          <a:lstStyle/>
          <a:p>
            <a:pPr lvl="1" algn="just">
              <a:lnSpc>
                <a:spcPct val="150000"/>
              </a:lnSpc>
              <a:buClr>
                <a:schemeClr val="accent2"/>
              </a:buClr>
            </a:pPr>
            <a:r>
              <a:rPr lang="fr-FR" sz="1200" dirty="0"/>
              <a:t>L'évaluation du modèle est le processus d'évaluation des performances d’un algorithme d'apprentissage automatique sur des données qu’il n’a jamais vu auparavant. </a:t>
            </a:r>
          </a:p>
          <a:p>
            <a:pPr lvl="1" algn="just">
              <a:lnSpc>
                <a:spcPct val="150000"/>
              </a:lnSpc>
              <a:buClr>
                <a:schemeClr val="accent2"/>
              </a:buClr>
            </a:pPr>
            <a:r>
              <a:rPr lang="fr-FR" sz="1200" dirty="0"/>
              <a:t>Il vous aide à déterminer si le modèle se généralise bien et peut faire des prédictions précises sur de nouveaux points de données. </a:t>
            </a:r>
          </a:p>
          <a:p>
            <a:pPr lvl="1" algn="just">
              <a:lnSpc>
                <a:spcPct val="150000"/>
              </a:lnSpc>
              <a:buClr>
                <a:schemeClr val="accent2"/>
              </a:buClr>
            </a:pPr>
            <a:r>
              <a:rPr lang="fr-FR" sz="1200" dirty="0"/>
              <a:t>Il existe différentes métriques et techniques pour évaluer les modèles, selon le type de problème que vous résolvez (classification, régression, etc.).</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63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Évaluation d’un modèle</a:t>
            </a:r>
            <a:endParaRPr lang="fr-FR" sz="2100" b="0" dirty="0"/>
          </a:p>
        </p:txBody>
      </p:sp>
    </p:spTree>
    <p:extLst>
      <p:ext uri="{BB962C8B-B14F-4D97-AF65-F5344CB8AC3E}">
        <p14:creationId xmlns:p14="http://schemas.microsoft.com/office/powerpoint/2010/main" val="397026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a:bodyPr>
              <a:lstStyle/>
              <a:p>
                <a:pPr lvl="1" algn="just">
                  <a:lnSpc>
                    <a:spcPct val="150000"/>
                  </a:lnSpc>
                  <a:buClr>
                    <a:schemeClr val="accent2"/>
                  </a:buClr>
                </a:pPr>
                <a14:m>
                  <m:oMath xmlns:m="http://schemas.openxmlformats.org/officeDocument/2006/math">
                    <m:r>
                      <a:rPr lang="fr-FR" sz="1200" b="1" i="1" dirty="0">
                        <a:latin typeface="Cambria Math" panose="02040503050406030204" pitchFamily="18" charset="0"/>
                      </a:rPr>
                      <m:t>𝑨𝒄𝒄𝒖𝒓𝒂𝒄𝒚</m:t>
                    </m:r>
                    <m:r>
                      <a:rPr lang="fr-FR" sz="1200" b="1" i="1" dirty="0">
                        <a:latin typeface="Cambria Math" panose="02040503050406030204" pitchFamily="18" charset="0"/>
                      </a:rPr>
                      <m:t> : </m:t>
                    </m:r>
                  </m:oMath>
                </a14:m>
                <a:r>
                  <a:rPr lang="fr-FR" sz="1200" dirty="0"/>
                  <a:t>la proportion d'instances correctement classées par rapport au nombre total d'instances.</a:t>
                </a:r>
              </a:p>
              <a:p>
                <a:pPr lvl="1" algn="just">
                  <a:lnSpc>
                    <a:spcPct val="150000"/>
                  </a:lnSpc>
                  <a:buClr>
                    <a:schemeClr val="accent2"/>
                  </a:buClr>
                </a:pPr>
                <a14:m>
                  <m:oMath xmlns:m="http://schemas.openxmlformats.org/officeDocument/2006/math">
                    <m:r>
                      <a:rPr lang="fr-FR" sz="1200" b="1" i="1" dirty="0">
                        <a:latin typeface="Cambria Math" panose="02040503050406030204" pitchFamily="18" charset="0"/>
                      </a:rPr>
                      <m:t>𝑷𝒓</m:t>
                    </m:r>
                    <m:r>
                      <a:rPr lang="fr-FR" sz="1200" b="1" i="1" dirty="0">
                        <a:latin typeface="Cambria Math" panose="02040503050406030204" pitchFamily="18" charset="0"/>
                      </a:rPr>
                      <m:t>é</m:t>
                    </m:r>
                    <m:r>
                      <a:rPr lang="fr-FR" sz="1200" b="1" i="1" dirty="0">
                        <a:latin typeface="Cambria Math" panose="02040503050406030204" pitchFamily="18" charset="0"/>
                      </a:rPr>
                      <m:t>𝒄𝒊𝒔𝒊𝒐𝒏</m:t>
                    </m:r>
                    <m:r>
                      <a:rPr lang="fr-FR" sz="1200" b="1" i="1" dirty="0">
                        <a:latin typeface="Cambria Math" panose="02040503050406030204" pitchFamily="18" charset="0"/>
                      </a:rPr>
                      <m:t> : </m:t>
                    </m:r>
                  </m:oMath>
                </a14:m>
                <a:r>
                  <a:rPr lang="fr-FR" sz="1200" dirty="0"/>
                  <a:t>La proportion de vrais positifs par rapport au total des positifs prédits.</a:t>
                </a:r>
              </a:p>
              <a:p>
                <a:pPr lvl="1" algn="just">
                  <a:lnSpc>
                    <a:spcPct val="150000"/>
                  </a:lnSpc>
                  <a:buClr>
                    <a:schemeClr val="accent2"/>
                  </a:buClr>
                </a:pPr>
                <a14:m>
                  <m:oMath xmlns:m="http://schemas.openxmlformats.org/officeDocument/2006/math">
                    <m:r>
                      <a:rPr lang="fr-FR" sz="1200" b="1" i="1" dirty="0">
                        <a:latin typeface="Cambria Math" panose="02040503050406030204" pitchFamily="18" charset="0"/>
                      </a:rPr>
                      <m:t>𝑹𝒂𝒑𝒑𝒆𝒍</m:t>
                    </m:r>
                    <m:r>
                      <a:rPr lang="fr-FR" sz="1200" b="1" i="1" dirty="0">
                        <a:latin typeface="Cambria Math" panose="02040503050406030204" pitchFamily="18" charset="0"/>
                      </a:rPr>
                      <m:t> (</m:t>
                    </m:r>
                    <m:r>
                      <a:rPr lang="fr-FR" sz="1200" b="1" i="1" dirty="0">
                        <a:latin typeface="Cambria Math" panose="02040503050406030204" pitchFamily="18" charset="0"/>
                      </a:rPr>
                      <m:t>𝒔𝒆𝒏𝒔𝒊𝒃𝒊𝒍𝒊𝒕</m:t>
                    </m:r>
                    <m:r>
                      <a:rPr lang="fr-FR" sz="1200" b="1" i="1" dirty="0">
                        <a:latin typeface="Cambria Math" panose="02040503050406030204" pitchFamily="18" charset="0"/>
                      </a:rPr>
                      <m:t>é) : </m:t>
                    </m:r>
                  </m:oMath>
                </a14:m>
                <a:r>
                  <a:rPr lang="fr-FR" sz="1200" dirty="0"/>
                  <a:t>La proportion de vrais positifs par rapport au total des positifs réels.</a:t>
                </a:r>
              </a:p>
              <a:p>
                <a:pPr lvl="1" algn="just">
                  <a:lnSpc>
                    <a:spcPct val="150000"/>
                  </a:lnSpc>
                  <a:buClr>
                    <a:schemeClr val="accent2"/>
                  </a:buClr>
                </a:pPr>
                <a14:m>
                  <m:oMath xmlns:m="http://schemas.openxmlformats.org/officeDocument/2006/math">
                    <m:r>
                      <a:rPr lang="fr-FR" sz="1200" b="1" i="1" dirty="0">
                        <a:latin typeface="Cambria Math" panose="02040503050406030204" pitchFamily="18" charset="0"/>
                      </a:rPr>
                      <m:t>𝑺𝒄𝒐𝒓𝒆</m:t>
                    </m:r>
                    <m:r>
                      <a:rPr lang="fr-FR" sz="1200" b="1" i="1" dirty="0">
                        <a:latin typeface="Cambria Math" panose="02040503050406030204" pitchFamily="18" charset="0"/>
                      </a:rPr>
                      <m:t> </m:t>
                    </m:r>
                    <m:r>
                      <a:rPr lang="fr-FR" sz="1200" b="1" i="1" dirty="0">
                        <a:latin typeface="Cambria Math" panose="02040503050406030204" pitchFamily="18" charset="0"/>
                      </a:rPr>
                      <m:t>𝑭</m:t>
                    </m:r>
                    <m:r>
                      <a:rPr lang="fr-FR" sz="1200" b="1" i="1" dirty="0">
                        <a:latin typeface="Cambria Math" panose="02040503050406030204" pitchFamily="18" charset="0"/>
                      </a:rPr>
                      <m:t>𝟏</m:t>
                    </m:r>
                    <m:r>
                      <a:rPr lang="fr-FR" sz="1200" b="1" i="1" dirty="0">
                        <a:latin typeface="Cambria Math" panose="02040503050406030204" pitchFamily="18" charset="0"/>
                      </a:rPr>
                      <m:t> : </m:t>
                    </m:r>
                  </m:oMath>
                </a14:m>
                <a:r>
                  <a:rPr lang="fr-FR" sz="1200" dirty="0"/>
                  <a:t>La moyenne harmonique de la précision et du rappel, fournissant un équilibre entre les deux.</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2014" cy="3454790"/>
              </a:xfrm>
              <a:blipFill>
                <a:blip r:embed="rId2"/>
                <a:stretch>
                  <a:fillRect r="-155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64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671856" cy="413741"/>
          </a:xfrm>
        </p:spPr>
        <p:txBody>
          <a:bodyPr>
            <a:noAutofit/>
          </a:bodyPr>
          <a:lstStyle/>
          <a:p>
            <a:r>
              <a:rPr lang="fr-FR" sz="2100" dirty="0"/>
              <a:t>Évaluation d’un modèle : </a:t>
            </a:r>
            <a:r>
              <a:rPr lang="fr-FR" sz="2100" b="0" dirty="0"/>
              <a:t>métriques de classification</a:t>
            </a:r>
          </a:p>
        </p:txBody>
      </p:sp>
    </p:spTree>
    <p:extLst>
      <p:ext uri="{BB962C8B-B14F-4D97-AF65-F5344CB8AC3E}">
        <p14:creationId xmlns:p14="http://schemas.microsoft.com/office/powerpoint/2010/main" val="34996402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a:bodyPr>
              <a:lstStyle/>
              <a:p>
                <a:pPr lvl="1" algn="just">
                  <a:lnSpc>
                    <a:spcPct val="150000"/>
                  </a:lnSpc>
                  <a:buClr>
                    <a:schemeClr val="accent2"/>
                  </a:buClr>
                </a:pPr>
                <a14:m>
                  <m:oMath xmlns:m="http://schemas.openxmlformats.org/officeDocument/2006/math">
                    <m:r>
                      <a:rPr lang="fr-FR" sz="1200" b="1" i="1" dirty="0">
                        <a:latin typeface="Cambria Math" panose="02040503050406030204" pitchFamily="18" charset="0"/>
                      </a:rPr>
                      <m:t>𝑬𝒓𝒓𝒆𝒖𝒓</m:t>
                    </m:r>
                    <m:r>
                      <a:rPr lang="fr-FR" sz="1200" b="1" i="1" dirty="0">
                        <a:latin typeface="Cambria Math" panose="02040503050406030204" pitchFamily="18" charset="0"/>
                      </a:rPr>
                      <m:t> </m:t>
                    </m:r>
                    <m:r>
                      <a:rPr lang="fr-FR" sz="1200" b="1" i="1" dirty="0">
                        <a:latin typeface="Cambria Math" panose="02040503050406030204" pitchFamily="18" charset="0"/>
                      </a:rPr>
                      <m:t>𝒂𝒃𝒔𝒐𝒍𝒖𝒆</m:t>
                    </m:r>
                    <m:r>
                      <a:rPr lang="fr-FR" sz="1200" b="1" i="1" dirty="0">
                        <a:latin typeface="Cambria Math" panose="02040503050406030204" pitchFamily="18" charset="0"/>
                      </a:rPr>
                      <m:t> </m:t>
                    </m:r>
                    <m:r>
                      <a:rPr lang="fr-FR" sz="1200" b="1" i="1" dirty="0">
                        <a:latin typeface="Cambria Math" panose="02040503050406030204" pitchFamily="18" charset="0"/>
                      </a:rPr>
                      <m:t>𝒎𝒐𝒚𝒆𝒏𝒏𝒆</m:t>
                    </m:r>
                    <m:r>
                      <a:rPr lang="fr-FR" sz="1200" b="1" i="1" dirty="0">
                        <a:latin typeface="Cambria Math" panose="02040503050406030204" pitchFamily="18" charset="0"/>
                      </a:rPr>
                      <m:t> (</m:t>
                    </m:r>
                    <m:r>
                      <a:rPr lang="fr-FR" sz="1200" b="1" i="1" dirty="0">
                        <a:latin typeface="Cambria Math" panose="02040503050406030204" pitchFamily="18" charset="0"/>
                      </a:rPr>
                      <m:t>𝑴𝑨𝑬</m:t>
                    </m:r>
                    <m:r>
                      <a:rPr lang="fr-FR" sz="1200" b="1" i="1" dirty="0">
                        <a:latin typeface="Cambria Math" panose="02040503050406030204" pitchFamily="18" charset="0"/>
                      </a:rPr>
                      <m:t>) :</m:t>
                    </m:r>
                  </m:oMath>
                </a14:m>
                <a:r>
                  <a:rPr lang="fr-FR" sz="1200" dirty="0"/>
                  <a:t> la moyenne des différences absolues entre les valeurs prévues et réelles.</a:t>
                </a:r>
              </a:p>
              <a:p>
                <a:pPr lvl="1" algn="just">
                  <a:lnSpc>
                    <a:spcPct val="150000"/>
                  </a:lnSpc>
                  <a:buClr>
                    <a:schemeClr val="accent2"/>
                  </a:buClr>
                </a:pPr>
                <a14:m>
                  <m:oMath xmlns:m="http://schemas.openxmlformats.org/officeDocument/2006/math">
                    <m:r>
                      <a:rPr lang="fr-FR" sz="1200" b="1" i="1" dirty="0">
                        <a:latin typeface="Cambria Math" panose="02040503050406030204" pitchFamily="18" charset="0"/>
                      </a:rPr>
                      <m:t>𝑬𝒓𝒓𝒆𝒖𝒓</m:t>
                    </m:r>
                    <m:r>
                      <a:rPr lang="fr-FR" sz="1200" b="1" i="1" dirty="0">
                        <a:latin typeface="Cambria Math" panose="02040503050406030204" pitchFamily="18" charset="0"/>
                      </a:rPr>
                      <m:t> </m:t>
                    </m:r>
                    <m:r>
                      <a:rPr lang="fr-FR" sz="1200" b="1" i="1" dirty="0">
                        <a:latin typeface="Cambria Math" panose="02040503050406030204" pitchFamily="18" charset="0"/>
                      </a:rPr>
                      <m:t>𝒒𝒖𝒂𝒅𝒓𝒂𝒕𝒊𝒒𝒖𝒆</m:t>
                    </m:r>
                    <m:r>
                      <a:rPr lang="fr-FR" sz="1200" b="1" i="1" dirty="0">
                        <a:latin typeface="Cambria Math" panose="02040503050406030204" pitchFamily="18" charset="0"/>
                      </a:rPr>
                      <m:t> </m:t>
                    </m:r>
                    <m:r>
                      <a:rPr lang="fr-FR" sz="1200" b="1" i="1" dirty="0">
                        <a:latin typeface="Cambria Math" panose="02040503050406030204" pitchFamily="18" charset="0"/>
                      </a:rPr>
                      <m:t>𝒎𝒐𝒚𝒆𝒏𝒏𝒆</m:t>
                    </m:r>
                    <m:r>
                      <a:rPr lang="fr-FR" sz="1200" b="1" i="1" dirty="0">
                        <a:latin typeface="Cambria Math" panose="02040503050406030204" pitchFamily="18" charset="0"/>
                      </a:rPr>
                      <m:t> (</m:t>
                    </m:r>
                    <m:r>
                      <a:rPr lang="fr-FR" sz="1200" b="1" i="1" dirty="0">
                        <a:latin typeface="Cambria Math" panose="02040503050406030204" pitchFamily="18" charset="0"/>
                      </a:rPr>
                      <m:t>𝑴𝑺𝑬</m:t>
                    </m:r>
                    <m:r>
                      <a:rPr lang="fr-FR" sz="1200" b="1" i="1" dirty="0">
                        <a:latin typeface="Cambria Math" panose="02040503050406030204" pitchFamily="18" charset="0"/>
                      </a:rPr>
                      <m:t>) : </m:t>
                    </m:r>
                  </m:oMath>
                </a14:m>
                <a:r>
                  <a:rPr lang="fr-FR" sz="1200" dirty="0"/>
                  <a:t>la moyenne des différences au carré entre les valeurs prévues et réelles.</a:t>
                </a:r>
              </a:p>
              <a:p>
                <a:pPr lvl="1" algn="just">
                  <a:lnSpc>
                    <a:spcPct val="150000"/>
                  </a:lnSpc>
                  <a:buClr>
                    <a:schemeClr val="accent2"/>
                  </a:buClr>
                </a:pPr>
                <a14:m>
                  <m:oMath xmlns:m="http://schemas.openxmlformats.org/officeDocument/2006/math">
                    <m:r>
                      <a:rPr lang="fr-FR" sz="1200" b="1" i="1" dirty="0">
                        <a:latin typeface="Cambria Math" panose="02040503050406030204" pitchFamily="18" charset="0"/>
                      </a:rPr>
                      <m:t>𝑹𝒐𝒐𝒕</m:t>
                    </m:r>
                    <m:r>
                      <a:rPr lang="fr-FR" sz="1200" b="1" i="1" dirty="0">
                        <a:latin typeface="Cambria Math" panose="02040503050406030204" pitchFamily="18" charset="0"/>
                      </a:rPr>
                      <m:t> </m:t>
                    </m:r>
                    <m:r>
                      <a:rPr lang="fr-FR" sz="1200" b="1" i="1" dirty="0" err="1">
                        <a:latin typeface="Cambria Math" panose="02040503050406030204" pitchFamily="18" charset="0"/>
                      </a:rPr>
                      <m:t>𝑴𝒆𝒂𝒏</m:t>
                    </m:r>
                    <m:r>
                      <a:rPr lang="fr-FR" sz="1200" b="1" i="1" dirty="0">
                        <a:latin typeface="Cambria Math" panose="02040503050406030204" pitchFamily="18" charset="0"/>
                      </a:rPr>
                      <m:t> </m:t>
                    </m:r>
                    <m:r>
                      <a:rPr lang="fr-FR" sz="1200" b="1" i="1" dirty="0" err="1">
                        <a:latin typeface="Cambria Math" panose="02040503050406030204" pitchFamily="18" charset="0"/>
                      </a:rPr>
                      <m:t>𝑺𝒒𝒖𝒂𝒓𝒆𝒅</m:t>
                    </m:r>
                    <m:r>
                      <a:rPr lang="fr-FR" sz="1200" b="1" i="1" dirty="0">
                        <a:latin typeface="Cambria Math" panose="02040503050406030204" pitchFamily="18" charset="0"/>
                      </a:rPr>
                      <m:t> </m:t>
                    </m:r>
                    <m:r>
                      <a:rPr lang="fr-FR" sz="1200" b="1" i="1" dirty="0" err="1">
                        <a:latin typeface="Cambria Math" panose="02040503050406030204" pitchFamily="18" charset="0"/>
                      </a:rPr>
                      <m:t>𝑬𝒓𝒓𝒐𝒓</m:t>
                    </m:r>
                    <m:r>
                      <a:rPr lang="fr-FR" sz="1200" b="1" i="1" dirty="0">
                        <a:latin typeface="Cambria Math" panose="02040503050406030204" pitchFamily="18" charset="0"/>
                      </a:rPr>
                      <m:t> </m:t>
                    </m:r>
                    <m:d>
                      <m:dPr>
                        <m:ctrlPr>
                          <a:rPr lang="fr-FR" sz="1200" b="1" i="1" dirty="0">
                            <a:latin typeface="Cambria Math" panose="02040503050406030204" pitchFamily="18" charset="0"/>
                          </a:rPr>
                        </m:ctrlPr>
                      </m:dPr>
                      <m:e>
                        <m:r>
                          <a:rPr lang="fr-FR" sz="1200" b="1" i="1" dirty="0">
                            <a:latin typeface="Cambria Math" panose="02040503050406030204" pitchFamily="18" charset="0"/>
                          </a:rPr>
                          <m:t>𝑹𝑴𝑺𝑬</m:t>
                        </m:r>
                      </m:e>
                    </m:d>
                    <m:r>
                      <a:rPr lang="fr-FR" sz="1200" b="1" i="1" dirty="0">
                        <a:latin typeface="Cambria Math" panose="02040503050406030204" pitchFamily="18" charset="0"/>
                      </a:rPr>
                      <m:t> : </m:t>
                    </m:r>
                  </m:oMath>
                </a14:m>
                <a:r>
                  <a:rPr lang="fr-FR" sz="1200" dirty="0"/>
                  <a:t>La racine carrée de l'erreur quadratique moyenne, qui est plus sensible aux grandes erreurs que MAE.</a:t>
                </a:r>
              </a:p>
              <a:p>
                <a:pPr lvl="1" algn="just">
                  <a:lnSpc>
                    <a:spcPct val="150000"/>
                  </a:lnSpc>
                  <a:buClr>
                    <a:schemeClr val="accent2"/>
                  </a:buClr>
                </a:pPr>
                <a14:m>
                  <m:oMath xmlns:m="http://schemas.openxmlformats.org/officeDocument/2006/math">
                    <m:r>
                      <a:rPr lang="fr-FR" sz="1200" b="1" i="1" dirty="0">
                        <a:latin typeface="Cambria Math" panose="02040503050406030204" pitchFamily="18" charset="0"/>
                      </a:rPr>
                      <m:t>𝑹</m:t>
                    </m:r>
                    <m:r>
                      <a:rPr lang="fr-FR" sz="1200" b="1" i="1" dirty="0">
                        <a:latin typeface="Cambria Math" panose="02040503050406030204" pitchFamily="18" charset="0"/>
                      </a:rPr>
                      <m:t> </m:t>
                    </m:r>
                    <m:r>
                      <a:rPr lang="fr-FR" sz="1200" b="1" i="1" dirty="0">
                        <a:latin typeface="Cambria Math" panose="02040503050406030204" pitchFamily="18" charset="0"/>
                      </a:rPr>
                      <m:t>𝒂𝒖</m:t>
                    </m:r>
                    <m:r>
                      <a:rPr lang="fr-FR" sz="1200" b="1" i="1" dirty="0">
                        <a:latin typeface="Cambria Math" panose="02040503050406030204" pitchFamily="18" charset="0"/>
                      </a:rPr>
                      <m:t> </m:t>
                    </m:r>
                    <m:r>
                      <a:rPr lang="fr-FR" sz="1200" b="1" i="1" dirty="0">
                        <a:latin typeface="Cambria Math" panose="02040503050406030204" pitchFamily="18" charset="0"/>
                      </a:rPr>
                      <m:t>𝒄𝒂𝒓𝒓</m:t>
                    </m:r>
                    <m:r>
                      <a:rPr lang="fr-FR" sz="1200" b="1" i="1" dirty="0">
                        <a:latin typeface="Cambria Math" panose="02040503050406030204" pitchFamily="18" charset="0"/>
                      </a:rPr>
                      <m:t>é : </m:t>
                    </m:r>
                  </m:oMath>
                </a14:m>
                <a:r>
                  <a:rPr lang="fr-FR" sz="1200" dirty="0"/>
                  <a:t>proportion de la variance de la variable dépendante qui est prévisible à partir des variables indépendantes, allant de 0 à 1.</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2014" cy="3454790"/>
              </a:xfrm>
              <a:blipFill>
                <a:blip r:embed="rId2"/>
                <a:stretch>
                  <a:fillRect r="-155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65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Évaluation d’un modèle : </a:t>
            </a:r>
            <a:r>
              <a:rPr lang="fr-FR" sz="2100" b="0" dirty="0"/>
              <a:t>métriques de régression</a:t>
            </a:r>
          </a:p>
        </p:txBody>
      </p:sp>
    </p:spTree>
    <p:extLst>
      <p:ext uri="{BB962C8B-B14F-4D97-AF65-F5344CB8AC3E}">
        <p14:creationId xmlns:p14="http://schemas.microsoft.com/office/powerpoint/2010/main" val="15466106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a:bodyPr>
          <a:lstStyle/>
          <a:p>
            <a:pPr lvl="1" algn="just">
              <a:lnSpc>
                <a:spcPct val="150000"/>
              </a:lnSpc>
              <a:buClr>
                <a:schemeClr val="accent2"/>
              </a:buClr>
            </a:pPr>
            <a:r>
              <a:rPr lang="fr-FR" sz="1200" dirty="0"/>
              <a:t>La sélection de modèles est le processus de sélection du meilleur modèle parmi un ensemble de candidats en fonction de leurs performances sur un ensemble de validation.</a:t>
            </a:r>
          </a:p>
          <a:p>
            <a:pPr lvl="1" algn="just">
              <a:lnSpc>
                <a:spcPct val="150000"/>
              </a:lnSpc>
              <a:buClr>
                <a:schemeClr val="accent2"/>
              </a:buClr>
            </a:pPr>
            <a:r>
              <a:rPr lang="fr-FR" sz="1200" dirty="0"/>
              <a:t>C'est essentiel parce que différents modèles peuvent être plus performants sur différents types de données, et il y a souvent un compromis entre la complexité du modèle et les performances.</a:t>
            </a:r>
          </a:p>
          <a:p>
            <a:pPr lvl="1" algn="just">
              <a:lnSpc>
                <a:spcPct val="150000"/>
              </a:lnSpc>
              <a:buClr>
                <a:schemeClr val="accent2"/>
              </a:buClr>
            </a:pPr>
            <a:r>
              <a:rPr lang="fr-FR" sz="1200" dirty="0"/>
              <a:t>Dans les slides suivantes, vous découvrirez les 3 techniques de sélection utilisées en Machine Learning.</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66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Évaluation d’un modèle :</a:t>
            </a:r>
            <a:r>
              <a:rPr lang="fr-FR" sz="2100" b="0" dirty="0"/>
              <a:t> pourquoi évaluer ?</a:t>
            </a:r>
          </a:p>
        </p:txBody>
      </p:sp>
    </p:spTree>
    <p:extLst>
      <p:ext uri="{BB962C8B-B14F-4D97-AF65-F5344CB8AC3E}">
        <p14:creationId xmlns:p14="http://schemas.microsoft.com/office/powerpoint/2010/main" val="13340731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a:bodyPr>
          <a:lstStyle/>
          <a:p>
            <a:pPr lvl="1" algn="just">
              <a:lnSpc>
                <a:spcPct val="150000"/>
              </a:lnSpc>
              <a:buClr>
                <a:schemeClr val="accent2"/>
              </a:buClr>
            </a:pPr>
            <a:r>
              <a:rPr lang="fr-FR" sz="1200" dirty="0"/>
              <a:t>La méthode la plus simple consiste à diviser vos données en un ensemble d'apprentissage (80%) et un ensemble de test (20%). </a:t>
            </a:r>
          </a:p>
          <a:p>
            <a:pPr lvl="1" algn="just">
              <a:lnSpc>
                <a:spcPct val="150000"/>
              </a:lnSpc>
              <a:buClr>
                <a:schemeClr val="accent2"/>
              </a:buClr>
            </a:pPr>
            <a:r>
              <a:rPr lang="fr-FR" sz="1200" dirty="0"/>
              <a:t>Entraînez chaque modèle candidat sur l'ensemble d'entraînement et évaluez ses performances sur l'ensemble de test. </a:t>
            </a:r>
          </a:p>
          <a:p>
            <a:pPr lvl="1" algn="just">
              <a:lnSpc>
                <a:spcPct val="150000"/>
              </a:lnSpc>
              <a:buClr>
                <a:schemeClr val="accent2"/>
              </a:buClr>
            </a:pPr>
            <a:r>
              <a:rPr lang="fr-FR" sz="1200" dirty="0"/>
              <a:t>Choisissez le modèle avec les meilleures performances sur l'ensemble de test.</a:t>
            </a:r>
          </a:p>
          <a:p>
            <a:pPr lvl="1" algn="just">
              <a:lnSpc>
                <a:spcPct val="150000"/>
              </a:lnSpc>
              <a:buClr>
                <a:schemeClr val="accent2"/>
              </a:buClr>
            </a:pPr>
            <a:r>
              <a:rPr lang="fr-FR" sz="1200" dirty="0"/>
              <a:t>Vous mettrez en place le split 80-20 dans l’ensemble des modèles supervisés des modules de ce cours.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67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Évaluation d’un modèle :</a:t>
            </a:r>
            <a:r>
              <a:rPr lang="fr-FR" sz="2100" b="0" dirty="0"/>
              <a:t> train-test split</a:t>
            </a:r>
          </a:p>
        </p:txBody>
      </p:sp>
    </p:spTree>
    <p:extLst>
      <p:ext uri="{BB962C8B-B14F-4D97-AF65-F5344CB8AC3E}">
        <p14:creationId xmlns:p14="http://schemas.microsoft.com/office/powerpoint/2010/main" val="28184441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a:bodyPr>
              <a:lstStyle/>
              <a:p>
                <a:pPr lvl="1" algn="just">
                  <a:lnSpc>
                    <a:spcPct val="150000"/>
                  </a:lnSpc>
                  <a:buClr>
                    <a:schemeClr val="accent2"/>
                  </a:buClr>
                </a:pPr>
                <a:r>
                  <a:rPr lang="fr-FR" sz="1200" dirty="0"/>
                  <a:t>La validation croisée K-Fold est une méthode plus robuste qui divise vos données en k plis de taille égale. </a:t>
                </a:r>
              </a:p>
              <a:p>
                <a:pPr lvl="1" algn="just">
                  <a:lnSpc>
                    <a:spcPct val="150000"/>
                  </a:lnSpc>
                  <a:buClr>
                    <a:schemeClr val="accent2"/>
                  </a:buClr>
                </a:pPr>
                <a:r>
                  <a:rPr lang="fr-FR" sz="1200" dirty="0"/>
                  <a:t>Pour chaque pli, utilisez-le comme ensemble de test tout en utilisant les plis </a:t>
                </a:r>
                <a14:m>
                  <m:oMath xmlns:m="http://schemas.openxmlformats.org/officeDocument/2006/math">
                    <m:r>
                      <a:rPr lang="fr-FR" sz="1200" i="1" dirty="0">
                        <a:latin typeface="Cambria Math" panose="02040503050406030204" pitchFamily="18" charset="0"/>
                      </a:rPr>
                      <m:t>𝑘</m:t>
                    </m:r>
                    <m:r>
                      <a:rPr lang="fr-FR" sz="1200" i="1" dirty="0">
                        <a:latin typeface="Cambria Math" panose="02040503050406030204" pitchFamily="18" charset="0"/>
                      </a:rPr>
                      <m:t>−1</m:t>
                    </m:r>
                  </m:oMath>
                </a14:m>
                <a:r>
                  <a:rPr lang="fr-FR" sz="1200" dirty="0"/>
                  <a:t> restants comme ensemble d'entraînement. </a:t>
                </a:r>
              </a:p>
              <a:p>
                <a:pPr lvl="1" algn="just">
                  <a:lnSpc>
                    <a:spcPct val="150000"/>
                  </a:lnSpc>
                  <a:buClr>
                    <a:schemeClr val="accent2"/>
                  </a:buClr>
                </a:pPr>
                <a:r>
                  <a:rPr lang="fr-FR" sz="1200" dirty="0"/>
                  <a:t>Entraînez et évaluez chaque modèle candidat </a:t>
                </a:r>
                <a14:m>
                  <m:oMath xmlns:m="http://schemas.openxmlformats.org/officeDocument/2006/math">
                    <m:r>
                      <a:rPr lang="fr-FR" sz="1200" i="1" dirty="0">
                        <a:latin typeface="Cambria Math" panose="02040503050406030204" pitchFamily="18" charset="0"/>
                      </a:rPr>
                      <m:t>𝑘</m:t>
                    </m:r>
                  </m:oMath>
                </a14:m>
                <a:r>
                  <a:rPr lang="fr-FR" sz="1200" dirty="0"/>
                  <a:t> fois et calculez la performance moyenne sur tous les plis. </a:t>
                </a:r>
              </a:p>
              <a:p>
                <a:pPr lvl="1" algn="just">
                  <a:lnSpc>
                    <a:spcPct val="150000"/>
                  </a:lnSpc>
                  <a:buClr>
                    <a:schemeClr val="accent2"/>
                  </a:buClr>
                </a:pPr>
                <a:r>
                  <a:rPr lang="fr-FR" sz="1200" dirty="0"/>
                  <a:t>Choisissez le modèle avec les meilleures performances moyennes.</a:t>
                </a:r>
              </a:p>
              <a:p>
                <a:pPr lvl="1" algn="just">
                  <a:lnSpc>
                    <a:spcPct val="150000"/>
                  </a:lnSpc>
                  <a:buClr>
                    <a:schemeClr val="accent2"/>
                  </a:buClr>
                </a:pPr>
                <a:r>
                  <a:rPr lang="fr-FR" sz="1200" dirty="0"/>
                  <a:t>Vous mettrez en pratique la validation croisée dans les modules suivants.</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2014" cy="3454790"/>
              </a:xfrm>
              <a:blipFill>
                <a:blip r:embed="rId2"/>
                <a:stretch>
                  <a:fillRect r="-155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68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Évaluation d’un modèle :</a:t>
            </a:r>
            <a:r>
              <a:rPr lang="fr-FR" sz="2100" b="0" dirty="0"/>
              <a:t> K-Fold Cross-Validation</a:t>
            </a:r>
          </a:p>
        </p:txBody>
      </p:sp>
    </p:spTree>
    <p:extLst>
      <p:ext uri="{BB962C8B-B14F-4D97-AF65-F5344CB8AC3E}">
        <p14:creationId xmlns:p14="http://schemas.microsoft.com/office/powerpoint/2010/main" val="30815372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a:bodyPr>
          <a:lstStyle/>
          <a:p>
            <a:pPr lvl="1" algn="just">
              <a:lnSpc>
                <a:spcPct val="150000"/>
              </a:lnSpc>
              <a:buClr>
                <a:schemeClr val="accent2"/>
              </a:buClr>
            </a:pPr>
            <a:r>
              <a:rPr lang="fr-FR" sz="1200" dirty="0"/>
              <a:t>Ces méthodes sont utilisées pour optimiser les hyperparamètres d'un modèle. </a:t>
            </a:r>
          </a:p>
          <a:p>
            <a:pPr lvl="1" algn="just">
              <a:lnSpc>
                <a:spcPct val="150000"/>
              </a:lnSpc>
              <a:buClr>
                <a:schemeClr val="accent2"/>
              </a:buClr>
            </a:pPr>
            <a:r>
              <a:rPr lang="fr-FR" sz="1200" dirty="0"/>
              <a:t>Dans Grid Search, vous définissez un ensemble de valeurs possibles pour chaque hyperparamètre, et l'algorithme essaie toutes les combinaisons possibles. </a:t>
            </a:r>
          </a:p>
          <a:p>
            <a:pPr lvl="1" algn="just">
              <a:lnSpc>
                <a:spcPct val="150000"/>
              </a:lnSpc>
              <a:buClr>
                <a:schemeClr val="accent2"/>
              </a:buClr>
            </a:pPr>
            <a:r>
              <a:rPr lang="fr-FR" sz="1200" dirty="0"/>
              <a:t>Dans Random Search, l'algorithme échantillonne une combinaison aléatoire d'hyperparamètres à partir d'une distribution spécifiée. </a:t>
            </a:r>
          </a:p>
          <a:p>
            <a:pPr lvl="1" algn="just">
              <a:lnSpc>
                <a:spcPct val="150000"/>
              </a:lnSpc>
              <a:buClr>
                <a:schemeClr val="accent2"/>
              </a:buClr>
            </a:pPr>
            <a:r>
              <a:rPr lang="fr-FR" sz="1200" dirty="0"/>
              <a:t>Les deux méthodes peuvent être combinées avec une validation croisée pour des résultats plus précis.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69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9" y="559965"/>
            <a:ext cx="7198694" cy="413741"/>
          </a:xfrm>
        </p:spPr>
        <p:txBody>
          <a:bodyPr>
            <a:noAutofit/>
          </a:bodyPr>
          <a:lstStyle/>
          <a:p>
            <a:r>
              <a:rPr lang="fr-FR" sz="2100" dirty="0"/>
              <a:t>Évaluation d’un modèle :</a:t>
            </a:r>
            <a:r>
              <a:rPr lang="fr-FR" sz="2100" b="0" dirty="0"/>
              <a:t> </a:t>
            </a:r>
            <a:r>
              <a:rPr lang="en-US" sz="2100" b="0" dirty="0"/>
              <a:t>Grid Search et Random Search</a:t>
            </a:r>
            <a:endParaRPr lang="fr-FR" sz="2100" b="0" dirty="0"/>
          </a:p>
        </p:txBody>
      </p:sp>
    </p:spTree>
    <p:extLst>
      <p:ext uri="{BB962C8B-B14F-4D97-AF65-F5344CB8AC3E}">
        <p14:creationId xmlns:p14="http://schemas.microsoft.com/office/powerpoint/2010/main" val="8866975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0" y="1391970"/>
            <a:ext cx="6235229" cy="3454790"/>
          </a:xfrm>
        </p:spPr>
        <p:txBody>
          <a:bodyPr>
            <a:normAutofit/>
          </a:bodyPr>
          <a:lstStyle/>
          <a:p>
            <a:pPr lvl="1" algn="just">
              <a:lnSpc>
                <a:spcPct val="150000"/>
              </a:lnSpc>
              <a:buClr>
                <a:schemeClr val="accent2"/>
              </a:buClr>
            </a:pPr>
            <a:r>
              <a:rPr lang="fr-FR" sz="1200" dirty="0"/>
              <a:t>Voici un aperçu du processus d'évaluation et de sélection des modèles :</a:t>
            </a:r>
          </a:p>
          <a:p>
            <a:pPr marL="942975" lvl="2" indent="-257175" algn="just">
              <a:lnSpc>
                <a:spcPct val="150000"/>
              </a:lnSpc>
              <a:buClr>
                <a:schemeClr val="accent2"/>
              </a:buClr>
              <a:buFont typeface="+mj-lt"/>
              <a:buAutoNum type="arabicPeriod"/>
            </a:pPr>
            <a:r>
              <a:rPr lang="fr-FR" sz="1050" dirty="0"/>
              <a:t>Divisez votre ensemble de données en ensembles d'apprentissage et de validation (ou utilisez la validation croisée).</a:t>
            </a:r>
          </a:p>
          <a:p>
            <a:pPr marL="942975" lvl="2" indent="-257175" algn="just">
              <a:lnSpc>
                <a:spcPct val="150000"/>
              </a:lnSpc>
              <a:buClr>
                <a:schemeClr val="accent2"/>
              </a:buClr>
              <a:buFont typeface="+mj-lt"/>
              <a:buAutoNum type="arabicPeriod"/>
            </a:pPr>
            <a:r>
              <a:rPr lang="fr-FR" sz="1050" dirty="0"/>
              <a:t>Entraînez chaque modèle candidat sur l'ensemble d'entraînement (ou k-1 plis en validation croisée).</a:t>
            </a:r>
          </a:p>
          <a:p>
            <a:pPr marL="942975" lvl="2" indent="-257175" algn="just">
              <a:lnSpc>
                <a:spcPct val="150000"/>
              </a:lnSpc>
              <a:buClr>
                <a:schemeClr val="accent2"/>
              </a:buClr>
              <a:buFont typeface="+mj-lt"/>
              <a:buAutoNum type="arabicPeriod"/>
            </a:pPr>
            <a:r>
              <a:rPr lang="fr-FR" sz="1050" dirty="0"/>
              <a:t>Évaluez les performances de chaque modèle sur l'ensemble de validation (ou le k-ième pli dans la validation croisée) à l'aide des métriques d'évaluation appropriées.</a:t>
            </a:r>
          </a:p>
          <a:p>
            <a:pPr marL="942975" lvl="2" indent="-257175" algn="just">
              <a:lnSpc>
                <a:spcPct val="150000"/>
              </a:lnSpc>
              <a:buClr>
                <a:schemeClr val="accent2"/>
              </a:buClr>
              <a:buFont typeface="+mj-lt"/>
              <a:buAutoNum type="arabicPeriod"/>
            </a:pPr>
            <a:r>
              <a:rPr lang="fr-FR" sz="1050" dirty="0"/>
              <a:t>Comparez les performances des modèles et sélectionnez le meilleur pour votre problème.</a:t>
            </a:r>
          </a:p>
          <a:p>
            <a:pPr marL="942975" lvl="2" indent="-257175" algn="just">
              <a:lnSpc>
                <a:spcPct val="150000"/>
              </a:lnSpc>
              <a:buClr>
                <a:schemeClr val="accent2"/>
              </a:buClr>
              <a:buFont typeface="+mj-lt"/>
              <a:buAutoNum type="arabicPeriod"/>
            </a:pPr>
            <a:r>
              <a:rPr lang="fr-FR" sz="1050" dirty="0"/>
              <a:t>Entraînez le modèle choisi sur l'ensemble du jeu de données et utilisez-le pour faire des prédictions sur de nouvelles données.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70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9" y="559965"/>
            <a:ext cx="7010970" cy="413741"/>
          </a:xfrm>
        </p:spPr>
        <p:txBody>
          <a:bodyPr>
            <a:noAutofit/>
          </a:bodyPr>
          <a:lstStyle/>
          <a:p>
            <a:r>
              <a:rPr lang="fr-FR" sz="2100" dirty="0"/>
              <a:t>Évaluation d’un modèle :</a:t>
            </a:r>
            <a:r>
              <a:rPr lang="fr-FR" sz="2100" b="0" dirty="0"/>
              <a:t> </a:t>
            </a:r>
            <a:r>
              <a:rPr lang="en-US" sz="2100" b="0" dirty="0"/>
              <a:t>Grid Search et Random Search</a:t>
            </a:r>
            <a:endParaRPr lang="fr-FR" sz="2100" b="0" dirty="0"/>
          </a:p>
        </p:txBody>
      </p:sp>
    </p:spTree>
    <p:extLst>
      <p:ext uri="{BB962C8B-B14F-4D97-AF65-F5344CB8AC3E}">
        <p14:creationId xmlns:p14="http://schemas.microsoft.com/office/powerpoint/2010/main" val="192054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Régression linéaire simple</a:t>
            </a:r>
          </a:p>
        </p:txBody>
      </p:sp>
    </p:spTree>
    <p:extLst>
      <p:ext uri="{BB962C8B-B14F-4D97-AF65-F5344CB8AC3E}">
        <p14:creationId xmlns:p14="http://schemas.microsoft.com/office/powerpoint/2010/main" val="25898920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72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linéaire simple</a:t>
            </a:r>
            <a:endParaRPr lang="fr-FR" sz="2100" b="0" dirty="0"/>
          </a:p>
        </p:txBody>
      </p:sp>
      <p:grpSp>
        <p:nvGrpSpPr>
          <p:cNvPr id="4" name="Groupe 3">
            <a:extLst>
              <a:ext uri="{FF2B5EF4-FFF2-40B4-BE49-F238E27FC236}">
                <a16:creationId xmlns:a16="http://schemas.microsoft.com/office/drawing/2014/main" id="{D4BBB57E-F308-4288-BE4F-BE3983F45B50}"/>
              </a:ext>
            </a:extLst>
          </p:cNvPr>
          <p:cNvGrpSpPr/>
          <p:nvPr/>
        </p:nvGrpSpPr>
        <p:grpSpPr>
          <a:xfrm>
            <a:off x="2014301" y="1475096"/>
            <a:ext cx="5115398" cy="2193308"/>
            <a:chOff x="3023918" y="2394237"/>
            <a:chExt cx="5115398" cy="2193308"/>
          </a:xfrm>
        </p:grpSpPr>
        <p:sp>
          <p:nvSpPr>
            <p:cNvPr id="7" name="Freeform: Shape 32">
              <a:extLst>
                <a:ext uri="{FF2B5EF4-FFF2-40B4-BE49-F238E27FC236}">
                  <a16:creationId xmlns:a16="http://schemas.microsoft.com/office/drawing/2014/main" id="{96BE6A46-EF6D-496D-A5F4-1E891ED71D5C}"/>
                </a:ext>
              </a:extLst>
            </p:cNvPr>
            <p:cNvSpPr/>
            <p:nvPr/>
          </p:nvSpPr>
          <p:spPr>
            <a:xfrm>
              <a:off x="3308983" y="4204586"/>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3">
                <a:lumMod val="75000"/>
              </a:schemeClr>
            </a:solidFill>
            <a:ln w="12700">
              <a:miter lim="400000"/>
            </a:ln>
          </p:spPr>
          <p:txBody>
            <a:bodyPr wrap="square" lIns="960120" tIns="28575" rIns="28575" bIns="28575" anchor="ctr">
              <a:noAutofit/>
            </a:bodyPr>
            <a:lstStyle/>
            <a:p>
              <a:pPr>
                <a:lnSpc>
                  <a:spcPts val="1200"/>
                </a:lnSpc>
              </a:pPr>
              <a:r>
                <a:rPr lang="en-US" sz="1050" noProof="1">
                  <a:solidFill>
                    <a:srgbClr val="FFFFFF"/>
                  </a:solidFill>
                </a:rPr>
                <a:t>Code Python</a:t>
              </a:r>
            </a:p>
          </p:txBody>
        </p:sp>
        <p:sp>
          <p:nvSpPr>
            <p:cNvPr id="8" name="Freeform: Shape 30">
              <a:extLst>
                <a:ext uri="{FF2B5EF4-FFF2-40B4-BE49-F238E27FC236}">
                  <a16:creationId xmlns:a16="http://schemas.microsoft.com/office/drawing/2014/main" id="{2AFFDBF6-D481-4EF3-B4F5-026B3230298F}"/>
                </a:ext>
              </a:extLst>
            </p:cNvPr>
            <p:cNvSpPr/>
            <p:nvPr/>
          </p:nvSpPr>
          <p:spPr>
            <a:xfrm>
              <a:off x="3308983" y="3751999"/>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5">
                <a:lumMod val="75000"/>
              </a:schemeClr>
            </a:solidFill>
            <a:ln w="12700">
              <a:miter lim="400000"/>
            </a:ln>
          </p:spPr>
          <p:txBody>
            <a:bodyPr wrap="square" lIns="1165860" tIns="28575" rIns="28575" bIns="28575" anchor="ctr">
              <a:noAutofit/>
            </a:bodyPr>
            <a:lstStyle/>
            <a:p>
              <a:pPr>
                <a:lnSpc>
                  <a:spcPts val="1200"/>
                </a:lnSpc>
              </a:pPr>
              <a:r>
                <a:rPr lang="en-US" sz="1050" noProof="1">
                  <a:solidFill>
                    <a:srgbClr val="FFFFFF"/>
                  </a:solidFill>
                </a:rPr>
                <a:t>Interprétation des résultats</a:t>
              </a:r>
            </a:p>
          </p:txBody>
        </p:sp>
        <p:sp>
          <p:nvSpPr>
            <p:cNvPr id="9" name="Freeform: Shape 28">
              <a:extLst>
                <a:ext uri="{FF2B5EF4-FFF2-40B4-BE49-F238E27FC236}">
                  <a16:creationId xmlns:a16="http://schemas.microsoft.com/office/drawing/2014/main" id="{39CDDE47-EA3D-4EF5-9471-3A572BB64D62}"/>
                </a:ext>
              </a:extLst>
            </p:cNvPr>
            <p:cNvSpPr/>
            <p:nvPr/>
          </p:nvSpPr>
          <p:spPr>
            <a:xfrm>
              <a:off x="3308983" y="3299411"/>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2">
                <a:lumMod val="75000"/>
              </a:schemeClr>
            </a:solidFill>
            <a:ln w="12700">
              <a:miter lim="400000"/>
            </a:ln>
          </p:spPr>
          <p:txBody>
            <a:bodyPr wrap="square" lIns="1303020" tIns="28575" rIns="28575" bIns="28575" anchor="ctr">
              <a:noAutofit/>
            </a:bodyPr>
            <a:lstStyle/>
            <a:p>
              <a:pPr>
                <a:lnSpc>
                  <a:spcPts val="1200"/>
                </a:lnSpc>
              </a:pPr>
              <a:r>
                <a:rPr lang="en-US" sz="1050" noProof="1">
                  <a:solidFill>
                    <a:srgbClr val="FFFFFF"/>
                  </a:solidFill>
                </a:rPr>
                <a:t>Représentation graphique</a:t>
              </a:r>
            </a:p>
          </p:txBody>
        </p:sp>
        <p:sp>
          <p:nvSpPr>
            <p:cNvPr id="10" name="Freeform: Shape 26">
              <a:extLst>
                <a:ext uri="{FF2B5EF4-FFF2-40B4-BE49-F238E27FC236}">
                  <a16:creationId xmlns:a16="http://schemas.microsoft.com/office/drawing/2014/main" id="{A4884B76-B736-43FB-900F-92D69161ADFF}"/>
                </a:ext>
              </a:extLst>
            </p:cNvPr>
            <p:cNvSpPr/>
            <p:nvPr/>
          </p:nvSpPr>
          <p:spPr>
            <a:xfrm>
              <a:off x="3308983" y="2846825"/>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6">
                <a:lumMod val="75000"/>
              </a:schemeClr>
            </a:solidFill>
            <a:ln w="12700">
              <a:miter lim="400000"/>
            </a:ln>
          </p:spPr>
          <p:txBody>
            <a:bodyPr wrap="square" lIns="1165860" tIns="28575" rIns="28575" bIns="28575" anchor="ctr">
              <a:noAutofit/>
            </a:bodyPr>
            <a:lstStyle/>
            <a:p>
              <a:pPr>
                <a:lnSpc>
                  <a:spcPts val="1200"/>
                </a:lnSpc>
              </a:pPr>
              <a:r>
                <a:rPr lang="en-US" sz="1050" noProof="1">
                  <a:solidFill>
                    <a:srgbClr val="FFFFFF"/>
                  </a:solidFill>
                </a:rPr>
                <a:t>Définition</a:t>
              </a:r>
              <a:endParaRPr sz="1050" dirty="0">
                <a:solidFill>
                  <a:srgbClr val="FFFFFF"/>
                </a:solidFill>
              </a:endParaRPr>
            </a:p>
          </p:txBody>
        </p:sp>
        <p:sp>
          <p:nvSpPr>
            <p:cNvPr id="11" name="Freeform: Shape 24">
              <a:extLst>
                <a:ext uri="{FF2B5EF4-FFF2-40B4-BE49-F238E27FC236}">
                  <a16:creationId xmlns:a16="http://schemas.microsoft.com/office/drawing/2014/main" id="{C63DDC55-4D70-4497-9ABB-AFB15801F669}"/>
                </a:ext>
              </a:extLst>
            </p:cNvPr>
            <p:cNvSpPr/>
            <p:nvPr/>
          </p:nvSpPr>
          <p:spPr>
            <a:xfrm>
              <a:off x="3308983" y="2394237"/>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4">
                <a:lumMod val="75000"/>
              </a:schemeClr>
            </a:solidFill>
            <a:ln w="12700">
              <a:miter lim="400000"/>
            </a:ln>
          </p:spPr>
          <p:txBody>
            <a:bodyPr wrap="square" lIns="960120" tIns="28575" rIns="28575" bIns="28575" anchor="ctr">
              <a:noAutofit/>
            </a:bodyPr>
            <a:lstStyle/>
            <a:p>
              <a:pPr>
                <a:lnSpc>
                  <a:spcPts val="1200"/>
                </a:lnSpc>
              </a:pPr>
              <a:r>
                <a:rPr lang="en-US" sz="1050" noProof="1">
                  <a:solidFill>
                    <a:schemeClr val="bg1"/>
                  </a:solidFill>
                </a:rPr>
                <a:t>Intuition</a:t>
              </a:r>
            </a:p>
          </p:txBody>
        </p:sp>
        <p:sp>
          <p:nvSpPr>
            <p:cNvPr id="12" name="Shape">
              <a:extLst>
                <a:ext uri="{FF2B5EF4-FFF2-40B4-BE49-F238E27FC236}">
                  <a16:creationId xmlns:a16="http://schemas.microsoft.com/office/drawing/2014/main" id="{5765E6DE-EA3B-4D24-9157-E260D3BD5DD5}"/>
                </a:ext>
              </a:extLst>
            </p:cNvPr>
            <p:cNvSpPr/>
            <p:nvPr/>
          </p:nvSpPr>
          <p:spPr>
            <a:xfrm>
              <a:off x="3023919" y="4204586"/>
              <a:ext cx="1116383"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16638" y="21600"/>
                  </a:lnTo>
                  <a:cubicBezTo>
                    <a:pt x="18614" y="15120"/>
                    <a:pt x="20298" y="7920"/>
                    <a:pt x="21600" y="0"/>
                  </a:cubicBezTo>
                  <a:lnTo>
                    <a:pt x="3705" y="0"/>
                  </a:lnTo>
                  <a:cubicBezTo>
                    <a:pt x="1662" y="0"/>
                    <a:pt x="0" y="4844"/>
                    <a:pt x="0" y="10800"/>
                  </a:cubicBezTo>
                  <a:close/>
                </a:path>
              </a:pathLst>
            </a:custGeom>
            <a:solidFill>
              <a:schemeClr val="accent3"/>
            </a:solidFill>
            <a:ln w="12700">
              <a:miter lim="400000"/>
            </a:ln>
          </p:spPr>
          <p:txBody>
            <a:bodyPr lIns="28575" tIns="28575" rIns="28575" bIns="28575" anchor="ctr"/>
            <a:lstStyle/>
            <a:p>
              <a:pPr>
                <a:defRPr sz="3000">
                  <a:solidFill>
                    <a:srgbClr val="FFFFFF"/>
                  </a:solidFill>
                </a:defRPr>
              </a:pPr>
              <a:endParaRPr sz="2250" dirty="0"/>
            </a:p>
          </p:txBody>
        </p:sp>
        <p:sp>
          <p:nvSpPr>
            <p:cNvPr id="13" name="Shape">
              <a:extLst>
                <a:ext uri="{FF2B5EF4-FFF2-40B4-BE49-F238E27FC236}">
                  <a16:creationId xmlns:a16="http://schemas.microsoft.com/office/drawing/2014/main" id="{F48E4A99-F071-438B-8BA7-50C641A9FE0A}"/>
                </a:ext>
              </a:extLst>
            </p:cNvPr>
            <p:cNvSpPr/>
            <p:nvPr/>
          </p:nvSpPr>
          <p:spPr>
            <a:xfrm>
              <a:off x="3023919" y="3751999"/>
              <a:ext cx="1257960"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19707" y="21600"/>
                  </a:lnTo>
                  <a:cubicBezTo>
                    <a:pt x="20584" y="14793"/>
                    <a:pt x="21241" y="7527"/>
                    <a:pt x="21600" y="0"/>
                  </a:cubicBezTo>
                  <a:lnTo>
                    <a:pt x="3288" y="0"/>
                  </a:lnTo>
                  <a:cubicBezTo>
                    <a:pt x="1475" y="0"/>
                    <a:pt x="0" y="4844"/>
                    <a:pt x="0" y="10800"/>
                  </a:cubicBezTo>
                  <a:close/>
                </a:path>
              </a:pathLst>
            </a:custGeom>
            <a:solidFill>
              <a:schemeClr val="accent5"/>
            </a:solidFill>
            <a:ln w="12700">
              <a:miter lim="400000"/>
            </a:ln>
          </p:spPr>
          <p:txBody>
            <a:bodyPr lIns="28575" tIns="28575" rIns="28575" bIns="28575" anchor="ctr"/>
            <a:lstStyle/>
            <a:p>
              <a:pPr>
                <a:defRPr sz="3000">
                  <a:solidFill>
                    <a:srgbClr val="FFFFFF"/>
                  </a:solidFill>
                </a:defRPr>
              </a:pPr>
              <a:endParaRPr sz="2250" dirty="0"/>
            </a:p>
          </p:txBody>
        </p:sp>
        <p:sp>
          <p:nvSpPr>
            <p:cNvPr id="15" name="Shape">
              <a:extLst>
                <a:ext uri="{FF2B5EF4-FFF2-40B4-BE49-F238E27FC236}">
                  <a16:creationId xmlns:a16="http://schemas.microsoft.com/office/drawing/2014/main" id="{E800C79C-8CCA-4DD4-B5BC-A7480E3D0D0F}"/>
                </a:ext>
              </a:extLst>
            </p:cNvPr>
            <p:cNvSpPr/>
            <p:nvPr/>
          </p:nvSpPr>
          <p:spPr>
            <a:xfrm>
              <a:off x="3023918" y="3299411"/>
              <a:ext cx="1280012"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49" y="21600"/>
                    <a:pt x="3231" y="21600"/>
                  </a:cubicBezTo>
                  <a:lnTo>
                    <a:pt x="21404" y="21600"/>
                  </a:lnTo>
                  <a:cubicBezTo>
                    <a:pt x="21522" y="18065"/>
                    <a:pt x="21600" y="14465"/>
                    <a:pt x="21600" y="10800"/>
                  </a:cubicBezTo>
                  <a:cubicBezTo>
                    <a:pt x="21600" y="7135"/>
                    <a:pt x="21541" y="3535"/>
                    <a:pt x="21404" y="0"/>
                  </a:cubicBezTo>
                  <a:lnTo>
                    <a:pt x="3231" y="0"/>
                  </a:lnTo>
                  <a:cubicBezTo>
                    <a:pt x="1449" y="0"/>
                    <a:pt x="0" y="4844"/>
                    <a:pt x="0" y="10800"/>
                  </a:cubicBezTo>
                  <a:close/>
                </a:path>
              </a:pathLst>
            </a:custGeom>
            <a:solidFill>
              <a:schemeClr val="accent2"/>
            </a:solidFill>
            <a:ln w="12700">
              <a:miter lim="400000"/>
            </a:ln>
          </p:spPr>
          <p:txBody>
            <a:bodyPr lIns="28575" tIns="28575" rIns="28575" bIns="28575" anchor="ctr"/>
            <a:lstStyle/>
            <a:p>
              <a:pPr>
                <a:defRPr sz="3000">
                  <a:solidFill>
                    <a:srgbClr val="FFFFFF"/>
                  </a:solidFill>
                </a:defRPr>
              </a:pPr>
              <a:endParaRPr sz="2250" dirty="0"/>
            </a:p>
          </p:txBody>
        </p:sp>
        <p:sp>
          <p:nvSpPr>
            <p:cNvPr id="16" name="Shape">
              <a:extLst>
                <a:ext uri="{FF2B5EF4-FFF2-40B4-BE49-F238E27FC236}">
                  <a16:creationId xmlns:a16="http://schemas.microsoft.com/office/drawing/2014/main" id="{1FADE9AE-BD74-42C7-B8A7-E0143A403F22}"/>
                </a:ext>
              </a:extLst>
            </p:cNvPr>
            <p:cNvSpPr/>
            <p:nvPr/>
          </p:nvSpPr>
          <p:spPr>
            <a:xfrm>
              <a:off x="3023919" y="2846825"/>
              <a:ext cx="1257960"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21600" y="21600"/>
                  </a:lnTo>
                  <a:cubicBezTo>
                    <a:pt x="21241" y="14073"/>
                    <a:pt x="20584" y="6807"/>
                    <a:pt x="19707" y="0"/>
                  </a:cubicBezTo>
                  <a:lnTo>
                    <a:pt x="3288" y="0"/>
                  </a:lnTo>
                  <a:cubicBezTo>
                    <a:pt x="1475" y="0"/>
                    <a:pt x="0" y="4844"/>
                    <a:pt x="0" y="10800"/>
                  </a:cubicBezTo>
                  <a:close/>
                </a:path>
              </a:pathLst>
            </a:custGeom>
            <a:solidFill>
              <a:schemeClr val="accent6"/>
            </a:solidFill>
            <a:ln w="12700">
              <a:miter lim="400000"/>
            </a:ln>
          </p:spPr>
          <p:txBody>
            <a:bodyPr lIns="28575" tIns="28575" rIns="28575" bIns="28575" anchor="ctr"/>
            <a:lstStyle/>
            <a:p>
              <a:pPr>
                <a:defRPr sz="3000">
                  <a:solidFill>
                    <a:srgbClr val="FFFFFF"/>
                  </a:solidFill>
                </a:defRPr>
              </a:pPr>
              <a:endParaRPr sz="2250" dirty="0"/>
            </a:p>
          </p:txBody>
        </p:sp>
        <p:sp>
          <p:nvSpPr>
            <p:cNvPr id="17" name="Shape">
              <a:extLst>
                <a:ext uri="{FF2B5EF4-FFF2-40B4-BE49-F238E27FC236}">
                  <a16:creationId xmlns:a16="http://schemas.microsoft.com/office/drawing/2014/main" id="{4C2B9201-BB4B-44D7-8A64-B36F8652CB3D}"/>
                </a:ext>
              </a:extLst>
            </p:cNvPr>
            <p:cNvSpPr/>
            <p:nvPr/>
          </p:nvSpPr>
          <p:spPr>
            <a:xfrm>
              <a:off x="3023919" y="2394237"/>
              <a:ext cx="1116383"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21600" y="21600"/>
                  </a:lnTo>
                  <a:cubicBezTo>
                    <a:pt x="20298" y="13745"/>
                    <a:pt x="18614" y="6480"/>
                    <a:pt x="16638" y="0"/>
                  </a:cubicBezTo>
                  <a:lnTo>
                    <a:pt x="3705" y="0"/>
                  </a:lnTo>
                  <a:cubicBezTo>
                    <a:pt x="1662" y="65"/>
                    <a:pt x="0" y="4844"/>
                    <a:pt x="0" y="10800"/>
                  </a:cubicBezTo>
                  <a:close/>
                </a:path>
              </a:pathLst>
            </a:custGeom>
            <a:solidFill>
              <a:schemeClr val="accent4"/>
            </a:solidFill>
            <a:ln w="12700">
              <a:miter lim="400000"/>
            </a:ln>
          </p:spPr>
          <p:txBody>
            <a:bodyPr lIns="28575" tIns="28575" rIns="28575" bIns="28575" anchor="ctr"/>
            <a:lstStyle/>
            <a:p>
              <a:pPr>
                <a:defRPr sz="3000">
                  <a:solidFill>
                    <a:srgbClr val="FFFFFF"/>
                  </a:solidFill>
                </a:defRPr>
              </a:pPr>
              <a:endParaRPr sz="2250" dirty="0"/>
            </a:p>
          </p:txBody>
        </p:sp>
        <p:pic>
          <p:nvPicPr>
            <p:cNvPr id="18" name="Graphic 14" descr="Livres">
              <a:extLst>
                <a:ext uri="{FF2B5EF4-FFF2-40B4-BE49-F238E27FC236}">
                  <a16:creationId xmlns:a16="http://schemas.microsoft.com/office/drawing/2014/main" id="{E0B691F6-9160-4419-9E09-2A62A10DE16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2417565"/>
              <a:ext cx="336304" cy="336304"/>
            </a:xfrm>
            <a:prstGeom prst="rect">
              <a:avLst/>
            </a:prstGeom>
          </p:spPr>
        </p:pic>
        <p:pic>
          <p:nvPicPr>
            <p:cNvPr id="19" name="Graphic 16" descr="Livres">
              <a:extLst>
                <a:ext uri="{FF2B5EF4-FFF2-40B4-BE49-F238E27FC236}">
                  <a16:creationId xmlns:a16="http://schemas.microsoft.com/office/drawing/2014/main" id="{E1C2C439-ECAC-439B-81C2-AAB2DF2B1E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4227914"/>
              <a:ext cx="336304" cy="336304"/>
            </a:xfrm>
            <a:prstGeom prst="rect">
              <a:avLst/>
            </a:prstGeom>
          </p:spPr>
        </p:pic>
        <p:pic>
          <p:nvPicPr>
            <p:cNvPr id="20" name="Graphic 18" descr="Livres">
              <a:extLst>
                <a:ext uri="{FF2B5EF4-FFF2-40B4-BE49-F238E27FC236}">
                  <a16:creationId xmlns:a16="http://schemas.microsoft.com/office/drawing/2014/main" id="{B6D5C645-2972-4A9C-8106-A7C290B265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2870153"/>
              <a:ext cx="336304" cy="336304"/>
            </a:xfrm>
            <a:prstGeom prst="rect">
              <a:avLst/>
            </a:prstGeom>
          </p:spPr>
        </p:pic>
        <p:pic>
          <p:nvPicPr>
            <p:cNvPr id="22" name="Graphic 20" descr="Livres">
              <a:extLst>
                <a:ext uri="{FF2B5EF4-FFF2-40B4-BE49-F238E27FC236}">
                  <a16:creationId xmlns:a16="http://schemas.microsoft.com/office/drawing/2014/main" id="{00C7474F-249B-4530-9F07-C87B6D90051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3322740"/>
              <a:ext cx="336304" cy="336304"/>
            </a:xfrm>
            <a:prstGeom prst="rect">
              <a:avLst/>
            </a:prstGeom>
          </p:spPr>
        </p:pic>
        <p:pic>
          <p:nvPicPr>
            <p:cNvPr id="23" name="Graphic 22" descr="Livres">
              <a:extLst>
                <a:ext uri="{FF2B5EF4-FFF2-40B4-BE49-F238E27FC236}">
                  <a16:creationId xmlns:a16="http://schemas.microsoft.com/office/drawing/2014/main" id="{43041BBB-7FB1-42F7-8118-9DEF5A3868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3775327"/>
              <a:ext cx="336304" cy="336304"/>
            </a:xfrm>
            <a:prstGeom prst="rect">
              <a:avLst/>
            </a:prstGeom>
          </p:spPr>
        </p:pic>
      </p:grpSp>
    </p:spTree>
    <p:extLst>
      <p:ext uri="{BB962C8B-B14F-4D97-AF65-F5344CB8AC3E}">
        <p14:creationId xmlns:p14="http://schemas.microsoft.com/office/powerpoint/2010/main" val="14308690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fontScale="62500" lnSpcReduction="20000"/>
          </a:bodyPr>
          <a:lstStyle/>
          <a:p>
            <a:pPr lvl="1" algn="just">
              <a:lnSpc>
                <a:spcPct val="150000"/>
              </a:lnSpc>
              <a:buClr>
                <a:schemeClr val="accent2"/>
              </a:buClr>
            </a:pPr>
            <a:r>
              <a:rPr lang="fr-FR" sz="1800" dirty="0"/>
              <a:t>Imaginez que vous ayez un ensemble de données contenant les surfaces des maisons (en m²) et leurs prix. </a:t>
            </a:r>
          </a:p>
          <a:p>
            <a:pPr lvl="1" algn="just">
              <a:lnSpc>
                <a:spcPct val="150000"/>
              </a:lnSpc>
              <a:buClr>
                <a:schemeClr val="accent2"/>
              </a:buClr>
            </a:pPr>
            <a:r>
              <a:rPr lang="fr-FR" sz="1800" dirty="0"/>
              <a:t>Vous souhaitez créer un modèle capable de </a:t>
            </a:r>
            <a:r>
              <a:rPr lang="fr-FR" sz="1800" b="1" dirty="0"/>
              <a:t>prédire</a:t>
            </a:r>
            <a:r>
              <a:rPr lang="fr-FR" sz="1800" dirty="0"/>
              <a:t> le prix d'une maison en fonction de sa taille. </a:t>
            </a:r>
          </a:p>
          <a:p>
            <a:pPr lvl="1" algn="just">
              <a:lnSpc>
                <a:spcPct val="150000"/>
              </a:lnSpc>
              <a:buClr>
                <a:schemeClr val="accent2"/>
              </a:buClr>
            </a:pPr>
            <a:r>
              <a:rPr lang="fr-FR" sz="1800" dirty="0"/>
              <a:t>La régression linéaire vous aide à trouver la « ligne de meilleur ajustement » qui représente la relation entre la taille de la maison et son prix. </a:t>
            </a:r>
          </a:p>
          <a:p>
            <a:pPr lvl="1" algn="just">
              <a:lnSpc>
                <a:spcPct val="150000"/>
              </a:lnSpc>
              <a:buClr>
                <a:schemeClr val="accent2"/>
              </a:buClr>
            </a:pPr>
            <a:r>
              <a:rPr lang="fr-FR" sz="1800" dirty="0"/>
              <a:t>Cette ligne peut être utilisée pour faire des </a:t>
            </a:r>
            <a:r>
              <a:rPr lang="fr-FR" sz="1800" b="1" dirty="0"/>
              <a:t>prédictions</a:t>
            </a:r>
            <a:r>
              <a:rPr lang="fr-FR" sz="1800" dirty="0"/>
              <a:t> pour les nouvelles tailles de maison.</a:t>
            </a:r>
          </a:p>
          <a:p>
            <a:pPr lvl="1" algn="just">
              <a:lnSpc>
                <a:spcPct val="150000"/>
              </a:lnSpc>
              <a:buClr>
                <a:schemeClr val="accent2"/>
              </a:buClr>
            </a:pPr>
            <a:r>
              <a:rPr lang="fr-FR" sz="1800" dirty="0"/>
              <a:t>Intuitivement, la ligne de meilleur ajustement est celle qui minimise la distance totale entre les prix immobiliers réels et les prix immobiliers prédits (l'erreur). En ajustant les coefficients (la pente et l'ordonnée à l'origine de la ligne), nous pouvons trouver la ligne qui représente le mieux la relation entre la caractéristique d'entrée (taille de la maison) et la variable cible (prix de la maison).</a:t>
            </a:r>
            <a:endParaRPr lang="fr-FR" dirty="0"/>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73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linéaire simple : </a:t>
            </a:r>
            <a:r>
              <a:rPr lang="fr-FR" sz="2100" b="0" dirty="0"/>
              <a:t>intuition</a:t>
            </a:r>
          </a:p>
        </p:txBody>
      </p:sp>
    </p:spTree>
    <p:extLst>
      <p:ext uri="{BB962C8B-B14F-4D97-AF65-F5344CB8AC3E}">
        <p14:creationId xmlns:p14="http://schemas.microsoft.com/office/powerpoint/2010/main" val="7440016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74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linéaire simple : </a:t>
            </a:r>
            <a:r>
              <a:rPr lang="fr-FR" sz="2100" b="0" dirty="0"/>
              <a:t>intuition</a:t>
            </a:r>
          </a:p>
        </p:txBody>
      </p:sp>
      <p:grpSp>
        <p:nvGrpSpPr>
          <p:cNvPr id="36" name="Groupe 35">
            <a:extLst>
              <a:ext uri="{FF2B5EF4-FFF2-40B4-BE49-F238E27FC236}">
                <a16:creationId xmlns:a16="http://schemas.microsoft.com/office/drawing/2014/main" id="{651DF8C3-767D-4A93-AD4C-8DFCBBE09692}"/>
              </a:ext>
            </a:extLst>
          </p:cNvPr>
          <p:cNvGrpSpPr/>
          <p:nvPr/>
        </p:nvGrpSpPr>
        <p:grpSpPr>
          <a:xfrm>
            <a:off x="631147" y="1034660"/>
            <a:ext cx="6365333" cy="4006446"/>
            <a:chOff x="841528" y="1379547"/>
            <a:chExt cx="8487111" cy="5341928"/>
          </a:xfrm>
        </p:grpSpPr>
        <p:grpSp>
          <p:nvGrpSpPr>
            <p:cNvPr id="34" name="Groupe 33">
              <a:extLst>
                <a:ext uri="{FF2B5EF4-FFF2-40B4-BE49-F238E27FC236}">
                  <a16:creationId xmlns:a16="http://schemas.microsoft.com/office/drawing/2014/main" id="{7C8EC273-FA56-4843-AB84-7AB6B87B0B45}"/>
                </a:ext>
              </a:extLst>
            </p:cNvPr>
            <p:cNvGrpSpPr/>
            <p:nvPr/>
          </p:nvGrpSpPr>
          <p:grpSpPr>
            <a:xfrm>
              <a:off x="841528" y="1379547"/>
              <a:ext cx="8487111" cy="5341928"/>
              <a:chOff x="841528" y="1379547"/>
              <a:chExt cx="8487111" cy="5341928"/>
            </a:xfrm>
          </p:grpSpPr>
          <p:pic>
            <p:nvPicPr>
              <p:cNvPr id="4" name="Image 3">
                <a:extLst>
                  <a:ext uri="{FF2B5EF4-FFF2-40B4-BE49-F238E27FC236}">
                    <a16:creationId xmlns:a16="http://schemas.microsoft.com/office/drawing/2014/main" id="{2F7FD7FB-C920-4937-8F46-C2039C55C908}"/>
                  </a:ext>
                </a:extLst>
              </p:cNvPr>
              <p:cNvPicPr>
                <a:picLocks noChangeAspect="1"/>
              </p:cNvPicPr>
              <p:nvPr/>
            </p:nvPicPr>
            <p:blipFill>
              <a:blip r:embed="rId2"/>
              <a:stretch>
                <a:fillRect/>
              </a:stretch>
            </p:blipFill>
            <p:spPr>
              <a:xfrm>
                <a:off x="841528" y="1379547"/>
                <a:ext cx="8487111" cy="5341928"/>
              </a:xfrm>
              <a:prstGeom prst="rect">
                <a:avLst/>
              </a:prstGeom>
            </p:spPr>
          </p:pic>
          <p:cxnSp>
            <p:nvCxnSpPr>
              <p:cNvPr id="6" name="Connecteur droit 5">
                <a:extLst>
                  <a:ext uri="{FF2B5EF4-FFF2-40B4-BE49-F238E27FC236}">
                    <a16:creationId xmlns:a16="http://schemas.microsoft.com/office/drawing/2014/main" id="{E00FF6CF-27BE-44AF-84D6-B49CE21DB2EE}"/>
                  </a:ext>
                </a:extLst>
              </p:cNvPr>
              <p:cNvCxnSpPr/>
              <p:nvPr/>
            </p:nvCxnSpPr>
            <p:spPr>
              <a:xfrm>
                <a:off x="2184400" y="2908300"/>
                <a:ext cx="0" cy="226060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90FD8873-865E-4E0C-B7FC-BEDEA30608D3}"/>
                  </a:ext>
                </a:extLst>
              </p:cNvPr>
              <p:cNvCxnSpPr>
                <a:cxnSpLocks/>
              </p:cNvCxnSpPr>
              <p:nvPr/>
            </p:nvCxnSpPr>
            <p:spPr>
              <a:xfrm>
                <a:off x="3333750" y="2495550"/>
                <a:ext cx="0" cy="236220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32E13AA8-52EC-418C-913F-4D9B5BFEC807}"/>
                  </a:ext>
                </a:extLst>
              </p:cNvPr>
              <p:cNvCxnSpPr>
                <a:cxnSpLocks/>
              </p:cNvCxnSpPr>
              <p:nvPr/>
            </p:nvCxnSpPr>
            <p:spPr>
              <a:xfrm>
                <a:off x="4972050" y="4362450"/>
                <a:ext cx="0" cy="107950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0B963561-CFE0-4465-B99A-0CF8AF1E4AB3}"/>
                  </a:ext>
                </a:extLst>
              </p:cNvPr>
              <p:cNvCxnSpPr>
                <a:cxnSpLocks/>
              </p:cNvCxnSpPr>
              <p:nvPr/>
            </p:nvCxnSpPr>
            <p:spPr>
              <a:xfrm>
                <a:off x="6203950" y="4013200"/>
                <a:ext cx="0" cy="98425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C92E9305-4822-46F7-9A47-7F6DB21CBEFA}"/>
                  </a:ext>
                </a:extLst>
              </p:cNvPr>
              <p:cNvCxnSpPr>
                <a:cxnSpLocks/>
              </p:cNvCxnSpPr>
              <p:nvPr/>
            </p:nvCxnSpPr>
            <p:spPr>
              <a:xfrm>
                <a:off x="6699250" y="3695700"/>
                <a:ext cx="0" cy="17780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93B675AF-759D-4BF0-B128-DB472D809842}"/>
                  </a:ext>
                </a:extLst>
              </p:cNvPr>
              <p:cNvCxnSpPr>
                <a:cxnSpLocks/>
              </p:cNvCxnSpPr>
              <p:nvPr/>
            </p:nvCxnSpPr>
            <p:spPr>
              <a:xfrm>
                <a:off x="5060950" y="2768600"/>
                <a:ext cx="0" cy="156210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45EA7D13-27D2-4544-939B-57F2929A8C4F}"/>
                  </a:ext>
                </a:extLst>
              </p:cNvPr>
              <p:cNvCxnSpPr>
                <a:cxnSpLocks/>
              </p:cNvCxnSpPr>
              <p:nvPr/>
            </p:nvCxnSpPr>
            <p:spPr>
              <a:xfrm>
                <a:off x="8585200" y="3340100"/>
                <a:ext cx="0" cy="53340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B4341E58-412F-4D2D-8757-A7A9749F3ADA}"/>
                  </a:ext>
                </a:extLst>
              </p:cNvPr>
              <p:cNvCxnSpPr>
                <a:cxnSpLocks/>
              </p:cNvCxnSpPr>
              <p:nvPr/>
            </p:nvCxnSpPr>
            <p:spPr>
              <a:xfrm>
                <a:off x="7442200" y="2438400"/>
                <a:ext cx="0" cy="122760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31" name="Connecteur droit 30">
                <a:extLst>
                  <a:ext uri="{FF2B5EF4-FFF2-40B4-BE49-F238E27FC236}">
                    <a16:creationId xmlns:a16="http://schemas.microsoft.com/office/drawing/2014/main" id="{21D6DEB3-79C5-4FD1-A467-E6A1D32F665B}"/>
                  </a:ext>
                </a:extLst>
              </p:cNvPr>
              <p:cNvCxnSpPr>
                <a:cxnSpLocks/>
              </p:cNvCxnSpPr>
              <p:nvPr/>
            </p:nvCxnSpPr>
            <p:spPr>
              <a:xfrm>
                <a:off x="1771650" y="5302250"/>
                <a:ext cx="0" cy="78105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33" name="Connecteur droit 32">
                <a:extLst>
                  <a:ext uri="{FF2B5EF4-FFF2-40B4-BE49-F238E27FC236}">
                    <a16:creationId xmlns:a16="http://schemas.microsoft.com/office/drawing/2014/main" id="{81C128B8-20CE-404E-96DF-3007E4C945F8}"/>
                  </a:ext>
                </a:extLst>
              </p:cNvPr>
              <p:cNvCxnSpPr>
                <a:cxnSpLocks/>
              </p:cNvCxnSpPr>
              <p:nvPr/>
            </p:nvCxnSpPr>
            <p:spPr>
              <a:xfrm>
                <a:off x="7689850" y="3587750"/>
                <a:ext cx="0" cy="205740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grpSp>
        <p:sp>
          <p:nvSpPr>
            <p:cNvPr id="35" name="Légende : flèche courbée sans bordure 34">
              <a:extLst>
                <a:ext uri="{FF2B5EF4-FFF2-40B4-BE49-F238E27FC236}">
                  <a16:creationId xmlns:a16="http://schemas.microsoft.com/office/drawing/2014/main" id="{96050CE8-AB7F-4474-AF07-CE1FC04CE657}"/>
                </a:ext>
              </a:extLst>
            </p:cNvPr>
            <p:cNvSpPr/>
            <p:nvPr/>
          </p:nvSpPr>
          <p:spPr>
            <a:xfrm>
              <a:off x="5752860" y="3162300"/>
              <a:ext cx="997430" cy="193431"/>
            </a:xfrm>
            <a:prstGeom prst="callout2">
              <a:avLst>
                <a:gd name="adj1" fmla="val 18750"/>
                <a:gd name="adj2" fmla="val -8333"/>
                <a:gd name="adj3" fmla="val 18750"/>
                <a:gd name="adj4" fmla="val -16667"/>
                <a:gd name="adj5" fmla="val 144319"/>
                <a:gd name="adj6" fmla="val -65179"/>
              </a:avLst>
            </a:prstGeom>
            <a:solidFill>
              <a:schemeClr val="bg1">
                <a:lumMod val="95000"/>
              </a:schemeClr>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1200" dirty="0">
                  <a:solidFill>
                    <a:srgbClr val="FF0000"/>
                  </a:solidFill>
                </a:rPr>
                <a:t>résidus</a:t>
              </a:r>
            </a:p>
          </p:txBody>
        </p:sp>
      </p:grpSp>
    </p:spTree>
    <p:extLst>
      <p:ext uri="{BB962C8B-B14F-4D97-AF65-F5344CB8AC3E}">
        <p14:creationId xmlns:p14="http://schemas.microsoft.com/office/powerpoint/2010/main" val="2443990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4790"/>
          </a:xfrm>
        </p:spPr>
        <p:txBody>
          <a:bodyPr>
            <a:normAutofit fontScale="55000" lnSpcReduction="20000"/>
          </a:bodyPr>
          <a:lstStyle/>
          <a:p>
            <a:pPr lvl="1" algn="just">
              <a:lnSpc>
                <a:spcPct val="150000"/>
              </a:lnSpc>
              <a:buClr>
                <a:schemeClr val="accent2"/>
              </a:buClr>
            </a:pPr>
            <a:r>
              <a:rPr lang="fr-FR" sz="1800" dirty="0"/>
              <a:t>L’essentiel à savoir : </a:t>
            </a:r>
            <a:r>
              <a:rPr lang="fr-FR" sz="1800" dirty="0">
                <a:solidFill>
                  <a:srgbClr val="00194C"/>
                </a:solidFill>
              </a:rPr>
              <a:t>définition</a:t>
            </a:r>
          </a:p>
          <a:p>
            <a:pPr lvl="2" algn="just">
              <a:lnSpc>
                <a:spcPct val="150000"/>
              </a:lnSpc>
              <a:buClr>
                <a:schemeClr val="accent2"/>
              </a:buClr>
            </a:pPr>
            <a:r>
              <a:rPr lang="fr-FR" dirty="0"/>
              <a:t>Méthode statistique permettant de modéliser la relation linéaire entre deux variables quantitatives.</a:t>
            </a:r>
          </a:p>
          <a:p>
            <a:pPr lvl="2" algn="just">
              <a:lnSpc>
                <a:spcPct val="150000"/>
              </a:lnSpc>
              <a:buClr>
                <a:schemeClr val="accent2"/>
              </a:buClr>
            </a:pPr>
            <a:r>
              <a:rPr lang="fr-FR" dirty="0"/>
              <a:t>Par exemple, on dispose du nombre d’heures d’études de quelques étudiants et leurs notes obtenues à l’examen.</a:t>
            </a:r>
          </a:p>
          <a:p>
            <a:pPr lvl="2" algn="just">
              <a:lnSpc>
                <a:spcPct val="150000"/>
              </a:lnSpc>
              <a:buClr>
                <a:schemeClr val="accent2"/>
              </a:buClr>
            </a:pPr>
            <a:r>
              <a:rPr lang="fr-FR" dirty="0"/>
              <a:t>Il est possible de construire un modèle linéaire qui saurait :</a:t>
            </a:r>
          </a:p>
          <a:p>
            <a:pPr lvl="3" algn="just">
              <a:lnSpc>
                <a:spcPct val="150000"/>
              </a:lnSpc>
              <a:buClr>
                <a:schemeClr val="accent2"/>
              </a:buClr>
            </a:pPr>
            <a:r>
              <a:rPr lang="fr-FR" dirty="0"/>
              <a:t>Expliquer l’impact du nombre d’heures sur les notes à l’examen</a:t>
            </a:r>
          </a:p>
          <a:p>
            <a:pPr lvl="3" algn="just">
              <a:lnSpc>
                <a:spcPct val="150000"/>
              </a:lnSpc>
              <a:buClr>
                <a:schemeClr val="accent2"/>
              </a:buClr>
            </a:pPr>
            <a:r>
              <a:rPr lang="fr-FR" dirty="0"/>
              <a:t>Prédire la notre qu’un étudiant pourrait obtenir en fonction des heures de révision</a:t>
            </a:r>
          </a:p>
          <a:p>
            <a:pPr lvl="2" algn="just">
              <a:lnSpc>
                <a:spcPct val="150000"/>
              </a:lnSpc>
              <a:buClr>
                <a:schemeClr val="accent2"/>
              </a:buClr>
            </a:pPr>
            <a:r>
              <a:rPr lang="fr-FR" dirty="0"/>
              <a:t>Objectif double de la régression linéaire : </a:t>
            </a:r>
          </a:p>
          <a:p>
            <a:pPr lvl="3" algn="just">
              <a:lnSpc>
                <a:spcPct val="150000"/>
              </a:lnSpc>
              <a:buClr>
                <a:schemeClr val="accent2"/>
              </a:buClr>
            </a:pPr>
            <a:r>
              <a:rPr lang="fr-FR" b="1" dirty="0"/>
              <a:t>Explicatif :</a:t>
            </a:r>
            <a:r>
              <a:rPr lang="fr-FR" dirty="0"/>
              <a:t> montrer à quel point la variable à expliquer impacte la variable explicative.</a:t>
            </a:r>
          </a:p>
          <a:p>
            <a:pPr lvl="3" algn="just">
              <a:lnSpc>
                <a:spcPct val="150000"/>
              </a:lnSpc>
              <a:buClr>
                <a:schemeClr val="accent2"/>
              </a:buClr>
            </a:pPr>
            <a:r>
              <a:rPr lang="fr-FR" b="1" dirty="0"/>
              <a:t>Prévisionnel :</a:t>
            </a:r>
            <a:r>
              <a:rPr lang="fr-FR" dirty="0"/>
              <a:t> valeur espérée prise par la variable expliquée.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75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linéaire simple</a:t>
            </a:r>
            <a:endParaRPr lang="fr-FR" sz="2100" b="0" dirty="0"/>
          </a:p>
        </p:txBody>
      </p:sp>
    </p:spTree>
    <p:extLst>
      <p:ext uri="{BB962C8B-B14F-4D97-AF65-F5344CB8AC3E}">
        <p14:creationId xmlns:p14="http://schemas.microsoft.com/office/powerpoint/2010/main" val="44249426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76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linéaire simple</a:t>
            </a:r>
            <a:endParaRPr lang="fr-FR" sz="2100" b="0" dirty="0"/>
          </a:p>
        </p:txBody>
      </p:sp>
      <p:pic>
        <p:nvPicPr>
          <p:cNvPr id="15" name="Image 14">
            <a:extLst>
              <a:ext uri="{FF2B5EF4-FFF2-40B4-BE49-F238E27FC236}">
                <a16:creationId xmlns:a16="http://schemas.microsoft.com/office/drawing/2014/main" id="{3759B43C-7126-4711-986D-2A8D710C4311}"/>
              </a:ext>
            </a:extLst>
          </p:cNvPr>
          <p:cNvPicPr>
            <a:picLocks noChangeAspect="1"/>
          </p:cNvPicPr>
          <p:nvPr/>
        </p:nvPicPr>
        <p:blipFill>
          <a:blip r:embed="rId2"/>
          <a:stretch>
            <a:fillRect/>
          </a:stretch>
        </p:blipFill>
        <p:spPr>
          <a:xfrm>
            <a:off x="613807" y="1697311"/>
            <a:ext cx="3534559" cy="2081527"/>
          </a:xfrm>
          <a:prstGeom prst="rect">
            <a:avLst/>
          </a:prstGeom>
        </p:spPr>
      </p:pic>
      <p:pic>
        <p:nvPicPr>
          <p:cNvPr id="16" name="Image 15">
            <a:extLst>
              <a:ext uri="{FF2B5EF4-FFF2-40B4-BE49-F238E27FC236}">
                <a16:creationId xmlns:a16="http://schemas.microsoft.com/office/drawing/2014/main" id="{C20B168C-25D6-4FFC-98AC-21F801B0B4C2}"/>
              </a:ext>
            </a:extLst>
          </p:cNvPr>
          <p:cNvPicPr>
            <a:picLocks noChangeAspect="1"/>
          </p:cNvPicPr>
          <p:nvPr/>
        </p:nvPicPr>
        <p:blipFill>
          <a:blip r:embed="rId3"/>
          <a:stretch>
            <a:fillRect/>
          </a:stretch>
        </p:blipFill>
        <p:spPr>
          <a:xfrm>
            <a:off x="4279840" y="1697224"/>
            <a:ext cx="3509643" cy="2081700"/>
          </a:xfrm>
          <a:prstGeom prst="rect">
            <a:avLst/>
          </a:prstGeom>
        </p:spPr>
      </p:pic>
      <mc:AlternateContent xmlns:mc="http://schemas.openxmlformats.org/markup-compatibility/2006" xmlns:a14="http://schemas.microsoft.com/office/drawing/2010/main">
        <mc:Choice Requires="a14">
          <p:sp>
            <p:nvSpPr>
              <p:cNvPr id="17" name="Espace réservé du contenu 2">
                <a:extLst>
                  <a:ext uri="{FF2B5EF4-FFF2-40B4-BE49-F238E27FC236}">
                    <a16:creationId xmlns:a16="http://schemas.microsoft.com/office/drawing/2014/main" id="{E5AAECB2-F054-4272-8A4C-5D0E62C34C67}"/>
                  </a:ext>
                </a:extLst>
              </p:cNvPr>
              <p:cNvSpPr txBox="1">
                <a:spLocks/>
              </p:cNvSpPr>
              <p:nvPr/>
            </p:nvSpPr>
            <p:spPr>
              <a:xfrm>
                <a:off x="497205" y="3875708"/>
                <a:ext cx="3651161" cy="858947"/>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fr-FR" sz="1500" dirty="0"/>
                  <a:t>Ici on veut modéliser la relation linéaire entre le nombre d’heures de révisions (</a:t>
                </a:r>
                <a14:m>
                  <m:oMath xmlns:m="http://schemas.openxmlformats.org/officeDocument/2006/math">
                    <m:r>
                      <a:rPr lang="fr-FR" sz="1500">
                        <a:latin typeface="Cambria Math" panose="02040503050406030204" pitchFamily="18" charset="0"/>
                      </a:rPr>
                      <m:t>𝑋</m:t>
                    </m:r>
                  </m:oMath>
                </a14:m>
                <a:r>
                  <a:rPr lang="fr-FR" sz="1500" dirty="0"/>
                  <a:t>) et le score obtenu à l’examen (</a:t>
                </a:r>
                <a14:m>
                  <m:oMath xmlns:m="http://schemas.openxmlformats.org/officeDocument/2006/math">
                    <m:r>
                      <m:rPr>
                        <m:sty m:val="p"/>
                      </m:rPr>
                      <a:rPr lang="fr-FR" sz="1500">
                        <a:latin typeface="Cambria Math" panose="02040503050406030204" pitchFamily="18" charset="0"/>
                      </a:rPr>
                      <m:t>Y</m:t>
                    </m:r>
                  </m:oMath>
                </a14:m>
                <a:r>
                  <a:rPr lang="fr-FR" sz="1500" dirty="0"/>
                  <a:t>).</a:t>
                </a:r>
              </a:p>
            </p:txBody>
          </p:sp>
        </mc:Choice>
        <mc:Fallback xmlns="">
          <p:sp>
            <p:nvSpPr>
              <p:cNvPr id="17" name="Espace réservé du contenu 2">
                <a:extLst>
                  <a:ext uri="{FF2B5EF4-FFF2-40B4-BE49-F238E27FC236}">
                    <a16:creationId xmlns:a16="http://schemas.microsoft.com/office/drawing/2014/main" id="{E5AAECB2-F054-4272-8A4C-5D0E62C34C67}"/>
                  </a:ext>
                </a:extLst>
              </p:cNvPr>
              <p:cNvSpPr txBox="1">
                <a:spLocks noRot="1" noChangeAspect="1" noMove="1" noResize="1" noEditPoints="1" noAdjustHandles="1" noChangeArrowheads="1" noChangeShapeType="1" noTextEdit="1"/>
              </p:cNvSpPr>
              <p:nvPr/>
            </p:nvSpPr>
            <p:spPr>
              <a:xfrm>
                <a:off x="497205" y="3875708"/>
                <a:ext cx="3651161" cy="858947"/>
              </a:xfrm>
              <a:prstGeom prst="rect">
                <a:avLst/>
              </a:prstGeom>
              <a:blipFill>
                <a:blip r:embed="rId4"/>
                <a:stretch>
                  <a:fillRect l="-501" t="-6383" r="-668" b="-3546"/>
                </a:stretch>
              </a:blipFill>
            </p:spPr>
            <p:txBody>
              <a:bodyPr/>
              <a:lstStyle/>
              <a:p>
                <a:r>
                  <a:rPr lang="fr-FR">
                    <a:noFill/>
                  </a:rPr>
                  <a:t> </a:t>
                </a:r>
              </a:p>
            </p:txBody>
          </p:sp>
        </mc:Fallback>
      </mc:AlternateContent>
      <p:sp>
        <p:nvSpPr>
          <p:cNvPr id="18" name="Espace réservé du contenu 2">
            <a:extLst>
              <a:ext uri="{FF2B5EF4-FFF2-40B4-BE49-F238E27FC236}">
                <a16:creationId xmlns:a16="http://schemas.microsoft.com/office/drawing/2014/main" id="{D7AAEDCE-B879-4829-843A-2CB8A706D28C}"/>
              </a:ext>
            </a:extLst>
          </p:cNvPr>
          <p:cNvSpPr txBox="1">
            <a:spLocks/>
          </p:cNvSpPr>
          <p:nvPr/>
        </p:nvSpPr>
        <p:spPr>
          <a:xfrm>
            <a:off x="4209081" y="3874012"/>
            <a:ext cx="3651161" cy="85894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fr-FR" sz="1500" dirty="0"/>
              <a:t>Idée sous-jacente : Le score à l’examen peut être expliqué par le nombre d’heures de révisions.</a:t>
            </a:r>
          </a:p>
        </p:txBody>
      </p:sp>
    </p:spTree>
    <p:extLst>
      <p:ext uri="{BB962C8B-B14F-4D97-AF65-F5344CB8AC3E}">
        <p14:creationId xmlns:p14="http://schemas.microsoft.com/office/powerpoint/2010/main" val="2051058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77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linéaire simple</a:t>
            </a:r>
            <a:endParaRPr lang="fr-FR" sz="2100" b="0" dirty="0"/>
          </a:p>
        </p:txBody>
      </p:sp>
      <p:pic>
        <p:nvPicPr>
          <p:cNvPr id="15" name="Image 14">
            <a:extLst>
              <a:ext uri="{FF2B5EF4-FFF2-40B4-BE49-F238E27FC236}">
                <a16:creationId xmlns:a16="http://schemas.microsoft.com/office/drawing/2014/main" id="{3759B43C-7126-4711-986D-2A8D710C4311}"/>
              </a:ext>
            </a:extLst>
          </p:cNvPr>
          <p:cNvPicPr>
            <a:picLocks noChangeAspect="1"/>
          </p:cNvPicPr>
          <p:nvPr/>
        </p:nvPicPr>
        <p:blipFill>
          <a:blip r:embed="rId2"/>
          <a:stretch>
            <a:fillRect/>
          </a:stretch>
        </p:blipFill>
        <p:spPr>
          <a:xfrm>
            <a:off x="613807" y="1697311"/>
            <a:ext cx="3534559" cy="2081527"/>
          </a:xfrm>
          <a:prstGeom prst="rect">
            <a:avLst/>
          </a:prstGeom>
        </p:spPr>
      </p:pic>
      <p:pic>
        <p:nvPicPr>
          <p:cNvPr id="16" name="Image 15">
            <a:extLst>
              <a:ext uri="{FF2B5EF4-FFF2-40B4-BE49-F238E27FC236}">
                <a16:creationId xmlns:a16="http://schemas.microsoft.com/office/drawing/2014/main" id="{C20B168C-25D6-4FFC-98AC-21F801B0B4C2}"/>
              </a:ext>
            </a:extLst>
          </p:cNvPr>
          <p:cNvPicPr>
            <a:picLocks noChangeAspect="1"/>
          </p:cNvPicPr>
          <p:nvPr/>
        </p:nvPicPr>
        <p:blipFill>
          <a:blip r:embed="rId3"/>
          <a:stretch>
            <a:fillRect/>
          </a:stretch>
        </p:blipFill>
        <p:spPr>
          <a:xfrm>
            <a:off x="4279840" y="1697224"/>
            <a:ext cx="3509643" cy="2081700"/>
          </a:xfrm>
          <a:prstGeom prst="rect">
            <a:avLst/>
          </a:prstGeom>
        </p:spPr>
      </p:pic>
      <p:grpSp>
        <p:nvGrpSpPr>
          <p:cNvPr id="8" name="Groupe 7">
            <a:extLst>
              <a:ext uri="{FF2B5EF4-FFF2-40B4-BE49-F238E27FC236}">
                <a16:creationId xmlns:a16="http://schemas.microsoft.com/office/drawing/2014/main" id="{330D0AF3-B004-4BAB-B8FE-E6B167448AFB}"/>
              </a:ext>
            </a:extLst>
          </p:cNvPr>
          <p:cNvGrpSpPr/>
          <p:nvPr/>
        </p:nvGrpSpPr>
        <p:grpSpPr>
          <a:xfrm>
            <a:off x="1354518" y="3754559"/>
            <a:ext cx="6434965" cy="1109092"/>
            <a:chOff x="1601275" y="5006078"/>
            <a:chExt cx="8579953" cy="1478789"/>
          </a:xfrm>
        </p:grpSpPr>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11769896-5BB8-45D7-8BD2-2842204AC187}"/>
                    </a:ext>
                  </a:extLst>
                </p:cNvPr>
                <p:cNvSpPr txBox="1"/>
                <p:nvPr/>
              </p:nvSpPr>
              <p:spPr>
                <a:xfrm>
                  <a:off x="4491704" y="5006078"/>
                  <a:ext cx="2193701" cy="4001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350" i="1">
                            <a:latin typeface="Cambria Math" panose="02040503050406030204" pitchFamily="18" charset="0"/>
                          </a:rPr>
                          <m:t>𝑌</m:t>
                        </m:r>
                        <m:r>
                          <a:rPr lang="fr-FR" sz="1350" i="1">
                            <a:latin typeface="Cambria Math" panose="02040503050406030204" pitchFamily="18" charset="0"/>
                          </a:rPr>
                          <m:t>=</m:t>
                        </m:r>
                        <m:sSub>
                          <m:sSubPr>
                            <m:ctrlPr>
                              <a:rPr lang="fr-FR" sz="1350" i="1">
                                <a:solidFill>
                                  <a:srgbClr val="836967"/>
                                </a:solidFill>
                                <a:latin typeface="Cambria Math" panose="02040503050406030204" pitchFamily="18" charset="0"/>
                              </a:rPr>
                            </m:ctrlPr>
                          </m:sSubPr>
                          <m:e>
                            <m:r>
                              <a:rPr lang="fr-FR" sz="1350" i="1">
                                <a:latin typeface="Cambria Math" panose="02040503050406030204" pitchFamily="18" charset="0"/>
                              </a:rPr>
                              <m:t>𝛽</m:t>
                            </m:r>
                          </m:e>
                          <m:sub>
                            <m:r>
                              <a:rPr lang="fr-FR" sz="1350" i="1">
                                <a:latin typeface="Cambria Math" panose="02040503050406030204" pitchFamily="18" charset="0"/>
                              </a:rPr>
                              <m:t>0</m:t>
                            </m:r>
                          </m:sub>
                        </m:sSub>
                        <m:r>
                          <a:rPr lang="fr-FR" sz="1350" i="1">
                            <a:latin typeface="Cambria Math" panose="02040503050406030204" pitchFamily="18" charset="0"/>
                          </a:rPr>
                          <m:t>+</m:t>
                        </m:r>
                        <m:sSub>
                          <m:sSubPr>
                            <m:ctrlPr>
                              <a:rPr lang="fr-FR" sz="1350" i="1">
                                <a:solidFill>
                                  <a:srgbClr val="836967"/>
                                </a:solidFill>
                                <a:latin typeface="Cambria Math" panose="02040503050406030204" pitchFamily="18" charset="0"/>
                              </a:rPr>
                            </m:ctrlPr>
                          </m:sSubPr>
                          <m:e>
                            <m:r>
                              <a:rPr lang="fr-FR" sz="1350" i="1">
                                <a:latin typeface="Cambria Math" panose="02040503050406030204" pitchFamily="18" charset="0"/>
                              </a:rPr>
                              <m:t>𝛽</m:t>
                            </m:r>
                          </m:e>
                          <m:sub>
                            <m:r>
                              <a:rPr lang="fr-FR" sz="1350" i="1">
                                <a:latin typeface="Cambria Math" panose="02040503050406030204" pitchFamily="18" charset="0"/>
                              </a:rPr>
                              <m:t>1</m:t>
                            </m:r>
                          </m:sub>
                        </m:sSub>
                        <m:r>
                          <a:rPr lang="fr-FR" sz="1350" i="1">
                            <a:latin typeface="Cambria Math" panose="02040503050406030204" pitchFamily="18" charset="0"/>
                          </a:rPr>
                          <m:t>𝑋</m:t>
                        </m:r>
                        <m:r>
                          <a:rPr lang="fr-FR" sz="1350" i="1">
                            <a:latin typeface="Cambria Math" panose="02040503050406030204" pitchFamily="18" charset="0"/>
                          </a:rPr>
                          <m:t>+</m:t>
                        </m:r>
                        <m:r>
                          <a:rPr lang="fr-FR" sz="1350" i="1">
                            <a:latin typeface="Cambria Math" panose="02040503050406030204" pitchFamily="18" charset="0"/>
                          </a:rPr>
                          <m:t>𝜀</m:t>
                        </m:r>
                      </m:oMath>
                    </m:oMathPara>
                  </a14:m>
                  <a:endParaRPr lang="fr-FR" sz="1350" dirty="0"/>
                </a:p>
              </p:txBody>
            </p:sp>
          </mc:Choice>
          <mc:Fallback xmlns="">
            <p:sp>
              <p:nvSpPr>
                <p:cNvPr id="9" name="ZoneTexte 8">
                  <a:extLst>
                    <a:ext uri="{FF2B5EF4-FFF2-40B4-BE49-F238E27FC236}">
                      <a16:creationId xmlns:a16="http://schemas.microsoft.com/office/drawing/2014/main" id="{11769896-5BB8-45D7-8BD2-2842204AC187}"/>
                    </a:ext>
                  </a:extLst>
                </p:cNvPr>
                <p:cNvSpPr txBox="1">
                  <a:spLocks noRot="1" noChangeAspect="1" noMove="1" noResize="1" noEditPoints="1" noAdjustHandles="1" noChangeArrowheads="1" noChangeShapeType="1" noTextEdit="1"/>
                </p:cNvSpPr>
                <p:nvPr/>
              </p:nvSpPr>
              <p:spPr>
                <a:xfrm>
                  <a:off x="4491704" y="5006078"/>
                  <a:ext cx="2193701" cy="400109"/>
                </a:xfrm>
                <a:prstGeom prst="rect">
                  <a:avLst/>
                </a:prstGeom>
                <a:blipFill>
                  <a:blip r:embed="rId4"/>
                  <a:stretch>
                    <a:fillRect b="-10204"/>
                  </a:stretch>
                </a:blipFill>
              </p:spPr>
              <p:txBody>
                <a:bodyPr/>
                <a:lstStyle/>
                <a:p>
                  <a:r>
                    <a:rPr lang="fr-FR">
                      <a:noFill/>
                    </a:rPr>
                    <a:t> </a:t>
                  </a:r>
                </a:p>
              </p:txBody>
            </p:sp>
          </mc:Fallback>
        </mc:AlternateContent>
        <p:sp>
          <p:nvSpPr>
            <p:cNvPr id="10" name="Légende : encadrée sans bordure 9">
              <a:extLst>
                <a:ext uri="{FF2B5EF4-FFF2-40B4-BE49-F238E27FC236}">
                  <a16:creationId xmlns:a16="http://schemas.microsoft.com/office/drawing/2014/main" id="{A0E12E4C-B084-4960-8899-354D15CB6920}"/>
                </a:ext>
              </a:extLst>
            </p:cNvPr>
            <p:cNvSpPr/>
            <p:nvPr/>
          </p:nvSpPr>
          <p:spPr>
            <a:xfrm>
              <a:off x="7798637" y="5169474"/>
              <a:ext cx="2382591" cy="373487"/>
            </a:xfrm>
            <a:prstGeom prst="callout1">
              <a:avLst>
                <a:gd name="adj1" fmla="val 18750"/>
                <a:gd name="adj2" fmla="val -8333"/>
                <a:gd name="adj3" fmla="val 7971"/>
                <a:gd name="adj4" fmla="val -5554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dirty="0">
                  <a:solidFill>
                    <a:schemeClr val="tx1"/>
                  </a:solidFill>
                </a:rPr>
                <a:t>Erreur de mesure</a:t>
              </a:r>
            </a:p>
          </p:txBody>
        </p:sp>
        <p:sp>
          <p:nvSpPr>
            <p:cNvPr id="11" name="Légende : encadrée sans bordure 10">
              <a:extLst>
                <a:ext uri="{FF2B5EF4-FFF2-40B4-BE49-F238E27FC236}">
                  <a16:creationId xmlns:a16="http://schemas.microsoft.com/office/drawing/2014/main" id="{46AD0D04-6D0A-4137-B67D-6FDDCC18F774}"/>
                </a:ext>
              </a:extLst>
            </p:cNvPr>
            <p:cNvSpPr/>
            <p:nvPr/>
          </p:nvSpPr>
          <p:spPr>
            <a:xfrm>
              <a:off x="7456066" y="5527762"/>
              <a:ext cx="2382591" cy="373487"/>
            </a:xfrm>
            <a:prstGeom prst="callout1">
              <a:avLst>
                <a:gd name="adj1" fmla="val 18750"/>
                <a:gd name="adj2" fmla="val -8333"/>
                <a:gd name="adj3" fmla="val -64031"/>
                <a:gd name="adj4" fmla="val -5952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dirty="0">
                  <a:solidFill>
                    <a:schemeClr val="tx1"/>
                  </a:solidFill>
                </a:rPr>
                <a:t>Variable explicative</a:t>
              </a:r>
            </a:p>
          </p:txBody>
        </p:sp>
        <p:sp>
          <p:nvSpPr>
            <p:cNvPr id="12" name="Légende : encadrée sans bordure 11">
              <a:extLst>
                <a:ext uri="{FF2B5EF4-FFF2-40B4-BE49-F238E27FC236}">
                  <a16:creationId xmlns:a16="http://schemas.microsoft.com/office/drawing/2014/main" id="{C74F3304-B88D-448E-BC1A-6240250D843A}"/>
                </a:ext>
              </a:extLst>
            </p:cNvPr>
            <p:cNvSpPr/>
            <p:nvPr/>
          </p:nvSpPr>
          <p:spPr>
            <a:xfrm>
              <a:off x="6959813" y="5802478"/>
              <a:ext cx="2382591" cy="373487"/>
            </a:xfrm>
            <a:prstGeom prst="callout1">
              <a:avLst>
                <a:gd name="adj1" fmla="val 18750"/>
                <a:gd name="adj2" fmla="val -8333"/>
                <a:gd name="adj3" fmla="val -107161"/>
                <a:gd name="adj4" fmla="val -4705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dirty="0">
                  <a:solidFill>
                    <a:schemeClr val="tx1"/>
                  </a:solidFill>
                </a:rPr>
                <a:t>La pente de la droite</a:t>
              </a:r>
            </a:p>
          </p:txBody>
        </p:sp>
        <p:sp>
          <p:nvSpPr>
            <p:cNvPr id="13" name="Légende : encadrée sans bordure 12">
              <a:extLst>
                <a:ext uri="{FF2B5EF4-FFF2-40B4-BE49-F238E27FC236}">
                  <a16:creationId xmlns:a16="http://schemas.microsoft.com/office/drawing/2014/main" id="{D85C7245-D59C-4D71-AC4F-9AC60BC309EC}"/>
                </a:ext>
              </a:extLst>
            </p:cNvPr>
            <p:cNvSpPr/>
            <p:nvPr/>
          </p:nvSpPr>
          <p:spPr>
            <a:xfrm>
              <a:off x="5768518" y="6111380"/>
              <a:ext cx="2382591" cy="373487"/>
            </a:xfrm>
            <a:prstGeom prst="callout1">
              <a:avLst>
                <a:gd name="adj1" fmla="val 18750"/>
                <a:gd name="adj2" fmla="val -8333"/>
                <a:gd name="adj3" fmla="val -199646"/>
                <a:gd name="adj4" fmla="val -2146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dirty="0">
                  <a:solidFill>
                    <a:schemeClr val="tx1"/>
                  </a:solidFill>
                </a:rPr>
                <a:t>Ordonnée à l’origine</a:t>
              </a:r>
            </a:p>
          </p:txBody>
        </p:sp>
        <p:sp>
          <p:nvSpPr>
            <p:cNvPr id="19" name="Légende : encadrée sans bordure 18">
              <a:extLst>
                <a:ext uri="{FF2B5EF4-FFF2-40B4-BE49-F238E27FC236}">
                  <a16:creationId xmlns:a16="http://schemas.microsoft.com/office/drawing/2014/main" id="{8077C378-A12B-4EC0-B059-C6FB6251C40D}"/>
                </a:ext>
              </a:extLst>
            </p:cNvPr>
            <p:cNvSpPr/>
            <p:nvPr/>
          </p:nvSpPr>
          <p:spPr>
            <a:xfrm>
              <a:off x="1601275" y="5632198"/>
              <a:ext cx="2193701" cy="373487"/>
            </a:xfrm>
            <a:prstGeom prst="callout1">
              <a:avLst>
                <a:gd name="adj1" fmla="val 35992"/>
                <a:gd name="adj2" fmla="val 105721"/>
                <a:gd name="adj3" fmla="val -87500"/>
                <a:gd name="adj4" fmla="val 141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dirty="0">
                  <a:solidFill>
                    <a:schemeClr val="tx1"/>
                  </a:solidFill>
                </a:rPr>
                <a:t>Variable à expliquer</a:t>
              </a:r>
            </a:p>
          </p:txBody>
        </p:sp>
      </p:grpSp>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3FAB03B2-9CA5-4907-8E39-F85FDA8DC0E1}"/>
                  </a:ext>
                </a:extLst>
              </p:cNvPr>
              <p:cNvSpPr txBox="1"/>
              <p:nvPr/>
            </p:nvSpPr>
            <p:spPr>
              <a:xfrm>
                <a:off x="2065449" y="4889585"/>
                <a:ext cx="457361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sz="1200" i="1">
                              <a:solidFill>
                                <a:srgbClr val="FF0000"/>
                              </a:solidFill>
                              <a:latin typeface="Cambria Math" panose="02040503050406030204" pitchFamily="18" charset="0"/>
                            </a:rPr>
                          </m:ctrlPr>
                        </m:sSubPr>
                        <m:e>
                          <m:r>
                            <a:rPr lang="fr-FR" sz="1200" i="1">
                              <a:solidFill>
                                <a:srgbClr val="FF0000"/>
                              </a:solidFill>
                              <a:latin typeface="Cambria Math" panose="02040503050406030204" pitchFamily="18" charset="0"/>
                            </a:rPr>
                            <m:t>𝛽</m:t>
                          </m:r>
                        </m:e>
                        <m:sub>
                          <m:r>
                            <a:rPr lang="fr-FR" sz="1200" i="1">
                              <a:solidFill>
                                <a:srgbClr val="FF0000"/>
                              </a:solidFill>
                              <a:latin typeface="Cambria Math" panose="02040503050406030204" pitchFamily="18" charset="0"/>
                            </a:rPr>
                            <m:t>0</m:t>
                          </m:r>
                        </m:sub>
                      </m:sSub>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𝑒𝑡</m:t>
                      </m:r>
                      <m:r>
                        <a:rPr lang="fr-FR" sz="1200" i="1">
                          <a:solidFill>
                            <a:srgbClr val="FF0000"/>
                          </a:solidFill>
                          <a:latin typeface="Cambria Math" panose="02040503050406030204" pitchFamily="18" charset="0"/>
                        </a:rPr>
                        <m:t> </m:t>
                      </m:r>
                      <m:sSub>
                        <m:sSubPr>
                          <m:ctrlPr>
                            <a:rPr lang="fr-FR" sz="1200" i="1">
                              <a:solidFill>
                                <a:srgbClr val="FF0000"/>
                              </a:solidFill>
                              <a:latin typeface="Cambria Math" panose="02040503050406030204" pitchFamily="18" charset="0"/>
                            </a:rPr>
                          </m:ctrlPr>
                        </m:sSubPr>
                        <m:e>
                          <m:r>
                            <a:rPr lang="fr-FR" sz="1200" i="1">
                              <a:solidFill>
                                <a:srgbClr val="FF0000"/>
                              </a:solidFill>
                              <a:latin typeface="Cambria Math" panose="02040503050406030204" pitchFamily="18" charset="0"/>
                            </a:rPr>
                            <m:t>𝛽</m:t>
                          </m:r>
                        </m:e>
                        <m:sub>
                          <m:r>
                            <a:rPr lang="fr-FR" sz="1200" i="1">
                              <a:solidFill>
                                <a:srgbClr val="FF0000"/>
                              </a:solidFill>
                              <a:latin typeface="Cambria Math" panose="02040503050406030204" pitchFamily="18" charset="0"/>
                            </a:rPr>
                            <m:t>1</m:t>
                          </m:r>
                        </m:sub>
                      </m:sSub>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𝑠𝑜𝑛𝑡</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𝑑𝑒𝑠</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𝑝𝑎𝑟𝑎𝑚</m:t>
                      </m:r>
                      <m:r>
                        <a:rPr lang="fr-FR" sz="1200" i="1">
                          <a:solidFill>
                            <a:srgbClr val="FF0000"/>
                          </a:solidFill>
                          <a:latin typeface="Cambria Math" panose="02040503050406030204" pitchFamily="18" charset="0"/>
                        </a:rPr>
                        <m:t>è</m:t>
                      </m:r>
                      <m:r>
                        <a:rPr lang="fr-FR" sz="1200" i="1">
                          <a:solidFill>
                            <a:srgbClr val="FF0000"/>
                          </a:solidFill>
                          <a:latin typeface="Cambria Math" panose="02040503050406030204" pitchFamily="18" charset="0"/>
                        </a:rPr>
                        <m:t>𝑡𝑟𝑒𝑠</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𝑖𝑛𝑐𝑜𝑛𝑛𝑢𝑠</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𝑞</m:t>
                      </m:r>
                      <m:sSup>
                        <m:sSupPr>
                          <m:ctrlPr>
                            <a:rPr lang="fr-FR" sz="1200" i="1">
                              <a:solidFill>
                                <a:srgbClr val="FF0000"/>
                              </a:solidFill>
                              <a:latin typeface="Cambria Math" panose="02040503050406030204" pitchFamily="18" charset="0"/>
                            </a:rPr>
                          </m:ctrlPr>
                        </m:sSupPr>
                        <m:e>
                          <m:r>
                            <a:rPr lang="fr-FR" sz="1200" i="1">
                              <a:solidFill>
                                <a:srgbClr val="FF0000"/>
                              </a:solidFill>
                              <a:latin typeface="Cambria Math" panose="02040503050406030204" pitchFamily="18" charset="0"/>
                            </a:rPr>
                            <m:t>𝑢</m:t>
                          </m:r>
                        </m:e>
                        <m:sup>
                          <m:r>
                            <a:rPr lang="fr-FR" sz="1200" i="1">
                              <a:solidFill>
                                <a:srgbClr val="FF0000"/>
                              </a:solidFill>
                              <a:latin typeface="Cambria Math" panose="02040503050406030204" pitchFamily="18" charset="0"/>
                            </a:rPr>
                            <m:t>′</m:t>
                          </m:r>
                        </m:sup>
                      </m:sSup>
                      <m:r>
                        <a:rPr lang="fr-FR" sz="1200" i="1">
                          <a:solidFill>
                            <a:srgbClr val="FF0000"/>
                          </a:solidFill>
                          <a:latin typeface="Cambria Math" panose="02040503050406030204" pitchFamily="18" charset="0"/>
                        </a:rPr>
                        <m:t>𝑜𝑛</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𝑐h𝑒𝑟𝑐h𝑒</m:t>
                      </m:r>
                      <m:r>
                        <a:rPr lang="fr-FR" sz="1200" i="1">
                          <a:solidFill>
                            <a:srgbClr val="FF0000"/>
                          </a:solidFill>
                          <a:latin typeface="Cambria Math" panose="02040503050406030204" pitchFamily="18" charset="0"/>
                        </a:rPr>
                        <m:t> à </m:t>
                      </m:r>
                      <m:r>
                        <a:rPr lang="fr-FR" sz="1200" i="1">
                          <a:solidFill>
                            <a:srgbClr val="FF0000"/>
                          </a:solidFill>
                          <a:latin typeface="Cambria Math" panose="02040503050406030204" pitchFamily="18" charset="0"/>
                        </a:rPr>
                        <m:t>𝑒𝑠𝑡𝑖𝑚𝑒𝑟</m:t>
                      </m:r>
                      <m:r>
                        <a:rPr lang="fr-FR" sz="1200" i="1">
                          <a:solidFill>
                            <a:srgbClr val="FF0000"/>
                          </a:solidFill>
                          <a:latin typeface="Cambria Math" panose="02040503050406030204" pitchFamily="18" charset="0"/>
                        </a:rPr>
                        <m:t>.</m:t>
                      </m:r>
                    </m:oMath>
                  </m:oMathPara>
                </a14:m>
                <a:endParaRPr lang="fr-FR" sz="1200" dirty="0">
                  <a:solidFill>
                    <a:srgbClr val="FF0000"/>
                  </a:solidFill>
                </a:endParaRPr>
              </a:p>
            </p:txBody>
          </p:sp>
        </mc:Choice>
        <mc:Fallback xmlns="">
          <p:sp>
            <p:nvSpPr>
              <p:cNvPr id="20" name="ZoneTexte 19">
                <a:extLst>
                  <a:ext uri="{FF2B5EF4-FFF2-40B4-BE49-F238E27FC236}">
                    <a16:creationId xmlns:a16="http://schemas.microsoft.com/office/drawing/2014/main" id="{3FAB03B2-9CA5-4907-8E39-F85FDA8DC0E1}"/>
                  </a:ext>
                </a:extLst>
              </p:cNvPr>
              <p:cNvSpPr txBox="1">
                <a:spLocks noRot="1" noChangeAspect="1" noMove="1" noResize="1" noEditPoints="1" noAdjustHandles="1" noChangeArrowheads="1" noChangeShapeType="1" noTextEdit="1"/>
              </p:cNvSpPr>
              <p:nvPr/>
            </p:nvSpPr>
            <p:spPr>
              <a:xfrm>
                <a:off x="2065449" y="4889585"/>
                <a:ext cx="4573610" cy="276999"/>
              </a:xfrm>
              <a:prstGeom prst="rect">
                <a:avLst/>
              </a:prstGeom>
              <a:blipFill>
                <a:blip r:embed="rId5"/>
                <a:stretch>
                  <a:fillRect b="-6522"/>
                </a:stretch>
              </a:blipFill>
            </p:spPr>
            <p:txBody>
              <a:bodyPr/>
              <a:lstStyle/>
              <a:p>
                <a:r>
                  <a:rPr lang="fr-FR">
                    <a:noFill/>
                  </a:rPr>
                  <a:t> </a:t>
                </a:r>
              </a:p>
            </p:txBody>
          </p:sp>
        </mc:Fallback>
      </mc:AlternateContent>
    </p:spTree>
    <p:extLst>
      <p:ext uri="{BB962C8B-B14F-4D97-AF65-F5344CB8AC3E}">
        <p14:creationId xmlns:p14="http://schemas.microsoft.com/office/powerpoint/2010/main" val="32533077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810514" cy="3196700"/>
          </a:xfrm>
        </p:spPr>
        <p:txBody>
          <a:bodyPr>
            <a:normAutofit/>
          </a:bodyPr>
          <a:lstStyle/>
          <a:p>
            <a:pPr lvl="1" algn="just">
              <a:lnSpc>
                <a:spcPct val="100000"/>
              </a:lnSpc>
              <a:buClr>
                <a:schemeClr val="accent2"/>
              </a:buClr>
            </a:pPr>
            <a:r>
              <a:rPr lang="fr-FR" sz="1600" dirty="0"/>
              <a:t>L’essentiel à savoir : </a:t>
            </a:r>
            <a:r>
              <a:rPr lang="fr-FR" sz="1600" dirty="0">
                <a:solidFill>
                  <a:srgbClr val="00194C"/>
                </a:solidFill>
              </a:rPr>
              <a:t>interprétation des résultats</a:t>
            </a:r>
          </a:p>
          <a:p>
            <a:pPr lvl="2" algn="just">
              <a:lnSpc>
                <a:spcPct val="100000"/>
              </a:lnSpc>
              <a:buClr>
                <a:schemeClr val="accent2"/>
              </a:buClr>
            </a:pPr>
            <a:r>
              <a:rPr lang="fr-FR" sz="1800" dirty="0"/>
              <a:t>La valeur de 𝑏0, également appelée interception, indique le point où la ligne de régression estimée croise l'axe 𝑦. </a:t>
            </a:r>
          </a:p>
          <a:p>
            <a:pPr lvl="2" algn="just">
              <a:lnSpc>
                <a:spcPct val="100000"/>
              </a:lnSpc>
              <a:buClr>
                <a:schemeClr val="accent2"/>
              </a:buClr>
            </a:pPr>
            <a:r>
              <a:rPr lang="fr-FR" sz="1800" dirty="0"/>
              <a:t>C'est la valeur de la réponse estimée 𝑓(𝑥) pour 𝑥 = 0. La valeur de 𝑏1 détermine la pente de la droite de régression estimée.</a:t>
            </a:r>
            <a:endParaRPr lang="fr-FR" sz="1800" b="1" dirty="0"/>
          </a:p>
          <a:p>
            <a:pPr lvl="2" algn="just">
              <a:lnSpc>
                <a:spcPct val="150000"/>
              </a:lnSpc>
              <a:buClr>
                <a:schemeClr val="accent2"/>
              </a:buClr>
            </a:pPr>
            <a:endParaRPr lang="fr-FR" dirty="0"/>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78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linéaire simple</a:t>
            </a:r>
            <a:endParaRPr lang="fr-FR" sz="2100" b="0" dirty="0"/>
          </a:p>
        </p:txBody>
      </p:sp>
    </p:spTree>
    <p:extLst>
      <p:ext uri="{BB962C8B-B14F-4D97-AF65-F5344CB8AC3E}">
        <p14:creationId xmlns:p14="http://schemas.microsoft.com/office/powerpoint/2010/main" val="165413203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2" y="1391970"/>
                <a:ext cx="5794566" cy="3196700"/>
              </a:xfrm>
            </p:spPr>
            <p:txBody>
              <a:bodyPr>
                <a:normAutofit fontScale="70000" lnSpcReduction="20000"/>
              </a:bodyPr>
              <a:lstStyle/>
              <a:p>
                <a:pPr lvl="1" algn="just">
                  <a:lnSpc>
                    <a:spcPct val="150000"/>
                  </a:lnSpc>
                  <a:buClr>
                    <a:schemeClr val="accent2"/>
                  </a:buClr>
                </a:pPr>
                <a:r>
                  <a:rPr lang="fr-FR" sz="1800" dirty="0"/>
                  <a:t>L’essentiel à savoir : </a:t>
                </a:r>
                <a:r>
                  <a:rPr lang="fr-FR" sz="1800" dirty="0">
                    <a:solidFill>
                      <a:srgbClr val="00194C"/>
                    </a:solidFill>
                  </a:rPr>
                  <a:t>interprétation des résultats</a:t>
                </a:r>
              </a:p>
              <a:p>
                <a:pPr lvl="2" algn="just">
                  <a:lnSpc>
                    <a:spcPct val="150000"/>
                  </a:lnSpc>
                  <a:buClr>
                    <a:schemeClr val="accent2"/>
                  </a:buClr>
                </a:pPr>
                <a:endParaRPr lang="fr-FR" dirty="0"/>
              </a:p>
              <a:p>
                <a:pPr lvl="2" algn="just">
                  <a:lnSpc>
                    <a:spcPct val="150000"/>
                  </a:lnSpc>
                  <a:buClr>
                    <a:schemeClr val="accent2"/>
                  </a:buClr>
                </a:pPr>
                <a:r>
                  <a:rPr lang="fr-FR" dirty="0"/>
                  <a:t>D'abord regarder le signe de bêta1. Si positif, alors il influence y de façon à l'augmenter en moyenne.</a:t>
                </a:r>
              </a:p>
              <a:p>
                <a:pPr lvl="2" algn="just">
                  <a:lnSpc>
                    <a:spcPct val="150000"/>
                  </a:lnSpc>
                  <a:buClr>
                    <a:schemeClr val="accent2"/>
                  </a:buClr>
                </a:pPr>
                <a:r>
                  <a:rPr lang="fr-FR" dirty="0"/>
                  <a:t>Si négatif, il a tendance à baisser y en moyenne (c'est important de dire EN MOYENNE). Par exemple, si </a:t>
                </a:r>
                <a14:m>
                  <m:oMath xmlns:m="http://schemas.openxmlformats.org/officeDocument/2006/math">
                    <m:r>
                      <a:rPr lang="fr-FR" i="1" dirty="0" smtClean="0">
                        <a:latin typeface="Cambria Math" panose="02040503050406030204" pitchFamily="18" charset="0"/>
                      </a:rPr>
                      <m:t>𝑏</m:t>
                    </m:r>
                    <m:r>
                      <a:rPr lang="fr-FR" i="1" dirty="0" smtClean="0">
                        <a:latin typeface="Cambria Math" panose="02040503050406030204" pitchFamily="18" charset="0"/>
                      </a:rPr>
                      <m:t>ê</m:t>
                    </m:r>
                    <m:r>
                      <a:rPr lang="fr-FR" i="1" dirty="0" smtClean="0">
                        <a:latin typeface="Cambria Math" panose="02040503050406030204" pitchFamily="18" charset="0"/>
                      </a:rPr>
                      <m:t>𝑡𝑎</m:t>
                    </m:r>
                    <m:r>
                      <a:rPr lang="fr-FR" i="1" dirty="0" smtClean="0">
                        <a:latin typeface="Cambria Math" panose="02040503050406030204" pitchFamily="18" charset="0"/>
                      </a:rPr>
                      <m:t>1 = +0.21</m:t>
                    </m:r>
                  </m:oMath>
                </a14:m>
                <a:r>
                  <a:rPr lang="fr-FR" dirty="0"/>
                  <a:t>, alors en moyenne, à chaque fois que x augmente d'une unité (ou baisse selon la valeur de bêta), y augmente sa valeur de +0.21 unités (km, tonnes, litres, degrés...).</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2" y="1391970"/>
                <a:ext cx="5794566" cy="3196700"/>
              </a:xfrm>
              <a:blipFill>
                <a:blip r:embed="rId2"/>
                <a:stretch>
                  <a:fillRect t="-381" r="-2000"/>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79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linéaire simple</a:t>
            </a:r>
            <a:endParaRPr lang="fr-FR" sz="2100" b="0" dirty="0"/>
          </a:p>
        </p:txBody>
      </p:sp>
    </p:spTree>
    <p:extLst>
      <p:ext uri="{BB962C8B-B14F-4D97-AF65-F5344CB8AC3E}">
        <p14:creationId xmlns:p14="http://schemas.microsoft.com/office/powerpoint/2010/main" val="417883780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01161" cy="3196700"/>
              </a:xfrm>
            </p:spPr>
            <p:txBody>
              <a:bodyPr>
                <a:normAutofit fontScale="92500" lnSpcReduction="20000"/>
              </a:bodyPr>
              <a:lstStyle/>
              <a:p>
                <a:pPr lvl="1" algn="just">
                  <a:lnSpc>
                    <a:spcPct val="150000"/>
                  </a:lnSpc>
                  <a:buClr>
                    <a:schemeClr val="accent2"/>
                  </a:buClr>
                </a:pPr>
                <a:r>
                  <a:rPr lang="fr-FR" sz="1800" dirty="0"/>
                  <a:t>L’essentiel à savoir : </a:t>
                </a:r>
                <a:r>
                  <a:rPr lang="fr-FR" sz="1800" dirty="0">
                    <a:solidFill>
                      <a:srgbClr val="00194C"/>
                    </a:solidFill>
                  </a:rPr>
                  <a:t>interprétation des résultats</a:t>
                </a:r>
              </a:p>
              <a:p>
                <a:pPr lvl="2" algn="just">
                  <a:lnSpc>
                    <a:spcPct val="150000"/>
                  </a:lnSpc>
                  <a:buClr>
                    <a:schemeClr val="accent2"/>
                  </a:buClr>
                </a:pPr>
                <a:endParaRPr lang="fr-FR" dirty="0"/>
              </a:p>
              <a:p>
                <a:pPr lvl="2" algn="just">
                  <a:lnSpc>
                    <a:spcPct val="150000"/>
                  </a:lnSpc>
                  <a:buClr>
                    <a:schemeClr val="accent2"/>
                  </a:buClr>
                </a:pPr>
                <a:r>
                  <a:rPr lang="fr-FR" dirty="0"/>
                  <a:t>La constante bêta0 est souvent difficile à interpréter car peut révéler des absurdités. </a:t>
                </a:r>
              </a:p>
              <a:p>
                <a:pPr lvl="2" algn="just">
                  <a:lnSpc>
                    <a:spcPct val="150000"/>
                  </a:lnSpc>
                  <a:buClr>
                    <a:schemeClr val="accent2"/>
                  </a:buClr>
                </a:pPr>
                <a:r>
                  <a:rPr lang="fr-FR" dirty="0"/>
                  <a:t>Cette interprétation vaut le coup, lorsque </a:t>
                </a:r>
                <a14:m>
                  <m:oMath xmlns:m="http://schemas.openxmlformats.org/officeDocument/2006/math">
                    <m:r>
                      <a:rPr lang="fr-FR" i="1" dirty="0" smtClean="0">
                        <a:latin typeface="Cambria Math" panose="02040503050406030204" pitchFamily="18" charset="0"/>
                      </a:rPr>
                      <m:t>𝑥</m:t>
                    </m:r>
                    <m:r>
                      <a:rPr lang="fr-FR" i="1" dirty="0" smtClean="0">
                        <a:latin typeface="Cambria Math" panose="02040503050406030204" pitchFamily="18" charset="0"/>
                      </a:rPr>
                      <m:t>=0</m:t>
                    </m:r>
                  </m:oMath>
                </a14:m>
                <a:r>
                  <a:rPr lang="fr-FR" dirty="0"/>
                  <a:t> a du sens. Quoiqu'il en soit, il a son importance pour la construction du modèle général (pente, force).</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01161" cy="3196700"/>
              </a:xfrm>
              <a:blipFill>
                <a:blip r:embed="rId2"/>
                <a:stretch>
                  <a:fillRect t="-762" r="-2629" b="-2286"/>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80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linéaire simple</a:t>
            </a:r>
            <a:endParaRPr lang="fr-FR" sz="2100" b="0" dirty="0"/>
          </a:p>
        </p:txBody>
      </p:sp>
    </p:spTree>
    <p:extLst>
      <p:ext uri="{BB962C8B-B14F-4D97-AF65-F5344CB8AC3E}">
        <p14:creationId xmlns:p14="http://schemas.microsoft.com/office/powerpoint/2010/main" val="28666348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2" y="1391970"/>
            <a:ext cx="6313952" cy="3196700"/>
          </a:xfrm>
        </p:spPr>
        <p:txBody>
          <a:bodyPr>
            <a:normAutofit/>
          </a:bodyPr>
          <a:lstStyle/>
          <a:p>
            <a:pPr lvl="1" algn="just">
              <a:lnSpc>
                <a:spcPct val="100000"/>
              </a:lnSpc>
              <a:buClr>
                <a:schemeClr val="accent2"/>
              </a:buClr>
            </a:pPr>
            <a:r>
              <a:rPr lang="fr-FR" sz="1400" dirty="0"/>
              <a:t>En science des données, les termes « prédiction » et « prévision » sont souvent utilisés de manière interchangeables, mais ils peuvent avoir des significations légèrement différentes selon le contexte.</a:t>
            </a:r>
          </a:p>
          <a:p>
            <a:pPr lvl="1" algn="just">
              <a:lnSpc>
                <a:spcPct val="100000"/>
              </a:lnSpc>
              <a:buClr>
                <a:schemeClr val="accent2"/>
              </a:buClr>
            </a:pPr>
            <a:endParaRPr lang="fr-FR" sz="1400" dirty="0"/>
          </a:p>
          <a:p>
            <a:pPr lvl="1" algn="just">
              <a:lnSpc>
                <a:spcPct val="100000"/>
              </a:lnSpc>
              <a:buClr>
                <a:schemeClr val="accent2"/>
              </a:buClr>
            </a:pPr>
            <a:r>
              <a:rPr lang="fr-FR" sz="1400" dirty="0"/>
              <a:t>En général, la prédiction est le processus de faire une estimation ou une projection quant à ce qui se produira dans l'avenir en se basant sur des données historiques. </a:t>
            </a:r>
          </a:p>
          <a:p>
            <a:pPr lvl="1" algn="just">
              <a:lnSpc>
                <a:spcPct val="100000"/>
              </a:lnSpc>
              <a:buClr>
                <a:schemeClr val="accent2"/>
              </a:buClr>
            </a:pPr>
            <a:endParaRPr lang="fr-FR" sz="1400" dirty="0"/>
          </a:p>
          <a:p>
            <a:pPr lvl="1" algn="just">
              <a:lnSpc>
                <a:spcPct val="100000"/>
              </a:lnSpc>
              <a:buClr>
                <a:schemeClr val="accent2"/>
              </a:buClr>
            </a:pPr>
            <a:r>
              <a:rPr lang="fr-FR" sz="1400" dirty="0"/>
              <a:t>Les prévisions en revanche sont également basées sur des données historiques, mais elles impliquent souvent l'utilisation de modèles statistiques plus complexes pour estimer les tendances futures et les variations possibles.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81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linéaire simple : </a:t>
            </a:r>
            <a:r>
              <a:rPr lang="fr-FR" sz="2100" b="0" dirty="0"/>
              <a:t>prédiction vs prévision</a:t>
            </a:r>
          </a:p>
        </p:txBody>
      </p:sp>
    </p:spTree>
    <p:extLst>
      <p:ext uri="{BB962C8B-B14F-4D97-AF65-F5344CB8AC3E}">
        <p14:creationId xmlns:p14="http://schemas.microsoft.com/office/powerpoint/2010/main" val="204016915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622790" cy="3196700"/>
          </a:xfrm>
        </p:spPr>
        <p:txBody>
          <a:bodyPr>
            <a:normAutofit fontScale="77500" lnSpcReduction="20000"/>
          </a:bodyPr>
          <a:lstStyle/>
          <a:p>
            <a:pPr lvl="1" algn="just">
              <a:lnSpc>
                <a:spcPct val="150000"/>
              </a:lnSpc>
              <a:buClr>
                <a:schemeClr val="accent2"/>
              </a:buClr>
            </a:pPr>
            <a:r>
              <a:rPr lang="fr-FR" sz="1800" dirty="0"/>
              <a:t>Plus précisément, la prédiction peut être considérée comme une estimation de ce qui se passera dans le futur en se basant sur des données historiques, tandis que la prévision prend en compte des facteurs supplémentaires tels que les tendances saisonnières, les effets externes et les fluctuations possibles pour produire une estimation plus précise des résultats futurs.</a:t>
            </a:r>
          </a:p>
          <a:p>
            <a:pPr lvl="1" algn="just">
              <a:lnSpc>
                <a:spcPct val="150000"/>
              </a:lnSpc>
              <a:buClr>
                <a:schemeClr val="accent2"/>
              </a:buClr>
            </a:pPr>
            <a:endParaRPr lang="fr-FR" sz="1800" dirty="0"/>
          </a:p>
          <a:p>
            <a:pPr lvl="1" algn="just">
              <a:lnSpc>
                <a:spcPct val="150000"/>
              </a:lnSpc>
              <a:buClr>
                <a:schemeClr val="accent2"/>
              </a:buClr>
            </a:pPr>
            <a:r>
              <a:rPr lang="fr-FR" sz="1800" dirty="0"/>
              <a:t>En résumé, la prédiction se concentre principalement sur la projection de résultats futurs en se basant sur les données historiques, tandis que la prévision prend en compte les facteurs supplémentaires pour produire une estimation plus précise.</a:t>
            </a:r>
            <a:endParaRPr lang="fr-FR" dirty="0"/>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82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linéaire simple : </a:t>
            </a:r>
            <a:r>
              <a:rPr lang="fr-FR" sz="2100" b="0" dirty="0"/>
              <a:t>prédiction vs prévision</a:t>
            </a:r>
          </a:p>
        </p:txBody>
      </p:sp>
    </p:spTree>
    <p:extLst>
      <p:ext uri="{BB962C8B-B14F-4D97-AF65-F5344CB8AC3E}">
        <p14:creationId xmlns:p14="http://schemas.microsoft.com/office/powerpoint/2010/main" val="101599072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198097" y="1780923"/>
            <a:ext cx="4817189" cy="2896648"/>
          </a:xfrm>
          <a:noFill/>
          <a:ln>
            <a:noFill/>
          </a:ln>
        </p:spPr>
        <p:style>
          <a:lnRef idx="0">
            <a:scrgbClr r="0" g="0" b="0"/>
          </a:lnRef>
          <a:fillRef idx="0">
            <a:scrgbClr r="0" g="0" b="0"/>
          </a:fillRef>
          <a:effectRef idx="0">
            <a:scrgbClr r="0" g="0" b="0"/>
          </a:effectRef>
          <a:fontRef idx="minor">
            <a:schemeClr val="dk1"/>
          </a:fontRef>
        </p:style>
        <p:txBody>
          <a:bodyPr>
            <a:normAutofit fontScale="92500" lnSpcReduction="20000"/>
          </a:bodyPr>
          <a:lstStyle/>
          <a:p>
            <a:pPr algn="just">
              <a:lnSpc>
                <a:spcPct val="150000"/>
              </a:lnSpc>
              <a:buClr>
                <a:schemeClr val="accent2"/>
              </a:buClr>
            </a:pPr>
            <a:r>
              <a:rPr lang="fr-FR" sz="2025" dirty="0"/>
              <a:t>L'ozone est un gaz qui joue un rôle important dans la chimie atmosphérique.</a:t>
            </a:r>
          </a:p>
          <a:p>
            <a:pPr algn="just">
              <a:lnSpc>
                <a:spcPct val="150000"/>
              </a:lnSpc>
              <a:buClr>
                <a:schemeClr val="accent2"/>
              </a:buClr>
            </a:pPr>
            <a:r>
              <a:rPr lang="fr-FR" sz="2025" dirty="0"/>
              <a:t>Une concentration élevée en ozone dans l'atmosphère signifie généralement une quantité importante de molécules d'ozone présentes dans une région donnée de l'atmosphère terrestre.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83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Ozone</a:t>
            </a:r>
            <a:endParaRPr lang="fr-FR" sz="2100" b="0" dirty="0"/>
          </a:p>
        </p:txBody>
      </p:sp>
      <p:pic>
        <p:nvPicPr>
          <p:cNvPr id="3" name="Image 2">
            <a:extLst>
              <a:ext uri="{FF2B5EF4-FFF2-40B4-BE49-F238E27FC236}">
                <a16:creationId xmlns:a16="http://schemas.microsoft.com/office/drawing/2014/main" id="{5EE73E85-3EEA-4882-A5FE-56A0F705281A}"/>
              </a:ext>
            </a:extLst>
          </p:cNvPr>
          <p:cNvPicPr>
            <a:picLocks noChangeAspect="1"/>
          </p:cNvPicPr>
          <p:nvPr/>
        </p:nvPicPr>
        <p:blipFill>
          <a:blip r:embed="rId2"/>
          <a:stretch>
            <a:fillRect/>
          </a:stretch>
        </p:blipFill>
        <p:spPr>
          <a:xfrm>
            <a:off x="5076337" y="1780924"/>
            <a:ext cx="4012024" cy="2896648"/>
          </a:xfrm>
          <a:prstGeom prst="rect">
            <a:avLst/>
          </a:prstGeom>
        </p:spPr>
      </p:pic>
    </p:spTree>
    <p:extLst>
      <p:ext uri="{BB962C8B-B14F-4D97-AF65-F5344CB8AC3E}">
        <p14:creationId xmlns:p14="http://schemas.microsoft.com/office/powerpoint/2010/main" val="385004832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198097" y="1780923"/>
            <a:ext cx="4817189" cy="2896648"/>
          </a:xfrm>
          <a:noFill/>
          <a:ln>
            <a:noFill/>
          </a:ln>
        </p:spPr>
        <p:style>
          <a:lnRef idx="0">
            <a:scrgbClr r="0" g="0" b="0"/>
          </a:lnRef>
          <a:fillRef idx="0">
            <a:scrgbClr r="0" g="0" b="0"/>
          </a:fillRef>
          <a:effectRef idx="0">
            <a:scrgbClr r="0" g="0" b="0"/>
          </a:effectRef>
          <a:fontRef idx="minor">
            <a:schemeClr val="dk1"/>
          </a:fontRef>
        </p:style>
        <p:txBody>
          <a:bodyPr>
            <a:normAutofit fontScale="92500" lnSpcReduction="10000"/>
          </a:bodyPr>
          <a:lstStyle/>
          <a:p>
            <a:pPr algn="just">
              <a:lnSpc>
                <a:spcPct val="150000"/>
              </a:lnSpc>
              <a:buClr>
                <a:schemeClr val="accent2"/>
              </a:buClr>
            </a:pPr>
            <a:r>
              <a:rPr lang="fr-FR" sz="2025" dirty="0"/>
              <a:t>Dans la stratosphère, l'ozone forme la couche d'ozone, qui est essentielle pour filtrer les rayons ultraviolets (UV) du soleil. Cela protège la vie sur Terre des effets nocifs des UV, tels que les coups de soleil, les cancers de la peau et les dommages oculaires.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84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Ozone</a:t>
            </a:r>
            <a:endParaRPr lang="fr-FR" sz="2100" b="0" dirty="0"/>
          </a:p>
        </p:txBody>
      </p:sp>
      <p:pic>
        <p:nvPicPr>
          <p:cNvPr id="3" name="Image 2">
            <a:extLst>
              <a:ext uri="{FF2B5EF4-FFF2-40B4-BE49-F238E27FC236}">
                <a16:creationId xmlns:a16="http://schemas.microsoft.com/office/drawing/2014/main" id="{5EE73E85-3EEA-4882-A5FE-56A0F705281A}"/>
              </a:ext>
            </a:extLst>
          </p:cNvPr>
          <p:cNvPicPr>
            <a:picLocks noChangeAspect="1"/>
          </p:cNvPicPr>
          <p:nvPr/>
        </p:nvPicPr>
        <p:blipFill>
          <a:blip r:embed="rId2"/>
          <a:stretch>
            <a:fillRect/>
          </a:stretch>
        </p:blipFill>
        <p:spPr>
          <a:xfrm>
            <a:off x="5076337" y="1780924"/>
            <a:ext cx="4012024" cy="2896648"/>
          </a:xfrm>
          <a:prstGeom prst="rect">
            <a:avLst/>
          </a:prstGeom>
        </p:spPr>
      </p:pic>
    </p:spTree>
    <p:extLst>
      <p:ext uri="{BB962C8B-B14F-4D97-AF65-F5344CB8AC3E}">
        <p14:creationId xmlns:p14="http://schemas.microsoft.com/office/powerpoint/2010/main" val="290508912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198097" y="1270221"/>
            <a:ext cx="4817189" cy="3407350"/>
          </a:xfrm>
          <a:noFill/>
          <a:ln>
            <a:noFill/>
          </a:ln>
        </p:spPr>
        <p:style>
          <a:lnRef idx="0">
            <a:scrgbClr r="0" g="0" b="0"/>
          </a:lnRef>
          <a:fillRef idx="0">
            <a:scrgbClr r="0" g="0" b="0"/>
          </a:fillRef>
          <a:effectRef idx="0">
            <a:scrgbClr r="0" g="0" b="0"/>
          </a:effectRef>
          <a:fontRef idx="minor">
            <a:schemeClr val="dk1"/>
          </a:fontRef>
        </p:style>
        <p:txBody>
          <a:bodyPr>
            <a:normAutofit fontScale="70000" lnSpcReduction="20000"/>
          </a:bodyPr>
          <a:lstStyle/>
          <a:p>
            <a:pPr algn="just">
              <a:lnSpc>
                <a:spcPct val="150000"/>
              </a:lnSpc>
              <a:buClr>
                <a:schemeClr val="accent2"/>
              </a:buClr>
            </a:pPr>
            <a:r>
              <a:rPr lang="fr-FR" sz="2025" dirty="0"/>
              <a:t>Cependant, à des altitudes plus basses, une concentration élevée en ozone peut être problématique. Dans la troposphère, la couche atmosphérique la plus basse, l'ozone est considéré comme un polluant atmosphérique. </a:t>
            </a:r>
          </a:p>
          <a:p>
            <a:pPr algn="just">
              <a:lnSpc>
                <a:spcPct val="150000"/>
              </a:lnSpc>
              <a:buClr>
                <a:schemeClr val="accent2"/>
              </a:buClr>
            </a:pPr>
            <a:r>
              <a:rPr lang="fr-FR" sz="2025" dirty="0"/>
              <a:t>Il est principalement formé par des réactions chimiques entre les oxydes d'azote (NOx) et les composés organiques volatils (COV) en présence de la lumière du soleil. Les principales sources de NOx et de COV sont la pollution automobile, les émissions industrielles et les produits chimiques émis par certaines plantes.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85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Ozone</a:t>
            </a:r>
            <a:endParaRPr lang="fr-FR" sz="2100" b="0" dirty="0"/>
          </a:p>
        </p:txBody>
      </p:sp>
      <p:pic>
        <p:nvPicPr>
          <p:cNvPr id="3" name="Image 2">
            <a:extLst>
              <a:ext uri="{FF2B5EF4-FFF2-40B4-BE49-F238E27FC236}">
                <a16:creationId xmlns:a16="http://schemas.microsoft.com/office/drawing/2014/main" id="{5EE73E85-3EEA-4882-A5FE-56A0F705281A}"/>
              </a:ext>
            </a:extLst>
          </p:cNvPr>
          <p:cNvPicPr>
            <a:picLocks noChangeAspect="1"/>
          </p:cNvPicPr>
          <p:nvPr/>
        </p:nvPicPr>
        <p:blipFill>
          <a:blip r:embed="rId2"/>
          <a:stretch>
            <a:fillRect/>
          </a:stretch>
        </p:blipFill>
        <p:spPr>
          <a:xfrm>
            <a:off x="5076337" y="1780924"/>
            <a:ext cx="4012024" cy="2896648"/>
          </a:xfrm>
          <a:prstGeom prst="rect">
            <a:avLst/>
          </a:prstGeom>
        </p:spPr>
      </p:pic>
    </p:spTree>
    <p:extLst>
      <p:ext uri="{BB962C8B-B14F-4D97-AF65-F5344CB8AC3E}">
        <p14:creationId xmlns:p14="http://schemas.microsoft.com/office/powerpoint/2010/main" val="268830430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198097" y="1270221"/>
            <a:ext cx="4817189" cy="3407350"/>
          </a:xfrm>
          <a:noFill/>
          <a:ln>
            <a:noFill/>
          </a:ln>
        </p:spPr>
        <p:style>
          <a:lnRef idx="0">
            <a:scrgbClr r="0" g="0" b="0"/>
          </a:lnRef>
          <a:fillRef idx="0">
            <a:scrgbClr r="0" g="0" b="0"/>
          </a:fillRef>
          <a:effectRef idx="0">
            <a:scrgbClr r="0" g="0" b="0"/>
          </a:effectRef>
          <a:fontRef idx="minor">
            <a:schemeClr val="dk1"/>
          </a:fontRef>
        </p:style>
        <p:txBody>
          <a:bodyPr>
            <a:normAutofit fontScale="70000" lnSpcReduction="20000"/>
          </a:bodyPr>
          <a:lstStyle/>
          <a:p>
            <a:pPr algn="just">
              <a:lnSpc>
                <a:spcPct val="150000"/>
              </a:lnSpc>
              <a:buClr>
                <a:schemeClr val="accent2"/>
              </a:buClr>
            </a:pPr>
            <a:r>
              <a:rPr lang="fr-FR" sz="2025" dirty="0"/>
              <a:t>Une concentration élevée en ozone dans la troposphère peut avoir des effets néfastes sur la santé humaine et l'environnement. </a:t>
            </a:r>
          </a:p>
          <a:p>
            <a:pPr algn="just">
              <a:lnSpc>
                <a:spcPct val="150000"/>
              </a:lnSpc>
              <a:buClr>
                <a:schemeClr val="accent2"/>
              </a:buClr>
            </a:pPr>
            <a:r>
              <a:rPr lang="fr-FR" sz="2025" dirty="0"/>
              <a:t>L'ozone troposphérique est un irritant des voies respiratoires et peut causer des problèmes respiratoires, notamment des difficultés respiratoires, de l'asthme, des irritations pulmonaires et des réactions allergiques. </a:t>
            </a:r>
          </a:p>
          <a:p>
            <a:pPr algn="just">
              <a:lnSpc>
                <a:spcPct val="150000"/>
              </a:lnSpc>
              <a:buClr>
                <a:schemeClr val="accent2"/>
              </a:buClr>
            </a:pPr>
            <a:r>
              <a:rPr lang="fr-FR" sz="2025" dirty="0"/>
              <a:t>Il peut également endommager les cultures, les forêts et les écosystèmes en perturbant les processus biologiques des plantes et en réduisant la photosynthèse.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86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Ozone</a:t>
            </a:r>
            <a:endParaRPr lang="fr-FR" sz="2100" b="0" dirty="0"/>
          </a:p>
        </p:txBody>
      </p:sp>
      <p:pic>
        <p:nvPicPr>
          <p:cNvPr id="3" name="Image 2">
            <a:extLst>
              <a:ext uri="{FF2B5EF4-FFF2-40B4-BE49-F238E27FC236}">
                <a16:creationId xmlns:a16="http://schemas.microsoft.com/office/drawing/2014/main" id="{5EE73E85-3EEA-4882-A5FE-56A0F705281A}"/>
              </a:ext>
            </a:extLst>
          </p:cNvPr>
          <p:cNvPicPr>
            <a:picLocks noChangeAspect="1"/>
          </p:cNvPicPr>
          <p:nvPr/>
        </p:nvPicPr>
        <p:blipFill>
          <a:blip r:embed="rId2"/>
          <a:stretch>
            <a:fillRect/>
          </a:stretch>
        </p:blipFill>
        <p:spPr>
          <a:xfrm>
            <a:off x="5076337" y="1780924"/>
            <a:ext cx="4012024" cy="2896648"/>
          </a:xfrm>
          <a:prstGeom prst="rect">
            <a:avLst/>
          </a:prstGeom>
        </p:spPr>
      </p:pic>
    </p:spTree>
    <p:extLst>
      <p:ext uri="{BB962C8B-B14F-4D97-AF65-F5344CB8AC3E}">
        <p14:creationId xmlns:p14="http://schemas.microsoft.com/office/powerpoint/2010/main" val="14200628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Régression linéaire multiple</a:t>
            </a:r>
          </a:p>
        </p:txBody>
      </p:sp>
    </p:spTree>
    <p:extLst>
      <p:ext uri="{BB962C8B-B14F-4D97-AF65-F5344CB8AC3E}">
        <p14:creationId xmlns:p14="http://schemas.microsoft.com/office/powerpoint/2010/main" val="39828740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88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linéaire multiple</a:t>
            </a:r>
            <a:endParaRPr lang="fr-FR" sz="2100" b="0" dirty="0"/>
          </a:p>
        </p:txBody>
      </p:sp>
      <p:grpSp>
        <p:nvGrpSpPr>
          <p:cNvPr id="8" name="Groupe 7">
            <a:extLst>
              <a:ext uri="{FF2B5EF4-FFF2-40B4-BE49-F238E27FC236}">
                <a16:creationId xmlns:a16="http://schemas.microsoft.com/office/drawing/2014/main" id="{F876C2FA-8B4C-4FE2-A7D2-16EB6DEF4878}"/>
              </a:ext>
            </a:extLst>
          </p:cNvPr>
          <p:cNvGrpSpPr/>
          <p:nvPr/>
        </p:nvGrpSpPr>
        <p:grpSpPr>
          <a:xfrm>
            <a:off x="2014301" y="1475096"/>
            <a:ext cx="5115398" cy="2193308"/>
            <a:chOff x="3023918" y="2394237"/>
            <a:chExt cx="5115398" cy="2193308"/>
          </a:xfrm>
        </p:grpSpPr>
        <p:sp>
          <p:nvSpPr>
            <p:cNvPr id="20" name="Freeform: Shape 32">
              <a:extLst>
                <a:ext uri="{FF2B5EF4-FFF2-40B4-BE49-F238E27FC236}">
                  <a16:creationId xmlns:a16="http://schemas.microsoft.com/office/drawing/2014/main" id="{AB7299D6-CA0D-48DE-BCEE-40E5362813A2}"/>
                </a:ext>
              </a:extLst>
            </p:cNvPr>
            <p:cNvSpPr/>
            <p:nvPr/>
          </p:nvSpPr>
          <p:spPr>
            <a:xfrm>
              <a:off x="3308983" y="4204586"/>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3">
                <a:lumMod val="75000"/>
              </a:schemeClr>
            </a:solidFill>
            <a:ln w="12700">
              <a:miter lim="400000"/>
            </a:ln>
          </p:spPr>
          <p:txBody>
            <a:bodyPr wrap="square" lIns="960120" tIns="28575" rIns="28575" bIns="28575" anchor="ctr">
              <a:noAutofit/>
            </a:bodyPr>
            <a:lstStyle/>
            <a:p>
              <a:pPr>
                <a:lnSpc>
                  <a:spcPts val="1200"/>
                </a:lnSpc>
              </a:pPr>
              <a:r>
                <a:rPr lang="en-US" sz="1050" noProof="1">
                  <a:solidFill>
                    <a:srgbClr val="FFFFFF"/>
                  </a:solidFill>
                </a:rPr>
                <a:t>Code Python</a:t>
              </a:r>
            </a:p>
          </p:txBody>
        </p:sp>
        <p:sp>
          <p:nvSpPr>
            <p:cNvPr id="24" name="Freeform: Shape 30">
              <a:extLst>
                <a:ext uri="{FF2B5EF4-FFF2-40B4-BE49-F238E27FC236}">
                  <a16:creationId xmlns:a16="http://schemas.microsoft.com/office/drawing/2014/main" id="{6C8C4468-3DF8-48F6-B4ED-187AC7956311}"/>
                </a:ext>
              </a:extLst>
            </p:cNvPr>
            <p:cNvSpPr/>
            <p:nvPr/>
          </p:nvSpPr>
          <p:spPr>
            <a:xfrm>
              <a:off x="3308983" y="3751999"/>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5">
                <a:lumMod val="75000"/>
              </a:schemeClr>
            </a:solidFill>
            <a:ln w="12700">
              <a:miter lim="400000"/>
            </a:ln>
          </p:spPr>
          <p:txBody>
            <a:bodyPr wrap="square" lIns="1165860" tIns="28575" rIns="28575" bIns="28575" anchor="ctr">
              <a:noAutofit/>
            </a:bodyPr>
            <a:lstStyle/>
            <a:p>
              <a:pPr>
                <a:lnSpc>
                  <a:spcPts val="1200"/>
                </a:lnSpc>
              </a:pPr>
              <a:r>
                <a:rPr lang="en-US" sz="1050" noProof="1">
                  <a:solidFill>
                    <a:srgbClr val="FFFFFF"/>
                  </a:solidFill>
                </a:rPr>
                <a:t>Interprétation des résultats</a:t>
              </a:r>
            </a:p>
          </p:txBody>
        </p:sp>
        <p:sp>
          <p:nvSpPr>
            <p:cNvPr id="26" name="Freeform: Shape 28">
              <a:extLst>
                <a:ext uri="{FF2B5EF4-FFF2-40B4-BE49-F238E27FC236}">
                  <a16:creationId xmlns:a16="http://schemas.microsoft.com/office/drawing/2014/main" id="{07ECAAC9-029C-4079-A65B-D972939F08B3}"/>
                </a:ext>
              </a:extLst>
            </p:cNvPr>
            <p:cNvSpPr/>
            <p:nvPr/>
          </p:nvSpPr>
          <p:spPr>
            <a:xfrm>
              <a:off x="3308983" y="3299411"/>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2">
                <a:lumMod val="75000"/>
              </a:schemeClr>
            </a:solidFill>
            <a:ln w="12700">
              <a:miter lim="400000"/>
            </a:ln>
          </p:spPr>
          <p:txBody>
            <a:bodyPr wrap="square" lIns="1303020" tIns="28575" rIns="28575" bIns="28575" anchor="ctr">
              <a:noAutofit/>
            </a:bodyPr>
            <a:lstStyle/>
            <a:p>
              <a:pPr>
                <a:lnSpc>
                  <a:spcPts val="1200"/>
                </a:lnSpc>
              </a:pPr>
              <a:r>
                <a:rPr lang="en-US" sz="1050" noProof="1">
                  <a:solidFill>
                    <a:srgbClr val="FFFFFF"/>
                  </a:solidFill>
                </a:rPr>
                <a:t>Représentation graphique</a:t>
              </a:r>
            </a:p>
          </p:txBody>
        </p:sp>
        <p:sp>
          <p:nvSpPr>
            <p:cNvPr id="27" name="Freeform: Shape 26">
              <a:extLst>
                <a:ext uri="{FF2B5EF4-FFF2-40B4-BE49-F238E27FC236}">
                  <a16:creationId xmlns:a16="http://schemas.microsoft.com/office/drawing/2014/main" id="{CDC9DF94-2173-4D1B-B59B-E4E827369CB5}"/>
                </a:ext>
              </a:extLst>
            </p:cNvPr>
            <p:cNvSpPr/>
            <p:nvPr/>
          </p:nvSpPr>
          <p:spPr>
            <a:xfrm>
              <a:off x="3308983" y="2846825"/>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6">
                <a:lumMod val="75000"/>
              </a:schemeClr>
            </a:solidFill>
            <a:ln w="12700">
              <a:miter lim="400000"/>
            </a:ln>
          </p:spPr>
          <p:txBody>
            <a:bodyPr wrap="square" lIns="1165860" tIns="28575" rIns="28575" bIns="28575" anchor="ctr">
              <a:noAutofit/>
            </a:bodyPr>
            <a:lstStyle/>
            <a:p>
              <a:pPr>
                <a:lnSpc>
                  <a:spcPts val="1200"/>
                </a:lnSpc>
              </a:pPr>
              <a:r>
                <a:rPr lang="en-US" sz="1050" noProof="1">
                  <a:solidFill>
                    <a:srgbClr val="FFFFFF"/>
                  </a:solidFill>
                </a:rPr>
                <a:t>Définition</a:t>
              </a:r>
              <a:endParaRPr sz="1050" dirty="0">
                <a:solidFill>
                  <a:srgbClr val="FFFFFF"/>
                </a:solidFill>
              </a:endParaRPr>
            </a:p>
          </p:txBody>
        </p:sp>
        <p:sp>
          <p:nvSpPr>
            <p:cNvPr id="28" name="Freeform: Shape 24">
              <a:extLst>
                <a:ext uri="{FF2B5EF4-FFF2-40B4-BE49-F238E27FC236}">
                  <a16:creationId xmlns:a16="http://schemas.microsoft.com/office/drawing/2014/main" id="{E482F691-BB2A-4EEB-94BF-FE42D9114553}"/>
                </a:ext>
              </a:extLst>
            </p:cNvPr>
            <p:cNvSpPr/>
            <p:nvPr/>
          </p:nvSpPr>
          <p:spPr>
            <a:xfrm>
              <a:off x="3308983" y="2394237"/>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4">
                <a:lumMod val="75000"/>
              </a:schemeClr>
            </a:solidFill>
            <a:ln w="12700">
              <a:miter lim="400000"/>
            </a:ln>
          </p:spPr>
          <p:txBody>
            <a:bodyPr wrap="square" lIns="960120" tIns="28575" rIns="28575" bIns="28575" anchor="ctr">
              <a:noAutofit/>
            </a:bodyPr>
            <a:lstStyle/>
            <a:p>
              <a:pPr>
                <a:lnSpc>
                  <a:spcPts val="1200"/>
                </a:lnSpc>
              </a:pPr>
              <a:r>
                <a:rPr lang="en-US" sz="1050" noProof="1">
                  <a:solidFill>
                    <a:schemeClr val="bg1"/>
                  </a:solidFill>
                </a:rPr>
                <a:t>Intuition</a:t>
              </a:r>
            </a:p>
          </p:txBody>
        </p:sp>
        <p:sp>
          <p:nvSpPr>
            <p:cNvPr id="29" name="Shape">
              <a:extLst>
                <a:ext uri="{FF2B5EF4-FFF2-40B4-BE49-F238E27FC236}">
                  <a16:creationId xmlns:a16="http://schemas.microsoft.com/office/drawing/2014/main" id="{F4DDA186-E4CF-45BB-B534-4BDB198C13C1}"/>
                </a:ext>
              </a:extLst>
            </p:cNvPr>
            <p:cNvSpPr/>
            <p:nvPr/>
          </p:nvSpPr>
          <p:spPr>
            <a:xfrm>
              <a:off x="3023919" y="4204586"/>
              <a:ext cx="1116383"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16638" y="21600"/>
                  </a:lnTo>
                  <a:cubicBezTo>
                    <a:pt x="18614" y="15120"/>
                    <a:pt x="20298" y="7920"/>
                    <a:pt x="21600" y="0"/>
                  </a:cubicBezTo>
                  <a:lnTo>
                    <a:pt x="3705" y="0"/>
                  </a:lnTo>
                  <a:cubicBezTo>
                    <a:pt x="1662" y="0"/>
                    <a:pt x="0" y="4844"/>
                    <a:pt x="0" y="10800"/>
                  </a:cubicBezTo>
                  <a:close/>
                </a:path>
              </a:pathLst>
            </a:custGeom>
            <a:solidFill>
              <a:schemeClr val="accent3"/>
            </a:solidFill>
            <a:ln w="12700">
              <a:miter lim="400000"/>
            </a:ln>
          </p:spPr>
          <p:txBody>
            <a:bodyPr lIns="28575" tIns="28575" rIns="28575" bIns="28575" anchor="ctr"/>
            <a:lstStyle/>
            <a:p>
              <a:pPr>
                <a:defRPr sz="3000">
                  <a:solidFill>
                    <a:srgbClr val="FFFFFF"/>
                  </a:solidFill>
                </a:defRPr>
              </a:pPr>
              <a:endParaRPr sz="2250" dirty="0"/>
            </a:p>
          </p:txBody>
        </p:sp>
        <p:sp>
          <p:nvSpPr>
            <p:cNvPr id="30" name="Shape">
              <a:extLst>
                <a:ext uri="{FF2B5EF4-FFF2-40B4-BE49-F238E27FC236}">
                  <a16:creationId xmlns:a16="http://schemas.microsoft.com/office/drawing/2014/main" id="{65E2268C-1F9C-4E04-BD4A-13E65DFF26A2}"/>
                </a:ext>
              </a:extLst>
            </p:cNvPr>
            <p:cNvSpPr/>
            <p:nvPr/>
          </p:nvSpPr>
          <p:spPr>
            <a:xfrm>
              <a:off x="3023919" y="3751999"/>
              <a:ext cx="1257960"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19707" y="21600"/>
                  </a:lnTo>
                  <a:cubicBezTo>
                    <a:pt x="20584" y="14793"/>
                    <a:pt x="21241" y="7527"/>
                    <a:pt x="21600" y="0"/>
                  </a:cubicBezTo>
                  <a:lnTo>
                    <a:pt x="3288" y="0"/>
                  </a:lnTo>
                  <a:cubicBezTo>
                    <a:pt x="1475" y="0"/>
                    <a:pt x="0" y="4844"/>
                    <a:pt x="0" y="10800"/>
                  </a:cubicBezTo>
                  <a:close/>
                </a:path>
              </a:pathLst>
            </a:custGeom>
            <a:solidFill>
              <a:schemeClr val="accent5"/>
            </a:solidFill>
            <a:ln w="12700">
              <a:miter lim="400000"/>
            </a:ln>
          </p:spPr>
          <p:txBody>
            <a:bodyPr lIns="28575" tIns="28575" rIns="28575" bIns="28575" anchor="ctr"/>
            <a:lstStyle/>
            <a:p>
              <a:pPr>
                <a:defRPr sz="3000">
                  <a:solidFill>
                    <a:srgbClr val="FFFFFF"/>
                  </a:solidFill>
                </a:defRPr>
              </a:pPr>
              <a:endParaRPr sz="2250" dirty="0"/>
            </a:p>
          </p:txBody>
        </p:sp>
        <p:sp>
          <p:nvSpPr>
            <p:cNvPr id="31" name="Shape">
              <a:extLst>
                <a:ext uri="{FF2B5EF4-FFF2-40B4-BE49-F238E27FC236}">
                  <a16:creationId xmlns:a16="http://schemas.microsoft.com/office/drawing/2014/main" id="{691F5F91-30F2-49C4-B1A4-6F4C77BF259D}"/>
                </a:ext>
              </a:extLst>
            </p:cNvPr>
            <p:cNvSpPr/>
            <p:nvPr/>
          </p:nvSpPr>
          <p:spPr>
            <a:xfrm>
              <a:off x="3023918" y="3299411"/>
              <a:ext cx="1280012"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49" y="21600"/>
                    <a:pt x="3231" y="21600"/>
                  </a:cubicBezTo>
                  <a:lnTo>
                    <a:pt x="21404" y="21600"/>
                  </a:lnTo>
                  <a:cubicBezTo>
                    <a:pt x="21522" y="18065"/>
                    <a:pt x="21600" y="14465"/>
                    <a:pt x="21600" y="10800"/>
                  </a:cubicBezTo>
                  <a:cubicBezTo>
                    <a:pt x="21600" y="7135"/>
                    <a:pt x="21541" y="3535"/>
                    <a:pt x="21404" y="0"/>
                  </a:cubicBezTo>
                  <a:lnTo>
                    <a:pt x="3231" y="0"/>
                  </a:lnTo>
                  <a:cubicBezTo>
                    <a:pt x="1449" y="0"/>
                    <a:pt x="0" y="4844"/>
                    <a:pt x="0" y="10800"/>
                  </a:cubicBezTo>
                  <a:close/>
                </a:path>
              </a:pathLst>
            </a:custGeom>
            <a:solidFill>
              <a:schemeClr val="accent2"/>
            </a:solidFill>
            <a:ln w="12700">
              <a:miter lim="400000"/>
            </a:ln>
          </p:spPr>
          <p:txBody>
            <a:bodyPr lIns="28575" tIns="28575" rIns="28575" bIns="28575" anchor="ctr"/>
            <a:lstStyle/>
            <a:p>
              <a:pPr>
                <a:defRPr sz="3000">
                  <a:solidFill>
                    <a:srgbClr val="FFFFFF"/>
                  </a:solidFill>
                </a:defRPr>
              </a:pPr>
              <a:endParaRPr sz="2250" dirty="0"/>
            </a:p>
          </p:txBody>
        </p:sp>
        <p:sp>
          <p:nvSpPr>
            <p:cNvPr id="32" name="Shape">
              <a:extLst>
                <a:ext uri="{FF2B5EF4-FFF2-40B4-BE49-F238E27FC236}">
                  <a16:creationId xmlns:a16="http://schemas.microsoft.com/office/drawing/2014/main" id="{23ABBDEA-6B95-43E3-B101-CECEC46F89C0}"/>
                </a:ext>
              </a:extLst>
            </p:cNvPr>
            <p:cNvSpPr/>
            <p:nvPr/>
          </p:nvSpPr>
          <p:spPr>
            <a:xfrm>
              <a:off x="3023919" y="2846825"/>
              <a:ext cx="1257960"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21600" y="21600"/>
                  </a:lnTo>
                  <a:cubicBezTo>
                    <a:pt x="21241" y="14073"/>
                    <a:pt x="20584" y="6807"/>
                    <a:pt x="19707" y="0"/>
                  </a:cubicBezTo>
                  <a:lnTo>
                    <a:pt x="3288" y="0"/>
                  </a:lnTo>
                  <a:cubicBezTo>
                    <a:pt x="1475" y="0"/>
                    <a:pt x="0" y="4844"/>
                    <a:pt x="0" y="10800"/>
                  </a:cubicBezTo>
                  <a:close/>
                </a:path>
              </a:pathLst>
            </a:custGeom>
            <a:solidFill>
              <a:schemeClr val="accent6"/>
            </a:solidFill>
            <a:ln w="12700">
              <a:miter lim="400000"/>
            </a:ln>
          </p:spPr>
          <p:txBody>
            <a:bodyPr lIns="28575" tIns="28575" rIns="28575" bIns="28575" anchor="ctr"/>
            <a:lstStyle/>
            <a:p>
              <a:pPr>
                <a:defRPr sz="3000">
                  <a:solidFill>
                    <a:srgbClr val="FFFFFF"/>
                  </a:solidFill>
                </a:defRPr>
              </a:pPr>
              <a:endParaRPr sz="2250" dirty="0"/>
            </a:p>
          </p:txBody>
        </p:sp>
        <p:sp>
          <p:nvSpPr>
            <p:cNvPr id="33" name="Shape">
              <a:extLst>
                <a:ext uri="{FF2B5EF4-FFF2-40B4-BE49-F238E27FC236}">
                  <a16:creationId xmlns:a16="http://schemas.microsoft.com/office/drawing/2014/main" id="{31197E3D-82D8-4EA5-831A-65ABECDA722B}"/>
                </a:ext>
              </a:extLst>
            </p:cNvPr>
            <p:cNvSpPr/>
            <p:nvPr/>
          </p:nvSpPr>
          <p:spPr>
            <a:xfrm>
              <a:off x="3023919" y="2394237"/>
              <a:ext cx="1116383"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21600" y="21600"/>
                  </a:lnTo>
                  <a:cubicBezTo>
                    <a:pt x="20298" y="13745"/>
                    <a:pt x="18614" y="6480"/>
                    <a:pt x="16638" y="0"/>
                  </a:cubicBezTo>
                  <a:lnTo>
                    <a:pt x="3705" y="0"/>
                  </a:lnTo>
                  <a:cubicBezTo>
                    <a:pt x="1662" y="65"/>
                    <a:pt x="0" y="4844"/>
                    <a:pt x="0" y="10800"/>
                  </a:cubicBezTo>
                  <a:close/>
                </a:path>
              </a:pathLst>
            </a:custGeom>
            <a:solidFill>
              <a:schemeClr val="accent4"/>
            </a:solidFill>
            <a:ln w="12700">
              <a:miter lim="400000"/>
            </a:ln>
          </p:spPr>
          <p:txBody>
            <a:bodyPr lIns="28575" tIns="28575" rIns="28575" bIns="28575" anchor="ctr"/>
            <a:lstStyle/>
            <a:p>
              <a:pPr>
                <a:defRPr sz="3000">
                  <a:solidFill>
                    <a:srgbClr val="FFFFFF"/>
                  </a:solidFill>
                </a:defRPr>
              </a:pPr>
              <a:endParaRPr sz="2250" dirty="0"/>
            </a:p>
          </p:txBody>
        </p:sp>
        <p:pic>
          <p:nvPicPr>
            <p:cNvPr id="34" name="Graphic 14" descr="Fermer">
              <a:extLst>
                <a:ext uri="{FF2B5EF4-FFF2-40B4-BE49-F238E27FC236}">
                  <a16:creationId xmlns:a16="http://schemas.microsoft.com/office/drawing/2014/main" id="{A9E7F05A-9F3E-43EE-89AC-7D5B1D30E1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2417565"/>
              <a:ext cx="336304" cy="336304"/>
            </a:xfrm>
            <a:prstGeom prst="rect">
              <a:avLst/>
            </a:prstGeom>
          </p:spPr>
        </p:pic>
        <p:pic>
          <p:nvPicPr>
            <p:cNvPr id="35" name="Graphic 16" descr="Livres">
              <a:extLst>
                <a:ext uri="{FF2B5EF4-FFF2-40B4-BE49-F238E27FC236}">
                  <a16:creationId xmlns:a16="http://schemas.microsoft.com/office/drawing/2014/main" id="{5E6A698C-534F-452E-A6EC-07B64B1FAB1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49127" y="4227914"/>
              <a:ext cx="336304" cy="336304"/>
            </a:xfrm>
            <a:prstGeom prst="rect">
              <a:avLst/>
            </a:prstGeom>
          </p:spPr>
        </p:pic>
        <p:pic>
          <p:nvPicPr>
            <p:cNvPr id="36" name="Graphic 18" descr="Livres">
              <a:extLst>
                <a:ext uri="{FF2B5EF4-FFF2-40B4-BE49-F238E27FC236}">
                  <a16:creationId xmlns:a16="http://schemas.microsoft.com/office/drawing/2014/main" id="{66078456-0AA2-4466-9D71-42F6EA243E7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49127" y="2870153"/>
              <a:ext cx="336304" cy="336304"/>
            </a:xfrm>
            <a:prstGeom prst="rect">
              <a:avLst/>
            </a:prstGeom>
          </p:spPr>
        </p:pic>
        <p:pic>
          <p:nvPicPr>
            <p:cNvPr id="37" name="Graphic 20" descr="Fermer">
              <a:extLst>
                <a:ext uri="{FF2B5EF4-FFF2-40B4-BE49-F238E27FC236}">
                  <a16:creationId xmlns:a16="http://schemas.microsoft.com/office/drawing/2014/main" id="{1D277088-C072-4CFD-A819-36E374EE5D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3322740"/>
              <a:ext cx="336304" cy="336304"/>
            </a:xfrm>
            <a:prstGeom prst="rect">
              <a:avLst/>
            </a:prstGeom>
          </p:spPr>
        </p:pic>
        <p:pic>
          <p:nvPicPr>
            <p:cNvPr id="38" name="Graphic 22" descr="Livres">
              <a:extLst>
                <a:ext uri="{FF2B5EF4-FFF2-40B4-BE49-F238E27FC236}">
                  <a16:creationId xmlns:a16="http://schemas.microsoft.com/office/drawing/2014/main" id="{E4ADC7CB-036B-4FA1-AD9E-3751D9FEE3A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49127" y="3775327"/>
              <a:ext cx="336304" cy="336304"/>
            </a:xfrm>
            <a:prstGeom prst="rect">
              <a:avLst/>
            </a:prstGeom>
          </p:spPr>
        </p:pic>
      </p:grpSp>
    </p:spTree>
    <p:extLst>
      <p:ext uri="{BB962C8B-B14F-4D97-AF65-F5344CB8AC3E}">
        <p14:creationId xmlns:p14="http://schemas.microsoft.com/office/powerpoint/2010/main" val="329682510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889012" cy="1463824"/>
              </a:xfrm>
            </p:spPr>
            <p:txBody>
              <a:bodyPr>
                <a:normAutofit fontScale="85000" lnSpcReduction="20000"/>
              </a:bodyPr>
              <a:lstStyle/>
              <a:p>
                <a:pPr lvl="1" algn="just">
                  <a:lnSpc>
                    <a:spcPct val="150000"/>
                  </a:lnSpc>
                  <a:buClr>
                    <a:schemeClr val="accent2"/>
                  </a:buClr>
                </a:pPr>
                <a:r>
                  <a:rPr lang="fr-FR" sz="1800" dirty="0"/>
                  <a:t>L’essentiel à savoir : </a:t>
                </a:r>
                <a:r>
                  <a:rPr lang="fr-FR" sz="1800" dirty="0">
                    <a:solidFill>
                      <a:srgbClr val="00194C"/>
                    </a:solidFill>
                  </a:rPr>
                  <a:t>définition</a:t>
                </a:r>
              </a:p>
              <a:p>
                <a:pPr lvl="2" algn="just">
                  <a:lnSpc>
                    <a:spcPct val="150000"/>
                  </a:lnSpc>
                  <a:buClr>
                    <a:schemeClr val="accent2"/>
                  </a:buClr>
                </a:pPr>
                <a:r>
                  <a:rPr lang="fr-FR" dirty="0"/>
                  <a:t>Méthode statistique permettant de modéliser la relation linéaire entre une variable quantitative (</a:t>
                </a:r>
                <a14:m>
                  <m:oMath xmlns:m="http://schemas.openxmlformats.org/officeDocument/2006/math">
                    <m:r>
                      <a:rPr lang="fr-FR" i="1" dirty="0" smtClean="0">
                        <a:latin typeface="Cambria Math" panose="02040503050406030204" pitchFamily="18" charset="0"/>
                      </a:rPr>
                      <m:t>𝑦</m:t>
                    </m:r>
                  </m:oMath>
                </a14:m>
                <a:r>
                  <a:rPr lang="fr-FR" dirty="0"/>
                  <a:t>) et au moins deux autres variables quantitatives (</a:t>
                </a:r>
                <a14:m>
                  <m:oMath xmlns:m="http://schemas.openxmlformats.org/officeDocument/2006/math">
                    <m:r>
                      <a:rPr lang="fr-FR" i="1" dirty="0" smtClean="0">
                        <a:latin typeface="Cambria Math" panose="02040503050406030204" pitchFamily="18" charset="0"/>
                      </a:rPr>
                      <m:t>𝑥</m:t>
                    </m:r>
                  </m:oMath>
                </a14:m>
                <a:r>
                  <a:rPr lang="fr-FR" dirty="0"/>
                  <a:t>).</a:t>
                </a:r>
              </a:p>
              <a:p>
                <a:pPr lvl="2" algn="just">
                  <a:lnSpc>
                    <a:spcPct val="150000"/>
                  </a:lnSpc>
                  <a:buClr>
                    <a:schemeClr val="accent2"/>
                  </a:buClr>
                </a:pPr>
                <a:endParaRPr lang="fr-FR" dirty="0"/>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6889012" cy="1463824"/>
              </a:xfrm>
              <a:blipFill>
                <a:blip r:embed="rId2"/>
                <a:stretch>
                  <a:fillRect t="-833" r="-1858" b="-417"/>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89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linéaire multiple</a:t>
            </a:r>
            <a:endParaRPr lang="fr-FR" sz="2100" b="0" dirty="0"/>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5E6E228E-E36A-29FC-29BE-2E9EA93BD622}"/>
                  </a:ext>
                </a:extLst>
              </p:cNvPr>
              <p:cNvSpPr txBox="1"/>
              <p:nvPr/>
            </p:nvSpPr>
            <p:spPr>
              <a:xfrm>
                <a:off x="1935183" y="4889584"/>
                <a:ext cx="5273635" cy="2912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sz="1200" i="1">
                              <a:solidFill>
                                <a:srgbClr val="FF0000"/>
                              </a:solidFill>
                              <a:latin typeface="Cambria Math" panose="02040503050406030204" pitchFamily="18" charset="0"/>
                            </a:rPr>
                          </m:ctrlPr>
                        </m:sSubPr>
                        <m:e>
                          <m:r>
                            <a:rPr lang="fr-FR" sz="1200" i="1">
                              <a:solidFill>
                                <a:srgbClr val="FF0000"/>
                              </a:solidFill>
                              <a:latin typeface="Cambria Math" panose="02040503050406030204" pitchFamily="18" charset="0"/>
                            </a:rPr>
                            <m:t>𝛽</m:t>
                          </m:r>
                        </m:e>
                        <m:sub>
                          <m:r>
                            <a:rPr lang="fr-FR" sz="1200" i="1">
                              <a:solidFill>
                                <a:srgbClr val="FF0000"/>
                              </a:solidFill>
                              <a:latin typeface="Cambria Math" panose="02040503050406030204" pitchFamily="18" charset="0"/>
                            </a:rPr>
                            <m:t>0</m:t>
                          </m:r>
                        </m:sub>
                      </m:sSub>
                      <m:r>
                        <a:rPr lang="fr-FR" sz="1200" i="1">
                          <a:solidFill>
                            <a:srgbClr val="FF0000"/>
                          </a:solidFill>
                          <a:latin typeface="Cambria Math" panose="02040503050406030204" pitchFamily="18" charset="0"/>
                        </a:rPr>
                        <m:t>,</m:t>
                      </m:r>
                      <m:sSub>
                        <m:sSubPr>
                          <m:ctrlPr>
                            <a:rPr lang="fr-FR" sz="1200" i="1">
                              <a:solidFill>
                                <a:srgbClr val="FF0000"/>
                              </a:solidFill>
                              <a:latin typeface="Cambria Math" panose="02040503050406030204" pitchFamily="18" charset="0"/>
                            </a:rPr>
                          </m:ctrlPr>
                        </m:sSubPr>
                        <m:e>
                          <m:r>
                            <a:rPr lang="fr-FR" sz="1200" i="1">
                              <a:solidFill>
                                <a:srgbClr val="FF0000"/>
                              </a:solidFill>
                              <a:latin typeface="Cambria Math" panose="02040503050406030204" pitchFamily="18" charset="0"/>
                            </a:rPr>
                            <m:t>𝛽</m:t>
                          </m:r>
                        </m:e>
                        <m:sub>
                          <m:r>
                            <a:rPr lang="fr-FR" sz="1200" i="1">
                              <a:solidFill>
                                <a:srgbClr val="FF0000"/>
                              </a:solidFill>
                              <a:latin typeface="Cambria Math" panose="02040503050406030204" pitchFamily="18" charset="0"/>
                            </a:rPr>
                            <m:t>1</m:t>
                          </m:r>
                        </m:sub>
                      </m:sSub>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𝑒𝑡</m:t>
                      </m:r>
                      <m:r>
                        <a:rPr lang="fr-FR" sz="1200" i="1">
                          <a:solidFill>
                            <a:srgbClr val="FF0000"/>
                          </a:solidFill>
                          <a:latin typeface="Cambria Math" panose="02040503050406030204" pitchFamily="18" charset="0"/>
                        </a:rPr>
                        <m:t> </m:t>
                      </m:r>
                      <m:sSub>
                        <m:sSubPr>
                          <m:ctrlPr>
                            <a:rPr lang="fr-FR" sz="1200" i="1">
                              <a:solidFill>
                                <a:srgbClr val="FF0000"/>
                              </a:solidFill>
                              <a:latin typeface="Cambria Math" panose="02040503050406030204" pitchFamily="18" charset="0"/>
                            </a:rPr>
                          </m:ctrlPr>
                        </m:sSubPr>
                        <m:e>
                          <m:r>
                            <a:rPr lang="fr-FR" sz="1200" i="1">
                              <a:solidFill>
                                <a:srgbClr val="FF0000"/>
                              </a:solidFill>
                              <a:latin typeface="Cambria Math" panose="02040503050406030204" pitchFamily="18" charset="0"/>
                            </a:rPr>
                            <m:t>𝛽</m:t>
                          </m:r>
                        </m:e>
                        <m:sub>
                          <m:r>
                            <a:rPr lang="fr-FR" sz="1200" i="1">
                              <a:solidFill>
                                <a:srgbClr val="FF0000"/>
                              </a:solidFill>
                              <a:latin typeface="Cambria Math" panose="02040503050406030204" pitchFamily="18" charset="0"/>
                            </a:rPr>
                            <m:t>𝑝</m:t>
                          </m:r>
                        </m:sub>
                      </m:sSub>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𝑠𝑜𝑛𝑡</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𝑑𝑒𝑠</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𝑝𝑎𝑟𝑎𝑚</m:t>
                      </m:r>
                      <m:r>
                        <a:rPr lang="fr-FR" sz="1200" i="1">
                          <a:solidFill>
                            <a:srgbClr val="FF0000"/>
                          </a:solidFill>
                          <a:latin typeface="Cambria Math" panose="02040503050406030204" pitchFamily="18" charset="0"/>
                        </a:rPr>
                        <m:t>è</m:t>
                      </m:r>
                      <m:r>
                        <a:rPr lang="fr-FR" sz="1200" i="1">
                          <a:solidFill>
                            <a:srgbClr val="FF0000"/>
                          </a:solidFill>
                          <a:latin typeface="Cambria Math" panose="02040503050406030204" pitchFamily="18" charset="0"/>
                        </a:rPr>
                        <m:t>𝑡𝑟𝑒𝑠</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𝑖𝑛𝑐𝑜𝑛𝑛𝑢𝑠</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𝑞</m:t>
                      </m:r>
                      <m:sSup>
                        <m:sSupPr>
                          <m:ctrlPr>
                            <a:rPr lang="fr-FR" sz="1200" i="1">
                              <a:solidFill>
                                <a:srgbClr val="FF0000"/>
                              </a:solidFill>
                              <a:latin typeface="Cambria Math" panose="02040503050406030204" pitchFamily="18" charset="0"/>
                            </a:rPr>
                          </m:ctrlPr>
                        </m:sSupPr>
                        <m:e>
                          <m:r>
                            <a:rPr lang="fr-FR" sz="1200" i="1">
                              <a:solidFill>
                                <a:srgbClr val="FF0000"/>
                              </a:solidFill>
                              <a:latin typeface="Cambria Math" panose="02040503050406030204" pitchFamily="18" charset="0"/>
                            </a:rPr>
                            <m:t>𝑢</m:t>
                          </m:r>
                        </m:e>
                        <m:sup>
                          <m:r>
                            <a:rPr lang="fr-FR" sz="1200" i="1">
                              <a:solidFill>
                                <a:srgbClr val="FF0000"/>
                              </a:solidFill>
                              <a:latin typeface="Cambria Math" panose="02040503050406030204" pitchFamily="18" charset="0"/>
                            </a:rPr>
                            <m:t>′</m:t>
                          </m:r>
                        </m:sup>
                      </m:sSup>
                      <m:r>
                        <a:rPr lang="fr-FR" sz="1200" i="1">
                          <a:solidFill>
                            <a:srgbClr val="FF0000"/>
                          </a:solidFill>
                          <a:latin typeface="Cambria Math" panose="02040503050406030204" pitchFamily="18" charset="0"/>
                        </a:rPr>
                        <m:t>𝑜𝑛</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𝑐h𝑒𝑟𝑐h𝑒</m:t>
                      </m:r>
                      <m:r>
                        <a:rPr lang="fr-FR" sz="1200" i="1">
                          <a:solidFill>
                            <a:srgbClr val="FF0000"/>
                          </a:solidFill>
                          <a:latin typeface="Cambria Math" panose="02040503050406030204" pitchFamily="18" charset="0"/>
                        </a:rPr>
                        <m:t> à </m:t>
                      </m:r>
                      <m:r>
                        <a:rPr lang="fr-FR" sz="1200" i="1">
                          <a:solidFill>
                            <a:srgbClr val="FF0000"/>
                          </a:solidFill>
                          <a:latin typeface="Cambria Math" panose="02040503050406030204" pitchFamily="18" charset="0"/>
                        </a:rPr>
                        <m:t>𝑒𝑠𝑡𝑖𝑚𝑒𝑟</m:t>
                      </m:r>
                      <m:r>
                        <a:rPr lang="fr-FR" sz="1200" i="1">
                          <a:solidFill>
                            <a:srgbClr val="FF0000"/>
                          </a:solidFill>
                          <a:latin typeface="Cambria Math" panose="02040503050406030204" pitchFamily="18" charset="0"/>
                        </a:rPr>
                        <m:t>.</m:t>
                      </m:r>
                    </m:oMath>
                  </m:oMathPara>
                </a14:m>
                <a:endParaRPr lang="fr-FR" sz="1200" dirty="0">
                  <a:solidFill>
                    <a:srgbClr val="FF0000"/>
                  </a:solidFill>
                </a:endParaRPr>
              </a:p>
            </p:txBody>
          </p:sp>
        </mc:Choice>
        <mc:Fallback xmlns="">
          <p:sp>
            <p:nvSpPr>
              <p:cNvPr id="4" name="ZoneTexte 3">
                <a:extLst>
                  <a:ext uri="{FF2B5EF4-FFF2-40B4-BE49-F238E27FC236}">
                    <a16:creationId xmlns:a16="http://schemas.microsoft.com/office/drawing/2014/main" id="{5E6E228E-E36A-29FC-29BE-2E9EA93BD622}"/>
                  </a:ext>
                </a:extLst>
              </p:cNvPr>
              <p:cNvSpPr txBox="1">
                <a:spLocks noRot="1" noChangeAspect="1" noMove="1" noResize="1" noEditPoints="1" noAdjustHandles="1" noChangeArrowheads="1" noChangeShapeType="1" noTextEdit="1"/>
              </p:cNvSpPr>
              <p:nvPr/>
            </p:nvSpPr>
            <p:spPr>
              <a:xfrm>
                <a:off x="1935183" y="4889584"/>
                <a:ext cx="5273635" cy="291298"/>
              </a:xfrm>
              <a:prstGeom prst="rect">
                <a:avLst/>
              </a:prstGeom>
              <a:blipFill>
                <a:blip r:embed="rId3"/>
                <a:stretch>
                  <a:fillRect b="-2083"/>
                </a:stretch>
              </a:blipFill>
            </p:spPr>
            <p:txBody>
              <a:bodyPr/>
              <a:lstStyle/>
              <a:p>
                <a:r>
                  <a:rPr lang="fr-FR">
                    <a:noFill/>
                  </a:rPr>
                  <a:t> </a:t>
                </a:r>
              </a:p>
            </p:txBody>
          </p:sp>
        </mc:Fallback>
      </mc:AlternateContent>
      <p:grpSp>
        <p:nvGrpSpPr>
          <p:cNvPr id="25" name="Groupe 24">
            <a:extLst>
              <a:ext uri="{FF2B5EF4-FFF2-40B4-BE49-F238E27FC236}">
                <a16:creationId xmlns:a16="http://schemas.microsoft.com/office/drawing/2014/main" id="{EAA60EAD-0DF5-A033-60E0-184866B3EFBE}"/>
              </a:ext>
            </a:extLst>
          </p:cNvPr>
          <p:cNvGrpSpPr/>
          <p:nvPr/>
        </p:nvGrpSpPr>
        <p:grpSpPr>
          <a:xfrm>
            <a:off x="528286" y="2841745"/>
            <a:ext cx="6680534" cy="1428663"/>
            <a:chOff x="804022" y="3835009"/>
            <a:chExt cx="8907378" cy="1904883"/>
          </a:xfrm>
        </p:grpSpPr>
        <mc:AlternateContent xmlns:mc="http://schemas.openxmlformats.org/markup-compatibility/2006" xmlns:a14="http://schemas.microsoft.com/office/drawing/2010/main">
          <mc:Choice Requires="a14">
            <p:sp>
              <p:nvSpPr>
                <p:cNvPr id="2" name="ZoneTexte 1">
                  <a:extLst>
                    <a:ext uri="{FF2B5EF4-FFF2-40B4-BE49-F238E27FC236}">
                      <a16:creationId xmlns:a16="http://schemas.microsoft.com/office/drawing/2014/main" id="{2030F570-16A0-B224-D80F-ACF33E9E4492}"/>
                    </a:ext>
                  </a:extLst>
                </p:cNvPr>
                <p:cNvSpPr txBox="1"/>
                <p:nvPr/>
              </p:nvSpPr>
              <p:spPr>
                <a:xfrm>
                  <a:off x="2182413" y="3835009"/>
                  <a:ext cx="6812287" cy="46405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sz="2100" i="1">
                            <a:latin typeface="Cambria Math" panose="02040503050406030204" pitchFamily="18" charset="0"/>
                          </a:rPr>
                          <m:t>𝑌</m:t>
                        </m:r>
                        <m:r>
                          <a:rPr lang="fr-FR" sz="2100" i="1">
                            <a:latin typeface="Cambria Math" panose="02040503050406030204" pitchFamily="18" charset="0"/>
                          </a:rPr>
                          <m:t>=</m:t>
                        </m:r>
                        <m:sSub>
                          <m:sSubPr>
                            <m:ctrlPr>
                              <a:rPr lang="fr-FR" sz="2100" i="1">
                                <a:latin typeface="Cambria Math" panose="02040503050406030204" pitchFamily="18" charset="0"/>
                                <a:ea typeface="Cambria Math" panose="02040503050406030204" pitchFamily="18" charset="0"/>
                              </a:rPr>
                            </m:ctrlPr>
                          </m:sSubPr>
                          <m:e>
                            <m:r>
                              <a:rPr lang="fr-FR" sz="2100" i="1">
                                <a:latin typeface="Cambria Math" panose="02040503050406030204" pitchFamily="18" charset="0"/>
                                <a:ea typeface="Cambria Math" panose="02040503050406030204" pitchFamily="18" charset="0"/>
                              </a:rPr>
                              <m:t>𝛽</m:t>
                            </m:r>
                          </m:e>
                          <m:sub>
                            <m:r>
                              <a:rPr lang="fr-FR" sz="2100" i="1">
                                <a:latin typeface="Cambria Math" panose="02040503050406030204" pitchFamily="18" charset="0"/>
                                <a:ea typeface="Cambria Math" panose="02040503050406030204" pitchFamily="18" charset="0"/>
                              </a:rPr>
                              <m:t>0</m:t>
                            </m:r>
                          </m:sub>
                        </m:sSub>
                        <m:r>
                          <a:rPr lang="fr-FR" sz="2100" i="1">
                            <a:latin typeface="Cambria Math" panose="02040503050406030204" pitchFamily="18" charset="0"/>
                            <a:ea typeface="Cambria Math" panose="02040503050406030204" pitchFamily="18" charset="0"/>
                          </a:rPr>
                          <m:t>+</m:t>
                        </m:r>
                        <m:sSub>
                          <m:sSubPr>
                            <m:ctrlPr>
                              <a:rPr lang="fr-FR" sz="2100" i="1">
                                <a:latin typeface="Cambria Math" panose="02040503050406030204" pitchFamily="18" charset="0"/>
                                <a:ea typeface="Cambria Math" panose="02040503050406030204" pitchFamily="18" charset="0"/>
                              </a:rPr>
                            </m:ctrlPr>
                          </m:sSubPr>
                          <m:e>
                            <m:r>
                              <a:rPr lang="fr-FR" sz="2100" i="1">
                                <a:latin typeface="Cambria Math" panose="02040503050406030204" pitchFamily="18" charset="0"/>
                                <a:ea typeface="Cambria Math" panose="02040503050406030204" pitchFamily="18" charset="0"/>
                              </a:rPr>
                              <m:t>𝛽</m:t>
                            </m:r>
                          </m:e>
                          <m:sub>
                            <m:r>
                              <a:rPr lang="fr-FR" sz="2100" i="1">
                                <a:latin typeface="Cambria Math" panose="02040503050406030204" pitchFamily="18" charset="0"/>
                                <a:ea typeface="Cambria Math" panose="02040503050406030204" pitchFamily="18" charset="0"/>
                              </a:rPr>
                              <m:t>1</m:t>
                            </m:r>
                          </m:sub>
                        </m:sSub>
                        <m:sSub>
                          <m:sSubPr>
                            <m:ctrlPr>
                              <a:rPr lang="fr-FR" sz="2100" i="1">
                                <a:latin typeface="Cambria Math" panose="02040503050406030204" pitchFamily="18" charset="0"/>
                                <a:ea typeface="Cambria Math" panose="02040503050406030204" pitchFamily="18" charset="0"/>
                              </a:rPr>
                            </m:ctrlPr>
                          </m:sSubPr>
                          <m:e>
                            <m:r>
                              <a:rPr lang="fr-FR" sz="2100" i="1">
                                <a:latin typeface="Cambria Math" panose="02040503050406030204" pitchFamily="18" charset="0"/>
                                <a:ea typeface="Cambria Math" panose="02040503050406030204" pitchFamily="18" charset="0"/>
                              </a:rPr>
                              <m:t>𝑥</m:t>
                            </m:r>
                          </m:e>
                          <m:sub>
                            <m:r>
                              <a:rPr lang="fr-FR" sz="2100" i="1">
                                <a:latin typeface="Cambria Math" panose="02040503050406030204" pitchFamily="18" charset="0"/>
                                <a:ea typeface="Cambria Math" panose="02040503050406030204" pitchFamily="18" charset="0"/>
                              </a:rPr>
                              <m:t>1</m:t>
                            </m:r>
                          </m:sub>
                        </m:sSub>
                        <m:r>
                          <a:rPr lang="fr-FR" sz="2100" i="1">
                            <a:latin typeface="Cambria Math" panose="02040503050406030204" pitchFamily="18" charset="0"/>
                            <a:ea typeface="Cambria Math" panose="02040503050406030204" pitchFamily="18" charset="0"/>
                          </a:rPr>
                          <m:t>+</m:t>
                        </m:r>
                        <m:sSub>
                          <m:sSubPr>
                            <m:ctrlPr>
                              <a:rPr lang="fr-FR" sz="2100" i="1">
                                <a:latin typeface="Cambria Math" panose="02040503050406030204" pitchFamily="18" charset="0"/>
                                <a:ea typeface="Cambria Math" panose="02040503050406030204" pitchFamily="18" charset="0"/>
                              </a:rPr>
                            </m:ctrlPr>
                          </m:sSubPr>
                          <m:e>
                            <m:r>
                              <a:rPr lang="fr-FR" sz="2100" i="1">
                                <a:latin typeface="Cambria Math" panose="02040503050406030204" pitchFamily="18" charset="0"/>
                                <a:ea typeface="Cambria Math" panose="02040503050406030204" pitchFamily="18" charset="0"/>
                              </a:rPr>
                              <m:t>𝛽</m:t>
                            </m:r>
                          </m:e>
                          <m:sub>
                            <m:r>
                              <a:rPr lang="fr-FR" sz="2100" i="1">
                                <a:latin typeface="Cambria Math" panose="02040503050406030204" pitchFamily="18" charset="0"/>
                                <a:ea typeface="Cambria Math" panose="02040503050406030204" pitchFamily="18" charset="0"/>
                              </a:rPr>
                              <m:t>2</m:t>
                            </m:r>
                          </m:sub>
                        </m:sSub>
                        <m:sSub>
                          <m:sSubPr>
                            <m:ctrlPr>
                              <a:rPr lang="fr-FR" sz="2100" i="1">
                                <a:latin typeface="Cambria Math" panose="02040503050406030204" pitchFamily="18" charset="0"/>
                                <a:ea typeface="Cambria Math" panose="02040503050406030204" pitchFamily="18" charset="0"/>
                              </a:rPr>
                            </m:ctrlPr>
                          </m:sSubPr>
                          <m:e>
                            <m:r>
                              <a:rPr lang="fr-FR" sz="2100" i="1">
                                <a:latin typeface="Cambria Math" panose="02040503050406030204" pitchFamily="18" charset="0"/>
                                <a:ea typeface="Cambria Math" panose="02040503050406030204" pitchFamily="18" charset="0"/>
                              </a:rPr>
                              <m:t>𝑥</m:t>
                            </m:r>
                          </m:e>
                          <m:sub>
                            <m:r>
                              <a:rPr lang="fr-FR" sz="2100" i="1">
                                <a:latin typeface="Cambria Math" panose="02040503050406030204" pitchFamily="18" charset="0"/>
                                <a:ea typeface="Cambria Math" panose="02040503050406030204" pitchFamily="18" charset="0"/>
                              </a:rPr>
                              <m:t>2</m:t>
                            </m:r>
                          </m:sub>
                        </m:sSub>
                        <m:r>
                          <a:rPr lang="fr-FR" sz="2100" i="1">
                            <a:latin typeface="Cambria Math" panose="02040503050406030204" pitchFamily="18" charset="0"/>
                            <a:ea typeface="Cambria Math" panose="02040503050406030204" pitchFamily="18" charset="0"/>
                          </a:rPr>
                          <m:t>+…+</m:t>
                        </m:r>
                        <m:sSub>
                          <m:sSubPr>
                            <m:ctrlPr>
                              <a:rPr lang="fr-FR" sz="2100" i="1">
                                <a:latin typeface="Cambria Math" panose="02040503050406030204" pitchFamily="18" charset="0"/>
                                <a:ea typeface="Cambria Math" panose="02040503050406030204" pitchFamily="18" charset="0"/>
                              </a:rPr>
                            </m:ctrlPr>
                          </m:sSubPr>
                          <m:e>
                            <m:r>
                              <a:rPr lang="fr-FR" sz="2100" i="1">
                                <a:latin typeface="Cambria Math" panose="02040503050406030204" pitchFamily="18" charset="0"/>
                                <a:ea typeface="Cambria Math" panose="02040503050406030204" pitchFamily="18" charset="0"/>
                              </a:rPr>
                              <m:t>𝛽</m:t>
                            </m:r>
                          </m:e>
                          <m:sub>
                            <m:r>
                              <a:rPr lang="fr-FR" sz="2100" i="1">
                                <a:latin typeface="Cambria Math" panose="02040503050406030204" pitchFamily="18" charset="0"/>
                                <a:ea typeface="Cambria Math" panose="02040503050406030204" pitchFamily="18" charset="0"/>
                              </a:rPr>
                              <m:t>𝑝</m:t>
                            </m:r>
                          </m:sub>
                        </m:sSub>
                        <m:sSub>
                          <m:sSubPr>
                            <m:ctrlPr>
                              <a:rPr lang="fr-FR" sz="2100" i="1">
                                <a:latin typeface="Cambria Math" panose="02040503050406030204" pitchFamily="18" charset="0"/>
                                <a:ea typeface="Cambria Math" panose="02040503050406030204" pitchFamily="18" charset="0"/>
                              </a:rPr>
                            </m:ctrlPr>
                          </m:sSubPr>
                          <m:e>
                            <m:r>
                              <a:rPr lang="fr-FR" sz="2100" i="1">
                                <a:latin typeface="Cambria Math" panose="02040503050406030204" pitchFamily="18" charset="0"/>
                                <a:ea typeface="Cambria Math" panose="02040503050406030204" pitchFamily="18" charset="0"/>
                              </a:rPr>
                              <m:t>𝑥</m:t>
                            </m:r>
                          </m:e>
                          <m:sub>
                            <m:r>
                              <a:rPr lang="fr-FR" sz="2100" i="1">
                                <a:latin typeface="Cambria Math" panose="02040503050406030204" pitchFamily="18" charset="0"/>
                                <a:ea typeface="Cambria Math" panose="02040503050406030204" pitchFamily="18" charset="0"/>
                              </a:rPr>
                              <m:t>𝑝</m:t>
                            </m:r>
                          </m:sub>
                        </m:sSub>
                        <m:r>
                          <a:rPr lang="fr-FR" sz="2100" i="1">
                            <a:latin typeface="Cambria Math" panose="02040503050406030204" pitchFamily="18" charset="0"/>
                            <a:ea typeface="Cambria Math" panose="02040503050406030204" pitchFamily="18" charset="0"/>
                          </a:rPr>
                          <m:t>+</m:t>
                        </m:r>
                        <m:r>
                          <a:rPr lang="fr-FR" sz="2100" i="1">
                            <a:latin typeface="Cambria Math" panose="02040503050406030204" pitchFamily="18" charset="0"/>
                            <a:ea typeface="Cambria Math" panose="02040503050406030204" pitchFamily="18" charset="0"/>
                          </a:rPr>
                          <m:t>𝜀</m:t>
                        </m:r>
                      </m:oMath>
                    </m:oMathPara>
                  </a14:m>
                  <a:endParaRPr lang="fr-FR" sz="2100" dirty="0"/>
                </a:p>
              </p:txBody>
            </p:sp>
          </mc:Choice>
          <mc:Fallback xmlns="">
            <p:sp>
              <p:nvSpPr>
                <p:cNvPr id="2" name="ZoneTexte 1">
                  <a:extLst>
                    <a:ext uri="{FF2B5EF4-FFF2-40B4-BE49-F238E27FC236}">
                      <a16:creationId xmlns:a16="http://schemas.microsoft.com/office/drawing/2014/main" id="{2030F570-16A0-B224-D80F-ACF33E9E4492}"/>
                    </a:ext>
                  </a:extLst>
                </p:cNvPr>
                <p:cNvSpPr txBox="1">
                  <a:spLocks noRot="1" noChangeAspect="1" noMove="1" noResize="1" noEditPoints="1" noAdjustHandles="1" noChangeArrowheads="1" noChangeShapeType="1" noTextEdit="1"/>
                </p:cNvSpPr>
                <p:nvPr/>
              </p:nvSpPr>
              <p:spPr>
                <a:xfrm>
                  <a:off x="2182413" y="3835009"/>
                  <a:ext cx="6812287" cy="464058"/>
                </a:xfrm>
                <a:prstGeom prst="rect">
                  <a:avLst/>
                </a:prstGeom>
                <a:blipFill>
                  <a:blip r:embed="rId4"/>
                  <a:stretch>
                    <a:fillRect b="-26316"/>
                  </a:stretch>
                </a:blipFill>
              </p:spPr>
              <p:txBody>
                <a:bodyPr/>
                <a:lstStyle/>
                <a:p>
                  <a:r>
                    <a:rPr lang="fr-FR">
                      <a:noFill/>
                    </a:rPr>
                    <a:t> </a:t>
                  </a:r>
                </a:p>
              </p:txBody>
            </p:sp>
          </mc:Fallback>
        </mc:AlternateContent>
        <p:sp>
          <p:nvSpPr>
            <p:cNvPr id="3" name="ZoneTexte 2">
              <a:extLst>
                <a:ext uri="{FF2B5EF4-FFF2-40B4-BE49-F238E27FC236}">
                  <a16:creationId xmlns:a16="http://schemas.microsoft.com/office/drawing/2014/main" id="{20B61BFE-2F55-3C39-5968-C8DB3F0D18BD}"/>
                </a:ext>
              </a:extLst>
            </p:cNvPr>
            <p:cNvSpPr txBox="1"/>
            <p:nvPr/>
          </p:nvSpPr>
          <p:spPr>
            <a:xfrm>
              <a:off x="804022" y="4195946"/>
              <a:ext cx="1378635" cy="677108"/>
            </a:xfrm>
            <a:prstGeom prst="rect">
              <a:avLst/>
            </a:prstGeom>
            <a:noFill/>
          </p:spPr>
          <p:txBody>
            <a:bodyPr wrap="square" rtlCol="0">
              <a:spAutoFit/>
            </a:bodyPr>
            <a:lstStyle/>
            <a:p>
              <a:r>
                <a:rPr lang="fr-FR" sz="1350" dirty="0"/>
                <a:t>Variable à expliquer</a:t>
              </a:r>
            </a:p>
          </p:txBody>
        </p:sp>
        <p:cxnSp>
          <p:nvCxnSpPr>
            <p:cNvPr id="6" name="Connecteur droit 5">
              <a:extLst>
                <a:ext uri="{FF2B5EF4-FFF2-40B4-BE49-F238E27FC236}">
                  <a16:creationId xmlns:a16="http://schemas.microsoft.com/office/drawing/2014/main" id="{BFE4CAF7-6C3D-411E-02CC-DDFA2F6BF4A7}"/>
                </a:ext>
              </a:extLst>
            </p:cNvPr>
            <p:cNvCxnSpPr>
              <a:cxnSpLocks/>
            </p:cNvCxnSpPr>
            <p:nvPr/>
          </p:nvCxnSpPr>
          <p:spPr>
            <a:xfrm flipH="1">
              <a:off x="1999375" y="4163636"/>
              <a:ext cx="690783" cy="335061"/>
            </a:xfrm>
            <a:prstGeom prst="line">
              <a:avLst/>
            </a:prstGeom>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1F01DE9E-9F47-96CA-85A2-B487758D011E}"/>
                </a:ext>
              </a:extLst>
            </p:cNvPr>
            <p:cNvSpPr txBox="1"/>
            <p:nvPr/>
          </p:nvSpPr>
          <p:spPr>
            <a:xfrm>
              <a:off x="2307102" y="5265223"/>
              <a:ext cx="2405575" cy="400109"/>
            </a:xfrm>
            <a:prstGeom prst="rect">
              <a:avLst/>
            </a:prstGeom>
            <a:noFill/>
          </p:spPr>
          <p:txBody>
            <a:bodyPr wrap="square" rtlCol="0">
              <a:spAutoFit/>
            </a:bodyPr>
            <a:lstStyle/>
            <a:p>
              <a:r>
                <a:rPr lang="fr-FR" sz="1350" dirty="0"/>
                <a:t>Ordonnée à l’origine</a:t>
              </a:r>
            </a:p>
          </p:txBody>
        </p:sp>
        <p:cxnSp>
          <p:nvCxnSpPr>
            <p:cNvPr id="10" name="Connecteur droit 9">
              <a:extLst>
                <a:ext uri="{FF2B5EF4-FFF2-40B4-BE49-F238E27FC236}">
                  <a16:creationId xmlns:a16="http://schemas.microsoft.com/office/drawing/2014/main" id="{A0F43E21-64EE-98D3-368D-3CDAF1B85EAB}"/>
                </a:ext>
              </a:extLst>
            </p:cNvPr>
            <p:cNvCxnSpPr>
              <a:cxnSpLocks/>
            </p:cNvCxnSpPr>
            <p:nvPr/>
          </p:nvCxnSpPr>
          <p:spPr>
            <a:xfrm flipH="1">
              <a:off x="3418452" y="4258465"/>
              <a:ext cx="123557" cy="991837"/>
            </a:xfrm>
            <a:prstGeom prst="line">
              <a:avLst/>
            </a:prstGeom>
          </p:spPr>
          <p:style>
            <a:lnRef idx="1">
              <a:schemeClr val="accent1"/>
            </a:lnRef>
            <a:fillRef idx="0">
              <a:schemeClr val="accent1"/>
            </a:fillRef>
            <a:effectRef idx="0">
              <a:schemeClr val="accent1"/>
            </a:effectRef>
            <a:fontRef idx="minor">
              <a:schemeClr val="tx1"/>
            </a:fontRef>
          </p:style>
        </p:cxnSp>
        <p:sp>
          <p:nvSpPr>
            <p:cNvPr id="15" name="ZoneTexte 14">
              <a:extLst>
                <a:ext uri="{FF2B5EF4-FFF2-40B4-BE49-F238E27FC236}">
                  <a16:creationId xmlns:a16="http://schemas.microsoft.com/office/drawing/2014/main" id="{4A2A10AD-6C33-8DBF-FFF8-0F4D9D0709FB}"/>
                </a:ext>
              </a:extLst>
            </p:cNvPr>
            <p:cNvSpPr txBox="1"/>
            <p:nvPr/>
          </p:nvSpPr>
          <p:spPr>
            <a:xfrm>
              <a:off x="5331657" y="4880970"/>
              <a:ext cx="1378635" cy="400109"/>
            </a:xfrm>
            <a:prstGeom prst="rect">
              <a:avLst/>
            </a:prstGeom>
            <a:noFill/>
          </p:spPr>
          <p:txBody>
            <a:bodyPr wrap="square" rtlCol="0">
              <a:spAutoFit/>
            </a:bodyPr>
            <a:lstStyle/>
            <a:p>
              <a:r>
                <a:rPr lang="fr-FR" sz="1350" dirty="0"/>
                <a:t>Coefficient</a:t>
              </a:r>
            </a:p>
          </p:txBody>
        </p:sp>
        <p:cxnSp>
          <p:nvCxnSpPr>
            <p:cNvPr id="16" name="Connecteur droit 15">
              <a:extLst>
                <a:ext uri="{FF2B5EF4-FFF2-40B4-BE49-F238E27FC236}">
                  <a16:creationId xmlns:a16="http://schemas.microsoft.com/office/drawing/2014/main" id="{3B395E1D-6DE8-8FF7-5459-4887DBCEB0EA}"/>
                </a:ext>
              </a:extLst>
            </p:cNvPr>
            <p:cNvCxnSpPr>
              <a:cxnSpLocks/>
              <a:stCxn id="15" idx="1"/>
            </p:cNvCxnSpPr>
            <p:nvPr/>
          </p:nvCxnSpPr>
          <p:spPr>
            <a:xfrm flipH="1" flipV="1">
              <a:off x="4359886" y="4273078"/>
              <a:ext cx="971771" cy="807946"/>
            </a:xfrm>
            <a:prstGeom prst="line">
              <a:avLst/>
            </a:prstGeom>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884DE205-447D-C288-2CC4-F6FAC6A86626}"/>
                </a:ext>
              </a:extLst>
            </p:cNvPr>
            <p:cNvSpPr txBox="1"/>
            <p:nvPr/>
          </p:nvSpPr>
          <p:spPr>
            <a:xfrm>
              <a:off x="7024467" y="5062784"/>
              <a:ext cx="1378635" cy="677108"/>
            </a:xfrm>
            <a:prstGeom prst="rect">
              <a:avLst/>
            </a:prstGeom>
            <a:noFill/>
          </p:spPr>
          <p:txBody>
            <a:bodyPr wrap="square" rtlCol="0">
              <a:spAutoFit/>
            </a:bodyPr>
            <a:lstStyle/>
            <a:p>
              <a:r>
                <a:rPr lang="fr-FR" sz="1350" dirty="0"/>
                <a:t>Variable explicative</a:t>
              </a:r>
            </a:p>
          </p:txBody>
        </p:sp>
        <p:cxnSp>
          <p:nvCxnSpPr>
            <p:cNvPr id="19" name="Connecteur droit 18">
              <a:extLst>
                <a:ext uri="{FF2B5EF4-FFF2-40B4-BE49-F238E27FC236}">
                  <a16:creationId xmlns:a16="http://schemas.microsoft.com/office/drawing/2014/main" id="{5F326432-1B15-6F6F-5A8F-C0652170236D}"/>
                </a:ext>
              </a:extLst>
            </p:cNvPr>
            <p:cNvCxnSpPr>
              <a:cxnSpLocks/>
              <a:stCxn id="18" idx="1"/>
            </p:cNvCxnSpPr>
            <p:nvPr/>
          </p:nvCxnSpPr>
          <p:spPr>
            <a:xfrm flipH="1" flipV="1">
              <a:off x="5965377" y="4271898"/>
              <a:ext cx="1059091" cy="1129441"/>
            </a:xfrm>
            <a:prstGeom prst="line">
              <a:avLst/>
            </a:prstGeom>
          </p:spPr>
          <p:style>
            <a:lnRef idx="1">
              <a:schemeClr val="accent1"/>
            </a:lnRef>
            <a:fillRef idx="0">
              <a:schemeClr val="accent1"/>
            </a:fillRef>
            <a:effectRef idx="0">
              <a:schemeClr val="accent1"/>
            </a:effectRef>
            <a:fontRef idx="minor">
              <a:schemeClr val="tx1"/>
            </a:fontRef>
          </p:style>
        </p:cxnSp>
        <p:sp>
          <p:nvSpPr>
            <p:cNvPr id="22" name="ZoneTexte 21">
              <a:extLst>
                <a:ext uri="{FF2B5EF4-FFF2-40B4-BE49-F238E27FC236}">
                  <a16:creationId xmlns:a16="http://schemas.microsoft.com/office/drawing/2014/main" id="{AA90AA75-B212-F14E-B428-0B544EA253C8}"/>
                </a:ext>
              </a:extLst>
            </p:cNvPr>
            <p:cNvSpPr txBox="1"/>
            <p:nvPr/>
          </p:nvSpPr>
          <p:spPr>
            <a:xfrm>
              <a:off x="8332765" y="4824032"/>
              <a:ext cx="1378635" cy="677108"/>
            </a:xfrm>
            <a:prstGeom prst="rect">
              <a:avLst/>
            </a:prstGeom>
            <a:noFill/>
          </p:spPr>
          <p:txBody>
            <a:bodyPr wrap="square" rtlCol="0">
              <a:spAutoFit/>
            </a:bodyPr>
            <a:lstStyle/>
            <a:p>
              <a:r>
                <a:rPr lang="fr-FR" sz="1350" dirty="0"/>
                <a:t>Erreur de mesure</a:t>
              </a:r>
            </a:p>
          </p:txBody>
        </p:sp>
        <p:cxnSp>
          <p:nvCxnSpPr>
            <p:cNvPr id="23" name="Connecteur droit 22">
              <a:extLst>
                <a:ext uri="{FF2B5EF4-FFF2-40B4-BE49-F238E27FC236}">
                  <a16:creationId xmlns:a16="http://schemas.microsoft.com/office/drawing/2014/main" id="{305212DE-1E2D-0BCB-F9CF-762CF7973F1C}"/>
                </a:ext>
              </a:extLst>
            </p:cNvPr>
            <p:cNvCxnSpPr>
              <a:cxnSpLocks/>
            </p:cNvCxnSpPr>
            <p:nvPr/>
          </p:nvCxnSpPr>
          <p:spPr>
            <a:xfrm flipH="1" flipV="1">
              <a:off x="8332764" y="4258465"/>
              <a:ext cx="463950" cy="565568"/>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9047044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889012" cy="3196700"/>
          </a:xfrm>
        </p:spPr>
        <p:txBody>
          <a:bodyPr>
            <a:normAutofit/>
          </a:bodyPr>
          <a:lstStyle/>
          <a:p>
            <a:pPr lvl="1" algn="just">
              <a:lnSpc>
                <a:spcPct val="150000"/>
              </a:lnSpc>
              <a:buClr>
                <a:schemeClr val="accent2"/>
              </a:buClr>
            </a:pPr>
            <a:r>
              <a:rPr lang="fr-FR" sz="1800" dirty="0"/>
              <a:t>L’essentiel à savoir : </a:t>
            </a:r>
            <a:r>
              <a:rPr lang="fr-FR" sz="1800" dirty="0">
                <a:solidFill>
                  <a:srgbClr val="00194C"/>
                </a:solidFill>
              </a:rPr>
              <a:t>représentation graphique</a:t>
            </a:r>
          </a:p>
          <a:p>
            <a:pPr marL="685800" lvl="2" indent="0" algn="just">
              <a:lnSpc>
                <a:spcPct val="150000"/>
              </a:lnSpc>
              <a:buClr>
                <a:schemeClr val="accent2"/>
              </a:buClr>
              <a:buNone/>
            </a:pPr>
            <a:endParaRPr lang="fr-FR" dirty="0"/>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90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linéaire multiple</a:t>
            </a:r>
            <a:endParaRPr lang="fr-FR" sz="2100" b="0" dirty="0"/>
          </a:p>
        </p:txBody>
      </p:sp>
      <p:pic>
        <p:nvPicPr>
          <p:cNvPr id="4" name="Image 3">
            <a:extLst>
              <a:ext uri="{FF2B5EF4-FFF2-40B4-BE49-F238E27FC236}">
                <a16:creationId xmlns:a16="http://schemas.microsoft.com/office/drawing/2014/main" id="{5A071A02-E85A-E79B-3EB4-194BADDEFFE7}"/>
              </a:ext>
            </a:extLst>
          </p:cNvPr>
          <p:cNvPicPr>
            <a:picLocks noChangeAspect="1"/>
          </p:cNvPicPr>
          <p:nvPr/>
        </p:nvPicPr>
        <p:blipFill>
          <a:blip r:embed="rId2"/>
          <a:stretch>
            <a:fillRect/>
          </a:stretch>
        </p:blipFill>
        <p:spPr>
          <a:xfrm>
            <a:off x="3605916" y="1813611"/>
            <a:ext cx="1932168" cy="2398876"/>
          </a:xfrm>
          <a:prstGeom prst="rect">
            <a:avLst/>
          </a:prstGeom>
        </p:spPr>
      </p:pic>
    </p:spTree>
    <p:extLst>
      <p:ext uri="{BB962C8B-B14F-4D97-AF65-F5344CB8AC3E}">
        <p14:creationId xmlns:p14="http://schemas.microsoft.com/office/powerpoint/2010/main" val="356118680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196700"/>
          </a:xfrm>
        </p:spPr>
        <p:txBody>
          <a:bodyPr>
            <a:normAutofit fontScale="92500" lnSpcReduction="20000"/>
          </a:bodyPr>
          <a:lstStyle/>
          <a:p>
            <a:pPr lvl="1" algn="just">
              <a:lnSpc>
                <a:spcPct val="150000"/>
              </a:lnSpc>
              <a:buClr>
                <a:schemeClr val="accent2"/>
              </a:buClr>
            </a:pPr>
            <a:r>
              <a:rPr lang="fr-FR" sz="1800" dirty="0"/>
              <a:t>L’essentiel à savoir : </a:t>
            </a:r>
            <a:r>
              <a:rPr lang="fr-FR" sz="1800" dirty="0">
                <a:solidFill>
                  <a:srgbClr val="00194C"/>
                </a:solidFill>
              </a:rPr>
              <a:t>interprétation des résultats</a:t>
            </a:r>
          </a:p>
          <a:p>
            <a:pPr lvl="2" algn="just">
              <a:lnSpc>
                <a:spcPct val="150000"/>
              </a:lnSpc>
              <a:buClr>
                <a:schemeClr val="accent2"/>
              </a:buClr>
            </a:pPr>
            <a:endParaRPr lang="fr-FR" dirty="0"/>
          </a:p>
          <a:p>
            <a:pPr lvl="2" algn="just">
              <a:lnSpc>
                <a:spcPct val="150000"/>
              </a:lnSpc>
              <a:buClr>
                <a:schemeClr val="accent2"/>
              </a:buClr>
            </a:pPr>
            <a:r>
              <a:rPr lang="fr-FR" dirty="0"/>
              <a:t>La valeur de 𝑏0, également appelée interception, indique le point où la ligne de régression estimée croise l'axe 𝑦. </a:t>
            </a:r>
          </a:p>
          <a:p>
            <a:pPr lvl="2" algn="just">
              <a:lnSpc>
                <a:spcPct val="150000"/>
              </a:lnSpc>
              <a:buClr>
                <a:schemeClr val="accent2"/>
              </a:buClr>
            </a:pPr>
            <a:r>
              <a:rPr lang="fr-FR" dirty="0"/>
              <a:t>C'est la valeur de la réponse estimée 𝑓(𝑥) pour 𝑥 = 0. La valeur de 𝑏1 détermine la pente de la droite de régression estimée.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91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linéaire multiple</a:t>
            </a:r>
            <a:endParaRPr lang="fr-FR" sz="2100" b="0" dirty="0"/>
          </a:p>
        </p:txBody>
      </p:sp>
    </p:spTree>
    <p:extLst>
      <p:ext uri="{BB962C8B-B14F-4D97-AF65-F5344CB8AC3E}">
        <p14:creationId xmlns:p14="http://schemas.microsoft.com/office/powerpoint/2010/main" val="72769502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196700"/>
              </a:xfrm>
            </p:spPr>
            <p:txBody>
              <a:bodyPr>
                <a:normAutofit fontScale="77500" lnSpcReduction="20000"/>
              </a:bodyPr>
              <a:lstStyle/>
              <a:p>
                <a:pPr lvl="1" algn="just">
                  <a:lnSpc>
                    <a:spcPct val="150000"/>
                  </a:lnSpc>
                  <a:buClr>
                    <a:schemeClr val="accent2"/>
                  </a:buClr>
                </a:pPr>
                <a:r>
                  <a:rPr lang="fr-FR" sz="1800" dirty="0"/>
                  <a:t>L’essentiel à savoir : </a:t>
                </a:r>
                <a:r>
                  <a:rPr lang="fr-FR" sz="1800" dirty="0">
                    <a:solidFill>
                      <a:srgbClr val="00194C"/>
                    </a:solidFill>
                  </a:rPr>
                  <a:t>interprétation des résultats</a:t>
                </a:r>
              </a:p>
              <a:p>
                <a:pPr lvl="2" algn="just">
                  <a:lnSpc>
                    <a:spcPct val="150000"/>
                  </a:lnSpc>
                  <a:buClr>
                    <a:schemeClr val="accent2"/>
                  </a:buClr>
                </a:pPr>
                <a:endParaRPr lang="fr-FR" dirty="0"/>
              </a:p>
              <a:p>
                <a:pPr lvl="2" algn="just">
                  <a:lnSpc>
                    <a:spcPct val="150000"/>
                  </a:lnSpc>
                  <a:buClr>
                    <a:schemeClr val="accent2"/>
                  </a:buClr>
                </a:pPr>
                <a:r>
                  <a:rPr lang="fr-FR" dirty="0"/>
                  <a:t>La constante bêta 0 est souvent difficile à interpréter car peut révéler des absurdités. </a:t>
                </a:r>
              </a:p>
              <a:p>
                <a:pPr lvl="2" algn="just">
                  <a:lnSpc>
                    <a:spcPct val="150000"/>
                  </a:lnSpc>
                  <a:buClr>
                    <a:schemeClr val="accent2"/>
                  </a:buClr>
                </a:pPr>
                <a:r>
                  <a:rPr lang="fr-FR" dirty="0"/>
                  <a:t>Un exemple concret sera présenté avec un autre jeu de données dans la partie exercices.</a:t>
                </a:r>
              </a:p>
              <a:p>
                <a:pPr lvl="2" algn="just">
                  <a:lnSpc>
                    <a:spcPct val="150000"/>
                  </a:lnSpc>
                  <a:buClr>
                    <a:schemeClr val="accent2"/>
                  </a:buClr>
                </a:pPr>
                <a:r>
                  <a:rPr lang="fr-FR" dirty="0"/>
                  <a:t>Cette interprétation vaut le coup, lorsque </a:t>
                </a:r>
                <a14:m>
                  <m:oMath xmlns:m="http://schemas.openxmlformats.org/officeDocument/2006/math">
                    <m:r>
                      <a:rPr lang="fr-FR" i="1" dirty="0" smtClean="0">
                        <a:latin typeface="Cambria Math" panose="02040503050406030204" pitchFamily="18" charset="0"/>
                      </a:rPr>
                      <m:t>𝑥</m:t>
                    </m:r>
                    <m:r>
                      <a:rPr lang="fr-FR" i="1" dirty="0" smtClean="0">
                        <a:latin typeface="Cambria Math" panose="02040503050406030204" pitchFamily="18" charset="0"/>
                      </a:rPr>
                      <m:t>=0</m:t>
                    </m:r>
                  </m:oMath>
                </a14:m>
                <a:r>
                  <a:rPr lang="fr-FR" dirty="0"/>
                  <a:t> a du sens. Quoiqu'il en soit, il a son importance pour la construction du modèle général (pente, force).</a:t>
                </a:r>
                <a:endParaRPr lang="fr-FR" b="1" dirty="0"/>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2014" cy="3196700"/>
              </a:xfrm>
              <a:blipFill>
                <a:blip r:embed="rId2"/>
                <a:stretch>
                  <a:fillRect t="-571" r="-2070"/>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92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linéaire multiple</a:t>
            </a:r>
            <a:endParaRPr lang="fr-FR" sz="2100" b="0" dirty="0"/>
          </a:p>
        </p:txBody>
      </p:sp>
    </p:spTree>
    <p:extLst>
      <p:ext uri="{BB962C8B-B14F-4D97-AF65-F5344CB8AC3E}">
        <p14:creationId xmlns:p14="http://schemas.microsoft.com/office/powerpoint/2010/main" val="382968285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Régression logistique multiple</a:t>
            </a:r>
          </a:p>
        </p:txBody>
      </p:sp>
    </p:spTree>
    <p:extLst>
      <p:ext uri="{BB962C8B-B14F-4D97-AF65-F5344CB8AC3E}">
        <p14:creationId xmlns:p14="http://schemas.microsoft.com/office/powerpoint/2010/main" val="227773963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94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logistique</a:t>
            </a:r>
            <a:endParaRPr lang="fr-FR" sz="2100" b="0" dirty="0"/>
          </a:p>
        </p:txBody>
      </p:sp>
      <p:grpSp>
        <p:nvGrpSpPr>
          <p:cNvPr id="4" name="Groupe 3">
            <a:extLst>
              <a:ext uri="{FF2B5EF4-FFF2-40B4-BE49-F238E27FC236}">
                <a16:creationId xmlns:a16="http://schemas.microsoft.com/office/drawing/2014/main" id="{6B5D43D1-83A5-4817-9559-7FC3ED6D27B0}"/>
              </a:ext>
            </a:extLst>
          </p:cNvPr>
          <p:cNvGrpSpPr/>
          <p:nvPr/>
        </p:nvGrpSpPr>
        <p:grpSpPr>
          <a:xfrm>
            <a:off x="2014301" y="1475096"/>
            <a:ext cx="5115398" cy="2193308"/>
            <a:chOff x="3023918" y="2394237"/>
            <a:chExt cx="5115398" cy="2193308"/>
          </a:xfrm>
        </p:grpSpPr>
        <p:sp>
          <p:nvSpPr>
            <p:cNvPr id="7" name="Freeform: Shape 32">
              <a:extLst>
                <a:ext uri="{FF2B5EF4-FFF2-40B4-BE49-F238E27FC236}">
                  <a16:creationId xmlns:a16="http://schemas.microsoft.com/office/drawing/2014/main" id="{C026BF22-4294-45B3-9895-8E9BAD965E02}"/>
                </a:ext>
              </a:extLst>
            </p:cNvPr>
            <p:cNvSpPr/>
            <p:nvPr/>
          </p:nvSpPr>
          <p:spPr>
            <a:xfrm>
              <a:off x="3308983" y="4204586"/>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3">
                <a:lumMod val="75000"/>
              </a:schemeClr>
            </a:solidFill>
            <a:ln w="12700">
              <a:miter lim="400000"/>
            </a:ln>
          </p:spPr>
          <p:txBody>
            <a:bodyPr wrap="square" lIns="960120" tIns="28575" rIns="28575" bIns="28575" anchor="ctr">
              <a:noAutofit/>
            </a:bodyPr>
            <a:lstStyle/>
            <a:p>
              <a:pPr>
                <a:lnSpc>
                  <a:spcPts val="1200"/>
                </a:lnSpc>
              </a:pPr>
              <a:r>
                <a:rPr lang="en-US" sz="1050" noProof="1">
                  <a:solidFill>
                    <a:srgbClr val="FFFFFF"/>
                  </a:solidFill>
                </a:rPr>
                <a:t>Code Python</a:t>
              </a:r>
            </a:p>
          </p:txBody>
        </p:sp>
        <p:sp>
          <p:nvSpPr>
            <p:cNvPr id="8" name="Freeform: Shape 30">
              <a:extLst>
                <a:ext uri="{FF2B5EF4-FFF2-40B4-BE49-F238E27FC236}">
                  <a16:creationId xmlns:a16="http://schemas.microsoft.com/office/drawing/2014/main" id="{789D0C83-0158-453C-857C-9D5D73227D68}"/>
                </a:ext>
              </a:extLst>
            </p:cNvPr>
            <p:cNvSpPr/>
            <p:nvPr/>
          </p:nvSpPr>
          <p:spPr>
            <a:xfrm>
              <a:off x="3308983" y="3751999"/>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5">
                <a:lumMod val="75000"/>
              </a:schemeClr>
            </a:solidFill>
            <a:ln w="12700">
              <a:miter lim="400000"/>
            </a:ln>
          </p:spPr>
          <p:txBody>
            <a:bodyPr wrap="square" lIns="1165860" tIns="28575" rIns="28575" bIns="28575" anchor="ctr">
              <a:noAutofit/>
            </a:bodyPr>
            <a:lstStyle/>
            <a:p>
              <a:pPr>
                <a:lnSpc>
                  <a:spcPts val="1200"/>
                </a:lnSpc>
              </a:pPr>
              <a:r>
                <a:rPr lang="en-US" sz="1050" noProof="1">
                  <a:solidFill>
                    <a:srgbClr val="FFFFFF"/>
                  </a:solidFill>
                </a:rPr>
                <a:t>Interprétation des résultats</a:t>
              </a:r>
            </a:p>
          </p:txBody>
        </p:sp>
        <p:sp>
          <p:nvSpPr>
            <p:cNvPr id="9" name="Freeform: Shape 28">
              <a:extLst>
                <a:ext uri="{FF2B5EF4-FFF2-40B4-BE49-F238E27FC236}">
                  <a16:creationId xmlns:a16="http://schemas.microsoft.com/office/drawing/2014/main" id="{534F1572-69AF-4010-B8AD-714614C714DB}"/>
                </a:ext>
              </a:extLst>
            </p:cNvPr>
            <p:cNvSpPr/>
            <p:nvPr/>
          </p:nvSpPr>
          <p:spPr>
            <a:xfrm>
              <a:off x="3308983" y="3299411"/>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2">
                <a:lumMod val="75000"/>
              </a:schemeClr>
            </a:solidFill>
            <a:ln w="12700">
              <a:miter lim="400000"/>
            </a:ln>
          </p:spPr>
          <p:txBody>
            <a:bodyPr wrap="square" lIns="1303020" tIns="28575" rIns="28575" bIns="28575" anchor="ctr">
              <a:noAutofit/>
            </a:bodyPr>
            <a:lstStyle/>
            <a:p>
              <a:pPr>
                <a:lnSpc>
                  <a:spcPts val="1200"/>
                </a:lnSpc>
              </a:pPr>
              <a:r>
                <a:rPr lang="en-US" sz="1050" noProof="1">
                  <a:solidFill>
                    <a:srgbClr val="FFFFFF"/>
                  </a:solidFill>
                </a:rPr>
                <a:t>Représentation graphique</a:t>
              </a:r>
            </a:p>
          </p:txBody>
        </p:sp>
        <p:sp>
          <p:nvSpPr>
            <p:cNvPr id="10" name="Freeform: Shape 26">
              <a:extLst>
                <a:ext uri="{FF2B5EF4-FFF2-40B4-BE49-F238E27FC236}">
                  <a16:creationId xmlns:a16="http://schemas.microsoft.com/office/drawing/2014/main" id="{C2FF8828-3EF4-4DC5-877B-A04F489B64A9}"/>
                </a:ext>
              </a:extLst>
            </p:cNvPr>
            <p:cNvSpPr/>
            <p:nvPr/>
          </p:nvSpPr>
          <p:spPr>
            <a:xfrm>
              <a:off x="3308983" y="2846825"/>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6">
                <a:lumMod val="75000"/>
              </a:schemeClr>
            </a:solidFill>
            <a:ln w="12700">
              <a:miter lim="400000"/>
            </a:ln>
          </p:spPr>
          <p:txBody>
            <a:bodyPr wrap="square" lIns="1165860" tIns="28575" rIns="28575" bIns="28575" anchor="ctr">
              <a:noAutofit/>
            </a:bodyPr>
            <a:lstStyle/>
            <a:p>
              <a:pPr>
                <a:lnSpc>
                  <a:spcPts val="1200"/>
                </a:lnSpc>
              </a:pPr>
              <a:r>
                <a:rPr lang="en-US" sz="1050" noProof="1">
                  <a:solidFill>
                    <a:srgbClr val="FFFFFF"/>
                  </a:solidFill>
                </a:rPr>
                <a:t>Définition</a:t>
              </a:r>
              <a:endParaRPr sz="1050" dirty="0">
                <a:solidFill>
                  <a:srgbClr val="FFFFFF"/>
                </a:solidFill>
              </a:endParaRPr>
            </a:p>
          </p:txBody>
        </p:sp>
        <p:sp>
          <p:nvSpPr>
            <p:cNvPr id="11" name="Freeform: Shape 24">
              <a:extLst>
                <a:ext uri="{FF2B5EF4-FFF2-40B4-BE49-F238E27FC236}">
                  <a16:creationId xmlns:a16="http://schemas.microsoft.com/office/drawing/2014/main" id="{A6974C54-FC8F-4676-A5C9-6AD284659D97}"/>
                </a:ext>
              </a:extLst>
            </p:cNvPr>
            <p:cNvSpPr/>
            <p:nvPr/>
          </p:nvSpPr>
          <p:spPr>
            <a:xfrm>
              <a:off x="3308983" y="2394237"/>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4">
                <a:lumMod val="75000"/>
              </a:schemeClr>
            </a:solidFill>
            <a:ln w="12700">
              <a:miter lim="400000"/>
            </a:ln>
          </p:spPr>
          <p:txBody>
            <a:bodyPr wrap="square" lIns="960120" tIns="28575" rIns="28575" bIns="28575" anchor="ctr">
              <a:noAutofit/>
            </a:bodyPr>
            <a:lstStyle/>
            <a:p>
              <a:pPr>
                <a:lnSpc>
                  <a:spcPts val="1200"/>
                </a:lnSpc>
              </a:pPr>
              <a:r>
                <a:rPr lang="en-US" sz="1050" noProof="1">
                  <a:solidFill>
                    <a:schemeClr val="bg1"/>
                  </a:solidFill>
                </a:rPr>
                <a:t>Intuition</a:t>
              </a:r>
            </a:p>
          </p:txBody>
        </p:sp>
        <p:sp>
          <p:nvSpPr>
            <p:cNvPr id="12" name="Shape">
              <a:extLst>
                <a:ext uri="{FF2B5EF4-FFF2-40B4-BE49-F238E27FC236}">
                  <a16:creationId xmlns:a16="http://schemas.microsoft.com/office/drawing/2014/main" id="{E2C404EE-0E88-458B-B391-B49CFD50CC88}"/>
                </a:ext>
              </a:extLst>
            </p:cNvPr>
            <p:cNvSpPr/>
            <p:nvPr/>
          </p:nvSpPr>
          <p:spPr>
            <a:xfrm>
              <a:off x="3023919" y="4204586"/>
              <a:ext cx="1116383"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16638" y="21600"/>
                  </a:lnTo>
                  <a:cubicBezTo>
                    <a:pt x="18614" y="15120"/>
                    <a:pt x="20298" y="7920"/>
                    <a:pt x="21600" y="0"/>
                  </a:cubicBezTo>
                  <a:lnTo>
                    <a:pt x="3705" y="0"/>
                  </a:lnTo>
                  <a:cubicBezTo>
                    <a:pt x="1662" y="0"/>
                    <a:pt x="0" y="4844"/>
                    <a:pt x="0" y="10800"/>
                  </a:cubicBezTo>
                  <a:close/>
                </a:path>
              </a:pathLst>
            </a:custGeom>
            <a:solidFill>
              <a:schemeClr val="accent3"/>
            </a:solidFill>
            <a:ln w="12700">
              <a:miter lim="400000"/>
            </a:ln>
          </p:spPr>
          <p:txBody>
            <a:bodyPr lIns="28575" tIns="28575" rIns="28575" bIns="28575" anchor="ctr"/>
            <a:lstStyle/>
            <a:p>
              <a:pPr>
                <a:defRPr sz="3000">
                  <a:solidFill>
                    <a:srgbClr val="FFFFFF"/>
                  </a:solidFill>
                </a:defRPr>
              </a:pPr>
              <a:endParaRPr sz="2250" dirty="0"/>
            </a:p>
          </p:txBody>
        </p:sp>
        <p:sp>
          <p:nvSpPr>
            <p:cNvPr id="13" name="Shape">
              <a:extLst>
                <a:ext uri="{FF2B5EF4-FFF2-40B4-BE49-F238E27FC236}">
                  <a16:creationId xmlns:a16="http://schemas.microsoft.com/office/drawing/2014/main" id="{3E4B6711-8846-43A3-B568-75CAD1DE016B}"/>
                </a:ext>
              </a:extLst>
            </p:cNvPr>
            <p:cNvSpPr/>
            <p:nvPr/>
          </p:nvSpPr>
          <p:spPr>
            <a:xfrm>
              <a:off x="3023919" y="3751999"/>
              <a:ext cx="1257960"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19707" y="21600"/>
                  </a:lnTo>
                  <a:cubicBezTo>
                    <a:pt x="20584" y="14793"/>
                    <a:pt x="21241" y="7527"/>
                    <a:pt x="21600" y="0"/>
                  </a:cubicBezTo>
                  <a:lnTo>
                    <a:pt x="3288" y="0"/>
                  </a:lnTo>
                  <a:cubicBezTo>
                    <a:pt x="1475" y="0"/>
                    <a:pt x="0" y="4844"/>
                    <a:pt x="0" y="10800"/>
                  </a:cubicBezTo>
                  <a:close/>
                </a:path>
              </a:pathLst>
            </a:custGeom>
            <a:solidFill>
              <a:schemeClr val="accent5"/>
            </a:solidFill>
            <a:ln w="12700">
              <a:miter lim="400000"/>
            </a:ln>
          </p:spPr>
          <p:txBody>
            <a:bodyPr lIns="28575" tIns="28575" rIns="28575" bIns="28575" anchor="ctr"/>
            <a:lstStyle/>
            <a:p>
              <a:pPr>
                <a:defRPr sz="3000">
                  <a:solidFill>
                    <a:srgbClr val="FFFFFF"/>
                  </a:solidFill>
                </a:defRPr>
              </a:pPr>
              <a:endParaRPr sz="2250" dirty="0"/>
            </a:p>
          </p:txBody>
        </p:sp>
        <p:sp>
          <p:nvSpPr>
            <p:cNvPr id="15" name="Shape">
              <a:extLst>
                <a:ext uri="{FF2B5EF4-FFF2-40B4-BE49-F238E27FC236}">
                  <a16:creationId xmlns:a16="http://schemas.microsoft.com/office/drawing/2014/main" id="{32A3EC15-7CBF-4E7D-BA98-A49C061B49EF}"/>
                </a:ext>
              </a:extLst>
            </p:cNvPr>
            <p:cNvSpPr/>
            <p:nvPr/>
          </p:nvSpPr>
          <p:spPr>
            <a:xfrm>
              <a:off x="3023918" y="3299411"/>
              <a:ext cx="1280012"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49" y="21600"/>
                    <a:pt x="3231" y="21600"/>
                  </a:cubicBezTo>
                  <a:lnTo>
                    <a:pt x="21404" y="21600"/>
                  </a:lnTo>
                  <a:cubicBezTo>
                    <a:pt x="21522" y="18065"/>
                    <a:pt x="21600" y="14465"/>
                    <a:pt x="21600" y="10800"/>
                  </a:cubicBezTo>
                  <a:cubicBezTo>
                    <a:pt x="21600" y="7135"/>
                    <a:pt x="21541" y="3535"/>
                    <a:pt x="21404" y="0"/>
                  </a:cubicBezTo>
                  <a:lnTo>
                    <a:pt x="3231" y="0"/>
                  </a:lnTo>
                  <a:cubicBezTo>
                    <a:pt x="1449" y="0"/>
                    <a:pt x="0" y="4844"/>
                    <a:pt x="0" y="10800"/>
                  </a:cubicBezTo>
                  <a:close/>
                </a:path>
              </a:pathLst>
            </a:custGeom>
            <a:solidFill>
              <a:schemeClr val="accent2"/>
            </a:solidFill>
            <a:ln w="12700">
              <a:miter lim="400000"/>
            </a:ln>
          </p:spPr>
          <p:txBody>
            <a:bodyPr lIns="28575" tIns="28575" rIns="28575" bIns="28575" anchor="ctr"/>
            <a:lstStyle/>
            <a:p>
              <a:pPr>
                <a:defRPr sz="3000">
                  <a:solidFill>
                    <a:srgbClr val="FFFFFF"/>
                  </a:solidFill>
                </a:defRPr>
              </a:pPr>
              <a:endParaRPr sz="2250" dirty="0"/>
            </a:p>
          </p:txBody>
        </p:sp>
        <p:sp>
          <p:nvSpPr>
            <p:cNvPr id="16" name="Shape">
              <a:extLst>
                <a:ext uri="{FF2B5EF4-FFF2-40B4-BE49-F238E27FC236}">
                  <a16:creationId xmlns:a16="http://schemas.microsoft.com/office/drawing/2014/main" id="{F557D619-0F63-404F-AC31-CE984D214104}"/>
                </a:ext>
              </a:extLst>
            </p:cNvPr>
            <p:cNvSpPr/>
            <p:nvPr/>
          </p:nvSpPr>
          <p:spPr>
            <a:xfrm>
              <a:off x="3023919" y="2846825"/>
              <a:ext cx="1257960"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21600" y="21600"/>
                  </a:lnTo>
                  <a:cubicBezTo>
                    <a:pt x="21241" y="14073"/>
                    <a:pt x="20584" y="6807"/>
                    <a:pt x="19707" y="0"/>
                  </a:cubicBezTo>
                  <a:lnTo>
                    <a:pt x="3288" y="0"/>
                  </a:lnTo>
                  <a:cubicBezTo>
                    <a:pt x="1475" y="0"/>
                    <a:pt x="0" y="4844"/>
                    <a:pt x="0" y="10800"/>
                  </a:cubicBezTo>
                  <a:close/>
                </a:path>
              </a:pathLst>
            </a:custGeom>
            <a:solidFill>
              <a:schemeClr val="accent6"/>
            </a:solidFill>
            <a:ln w="12700">
              <a:miter lim="400000"/>
            </a:ln>
          </p:spPr>
          <p:txBody>
            <a:bodyPr lIns="28575" tIns="28575" rIns="28575" bIns="28575" anchor="ctr"/>
            <a:lstStyle/>
            <a:p>
              <a:pPr>
                <a:defRPr sz="3000">
                  <a:solidFill>
                    <a:srgbClr val="FFFFFF"/>
                  </a:solidFill>
                </a:defRPr>
              </a:pPr>
              <a:endParaRPr sz="2250" dirty="0"/>
            </a:p>
          </p:txBody>
        </p:sp>
        <p:sp>
          <p:nvSpPr>
            <p:cNvPr id="17" name="Shape">
              <a:extLst>
                <a:ext uri="{FF2B5EF4-FFF2-40B4-BE49-F238E27FC236}">
                  <a16:creationId xmlns:a16="http://schemas.microsoft.com/office/drawing/2014/main" id="{62466970-FFDF-4860-B07D-9D92C20E1234}"/>
                </a:ext>
              </a:extLst>
            </p:cNvPr>
            <p:cNvSpPr/>
            <p:nvPr/>
          </p:nvSpPr>
          <p:spPr>
            <a:xfrm>
              <a:off x="3023919" y="2394237"/>
              <a:ext cx="1116383"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21600" y="21600"/>
                  </a:lnTo>
                  <a:cubicBezTo>
                    <a:pt x="20298" y="13745"/>
                    <a:pt x="18614" y="6480"/>
                    <a:pt x="16638" y="0"/>
                  </a:cubicBezTo>
                  <a:lnTo>
                    <a:pt x="3705" y="0"/>
                  </a:lnTo>
                  <a:cubicBezTo>
                    <a:pt x="1662" y="65"/>
                    <a:pt x="0" y="4844"/>
                    <a:pt x="0" y="10800"/>
                  </a:cubicBezTo>
                  <a:close/>
                </a:path>
              </a:pathLst>
            </a:custGeom>
            <a:solidFill>
              <a:schemeClr val="accent4"/>
            </a:solidFill>
            <a:ln w="12700">
              <a:miter lim="400000"/>
            </a:ln>
          </p:spPr>
          <p:txBody>
            <a:bodyPr lIns="28575" tIns="28575" rIns="28575" bIns="28575" anchor="ctr"/>
            <a:lstStyle/>
            <a:p>
              <a:pPr>
                <a:defRPr sz="3000">
                  <a:solidFill>
                    <a:srgbClr val="FFFFFF"/>
                  </a:solidFill>
                </a:defRPr>
              </a:pPr>
              <a:endParaRPr sz="2250" dirty="0"/>
            </a:p>
          </p:txBody>
        </p:sp>
        <p:pic>
          <p:nvPicPr>
            <p:cNvPr id="18" name="Graphic 14" descr="Livres">
              <a:extLst>
                <a:ext uri="{FF2B5EF4-FFF2-40B4-BE49-F238E27FC236}">
                  <a16:creationId xmlns:a16="http://schemas.microsoft.com/office/drawing/2014/main" id="{95015539-2507-437C-AA0E-B4AD5AD7008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2417565"/>
              <a:ext cx="336304" cy="336304"/>
            </a:xfrm>
            <a:prstGeom prst="rect">
              <a:avLst/>
            </a:prstGeom>
          </p:spPr>
        </p:pic>
        <p:pic>
          <p:nvPicPr>
            <p:cNvPr id="19" name="Graphic 16" descr="Livres">
              <a:extLst>
                <a:ext uri="{FF2B5EF4-FFF2-40B4-BE49-F238E27FC236}">
                  <a16:creationId xmlns:a16="http://schemas.microsoft.com/office/drawing/2014/main" id="{03D8D8A7-67D4-42AE-AF17-FE7B12F158A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4227914"/>
              <a:ext cx="336304" cy="336304"/>
            </a:xfrm>
            <a:prstGeom prst="rect">
              <a:avLst/>
            </a:prstGeom>
          </p:spPr>
        </p:pic>
        <p:pic>
          <p:nvPicPr>
            <p:cNvPr id="20" name="Graphic 18" descr="Livres">
              <a:extLst>
                <a:ext uri="{FF2B5EF4-FFF2-40B4-BE49-F238E27FC236}">
                  <a16:creationId xmlns:a16="http://schemas.microsoft.com/office/drawing/2014/main" id="{00A2162B-2761-4D53-9186-5AB2C2E5E5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2870153"/>
              <a:ext cx="336304" cy="336304"/>
            </a:xfrm>
            <a:prstGeom prst="rect">
              <a:avLst/>
            </a:prstGeom>
          </p:spPr>
        </p:pic>
        <p:pic>
          <p:nvPicPr>
            <p:cNvPr id="22" name="Graphic 20" descr="Livres">
              <a:extLst>
                <a:ext uri="{FF2B5EF4-FFF2-40B4-BE49-F238E27FC236}">
                  <a16:creationId xmlns:a16="http://schemas.microsoft.com/office/drawing/2014/main" id="{27A94E84-B542-4292-8151-5815475285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3322740"/>
              <a:ext cx="336304" cy="336304"/>
            </a:xfrm>
            <a:prstGeom prst="rect">
              <a:avLst/>
            </a:prstGeom>
          </p:spPr>
        </p:pic>
        <p:pic>
          <p:nvPicPr>
            <p:cNvPr id="23" name="Graphic 22" descr="Livres">
              <a:extLst>
                <a:ext uri="{FF2B5EF4-FFF2-40B4-BE49-F238E27FC236}">
                  <a16:creationId xmlns:a16="http://schemas.microsoft.com/office/drawing/2014/main" id="{0AF267AA-AE91-4077-9ED7-C07E95DFAD3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3775327"/>
              <a:ext cx="336304" cy="336304"/>
            </a:xfrm>
            <a:prstGeom prst="rect">
              <a:avLst/>
            </a:prstGeom>
          </p:spPr>
        </p:pic>
      </p:grpSp>
    </p:spTree>
    <p:extLst>
      <p:ext uri="{BB962C8B-B14F-4D97-AF65-F5344CB8AC3E}">
        <p14:creationId xmlns:p14="http://schemas.microsoft.com/office/powerpoint/2010/main" val="135967874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429010" cy="3454790"/>
          </a:xfrm>
        </p:spPr>
        <p:txBody>
          <a:bodyPr>
            <a:normAutofit fontScale="62500" lnSpcReduction="20000"/>
          </a:bodyPr>
          <a:lstStyle/>
          <a:p>
            <a:pPr lvl="1" algn="just">
              <a:lnSpc>
                <a:spcPct val="150000"/>
              </a:lnSpc>
              <a:buClr>
                <a:schemeClr val="accent2"/>
              </a:buClr>
            </a:pPr>
            <a:r>
              <a:rPr lang="fr-FR" dirty="0"/>
              <a:t>Imaginez que vous disposez d'un ensemble de données contenant des informations sur les tumeurs, telles que leurs tailles et si elles sont bénignes (non cancéreuses) ou malignes (cancéreuses). </a:t>
            </a:r>
          </a:p>
          <a:p>
            <a:pPr lvl="1" algn="just">
              <a:lnSpc>
                <a:spcPct val="150000"/>
              </a:lnSpc>
              <a:buClr>
                <a:schemeClr val="accent2"/>
              </a:buClr>
            </a:pPr>
            <a:endParaRPr lang="fr-FR" dirty="0"/>
          </a:p>
          <a:p>
            <a:pPr lvl="1" algn="just">
              <a:lnSpc>
                <a:spcPct val="150000"/>
              </a:lnSpc>
              <a:buClr>
                <a:schemeClr val="accent2"/>
              </a:buClr>
            </a:pPr>
            <a:r>
              <a:rPr lang="fr-FR" dirty="0"/>
              <a:t>Vous souhaitez créer un modèle capable de prédire si une tumeur est bénigne ou maligne en fonction de sa taille. </a:t>
            </a:r>
          </a:p>
          <a:p>
            <a:pPr lvl="1" algn="just">
              <a:lnSpc>
                <a:spcPct val="150000"/>
              </a:lnSpc>
              <a:buClr>
                <a:schemeClr val="accent2"/>
              </a:buClr>
            </a:pPr>
            <a:endParaRPr lang="fr-FR" dirty="0"/>
          </a:p>
          <a:p>
            <a:pPr lvl="1" algn="just">
              <a:lnSpc>
                <a:spcPct val="150000"/>
              </a:lnSpc>
              <a:buClr>
                <a:schemeClr val="accent2"/>
              </a:buClr>
            </a:pPr>
            <a:r>
              <a:rPr lang="fr-FR" dirty="0"/>
              <a:t>Puisqu'il s'agit d'un problème de classification binaire, la régression logistique est un choix approprié.</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95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logistique : </a:t>
            </a:r>
            <a:r>
              <a:rPr lang="fr-FR" sz="2100" b="0" dirty="0"/>
              <a:t>intuition</a:t>
            </a:r>
          </a:p>
        </p:txBody>
      </p:sp>
    </p:spTree>
    <p:extLst>
      <p:ext uri="{BB962C8B-B14F-4D97-AF65-F5344CB8AC3E}">
        <p14:creationId xmlns:p14="http://schemas.microsoft.com/office/powerpoint/2010/main" val="388988878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6000"/>
          </a:xfrm>
        </p:spPr>
        <p:txBody>
          <a:bodyPr>
            <a:normAutofit fontScale="92500"/>
          </a:bodyPr>
          <a:lstStyle/>
          <a:p>
            <a:pPr lvl="1" algn="just">
              <a:lnSpc>
                <a:spcPct val="150000"/>
              </a:lnSpc>
              <a:buClr>
                <a:schemeClr val="accent2"/>
              </a:buClr>
            </a:pPr>
            <a:r>
              <a:rPr lang="fr-FR" sz="1350" dirty="0"/>
              <a:t>Au lieu d'ajuster une ligne droite, comme dans la régression linéaire, la régression logistique ajuste une courbe en forme de "S" (la fonction sigmoïde) qui représente la probabilité qu'une tumeur soit maligne. </a:t>
            </a:r>
          </a:p>
          <a:p>
            <a:pPr lvl="1" algn="just">
              <a:lnSpc>
                <a:spcPct val="150000"/>
              </a:lnSpc>
              <a:buClr>
                <a:schemeClr val="accent2"/>
              </a:buClr>
            </a:pPr>
            <a:endParaRPr lang="fr-FR" sz="1350" dirty="0"/>
          </a:p>
          <a:p>
            <a:pPr lvl="1" algn="just">
              <a:lnSpc>
                <a:spcPct val="150000"/>
              </a:lnSpc>
              <a:buClr>
                <a:schemeClr val="accent2"/>
              </a:buClr>
            </a:pPr>
            <a:r>
              <a:rPr lang="fr-FR" sz="1350" dirty="0"/>
              <a:t>La sortie du modèle est une valeur comprise entre 0 et 1, qui peut être interprétée comme la probabilité que la tumeur soit maligne (classe 1).</a:t>
            </a:r>
          </a:p>
          <a:p>
            <a:pPr lvl="1" algn="just">
              <a:lnSpc>
                <a:spcPct val="150000"/>
              </a:lnSpc>
              <a:buClr>
                <a:schemeClr val="accent2"/>
              </a:buClr>
            </a:pPr>
            <a:endParaRPr lang="fr-FR" sz="1350" dirty="0"/>
          </a:p>
          <a:p>
            <a:pPr lvl="1" algn="just">
              <a:lnSpc>
                <a:spcPct val="150000"/>
              </a:lnSpc>
              <a:buClr>
                <a:schemeClr val="accent2"/>
              </a:buClr>
            </a:pPr>
            <a:r>
              <a:rPr lang="fr-FR" sz="1350" dirty="0"/>
              <a:t>En ajustant les coefficients, nous pouvons trouver la courbe qui représente le mieux la relation entre la caractéristique d'entrée (taille de la tumeur) et la variable cible (bénigne ou maligne).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96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logistique : </a:t>
            </a:r>
            <a:r>
              <a:rPr lang="fr-FR" sz="2100" b="0" dirty="0"/>
              <a:t>intuition</a:t>
            </a:r>
          </a:p>
        </p:txBody>
      </p:sp>
    </p:spTree>
    <p:extLst>
      <p:ext uri="{BB962C8B-B14F-4D97-AF65-F5344CB8AC3E}">
        <p14:creationId xmlns:p14="http://schemas.microsoft.com/office/powerpoint/2010/main" val="13963181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97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logistique : </a:t>
            </a:r>
            <a:r>
              <a:rPr lang="fr-FR" sz="2100" b="0" dirty="0"/>
              <a:t>intuition</a:t>
            </a:r>
          </a:p>
        </p:txBody>
      </p:sp>
      <p:grpSp>
        <p:nvGrpSpPr>
          <p:cNvPr id="25" name="Groupe 24">
            <a:extLst>
              <a:ext uri="{FF2B5EF4-FFF2-40B4-BE49-F238E27FC236}">
                <a16:creationId xmlns:a16="http://schemas.microsoft.com/office/drawing/2014/main" id="{332450D6-4BBE-43A0-84E7-69BCB29AD5F6}"/>
              </a:ext>
            </a:extLst>
          </p:cNvPr>
          <p:cNvGrpSpPr/>
          <p:nvPr/>
        </p:nvGrpSpPr>
        <p:grpSpPr>
          <a:xfrm>
            <a:off x="834425" y="2096319"/>
            <a:ext cx="7475151" cy="2219592"/>
            <a:chOff x="800717" y="2223254"/>
            <a:chExt cx="9966868" cy="2959456"/>
          </a:xfrm>
        </p:grpSpPr>
        <p:grpSp>
          <p:nvGrpSpPr>
            <p:cNvPr id="24" name="Groupe 23">
              <a:extLst>
                <a:ext uri="{FF2B5EF4-FFF2-40B4-BE49-F238E27FC236}">
                  <a16:creationId xmlns:a16="http://schemas.microsoft.com/office/drawing/2014/main" id="{4ECE290A-15ED-4B9D-A260-E35CE36271DD}"/>
                </a:ext>
              </a:extLst>
            </p:cNvPr>
            <p:cNvGrpSpPr/>
            <p:nvPr/>
          </p:nvGrpSpPr>
          <p:grpSpPr>
            <a:xfrm>
              <a:off x="5784151" y="2223254"/>
              <a:ext cx="4983434" cy="2959456"/>
              <a:chOff x="5784151" y="2223254"/>
              <a:chExt cx="4983434" cy="2959456"/>
            </a:xfrm>
          </p:grpSpPr>
          <p:pic>
            <p:nvPicPr>
              <p:cNvPr id="5" name="Image 4">
                <a:extLst>
                  <a:ext uri="{FF2B5EF4-FFF2-40B4-BE49-F238E27FC236}">
                    <a16:creationId xmlns:a16="http://schemas.microsoft.com/office/drawing/2014/main" id="{BED4A1DE-A4ED-42D5-A363-2DC848033E8A}"/>
                  </a:ext>
                </a:extLst>
              </p:cNvPr>
              <p:cNvPicPr>
                <a:picLocks noChangeAspect="1"/>
              </p:cNvPicPr>
              <p:nvPr/>
            </p:nvPicPr>
            <p:blipFill>
              <a:blip r:embed="rId2"/>
              <a:stretch>
                <a:fillRect/>
              </a:stretch>
            </p:blipFill>
            <p:spPr>
              <a:xfrm>
                <a:off x="5784151" y="2380454"/>
                <a:ext cx="4838083" cy="2802256"/>
              </a:xfrm>
              <a:prstGeom prst="rect">
                <a:avLst/>
              </a:prstGeom>
            </p:spPr>
          </p:pic>
          <p:pic>
            <p:nvPicPr>
              <p:cNvPr id="19" name="Image 18">
                <a:extLst>
                  <a:ext uri="{FF2B5EF4-FFF2-40B4-BE49-F238E27FC236}">
                    <a16:creationId xmlns:a16="http://schemas.microsoft.com/office/drawing/2014/main" id="{F786215D-EC10-4D16-A3FB-02CEB94E9A0C}"/>
                  </a:ext>
                </a:extLst>
              </p:cNvPr>
              <p:cNvPicPr>
                <a:picLocks noChangeAspect="1"/>
              </p:cNvPicPr>
              <p:nvPr/>
            </p:nvPicPr>
            <p:blipFill>
              <a:blip r:embed="rId3"/>
              <a:stretch>
                <a:fillRect/>
              </a:stretch>
            </p:blipFill>
            <p:spPr>
              <a:xfrm>
                <a:off x="10457985" y="2223254"/>
                <a:ext cx="309600" cy="309600"/>
              </a:xfrm>
              <a:prstGeom prst="rect">
                <a:avLst/>
              </a:prstGeom>
            </p:spPr>
          </p:pic>
        </p:grpSp>
        <p:grpSp>
          <p:nvGrpSpPr>
            <p:cNvPr id="23" name="Groupe 22">
              <a:extLst>
                <a:ext uri="{FF2B5EF4-FFF2-40B4-BE49-F238E27FC236}">
                  <a16:creationId xmlns:a16="http://schemas.microsoft.com/office/drawing/2014/main" id="{E32C7EB3-002C-4AC3-A2FD-05AFE5E5AEB8}"/>
                </a:ext>
              </a:extLst>
            </p:cNvPr>
            <p:cNvGrpSpPr/>
            <p:nvPr/>
          </p:nvGrpSpPr>
          <p:grpSpPr>
            <a:xfrm>
              <a:off x="800717" y="2223254"/>
              <a:ext cx="4928906" cy="2959456"/>
              <a:chOff x="800717" y="2223254"/>
              <a:chExt cx="4928906" cy="2959456"/>
            </a:xfrm>
          </p:grpSpPr>
          <p:grpSp>
            <p:nvGrpSpPr>
              <p:cNvPr id="16" name="Groupe 15">
                <a:extLst>
                  <a:ext uri="{FF2B5EF4-FFF2-40B4-BE49-F238E27FC236}">
                    <a16:creationId xmlns:a16="http://schemas.microsoft.com/office/drawing/2014/main" id="{165F6754-5B12-473E-8BA4-307D445296EF}"/>
                  </a:ext>
                </a:extLst>
              </p:cNvPr>
              <p:cNvGrpSpPr/>
              <p:nvPr/>
            </p:nvGrpSpPr>
            <p:grpSpPr>
              <a:xfrm>
                <a:off x="800717" y="2380454"/>
                <a:ext cx="4838083" cy="2802256"/>
                <a:chOff x="800717" y="2380454"/>
                <a:chExt cx="4838083" cy="2802256"/>
              </a:xfrm>
            </p:grpSpPr>
            <p:pic>
              <p:nvPicPr>
                <p:cNvPr id="13" name="Image 12">
                  <a:extLst>
                    <a:ext uri="{FF2B5EF4-FFF2-40B4-BE49-F238E27FC236}">
                      <a16:creationId xmlns:a16="http://schemas.microsoft.com/office/drawing/2014/main" id="{6B5B6CEF-E919-4713-A154-2B54F760B7F8}"/>
                    </a:ext>
                  </a:extLst>
                </p:cNvPr>
                <p:cNvPicPr>
                  <a:picLocks noChangeAspect="1"/>
                </p:cNvPicPr>
                <p:nvPr/>
              </p:nvPicPr>
              <p:blipFill>
                <a:blip r:embed="rId4"/>
                <a:stretch>
                  <a:fillRect/>
                </a:stretch>
              </p:blipFill>
              <p:spPr>
                <a:xfrm>
                  <a:off x="800717" y="2380454"/>
                  <a:ext cx="4838083" cy="2802256"/>
                </a:xfrm>
                <a:prstGeom prst="rect">
                  <a:avLst/>
                </a:prstGeom>
              </p:spPr>
            </p:pic>
            <p:cxnSp>
              <p:nvCxnSpPr>
                <p:cNvPr id="17" name="Connecteur droit 16">
                  <a:extLst>
                    <a:ext uri="{FF2B5EF4-FFF2-40B4-BE49-F238E27FC236}">
                      <a16:creationId xmlns:a16="http://schemas.microsoft.com/office/drawing/2014/main" id="{F37C1271-DF9B-4B4F-9E70-C7F247E13EA6}"/>
                    </a:ext>
                  </a:extLst>
                </p:cNvPr>
                <p:cNvCxnSpPr>
                  <a:cxnSpLocks/>
                </p:cNvCxnSpPr>
                <p:nvPr/>
              </p:nvCxnSpPr>
              <p:spPr>
                <a:xfrm flipV="1">
                  <a:off x="891540" y="2532854"/>
                  <a:ext cx="4747260" cy="2649856"/>
                </a:xfrm>
                <a:prstGeom prst="line">
                  <a:avLst/>
                </a:prstGeom>
                <a:ln w="19050">
                  <a:solidFill>
                    <a:srgbClr val="18A1CD"/>
                  </a:solidFill>
                </a:ln>
              </p:spPr>
              <p:style>
                <a:lnRef idx="1">
                  <a:schemeClr val="accent1"/>
                </a:lnRef>
                <a:fillRef idx="0">
                  <a:schemeClr val="accent1"/>
                </a:fillRef>
                <a:effectRef idx="0">
                  <a:schemeClr val="accent1"/>
                </a:effectRef>
                <a:fontRef idx="minor">
                  <a:schemeClr val="tx1"/>
                </a:fontRef>
              </p:style>
            </p:cxnSp>
          </p:grpSp>
          <p:pic>
            <p:nvPicPr>
              <p:cNvPr id="22" name="Image 21">
                <a:extLst>
                  <a:ext uri="{FF2B5EF4-FFF2-40B4-BE49-F238E27FC236}">
                    <a16:creationId xmlns:a16="http://schemas.microsoft.com/office/drawing/2014/main" id="{25A15DF0-1D97-4786-BFDF-860964BBBFD1}"/>
                  </a:ext>
                </a:extLst>
              </p:cNvPr>
              <p:cNvPicPr>
                <a:picLocks noChangeAspect="1"/>
              </p:cNvPicPr>
              <p:nvPr/>
            </p:nvPicPr>
            <p:blipFill>
              <a:blip r:embed="rId5"/>
              <a:stretch>
                <a:fillRect/>
              </a:stretch>
            </p:blipFill>
            <p:spPr>
              <a:xfrm>
                <a:off x="5420217" y="2223254"/>
                <a:ext cx="309406" cy="309406"/>
              </a:xfrm>
              <a:prstGeom prst="rect">
                <a:avLst/>
              </a:prstGeom>
            </p:spPr>
          </p:pic>
        </p:grpSp>
      </p:grpSp>
    </p:spTree>
    <p:extLst>
      <p:ext uri="{BB962C8B-B14F-4D97-AF65-F5344CB8AC3E}">
        <p14:creationId xmlns:p14="http://schemas.microsoft.com/office/powerpoint/2010/main" val="356230930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456000"/>
          </a:xfrm>
        </p:spPr>
        <p:txBody>
          <a:bodyPr>
            <a:normAutofit/>
          </a:bodyPr>
          <a:lstStyle/>
          <a:p>
            <a:pPr lvl="1" algn="just">
              <a:lnSpc>
                <a:spcPct val="150000"/>
              </a:lnSpc>
              <a:buClr>
                <a:schemeClr val="accent2"/>
              </a:buClr>
            </a:pPr>
            <a:r>
              <a:rPr lang="fr-FR" sz="1350" dirty="0"/>
              <a:t>Dans les deux cas, les modèles apprennent les coefficients en minimisant une fonction objectif :</a:t>
            </a:r>
          </a:p>
          <a:p>
            <a:pPr lvl="1" algn="just">
              <a:lnSpc>
                <a:spcPct val="150000"/>
              </a:lnSpc>
              <a:buClr>
                <a:schemeClr val="accent2"/>
              </a:buClr>
            </a:pPr>
            <a:endParaRPr lang="fr-FR" sz="1350" dirty="0"/>
          </a:p>
          <a:p>
            <a:pPr lvl="2" algn="just">
              <a:lnSpc>
                <a:spcPct val="150000"/>
              </a:lnSpc>
              <a:buClr>
                <a:schemeClr val="accent2"/>
              </a:buClr>
            </a:pPr>
            <a:r>
              <a:rPr lang="fr-FR" sz="1200" dirty="0"/>
              <a:t>Pour la </a:t>
            </a:r>
            <a:r>
              <a:rPr lang="fr-FR" sz="1200" b="1" dirty="0"/>
              <a:t>régression linéaire</a:t>
            </a:r>
            <a:r>
              <a:rPr lang="fr-FR" sz="1200" dirty="0"/>
              <a:t>, la fonction objectif est l'erreur quadratique moyenne (MSE), qui représente la moyenne des différences au carré entre les valeurs cibles prévues et réelles.</a:t>
            </a:r>
          </a:p>
          <a:p>
            <a:pPr lvl="2" algn="just">
              <a:lnSpc>
                <a:spcPct val="150000"/>
              </a:lnSpc>
              <a:buClr>
                <a:schemeClr val="accent2"/>
              </a:buClr>
            </a:pPr>
            <a:endParaRPr lang="fr-FR" sz="1200" dirty="0"/>
          </a:p>
          <a:p>
            <a:pPr lvl="2" algn="just">
              <a:lnSpc>
                <a:spcPct val="150000"/>
              </a:lnSpc>
              <a:buClr>
                <a:schemeClr val="accent2"/>
              </a:buClr>
            </a:pPr>
            <a:r>
              <a:rPr lang="fr-FR" sz="1200" dirty="0"/>
              <a:t>Pour la </a:t>
            </a:r>
            <a:r>
              <a:rPr lang="fr-FR" sz="1200" b="1" dirty="0"/>
              <a:t>régression logistique</a:t>
            </a:r>
            <a:r>
              <a:rPr lang="fr-FR" sz="1200" dirty="0"/>
              <a:t>, la fonction objectif est la perte de log (ou perte d'entropie croisée), qui mesure la différence entre les probabilités prédites et les valeurs cibles binaires réelles.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98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logistique : </a:t>
            </a:r>
            <a:r>
              <a:rPr lang="fr-FR" sz="2100" b="0" dirty="0"/>
              <a:t>intuition</a:t>
            </a:r>
          </a:p>
        </p:txBody>
      </p:sp>
    </p:spTree>
    <p:extLst>
      <p:ext uri="{BB962C8B-B14F-4D97-AF65-F5344CB8AC3E}">
        <p14:creationId xmlns:p14="http://schemas.microsoft.com/office/powerpoint/2010/main" val="16327580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203408" cy="1463824"/>
              </a:xfrm>
            </p:spPr>
            <p:txBody>
              <a:bodyPr>
                <a:normAutofit fontScale="70000" lnSpcReduction="20000"/>
              </a:bodyPr>
              <a:lstStyle/>
              <a:p>
                <a:pPr lvl="1" algn="just">
                  <a:lnSpc>
                    <a:spcPct val="150000"/>
                  </a:lnSpc>
                  <a:buClr>
                    <a:schemeClr val="accent2"/>
                  </a:buClr>
                </a:pPr>
                <a:r>
                  <a:rPr lang="fr-FR" sz="1800" dirty="0"/>
                  <a:t>L’essentiel à savoir : </a:t>
                </a:r>
                <a:r>
                  <a:rPr lang="fr-FR" sz="1800" dirty="0">
                    <a:solidFill>
                      <a:srgbClr val="00194C"/>
                    </a:solidFill>
                  </a:rPr>
                  <a:t>définition</a:t>
                </a:r>
              </a:p>
              <a:p>
                <a:pPr lvl="2" algn="just">
                  <a:lnSpc>
                    <a:spcPct val="150000"/>
                  </a:lnSpc>
                  <a:buClr>
                    <a:schemeClr val="accent2"/>
                  </a:buClr>
                </a:pPr>
                <a:r>
                  <a:rPr lang="fr-FR" dirty="0"/>
                  <a:t>La régression logistique a pour objectif d’expliquer et de prédire les valeurs d’une variable qualitative binaire (</a:t>
                </a:r>
                <a14:m>
                  <m:oMath xmlns:m="http://schemas.openxmlformats.org/officeDocument/2006/math">
                    <m:r>
                      <a:rPr lang="fr-FR" i="1" dirty="0" smtClean="0">
                        <a:latin typeface="Cambria Math" panose="02040503050406030204" pitchFamily="18" charset="0"/>
                      </a:rPr>
                      <m:t>𝑦</m:t>
                    </m:r>
                  </m:oMath>
                </a14:m>
                <a:r>
                  <a:rPr lang="fr-FR" dirty="0"/>
                  <a:t>) à partir de variables explicatives quantitatives et qualitatives (</a:t>
                </a:r>
                <a14:m>
                  <m:oMath xmlns:m="http://schemas.openxmlformats.org/officeDocument/2006/math">
                    <m:r>
                      <a:rPr lang="fr-FR" i="1" dirty="0" smtClean="0">
                        <a:latin typeface="Cambria Math" panose="02040503050406030204" pitchFamily="18" charset="0"/>
                      </a:rPr>
                      <m:t>𝑥</m:t>
                    </m:r>
                  </m:oMath>
                </a14:m>
                <a:r>
                  <a:rPr lang="fr-FR" dirty="0"/>
                  <a:t>).</a:t>
                </a:r>
              </a:p>
              <a:p>
                <a:pPr lvl="2" algn="just">
                  <a:lnSpc>
                    <a:spcPct val="150000"/>
                  </a:lnSpc>
                  <a:buClr>
                    <a:schemeClr val="accent2"/>
                  </a:buClr>
                </a:pPr>
                <a:endParaRPr lang="fr-FR" dirty="0"/>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6203408" cy="1463824"/>
              </a:xfrm>
              <a:blipFill>
                <a:blip r:embed="rId2"/>
                <a:stretch>
                  <a:fillRect t="-833" r="-1770"/>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99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logistique</a:t>
            </a:r>
            <a:endParaRPr lang="fr-FR" sz="2100" b="0" dirty="0"/>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5E6E228E-E36A-29FC-29BE-2E9EA93BD622}"/>
                  </a:ext>
                </a:extLst>
              </p:cNvPr>
              <p:cNvSpPr txBox="1"/>
              <p:nvPr/>
            </p:nvSpPr>
            <p:spPr>
              <a:xfrm>
                <a:off x="1081892" y="4889584"/>
                <a:ext cx="6980216" cy="2912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sz="1200" i="1">
                              <a:solidFill>
                                <a:srgbClr val="FF0000"/>
                              </a:solidFill>
                              <a:latin typeface="Cambria Math" panose="02040503050406030204" pitchFamily="18" charset="0"/>
                            </a:rPr>
                          </m:ctrlPr>
                        </m:sSubPr>
                        <m:e>
                          <m:r>
                            <a:rPr lang="fr-FR" sz="1200" i="1">
                              <a:solidFill>
                                <a:srgbClr val="FF0000"/>
                              </a:solidFill>
                              <a:latin typeface="Cambria Math" panose="02040503050406030204" pitchFamily="18" charset="0"/>
                            </a:rPr>
                            <m:t>𝛽</m:t>
                          </m:r>
                        </m:e>
                        <m:sub>
                          <m:r>
                            <a:rPr lang="fr-FR" sz="1200" i="1">
                              <a:solidFill>
                                <a:srgbClr val="FF0000"/>
                              </a:solidFill>
                              <a:latin typeface="Cambria Math" panose="02040503050406030204" pitchFamily="18" charset="0"/>
                            </a:rPr>
                            <m:t>1</m:t>
                          </m:r>
                        </m:sub>
                      </m:sSub>
                      <m:r>
                        <a:rPr lang="fr-FR" sz="1200" i="1">
                          <a:solidFill>
                            <a:srgbClr val="FF0000"/>
                          </a:solidFill>
                          <a:latin typeface="Cambria Math" panose="02040503050406030204" pitchFamily="18" charset="0"/>
                        </a:rPr>
                        <m:t>,…, </m:t>
                      </m:r>
                      <m:sSub>
                        <m:sSubPr>
                          <m:ctrlPr>
                            <a:rPr lang="fr-FR" sz="1200" i="1">
                              <a:solidFill>
                                <a:srgbClr val="FF0000"/>
                              </a:solidFill>
                              <a:latin typeface="Cambria Math" panose="02040503050406030204" pitchFamily="18" charset="0"/>
                            </a:rPr>
                          </m:ctrlPr>
                        </m:sSubPr>
                        <m:e>
                          <m:r>
                            <a:rPr lang="fr-FR" sz="1200" i="1">
                              <a:solidFill>
                                <a:srgbClr val="FF0000"/>
                              </a:solidFill>
                              <a:latin typeface="Cambria Math" panose="02040503050406030204" pitchFamily="18" charset="0"/>
                            </a:rPr>
                            <m:t>𝛽</m:t>
                          </m:r>
                        </m:e>
                        <m:sub>
                          <m:r>
                            <a:rPr lang="fr-FR" sz="1200" i="1">
                              <a:solidFill>
                                <a:srgbClr val="FF0000"/>
                              </a:solidFill>
                              <a:latin typeface="Cambria Math" panose="02040503050406030204" pitchFamily="18" charset="0"/>
                            </a:rPr>
                            <m:t>𝑝</m:t>
                          </m:r>
                        </m:sub>
                      </m:sSub>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𝑠𝑜𝑛𝑡</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𝑑𝑒𝑠</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𝑝𝑎𝑟𝑎𝑚</m:t>
                      </m:r>
                      <m:r>
                        <a:rPr lang="fr-FR" sz="1200" i="1">
                          <a:solidFill>
                            <a:srgbClr val="FF0000"/>
                          </a:solidFill>
                          <a:latin typeface="Cambria Math" panose="02040503050406030204" pitchFamily="18" charset="0"/>
                        </a:rPr>
                        <m:t>è</m:t>
                      </m:r>
                      <m:r>
                        <a:rPr lang="fr-FR" sz="1200" i="1">
                          <a:solidFill>
                            <a:srgbClr val="FF0000"/>
                          </a:solidFill>
                          <a:latin typeface="Cambria Math" panose="02040503050406030204" pitchFamily="18" charset="0"/>
                        </a:rPr>
                        <m:t>𝑡𝑟𝑒𝑠</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𝑖𝑛𝑐𝑜𝑛𝑛𝑢𝑠</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𝑒𝑠𝑡𝑖𝑚</m:t>
                      </m:r>
                      <m:r>
                        <a:rPr lang="fr-FR" sz="1200" i="1">
                          <a:solidFill>
                            <a:srgbClr val="FF0000"/>
                          </a:solidFill>
                          <a:latin typeface="Cambria Math" panose="02040503050406030204" pitchFamily="18" charset="0"/>
                        </a:rPr>
                        <m:t>é</m:t>
                      </m:r>
                      <m:r>
                        <a:rPr lang="fr-FR" sz="1200" i="1">
                          <a:solidFill>
                            <a:srgbClr val="FF0000"/>
                          </a:solidFill>
                          <a:latin typeface="Cambria Math" panose="02040503050406030204" pitchFamily="18" charset="0"/>
                        </a:rPr>
                        <m:t>𝑠</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𝑝𝑎𝑟</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𝑙𝑎</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𝑚</m:t>
                      </m:r>
                      <m:r>
                        <a:rPr lang="fr-FR" sz="1200" i="1">
                          <a:solidFill>
                            <a:srgbClr val="FF0000"/>
                          </a:solidFill>
                          <a:latin typeface="Cambria Math" panose="02040503050406030204" pitchFamily="18" charset="0"/>
                        </a:rPr>
                        <m:t>é</m:t>
                      </m:r>
                      <m:r>
                        <a:rPr lang="fr-FR" sz="1200" i="1">
                          <a:solidFill>
                            <a:srgbClr val="FF0000"/>
                          </a:solidFill>
                          <a:latin typeface="Cambria Math" panose="02040503050406030204" pitchFamily="18" charset="0"/>
                        </a:rPr>
                        <m:t>𝑡h𝑜𝑑𝑒</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𝑑𝑢</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𝑚𝑎𝑥𝑖𝑚𝑢𝑚</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𝑑𝑒</m:t>
                      </m:r>
                      <m:r>
                        <a:rPr lang="fr-FR" sz="1200" i="1">
                          <a:solidFill>
                            <a:srgbClr val="FF0000"/>
                          </a:solidFill>
                          <a:latin typeface="Cambria Math" panose="02040503050406030204" pitchFamily="18" charset="0"/>
                        </a:rPr>
                        <m:t> </m:t>
                      </m:r>
                      <m:r>
                        <a:rPr lang="fr-FR" sz="1200" i="1">
                          <a:solidFill>
                            <a:srgbClr val="FF0000"/>
                          </a:solidFill>
                          <a:latin typeface="Cambria Math" panose="02040503050406030204" pitchFamily="18" charset="0"/>
                        </a:rPr>
                        <m:t>𝑣𝑟𝑎𝑖𝑠𝑒𝑚𝑏𝑙𝑎𝑛𝑐𝑒</m:t>
                      </m:r>
                    </m:oMath>
                  </m:oMathPara>
                </a14:m>
                <a:endParaRPr lang="fr-FR" sz="1200" dirty="0">
                  <a:solidFill>
                    <a:srgbClr val="FF0000"/>
                  </a:solidFill>
                </a:endParaRPr>
              </a:p>
            </p:txBody>
          </p:sp>
        </mc:Choice>
        <mc:Fallback xmlns="">
          <p:sp>
            <p:nvSpPr>
              <p:cNvPr id="4" name="ZoneTexte 3">
                <a:extLst>
                  <a:ext uri="{FF2B5EF4-FFF2-40B4-BE49-F238E27FC236}">
                    <a16:creationId xmlns:a16="http://schemas.microsoft.com/office/drawing/2014/main" id="{5E6E228E-E36A-29FC-29BE-2E9EA93BD622}"/>
                  </a:ext>
                </a:extLst>
              </p:cNvPr>
              <p:cNvSpPr txBox="1">
                <a:spLocks noRot="1" noChangeAspect="1" noMove="1" noResize="1" noEditPoints="1" noAdjustHandles="1" noChangeArrowheads="1" noChangeShapeType="1" noTextEdit="1"/>
              </p:cNvSpPr>
              <p:nvPr/>
            </p:nvSpPr>
            <p:spPr>
              <a:xfrm>
                <a:off x="1081892" y="4889584"/>
                <a:ext cx="6980216" cy="291298"/>
              </a:xfrm>
              <a:prstGeom prst="rect">
                <a:avLst/>
              </a:prstGeom>
              <a:blipFill>
                <a:blip r:embed="rId3"/>
                <a:stretch>
                  <a:fillRect b="-2083"/>
                </a:stretch>
              </a:blipFill>
            </p:spPr>
            <p:txBody>
              <a:bodyPr/>
              <a:lstStyle/>
              <a:p>
                <a:r>
                  <a:rPr lang="fr-FR">
                    <a:noFill/>
                  </a:rPr>
                  <a:t> </a:t>
                </a:r>
              </a:p>
            </p:txBody>
          </p:sp>
        </mc:Fallback>
      </mc:AlternateContent>
      <p:grpSp>
        <p:nvGrpSpPr>
          <p:cNvPr id="22" name="Groupe 21">
            <a:extLst>
              <a:ext uri="{FF2B5EF4-FFF2-40B4-BE49-F238E27FC236}">
                <a16:creationId xmlns:a16="http://schemas.microsoft.com/office/drawing/2014/main" id="{4BDF664A-718F-0234-200E-782EFC33AA8B}"/>
              </a:ext>
            </a:extLst>
          </p:cNvPr>
          <p:cNvGrpSpPr/>
          <p:nvPr/>
        </p:nvGrpSpPr>
        <p:grpSpPr>
          <a:xfrm>
            <a:off x="1329395" y="2976806"/>
            <a:ext cx="5433647" cy="1707402"/>
            <a:chOff x="2124219" y="3684756"/>
            <a:chExt cx="7244863" cy="2276534"/>
          </a:xfrm>
        </p:grpSpPr>
        <mc:AlternateContent xmlns:mc="http://schemas.openxmlformats.org/markup-compatibility/2006" xmlns:a14="http://schemas.microsoft.com/office/drawing/2010/main">
          <mc:Choice Requires="a14">
            <p:sp>
              <p:nvSpPr>
                <p:cNvPr id="2" name="ZoneTexte 1">
                  <a:extLst>
                    <a:ext uri="{FF2B5EF4-FFF2-40B4-BE49-F238E27FC236}">
                      <a16:creationId xmlns:a16="http://schemas.microsoft.com/office/drawing/2014/main" id="{61B40AA6-7976-A069-355E-E9598010DC0A}"/>
                    </a:ext>
                  </a:extLst>
                </p:cNvPr>
                <p:cNvSpPr txBox="1"/>
                <p:nvPr/>
              </p:nvSpPr>
              <p:spPr>
                <a:xfrm>
                  <a:off x="2124219" y="4136536"/>
                  <a:ext cx="7033850" cy="8298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fr-FR" i="1">
                                <a:latin typeface="Cambria Math" panose="02040503050406030204" pitchFamily="18" charset="0"/>
                              </a:rPr>
                            </m:ctrlPr>
                          </m:funcPr>
                          <m:fName>
                            <m:r>
                              <m:rPr>
                                <m:sty m:val="p"/>
                              </m:rPr>
                              <a:rPr lang="fr-FR">
                                <a:latin typeface="Cambria Math" panose="02040503050406030204" pitchFamily="18" charset="0"/>
                              </a:rPr>
                              <m:t>log</m:t>
                            </m:r>
                          </m:fName>
                          <m:e>
                            <m:d>
                              <m:dPr>
                                <m:ctrlPr>
                                  <a:rPr lang="fr-FR" i="1">
                                    <a:latin typeface="Cambria Math" panose="02040503050406030204" pitchFamily="18" charset="0"/>
                                  </a:rPr>
                                </m:ctrlPr>
                              </m:dPr>
                              <m:e>
                                <m:f>
                                  <m:fPr>
                                    <m:ctrlPr>
                                      <a:rPr lang="fr-FR" i="1">
                                        <a:latin typeface="Cambria Math" panose="02040503050406030204" pitchFamily="18" charset="0"/>
                                      </a:rPr>
                                    </m:ctrlPr>
                                  </m:fPr>
                                  <m:num>
                                    <m:r>
                                      <a:rPr lang="fr-FR" i="1">
                                        <a:latin typeface="Cambria Math" panose="02040503050406030204" pitchFamily="18" charset="0"/>
                                      </a:rPr>
                                      <m:t>𝑝</m:t>
                                    </m:r>
                                    <m:r>
                                      <a:rPr lang="fr-FR" i="1">
                                        <a:latin typeface="Cambria Math" panose="02040503050406030204" pitchFamily="18" charset="0"/>
                                      </a:rPr>
                                      <m:t>(</m:t>
                                    </m:r>
                                    <m:r>
                                      <a:rPr lang="fr-FR" i="1">
                                        <a:latin typeface="Cambria Math" panose="02040503050406030204" pitchFamily="18" charset="0"/>
                                      </a:rPr>
                                      <m:t>𝑥</m:t>
                                    </m:r>
                                    <m:r>
                                      <a:rPr lang="fr-FR" i="1">
                                        <a:latin typeface="Cambria Math" panose="02040503050406030204" pitchFamily="18" charset="0"/>
                                      </a:rPr>
                                      <m:t>)</m:t>
                                    </m:r>
                                  </m:num>
                                  <m:den>
                                    <m:r>
                                      <a:rPr lang="fr-FR" i="1">
                                        <a:latin typeface="Cambria Math" panose="02040503050406030204" pitchFamily="18" charset="0"/>
                                      </a:rPr>
                                      <m:t>1−</m:t>
                                    </m:r>
                                    <m:r>
                                      <a:rPr lang="fr-FR" i="1">
                                        <a:latin typeface="Cambria Math" panose="02040503050406030204" pitchFamily="18" charset="0"/>
                                      </a:rPr>
                                      <m:t>𝑝</m:t>
                                    </m:r>
                                    <m:r>
                                      <a:rPr lang="fr-FR" i="1">
                                        <a:latin typeface="Cambria Math" panose="02040503050406030204" pitchFamily="18" charset="0"/>
                                      </a:rPr>
                                      <m:t>(</m:t>
                                    </m:r>
                                    <m:r>
                                      <a:rPr lang="fr-FR" i="1">
                                        <a:latin typeface="Cambria Math" panose="02040503050406030204" pitchFamily="18" charset="0"/>
                                      </a:rPr>
                                      <m:t>𝑥</m:t>
                                    </m:r>
                                    <m:r>
                                      <a:rPr lang="fr-FR" i="1">
                                        <a:latin typeface="Cambria Math" panose="02040503050406030204" pitchFamily="18" charset="0"/>
                                      </a:rPr>
                                      <m:t>)</m:t>
                                    </m:r>
                                  </m:den>
                                </m:f>
                              </m:e>
                            </m:d>
                          </m:e>
                        </m:func>
                        <m:r>
                          <a:rPr lang="fr-FR" i="1">
                            <a:latin typeface="Cambria Math" panose="02040503050406030204" pitchFamily="18" charset="0"/>
                            <a:ea typeface="Cambria Math" panose="02040503050406030204" pitchFamily="18" charset="0"/>
                          </a:rPr>
                          <m:t>= </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𝛽</m:t>
                            </m:r>
                          </m:e>
                          <m:sub>
                            <m:r>
                              <a:rPr lang="fr-FR" i="1">
                                <a:latin typeface="Cambria Math" panose="02040503050406030204" pitchFamily="18" charset="0"/>
                                <a:ea typeface="Cambria Math" panose="02040503050406030204" pitchFamily="18" charset="0"/>
                              </a:rPr>
                              <m:t>0</m:t>
                            </m:r>
                          </m:sub>
                        </m:sSub>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𝛽</m:t>
                            </m:r>
                          </m:e>
                          <m:sub>
                            <m:r>
                              <a:rPr lang="fr-FR" i="1">
                                <a:latin typeface="Cambria Math" panose="02040503050406030204" pitchFamily="18" charset="0"/>
                                <a:ea typeface="Cambria Math" panose="02040503050406030204" pitchFamily="18" charset="0"/>
                              </a:rPr>
                              <m:t>1</m:t>
                            </m:r>
                          </m:sub>
                        </m:sSub>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𝑥</m:t>
                            </m:r>
                          </m:e>
                          <m:sub>
                            <m:r>
                              <a:rPr lang="fr-FR" i="1">
                                <a:latin typeface="Cambria Math" panose="02040503050406030204" pitchFamily="18" charset="0"/>
                                <a:ea typeface="Cambria Math" panose="02040503050406030204" pitchFamily="18" charset="0"/>
                              </a:rPr>
                              <m:t>1</m:t>
                            </m:r>
                          </m:sub>
                        </m:sSub>
                        <m:r>
                          <a:rPr lang="fr-FR" i="1">
                            <a:latin typeface="Cambria Math" panose="02040503050406030204" pitchFamily="18" charset="0"/>
                            <a:ea typeface="Cambria Math" panose="02040503050406030204" pitchFamily="18" charset="0"/>
                          </a:rPr>
                          <m:t>+ …+</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𝛽</m:t>
                            </m:r>
                          </m:e>
                          <m:sub>
                            <m:r>
                              <a:rPr lang="fr-FR" i="1">
                                <a:latin typeface="Cambria Math" panose="02040503050406030204" pitchFamily="18" charset="0"/>
                                <a:ea typeface="Cambria Math" panose="02040503050406030204" pitchFamily="18" charset="0"/>
                              </a:rPr>
                              <m:t>𝑝</m:t>
                            </m:r>
                          </m:sub>
                        </m:sSub>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𝑥</m:t>
                            </m:r>
                          </m:e>
                          <m:sub>
                            <m:r>
                              <a:rPr lang="fr-FR" i="1">
                                <a:latin typeface="Cambria Math" panose="02040503050406030204" pitchFamily="18" charset="0"/>
                                <a:ea typeface="Cambria Math" panose="02040503050406030204" pitchFamily="18" charset="0"/>
                              </a:rPr>
                              <m:t>𝑝</m:t>
                            </m:r>
                          </m:sub>
                        </m:sSub>
                      </m:oMath>
                    </m:oMathPara>
                  </a14:m>
                  <a:endParaRPr lang="fr-FR" sz="2100" dirty="0"/>
                </a:p>
              </p:txBody>
            </p:sp>
          </mc:Choice>
          <mc:Fallback xmlns="">
            <p:sp>
              <p:nvSpPr>
                <p:cNvPr id="2" name="ZoneTexte 1">
                  <a:extLst>
                    <a:ext uri="{FF2B5EF4-FFF2-40B4-BE49-F238E27FC236}">
                      <a16:creationId xmlns:a16="http://schemas.microsoft.com/office/drawing/2014/main" id="{61B40AA6-7976-A069-355E-E9598010DC0A}"/>
                    </a:ext>
                  </a:extLst>
                </p:cNvPr>
                <p:cNvSpPr txBox="1">
                  <a:spLocks noRot="1" noChangeAspect="1" noMove="1" noResize="1" noEditPoints="1" noAdjustHandles="1" noChangeArrowheads="1" noChangeShapeType="1" noTextEdit="1"/>
                </p:cNvSpPr>
                <p:nvPr/>
              </p:nvSpPr>
              <p:spPr>
                <a:xfrm>
                  <a:off x="2124219" y="4136536"/>
                  <a:ext cx="7033850" cy="829800"/>
                </a:xfrm>
                <a:prstGeom prst="rect">
                  <a:avLst/>
                </a:prstGeom>
                <a:blipFill>
                  <a:blip r:embed="rId4"/>
                  <a:stretch>
                    <a:fillRect/>
                  </a:stretch>
                </a:blipFill>
              </p:spPr>
              <p:txBody>
                <a:bodyPr/>
                <a:lstStyle/>
                <a:p>
                  <a:r>
                    <a:rPr lang="fr-FR">
                      <a:noFill/>
                    </a:rPr>
                    <a:t> </a:t>
                  </a:r>
                </a:p>
              </p:txBody>
            </p:sp>
          </mc:Fallback>
        </mc:AlternateContent>
        <p:sp>
          <p:nvSpPr>
            <p:cNvPr id="3" name="ZoneTexte 2">
              <a:extLst>
                <a:ext uri="{FF2B5EF4-FFF2-40B4-BE49-F238E27FC236}">
                  <a16:creationId xmlns:a16="http://schemas.microsoft.com/office/drawing/2014/main" id="{5B5F1D2C-856C-EDEC-1836-DA8B203E2A41}"/>
                </a:ext>
              </a:extLst>
            </p:cNvPr>
            <p:cNvSpPr txBox="1"/>
            <p:nvPr/>
          </p:nvSpPr>
          <p:spPr>
            <a:xfrm>
              <a:off x="4965895" y="3684756"/>
              <a:ext cx="1378633" cy="400109"/>
            </a:xfrm>
            <a:prstGeom prst="rect">
              <a:avLst/>
            </a:prstGeom>
            <a:noFill/>
          </p:spPr>
          <p:txBody>
            <a:bodyPr wrap="square" rtlCol="0">
              <a:spAutoFit/>
            </a:bodyPr>
            <a:lstStyle/>
            <a:p>
              <a:r>
                <a:rPr lang="fr-FR" sz="1350" dirty="0"/>
                <a:t>événement</a:t>
              </a:r>
            </a:p>
          </p:txBody>
        </p:sp>
        <p:cxnSp>
          <p:nvCxnSpPr>
            <p:cNvPr id="7" name="Connecteur droit 6">
              <a:extLst>
                <a:ext uri="{FF2B5EF4-FFF2-40B4-BE49-F238E27FC236}">
                  <a16:creationId xmlns:a16="http://schemas.microsoft.com/office/drawing/2014/main" id="{98BAFCDE-9478-B08C-FF93-CA2265225F77}"/>
                </a:ext>
              </a:extLst>
            </p:cNvPr>
            <p:cNvCxnSpPr>
              <a:cxnSpLocks/>
              <a:stCxn id="3" idx="1"/>
            </p:cNvCxnSpPr>
            <p:nvPr/>
          </p:nvCxnSpPr>
          <p:spPr>
            <a:xfrm flipH="1">
              <a:off x="4276576" y="3884811"/>
              <a:ext cx="689319" cy="279528"/>
            </a:xfrm>
            <a:prstGeom prst="line">
              <a:avLst/>
            </a:prstGeom>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563DE562-7396-6FF9-F3C5-189EAFC0D578}"/>
                </a:ext>
              </a:extLst>
            </p:cNvPr>
            <p:cNvSpPr txBox="1"/>
            <p:nvPr/>
          </p:nvSpPr>
          <p:spPr>
            <a:xfrm>
              <a:off x="4597790" y="5168424"/>
              <a:ext cx="1378633" cy="677108"/>
            </a:xfrm>
            <a:prstGeom prst="rect">
              <a:avLst/>
            </a:prstGeom>
            <a:noFill/>
          </p:spPr>
          <p:txBody>
            <a:bodyPr wrap="square" rtlCol="0">
              <a:spAutoFit/>
            </a:bodyPr>
            <a:lstStyle/>
            <a:p>
              <a:r>
                <a:rPr lang="fr-FR" sz="1350" dirty="0"/>
                <a:t>événement contraire</a:t>
              </a:r>
            </a:p>
          </p:txBody>
        </p:sp>
        <p:cxnSp>
          <p:nvCxnSpPr>
            <p:cNvPr id="11" name="Connecteur droit 10">
              <a:extLst>
                <a:ext uri="{FF2B5EF4-FFF2-40B4-BE49-F238E27FC236}">
                  <a16:creationId xmlns:a16="http://schemas.microsoft.com/office/drawing/2014/main" id="{2FD1F556-9B38-494D-5E4C-A6389DFB32CE}"/>
                </a:ext>
              </a:extLst>
            </p:cNvPr>
            <p:cNvCxnSpPr>
              <a:cxnSpLocks/>
              <a:stCxn id="10" idx="1"/>
            </p:cNvCxnSpPr>
            <p:nvPr/>
          </p:nvCxnSpPr>
          <p:spPr>
            <a:xfrm flipH="1" flipV="1">
              <a:off x="4037430" y="4966379"/>
              <a:ext cx="560360" cy="5406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727F89E4-98F4-C973-EA89-FD756D08AB45}"/>
                    </a:ext>
                  </a:extLst>
                </p:cNvPr>
                <p:cNvSpPr txBox="1"/>
                <p:nvPr/>
              </p:nvSpPr>
              <p:spPr>
                <a:xfrm>
                  <a:off x="7186247" y="5284182"/>
                  <a:ext cx="2182835" cy="677108"/>
                </a:xfrm>
                <a:prstGeom prst="rect">
                  <a:avLst/>
                </a:prstGeom>
                <a:noFill/>
              </p:spPr>
              <p:txBody>
                <a:bodyPr wrap="square" rtlCol="0">
                  <a:spAutoFit/>
                </a:bodyPr>
                <a:lstStyle/>
                <a:p>
                  <a:r>
                    <a:rPr lang="fr-FR" sz="1350" dirty="0"/>
                    <a:t>une réalisation de </a:t>
                  </a:r>
                  <a14:m>
                    <m:oMath xmlns:m="http://schemas.openxmlformats.org/officeDocument/2006/math">
                      <m:r>
                        <a:rPr lang="fr-FR" sz="1350" i="1" dirty="0">
                          <a:latin typeface="Cambria Math" panose="02040503050406030204" pitchFamily="18" charset="0"/>
                        </a:rPr>
                        <m:t>𝑋</m:t>
                      </m:r>
                    </m:oMath>
                  </a14:m>
                  <a:endParaRPr lang="fr-FR" sz="1350" dirty="0"/>
                </a:p>
              </p:txBody>
            </p:sp>
          </mc:Choice>
          <mc:Fallback xmlns="">
            <p:sp>
              <p:nvSpPr>
                <p:cNvPr id="13" name="ZoneTexte 12">
                  <a:extLst>
                    <a:ext uri="{FF2B5EF4-FFF2-40B4-BE49-F238E27FC236}">
                      <a16:creationId xmlns:a16="http://schemas.microsoft.com/office/drawing/2014/main" id="{727F89E4-98F4-C973-EA89-FD756D08AB45}"/>
                    </a:ext>
                  </a:extLst>
                </p:cNvPr>
                <p:cNvSpPr txBox="1">
                  <a:spLocks noRot="1" noChangeAspect="1" noMove="1" noResize="1" noEditPoints="1" noAdjustHandles="1" noChangeArrowheads="1" noChangeShapeType="1" noTextEdit="1"/>
                </p:cNvSpPr>
                <p:nvPr/>
              </p:nvSpPr>
              <p:spPr>
                <a:xfrm>
                  <a:off x="7186247" y="5284182"/>
                  <a:ext cx="2182835" cy="677108"/>
                </a:xfrm>
                <a:prstGeom prst="rect">
                  <a:avLst/>
                </a:prstGeom>
                <a:blipFill>
                  <a:blip r:embed="rId5"/>
                  <a:stretch>
                    <a:fillRect l="-1119" t="-1205"/>
                  </a:stretch>
                </a:blipFill>
              </p:spPr>
              <p:txBody>
                <a:bodyPr/>
                <a:lstStyle/>
                <a:p>
                  <a:r>
                    <a:rPr lang="fr-FR">
                      <a:noFill/>
                    </a:rPr>
                    <a:t> </a:t>
                  </a:r>
                </a:p>
              </p:txBody>
            </p:sp>
          </mc:Fallback>
        </mc:AlternateContent>
        <p:cxnSp>
          <p:nvCxnSpPr>
            <p:cNvPr id="15" name="Connecteur droit 14">
              <a:extLst>
                <a:ext uri="{FF2B5EF4-FFF2-40B4-BE49-F238E27FC236}">
                  <a16:creationId xmlns:a16="http://schemas.microsoft.com/office/drawing/2014/main" id="{6BFFF0D4-945C-A3A6-F522-37229BD0D14B}"/>
                </a:ext>
              </a:extLst>
            </p:cNvPr>
            <p:cNvCxnSpPr>
              <a:cxnSpLocks/>
              <a:stCxn id="13" idx="1"/>
            </p:cNvCxnSpPr>
            <p:nvPr/>
          </p:nvCxnSpPr>
          <p:spPr>
            <a:xfrm flipH="1" flipV="1">
              <a:off x="6639951" y="4835583"/>
              <a:ext cx="546296" cy="787154"/>
            </a:xfrm>
            <a:prstGeom prst="line">
              <a:avLst/>
            </a:prstGeom>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CFB2F873-27D0-7556-677D-8F7617C8EBB2}"/>
                </a:ext>
              </a:extLst>
            </p:cNvPr>
            <p:cNvSpPr txBox="1"/>
            <p:nvPr/>
          </p:nvSpPr>
          <p:spPr>
            <a:xfrm>
              <a:off x="6536790" y="3795007"/>
              <a:ext cx="1378633" cy="400109"/>
            </a:xfrm>
            <a:prstGeom prst="rect">
              <a:avLst/>
            </a:prstGeom>
            <a:noFill/>
          </p:spPr>
          <p:txBody>
            <a:bodyPr wrap="square" rtlCol="0">
              <a:spAutoFit/>
            </a:bodyPr>
            <a:lstStyle/>
            <a:p>
              <a:r>
                <a:rPr lang="fr-FR" sz="1350" dirty="0"/>
                <a:t>coefficient</a:t>
              </a:r>
            </a:p>
          </p:txBody>
        </p:sp>
        <p:cxnSp>
          <p:nvCxnSpPr>
            <p:cNvPr id="19" name="Connecteur droit 18">
              <a:extLst>
                <a:ext uri="{FF2B5EF4-FFF2-40B4-BE49-F238E27FC236}">
                  <a16:creationId xmlns:a16="http://schemas.microsoft.com/office/drawing/2014/main" id="{8573B146-1E46-9974-7554-685F060BF3F2}"/>
                </a:ext>
              </a:extLst>
            </p:cNvPr>
            <p:cNvCxnSpPr>
              <a:cxnSpLocks/>
              <a:stCxn id="18" idx="1"/>
            </p:cNvCxnSpPr>
            <p:nvPr/>
          </p:nvCxnSpPr>
          <p:spPr>
            <a:xfrm flipH="1">
              <a:off x="5655214" y="3995061"/>
              <a:ext cx="881576" cy="353942"/>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6361593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203408" cy="1744185"/>
              </a:xfrm>
            </p:spPr>
            <p:txBody>
              <a:bodyPr>
                <a:noAutofit/>
              </a:bodyPr>
              <a:lstStyle/>
              <a:p>
                <a:pPr lvl="1" algn="just">
                  <a:lnSpc>
                    <a:spcPct val="150000"/>
                  </a:lnSpc>
                  <a:buClr>
                    <a:schemeClr val="accent2"/>
                  </a:buClr>
                </a:pPr>
                <a:r>
                  <a:rPr lang="fr-FR" sz="1050" dirty="0"/>
                  <a:t>Ici, </a:t>
                </a:r>
                <a14:m>
                  <m:oMath xmlns:m="http://schemas.openxmlformats.org/officeDocument/2006/math">
                    <m:r>
                      <a:rPr lang="fr-FR" sz="1050" b="1" i="1" dirty="0">
                        <a:latin typeface="Cambria Math" panose="02040503050406030204" pitchFamily="18" charset="0"/>
                      </a:rPr>
                      <m:t>𝒚</m:t>
                    </m:r>
                  </m:oMath>
                </a14:m>
                <a:r>
                  <a:rPr lang="fr-FR" sz="1050" dirty="0"/>
                  <a:t> ou </a:t>
                </a:r>
                <a14:m>
                  <m:oMath xmlns:m="http://schemas.openxmlformats.org/officeDocument/2006/math">
                    <m:r>
                      <a:rPr lang="fr-FR" sz="1050" b="1" i="1" dirty="0">
                        <a:latin typeface="Cambria Math" panose="02040503050406030204" pitchFamily="18" charset="0"/>
                      </a:rPr>
                      <m:t>𝒍𝒐𝒈</m:t>
                    </m:r>
                    <m:r>
                      <a:rPr lang="fr-FR" sz="1050" b="1" i="1" dirty="0">
                        <a:latin typeface="Cambria Math" panose="02040503050406030204" pitchFamily="18" charset="0"/>
                      </a:rPr>
                      <m:t>⁡(</m:t>
                    </m:r>
                    <m:r>
                      <a:rPr lang="fr-FR" sz="1050" b="1" i="1" dirty="0">
                        <a:latin typeface="Cambria Math" panose="02040503050406030204" pitchFamily="18" charset="0"/>
                      </a:rPr>
                      <m:t>𝒑</m:t>
                    </m:r>
                    <m:r>
                      <a:rPr lang="fr-FR" sz="1050" b="1" i="1" dirty="0">
                        <a:latin typeface="Cambria Math" panose="02040503050406030204" pitchFamily="18" charset="0"/>
                      </a:rPr>
                      <m:t>(</m:t>
                    </m:r>
                    <m:r>
                      <a:rPr lang="fr-FR" sz="1050" b="1" i="1" dirty="0">
                        <a:latin typeface="Cambria Math" panose="02040503050406030204" pitchFamily="18" charset="0"/>
                      </a:rPr>
                      <m:t>𝒙</m:t>
                    </m:r>
                    <m:r>
                      <a:rPr lang="fr-FR" sz="1050" b="1" i="1" dirty="0">
                        <a:latin typeface="Cambria Math" panose="02040503050406030204" pitchFamily="18" charset="0"/>
                      </a:rPr>
                      <m:t>)/</m:t>
                    </m:r>
                    <m:r>
                      <a:rPr lang="fr-FR" sz="1050" b="1" i="1" dirty="0">
                        <a:latin typeface="Cambria Math" panose="02040503050406030204" pitchFamily="18" charset="0"/>
                      </a:rPr>
                      <m:t>𝟏</m:t>
                    </m:r>
                    <m:r>
                      <a:rPr lang="fr-FR" sz="1050" b="1" i="1" dirty="0">
                        <a:latin typeface="Cambria Math" panose="02040503050406030204" pitchFamily="18" charset="0"/>
                      </a:rPr>
                      <m:t>−</m:t>
                    </m:r>
                    <m:r>
                      <a:rPr lang="fr-FR" sz="1050" b="1" i="1" dirty="0">
                        <a:latin typeface="Cambria Math" panose="02040503050406030204" pitchFamily="18" charset="0"/>
                      </a:rPr>
                      <m:t>𝒑</m:t>
                    </m:r>
                    <m:r>
                      <a:rPr lang="fr-FR" sz="1050" b="1" i="1" dirty="0">
                        <a:latin typeface="Cambria Math" panose="02040503050406030204" pitchFamily="18" charset="0"/>
                      </a:rPr>
                      <m:t>(</m:t>
                    </m:r>
                    <m:r>
                      <a:rPr lang="fr-FR" sz="1050" b="1" i="1" dirty="0">
                        <a:latin typeface="Cambria Math" panose="02040503050406030204" pitchFamily="18" charset="0"/>
                      </a:rPr>
                      <m:t>𝒙</m:t>
                    </m:r>
                    <m:r>
                      <a:rPr lang="fr-FR" sz="1050" b="1" i="1" dirty="0">
                        <a:latin typeface="Cambria Math" panose="02040503050406030204" pitchFamily="18" charset="0"/>
                      </a:rPr>
                      <m:t>))</m:t>
                    </m:r>
                  </m:oMath>
                </a14:m>
                <a:r>
                  <a:rPr lang="fr-FR" sz="1050" dirty="0"/>
                  <a:t> est la probabilité prédite.</a:t>
                </a:r>
              </a:p>
              <a:p>
                <a:pPr lvl="1" algn="just">
                  <a:lnSpc>
                    <a:spcPct val="150000"/>
                  </a:lnSpc>
                  <a:buClr>
                    <a:schemeClr val="accent2"/>
                  </a:buClr>
                </a:pPr>
                <a14:m>
                  <m:oMath xmlns:m="http://schemas.openxmlformats.org/officeDocument/2006/math">
                    <m:sSub>
                      <m:sSubPr>
                        <m:ctrlPr>
                          <a:rPr lang="fr-FR" sz="1050" b="1" i="1" dirty="0">
                            <a:latin typeface="Cambria Math" panose="02040503050406030204" pitchFamily="18" charset="0"/>
                          </a:rPr>
                        </m:ctrlPr>
                      </m:sSubPr>
                      <m:e>
                        <m:r>
                          <a:rPr lang="fr-FR" sz="1050" b="1" i="1" dirty="0">
                            <a:latin typeface="Cambria Math" panose="02040503050406030204" pitchFamily="18" charset="0"/>
                          </a:rPr>
                          <m:t>𝒙</m:t>
                        </m:r>
                      </m:e>
                      <m:sub>
                        <m:r>
                          <a:rPr lang="fr-FR" sz="1050" b="1" i="1" dirty="0">
                            <a:latin typeface="Cambria Math" panose="02040503050406030204" pitchFamily="18" charset="0"/>
                          </a:rPr>
                          <m:t>𝟏</m:t>
                        </m:r>
                      </m:sub>
                    </m:sSub>
                    <m:r>
                      <a:rPr lang="fr-FR" sz="1050" b="1" i="1" dirty="0">
                        <a:latin typeface="Cambria Math" panose="02040503050406030204" pitchFamily="18" charset="0"/>
                      </a:rPr>
                      <m:t>,</m:t>
                    </m:r>
                    <m:sSub>
                      <m:sSubPr>
                        <m:ctrlPr>
                          <a:rPr lang="fr-FR" sz="1050" b="1" i="1" dirty="0">
                            <a:latin typeface="Cambria Math" panose="02040503050406030204" pitchFamily="18" charset="0"/>
                          </a:rPr>
                        </m:ctrlPr>
                      </m:sSubPr>
                      <m:e>
                        <m:r>
                          <a:rPr lang="fr-FR" sz="1050" b="1" i="1" dirty="0">
                            <a:latin typeface="Cambria Math" panose="02040503050406030204" pitchFamily="18" charset="0"/>
                          </a:rPr>
                          <m:t>𝒙</m:t>
                        </m:r>
                      </m:e>
                      <m:sub>
                        <m:r>
                          <a:rPr lang="fr-FR" sz="1050" b="1" i="1" dirty="0">
                            <a:latin typeface="Cambria Math" panose="02040503050406030204" pitchFamily="18" charset="0"/>
                          </a:rPr>
                          <m:t>𝟐</m:t>
                        </m:r>
                      </m:sub>
                    </m:sSub>
                    <m:r>
                      <a:rPr lang="fr-FR" sz="1050" b="1" i="1" dirty="0">
                        <a:latin typeface="Cambria Math" panose="02040503050406030204" pitchFamily="18" charset="0"/>
                      </a:rPr>
                      <m:t>, </m:t>
                    </m:r>
                    <m:sSub>
                      <m:sSubPr>
                        <m:ctrlPr>
                          <a:rPr lang="fr-FR" sz="1050" b="1" i="1" dirty="0">
                            <a:latin typeface="Cambria Math" panose="02040503050406030204" pitchFamily="18" charset="0"/>
                          </a:rPr>
                        </m:ctrlPr>
                      </m:sSubPr>
                      <m:e>
                        <m:r>
                          <a:rPr lang="fr-FR" sz="1050" b="1" i="1" dirty="0">
                            <a:latin typeface="Cambria Math" panose="02040503050406030204" pitchFamily="18" charset="0"/>
                          </a:rPr>
                          <m:t>𝒙</m:t>
                        </m:r>
                      </m:e>
                      <m:sub>
                        <m:r>
                          <a:rPr lang="fr-FR" sz="1050" b="1" i="1" dirty="0">
                            <a:latin typeface="Cambria Math" panose="02040503050406030204" pitchFamily="18" charset="0"/>
                          </a:rPr>
                          <m:t>𝟑</m:t>
                        </m:r>
                      </m:sub>
                    </m:sSub>
                    <m:r>
                      <a:rPr lang="fr-FR" sz="1050" b="1" i="1" dirty="0">
                        <a:latin typeface="Cambria Math" panose="02040503050406030204" pitchFamily="18" charset="0"/>
                      </a:rPr>
                      <m:t>, …, </m:t>
                    </m:r>
                    <m:sSub>
                      <m:sSubPr>
                        <m:ctrlPr>
                          <a:rPr lang="fr-FR" sz="1050" b="1" i="1" dirty="0">
                            <a:latin typeface="Cambria Math" panose="02040503050406030204" pitchFamily="18" charset="0"/>
                          </a:rPr>
                        </m:ctrlPr>
                      </m:sSubPr>
                      <m:e>
                        <m:r>
                          <a:rPr lang="fr-FR" sz="1050" b="1" i="1" dirty="0">
                            <a:latin typeface="Cambria Math" panose="02040503050406030204" pitchFamily="18" charset="0"/>
                          </a:rPr>
                          <m:t>𝒙</m:t>
                        </m:r>
                      </m:e>
                      <m:sub>
                        <m:r>
                          <a:rPr lang="fr-FR" sz="1050" b="1" i="1" dirty="0">
                            <a:latin typeface="Cambria Math" panose="02040503050406030204" pitchFamily="18" charset="0"/>
                          </a:rPr>
                          <m:t>𝒏</m:t>
                        </m:r>
                      </m:sub>
                    </m:sSub>
                  </m:oMath>
                </a14:m>
                <a:r>
                  <a:rPr lang="fr-FR" sz="1050" dirty="0"/>
                  <a:t> sont les features ou variables explicatives.</a:t>
                </a:r>
              </a:p>
              <a:p>
                <a:pPr lvl="1" algn="just">
                  <a:lnSpc>
                    <a:spcPct val="150000"/>
                  </a:lnSpc>
                  <a:buClr>
                    <a:schemeClr val="accent2"/>
                  </a:buClr>
                </a:pPr>
                <a14:m>
                  <m:oMath xmlns:m="http://schemas.openxmlformats.org/officeDocument/2006/math">
                    <m:sSub>
                      <m:sSubPr>
                        <m:ctrlPr>
                          <a:rPr lang="fr-FR" sz="1050" b="1" i="1" dirty="0">
                            <a:latin typeface="Cambria Math" panose="02040503050406030204" pitchFamily="18" charset="0"/>
                          </a:rPr>
                        </m:ctrlPr>
                      </m:sSubPr>
                      <m:e>
                        <m:r>
                          <a:rPr lang="el-GR" sz="1050" b="1" i="1" dirty="0">
                            <a:latin typeface="Cambria Math" panose="02040503050406030204" pitchFamily="18" charset="0"/>
                          </a:rPr>
                          <m:t>𝜷</m:t>
                        </m:r>
                      </m:e>
                      <m:sub>
                        <m:r>
                          <a:rPr lang="fr-FR" sz="1050" b="1" i="1" dirty="0">
                            <a:latin typeface="Cambria Math" panose="02040503050406030204" pitchFamily="18" charset="0"/>
                          </a:rPr>
                          <m:t>𝟎</m:t>
                        </m:r>
                      </m:sub>
                    </m:sSub>
                    <m:r>
                      <a:rPr lang="fr-FR" sz="1050" b="1" i="1" dirty="0">
                        <a:latin typeface="Cambria Math" panose="02040503050406030204" pitchFamily="18" charset="0"/>
                      </a:rPr>
                      <m:t>,</m:t>
                    </m:r>
                    <m:sSub>
                      <m:sSubPr>
                        <m:ctrlPr>
                          <a:rPr lang="fr-FR" sz="1050" b="1" i="1" dirty="0">
                            <a:latin typeface="Cambria Math" panose="02040503050406030204" pitchFamily="18" charset="0"/>
                          </a:rPr>
                        </m:ctrlPr>
                      </m:sSubPr>
                      <m:e>
                        <m:r>
                          <a:rPr lang="el-GR" sz="1050" b="1" i="1" dirty="0">
                            <a:latin typeface="Cambria Math" panose="02040503050406030204" pitchFamily="18" charset="0"/>
                          </a:rPr>
                          <m:t>𝜷</m:t>
                        </m:r>
                      </m:e>
                      <m:sub>
                        <m:r>
                          <a:rPr lang="fr-FR" sz="1050" b="1" i="1" dirty="0">
                            <a:latin typeface="Cambria Math" panose="02040503050406030204" pitchFamily="18" charset="0"/>
                          </a:rPr>
                          <m:t>𝟏</m:t>
                        </m:r>
                      </m:sub>
                    </m:sSub>
                    <m:r>
                      <a:rPr lang="fr-FR" sz="1050" b="1" i="1" dirty="0">
                        <a:latin typeface="Cambria Math" panose="02040503050406030204" pitchFamily="18" charset="0"/>
                      </a:rPr>
                      <m:t>, </m:t>
                    </m:r>
                    <m:sSub>
                      <m:sSubPr>
                        <m:ctrlPr>
                          <a:rPr lang="fr-FR" sz="1050" b="1" i="1" dirty="0">
                            <a:latin typeface="Cambria Math" panose="02040503050406030204" pitchFamily="18" charset="0"/>
                          </a:rPr>
                        </m:ctrlPr>
                      </m:sSubPr>
                      <m:e>
                        <m:r>
                          <a:rPr lang="el-GR" sz="1050" b="1" i="1" dirty="0">
                            <a:latin typeface="Cambria Math" panose="02040503050406030204" pitchFamily="18" charset="0"/>
                          </a:rPr>
                          <m:t>𝜷</m:t>
                        </m:r>
                      </m:e>
                      <m:sub>
                        <m:r>
                          <a:rPr lang="fr-FR" sz="1050" b="1" i="1" dirty="0">
                            <a:latin typeface="Cambria Math" panose="02040503050406030204" pitchFamily="18" charset="0"/>
                          </a:rPr>
                          <m:t>𝟐</m:t>
                        </m:r>
                      </m:sub>
                    </m:sSub>
                    <m:r>
                      <a:rPr lang="fr-FR" sz="1050" b="1" i="1" dirty="0">
                        <a:latin typeface="Cambria Math" panose="02040503050406030204" pitchFamily="18" charset="0"/>
                      </a:rPr>
                      <m:t>, …, </m:t>
                    </m:r>
                    <m:sSub>
                      <m:sSubPr>
                        <m:ctrlPr>
                          <a:rPr lang="fr-FR" sz="1050" b="1" i="1" dirty="0">
                            <a:latin typeface="Cambria Math" panose="02040503050406030204" pitchFamily="18" charset="0"/>
                          </a:rPr>
                        </m:ctrlPr>
                      </m:sSubPr>
                      <m:e>
                        <m:r>
                          <a:rPr lang="el-GR" sz="1050" b="1" i="1" dirty="0">
                            <a:latin typeface="Cambria Math" panose="02040503050406030204" pitchFamily="18" charset="0"/>
                          </a:rPr>
                          <m:t>𝜷</m:t>
                        </m:r>
                      </m:e>
                      <m:sub>
                        <m:r>
                          <a:rPr lang="fr-FR" sz="1050" b="1" i="1" dirty="0">
                            <a:latin typeface="Cambria Math" panose="02040503050406030204" pitchFamily="18" charset="0"/>
                          </a:rPr>
                          <m:t>𝒏</m:t>
                        </m:r>
                      </m:sub>
                    </m:sSub>
                  </m:oMath>
                </a14:m>
                <a:r>
                  <a:rPr lang="fr-FR" sz="1050" dirty="0"/>
                  <a:t> sont les coefficients qui définissent la relation entre les features et la variable cible </a:t>
                </a:r>
                <a14:m>
                  <m:oMath xmlns:m="http://schemas.openxmlformats.org/officeDocument/2006/math">
                    <m:r>
                      <a:rPr lang="fr-FR" sz="1050" b="1" i="1" dirty="0">
                        <a:latin typeface="Cambria Math" panose="02040503050406030204" pitchFamily="18" charset="0"/>
                      </a:rPr>
                      <m:t>𝒚</m:t>
                    </m:r>
                  </m:oMath>
                </a14:m>
                <a:r>
                  <a:rPr lang="fr-FR" sz="1050" dirty="0"/>
                  <a:t>, avec </a:t>
                </a:r>
                <a14:m>
                  <m:oMath xmlns:m="http://schemas.openxmlformats.org/officeDocument/2006/math">
                    <m:r>
                      <a:rPr lang="fr-FR" sz="1050" b="1" i="1" dirty="0">
                        <a:latin typeface="Cambria Math" panose="02040503050406030204" pitchFamily="18" charset="0"/>
                      </a:rPr>
                      <m:t>𝒚</m:t>
                    </m:r>
                    <m:r>
                      <a:rPr lang="fr-FR" sz="1050" b="1" i="1" dirty="0">
                        <a:latin typeface="Cambria Math" panose="02040503050406030204" pitchFamily="18" charset="0"/>
                      </a:rPr>
                      <m:t> = </m:t>
                    </m:r>
                    <m:r>
                      <a:rPr lang="fr-FR" sz="1050" b="1" i="1" dirty="0">
                        <a:latin typeface="Cambria Math" panose="02040503050406030204" pitchFamily="18" charset="0"/>
                      </a:rPr>
                      <m:t>𝟏</m:t>
                    </m:r>
                  </m:oMath>
                </a14:m>
                <a:r>
                  <a:rPr lang="fr-FR" sz="1050" dirty="0"/>
                  <a:t>.</a:t>
                </a:r>
              </a:p>
              <a:p>
                <a:pPr lvl="1" algn="just">
                  <a:lnSpc>
                    <a:spcPct val="150000"/>
                  </a:lnSpc>
                  <a:buClr>
                    <a:schemeClr val="accent2"/>
                  </a:buClr>
                </a:pPr>
                <a:r>
                  <a:rPr lang="fr-FR" sz="1050" dirty="0"/>
                  <a:t>Le but de la régression logistique est de trouver les coefficients qui maximisent la vraisemblance des données observées.</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6203408" cy="1744185"/>
              </a:xfrm>
              <a:blipFill>
                <a:blip r:embed="rId2"/>
                <a:stretch>
                  <a:fillRect r="-1278"/>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100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logistique</a:t>
            </a:r>
            <a:endParaRPr lang="fr-FR" sz="2100" b="0" dirty="0"/>
          </a:p>
        </p:txBody>
      </p:sp>
      <p:grpSp>
        <p:nvGrpSpPr>
          <p:cNvPr id="22" name="Groupe 21">
            <a:extLst>
              <a:ext uri="{FF2B5EF4-FFF2-40B4-BE49-F238E27FC236}">
                <a16:creationId xmlns:a16="http://schemas.microsoft.com/office/drawing/2014/main" id="{4BDF664A-718F-0234-200E-782EFC33AA8B}"/>
              </a:ext>
            </a:extLst>
          </p:cNvPr>
          <p:cNvGrpSpPr/>
          <p:nvPr/>
        </p:nvGrpSpPr>
        <p:grpSpPr>
          <a:xfrm>
            <a:off x="1329395" y="2976806"/>
            <a:ext cx="5433647" cy="1707402"/>
            <a:chOff x="2124219" y="3684756"/>
            <a:chExt cx="7244863" cy="2276534"/>
          </a:xfrm>
        </p:grpSpPr>
        <mc:AlternateContent xmlns:mc="http://schemas.openxmlformats.org/markup-compatibility/2006" xmlns:a14="http://schemas.microsoft.com/office/drawing/2010/main">
          <mc:Choice Requires="a14">
            <p:sp>
              <p:nvSpPr>
                <p:cNvPr id="2" name="ZoneTexte 1">
                  <a:extLst>
                    <a:ext uri="{FF2B5EF4-FFF2-40B4-BE49-F238E27FC236}">
                      <a16:creationId xmlns:a16="http://schemas.microsoft.com/office/drawing/2014/main" id="{61B40AA6-7976-A069-355E-E9598010DC0A}"/>
                    </a:ext>
                  </a:extLst>
                </p:cNvPr>
                <p:cNvSpPr txBox="1"/>
                <p:nvPr/>
              </p:nvSpPr>
              <p:spPr>
                <a:xfrm>
                  <a:off x="2124219" y="4136536"/>
                  <a:ext cx="7033850" cy="8298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fr-FR" i="1">
                                <a:latin typeface="Cambria Math" panose="02040503050406030204" pitchFamily="18" charset="0"/>
                              </a:rPr>
                            </m:ctrlPr>
                          </m:funcPr>
                          <m:fName>
                            <m:r>
                              <m:rPr>
                                <m:sty m:val="p"/>
                              </m:rPr>
                              <a:rPr lang="fr-FR">
                                <a:latin typeface="Cambria Math" panose="02040503050406030204" pitchFamily="18" charset="0"/>
                              </a:rPr>
                              <m:t>log</m:t>
                            </m:r>
                          </m:fName>
                          <m:e>
                            <m:d>
                              <m:dPr>
                                <m:ctrlPr>
                                  <a:rPr lang="fr-FR" i="1">
                                    <a:latin typeface="Cambria Math" panose="02040503050406030204" pitchFamily="18" charset="0"/>
                                  </a:rPr>
                                </m:ctrlPr>
                              </m:dPr>
                              <m:e>
                                <m:f>
                                  <m:fPr>
                                    <m:ctrlPr>
                                      <a:rPr lang="fr-FR" i="1">
                                        <a:latin typeface="Cambria Math" panose="02040503050406030204" pitchFamily="18" charset="0"/>
                                      </a:rPr>
                                    </m:ctrlPr>
                                  </m:fPr>
                                  <m:num>
                                    <m:r>
                                      <a:rPr lang="fr-FR" i="1">
                                        <a:latin typeface="Cambria Math" panose="02040503050406030204" pitchFamily="18" charset="0"/>
                                      </a:rPr>
                                      <m:t>𝑝</m:t>
                                    </m:r>
                                    <m:r>
                                      <a:rPr lang="fr-FR" i="1">
                                        <a:latin typeface="Cambria Math" panose="02040503050406030204" pitchFamily="18" charset="0"/>
                                      </a:rPr>
                                      <m:t>(</m:t>
                                    </m:r>
                                    <m:r>
                                      <a:rPr lang="fr-FR" i="1">
                                        <a:latin typeface="Cambria Math" panose="02040503050406030204" pitchFamily="18" charset="0"/>
                                      </a:rPr>
                                      <m:t>𝑥</m:t>
                                    </m:r>
                                    <m:r>
                                      <a:rPr lang="fr-FR" i="1">
                                        <a:latin typeface="Cambria Math" panose="02040503050406030204" pitchFamily="18" charset="0"/>
                                      </a:rPr>
                                      <m:t>)</m:t>
                                    </m:r>
                                  </m:num>
                                  <m:den>
                                    <m:r>
                                      <a:rPr lang="fr-FR" i="1">
                                        <a:latin typeface="Cambria Math" panose="02040503050406030204" pitchFamily="18" charset="0"/>
                                      </a:rPr>
                                      <m:t>1−</m:t>
                                    </m:r>
                                    <m:r>
                                      <a:rPr lang="fr-FR" i="1">
                                        <a:latin typeface="Cambria Math" panose="02040503050406030204" pitchFamily="18" charset="0"/>
                                      </a:rPr>
                                      <m:t>𝑝</m:t>
                                    </m:r>
                                    <m:r>
                                      <a:rPr lang="fr-FR" i="1">
                                        <a:latin typeface="Cambria Math" panose="02040503050406030204" pitchFamily="18" charset="0"/>
                                      </a:rPr>
                                      <m:t>(</m:t>
                                    </m:r>
                                    <m:r>
                                      <a:rPr lang="fr-FR" i="1">
                                        <a:latin typeface="Cambria Math" panose="02040503050406030204" pitchFamily="18" charset="0"/>
                                      </a:rPr>
                                      <m:t>𝑥</m:t>
                                    </m:r>
                                    <m:r>
                                      <a:rPr lang="fr-FR" i="1">
                                        <a:latin typeface="Cambria Math" panose="02040503050406030204" pitchFamily="18" charset="0"/>
                                      </a:rPr>
                                      <m:t>)</m:t>
                                    </m:r>
                                  </m:den>
                                </m:f>
                              </m:e>
                            </m:d>
                          </m:e>
                        </m:func>
                        <m:r>
                          <a:rPr lang="fr-FR" i="1">
                            <a:latin typeface="Cambria Math" panose="02040503050406030204" pitchFamily="18" charset="0"/>
                            <a:ea typeface="Cambria Math" panose="02040503050406030204" pitchFamily="18" charset="0"/>
                          </a:rPr>
                          <m:t>= </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𝛽</m:t>
                            </m:r>
                          </m:e>
                          <m:sub>
                            <m:r>
                              <a:rPr lang="fr-FR" i="1">
                                <a:latin typeface="Cambria Math" panose="02040503050406030204" pitchFamily="18" charset="0"/>
                                <a:ea typeface="Cambria Math" panose="02040503050406030204" pitchFamily="18" charset="0"/>
                              </a:rPr>
                              <m:t>0</m:t>
                            </m:r>
                          </m:sub>
                        </m:sSub>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𝛽</m:t>
                            </m:r>
                          </m:e>
                          <m:sub>
                            <m:r>
                              <a:rPr lang="fr-FR" i="1">
                                <a:latin typeface="Cambria Math" panose="02040503050406030204" pitchFamily="18" charset="0"/>
                                <a:ea typeface="Cambria Math" panose="02040503050406030204" pitchFamily="18" charset="0"/>
                              </a:rPr>
                              <m:t>1</m:t>
                            </m:r>
                          </m:sub>
                        </m:sSub>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𝑥</m:t>
                            </m:r>
                          </m:e>
                          <m:sub>
                            <m:r>
                              <a:rPr lang="fr-FR" i="1">
                                <a:latin typeface="Cambria Math" panose="02040503050406030204" pitchFamily="18" charset="0"/>
                                <a:ea typeface="Cambria Math" panose="02040503050406030204" pitchFamily="18" charset="0"/>
                              </a:rPr>
                              <m:t>1</m:t>
                            </m:r>
                          </m:sub>
                        </m:sSub>
                        <m:r>
                          <a:rPr lang="fr-FR" i="1">
                            <a:latin typeface="Cambria Math" panose="02040503050406030204" pitchFamily="18" charset="0"/>
                            <a:ea typeface="Cambria Math" panose="02040503050406030204" pitchFamily="18" charset="0"/>
                          </a:rPr>
                          <m:t>+ …+</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𝛽</m:t>
                            </m:r>
                          </m:e>
                          <m:sub>
                            <m:r>
                              <a:rPr lang="fr-FR" i="1">
                                <a:latin typeface="Cambria Math" panose="02040503050406030204" pitchFamily="18" charset="0"/>
                                <a:ea typeface="Cambria Math" panose="02040503050406030204" pitchFamily="18" charset="0"/>
                              </a:rPr>
                              <m:t>𝑝</m:t>
                            </m:r>
                          </m:sub>
                        </m:sSub>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𝑥</m:t>
                            </m:r>
                          </m:e>
                          <m:sub>
                            <m:r>
                              <a:rPr lang="fr-FR" i="1">
                                <a:latin typeface="Cambria Math" panose="02040503050406030204" pitchFamily="18" charset="0"/>
                                <a:ea typeface="Cambria Math" panose="02040503050406030204" pitchFamily="18" charset="0"/>
                              </a:rPr>
                              <m:t>𝑝</m:t>
                            </m:r>
                          </m:sub>
                        </m:sSub>
                      </m:oMath>
                    </m:oMathPara>
                  </a14:m>
                  <a:endParaRPr lang="fr-FR" sz="2100" dirty="0"/>
                </a:p>
              </p:txBody>
            </p:sp>
          </mc:Choice>
          <mc:Fallback xmlns="">
            <p:sp>
              <p:nvSpPr>
                <p:cNvPr id="2" name="ZoneTexte 1">
                  <a:extLst>
                    <a:ext uri="{FF2B5EF4-FFF2-40B4-BE49-F238E27FC236}">
                      <a16:creationId xmlns:a16="http://schemas.microsoft.com/office/drawing/2014/main" id="{61B40AA6-7976-A069-355E-E9598010DC0A}"/>
                    </a:ext>
                  </a:extLst>
                </p:cNvPr>
                <p:cNvSpPr txBox="1">
                  <a:spLocks noRot="1" noChangeAspect="1" noMove="1" noResize="1" noEditPoints="1" noAdjustHandles="1" noChangeArrowheads="1" noChangeShapeType="1" noTextEdit="1"/>
                </p:cNvSpPr>
                <p:nvPr/>
              </p:nvSpPr>
              <p:spPr>
                <a:xfrm>
                  <a:off x="2124219" y="4136536"/>
                  <a:ext cx="7033850" cy="829800"/>
                </a:xfrm>
                <a:prstGeom prst="rect">
                  <a:avLst/>
                </a:prstGeom>
                <a:blipFill>
                  <a:blip r:embed="rId3"/>
                  <a:stretch>
                    <a:fillRect/>
                  </a:stretch>
                </a:blipFill>
              </p:spPr>
              <p:txBody>
                <a:bodyPr/>
                <a:lstStyle/>
                <a:p>
                  <a:r>
                    <a:rPr lang="fr-FR">
                      <a:noFill/>
                    </a:rPr>
                    <a:t> </a:t>
                  </a:r>
                </a:p>
              </p:txBody>
            </p:sp>
          </mc:Fallback>
        </mc:AlternateContent>
        <p:sp>
          <p:nvSpPr>
            <p:cNvPr id="3" name="ZoneTexte 2">
              <a:extLst>
                <a:ext uri="{FF2B5EF4-FFF2-40B4-BE49-F238E27FC236}">
                  <a16:creationId xmlns:a16="http://schemas.microsoft.com/office/drawing/2014/main" id="{5B5F1D2C-856C-EDEC-1836-DA8B203E2A41}"/>
                </a:ext>
              </a:extLst>
            </p:cNvPr>
            <p:cNvSpPr txBox="1"/>
            <p:nvPr/>
          </p:nvSpPr>
          <p:spPr>
            <a:xfrm>
              <a:off x="4965895" y="3684756"/>
              <a:ext cx="1378633" cy="400109"/>
            </a:xfrm>
            <a:prstGeom prst="rect">
              <a:avLst/>
            </a:prstGeom>
            <a:noFill/>
          </p:spPr>
          <p:txBody>
            <a:bodyPr wrap="square" rtlCol="0">
              <a:spAutoFit/>
            </a:bodyPr>
            <a:lstStyle/>
            <a:p>
              <a:r>
                <a:rPr lang="fr-FR" sz="1350" dirty="0"/>
                <a:t>événement</a:t>
              </a:r>
            </a:p>
          </p:txBody>
        </p:sp>
        <p:cxnSp>
          <p:nvCxnSpPr>
            <p:cNvPr id="7" name="Connecteur droit 6">
              <a:extLst>
                <a:ext uri="{FF2B5EF4-FFF2-40B4-BE49-F238E27FC236}">
                  <a16:creationId xmlns:a16="http://schemas.microsoft.com/office/drawing/2014/main" id="{98BAFCDE-9478-B08C-FF93-CA2265225F77}"/>
                </a:ext>
              </a:extLst>
            </p:cNvPr>
            <p:cNvCxnSpPr>
              <a:cxnSpLocks/>
              <a:stCxn id="3" idx="1"/>
            </p:cNvCxnSpPr>
            <p:nvPr/>
          </p:nvCxnSpPr>
          <p:spPr>
            <a:xfrm flipH="1">
              <a:off x="4276576" y="3884811"/>
              <a:ext cx="689319" cy="279528"/>
            </a:xfrm>
            <a:prstGeom prst="line">
              <a:avLst/>
            </a:prstGeom>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563DE562-7396-6FF9-F3C5-189EAFC0D578}"/>
                </a:ext>
              </a:extLst>
            </p:cNvPr>
            <p:cNvSpPr txBox="1"/>
            <p:nvPr/>
          </p:nvSpPr>
          <p:spPr>
            <a:xfrm>
              <a:off x="4597790" y="5168424"/>
              <a:ext cx="1378633" cy="677108"/>
            </a:xfrm>
            <a:prstGeom prst="rect">
              <a:avLst/>
            </a:prstGeom>
            <a:noFill/>
          </p:spPr>
          <p:txBody>
            <a:bodyPr wrap="square" rtlCol="0">
              <a:spAutoFit/>
            </a:bodyPr>
            <a:lstStyle/>
            <a:p>
              <a:r>
                <a:rPr lang="fr-FR" sz="1350" dirty="0"/>
                <a:t>événement contraire</a:t>
              </a:r>
            </a:p>
          </p:txBody>
        </p:sp>
        <p:cxnSp>
          <p:nvCxnSpPr>
            <p:cNvPr id="11" name="Connecteur droit 10">
              <a:extLst>
                <a:ext uri="{FF2B5EF4-FFF2-40B4-BE49-F238E27FC236}">
                  <a16:creationId xmlns:a16="http://schemas.microsoft.com/office/drawing/2014/main" id="{2FD1F556-9B38-494D-5E4C-A6389DFB32CE}"/>
                </a:ext>
              </a:extLst>
            </p:cNvPr>
            <p:cNvCxnSpPr>
              <a:cxnSpLocks/>
              <a:stCxn id="10" idx="1"/>
            </p:cNvCxnSpPr>
            <p:nvPr/>
          </p:nvCxnSpPr>
          <p:spPr>
            <a:xfrm flipH="1" flipV="1">
              <a:off x="4037430" y="4966379"/>
              <a:ext cx="560360" cy="5406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727F89E4-98F4-C973-EA89-FD756D08AB45}"/>
                    </a:ext>
                  </a:extLst>
                </p:cNvPr>
                <p:cNvSpPr txBox="1"/>
                <p:nvPr/>
              </p:nvSpPr>
              <p:spPr>
                <a:xfrm>
                  <a:off x="7186247" y="5284182"/>
                  <a:ext cx="2182835" cy="677108"/>
                </a:xfrm>
                <a:prstGeom prst="rect">
                  <a:avLst/>
                </a:prstGeom>
                <a:noFill/>
              </p:spPr>
              <p:txBody>
                <a:bodyPr wrap="square" rtlCol="0">
                  <a:spAutoFit/>
                </a:bodyPr>
                <a:lstStyle/>
                <a:p>
                  <a:r>
                    <a:rPr lang="fr-FR" sz="1350" dirty="0"/>
                    <a:t>une réalisation de </a:t>
                  </a:r>
                  <a14:m>
                    <m:oMath xmlns:m="http://schemas.openxmlformats.org/officeDocument/2006/math">
                      <m:r>
                        <a:rPr lang="fr-FR" sz="1350" i="1" dirty="0">
                          <a:latin typeface="Cambria Math" panose="02040503050406030204" pitchFamily="18" charset="0"/>
                        </a:rPr>
                        <m:t>𝑋</m:t>
                      </m:r>
                    </m:oMath>
                  </a14:m>
                  <a:endParaRPr lang="fr-FR" sz="1350" dirty="0"/>
                </a:p>
              </p:txBody>
            </p:sp>
          </mc:Choice>
          <mc:Fallback xmlns="">
            <p:sp>
              <p:nvSpPr>
                <p:cNvPr id="13" name="ZoneTexte 12">
                  <a:extLst>
                    <a:ext uri="{FF2B5EF4-FFF2-40B4-BE49-F238E27FC236}">
                      <a16:creationId xmlns:a16="http://schemas.microsoft.com/office/drawing/2014/main" id="{727F89E4-98F4-C973-EA89-FD756D08AB45}"/>
                    </a:ext>
                  </a:extLst>
                </p:cNvPr>
                <p:cNvSpPr txBox="1">
                  <a:spLocks noRot="1" noChangeAspect="1" noMove="1" noResize="1" noEditPoints="1" noAdjustHandles="1" noChangeArrowheads="1" noChangeShapeType="1" noTextEdit="1"/>
                </p:cNvSpPr>
                <p:nvPr/>
              </p:nvSpPr>
              <p:spPr>
                <a:xfrm>
                  <a:off x="7186247" y="5284182"/>
                  <a:ext cx="2182835" cy="677108"/>
                </a:xfrm>
                <a:prstGeom prst="rect">
                  <a:avLst/>
                </a:prstGeom>
                <a:blipFill>
                  <a:blip r:embed="rId4"/>
                  <a:stretch>
                    <a:fillRect l="-1119" t="-1205"/>
                  </a:stretch>
                </a:blipFill>
              </p:spPr>
              <p:txBody>
                <a:bodyPr/>
                <a:lstStyle/>
                <a:p>
                  <a:r>
                    <a:rPr lang="fr-FR">
                      <a:noFill/>
                    </a:rPr>
                    <a:t> </a:t>
                  </a:r>
                </a:p>
              </p:txBody>
            </p:sp>
          </mc:Fallback>
        </mc:AlternateContent>
        <p:cxnSp>
          <p:nvCxnSpPr>
            <p:cNvPr id="15" name="Connecteur droit 14">
              <a:extLst>
                <a:ext uri="{FF2B5EF4-FFF2-40B4-BE49-F238E27FC236}">
                  <a16:creationId xmlns:a16="http://schemas.microsoft.com/office/drawing/2014/main" id="{6BFFF0D4-945C-A3A6-F522-37229BD0D14B}"/>
                </a:ext>
              </a:extLst>
            </p:cNvPr>
            <p:cNvCxnSpPr>
              <a:cxnSpLocks/>
              <a:stCxn id="13" idx="1"/>
            </p:cNvCxnSpPr>
            <p:nvPr/>
          </p:nvCxnSpPr>
          <p:spPr>
            <a:xfrm flipH="1" flipV="1">
              <a:off x="6639951" y="4835583"/>
              <a:ext cx="546296" cy="787154"/>
            </a:xfrm>
            <a:prstGeom prst="line">
              <a:avLst/>
            </a:prstGeom>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CFB2F873-27D0-7556-677D-8F7617C8EBB2}"/>
                </a:ext>
              </a:extLst>
            </p:cNvPr>
            <p:cNvSpPr txBox="1"/>
            <p:nvPr/>
          </p:nvSpPr>
          <p:spPr>
            <a:xfrm>
              <a:off x="6536790" y="3795007"/>
              <a:ext cx="1378633" cy="400109"/>
            </a:xfrm>
            <a:prstGeom prst="rect">
              <a:avLst/>
            </a:prstGeom>
            <a:noFill/>
          </p:spPr>
          <p:txBody>
            <a:bodyPr wrap="square" rtlCol="0">
              <a:spAutoFit/>
            </a:bodyPr>
            <a:lstStyle/>
            <a:p>
              <a:r>
                <a:rPr lang="fr-FR" sz="1350" dirty="0"/>
                <a:t>coefficient</a:t>
              </a:r>
            </a:p>
          </p:txBody>
        </p:sp>
        <p:cxnSp>
          <p:nvCxnSpPr>
            <p:cNvPr id="19" name="Connecteur droit 18">
              <a:extLst>
                <a:ext uri="{FF2B5EF4-FFF2-40B4-BE49-F238E27FC236}">
                  <a16:creationId xmlns:a16="http://schemas.microsoft.com/office/drawing/2014/main" id="{8573B146-1E46-9974-7554-685F060BF3F2}"/>
                </a:ext>
              </a:extLst>
            </p:cNvPr>
            <p:cNvCxnSpPr>
              <a:cxnSpLocks/>
              <a:stCxn id="18" idx="1"/>
            </p:cNvCxnSpPr>
            <p:nvPr/>
          </p:nvCxnSpPr>
          <p:spPr>
            <a:xfrm flipH="1">
              <a:off x="5655214" y="3995061"/>
              <a:ext cx="881576" cy="353942"/>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198337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1"/>
            <a:ext cx="6203408" cy="1363157"/>
          </a:xfrm>
        </p:spPr>
        <p:txBody>
          <a:bodyPr>
            <a:noAutofit/>
          </a:bodyPr>
          <a:lstStyle/>
          <a:p>
            <a:pPr lvl="1" algn="just">
              <a:lnSpc>
                <a:spcPct val="150000"/>
              </a:lnSpc>
              <a:buClr>
                <a:schemeClr val="accent2"/>
              </a:buClr>
            </a:pPr>
            <a:r>
              <a:rPr lang="fr-FR" sz="1350" dirty="0"/>
              <a:t>Cette probabilité est modélisée par une courbe appellée « courbe sigmoide », bornée par 0 et 1 puisqu’une probabilité est bornée entre 0 et 1.</a:t>
            </a:r>
          </a:p>
          <a:p>
            <a:pPr lvl="1" algn="just">
              <a:lnSpc>
                <a:spcPct val="150000"/>
              </a:lnSpc>
              <a:buClr>
                <a:schemeClr val="accent2"/>
              </a:buClr>
            </a:pPr>
            <a:r>
              <a:rPr lang="fr-FR" sz="1350" dirty="0"/>
              <a:t>Cette courbe est définie par la fonction logistique que nous avons présenté précédemment.</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101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Régression logistique : </a:t>
            </a:r>
            <a:r>
              <a:rPr lang="fr-FR" sz="2100" b="0" dirty="0"/>
              <a:t>fonction sigmoïde</a:t>
            </a:r>
          </a:p>
        </p:txBody>
      </p:sp>
      <p:grpSp>
        <p:nvGrpSpPr>
          <p:cNvPr id="6" name="Groupe 5">
            <a:extLst>
              <a:ext uri="{FF2B5EF4-FFF2-40B4-BE49-F238E27FC236}">
                <a16:creationId xmlns:a16="http://schemas.microsoft.com/office/drawing/2014/main" id="{DBF2E36C-4173-456E-B38F-48CB733DDB67}"/>
              </a:ext>
            </a:extLst>
          </p:cNvPr>
          <p:cNvGrpSpPr/>
          <p:nvPr/>
        </p:nvGrpSpPr>
        <p:grpSpPr>
          <a:xfrm>
            <a:off x="2773478" y="3021758"/>
            <a:ext cx="3399502" cy="1882425"/>
            <a:chOff x="3392556" y="3736656"/>
            <a:chExt cx="4838083" cy="2802256"/>
          </a:xfrm>
        </p:grpSpPr>
        <p:pic>
          <p:nvPicPr>
            <p:cNvPr id="16" name="Image 15">
              <a:extLst>
                <a:ext uri="{FF2B5EF4-FFF2-40B4-BE49-F238E27FC236}">
                  <a16:creationId xmlns:a16="http://schemas.microsoft.com/office/drawing/2014/main" id="{50334A22-77DF-4ABA-BE80-58AA5AA2B662}"/>
                </a:ext>
              </a:extLst>
            </p:cNvPr>
            <p:cNvPicPr>
              <a:picLocks noChangeAspect="1"/>
            </p:cNvPicPr>
            <p:nvPr/>
          </p:nvPicPr>
          <p:blipFill>
            <a:blip r:embed="rId2"/>
            <a:stretch>
              <a:fillRect/>
            </a:stretch>
          </p:blipFill>
          <p:spPr>
            <a:xfrm>
              <a:off x="3392556" y="3736656"/>
              <a:ext cx="4838083" cy="2802256"/>
            </a:xfrm>
            <a:prstGeom prst="rect">
              <a:avLst/>
            </a:prstGeom>
          </p:spPr>
        </p:pic>
        <p:cxnSp>
          <p:nvCxnSpPr>
            <p:cNvPr id="5" name="Connecteur droit 4">
              <a:extLst>
                <a:ext uri="{FF2B5EF4-FFF2-40B4-BE49-F238E27FC236}">
                  <a16:creationId xmlns:a16="http://schemas.microsoft.com/office/drawing/2014/main" id="{37760B3D-F03C-4017-B451-2B072A4D6BE0}"/>
                </a:ext>
              </a:extLst>
            </p:cNvPr>
            <p:cNvCxnSpPr/>
            <p:nvPr/>
          </p:nvCxnSpPr>
          <p:spPr>
            <a:xfrm>
              <a:off x="3601941" y="5184250"/>
              <a:ext cx="4540195"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4104323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42733" cy="3098529"/>
              </a:xfrm>
            </p:spPr>
            <p:txBody>
              <a:bodyPr>
                <a:noAutofit/>
              </a:bodyPr>
              <a:lstStyle/>
              <a:p>
                <a:pPr lvl="1" algn="just">
                  <a:lnSpc>
                    <a:spcPct val="150000"/>
                  </a:lnSpc>
                  <a:buClr>
                    <a:schemeClr val="accent2"/>
                  </a:buClr>
                </a:pPr>
                <a:r>
                  <a:rPr lang="fr-FR" sz="1350" b="1" dirty="0"/>
                  <a:t>Odds Ratio : </a:t>
                </a:r>
                <a:r>
                  <a:rPr lang="fr-FR" sz="1350" dirty="0"/>
                  <a:t>ou rapport des cotes, est le rapport de deux probabilités complémentaires : la probabilité </a:t>
                </a:r>
                <a14:m>
                  <m:oMath xmlns:m="http://schemas.openxmlformats.org/officeDocument/2006/math">
                    <m:r>
                      <a:rPr lang="fr-FR" sz="1350" i="1" dirty="0">
                        <a:latin typeface="Cambria Math" panose="02040503050406030204" pitchFamily="18" charset="0"/>
                      </a:rPr>
                      <m:t>𝑃</m:t>
                    </m:r>
                  </m:oMath>
                </a14:m>
                <a:r>
                  <a:rPr lang="fr-FR" sz="1350" dirty="0"/>
                  <a:t> de survenue d’un événement (risque), divisé par la probabilité (</a:t>
                </a:r>
                <a14:m>
                  <m:oMath xmlns:m="http://schemas.openxmlformats.org/officeDocument/2006/math">
                    <m:r>
                      <a:rPr lang="fr-FR" sz="1350" i="1" dirty="0">
                        <a:latin typeface="Cambria Math" panose="02040503050406030204" pitchFamily="18" charset="0"/>
                      </a:rPr>
                      <m:t>1−</m:t>
                    </m:r>
                    <m:r>
                      <a:rPr lang="fr-FR" sz="1350" i="1" dirty="0">
                        <a:latin typeface="Cambria Math" panose="02040503050406030204" pitchFamily="18" charset="0"/>
                      </a:rPr>
                      <m:t>𝑃</m:t>
                    </m:r>
                  </m:oMath>
                </a14:m>
                <a:r>
                  <a:rPr lang="fr-FR" sz="1350" dirty="0"/>
                  <a:t>) que cet événement ne survienne pas (non risque, c’est-à-dire sans l’événement).</a:t>
                </a:r>
              </a:p>
              <a:p>
                <a:pPr lvl="1" algn="just">
                  <a:lnSpc>
                    <a:spcPct val="150000"/>
                  </a:lnSpc>
                  <a:buClr>
                    <a:schemeClr val="accent2"/>
                  </a:buClr>
                </a:pPr>
                <a:endParaRPr lang="fr-FR" sz="1350" b="1" i="1" dirty="0"/>
              </a:p>
              <a:p>
                <a:pPr lvl="1" algn="just">
                  <a:lnSpc>
                    <a:spcPct val="150000"/>
                  </a:lnSpc>
                  <a:buClr>
                    <a:schemeClr val="accent2"/>
                  </a:buClr>
                </a:pPr>
                <a:r>
                  <a:rPr lang="fr-FR" sz="1350" b="1" i="1" dirty="0"/>
                  <a:t>Regarder le signe : </a:t>
                </a:r>
              </a:p>
              <a:p>
                <a:pPr lvl="2" algn="just">
                  <a:lnSpc>
                    <a:spcPct val="150000"/>
                  </a:lnSpc>
                  <a:buClr>
                    <a:schemeClr val="accent2"/>
                  </a:buClr>
                </a:pPr>
                <a:r>
                  <a:rPr lang="fr-FR" sz="1200" dirty="0"/>
                  <a:t>si </a:t>
                </a:r>
                <a:r>
                  <a:rPr lang="fr-FR" sz="1200" b="1" dirty="0">
                    <a:solidFill>
                      <a:srgbClr val="FF0000"/>
                    </a:solidFill>
                  </a:rPr>
                  <a:t>+</a:t>
                </a:r>
                <a:r>
                  <a:rPr lang="fr-FR" sz="1200" dirty="0"/>
                  <a:t> alors la variable </a:t>
                </a:r>
                <a14:m>
                  <m:oMath xmlns:m="http://schemas.openxmlformats.org/officeDocument/2006/math">
                    <m:r>
                      <a:rPr lang="fr-FR" sz="1200" i="1" dirty="0">
                        <a:latin typeface="Cambria Math" panose="02040503050406030204" pitchFamily="18" charset="0"/>
                      </a:rPr>
                      <m:t>𝑥</m:t>
                    </m:r>
                  </m:oMath>
                </a14:m>
                <a:r>
                  <a:rPr lang="fr-FR" sz="1200" dirty="0"/>
                  <a:t> augmente le risque de maladie par exemple. </a:t>
                </a:r>
              </a:p>
              <a:p>
                <a:pPr lvl="2" algn="just">
                  <a:lnSpc>
                    <a:spcPct val="150000"/>
                  </a:lnSpc>
                  <a:buClr>
                    <a:schemeClr val="accent2"/>
                  </a:buClr>
                </a:pPr>
                <a:r>
                  <a:rPr lang="fr-FR" sz="1200" dirty="0"/>
                  <a:t>Si </a:t>
                </a:r>
                <a:r>
                  <a:rPr lang="fr-FR" sz="1200" b="1" dirty="0">
                    <a:solidFill>
                      <a:srgbClr val="FF0000"/>
                    </a:solidFill>
                  </a:rPr>
                  <a:t>– </a:t>
                </a:r>
                <a:r>
                  <a:rPr lang="fr-FR" sz="1200" dirty="0"/>
                  <a:t>alors, on a moins de chance d’être malade.</a:t>
                </a:r>
              </a:p>
              <a:p>
                <a:pPr lvl="2" algn="just">
                  <a:lnSpc>
                    <a:spcPct val="150000"/>
                  </a:lnSpc>
                  <a:buClr>
                    <a:schemeClr val="accent2"/>
                  </a:buClr>
                </a:pPr>
                <a:endParaRPr lang="fr-FR" sz="1200" dirty="0"/>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42733" cy="3098529"/>
              </a:xfrm>
              <a:blipFill>
                <a:blip r:embed="rId2"/>
                <a:stretch>
                  <a:fillRect r="-1775"/>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102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629466" cy="413741"/>
          </a:xfrm>
        </p:spPr>
        <p:txBody>
          <a:bodyPr>
            <a:noAutofit/>
          </a:bodyPr>
          <a:lstStyle/>
          <a:p>
            <a:r>
              <a:rPr lang="fr-FR" sz="2100" dirty="0"/>
              <a:t>Régression logistique : </a:t>
            </a:r>
            <a:r>
              <a:rPr lang="fr-FR" sz="2100" b="0" dirty="0"/>
              <a:t>interprétation des métriques</a:t>
            </a:r>
          </a:p>
        </p:txBody>
      </p:sp>
    </p:spTree>
    <p:extLst>
      <p:ext uri="{BB962C8B-B14F-4D97-AF65-F5344CB8AC3E}">
        <p14:creationId xmlns:p14="http://schemas.microsoft.com/office/powerpoint/2010/main" val="4599675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42733" cy="3098529"/>
          </a:xfrm>
        </p:spPr>
        <p:txBody>
          <a:bodyPr>
            <a:noAutofit/>
          </a:bodyPr>
          <a:lstStyle/>
          <a:p>
            <a:pPr lvl="1" algn="just">
              <a:lnSpc>
                <a:spcPct val="150000"/>
              </a:lnSpc>
              <a:buClr>
                <a:schemeClr val="accent2"/>
              </a:buClr>
            </a:pPr>
            <a:r>
              <a:rPr lang="fr-FR" sz="1350" dirty="0"/>
              <a:t>Si </a:t>
            </a:r>
            <a:r>
              <a:rPr lang="fr-FR" sz="1350" b="1" dirty="0"/>
              <a:t>Odds Ratio </a:t>
            </a:r>
            <a:r>
              <a:rPr lang="fr-FR" sz="1350" b="1" dirty="0">
                <a:solidFill>
                  <a:srgbClr val="FF0000"/>
                </a:solidFill>
              </a:rPr>
              <a:t>&gt;1</a:t>
            </a:r>
            <a:r>
              <a:rPr lang="fr-FR" sz="1350" b="1" dirty="0"/>
              <a:t>, </a:t>
            </a:r>
            <a:r>
              <a:rPr lang="fr-FR" sz="1350" dirty="0"/>
              <a:t>alors on a plus de chances d’être positif parmi le groupe exposé (cancer = 1) par rapport au groupe témoin (cancer = 0).</a:t>
            </a:r>
          </a:p>
          <a:p>
            <a:pPr lvl="1" algn="just">
              <a:lnSpc>
                <a:spcPct val="150000"/>
              </a:lnSpc>
              <a:buClr>
                <a:schemeClr val="accent2"/>
              </a:buClr>
            </a:pPr>
            <a:r>
              <a:rPr lang="fr-FR" sz="1350" dirty="0"/>
              <a:t>Si </a:t>
            </a:r>
            <a:r>
              <a:rPr lang="fr-FR" sz="1350" b="1" dirty="0"/>
              <a:t>Odds Ratio </a:t>
            </a:r>
            <a:r>
              <a:rPr lang="fr-FR" sz="1350" b="1" dirty="0">
                <a:solidFill>
                  <a:srgbClr val="FF0000"/>
                </a:solidFill>
              </a:rPr>
              <a:t>=1</a:t>
            </a:r>
            <a:r>
              <a:rPr lang="fr-FR" sz="1350" b="1" dirty="0"/>
              <a:t>, </a:t>
            </a:r>
            <a:r>
              <a:rPr lang="fr-FR" sz="1350" dirty="0"/>
              <a:t>alors on a autant de chances d’être positif dans un groupe, comme dans l’autre.</a:t>
            </a:r>
          </a:p>
          <a:p>
            <a:pPr lvl="1" algn="just">
              <a:lnSpc>
                <a:spcPct val="150000"/>
              </a:lnSpc>
              <a:buClr>
                <a:schemeClr val="accent2"/>
              </a:buClr>
            </a:pPr>
            <a:r>
              <a:rPr lang="fr-FR" sz="1350" dirty="0"/>
              <a:t>Si </a:t>
            </a:r>
            <a:r>
              <a:rPr lang="fr-FR" sz="1350" b="1" dirty="0"/>
              <a:t>Odds Ratio </a:t>
            </a:r>
            <a:r>
              <a:rPr lang="fr-FR" sz="1350" b="1" dirty="0">
                <a:solidFill>
                  <a:srgbClr val="FF0000"/>
                </a:solidFill>
              </a:rPr>
              <a:t>&lt;1</a:t>
            </a:r>
            <a:r>
              <a:rPr lang="fr-FR" sz="1350" b="1" dirty="0"/>
              <a:t>, </a:t>
            </a:r>
            <a:r>
              <a:rPr lang="fr-FR" sz="1350" dirty="0"/>
              <a:t>alors on a moins de chances d’être positif parmi le groupe exposé (cancer = 1) par rapport au groupe témoin (cancer = 0).</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103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520465" cy="413741"/>
          </a:xfrm>
        </p:spPr>
        <p:txBody>
          <a:bodyPr>
            <a:noAutofit/>
          </a:bodyPr>
          <a:lstStyle/>
          <a:p>
            <a:r>
              <a:rPr lang="fr-FR" sz="2100" dirty="0"/>
              <a:t>Régression logistique : </a:t>
            </a:r>
            <a:r>
              <a:rPr lang="fr-FR" sz="2100" b="0" dirty="0"/>
              <a:t>interprétation des métriques</a:t>
            </a:r>
          </a:p>
        </p:txBody>
      </p:sp>
    </p:spTree>
    <p:extLst>
      <p:ext uri="{BB962C8B-B14F-4D97-AF65-F5344CB8AC3E}">
        <p14:creationId xmlns:p14="http://schemas.microsoft.com/office/powerpoint/2010/main" val="238380708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42733" cy="516343"/>
          </a:xfrm>
        </p:spPr>
        <p:txBody>
          <a:bodyPr>
            <a:noAutofit/>
          </a:bodyPr>
          <a:lstStyle/>
          <a:p>
            <a:pPr lvl="1" algn="just">
              <a:lnSpc>
                <a:spcPct val="150000"/>
              </a:lnSpc>
              <a:buClr>
                <a:schemeClr val="accent2"/>
              </a:buClr>
            </a:pPr>
            <a:r>
              <a:rPr lang="fr-FR" sz="1350" b="1" dirty="0"/>
              <a:t>Odds Ratio :</a:t>
            </a:r>
            <a:endParaRPr lang="fr-FR" sz="1350" dirty="0"/>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104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532576" cy="413741"/>
          </a:xfrm>
        </p:spPr>
        <p:txBody>
          <a:bodyPr>
            <a:noAutofit/>
          </a:bodyPr>
          <a:lstStyle/>
          <a:p>
            <a:r>
              <a:rPr lang="fr-FR" sz="2100" dirty="0"/>
              <a:t>Régression logistique : </a:t>
            </a:r>
            <a:r>
              <a:rPr lang="fr-FR" sz="2100" b="0" dirty="0"/>
              <a:t>interprétation des métriques</a:t>
            </a: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41A55FD8-6DED-4405-8307-49AD09806F72}"/>
                  </a:ext>
                </a:extLst>
              </p:cNvPr>
              <p:cNvSpPr txBox="1"/>
              <p:nvPr/>
            </p:nvSpPr>
            <p:spPr>
              <a:xfrm>
                <a:off x="746911" y="2432348"/>
                <a:ext cx="3931277" cy="535403"/>
              </a:xfrm>
              <a:prstGeom prst="rect">
                <a:avLst/>
              </a:prstGeom>
              <a:noFill/>
            </p:spPr>
            <p:txBody>
              <a:bodyPr wrap="square">
                <a:spAutoFit/>
              </a:bodyPr>
              <a:lstStyle/>
              <a:p>
                <a14:m>
                  <m:oMath xmlns:m="http://schemas.openxmlformats.org/officeDocument/2006/math">
                    <m:func>
                      <m:funcPr>
                        <m:ctrlPr>
                          <a:rPr lang="fr-FR" i="1">
                            <a:latin typeface="Cambria Math" panose="02040503050406030204" pitchFamily="18" charset="0"/>
                          </a:rPr>
                        </m:ctrlPr>
                      </m:funcPr>
                      <m:fName>
                        <m:r>
                          <m:rPr>
                            <m:sty m:val="p"/>
                          </m:rPr>
                          <a:rPr lang="fr-FR">
                            <a:latin typeface="Cambria Math" panose="02040503050406030204" pitchFamily="18" charset="0"/>
                          </a:rPr>
                          <m:t>log</m:t>
                        </m:r>
                      </m:fName>
                      <m:e>
                        <m:d>
                          <m:dPr>
                            <m:ctrlPr>
                              <a:rPr lang="fr-FR" i="1">
                                <a:latin typeface="Cambria Math" panose="02040503050406030204" pitchFamily="18" charset="0"/>
                              </a:rPr>
                            </m:ctrlPr>
                          </m:dPr>
                          <m:e>
                            <m:f>
                              <m:fPr>
                                <m:ctrlPr>
                                  <a:rPr lang="pt-BR" i="1">
                                    <a:latin typeface="Cambria Math" panose="02040503050406030204" pitchFamily="18" charset="0"/>
                                  </a:rPr>
                                </m:ctrlPr>
                              </m:fPr>
                              <m:num>
                                <m:r>
                                  <a:rPr lang="fr-FR" i="1">
                                    <a:latin typeface="Cambria Math" panose="02040503050406030204" pitchFamily="18" charset="0"/>
                                  </a:rPr>
                                  <m:t>𝑝</m:t>
                                </m:r>
                                <m:d>
                                  <m:dPr>
                                    <m:ctrlPr>
                                      <a:rPr lang="fr-FR" i="1">
                                        <a:latin typeface="Cambria Math" panose="02040503050406030204" pitchFamily="18" charset="0"/>
                                      </a:rPr>
                                    </m:ctrlPr>
                                  </m:dPr>
                                  <m:e>
                                    <m:r>
                                      <a:rPr lang="fr-FR" i="1">
                                        <a:latin typeface="Cambria Math" panose="02040503050406030204" pitchFamily="18" charset="0"/>
                                      </a:rPr>
                                      <m:t>𝑥</m:t>
                                    </m:r>
                                  </m:e>
                                </m:d>
                              </m:num>
                              <m:den>
                                <m:r>
                                  <a:rPr lang="fr-FR" i="1">
                                    <a:latin typeface="Cambria Math" panose="02040503050406030204" pitchFamily="18" charset="0"/>
                                  </a:rPr>
                                  <m:t>1−</m:t>
                                </m:r>
                                <m:r>
                                  <a:rPr lang="fr-FR" i="1">
                                    <a:latin typeface="Cambria Math" panose="02040503050406030204" pitchFamily="18" charset="0"/>
                                  </a:rPr>
                                  <m:t>𝑝</m:t>
                                </m:r>
                                <m:d>
                                  <m:dPr>
                                    <m:ctrlPr>
                                      <a:rPr lang="fr-FR" i="1">
                                        <a:latin typeface="Cambria Math" panose="02040503050406030204" pitchFamily="18" charset="0"/>
                                      </a:rPr>
                                    </m:ctrlPr>
                                  </m:dPr>
                                  <m:e>
                                    <m:r>
                                      <a:rPr lang="fr-FR" i="1">
                                        <a:latin typeface="Cambria Math" panose="02040503050406030204" pitchFamily="18" charset="0"/>
                                      </a:rPr>
                                      <m:t>𝑥</m:t>
                                    </m:r>
                                  </m:e>
                                </m:d>
                              </m:den>
                            </m:f>
                          </m:e>
                        </m:d>
                      </m:e>
                    </m:func>
                    <m:r>
                      <a:rPr lang="fr-FR" i="1">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𝛽</m:t>
                        </m:r>
                      </m:e>
                      <m:sub>
                        <m:r>
                          <a:rPr lang="fr-FR" i="1">
                            <a:latin typeface="Cambria Math" panose="02040503050406030204" pitchFamily="18" charset="0"/>
                          </a:rPr>
                          <m:t>0</m:t>
                        </m:r>
                      </m:sub>
                    </m:sSub>
                    <m:r>
                      <a:rPr lang="fr-FR" i="1">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𝛽</m:t>
                        </m:r>
                      </m:e>
                      <m:sub>
                        <m:r>
                          <a:rPr lang="fr-FR" i="1">
                            <a:latin typeface="Cambria Math" panose="02040503050406030204" pitchFamily="18" charset="0"/>
                          </a:rPr>
                          <m:t>1</m:t>
                        </m:r>
                      </m:sub>
                    </m:sSub>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𝑥</m:t>
                        </m:r>
                      </m:e>
                      <m:sub>
                        <m:r>
                          <a:rPr lang="fr-FR" i="1">
                            <a:latin typeface="Cambria Math" panose="02040503050406030204" pitchFamily="18" charset="0"/>
                          </a:rPr>
                          <m:t>1</m:t>
                        </m:r>
                      </m:sub>
                    </m:sSub>
                    <m:r>
                      <a:rPr lang="fr-FR" i="1">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𝛽</m:t>
                        </m:r>
                      </m:e>
                      <m:sub>
                        <m:r>
                          <a:rPr lang="fr-FR" i="1">
                            <a:latin typeface="Cambria Math" panose="02040503050406030204" pitchFamily="18" charset="0"/>
                          </a:rPr>
                          <m:t>𝑝</m:t>
                        </m:r>
                      </m:sub>
                    </m:sSub>
                  </m:oMath>
                </a14:m>
                <a:r>
                  <a:rPr lang="fr-FR" dirty="0">
                    <a:solidFill>
                      <a:srgbClr val="836967"/>
                    </a:solidFill>
                  </a:rPr>
                  <a:t> </a:t>
                </a:r>
                <a14:m>
                  <m:oMath xmlns:m="http://schemas.openxmlformats.org/officeDocument/2006/math">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𝑥</m:t>
                        </m:r>
                      </m:e>
                      <m:sub>
                        <m:r>
                          <a:rPr lang="fr-FR" i="1">
                            <a:latin typeface="Cambria Math" panose="02040503050406030204" pitchFamily="18" charset="0"/>
                          </a:rPr>
                          <m:t>𝑝</m:t>
                        </m:r>
                      </m:sub>
                    </m:sSub>
                  </m:oMath>
                </a14:m>
                <a:endParaRPr lang="fr-FR" dirty="0"/>
              </a:p>
            </p:txBody>
          </p:sp>
        </mc:Choice>
        <mc:Fallback xmlns="">
          <p:sp>
            <p:nvSpPr>
              <p:cNvPr id="5" name="ZoneTexte 4">
                <a:extLst>
                  <a:ext uri="{FF2B5EF4-FFF2-40B4-BE49-F238E27FC236}">
                    <a16:creationId xmlns:a16="http://schemas.microsoft.com/office/drawing/2014/main" id="{41A55FD8-6DED-4405-8307-49AD09806F72}"/>
                  </a:ext>
                </a:extLst>
              </p:cNvPr>
              <p:cNvSpPr txBox="1">
                <a:spLocks noRot="1" noChangeAspect="1" noMove="1" noResize="1" noEditPoints="1" noAdjustHandles="1" noChangeArrowheads="1" noChangeShapeType="1" noTextEdit="1"/>
              </p:cNvSpPr>
              <p:nvPr/>
            </p:nvSpPr>
            <p:spPr>
              <a:xfrm>
                <a:off x="746911" y="2432348"/>
                <a:ext cx="3931277" cy="535403"/>
              </a:xfrm>
              <a:prstGeom prst="rect">
                <a:avLst/>
              </a:prstGeom>
              <a:blipFill>
                <a:blip r:embed="rId2"/>
                <a:stretch>
                  <a:fillRect l="-466" b="-2273"/>
                </a:stretch>
              </a:blipFill>
            </p:spPr>
            <p:txBody>
              <a:bodyPr/>
              <a:lstStyle/>
              <a:p>
                <a:r>
                  <a:rPr lang="fr-FR">
                    <a:noFill/>
                  </a:rPr>
                  <a:t> </a:t>
                </a:r>
              </a:p>
            </p:txBody>
          </p:sp>
        </mc:Fallback>
      </mc:AlternateContent>
      <p:sp>
        <p:nvSpPr>
          <p:cNvPr id="6" name="Légende : encadrée sans bordure 5">
            <a:extLst>
              <a:ext uri="{FF2B5EF4-FFF2-40B4-BE49-F238E27FC236}">
                <a16:creationId xmlns:a16="http://schemas.microsoft.com/office/drawing/2014/main" id="{5CB78458-5F34-4C67-A1D4-93BE4A04AA94}"/>
              </a:ext>
            </a:extLst>
          </p:cNvPr>
          <p:cNvSpPr/>
          <p:nvPr/>
        </p:nvSpPr>
        <p:spPr>
          <a:xfrm>
            <a:off x="3296928" y="1802119"/>
            <a:ext cx="1381260" cy="487568"/>
          </a:xfrm>
          <a:prstGeom prst="callout1">
            <a:avLst>
              <a:gd name="adj1" fmla="val 51853"/>
              <a:gd name="adj2" fmla="val 164"/>
              <a:gd name="adj3" fmla="val 150099"/>
              <a:gd name="adj4" fmla="val -32052"/>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dirty="0">
                <a:solidFill>
                  <a:schemeClr val="tx1"/>
                </a:solidFill>
              </a:rPr>
              <a:t>Passer le coef en Exponentielle nous donne les Odds Ratio</a:t>
            </a:r>
          </a:p>
        </p:txBody>
      </p:sp>
      <mc:AlternateContent xmlns:mc="http://schemas.openxmlformats.org/markup-compatibility/2006" xmlns:a14="http://schemas.microsoft.com/office/drawing/2010/main">
        <mc:Choice Requires="a14">
          <p:sp>
            <p:nvSpPr>
              <p:cNvPr id="7" name="Légende : encadrée sans bordure 6">
                <a:extLst>
                  <a:ext uri="{FF2B5EF4-FFF2-40B4-BE49-F238E27FC236}">
                    <a16:creationId xmlns:a16="http://schemas.microsoft.com/office/drawing/2014/main" id="{C3859F26-1DE1-44EE-97DE-10EF673E504B}"/>
                  </a:ext>
                </a:extLst>
              </p:cNvPr>
              <p:cNvSpPr/>
              <p:nvPr/>
            </p:nvSpPr>
            <p:spPr>
              <a:xfrm>
                <a:off x="3378793" y="2839256"/>
                <a:ext cx="1731908" cy="557607"/>
              </a:xfrm>
              <a:prstGeom prst="callout1">
                <a:avLst>
                  <a:gd name="adj1" fmla="val 48402"/>
                  <a:gd name="adj2" fmla="val -1394"/>
                  <a:gd name="adj3" fmla="val -1526"/>
                  <a:gd name="adj4" fmla="val -25332"/>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dirty="0">
                    <a:solidFill>
                      <a:schemeClr val="tx1"/>
                    </a:solidFill>
                  </a:rPr>
                  <a:t>Passer le </a:t>
                </a:r>
                <a:r>
                  <a:rPr lang="fr-FR" sz="900" b="1" dirty="0">
                    <a:solidFill>
                      <a:schemeClr val="tx1"/>
                    </a:solidFill>
                  </a:rPr>
                  <a:t>coef</a:t>
                </a:r>
                <a:r>
                  <a:rPr lang="fr-FR" sz="900" dirty="0">
                    <a:solidFill>
                      <a:schemeClr val="tx1"/>
                    </a:solidFill>
                  </a:rPr>
                  <a:t> en </a:t>
                </a:r>
                <a:r>
                  <a:rPr lang="fr-FR" sz="900" b="1" dirty="0">
                    <a:solidFill>
                      <a:schemeClr val="tx1"/>
                    </a:solidFill>
                  </a:rPr>
                  <a:t>Exponentielle</a:t>
                </a:r>
                <a:r>
                  <a:rPr lang="fr-FR" sz="900" dirty="0">
                    <a:solidFill>
                      <a:schemeClr val="tx1"/>
                    </a:solidFill>
                  </a:rPr>
                  <a:t> indique donc que </a:t>
                </a:r>
                <a14:m>
                  <m:oMath xmlns:m="http://schemas.openxmlformats.org/officeDocument/2006/math">
                    <m:sSub>
                      <m:sSubPr>
                        <m:ctrlPr>
                          <a:rPr lang="fr-FR" sz="900" i="1">
                            <a:solidFill>
                              <a:schemeClr val="tx1"/>
                            </a:solidFill>
                            <a:latin typeface="Cambria Math" panose="02040503050406030204" pitchFamily="18" charset="0"/>
                          </a:rPr>
                        </m:ctrlPr>
                      </m:sSubPr>
                      <m:e>
                        <m:r>
                          <a:rPr lang="fr-FR" sz="900" i="1">
                            <a:solidFill>
                              <a:schemeClr val="tx1"/>
                            </a:solidFill>
                            <a:latin typeface="Cambria Math" panose="02040503050406030204" pitchFamily="18" charset="0"/>
                          </a:rPr>
                          <m:t>𝑥</m:t>
                        </m:r>
                      </m:e>
                      <m:sub>
                        <m:r>
                          <a:rPr lang="fr-FR" sz="900" i="1">
                            <a:solidFill>
                              <a:schemeClr val="tx1"/>
                            </a:solidFill>
                            <a:latin typeface="Cambria Math" panose="02040503050406030204" pitchFamily="18" charset="0"/>
                          </a:rPr>
                          <m:t>1</m:t>
                        </m:r>
                      </m:sub>
                    </m:sSub>
                  </m:oMath>
                </a14:m>
                <a:r>
                  <a:rPr lang="fr-FR" sz="900" dirty="0">
                    <a:solidFill>
                      <a:schemeClr val="tx1"/>
                    </a:solidFill>
                  </a:rPr>
                  <a:t> a </a:t>
                </a:r>
                <a14:m>
                  <m:oMath xmlns:m="http://schemas.openxmlformats.org/officeDocument/2006/math">
                    <m:r>
                      <a:rPr lang="fr-FR" sz="900" i="1">
                        <a:solidFill>
                          <a:schemeClr val="tx1"/>
                        </a:solidFill>
                        <a:latin typeface="Cambria Math" panose="02040503050406030204" pitchFamily="18" charset="0"/>
                      </a:rPr>
                      <m:t>𝑠</m:t>
                    </m:r>
                    <m:r>
                      <a:rPr lang="fr-FR" sz="900" i="1">
                        <a:solidFill>
                          <a:schemeClr val="tx1"/>
                        </a:solidFill>
                        <a:latin typeface="Cambria Math" panose="02040503050406030204" pitchFamily="18" charset="0"/>
                      </a:rPr>
                      <m:t>%</m:t>
                    </m:r>
                  </m:oMath>
                </a14:m>
                <a:r>
                  <a:rPr lang="fr-FR" sz="900" dirty="0">
                    <a:solidFill>
                      <a:schemeClr val="tx1"/>
                    </a:solidFill>
                  </a:rPr>
                  <a:t> de chances d’appartenir à Cancer = 1.</a:t>
                </a:r>
              </a:p>
            </p:txBody>
          </p:sp>
        </mc:Choice>
        <mc:Fallback xmlns="">
          <p:sp>
            <p:nvSpPr>
              <p:cNvPr id="7" name="Légende : encadrée sans bordure 6">
                <a:extLst>
                  <a:ext uri="{FF2B5EF4-FFF2-40B4-BE49-F238E27FC236}">
                    <a16:creationId xmlns:a16="http://schemas.microsoft.com/office/drawing/2014/main" id="{C3859F26-1DE1-44EE-97DE-10EF673E504B}"/>
                  </a:ext>
                </a:extLst>
              </p:cNvPr>
              <p:cNvSpPr>
                <a:spLocks noRot="1" noChangeAspect="1" noMove="1" noResize="1" noEditPoints="1" noAdjustHandles="1" noChangeArrowheads="1" noChangeShapeType="1" noTextEdit="1"/>
              </p:cNvSpPr>
              <p:nvPr/>
            </p:nvSpPr>
            <p:spPr>
              <a:xfrm>
                <a:off x="3378793" y="2839256"/>
                <a:ext cx="1731908" cy="557607"/>
              </a:xfrm>
              <a:prstGeom prst="callout1">
                <a:avLst>
                  <a:gd name="adj1" fmla="val 48402"/>
                  <a:gd name="adj2" fmla="val -1394"/>
                  <a:gd name="adj3" fmla="val -1526"/>
                  <a:gd name="adj4" fmla="val -25332"/>
                </a:avLst>
              </a:prstGeom>
              <a:blipFill>
                <a:blip r:embed="rId3"/>
                <a:stretch>
                  <a:fillRect t="-8333" r="-397143" b="-118750"/>
                </a:stretch>
              </a:blipFill>
              <a:ln w="9525"/>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 name="Content Placeholder 15">
                <a:extLst>
                  <a:ext uri="{FF2B5EF4-FFF2-40B4-BE49-F238E27FC236}">
                    <a16:creationId xmlns:a16="http://schemas.microsoft.com/office/drawing/2014/main" id="{275C5F5C-2AFF-46C6-800C-6BB2E30A5D0F}"/>
                  </a:ext>
                </a:extLst>
              </p:cNvPr>
              <p:cNvSpPr txBox="1">
                <a:spLocks/>
              </p:cNvSpPr>
              <p:nvPr/>
            </p:nvSpPr>
            <p:spPr>
              <a:xfrm>
                <a:off x="746911" y="3599447"/>
                <a:ext cx="6338175" cy="1314459"/>
              </a:xfrm>
              <a:prstGeom prst="rect">
                <a:avLst/>
              </a:prstGeom>
            </p:spPr>
            <p:txBody>
              <a:bodyPr>
                <a:noAutofit/>
              </a:bodyPr>
              <a:lstStyle>
                <a:lvl1pPr marL="228600" indent="-228600" algn="l" defTabSz="914400" rtl="0" eaLnBrk="1" latinLnBrk="0" hangingPunct="1">
                  <a:lnSpc>
                    <a:spcPct val="90000"/>
                  </a:lnSpc>
                  <a:spcBef>
                    <a:spcPts val="1000"/>
                  </a:spcBef>
                  <a:buClr>
                    <a:srgbClr val="2E7A40"/>
                  </a:buClr>
                  <a:buFont typeface="Arial" panose="020B0604020202020204" pitchFamily="34" charset="0"/>
                  <a:buChar char="•"/>
                  <a:defRPr lang="en-US" sz="2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2E7A40"/>
                  </a:buClr>
                  <a:buFont typeface="Arial" panose="020B0604020202020204" pitchFamily="34" charset="0"/>
                  <a:buChar char="•"/>
                  <a:defRPr lang="en-US" sz="20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2E7A40"/>
                  </a:buClr>
                  <a:buFont typeface="Arial" panose="020B0604020202020204" pitchFamily="34" charset="0"/>
                  <a:buChar char="•"/>
                  <a:defRPr lang="en-US" sz="18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2E7A40"/>
                  </a:buClr>
                  <a:buFont typeface="Arial" panose="020B0604020202020204" pitchFamily="34" charset="0"/>
                  <a:buChar char="•"/>
                  <a:defRPr lang="en-US" sz="160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2E7A40"/>
                  </a:buClr>
                  <a:buFont typeface="Arial" panose="020B0604020202020204" pitchFamily="34" charset="0"/>
                  <a:buChar char="•"/>
                  <a:defRPr lang="en-IN" sz="16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just">
                  <a:lnSpc>
                    <a:spcPct val="150000"/>
                  </a:lnSpc>
                  <a:buClr>
                    <a:schemeClr val="accent2"/>
                  </a:buClr>
                </a:pPr>
                <a:r>
                  <a:rPr lang="fr-FR" sz="1350" b="1" dirty="0"/>
                  <a:t>Risque relatif : </a:t>
                </a:r>
                <a:r>
                  <a:rPr lang="fr-FR" sz="1350" dirty="0"/>
                  <a:t>c’est le surcroit de chance d’être positif parmi le groupe exposé (cancer = 1) par rapport au groupe témoin (cancer = 0). L’idée est de dire que les personnes qui ont par exemple une tumeur de grande taille, ont </a:t>
                </a:r>
                <a14:m>
                  <m:oMath xmlns:m="http://schemas.openxmlformats.org/officeDocument/2006/math">
                    <m:r>
                      <a:rPr lang="fr-FR" sz="1350" i="1" dirty="0">
                        <a:solidFill>
                          <a:srgbClr val="FF0000"/>
                        </a:solidFill>
                        <a:latin typeface="Cambria Math" panose="02040503050406030204" pitchFamily="18" charset="0"/>
                      </a:rPr>
                      <m:t>𝑥</m:t>
                    </m:r>
                    <m:r>
                      <a:rPr lang="fr-FR" sz="1350" i="1" dirty="0">
                        <a:solidFill>
                          <a:srgbClr val="FF0000"/>
                        </a:solidFill>
                        <a:latin typeface="Cambria Math" panose="02040503050406030204" pitchFamily="18" charset="0"/>
                      </a:rPr>
                      <m:t>%</m:t>
                    </m:r>
                  </m:oMath>
                </a14:m>
                <a:r>
                  <a:rPr lang="fr-FR" sz="1350" dirty="0"/>
                  <a:t> de chances d’avoir un cancer.</a:t>
                </a:r>
              </a:p>
            </p:txBody>
          </p:sp>
        </mc:Choice>
        <mc:Fallback xmlns="">
          <p:sp>
            <p:nvSpPr>
              <p:cNvPr id="8" name="Content Placeholder 15">
                <a:extLst>
                  <a:ext uri="{FF2B5EF4-FFF2-40B4-BE49-F238E27FC236}">
                    <a16:creationId xmlns:a16="http://schemas.microsoft.com/office/drawing/2014/main" id="{275C5F5C-2AFF-46C6-800C-6BB2E30A5D0F}"/>
                  </a:ext>
                </a:extLst>
              </p:cNvPr>
              <p:cNvSpPr txBox="1">
                <a:spLocks noRot="1" noChangeAspect="1" noMove="1" noResize="1" noEditPoints="1" noAdjustHandles="1" noChangeArrowheads="1" noChangeShapeType="1" noTextEdit="1"/>
              </p:cNvSpPr>
              <p:nvPr/>
            </p:nvSpPr>
            <p:spPr>
              <a:xfrm>
                <a:off x="746911" y="3599447"/>
                <a:ext cx="6338175" cy="1314459"/>
              </a:xfrm>
              <a:prstGeom prst="rect">
                <a:avLst/>
              </a:prstGeom>
              <a:blipFill>
                <a:blip r:embed="rId4"/>
                <a:stretch>
                  <a:fillRect r="-289" b="-2778"/>
                </a:stretch>
              </a:blipFill>
            </p:spPr>
            <p:txBody>
              <a:bodyPr/>
              <a:lstStyle/>
              <a:p>
                <a:r>
                  <a:rPr lang="fr-FR">
                    <a:noFill/>
                  </a:rPr>
                  <a:t> </a:t>
                </a:r>
              </a:p>
            </p:txBody>
          </p:sp>
        </mc:Fallback>
      </mc:AlternateContent>
    </p:spTree>
    <p:extLst>
      <p:ext uri="{BB962C8B-B14F-4D97-AF65-F5344CB8AC3E}">
        <p14:creationId xmlns:p14="http://schemas.microsoft.com/office/powerpoint/2010/main" val="108040028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Arbre de décision</a:t>
            </a:r>
          </a:p>
        </p:txBody>
      </p:sp>
    </p:spTree>
    <p:extLst>
      <p:ext uri="{BB962C8B-B14F-4D97-AF65-F5344CB8AC3E}">
        <p14:creationId xmlns:p14="http://schemas.microsoft.com/office/powerpoint/2010/main" val="244098882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106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a:t>
            </a:r>
            <a:endParaRPr lang="fr-FR" sz="2100" b="0" dirty="0"/>
          </a:p>
        </p:txBody>
      </p:sp>
      <p:grpSp>
        <p:nvGrpSpPr>
          <p:cNvPr id="4" name="Groupe 3">
            <a:extLst>
              <a:ext uri="{FF2B5EF4-FFF2-40B4-BE49-F238E27FC236}">
                <a16:creationId xmlns:a16="http://schemas.microsoft.com/office/drawing/2014/main" id="{48F65E7A-9315-403A-B846-2A45F931AC80}"/>
              </a:ext>
            </a:extLst>
          </p:cNvPr>
          <p:cNvGrpSpPr/>
          <p:nvPr/>
        </p:nvGrpSpPr>
        <p:grpSpPr>
          <a:xfrm>
            <a:off x="2014301" y="1475096"/>
            <a:ext cx="5115398" cy="2193308"/>
            <a:chOff x="3023918" y="2394237"/>
            <a:chExt cx="5115398" cy="2193308"/>
          </a:xfrm>
        </p:grpSpPr>
        <p:sp>
          <p:nvSpPr>
            <p:cNvPr id="7" name="Freeform: Shape 32">
              <a:extLst>
                <a:ext uri="{FF2B5EF4-FFF2-40B4-BE49-F238E27FC236}">
                  <a16:creationId xmlns:a16="http://schemas.microsoft.com/office/drawing/2014/main" id="{F97DEF86-E54F-4BED-90EF-E6F57C1FD917}"/>
                </a:ext>
              </a:extLst>
            </p:cNvPr>
            <p:cNvSpPr/>
            <p:nvPr/>
          </p:nvSpPr>
          <p:spPr>
            <a:xfrm>
              <a:off x="3308983" y="4204586"/>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3">
                <a:lumMod val="75000"/>
              </a:schemeClr>
            </a:solidFill>
            <a:ln w="12700">
              <a:miter lim="400000"/>
            </a:ln>
          </p:spPr>
          <p:txBody>
            <a:bodyPr wrap="square" lIns="960120" tIns="28575" rIns="28575" bIns="28575" anchor="ctr">
              <a:noAutofit/>
            </a:bodyPr>
            <a:lstStyle/>
            <a:p>
              <a:pPr>
                <a:lnSpc>
                  <a:spcPts val="1200"/>
                </a:lnSpc>
              </a:pPr>
              <a:r>
                <a:rPr lang="en-US" sz="1050" noProof="1">
                  <a:solidFill>
                    <a:srgbClr val="FFFFFF"/>
                  </a:solidFill>
                </a:rPr>
                <a:t>Code Python</a:t>
              </a:r>
            </a:p>
          </p:txBody>
        </p:sp>
        <p:sp>
          <p:nvSpPr>
            <p:cNvPr id="8" name="Freeform: Shape 30">
              <a:extLst>
                <a:ext uri="{FF2B5EF4-FFF2-40B4-BE49-F238E27FC236}">
                  <a16:creationId xmlns:a16="http://schemas.microsoft.com/office/drawing/2014/main" id="{B8EB6AED-C46B-4993-92D8-9935416D221C}"/>
                </a:ext>
              </a:extLst>
            </p:cNvPr>
            <p:cNvSpPr/>
            <p:nvPr/>
          </p:nvSpPr>
          <p:spPr>
            <a:xfrm>
              <a:off x="3308983" y="3751999"/>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5">
                <a:lumMod val="75000"/>
              </a:schemeClr>
            </a:solidFill>
            <a:ln w="12700">
              <a:miter lim="400000"/>
            </a:ln>
          </p:spPr>
          <p:txBody>
            <a:bodyPr wrap="square" lIns="1165860" tIns="28575" rIns="28575" bIns="28575" anchor="ctr">
              <a:noAutofit/>
            </a:bodyPr>
            <a:lstStyle/>
            <a:p>
              <a:pPr>
                <a:lnSpc>
                  <a:spcPts val="1200"/>
                </a:lnSpc>
              </a:pPr>
              <a:r>
                <a:rPr lang="en-US" sz="1050" noProof="1">
                  <a:solidFill>
                    <a:srgbClr val="FFFFFF"/>
                  </a:solidFill>
                </a:rPr>
                <a:t>Interprétation des résultats</a:t>
              </a:r>
            </a:p>
          </p:txBody>
        </p:sp>
        <p:sp>
          <p:nvSpPr>
            <p:cNvPr id="9" name="Freeform: Shape 28">
              <a:extLst>
                <a:ext uri="{FF2B5EF4-FFF2-40B4-BE49-F238E27FC236}">
                  <a16:creationId xmlns:a16="http://schemas.microsoft.com/office/drawing/2014/main" id="{E8BBA24B-CCB7-4A04-B895-9FA11C43E1A2}"/>
                </a:ext>
              </a:extLst>
            </p:cNvPr>
            <p:cNvSpPr/>
            <p:nvPr/>
          </p:nvSpPr>
          <p:spPr>
            <a:xfrm>
              <a:off x="3308983" y="3299411"/>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2">
                <a:lumMod val="75000"/>
              </a:schemeClr>
            </a:solidFill>
            <a:ln w="12700">
              <a:miter lim="400000"/>
            </a:ln>
          </p:spPr>
          <p:txBody>
            <a:bodyPr wrap="square" lIns="1303020" tIns="28575" rIns="28575" bIns="28575" anchor="ctr">
              <a:noAutofit/>
            </a:bodyPr>
            <a:lstStyle/>
            <a:p>
              <a:pPr>
                <a:lnSpc>
                  <a:spcPts val="1200"/>
                </a:lnSpc>
              </a:pPr>
              <a:r>
                <a:rPr lang="en-US" sz="1050" noProof="1">
                  <a:solidFill>
                    <a:srgbClr val="FFFFFF"/>
                  </a:solidFill>
                </a:rPr>
                <a:t>Mesure d’impureté</a:t>
              </a:r>
            </a:p>
          </p:txBody>
        </p:sp>
        <p:sp>
          <p:nvSpPr>
            <p:cNvPr id="10" name="Freeform: Shape 26">
              <a:extLst>
                <a:ext uri="{FF2B5EF4-FFF2-40B4-BE49-F238E27FC236}">
                  <a16:creationId xmlns:a16="http://schemas.microsoft.com/office/drawing/2014/main" id="{0A6145D1-E5B7-4A63-B0E1-F933650EE493}"/>
                </a:ext>
              </a:extLst>
            </p:cNvPr>
            <p:cNvSpPr/>
            <p:nvPr/>
          </p:nvSpPr>
          <p:spPr>
            <a:xfrm>
              <a:off x="3308983" y="2846825"/>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6">
                <a:lumMod val="75000"/>
              </a:schemeClr>
            </a:solidFill>
            <a:ln w="12700">
              <a:miter lim="400000"/>
            </a:ln>
          </p:spPr>
          <p:txBody>
            <a:bodyPr wrap="square" lIns="1165860" tIns="28575" rIns="28575" bIns="28575" anchor="ctr">
              <a:noAutofit/>
            </a:bodyPr>
            <a:lstStyle/>
            <a:p>
              <a:pPr>
                <a:lnSpc>
                  <a:spcPts val="1200"/>
                </a:lnSpc>
              </a:pPr>
              <a:r>
                <a:rPr lang="en-US" sz="1050" noProof="1">
                  <a:solidFill>
                    <a:srgbClr val="FFFFFF"/>
                  </a:solidFill>
                </a:rPr>
                <a:t>Représentation graphique</a:t>
              </a:r>
            </a:p>
          </p:txBody>
        </p:sp>
        <p:sp>
          <p:nvSpPr>
            <p:cNvPr id="11" name="Freeform: Shape 24">
              <a:extLst>
                <a:ext uri="{FF2B5EF4-FFF2-40B4-BE49-F238E27FC236}">
                  <a16:creationId xmlns:a16="http://schemas.microsoft.com/office/drawing/2014/main" id="{526056FF-475D-4F24-8DD2-9C5B15CBF879}"/>
                </a:ext>
              </a:extLst>
            </p:cNvPr>
            <p:cNvSpPr/>
            <p:nvPr/>
          </p:nvSpPr>
          <p:spPr>
            <a:xfrm>
              <a:off x="3308983" y="2394237"/>
              <a:ext cx="4830333" cy="38295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4">
                <a:lumMod val="75000"/>
              </a:schemeClr>
            </a:solidFill>
            <a:ln w="12700">
              <a:miter lim="400000"/>
            </a:ln>
          </p:spPr>
          <p:txBody>
            <a:bodyPr wrap="square" lIns="960120" tIns="28575" rIns="28575" bIns="28575" anchor="ctr">
              <a:noAutofit/>
            </a:bodyPr>
            <a:lstStyle/>
            <a:p>
              <a:pPr>
                <a:lnSpc>
                  <a:spcPts val="1200"/>
                </a:lnSpc>
              </a:pPr>
              <a:r>
                <a:rPr lang="en-US" sz="1050" noProof="1">
                  <a:solidFill>
                    <a:schemeClr val="bg1"/>
                  </a:solidFill>
                </a:rPr>
                <a:t>Intuition</a:t>
              </a:r>
            </a:p>
          </p:txBody>
        </p:sp>
        <p:sp>
          <p:nvSpPr>
            <p:cNvPr id="12" name="Shape">
              <a:extLst>
                <a:ext uri="{FF2B5EF4-FFF2-40B4-BE49-F238E27FC236}">
                  <a16:creationId xmlns:a16="http://schemas.microsoft.com/office/drawing/2014/main" id="{4F294328-9DEF-4F00-A4DE-4D51EF955109}"/>
                </a:ext>
              </a:extLst>
            </p:cNvPr>
            <p:cNvSpPr/>
            <p:nvPr/>
          </p:nvSpPr>
          <p:spPr>
            <a:xfrm>
              <a:off x="3023919" y="4204586"/>
              <a:ext cx="1116383"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16638" y="21600"/>
                  </a:lnTo>
                  <a:cubicBezTo>
                    <a:pt x="18614" y="15120"/>
                    <a:pt x="20298" y="7920"/>
                    <a:pt x="21600" y="0"/>
                  </a:cubicBezTo>
                  <a:lnTo>
                    <a:pt x="3705" y="0"/>
                  </a:lnTo>
                  <a:cubicBezTo>
                    <a:pt x="1662" y="0"/>
                    <a:pt x="0" y="4844"/>
                    <a:pt x="0" y="10800"/>
                  </a:cubicBezTo>
                  <a:close/>
                </a:path>
              </a:pathLst>
            </a:custGeom>
            <a:solidFill>
              <a:schemeClr val="accent3"/>
            </a:solidFill>
            <a:ln w="12700">
              <a:miter lim="400000"/>
            </a:ln>
          </p:spPr>
          <p:txBody>
            <a:bodyPr lIns="28575" tIns="28575" rIns="28575" bIns="28575" anchor="ctr"/>
            <a:lstStyle/>
            <a:p>
              <a:pPr>
                <a:defRPr sz="3000">
                  <a:solidFill>
                    <a:srgbClr val="FFFFFF"/>
                  </a:solidFill>
                </a:defRPr>
              </a:pPr>
              <a:endParaRPr sz="2250" dirty="0"/>
            </a:p>
          </p:txBody>
        </p:sp>
        <p:sp>
          <p:nvSpPr>
            <p:cNvPr id="13" name="Shape">
              <a:extLst>
                <a:ext uri="{FF2B5EF4-FFF2-40B4-BE49-F238E27FC236}">
                  <a16:creationId xmlns:a16="http://schemas.microsoft.com/office/drawing/2014/main" id="{B94F4347-865F-465F-BE7A-E1FC45C97473}"/>
                </a:ext>
              </a:extLst>
            </p:cNvPr>
            <p:cNvSpPr/>
            <p:nvPr/>
          </p:nvSpPr>
          <p:spPr>
            <a:xfrm>
              <a:off x="3023919" y="3751999"/>
              <a:ext cx="1257960"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19707" y="21600"/>
                  </a:lnTo>
                  <a:cubicBezTo>
                    <a:pt x="20584" y="14793"/>
                    <a:pt x="21241" y="7527"/>
                    <a:pt x="21600" y="0"/>
                  </a:cubicBezTo>
                  <a:lnTo>
                    <a:pt x="3288" y="0"/>
                  </a:lnTo>
                  <a:cubicBezTo>
                    <a:pt x="1475" y="0"/>
                    <a:pt x="0" y="4844"/>
                    <a:pt x="0" y="10800"/>
                  </a:cubicBezTo>
                  <a:close/>
                </a:path>
              </a:pathLst>
            </a:custGeom>
            <a:solidFill>
              <a:schemeClr val="accent5"/>
            </a:solidFill>
            <a:ln w="12700">
              <a:miter lim="400000"/>
            </a:ln>
          </p:spPr>
          <p:txBody>
            <a:bodyPr lIns="28575" tIns="28575" rIns="28575" bIns="28575" anchor="ctr"/>
            <a:lstStyle/>
            <a:p>
              <a:pPr>
                <a:defRPr sz="3000">
                  <a:solidFill>
                    <a:srgbClr val="FFFFFF"/>
                  </a:solidFill>
                </a:defRPr>
              </a:pPr>
              <a:endParaRPr sz="2250" dirty="0"/>
            </a:p>
          </p:txBody>
        </p:sp>
        <p:sp>
          <p:nvSpPr>
            <p:cNvPr id="15" name="Shape">
              <a:extLst>
                <a:ext uri="{FF2B5EF4-FFF2-40B4-BE49-F238E27FC236}">
                  <a16:creationId xmlns:a16="http://schemas.microsoft.com/office/drawing/2014/main" id="{BF44BD92-912E-471B-B209-7AAC8B34C894}"/>
                </a:ext>
              </a:extLst>
            </p:cNvPr>
            <p:cNvSpPr/>
            <p:nvPr/>
          </p:nvSpPr>
          <p:spPr>
            <a:xfrm>
              <a:off x="3023918" y="3299411"/>
              <a:ext cx="1280012"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49" y="21600"/>
                    <a:pt x="3231" y="21600"/>
                  </a:cubicBezTo>
                  <a:lnTo>
                    <a:pt x="21404" y="21600"/>
                  </a:lnTo>
                  <a:cubicBezTo>
                    <a:pt x="21522" y="18065"/>
                    <a:pt x="21600" y="14465"/>
                    <a:pt x="21600" y="10800"/>
                  </a:cubicBezTo>
                  <a:cubicBezTo>
                    <a:pt x="21600" y="7135"/>
                    <a:pt x="21541" y="3535"/>
                    <a:pt x="21404" y="0"/>
                  </a:cubicBezTo>
                  <a:lnTo>
                    <a:pt x="3231" y="0"/>
                  </a:lnTo>
                  <a:cubicBezTo>
                    <a:pt x="1449" y="0"/>
                    <a:pt x="0" y="4844"/>
                    <a:pt x="0" y="10800"/>
                  </a:cubicBezTo>
                  <a:close/>
                </a:path>
              </a:pathLst>
            </a:custGeom>
            <a:solidFill>
              <a:schemeClr val="accent2"/>
            </a:solidFill>
            <a:ln w="12700">
              <a:miter lim="400000"/>
            </a:ln>
          </p:spPr>
          <p:txBody>
            <a:bodyPr lIns="28575" tIns="28575" rIns="28575" bIns="28575" anchor="ctr"/>
            <a:lstStyle/>
            <a:p>
              <a:pPr>
                <a:defRPr sz="3000">
                  <a:solidFill>
                    <a:srgbClr val="FFFFFF"/>
                  </a:solidFill>
                </a:defRPr>
              </a:pPr>
              <a:endParaRPr sz="2250" dirty="0"/>
            </a:p>
          </p:txBody>
        </p:sp>
        <p:sp>
          <p:nvSpPr>
            <p:cNvPr id="16" name="Shape">
              <a:extLst>
                <a:ext uri="{FF2B5EF4-FFF2-40B4-BE49-F238E27FC236}">
                  <a16:creationId xmlns:a16="http://schemas.microsoft.com/office/drawing/2014/main" id="{E62A2F70-B6BE-4208-9812-E7C892CF171B}"/>
                </a:ext>
              </a:extLst>
            </p:cNvPr>
            <p:cNvSpPr/>
            <p:nvPr/>
          </p:nvSpPr>
          <p:spPr>
            <a:xfrm>
              <a:off x="3023919" y="2846825"/>
              <a:ext cx="1257960"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21600" y="21600"/>
                  </a:lnTo>
                  <a:cubicBezTo>
                    <a:pt x="21241" y="14073"/>
                    <a:pt x="20584" y="6807"/>
                    <a:pt x="19707" y="0"/>
                  </a:cubicBezTo>
                  <a:lnTo>
                    <a:pt x="3288" y="0"/>
                  </a:lnTo>
                  <a:cubicBezTo>
                    <a:pt x="1475" y="0"/>
                    <a:pt x="0" y="4844"/>
                    <a:pt x="0" y="10800"/>
                  </a:cubicBezTo>
                  <a:close/>
                </a:path>
              </a:pathLst>
            </a:custGeom>
            <a:solidFill>
              <a:schemeClr val="accent6"/>
            </a:solidFill>
            <a:ln w="12700">
              <a:miter lim="400000"/>
            </a:ln>
          </p:spPr>
          <p:txBody>
            <a:bodyPr lIns="28575" tIns="28575" rIns="28575" bIns="28575" anchor="ctr"/>
            <a:lstStyle/>
            <a:p>
              <a:pPr>
                <a:defRPr sz="3000">
                  <a:solidFill>
                    <a:srgbClr val="FFFFFF"/>
                  </a:solidFill>
                </a:defRPr>
              </a:pPr>
              <a:endParaRPr sz="2250" dirty="0"/>
            </a:p>
          </p:txBody>
        </p:sp>
        <p:sp>
          <p:nvSpPr>
            <p:cNvPr id="17" name="Shape">
              <a:extLst>
                <a:ext uri="{FF2B5EF4-FFF2-40B4-BE49-F238E27FC236}">
                  <a16:creationId xmlns:a16="http://schemas.microsoft.com/office/drawing/2014/main" id="{1E79BD16-562B-4A34-A0A2-F163E8963B5B}"/>
                </a:ext>
              </a:extLst>
            </p:cNvPr>
            <p:cNvSpPr/>
            <p:nvPr/>
          </p:nvSpPr>
          <p:spPr>
            <a:xfrm>
              <a:off x="3023919" y="2394237"/>
              <a:ext cx="1116383" cy="3829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21600" y="21600"/>
                  </a:lnTo>
                  <a:cubicBezTo>
                    <a:pt x="20298" y="13745"/>
                    <a:pt x="18614" y="6480"/>
                    <a:pt x="16638" y="0"/>
                  </a:cubicBezTo>
                  <a:lnTo>
                    <a:pt x="3705" y="0"/>
                  </a:lnTo>
                  <a:cubicBezTo>
                    <a:pt x="1662" y="65"/>
                    <a:pt x="0" y="4844"/>
                    <a:pt x="0" y="10800"/>
                  </a:cubicBezTo>
                  <a:close/>
                </a:path>
              </a:pathLst>
            </a:custGeom>
            <a:solidFill>
              <a:schemeClr val="accent4"/>
            </a:solidFill>
            <a:ln w="12700">
              <a:miter lim="400000"/>
            </a:ln>
          </p:spPr>
          <p:txBody>
            <a:bodyPr lIns="28575" tIns="28575" rIns="28575" bIns="28575" anchor="ctr"/>
            <a:lstStyle/>
            <a:p>
              <a:pPr>
                <a:defRPr sz="3000">
                  <a:solidFill>
                    <a:srgbClr val="FFFFFF"/>
                  </a:solidFill>
                </a:defRPr>
              </a:pPr>
              <a:endParaRPr sz="2250" dirty="0"/>
            </a:p>
          </p:txBody>
        </p:sp>
        <p:pic>
          <p:nvPicPr>
            <p:cNvPr id="18" name="Graphic 14" descr="Livres">
              <a:extLst>
                <a:ext uri="{FF2B5EF4-FFF2-40B4-BE49-F238E27FC236}">
                  <a16:creationId xmlns:a16="http://schemas.microsoft.com/office/drawing/2014/main" id="{76CB16C5-47AB-4F9E-BEB4-3DB7E6031F3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2417565"/>
              <a:ext cx="336304" cy="336304"/>
            </a:xfrm>
            <a:prstGeom prst="rect">
              <a:avLst/>
            </a:prstGeom>
          </p:spPr>
        </p:pic>
        <p:pic>
          <p:nvPicPr>
            <p:cNvPr id="19" name="Graphic 16" descr="Livres">
              <a:extLst>
                <a:ext uri="{FF2B5EF4-FFF2-40B4-BE49-F238E27FC236}">
                  <a16:creationId xmlns:a16="http://schemas.microsoft.com/office/drawing/2014/main" id="{393AE418-6F1D-41EF-9943-E45B0775AF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4227914"/>
              <a:ext cx="336304" cy="336304"/>
            </a:xfrm>
            <a:prstGeom prst="rect">
              <a:avLst/>
            </a:prstGeom>
          </p:spPr>
        </p:pic>
        <p:pic>
          <p:nvPicPr>
            <p:cNvPr id="20" name="Graphic 18" descr="Livres">
              <a:extLst>
                <a:ext uri="{FF2B5EF4-FFF2-40B4-BE49-F238E27FC236}">
                  <a16:creationId xmlns:a16="http://schemas.microsoft.com/office/drawing/2014/main" id="{E8D94A65-7E2F-4BE8-9DBE-B8A9E2BE5A7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2870153"/>
              <a:ext cx="336304" cy="336304"/>
            </a:xfrm>
            <a:prstGeom prst="rect">
              <a:avLst/>
            </a:prstGeom>
          </p:spPr>
        </p:pic>
        <p:pic>
          <p:nvPicPr>
            <p:cNvPr id="22" name="Graphic 20" descr="Livres">
              <a:extLst>
                <a:ext uri="{FF2B5EF4-FFF2-40B4-BE49-F238E27FC236}">
                  <a16:creationId xmlns:a16="http://schemas.microsoft.com/office/drawing/2014/main" id="{43CDB253-2839-485B-8380-7C1D932FD9C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3322740"/>
              <a:ext cx="336304" cy="336304"/>
            </a:xfrm>
            <a:prstGeom prst="rect">
              <a:avLst/>
            </a:prstGeom>
          </p:spPr>
        </p:pic>
        <p:pic>
          <p:nvPicPr>
            <p:cNvPr id="23" name="Graphic 22" descr="Livres">
              <a:extLst>
                <a:ext uri="{FF2B5EF4-FFF2-40B4-BE49-F238E27FC236}">
                  <a16:creationId xmlns:a16="http://schemas.microsoft.com/office/drawing/2014/main" id="{4E03C236-96C6-4050-A4FA-7F12A141FC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9127" y="3775327"/>
              <a:ext cx="336304" cy="336304"/>
            </a:xfrm>
            <a:prstGeom prst="rect">
              <a:avLst/>
            </a:prstGeom>
          </p:spPr>
        </p:pic>
      </p:grpSp>
    </p:spTree>
    <p:extLst>
      <p:ext uri="{BB962C8B-B14F-4D97-AF65-F5344CB8AC3E}">
        <p14:creationId xmlns:p14="http://schemas.microsoft.com/office/powerpoint/2010/main" val="380033718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2395757"/>
          </a:xfrm>
        </p:spPr>
        <p:txBody>
          <a:bodyPr>
            <a:normAutofit fontScale="70000" lnSpcReduction="20000"/>
          </a:bodyPr>
          <a:lstStyle/>
          <a:p>
            <a:pPr lvl="1" algn="just">
              <a:lnSpc>
                <a:spcPct val="150000"/>
              </a:lnSpc>
              <a:buClr>
                <a:schemeClr val="accent2"/>
              </a:buClr>
            </a:pPr>
            <a:r>
              <a:rPr lang="fr-FR" sz="1800" dirty="0"/>
              <a:t>Un arbre de décision est une structure de type organigramme dans laquelle chaque nœud interne représente une décision basée sur une caractéristique d'entrée, chaque branche représente un résultat de la décision et chaque nœud feuille représente une étiquette de classe ou une valeur prédite. </a:t>
            </a:r>
          </a:p>
          <a:p>
            <a:pPr lvl="1" algn="just">
              <a:lnSpc>
                <a:spcPct val="150000"/>
              </a:lnSpc>
              <a:buClr>
                <a:schemeClr val="accent2"/>
              </a:buClr>
            </a:pPr>
            <a:r>
              <a:rPr lang="fr-FR" sz="1800" dirty="0"/>
              <a:t>Les décisions sont prises en divisant de manière récursive l'ensemble de données en fonction d'une valeur de caractéristique ou d'une condition spécifique, ce qui se traduit par une structure arborescente.</a:t>
            </a:r>
            <a:endParaRPr lang="fr-FR" dirty="0"/>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107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intuition</a:t>
            </a:r>
          </a:p>
        </p:txBody>
      </p:sp>
    </p:spTree>
    <p:extLst>
      <p:ext uri="{BB962C8B-B14F-4D97-AF65-F5344CB8AC3E}">
        <p14:creationId xmlns:p14="http://schemas.microsoft.com/office/powerpoint/2010/main" val="222009414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108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graphique</a:t>
            </a:r>
          </a:p>
        </p:txBody>
      </p:sp>
      <p:pic>
        <p:nvPicPr>
          <p:cNvPr id="5" name="Espace réservé du contenu 4">
            <a:extLst>
              <a:ext uri="{FF2B5EF4-FFF2-40B4-BE49-F238E27FC236}">
                <a16:creationId xmlns:a16="http://schemas.microsoft.com/office/drawing/2014/main" id="{205D9196-C2E5-4FF3-976C-C6531D25A8AA}"/>
              </a:ext>
            </a:extLst>
          </p:cNvPr>
          <p:cNvPicPr>
            <a:picLocks noGrp="1" noChangeAspect="1"/>
          </p:cNvPicPr>
          <p:nvPr>
            <p:ph sz="half" idx="13"/>
          </p:nvPr>
        </p:nvPicPr>
        <p:blipFill>
          <a:blip r:embed="rId2"/>
          <a:stretch>
            <a:fillRect/>
          </a:stretch>
        </p:blipFill>
        <p:spPr>
          <a:xfrm>
            <a:off x="1171826" y="1478944"/>
            <a:ext cx="5225652" cy="2606039"/>
          </a:xfrm>
        </p:spPr>
      </p:pic>
    </p:spTree>
    <p:extLst>
      <p:ext uri="{BB962C8B-B14F-4D97-AF65-F5344CB8AC3E}">
        <p14:creationId xmlns:p14="http://schemas.microsoft.com/office/powerpoint/2010/main" val="156803339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1"/>
            <a:ext cx="5891400" cy="1905833"/>
          </a:xfrm>
        </p:spPr>
        <p:txBody>
          <a:bodyPr>
            <a:normAutofit fontScale="55000" lnSpcReduction="20000"/>
          </a:bodyPr>
          <a:lstStyle/>
          <a:p>
            <a:pPr lvl="1" algn="just">
              <a:lnSpc>
                <a:spcPct val="150000"/>
              </a:lnSpc>
              <a:buClr>
                <a:schemeClr val="accent2"/>
              </a:buClr>
            </a:pPr>
            <a:r>
              <a:rPr lang="fr-FR" dirty="0"/>
              <a:t>Les arbres de décisions servent aussi bien pour la régression que pour la classification.</a:t>
            </a:r>
          </a:p>
          <a:p>
            <a:pPr lvl="1" algn="just">
              <a:lnSpc>
                <a:spcPct val="150000"/>
              </a:lnSpc>
              <a:buClr>
                <a:schemeClr val="accent2"/>
              </a:buClr>
            </a:pPr>
            <a:r>
              <a:rPr lang="fr-FR" dirty="0"/>
              <a:t>C’est un outil d’exploration des données et d’aide à la décision qui permet d’expliquer et de prédire une variable quantitative (arbre de régression) ou qualitative (arbre de segmentation) à partir de variables explicatives quantitatives et/ou qualitatives.</a:t>
            </a:r>
          </a:p>
          <a:p>
            <a:pPr lvl="2" algn="just">
              <a:lnSpc>
                <a:spcPct val="150000"/>
              </a:lnSpc>
              <a:buClr>
                <a:schemeClr val="accent2"/>
              </a:buClr>
            </a:pPr>
            <a:endParaRPr lang="fr-FR" dirty="0"/>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109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intuition</a:t>
            </a:r>
          </a:p>
        </p:txBody>
      </p:sp>
      <p:pic>
        <p:nvPicPr>
          <p:cNvPr id="5" name="Image 4">
            <a:extLst>
              <a:ext uri="{FF2B5EF4-FFF2-40B4-BE49-F238E27FC236}">
                <a16:creationId xmlns:a16="http://schemas.microsoft.com/office/drawing/2014/main" id="{6F20D821-837D-4AF4-919B-77E7736D087B}"/>
              </a:ext>
            </a:extLst>
          </p:cNvPr>
          <p:cNvPicPr>
            <a:picLocks noChangeAspect="1"/>
          </p:cNvPicPr>
          <p:nvPr/>
        </p:nvPicPr>
        <p:blipFill>
          <a:blip r:embed="rId2"/>
          <a:stretch>
            <a:fillRect/>
          </a:stretch>
        </p:blipFill>
        <p:spPr>
          <a:xfrm>
            <a:off x="3061833" y="3179007"/>
            <a:ext cx="3020336" cy="1785445"/>
          </a:xfrm>
          <a:prstGeom prst="rect">
            <a:avLst/>
          </a:prstGeom>
        </p:spPr>
      </p:pic>
    </p:spTree>
    <p:extLst>
      <p:ext uri="{BB962C8B-B14F-4D97-AF65-F5344CB8AC3E}">
        <p14:creationId xmlns:p14="http://schemas.microsoft.com/office/powerpoint/2010/main" val="293780346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375293"/>
          </a:xfrm>
        </p:spPr>
        <p:txBody>
          <a:bodyPr>
            <a:normAutofit fontScale="62500" lnSpcReduction="20000"/>
          </a:bodyPr>
          <a:lstStyle/>
          <a:p>
            <a:pPr lvl="1" algn="just">
              <a:lnSpc>
                <a:spcPct val="150000"/>
              </a:lnSpc>
              <a:buClr>
                <a:schemeClr val="accent2"/>
              </a:buClr>
            </a:pPr>
            <a:r>
              <a:rPr lang="fr-FR" sz="1800" dirty="0"/>
              <a:t>Pour construire un arbre de décision, nous devons choisir la </a:t>
            </a:r>
            <a:r>
              <a:rPr lang="fr-FR" sz="1800" b="1" dirty="0"/>
              <a:t>meilleure feature</a:t>
            </a:r>
            <a:r>
              <a:rPr lang="fr-FR" sz="1800" dirty="0"/>
              <a:t> et le meilleur </a:t>
            </a:r>
            <a:r>
              <a:rPr lang="fr-FR" sz="1800" b="1" dirty="0"/>
              <a:t>seuil</a:t>
            </a:r>
            <a:r>
              <a:rPr lang="fr-FR" sz="1800" dirty="0"/>
              <a:t> pour diviser l'ensemble de données à chaque nœud. </a:t>
            </a:r>
          </a:p>
          <a:p>
            <a:pPr lvl="1" algn="just">
              <a:lnSpc>
                <a:spcPct val="150000"/>
              </a:lnSpc>
              <a:buClr>
                <a:schemeClr val="accent2"/>
              </a:buClr>
            </a:pPr>
            <a:r>
              <a:rPr lang="fr-FR" sz="1800" dirty="0"/>
              <a:t>Le choix dépend de l'objectif du problème (classification ou régression) et de la mesure d'impureté utilisée (impureté de Gini, entropie ou erreur quadratique moyenne).</a:t>
            </a:r>
          </a:p>
          <a:p>
            <a:pPr lvl="1" algn="just">
              <a:lnSpc>
                <a:spcPct val="150000"/>
              </a:lnSpc>
              <a:buClr>
                <a:schemeClr val="accent2"/>
              </a:buClr>
            </a:pPr>
            <a:r>
              <a:rPr lang="fr-FR" sz="1800" dirty="0"/>
              <a:t>Les étapes générales pour construire un arbre de décision sont :</a:t>
            </a:r>
          </a:p>
          <a:p>
            <a:pPr marL="1028700" lvl="2" indent="-342900" algn="just">
              <a:lnSpc>
                <a:spcPct val="150000"/>
              </a:lnSpc>
              <a:buClr>
                <a:schemeClr val="accent2"/>
              </a:buClr>
              <a:buFont typeface="+mj-lt"/>
              <a:buAutoNum type="alphaLcParenR"/>
            </a:pPr>
            <a:r>
              <a:rPr lang="fr-FR" sz="1650" dirty="0"/>
              <a:t>Commencez avec l'ensemble de données complet au nœud racine. </a:t>
            </a:r>
          </a:p>
          <a:p>
            <a:pPr marL="1028700" lvl="2" indent="-342900" algn="just">
              <a:lnSpc>
                <a:spcPct val="150000"/>
              </a:lnSpc>
              <a:buClr>
                <a:schemeClr val="accent2"/>
              </a:buClr>
              <a:buFont typeface="+mj-lt"/>
              <a:buAutoNum type="alphaLcParenR"/>
            </a:pPr>
            <a:r>
              <a:rPr lang="fr-FR" sz="1650" dirty="0"/>
              <a:t>Sélectionnez la meilleure caractéristique et le meilleur seuil pour diviser l'ensemble de données. </a:t>
            </a:r>
          </a:p>
          <a:p>
            <a:pPr marL="1028700" lvl="2" indent="-342900" algn="just">
              <a:lnSpc>
                <a:spcPct val="150000"/>
              </a:lnSpc>
              <a:buClr>
                <a:schemeClr val="accent2"/>
              </a:buClr>
              <a:buFont typeface="+mj-lt"/>
              <a:buAutoNum type="alphaLcParenR"/>
            </a:pPr>
            <a:r>
              <a:rPr lang="fr-FR" sz="1650" dirty="0"/>
              <a:t>Créez des nœuds enfants en divisant l'ensemble de données en fonction de la fonctionnalité et du seuil sélectionnés. </a:t>
            </a:r>
          </a:p>
          <a:p>
            <a:pPr marL="1028700" lvl="2" indent="-342900" algn="just">
              <a:lnSpc>
                <a:spcPct val="150000"/>
              </a:lnSpc>
              <a:buClr>
                <a:schemeClr val="accent2"/>
              </a:buClr>
              <a:buFont typeface="+mj-lt"/>
              <a:buAutoNum type="alphaLcParenR"/>
            </a:pPr>
            <a:r>
              <a:rPr lang="fr-FR" sz="1650" dirty="0"/>
              <a:t>Répétez les étapes b) et c) pour chaque nœud enfant jusqu'à ce qu'un critère d'arrêt soit satisfait (par exemple, profondeur maximale de l'arbre, nombre minimal d'échantillons par feuille ou nœuds purs)</a:t>
            </a:r>
            <a:endParaRPr lang="fr-FR" dirty="0"/>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110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la construction d’un arbre</a:t>
            </a:r>
          </a:p>
        </p:txBody>
      </p:sp>
    </p:spTree>
    <p:extLst>
      <p:ext uri="{BB962C8B-B14F-4D97-AF65-F5344CB8AC3E}">
        <p14:creationId xmlns:p14="http://schemas.microsoft.com/office/powerpoint/2010/main" val="50785570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111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exemple 1</a:t>
            </a:r>
          </a:p>
        </p:txBody>
      </p:sp>
      <p:pic>
        <p:nvPicPr>
          <p:cNvPr id="6" name="Image 5">
            <a:extLst>
              <a:ext uri="{FF2B5EF4-FFF2-40B4-BE49-F238E27FC236}">
                <a16:creationId xmlns:a16="http://schemas.microsoft.com/office/drawing/2014/main" id="{760EC57C-0BF4-4864-A512-7D8719B1183C}"/>
              </a:ext>
            </a:extLst>
          </p:cNvPr>
          <p:cNvPicPr>
            <a:picLocks noChangeAspect="1"/>
          </p:cNvPicPr>
          <p:nvPr/>
        </p:nvPicPr>
        <p:blipFill>
          <a:blip r:embed="rId2"/>
          <a:stretch>
            <a:fillRect/>
          </a:stretch>
        </p:blipFill>
        <p:spPr>
          <a:xfrm>
            <a:off x="1798184" y="1807879"/>
            <a:ext cx="4397315" cy="2051447"/>
          </a:xfrm>
          <a:prstGeom prst="rect">
            <a:avLst/>
          </a:prstGeom>
        </p:spPr>
      </p:pic>
      <p:sp>
        <p:nvSpPr>
          <p:cNvPr id="9" name="Title 13">
            <a:extLst>
              <a:ext uri="{FF2B5EF4-FFF2-40B4-BE49-F238E27FC236}">
                <a16:creationId xmlns:a16="http://schemas.microsoft.com/office/drawing/2014/main" id="{8AFD2C6B-7289-4071-A83A-67B25B4BAC0D}"/>
              </a:ext>
            </a:extLst>
          </p:cNvPr>
          <p:cNvSpPr txBox="1">
            <a:spLocks/>
          </p:cNvSpPr>
          <p:nvPr/>
        </p:nvSpPr>
        <p:spPr>
          <a:xfrm>
            <a:off x="389008" y="1127098"/>
            <a:ext cx="6249917" cy="26034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Un tennisman se demande s’il peut aller jouer dehors</a:t>
            </a:r>
          </a:p>
        </p:txBody>
      </p:sp>
    </p:spTree>
    <p:extLst>
      <p:ext uri="{BB962C8B-B14F-4D97-AF65-F5344CB8AC3E}">
        <p14:creationId xmlns:p14="http://schemas.microsoft.com/office/powerpoint/2010/main" val="390690490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a:xfrm>
            <a:off x="8360229" y="4695704"/>
            <a:ext cx="555170" cy="273844"/>
          </a:xfrm>
        </p:spPr>
        <p:txBody>
          <a:bodyPr/>
          <a:lstStyle>
            <a:lvl1pPr algn="r">
              <a:defRPr sz="900">
                <a:solidFill>
                  <a:schemeClr val="tx1">
                    <a:lumMod val="50000"/>
                    <a:lumOff val="50000"/>
                  </a:schemeClr>
                </a:solidFill>
              </a:defRPr>
            </a:lvl1pPr>
          </a:lstStyle>
          <a:p>
            <a:fld id="{8699F50C-BE38-4BD0-BA84-9B090E1F2B9B}" type="slidenum">
              <a:rPr lang="fr-FR" smtClean="0"/>
              <a:pPr/>
              <a:t>112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exemple 1</a:t>
            </a:r>
          </a:p>
        </p:txBody>
      </p:sp>
      <p:sp>
        <p:nvSpPr>
          <p:cNvPr id="9" name="Title 13">
            <a:extLst>
              <a:ext uri="{FF2B5EF4-FFF2-40B4-BE49-F238E27FC236}">
                <a16:creationId xmlns:a16="http://schemas.microsoft.com/office/drawing/2014/main" id="{8AFD2C6B-7289-4071-A83A-67B25B4BAC0D}"/>
              </a:ext>
            </a:extLst>
          </p:cNvPr>
          <p:cNvSpPr txBox="1">
            <a:spLocks/>
          </p:cNvSpPr>
          <p:nvPr/>
        </p:nvSpPr>
        <p:spPr>
          <a:xfrm>
            <a:off x="389008" y="1127098"/>
            <a:ext cx="6249917" cy="26034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Un tennisman se demande s’il peut aller jouer dehors</a:t>
            </a:r>
          </a:p>
        </p:txBody>
      </p:sp>
      <p:grpSp>
        <p:nvGrpSpPr>
          <p:cNvPr id="2" name="Groupe 1">
            <a:extLst>
              <a:ext uri="{FF2B5EF4-FFF2-40B4-BE49-F238E27FC236}">
                <a16:creationId xmlns:a16="http://schemas.microsoft.com/office/drawing/2014/main" id="{8F04FAE8-6C44-4045-9F00-093B5B5424FC}"/>
              </a:ext>
            </a:extLst>
          </p:cNvPr>
          <p:cNvGrpSpPr/>
          <p:nvPr/>
        </p:nvGrpSpPr>
        <p:grpSpPr>
          <a:xfrm>
            <a:off x="389009" y="1405847"/>
            <a:ext cx="7113032" cy="2884421"/>
            <a:chOff x="518678" y="1874462"/>
            <a:chExt cx="9484043" cy="3845895"/>
          </a:xfrm>
        </p:grpSpPr>
        <p:pic>
          <p:nvPicPr>
            <p:cNvPr id="8" name="Image 7">
              <a:extLst>
                <a:ext uri="{FF2B5EF4-FFF2-40B4-BE49-F238E27FC236}">
                  <a16:creationId xmlns:a16="http://schemas.microsoft.com/office/drawing/2014/main" id="{6F0B402E-47CD-44C6-AF68-1678213F6A8D}"/>
                </a:ext>
              </a:extLst>
            </p:cNvPr>
            <p:cNvPicPr>
              <a:picLocks noChangeAspect="1"/>
            </p:cNvPicPr>
            <p:nvPr/>
          </p:nvPicPr>
          <p:blipFill>
            <a:blip r:embed="rId2"/>
            <a:stretch>
              <a:fillRect/>
            </a:stretch>
          </p:blipFill>
          <p:spPr>
            <a:xfrm>
              <a:off x="2397578" y="2410505"/>
              <a:ext cx="5863087" cy="2735263"/>
            </a:xfrm>
            <a:prstGeom prst="rect">
              <a:avLst/>
            </a:prstGeom>
          </p:spPr>
        </p:pic>
        <p:sp>
          <p:nvSpPr>
            <p:cNvPr id="10" name="Légende à une bordure 1 5">
              <a:extLst>
                <a:ext uri="{FF2B5EF4-FFF2-40B4-BE49-F238E27FC236}">
                  <a16:creationId xmlns:a16="http://schemas.microsoft.com/office/drawing/2014/main" id="{DC58B29B-101C-44FA-B665-747723B8A02C}"/>
                </a:ext>
              </a:extLst>
            </p:cNvPr>
            <p:cNvSpPr/>
            <p:nvPr/>
          </p:nvSpPr>
          <p:spPr>
            <a:xfrm>
              <a:off x="6507616" y="1874462"/>
              <a:ext cx="3010095" cy="445555"/>
            </a:xfrm>
            <a:prstGeom prst="accentCallout1">
              <a:avLst>
                <a:gd name="adj1" fmla="val 59290"/>
                <a:gd name="adj2" fmla="val 2799"/>
                <a:gd name="adj3" fmla="val 112309"/>
                <a:gd name="adj4" fmla="val -28204"/>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fr-FR" sz="1050" b="1" dirty="0">
                  <a:solidFill>
                    <a:srgbClr val="014067"/>
                  </a:solidFill>
                </a:rPr>
                <a:t>Root node : </a:t>
              </a:r>
              <a:r>
                <a:rPr lang="fr-FR" sz="1050" dirty="0">
                  <a:solidFill>
                    <a:srgbClr val="014067"/>
                  </a:solidFill>
                </a:rPr>
                <a:t>racine de l’arbre. Point de départ de notre arbre de décision.</a:t>
              </a:r>
            </a:p>
          </p:txBody>
        </p:sp>
        <p:sp>
          <p:nvSpPr>
            <p:cNvPr id="11" name="Légende à une bordure 1 6">
              <a:extLst>
                <a:ext uri="{FF2B5EF4-FFF2-40B4-BE49-F238E27FC236}">
                  <a16:creationId xmlns:a16="http://schemas.microsoft.com/office/drawing/2014/main" id="{CB01E1D9-A9FB-447A-AF34-4055015CDF5A}"/>
                </a:ext>
              </a:extLst>
            </p:cNvPr>
            <p:cNvSpPr/>
            <p:nvPr/>
          </p:nvSpPr>
          <p:spPr>
            <a:xfrm>
              <a:off x="8260665" y="3172505"/>
              <a:ext cx="674672" cy="304800"/>
            </a:xfrm>
            <a:prstGeom prst="accentCallout1">
              <a:avLst>
                <a:gd name="adj1" fmla="val 59290"/>
                <a:gd name="adj2" fmla="val -6711"/>
                <a:gd name="adj3" fmla="val 130198"/>
                <a:gd name="adj4" fmla="val -123762"/>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fr-FR" sz="1050" b="1" dirty="0">
                  <a:solidFill>
                    <a:srgbClr val="014067"/>
                  </a:solidFill>
                </a:rPr>
                <a:t>node</a:t>
              </a:r>
            </a:p>
          </p:txBody>
        </p:sp>
        <p:sp>
          <p:nvSpPr>
            <p:cNvPr id="12" name="Légende à une bordure 1 7">
              <a:extLst>
                <a:ext uri="{FF2B5EF4-FFF2-40B4-BE49-F238E27FC236}">
                  <a16:creationId xmlns:a16="http://schemas.microsoft.com/office/drawing/2014/main" id="{54F734CF-33E2-4993-86AE-915C24055063}"/>
                </a:ext>
              </a:extLst>
            </p:cNvPr>
            <p:cNvSpPr/>
            <p:nvPr/>
          </p:nvSpPr>
          <p:spPr>
            <a:xfrm>
              <a:off x="2099144" y="3473336"/>
              <a:ext cx="674672" cy="304800"/>
            </a:xfrm>
            <a:prstGeom prst="accentCallout1">
              <a:avLst>
                <a:gd name="adj1" fmla="val 61899"/>
                <a:gd name="adj2" fmla="val 84959"/>
                <a:gd name="adj3" fmla="val 15674"/>
                <a:gd name="adj4" fmla="val 192756"/>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fr-FR" sz="1050" b="1" dirty="0">
                  <a:solidFill>
                    <a:srgbClr val="014067"/>
                  </a:solidFill>
                </a:rPr>
                <a:t>node</a:t>
              </a:r>
            </a:p>
          </p:txBody>
        </p:sp>
        <p:sp>
          <p:nvSpPr>
            <p:cNvPr id="13" name="Légende à une bordure 1 8">
              <a:extLst>
                <a:ext uri="{FF2B5EF4-FFF2-40B4-BE49-F238E27FC236}">
                  <a16:creationId xmlns:a16="http://schemas.microsoft.com/office/drawing/2014/main" id="{A07BBA3C-8EBB-44E7-82BB-9917C2671F78}"/>
                </a:ext>
              </a:extLst>
            </p:cNvPr>
            <p:cNvSpPr/>
            <p:nvPr/>
          </p:nvSpPr>
          <p:spPr>
            <a:xfrm>
              <a:off x="4727959" y="5485407"/>
              <a:ext cx="2579290" cy="234950"/>
            </a:xfrm>
            <a:prstGeom prst="accentCallout1">
              <a:avLst>
                <a:gd name="adj1" fmla="val 52925"/>
                <a:gd name="adj2" fmla="val 5928"/>
                <a:gd name="adj3" fmla="val -173458"/>
                <a:gd name="adj4" fmla="val -7899"/>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fr-FR" sz="1050" b="1" dirty="0">
                  <a:solidFill>
                    <a:srgbClr val="014067"/>
                  </a:solidFill>
                </a:rPr>
                <a:t>Leaf node : feuille de l’arbre.</a:t>
              </a:r>
            </a:p>
          </p:txBody>
        </p:sp>
        <p:sp>
          <p:nvSpPr>
            <p:cNvPr id="15" name="Légende à une bordure 1 9">
              <a:extLst>
                <a:ext uri="{FF2B5EF4-FFF2-40B4-BE49-F238E27FC236}">
                  <a16:creationId xmlns:a16="http://schemas.microsoft.com/office/drawing/2014/main" id="{F9D7A61E-0945-4751-8D46-28083DF7CDAD}"/>
                </a:ext>
              </a:extLst>
            </p:cNvPr>
            <p:cNvSpPr/>
            <p:nvPr/>
          </p:nvSpPr>
          <p:spPr>
            <a:xfrm>
              <a:off x="7145221" y="5198113"/>
              <a:ext cx="2857500" cy="234949"/>
            </a:xfrm>
            <a:prstGeom prst="accentCallout1">
              <a:avLst>
                <a:gd name="adj1" fmla="val 38879"/>
                <a:gd name="adj2" fmla="val 4059"/>
                <a:gd name="adj3" fmla="val -98708"/>
                <a:gd name="adj4" fmla="val -24531"/>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fr-FR" sz="1050" b="1" dirty="0">
                  <a:solidFill>
                    <a:srgbClr val="014067"/>
                  </a:solidFill>
                </a:rPr>
                <a:t>Leaf node : feuille de l’arbre.</a:t>
              </a:r>
            </a:p>
          </p:txBody>
        </p:sp>
        <p:sp>
          <p:nvSpPr>
            <p:cNvPr id="16" name="Légende à une bordure 1 10">
              <a:extLst>
                <a:ext uri="{FF2B5EF4-FFF2-40B4-BE49-F238E27FC236}">
                  <a16:creationId xmlns:a16="http://schemas.microsoft.com/office/drawing/2014/main" id="{7B399922-B744-44F4-997C-C6088EA202C0}"/>
                </a:ext>
              </a:extLst>
            </p:cNvPr>
            <p:cNvSpPr/>
            <p:nvPr/>
          </p:nvSpPr>
          <p:spPr>
            <a:xfrm>
              <a:off x="518678" y="5236255"/>
              <a:ext cx="2356738" cy="234950"/>
            </a:xfrm>
            <a:prstGeom prst="accentCallout1">
              <a:avLst>
                <a:gd name="adj1" fmla="val 58632"/>
                <a:gd name="adj2" fmla="val 95858"/>
                <a:gd name="adj3" fmla="val -77697"/>
                <a:gd name="adj4" fmla="val 113285"/>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fr-FR" sz="1050" b="1" dirty="0">
                  <a:solidFill>
                    <a:srgbClr val="014067"/>
                  </a:solidFill>
                </a:rPr>
                <a:t>Leaf node : feuille de l’arbre.</a:t>
              </a:r>
            </a:p>
          </p:txBody>
        </p:sp>
      </p:grpSp>
    </p:spTree>
    <p:extLst>
      <p:ext uri="{BB962C8B-B14F-4D97-AF65-F5344CB8AC3E}">
        <p14:creationId xmlns:p14="http://schemas.microsoft.com/office/powerpoint/2010/main" val="244066436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a:xfrm>
            <a:off x="8360229" y="4695704"/>
            <a:ext cx="555170" cy="273844"/>
          </a:xfrm>
        </p:spPr>
        <p:txBody>
          <a:bodyPr/>
          <a:lstStyle>
            <a:lvl1pPr algn="r">
              <a:defRPr sz="900">
                <a:solidFill>
                  <a:schemeClr val="tx1">
                    <a:lumMod val="50000"/>
                    <a:lumOff val="50000"/>
                  </a:schemeClr>
                </a:solidFill>
              </a:defRPr>
            </a:lvl1pPr>
          </a:lstStyle>
          <a:p>
            <a:fld id="{8699F50C-BE38-4BD0-BA84-9B090E1F2B9B}" type="slidenum">
              <a:rPr lang="fr-FR" smtClean="0"/>
              <a:pPr/>
              <a:t>113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exemple 1</a:t>
            </a:r>
          </a:p>
        </p:txBody>
      </p:sp>
      <p:sp>
        <p:nvSpPr>
          <p:cNvPr id="9" name="Title 13">
            <a:extLst>
              <a:ext uri="{FF2B5EF4-FFF2-40B4-BE49-F238E27FC236}">
                <a16:creationId xmlns:a16="http://schemas.microsoft.com/office/drawing/2014/main" id="{8AFD2C6B-7289-4071-A83A-67B25B4BAC0D}"/>
              </a:ext>
            </a:extLst>
          </p:cNvPr>
          <p:cNvSpPr txBox="1">
            <a:spLocks/>
          </p:cNvSpPr>
          <p:nvPr/>
        </p:nvSpPr>
        <p:spPr>
          <a:xfrm>
            <a:off x="389008" y="1127098"/>
            <a:ext cx="6249917" cy="26034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Un tennisman se demande s’il peut aller jouer dehors</a:t>
            </a:r>
          </a:p>
        </p:txBody>
      </p:sp>
      <p:grpSp>
        <p:nvGrpSpPr>
          <p:cNvPr id="17" name="Groupe 16">
            <a:extLst>
              <a:ext uri="{FF2B5EF4-FFF2-40B4-BE49-F238E27FC236}">
                <a16:creationId xmlns:a16="http://schemas.microsoft.com/office/drawing/2014/main" id="{7D1A2274-6B7D-43CC-B711-9165BE024C1C}"/>
              </a:ext>
            </a:extLst>
          </p:cNvPr>
          <p:cNvGrpSpPr/>
          <p:nvPr/>
        </p:nvGrpSpPr>
        <p:grpSpPr>
          <a:xfrm>
            <a:off x="1156831" y="1712629"/>
            <a:ext cx="6305550" cy="2221735"/>
            <a:chOff x="1892300" y="3314700"/>
            <a:chExt cx="8407400" cy="2962314"/>
          </a:xfrm>
        </p:grpSpPr>
        <p:pic>
          <p:nvPicPr>
            <p:cNvPr id="18" name="Image 17">
              <a:extLst>
                <a:ext uri="{FF2B5EF4-FFF2-40B4-BE49-F238E27FC236}">
                  <a16:creationId xmlns:a16="http://schemas.microsoft.com/office/drawing/2014/main" id="{1BB38571-18BA-42AF-91DE-1D13CD68BED7}"/>
                </a:ext>
              </a:extLst>
            </p:cNvPr>
            <p:cNvPicPr>
              <a:picLocks noChangeAspect="1"/>
            </p:cNvPicPr>
            <p:nvPr/>
          </p:nvPicPr>
          <p:blipFill>
            <a:blip r:embed="rId2"/>
            <a:stretch>
              <a:fillRect/>
            </a:stretch>
          </p:blipFill>
          <p:spPr>
            <a:xfrm>
              <a:off x="2747962" y="3441700"/>
              <a:ext cx="5863087" cy="2735263"/>
            </a:xfrm>
            <a:prstGeom prst="rect">
              <a:avLst/>
            </a:prstGeom>
          </p:spPr>
        </p:pic>
        <p:sp>
          <p:nvSpPr>
            <p:cNvPr id="19" name="Rectangle 18">
              <a:extLst>
                <a:ext uri="{FF2B5EF4-FFF2-40B4-BE49-F238E27FC236}">
                  <a16:creationId xmlns:a16="http://schemas.microsoft.com/office/drawing/2014/main" id="{C6C21A44-32F1-4765-B9F9-D52AAF832846}"/>
                </a:ext>
              </a:extLst>
            </p:cNvPr>
            <p:cNvSpPr/>
            <p:nvPr/>
          </p:nvSpPr>
          <p:spPr>
            <a:xfrm>
              <a:off x="1892300" y="3314700"/>
              <a:ext cx="8407400" cy="635000"/>
            </a:xfrm>
            <a:prstGeom prst="rect">
              <a:avLst/>
            </a:prstGeom>
            <a:noFill/>
            <a:ln w="28575">
              <a:prstDash val="dashDot"/>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fr-FR" sz="1350" dirty="0"/>
            </a:p>
          </p:txBody>
        </p:sp>
        <p:sp>
          <p:nvSpPr>
            <p:cNvPr id="20" name="Rectangle 19">
              <a:extLst>
                <a:ext uri="{FF2B5EF4-FFF2-40B4-BE49-F238E27FC236}">
                  <a16:creationId xmlns:a16="http://schemas.microsoft.com/office/drawing/2014/main" id="{51F8B305-5183-4EB1-931C-9995FE5B9B04}"/>
                </a:ext>
              </a:extLst>
            </p:cNvPr>
            <p:cNvSpPr/>
            <p:nvPr/>
          </p:nvSpPr>
          <p:spPr>
            <a:xfrm>
              <a:off x="1892300" y="4279900"/>
              <a:ext cx="8407400" cy="635000"/>
            </a:xfrm>
            <a:prstGeom prst="rect">
              <a:avLst/>
            </a:prstGeom>
            <a:noFill/>
            <a:ln w="28575">
              <a:solidFill>
                <a:srgbClr val="FF0000"/>
              </a:solidFill>
              <a:prstDash val="dashDot"/>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fr-FR" sz="1350" dirty="0"/>
            </a:p>
          </p:txBody>
        </p:sp>
        <p:sp>
          <p:nvSpPr>
            <p:cNvPr id="22" name="Rectangle 21">
              <a:extLst>
                <a:ext uri="{FF2B5EF4-FFF2-40B4-BE49-F238E27FC236}">
                  <a16:creationId xmlns:a16="http://schemas.microsoft.com/office/drawing/2014/main" id="{FF0F2A1E-A0F8-444F-92FB-AF15AB6A1FEE}"/>
                </a:ext>
              </a:extLst>
            </p:cNvPr>
            <p:cNvSpPr/>
            <p:nvPr/>
          </p:nvSpPr>
          <p:spPr>
            <a:xfrm>
              <a:off x="1892300" y="5516563"/>
              <a:ext cx="8407400" cy="635000"/>
            </a:xfrm>
            <a:prstGeom prst="rect">
              <a:avLst/>
            </a:prstGeom>
            <a:noFill/>
            <a:ln w="28575">
              <a:solidFill>
                <a:srgbClr val="00B050"/>
              </a:solidFill>
              <a:prstDash val="dashDot"/>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fr-FR" sz="1350" dirty="0">
                <a:solidFill>
                  <a:srgbClr val="00B050"/>
                </a:solidFill>
              </a:endParaRPr>
            </a:p>
          </p:txBody>
        </p:sp>
        <p:sp>
          <p:nvSpPr>
            <p:cNvPr id="23" name="ZoneTexte 22">
              <a:extLst>
                <a:ext uri="{FF2B5EF4-FFF2-40B4-BE49-F238E27FC236}">
                  <a16:creationId xmlns:a16="http://schemas.microsoft.com/office/drawing/2014/main" id="{73D85C8F-52B6-4311-BFAC-10CE1509283F}"/>
                </a:ext>
              </a:extLst>
            </p:cNvPr>
            <p:cNvSpPr txBox="1"/>
            <p:nvPr/>
          </p:nvSpPr>
          <p:spPr>
            <a:xfrm>
              <a:off x="8496300" y="3414712"/>
              <a:ext cx="1803400" cy="677108"/>
            </a:xfrm>
            <a:prstGeom prst="rect">
              <a:avLst/>
            </a:prstGeom>
            <a:noFill/>
          </p:spPr>
          <p:txBody>
            <a:bodyPr wrap="square" rtlCol="0">
              <a:spAutoFit/>
            </a:bodyPr>
            <a:lstStyle/>
            <a:p>
              <a:r>
                <a:rPr lang="fr-FR" sz="1350" dirty="0"/>
                <a:t>Depth 0 : départ</a:t>
              </a:r>
            </a:p>
          </p:txBody>
        </p:sp>
        <p:sp>
          <p:nvSpPr>
            <p:cNvPr id="24" name="ZoneTexte 23">
              <a:extLst>
                <a:ext uri="{FF2B5EF4-FFF2-40B4-BE49-F238E27FC236}">
                  <a16:creationId xmlns:a16="http://schemas.microsoft.com/office/drawing/2014/main" id="{E7B0A59E-F113-44B6-9F7A-0484FDE3AD30}"/>
                </a:ext>
              </a:extLst>
            </p:cNvPr>
            <p:cNvSpPr txBox="1"/>
            <p:nvPr/>
          </p:nvSpPr>
          <p:spPr>
            <a:xfrm>
              <a:off x="8496300" y="4392613"/>
              <a:ext cx="1803400" cy="677108"/>
            </a:xfrm>
            <a:prstGeom prst="rect">
              <a:avLst/>
            </a:prstGeom>
            <a:noFill/>
          </p:spPr>
          <p:txBody>
            <a:bodyPr wrap="square" rtlCol="0">
              <a:spAutoFit/>
            </a:bodyPr>
            <a:lstStyle/>
            <a:p>
              <a:r>
                <a:rPr lang="fr-FR" sz="1350" dirty="0"/>
                <a:t>Depth 1 : règle 1</a:t>
              </a:r>
            </a:p>
          </p:txBody>
        </p:sp>
        <p:sp>
          <p:nvSpPr>
            <p:cNvPr id="25" name="ZoneTexte 24">
              <a:extLst>
                <a:ext uri="{FF2B5EF4-FFF2-40B4-BE49-F238E27FC236}">
                  <a16:creationId xmlns:a16="http://schemas.microsoft.com/office/drawing/2014/main" id="{C0B31F66-438C-4083-A5B9-A0D77C886EE7}"/>
                </a:ext>
              </a:extLst>
            </p:cNvPr>
            <p:cNvSpPr txBox="1"/>
            <p:nvPr/>
          </p:nvSpPr>
          <p:spPr>
            <a:xfrm>
              <a:off x="8496300" y="5599906"/>
              <a:ext cx="1803400" cy="677108"/>
            </a:xfrm>
            <a:prstGeom prst="rect">
              <a:avLst/>
            </a:prstGeom>
            <a:noFill/>
          </p:spPr>
          <p:txBody>
            <a:bodyPr wrap="square" rtlCol="0">
              <a:spAutoFit/>
            </a:bodyPr>
            <a:lstStyle/>
            <a:p>
              <a:r>
                <a:rPr lang="fr-FR" sz="1350" dirty="0"/>
                <a:t>Depth 2 : règle 2</a:t>
              </a:r>
            </a:p>
          </p:txBody>
        </p:sp>
      </p:grpSp>
    </p:spTree>
    <p:extLst>
      <p:ext uri="{BB962C8B-B14F-4D97-AF65-F5344CB8AC3E}">
        <p14:creationId xmlns:p14="http://schemas.microsoft.com/office/powerpoint/2010/main" val="377312992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7123963" cy="2395757"/>
          </a:xfrm>
        </p:spPr>
        <p:txBody>
          <a:bodyPr>
            <a:normAutofit fontScale="70000" lnSpcReduction="20000"/>
          </a:bodyPr>
          <a:lstStyle/>
          <a:p>
            <a:pPr lvl="1" algn="just">
              <a:lnSpc>
                <a:spcPct val="150000"/>
              </a:lnSpc>
              <a:buClr>
                <a:schemeClr val="accent2"/>
              </a:buClr>
            </a:pPr>
            <a:r>
              <a:rPr lang="fr-FR" dirty="0"/>
              <a:t>Il existe différentes implémentations d’arbres de décisions :</a:t>
            </a:r>
          </a:p>
          <a:p>
            <a:pPr lvl="2" algn="just">
              <a:lnSpc>
                <a:spcPct val="150000"/>
              </a:lnSpc>
              <a:buClr>
                <a:schemeClr val="accent2"/>
              </a:buClr>
            </a:pPr>
            <a:r>
              <a:rPr lang="fr-FR" dirty="0"/>
              <a:t>ID3 : spécialisé sur les variables quantitatives nominales (classement)</a:t>
            </a:r>
          </a:p>
          <a:p>
            <a:pPr lvl="2" algn="just">
              <a:lnSpc>
                <a:spcPct val="150000"/>
              </a:lnSpc>
              <a:buClr>
                <a:schemeClr val="accent2"/>
              </a:buClr>
            </a:pPr>
            <a:r>
              <a:rPr lang="fr-FR" dirty="0"/>
              <a:t>C4.5 : s’applique aussi bien sur des données quantitatives que qualitatives</a:t>
            </a:r>
          </a:p>
          <a:p>
            <a:pPr lvl="2" algn="just">
              <a:lnSpc>
                <a:spcPct val="150000"/>
              </a:lnSpc>
              <a:buClr>
                <a:schemeClr val="accent2"/>
              </a:buClr>
            </a:pPr>
            <a:r>
              <a:rPr lang="fr-FR" dirty="0"/>
              <a:t>C5.0 : extension commerciale de C4.5</a:t>
            </a:r>
          </a:p>
          <a:p>
            <a:pPr lvl="2" algn="just">
              <a:lnSpc>
                <a:spcPct val="150000"/>
              </a:lnSpc>
              <a:buClr>
                <a:schemeClr val="accent2"/>
              </a:buClr>
            </a:pPr>
            <a:r>
              <a:rPr lang="fr-FR" dirty="0"/>
              <a:t>CART : s’applique sur des données quanti et quali, supporte la régression.</a:t>
            </a:r>
          </a:p>
          <a:p>
            <a:pPr lvl="2" algn="just">
              <a:lnSpc>
                <a:spcPct val="150000"/>
              </a:lnSpc>
              <a:buClr>
                <a:schemeClr val="accent2"/>
              </a:buClr>
            </a:pPr>
            <a:endParaRPr lang="fr-FR" dirty="0"/>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114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 </a:t>
            </a:r>
            <a:r>
              <a:rPr lang="fr-FR" sz="2100" b="0" dirty="0"/>
              <a:t>implémentations</a:t>
            </a:r>
          </a:p>
        </p:txBody>
      </p:sp>
    </p:spTree>
    <p:extLst>
      <p:ext uri="{BB962C8B-B14F-4D97-AF65-F5344CB8AC3E}">
        <p14:creationId xmlns:p14="http://schemas.microsoft.com/office/powerpoint/2010/main" val="126682160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375293"/>
          </a:xfrm>
        </p:spPr>
        <p:txBody>
          <a:bodyPr>
            <a:normAutofit fontScale="70000" lnSpcReduction="20000"/>
          </a:bodyPr>
          <a:lstStyle/>
          <a:p>
            <a:pPr lvl="1" algn="just">
              <a:lnSpc>
                <a:spcPct val="150000"/>
              </a:lnSpc>
              <a:buClr>
                <a:schemeClr val="accent2"/>
              </a:buClr>
            </a:pPr>
            <a:r>
              <a:rPr lang="fr-FR" sz="1800" dirty="0"/>
              <a:t>Imaginez un ensemble de données contenant des informations sur les fruits, telles que leurs couleurs, leurs formes et leurs tailles. </a:t>
            </a:r>
          </a:p>
          <a:p>
            <a:pPr lvl="1" algn="just">
              <a:lnSpc>
                <a:spcPct val="150000"/>
              </a:lnSpc>
              <a:buClr>
                <a:schemeClr val="accent2"/>
              </a:buClr>
            </a:pPr>
            <a:r>
              <a:rPr lang="fr-FR" sz="1800" dirty="0"/>
              <a:t>Nous voulons créer un modèle qui peut classer un fruit comme une pomme, une orange ou une banane en fonction de ces caractéristiques. </a:t>
            </a:r>
          </a:p>
          <a:p>
            <a:pPr lvl="1" algn="just">
              <a:lnSpc>
                <a:spcPct val="150000"/>
              </a:lnSpc>
              <a:buClr>
                <a:schemeClr val="accent2"/>
              </a:buClr>
            </a:pPr>
            <a:r>
              <a:rPr lang="fr-FR" sz="1800" dirty="0"/>
              <a:t>Un arbre de décision peut être construit pour représenter les décisions qui conduisent à la classification correcte d'un fruit :</a:t>
            </a:r>
          </a:p>
          <a:p>
            <a:pPr lvl="2" algn="just">
              <a:lnSpc>
                <a:spcPct val="150000"/>
              </a:lnSpc>
              <a:buClr>
                <a:schemeClr val="accent2"/>
              </a:buClr>
            </a:pPr>
            <a:r>
              <a:rPr lang="fr-FR" sz="1650" dirty="0"/>
              <a:t>Si le fruit est long, c'est une banane.</a:t>
            </a:r>
          </a:p>
          <a:p>
            <a:pPr lvl="2" algn="just">
              <a:lnSpc>
                <a:spcPct val="150000"/>
              </a:lnSpc>
              <a:buClr>
                <a:schemeClr val="accent2"/>
              </a:buClr>
            </a:pPr>
            <a:r>
              <a:rPr lang="fr-FR" sz="1650" dirty="0"/>
              <a:t>Si le fruit est rond et a une couleur plus proche du rouge, c'est une pomme.</a:t>
            </a:r>
          </a:p>
          <a:p>
            <a:pPr lvl="2" algn="just">
              <a:lnSpc>
                <a:spcPct val="150000"/>
              </a:lnSpc>
              <a:buClr>
                <a:schemeClr val="accent2"/>
              </a:buClr>
            </a:pPr>
            <a:r>
              <a:rPr lang="fr-FR" sz="1650" dirty="0"/>
              <a:t>Si le fruit est rond et a une couleur plus proche de l'orange, c'est une orange.</a:t>
            </a:r>
            <a:endParaRPr lang="fr-FR" dirty="0"/>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115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la construction d’un arbre</a:t>
            </a:r>
          </a:p>
        </p:txBody>
      </p:sp>
    </p:spTree>
    <p:extLst>
      <p:ext uri="{BB962C8B-B14F-4D97-AF65-F5344CB8AC3E}">
        <p14:creationId xmlns:p14="http://schemas.microsoft.com/office/powerpoint/2010/main" val="312526244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116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exemple 2</a:t>
            </a:r>
          </a:p>
        </p:txBody>
      </p:sp>
      <p:sp>
        <p:nvSpPr>
          <p:cNvPr id="9" name="Title 13">
            <a:extLst>
              <a:ext uri="{FF2B5EF4-FFF2-40B4-BE49-F238E27FC236}">
                <a16:creationId xmlns:a16="http://schemas.microsoft.com/office/drawing/2014/main" id="{5145549F-7F6C-4DD5-A1B4-853B9CFB5C10}"/>
              </a:ext>
            </a:extLst>
          </p:cNvPr>
          <p:cNvSpPr txBox="1">
            <a:spLocks/>
          </p:cNvSpPr>
          <p:nvPr/>
        </p:nvSpPr>
        <p:spPr>
          <a:xfrm>
            <a:off x="389008" y="1127098"/>
            <a:ext cx="6249917" cy="26034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Un maraicher se demande comment catégoriser ses fruits</a:t>
            </a:r>
          </a:p>
        </p:txBody>
      </p:sp>
      <p:grpSp>
        <p:nvGrpSpPr>
          <p:cNvPr id="43" name="Groupe 42">
            <a:extLst>
              <a:ext uri="{FF2B5EF4-FFF2-40B4-BE49-F238E27FC236}">
                <a16:creationId xmlns:a16="http://schemas.microsoft.com/office/drawing/2014/main" id="{C4B445F1-C0B7-4CC3-B855-56DD08AFCEAC}"/>
              </a:ext>
            </a:extLst>
          </p:cNvPr>
          <p:cNvGrpSpPr/>
          <p:nvPr/>
        </p:nvGrpSpPr>
        <p:grpSpPr>
          <a:xfrm>
            <a:off x="1842467" y="2027583"/>
            <a:ext cx="4166309" cy="1988820"/>
            <a:chOff x="2410571" y="2115047"/>
            <a:chExt cx="5555078" cy="2651760"/>
          </a:xfrm>
        </p:grpSpPr>
        <p:sp>
          <p:nvSpPr>
            <p:cNvPr id="2" name="Rectangle 1">
              <a:extLst>
                <a:ext uri="{FF2B5EF4-FFF2-40B4-BE49-F238E27FC236}">
                  <a16:creationId xmlns:a16="http://schemas.microsoft.com/office/drawing/2014/main" id="{A5D151F8-2EB1-41D3-9D68-606B79802B42}"/>
                </a:ext>
              </a:extLst>
            </p:cNvPr>
            <p:cNvSpPr/>
            <p:nvPr/>
          </p:nvSpPr>
          <p:spPr>
            <a:xfrm>
              <a:off x="3721210" y="2115047"/>
              <a:ext cx="1224501" cy="3471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dirty="0"/>
                <a:t>Fruits</a:t>
              </a:r>
            </a:p>
          </p:txBody>
        </p:sp>
        <p:sp>
          <p:nvSpPr>
            <p:cNvPr id="8" name="Ellipse 7">
              <a:extLst>
                <a:ext uri="{FF2B5EF4-FFF2-40B4-BE49-F238E27FC236}">
                  <a16:creationId xmlns:a16="http://schemas.microsoft.com/office/drawing/2014/main" id="{C8A323FC-877B-4796-B02E-52F2E3C19AED}"/>
                </a:ext>
              </a:extLst>
            </p:cNvPr>
            <p:cNvSpPr/>
            <p:nvPr/>
          </p:nvSpPr>
          <p:spPr>
            <a:xfrm>
              <a:off x="2410571" y="3017832"/>
              <a:ext cx="1292087" cy="6556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t>Banane</a:t>
              </a:r>
            </a:p>
          </p:txBody>
        </p:sp>
        <p:cxnSp>
          <p:nvCxnSpPr>
            <p:cNvPr id="5" name="Connecteur droit 4">
              <a:extLst>
                <a:ext uri="{FF2B5EF4-FFF2-40B4-BE49-F238E27FC236}">
                  <a16:creationId xmlns:a16="http://schemas.microsoft.com/office/drawing/2014/main" id="{89893EC8-6723-4175-9B79-D8404DEA2CE9}"/>
                </a:ext>
              </a:extLst>
            </p:cNvPr>
            <p:cNvCxnSpPr>
              <a:cxnSpLocks/>
            </p:cNvCxnSpPr>
            <p:nvPr/>
          </p:nvCxnSpPr>
          <p:spPr>
            <a:xfrm flipV="1">
              <a:off x="3022822" y="2462178"/>
              <a:ext cx="1310638" cy="555654"/>
            </a:xfrm>
            <a:prstGeom prst="line">
              <a:avLst/>
            </a:prstGeom>
          </p:spPr>
          <p:style>
            <a:lnRef idx="1">
              <a:schemeClr val="accent1"/>
            </a:lnRef>
            <a:fillRef idx="0">
              <a:schemeClr val="accent1"/>
            </a:fillRef>
            <a:effectRef idx="0">
              <a:schemeClr val="accent1"/>
            </a:effectRef>
            <a:fontRef idx="minor">
              <a:schemeClr val="tx1"/>
            </a:fontRef>
          </p:style>
        </p:cxnSp>
        <p:sp>
          <p:nvSpPr>
            <p:cNvPr id="7" name="ZoneTexte 6">
              <a:extLst>
                <a:ext uri="{FF2B5EF4-FFF2-40B4-BE49-F238E27FC236}">
                  <a16:creationId xmlns:a16="http://schemas.microsoft.com/office/drawing/2014/main" id="{84530F1D-50D8-4FF8-9A0C-AFAD42AD0C55}"/>
                </a:ext>
              </a:extLst>
            </p:cNvPr>
            <p:cNvSpPr txBox="1"/>
            <p:nvPr/>
          </p:nvSpPr>
          <p:spPr>
            <a:xfrm>
              <a:off x="2783618" y="2506306"/>
              <a:ext cx="961447" cy="369332"/>
            </a:xfrm>
            <a:prstGeom prst="rect">
              <a:avLst/>
            </a:prstGeom>
            <a:noFill/>
          </p:spPr>
          <p:txBody>
            <a:bodyPr wrap="square" rtlCol="0">
              <a:spAutoFit/>
            </a:bodyPr>
            <a:lstStyle/>
            <a:p>
              <a:r>
                <a:rPr lang="fr-FR" sz="1200" i="1" dirty="0"/>
                <a:t>long</a:t>
              </a:r>
            </a:p>
          </p:txBody>
        </p:sp>
        <p:sp>
          <p:nvSpPr>
            <p:cNvPr id="12" name="Ellipse 11">
              <a:extLst>
                <a:ext uri="{FF2B5EF4-FFF2-40B4-BE49-F238E27FC236}">
                  <a16:creationId xmlns:a16="http://schemas.microsoft.com/office/drawing/2014/main" id="{AAE7C148-3D5D-4D0E-B663-0A771C433F6D}"/>
                </a:ext>
              </a:extLst>
            </p:cNvPr>
            <p:cNvSpPr/>
            <p:nvPr/>
          </p:nvSpPr>
          <p:spPr>
            <a:xfrm>
              <a:off x="4945710" y="3042171"/>
              <a:ext cx="2503386" cy="6313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Pomme, citron, orange…</a:t>
              </a:r>
            </a:p>
          </p:txBody>
        </p:sp>
        <p:cxnSp>
          <p:nvCxnSpPr>
            <p:cNvPr id="13" name="Connecteur droit 12">
              <a:extLst>
                <a:ext uri="{FF2B5EF4-FFF2-40B4-BE49-F238E27FC236}">
                  <a16:creationId xmlns:a16="http://schemas.microsoft.com/office/drawing/2014/main" id="{E7D93C06-B004-4AEE-B13B-EBE2210C78FD}"/>
                </a:ext>
              </a:extLst>
            </p:cNvPr>
            <p:cNvCxnSpPr>
              <a:cxnSpLocks/>
              <a:stCxn id="2" idx="2"/>
            </p:cNvCxnSpPr>
            <p:nvPr/>
          </p:nvCxnSpPr>
          <p:spPr>
            <a:xfrm>
              <a:off x="4333461" y="2462178"/>
              <a:ext cx="1622066" cy="579993"/>
            </a:xfrm>
            <a:prstGeom prst="line">
              <a:avLst/>
            </a:prstGeom>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0A222EE0-F672-4D29-9D1A-6E84E444EDC5}"/>
                </a:ext>
              </a:extLst>
            </p:cNvPr>
            <p:cNvSpPr txBox="1"/>
            <p:nvPr/>
          </p:nvSpPr>
          <p:spPr>
            <a:xfrm>
              <a:off x="5275029" y="2506306"/>
              <a:ext cx="961447" cy="369332"/>
            </a:xfrm>
            <a:prstGeom prst="rect">
              <a:avLst/>
            </a:prstGeom>
            <a:noFill/>
          </p:spPr>
          <p:txBody>
            <a:bodyPr wrap="square" rtlCol="0">
              <a:spAutoFit/>
            </a:bodyPr>
            <a:lstStyle/>
            <a:p>
              <a:r>
                <a:rPr lang="fr-FR" sz="1200" i="1" dirty="0"/>
                <a:t>rond</a:t>
              </a:r>
            </a:p>
          </p:txBody>
        </p:sp>
        <p:cxnSp>
          <p:nvCxnSpPr>
            <p:cNvPr id="23" name="Connecteur droit 22">
              <a:extLst>
                <a:ext uri="{FF2B5EF4-FFF2-40B4-BE49-F238E27FC236}">
                  <a16:creationId xmlns:a16="http://schemas.microsoft.com/office/drawing/2014/main" id="{CB3076CE-9C02-418F-BF9D-F4F16770197C}"/>
                </a:ext>
              </a:extLst>
            </p:cNvPr>
            <p:cNvCxnSpPr>
              <a:cxnSpLocks/>
              <a:stCxn id="12" idx="4"/>
            </p:cNvCxnSpPr>
            <p:nvPr/>
          </p:nvCxnSpPr>
          <p:spPr>
            <a:xfrm flipH="1">
              <a:off x="4663441" y="3673503"/>
              <a:ext cx="1533962" cy="691154"/>
            </a:xfrm>
            <a:prstGeom prst="line">
              <a:avLst/>
            </a:prstGeom>
          </p:spPr>
          <p:style>
            <a:lnRef idx="1">
              <a:schemeClr val="accent1"/>
            </a:lnRef>
            <a:fillRef idx="0">
              <a:schemeClr val="accent1"/>
            </a:fillRef>
            <a:effectRef idx="0">
              <a:schemeClr val="accent1"/>
            </a:effectRef>
            <a:fontRef idx="minor">
              <a:schemeClr val="tx1"/>
            </a:fontRef>
          </p:style>
        </p:cxnSp>
        <p:sp>
          <p:nvSpPr>
            <p:cNvPr id="25" name="Ellipse 24">
              <a:extLst>
                <a:ext uri="{FF2B5EF4-FFF2-40B4-BE49-F238E27FC236}">
                  <a16:creationId xmlns:a16="http://schemas.microsoft.com/office/drawing/2014/main" id="{F1599826-E96F-4CAD-9DDC-AE28BB22F2CD}"/>
                </a:ext>
              </a:extLst>
            </p:cNvPr>
            <p:cNvSpPr/>
            <p:nvPr/>
          </p:nvSpPr>
          <p:spPr>
            <a:xfrm>
              <a:off x="3865991" y="4364657"/>
              <a:ext cx="1411068" cy="402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Pomme</a:t>
              </a:r>
            </a:p>
          </p:txBody>
        </p:sp>
        <p:sp>
          <p:nvSpPr>
            <p:cNvPr id="27" name="ZoneTexte 26">
              <a:extLst>
                <a:ext uri="{FF2B5EF4-FFF2-40B4-BE49-F238E27FC236}">
                  <a16:creationId xmlns:a16="http://schemas.microsoft.com/office/drawing/2014/main" id="{411FDB07-820B-4F89-8558-B3C9B8447C96}"/>
                </a:ext>
              </a:extLst>
            </p:cNvPr>
            <p:cNvSpPr txBox="1"/>
            <p:nvPr/>
          </p:nvSpPr>
          <p:spPr>
            <a:xfrm>
              <a:off x="4414721" y="3839780"/>
              <a:ext cx="961447" cy="369332"/>
            </a:xfrm>
            <a:prstGeom prst="rect">
              <a:avLst/>
            </a:prstGeom>
            <a:noFill/>
          </p:spPr>
          <p:txBody>
            <a:bodyPr wrap="square" rtlCol="0">
              <a:spAutoFit/>
            </a:bodyPr>
            <a:lstStyle/>
            <a:p>
              <a:r>
                <a:rPr lang="fr-FR" sz="1200" i="1" dirty="0"/>
                <a:t>rouge</a:t>
              </a:r>
            </a:p>
          </p:txBody>
        </p:sp>
        <p:sp>
          <p:nvSpPr>
            <p:cNvPr id="29" name="Ellipse 28">
              <a:extLst>
                <a:ext uri="{FF2B5EF4-FFF2-40B4-BE49-F238E27FC236}">
                  <a16:creationId xmlns:a16="http://schemas.microsoft.com/office/drawing/2014/main" id="{BA210396-A5C6-422B-9834-35AC44FD181B}"/>
                </a:ext>
              </a:extLst>
            </p:cNvPr>
            <p:cNvSpPr/>
            <p:nvPr/>
          </p:nvSpPr>
          <p:spPr>
            <a:xfrm>
              <a:off x="5525778" y="4369971"/>
              <a:ext cx="1086775" cy="3968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citron</a:t>
              </a:r>
            </a:p>
          </p:txBody>
        </p:sp>
        <p:cxnSp>
          <p:nvCxnSpPr>
            <p:cNvPr id="30" name="Connecteur droit 29">
              <a:extLst>
                <a:ext uri="{FF2B5EF4-FFF2-40B4-BE49-F238E27FC236}">
                  <a16:creationId xmlns:a16="http://schemas.microsoft.com/office/drawing/2014/main" id="{F4909A59-ACD5-4843-B6FA-CD7F3D2A58AE}"/>
                </a:ext>
              </a:extLst>
            </p:cNvPr>
            <p:cNvCxnSpPr>
              <a:cxnSpLocks/>
              <a:stCxn id="12" idx="4"/>
            </p:cNvCxnSpPr>
            <p:nvPr/>
          </p:nvCxnSpPr>
          <p:spPr>
            <a:xfrm flipH="1">
              <a:off x="6096001" y="3673503"/>
              <a:ext cx="101402" cy="696469"/>
            </a:xfrm>
            <a:prstGeom prst="line">
              <a:avLst/>
            </a:prstGeom>
          </p:spPr>
          <p:style>
            <a:lnRef idx="1">
              <a:schemeClr val="accent1"/>
            </a:lnRef>
            <a:fillRef idx="0">
              <a:schemeClr val="accent1"/>
            </a:fillRef>
            <a:effectRef idx="0">
              <a:schemeClr val="accent1"/>
            </a:effectRef>
            <a:fontRef idx="minor">
              <a:schemeClr val="tx1"/>
            </a:fontRef>
          </p:style>
        </p:cxnSp>
        <p:sp>
          <p:nvSpPr>
            <p:cNvPr id="33" name="ZoneTexte 32">
              <a:extLst>
                <a:ext uri="{FF2B5EF4-FFF2-40B4-BE49-F238E27FC236}">
                  <a16:creationId xmlns:a16="http://schemas.microsoft.com/office/drawing/2014/main" id="{A1F2F5B8-88DA-4C66-ACB0-592605594B2D}"/>
                </a:ext>
              </a:extLst>
            </p:cNvPr>
            <p:cNvSpPr txBox="1"/>
            <p:nvPr/>
          </p:nvSpPr>
          <p:spPr>
            <a:xfrm>
              <a:off x="6050883" y="3914942"/>
              <a:ext cx="961447" cy="369332"/>
            </a:xfrm>
            <a:prstGeom prst="rect">
              <a:avLst/>
            </a:prstGeom>
            <a:noFill/>
          </p:spPr>
          <p:txBody>
            <a:bodyPr wrap="square" rtlCol="0">
              <a:spAutoFit/>
            </a:bodyPr>
            <a:lstStyle/>
            <a:p>
              <a:r>
                <a:rPr lang="fr-FR" sz="1200" i="1" dirty="0"/>
                <a:t>vert</a:t>
              </a:r>
            </a:p>
          </p:txBody>
        </p:sp>
        <p:sp>
          <p:nvSpPr>
            <p:cNvPr id="37" name="Ellipse 36">
              <a:extLst>
                <a:ext uri="{FF2B5EF4-FFF2-40B4-BE49-F238E27FC236}">
                  <a16:creationId xmlns:a16="http://schemas.microsoft.com/office/drawing/2014/main" id="{37EB6A67-0AAD-4463-9A92-AC349D22B7D6}"/>
                </a:ext>
              </a:extLst>
            </p:cNvPr>
            <p:cNvSpPr/>
            <p:nvPr/>
          </p:nvSpPr>
          <p:spPr>
            <a:xfrm>
              <a:off x="6774468" y="4364657"/>
              <a:ext cx="1191181" cy="3968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orange</a:t>
              </a:r>
            </a:p>
          </p:txBody>
        </p:sp>
        <p:cxnSp>
          <p:nvCxnSpPr>
            <p:cNvPr id="38" name="Connecteur droit 37">
              <a:extLst>
                <a:ext uri="{FF2B5EF4-FFF2-40B4-BE49-F238E27FC236}">
                  <a16:creationId xmlns:a16="http://schemas.microsoft.com/office/drawing/2014/main" id="{40DD68E0-7351-415B-B720-E19B3517A476}"/>
                </a:ext>
              </a:extLst>
            </p:cNvPr>
            <p:cNvCxnSpPr>
              <a:cxnSpLocks/>
              <a:stCxn id="12" idx="4"/>
            </p:cNvCxnSpPr>
            <p:nvPr/>
          </p:nvCxnSpPr>
          <p:spPr>
            <a:xfrm>
              <a:off x="6197403" y="3673503"/>
              <a:ext cx="1251693" cy="691154"/>
            </a:xfrm>
            <a:prstGeom prst="line">
              <a:avLst/>
            </a:prstGeom>
          </p:spPr>
          <p:style>
            <a:lnRef idx="1">
              <a:schemeClr val="accent1"/>
            </a:lnRef>
            <a:fillRef idx="0">
              <a:schemeClr val="accent1"/>
            </a:fillRef>
            <a:effectRef idx="0">
              <a:schemeClr val="accent1"/>
            </a:effectRef>
            <a:fontRef idx="minor">
              <a:schemeClr val="tx1"/>
            </a:fontRef>
          </p:style>
        </p:cxnSp>
        <p:sp>
          <p:nvSpPr>
            <p:cNvPr id="42" name="ZoneTexte 41">
              <a:extLst>
                <a:ext uri="{FF2B5EF4-FFF2-40B4-BE49-F238E27FC236}">
                  <a16:creationId xmlns:a16="http://schemas.microsoft.com/office/drawing/2014/main" id="{7119C0B0-232F-4796-8769-02C68893B597}"/>
                </a:ext>
              </a:extLst>
            </p:cNvPr>
            <p:cNvSpPr txBox="1"/>
            <p:nvPr/>
          </p:nvSpPr>
          <p:spPr>
            <a:xfrm>
              <a:off x="6962692" y="3849803"/>
              <a:ext cx="961447" cy="369332"/>
            </a:xfrm>
            <a:prstGeom prst="rect">
              <a:avLst/>
            </a:prstGeom>
            <a:noFill/>
          </p:spPr>
          <p:txBody>
            <a:bodyPr wrap="square" rtlCol="0">
              <a:spAutoFit/>
            </a:bodyPr>
            <a:lstStyle/>
            <a:p>
              <a:r>
                <a:rPr lang="fr-FR" sz="1200" i="1" dirty="0"/>
                <a:t>orange</a:t>
              </a:r>
            </a:p>
          </p:txBody>
        </p:sp>
      </p:grpSp>
    </p:spTree>
    <p:extLst>
      <p:ext uri="{BB962C8B-B14F-4D97-AF65-F5344CB8AC3E}">
        <p14:creationId xmlns:p14="http://schemas.microsoft.com/office/powerpoint/2010/main" val="401768269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117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exemple 3</a:t>
            </a:r>
          </a:p>
        </p:txBody>
      </p:sp>
      <p:sp>
        <p:nvSpPr>
          <p:cNvPr id="8" name="Title 13">
            <a:extLst>
              <a:ext uri="{FF2B5EF4-FFF2-40B4-BE49-F238E27FC236}">
                <a16:creationId xmlns:a16="http://schemas.microsoft.com/office/drawing/2014/main" id="{661B7855-BAE4-4388-A518-8FC2872390BA}"/>
              </a:ext>
            </a:extLst>
          </p:cNvPr>
          <p:cNvSpPr txBox="1">
            <a:spLocks/>
          </p:cNvSpPr>
          <p:nvPr/>
        </p:nvSpPr>
        <p:spPr>
          <a:xfrm>
            <a:off x="389008" y="1127098"/>
            <a:ext cx="6249917" cy="26034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Un botaniste se demande comment catégoriser des plantes</a:t>
            </a:r>
          </a:p>
        </p:txBody>
      </p:sp>
      <p:grpSp>
        <p:nvGrpSpPr>
          <p:cNvPr id="53" name="Groupe 52">
            <a:extLst>
              <a:ext uri="{FF2B5EF4-FFF2-40B4-BE49-F238E27FC236}">
                <a16:creationId xmlns:a16="http://schemas.microsoft.com/office/drawing/2014/main" id="{772CA416-D651-4A75-8763-A1D1E56A295A}"/>
              </a:ext>
            </a:extLst>
          </p:cNvPr>
          <p:cNvGrpSpPr/>
          <p:nvPr/>
        </p:nvGrpSpPr>
        <p:grpSpPr>
          <a:xfrm>
            <a:off x="1102996" y="1849149"/>
            <a:ext cx="5459645" cy="2773423"/>
            <a:chOff x="2456623" y="2712021"/>
            <a:chExt cx="7279527" cy="3697897"/>
          </a:xfrm>
        </p:grpSpPr>
        <p:grpSp>
          <p:nvGrpSpPr>
            <p:cNvPr id="9" name="Groupe 8">
              <a:extLst>
                <a:ext uri="{FF2B5EF4-FFF2-40B4-BE49-F238E27FC236}">
                  <a16:creationId xmlns:a16="http://schemas.microsoft.com/office/drawing/2014/main" id="{D21880FA-B6C3-4CD7-8744-4FCCEA61309F}"/>
                </a:ext>
              </a:extLst>
            </p:cNvPr>
            <p:cNvGrpSpPr/>
            <p:nvPr/>
          </p:nvGrpSpPr>
          <p:grpSpPr>
            <a:xfrm>
              <a:off x="2456623" y="2712021"/>
              <a:ext cx="7279527" cy="3399359"/>
              <a:chOff x="2410571" y="2123624"/>
              <a:chExt cx="7279527" cy="3399359"/>
            </a:xfrm>
          </p:grpSpPr>
          <p:sp>
            <p:nvSpPr>
              <p:cNvPr id="10" name="Rectangle 9">
                <a:extLst>
                  <a:ext uri="{FF2B5EF4-FFF2-40B4-BE49-F238E27FC236}">
                    <a16:creationId xmlns:a16="http://schemas.microsoft.com/office/drawing/2014/main" id="{4EF488C4-2F8F-431F-910F-EBEE5654C6F0}"/>
                  </a:ext>
                </a:extLst>
              </p:cNvPr>
              <p:cNvSpPr/>
              <p:nvPr/>
            </p:nvSpPr>
            <p:spPr>
              <a:xfrm>
                <a:off x="3721209" y="2123624"/>
                <a:ext cx="2019631"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1050" dirty="0"/>
                  <a:t>Longueur des sépales</a:t>
                </a:r>
              </a:p>
            </p:txBody>
          </p:sp>
          <p:sp>
            <p:nvSpPr>
              <p:cNvPr id="11" name="Ellipse 10">
                <a:extLst>
                  <a:ext uri="{FF2B5EF4-FFF2-40B4-BE49-F238E27FC236}">
                    <a16:creationId xmlns:a16="http://schemas.microsoft.com/office/drawing/2014/main" id="{5B42D405-8E8C-4AB7-881E-B70E342587F1}"/>
                  </a:ext>
                </a:extLst>
              </p:cNvPr>
              <p:cNvSpPr/>
              <p:nvPr/>
            </p:nvSpPr>
            <p:spPr>
              <a:xfrm>
                <a:off x="2410571" y="3017832"/>
                <a:ext cx="1224501" cy="6556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setosa</a:t>
                </a:r>
              </a:p>
            </p:txBody>
          </p:sp>
          <p:cxnSp>
            <p:nvCxnSpPr>
              <p:cNvPr id="12" name="Connecteur droit 11">
                <a:extLst>
                  <a:ext uri="{FF2B5EF4-FFF2-40B4-BE49-F238E27FC236}">
                    <a16:creationId xmlns:a16="http://schemas.microsoft.com/office/drawing/2014/main" id="{ADB4AD23-0B46-4B00-AA86-58E30A87CE8B}"/>
                  </a:ext>
                </a:extLst>
              </p:cNvPr>
              <p:cNvCxnSpPr>
                <a:cxnSpLocks/>
                <a:endCxn id="10" idx="2"/>
              </p:cNvCxnSpPr>
              <p:nvPr/>
            </p:nvCxnSpPr>
            <p:spPr>
              <a:xfrm flipV="1">
                <a:off x="3022822" y="2462178"/>
                <a:ext cx="1708203" cy="555654"/>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1272E087-9789-4CFC-9C69-C08B7B16807B}"/>
                      </a:ext>
                    </a:extLst>
                  </p:cNvPr>
                  <p:cNvSpPr txBox="1"/>
                  <p:nvPr/>
                </p:nvSpPr>
                <p:spPr>
                  <a:xfrm>
                    <a:off x="2800452" y="2649429"/>
                    <a:ext cx="961445" cy="3077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900" i="1">
                              <a:latin typeface="Cambria Math" panose="02040503050406030204" pitchFamily="18" charset="0"/>
                              <a:ea typeface="Cambria Math" panose="02040503050406030204" pitchFamily="18" charset="0"/>
                            </a:rPr>
                            <m:t>≤0.6</m:t>
                          </m:r>
                        </m:oMath>
                      </m:oMathPara>
                    </a14:m>
                    <a:endParaRPr lang="fr-FR" sz="900" i="1" dirty="0"/>
                  </a:p>
                </p:txBody>
              </p:sp>
            </mc:Choice>
            <mc:Fallback xmlns="">
              <p:sp>
                <p:nvSpPr>
                  <p:cNvPr id="13" name="ZoneTexte 12">
                    <a:extLst>
                      <a:ext uri="{FF2B5EF4-FFF2-40B4-BE49-F238E27FC236}">
                        <a16:creationId xmlns:a16="http://schemas.microsoft.com/office/drawing/2014/main" id="{1272E087-9789-4CFC-9C69-C08B7B16807B}"/>
                      </a:ext>
                    </a:extLst>
                  </p:cNvPr>
                  <p:cNvSpPr txBox="1">
                    <a:spLocks noRot="1" noChangeAspect="1" noMove="1" noResize="1" noEditPoints="1" noAdjustHandles="1" noChangeArrowheads="1" noChangeShapeType="1" noTextEdit="1"/>
                  </p:cNvSpPr>
                  <p:nvPr/>
                </p:nvSpPr>
                <p:spPr>
                  <a:xfrm>
                    <a:off x="2800452" y="2649429"/>
                    <a:ext cx="961445" cy="307776"/>
                  </a:xfrm>
                  <a:prstGeom prst="rect">
                    <a:avLst/>
                  </a:prstGeom>
                  <a:blipFill>
                    <a:blip r:embed="rId2"/>
                    <a:stretch>
                      <a:fillRect/>
                    </a:stretch>
                  </a:blipFill>
                </p:spPr>
                <p:txBody>
                  <a:bodyPr/>
                  <a:lstStyle/>
                  <a:p>
                    <a:r>
                      <a:rPr lang="fr-FR">
                        <a:noFill/>
                      </a:rPr>
                      <a:t> </a:t>
                    </a:r>
                  </a:p>
                </p:txBody>
              </p:sp>
            </mc:Fallback>
          </mc:AlternateContent>
          <p:sp>
            <p:nvSpPr>
              <p:cNvPr id="15" name="Ellipse 14">
                <a:extLst>
                  <a:ext uri="{FF2B5EF4-FFF2-40B4-BE49-F238E27FC236}">
                    <a16:creationId xmlns:a16="http://schemas.microsoft.com/office/drawing/2014/main" id="{91C9DEAC-0D3B-49B1-A565-CB37D88C1AA1}"/>
                  </a:ext>
                </a:extLst>
              </p:cNvPr>
              <p:cNvSpPr/>
              <p:nvPr/>
            </p:nvSpPr>
            <p:spPr>
              <a:xfrm>
                <a:off x="4945711" y="3042171"/>
                <a:ext cx="2019632" cy="6313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1350" dirty="0"/>
                  <a:t>virginica, versicolor</a:t>
                </a:r>
              </a:p>
            </p:txBody>
          </p:sp>
          <p:cxnSp>
            <p:nvCxnSpPr>
              <p:cNvPr id="16" name="Connecteur droit 15">
                <a:extLst>
                  <a:ext uri="{FF2B5EF4-FFF2-40B4-BE49-F238E27FC236}">
                    <a16:creationId xmlns:a16="http://schemas.microsoft.com/office/drawing/2014/main" id="{553DD244-074C-4829-8A07-073009E392DA}"/>
                  </a:ext>
                </a:extLst>
              </p:cNvPr>
              <p:cNvCxnSpPr>
                <a:cxnSpLocks/>
                <a:stCxn id="10" idx="2"/>
              </p:cNvCxnSpPr>
              <p:nvPr/>
            </p:nvCxnSpPr>
            <p:spPr>
              <a:xfrm>
                <a:off x="4731025" y="2462178"/>
                <a:ext cx="1224502" cy="579993"/>
              </a:xfrm>
              <a:prstGeom prst="line">
                <a:avLst/>
              </a:prstGeom>
            </p:spPr>
            <p:style>
              <a:lnRef idx="1">
                <a:schemeClr val="accent1"/>
              </a:lnRef>
              <a:fillRef idx="0">
                <a:schemeClr val="accent1"/>
              </a:fillRef>
              <a:effectRef idx="0">
                <a:schemeClr val="accent1"/>
              </a:effectRef>
              <a:fontRef idx="minor">
                <a:schemeClr val="tx1"/>
              </a:fontRef>
            </p:style>
          </p:cxnSp>
          <p:sp>
            <p:nvSpPr>
              <p:cNvPr id="19" name="Ellipse 18">
                <a:extLst>
                  <a:ext uri="{FF2B5EF4-FFF2-40B4-BE49-F238E27FC236}">
                    <a16:creationId xmlns:a16="http://schemas.microsoft.com/office/drawing/2014/main" id="{1A33DD2E-1AB8-4EA7-9BDE-6EE0CA36064D}"/>
                  </a:ext>
                </a:extLst>
              </p:cNvPr>
              <p:cNvSpPr/>
              <p:nvPr/>
            </p:nvSpPr>
            <p:spPr>
              <a:xfrm>
                <a:off x="3381563" y="5184429"/>
                <a:ext cx="1666190" cy="33855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dirty="0"/>
                  <a:t>virginica</a:t>
                </a:r>
              </a:p>
            </p:txBody>
          </p:sp>
          <p:sp>
            <p:nvSpPr>
              <p:cNvPr id="22" name="Rectangle 21">
                <a:extLst>
                  <a:ext uri="{FF2B5EF4-FFF2-40B4-BE49-F238E27FC236}">
                    <a16:creationId xmlns:a16="http://schemas.microsoft.com/office/drawing/2014/main" id="{CFD6D234-157C-42FF-9C43-4A35B737AB0C}"/>
                  </a:ext>
                </a:extLst>
              </p:cNvPr>
              <p:cNvSpPr/>
              <p:nvPr/>
            </p:nvSpPr>
            <p:spPr>
              <a:xfrm>
                <a:off x="5225988" y="4086439"/>
                <a:ext cx="2084897" cy="333238"/>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1100" dirty="0"/>
                  <a:t>Longueur des pétales</a:t>
                </a:r>
              </a:p>
            </p:txBody>
          </p:sp>
          <p:cxnSp>
            <p:nvCxnSpPr>
              <p:cNvPr id="23" name="Connecteur droit 22">
                <a:extLst>
                  <a:ext uri="{FF2B5EF4-FFF2-40B4-BE49-F238E27FC236}">
                    <a16:creationId xmlns:a16="http://schemas.microsoft.com/office/drawing/2014/main" id="{37129513-E7D1-47F6-AD10-22C376E922FA}"/>
                  </a:ext>
                </a:extLst>
              </p:cNvPr>
              <p:cNvCxnSpPr>
                <a:cxnSpLocks/>
                <a:stCxn id="15" idx="4"/>
                <a:endCxn id="22" idx="0"/>
              </p:cNvCxnSpPr>
              <p:nvPr/>
            </p:nvCxnSpPr>
            <p:spPr>
              <a:xfrm>
                <a:off x="5955527" y="3673503"/>
                <a:ext cx="312910" cy="412936"/>
              </a:xfrm>
              <a:prstGeom prst="line">
                <a:avLst/>
              </a:prstGeom>
            </p:spPr>
            <p:style>
              <a:lnRef idx="1">
                <a:schemeClr val="accent1"/>
              </a:lnRef>
              <a:fillRef idx="0">
                <a:schemeClr val="accent1"/>
              </a:fillRef>
              <a:effectRef idx="0">
                <a:schemeClr val="accent1"/>
              </a:effectRef>
              <a:fontRef idx="minor">
                <a:schemeClr val="tx1"/>
              </a:fontRef>
            </p:style>
          </p:cxnSp>
          <p:sp>
            <p:nvSpPr>
              <p:cNvPr id="25" name="Ellipse 24">
                <a:extLst>
                  <a:ext uri="{FF2B5EF4-FFF2-40B4-BE49-F238E27FC236}">
                    <a16:creationId xmlns:a16="http://schemas.microsoft.com/office/drawing/2014/main" id="{8AA9F829-FC8F-4E73-AE63-41774E5684C2}"/>
                  </a:ext>
                </a:extLst>
              </p:cNvPr>
              <p:cNvSpPr/>
              <p:nvPr/>
            </p:nvSpPr>
            <p:spPr>
              <a:xfrm>
                <a:off x="8046276" y="5073268"/>
                <a:ext cx="1643822" cy="4497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versicolor</a:t>
                </a:r>
              </a:p>
            </p:txBody>
          </p:sp>
        </p:grpSp>
        <mc:AlternateContent xmlns:mc="http://schemas.openxmlformats.org/markup-compatibility/2006" xmlns:a14="http://schemas.microsoft.com/office/drawing/2010/main">
          <mc:Choice Requires="a14">
            <p:sp>
              <p:nvSpPr>
                <p:cNvPr id="28" name="ZoneTexte 27">
                  <a:extLst>
                    <a:ext uri="{FF2B5EF4-FFF2-40B4-BE49-F238E27FC236}">
                      <a16:creationId xmlns:a16="http://schemas.microsoft.com/office/drawing/2014/main" id="{57AF94E0-E249-4D5D-9EC2-42C088ECC5F9}"/>
                    </a:ext>
                  </a:extLst>
                </p:cNvPr>
                <p:cNvSpPr txBox="1"/>
                <p:nvPr/>
              </p:nvSpPr>
              <p:spPr>
                <a:xfrm>
                  <a:off x="5093804" y="3109693"/>
                  <a:ext cx="961445" cy="3077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900" i="1">
                            <a:latin typeface="Cambria Math" panose="02040503050406030204" pitchFamily="18" charset="0"/>
                            <a:ea typeface="Cambria Math" panose="02040503050406030204" pitchFamily="18" charset="0"/>
                          </a:rPr>
                          <m:t>&gt;0.6</m:t>
                        </m:r>
                      </m:oMath>
                    </m:oMathPara>
                  </a14:m>
                  <a:endParaRPr lang="fr-FR" sz="900" i="1" dirty="0"/>
                </a:p>
              </p:txBody>
            </p:sp>
          </mc:Choice>
          <mc:Fallback xmlns="">
            <p:sp>
              <p:nvSpPr>
                <p:cNvPr id="28" name="ZoneTexte 27">
                  <a:extLst>
                    <a:ext uri="{FF2B5EF4-FFF2-40B4-BE49-F238E27FC236}">
                      <a16:creationId xmlns:a16="http://schemas.microsoft.com/office/drawing/2014/main" id="{57AF94E0-E249-4D5D-9EC2-42C088ECC5F9}"/>
                    </a:ext>
                  </a:extLst>
                </p:cNvPr>
                <p:cNvSpPr txBox="1">
                  <a:spLocks noRot="1" noChangeAspect="1" noMove="1" noResize="1" noEditPoints="1" noAdjustHandles="1" noChangeArrowheads="1" noChangeShapeType="1" noTextEdit="1"/>
                </p:cNvSpPr>
                <p:nvPr/>
              </p:nvSpPr>
              <p:spPr>
                <a:xfrm>
                  <a:off x="5093804" y="3109693"/>
                  <a:ext cx="961445" cy="307776"/>
                </a:xfrm>
                <a:prstGeom prst="rect">
                  <a:avLst/>
                </a:prstGeom>
                <a:blipFill>
                  <a:blip r:embed="rId3"/>
                  <a:stretch>
                    <a:fillRect/>
                  </a:stretch>
                </a:blipFill>
              </p:spPr>
              <p:txBody>
                <a:bodyPr/>
                <a:lstStyle/>
                <a:p>
                  <a:r>
                    <a:rPr lang="fr-FR">
                      <a:noFill/>
                    </a:rPr>
                    <a:t> </a:t>
                  </a:r>
                </a:p>
              </p:txBody>
            </p:sp>
          </mc:Fallback>
        </mc:AlternateContent>
        <p:cxnSp>
          <p:nvCxnSpPr>
            <p:cNvPr id="38" name="Connecteur droit 37">
              <a:extLst>
                <a:ext uri="{FF2B5EF4-FFF2-40B4-BE49-F238E27FC236}">
                  <a16:creationId xmlns:a16="http://schemas.microsoft.com/office/drawing/2014/main" id="{ADD92167-1ED4-4B2F-80BD-7A056E1BDB60}"/>
                </a:ext>
              </a:extLst>
            </p:cNvPr>
            <p:cNvCxnSpPr>
              <a:cxnSpLocks/>
              <a:endCxn id="22" idx="2"/>
            </p:cNvCxnSpPr>
            <p:nvPr/>
          </p:nvCxnSpPr>
          <p:spPr>
            <a:xfrm flipV="1">
              <a:off x="4260710" y="5008074"/>
              <a:ext cx="2053779" cy="76475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ZoneTexte 40">
                  <a:extLst>
                    <a:ext uri="{FF2B5EF4-FFF2-40B4-BE49-F238E27FC236}">
                      <a16:creationId xmlns:a16="http://schemas.microsoft.com/office/drawing/2014/main" id="{D1B2B5BF-D7E1-49B9-BBDD-1CF577071C1A}"/>
                    </a:ext>
                  </a:extLst>
                </p:cNvPr>
                <p:cNvSpPr txBox="1"/>
                <p:nvPr/>
              </p:nvSpPr>
              <p:spPr>
                <a:xfrm>
                  <a:off x="4427882" y="5188994"/>
                  <a:ext cx="961445" cy="3077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900" i="1">
                            <a:latin typeface="Cambria Math" panose="02040503050406030204" pitchFamily="18" charset="0"/>
                            <a:ea typeface="Cambria Math" panose="02040503050406030204" pitchFamily="18" charset="0"/>
                          </a:rPr>
                          <m:t>≤0.5</m:t>
                        </m:r>
                      </m:oMath>
                    </m:oMathPara>
                  </a14:m>
                  <a:endParaRPr lang="fr-FR" sz="900" i="1" dirty="0"/>
                </a:p>
              </p:txBody>
            </p:sp>
          </mc:Choice>
          <mc:Fallback xmlns="">
            <p:sp>
              <p:nvSpPr>
                <p:cNvPr id="41" name="ZoneTexte 40">
                  <a:extLst>
                    <a:ext uri="{FF2B5EF4-FFF2-40B4-BE49-F238E27FC236}">
                      <a16:creationId xmlns:a16="http://schemas.microsoft.com/office/drawing/2014/main" id="{D1B2B5BF-D7E1-49B9-BBDD-1CF577071C1A}"/>
                    </a:ext>
                  </a:extLst>
                </p:cNvPr>
                <p:cNvSpPr txBox="1">
                  <a:spLocks noRot="1" noChangeAspect="1" noMove="1" noResize="1" noEditPoints="1" noAdjustHandles="1" noChangeArrowheads="1" noChangeShapeType="1" noTextEdit="1"/>
                </p:cNvSpPr>
                <p:nvPr/>
              </p:nvSpPr>
              <p:spPr>
                <a:xfrm>
                  <a:off x="4427882" y="5188994"/>
                  <a:ext cx="961445" cy="307776"/>
                </a:xfrm>
                <a:prstGeom prst="rect">
                  <a:avLst/>
                </a:prstGeom>
                <a:blipFill>
                  <a:blip r:embed="rId4"/>
                  <a:stretch>
                    <a:fillRect/>
                  </a:stretch>
                </a:blipFill>
              </p:spPr>
              <p:txBody>
                <a:bodyPr/>
                <a:lstStyle/>
                <a:p>
                  <a:r>
                    <a:rPr lang="fr-FR">
                      <a:noFill/>
                    </a:rPr>
                    <a:t> </a:t>
                  </a:r>
                </a:p>
              </p:txBody>
            </p:sp>
          </mc:Fallback>
        </mc:AlternateContent>
        <p:cxnSp>
          <p:nvCxnSpPr>
            <p:cNvPr id="42" name="Connecteur droit 41">
              <a:extLst>
                <a:ext uri="{FF2B5EF4-FFF2-40B4-BE49-F238E27FC236}">
                  <a16:creationId xmlns:a16="http://schemas.microsoft.com/office/drawing/2014/main" id="{BB14A0AE-EEC9-460F-A99D-7CBC34C12959}"/>
                </a:ext>
              </a:extLst>
            </p:cNvPr>
            <p:cNvCxnSpPr>
              <a:cxnSpLocks/>
              <a:endCxn id="22" idx="2"/>
            </p:cNvCxnSpPr>
            <p:nvPr/>
          </p:nvCxnSpPr>
          <p:spPr>
            <a:xfrm flipH="1" flipV="1">
              <a:off x="6314489" y="5008074"/>
              <a:ext cx="2379212" cy="653591"/>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ZoneTexte 45">
                  <a:extLst>
                    <a:ext uri="{FF2B5EF4-FFF2-40B4-BE49-F238E27FC236}">
                      <a16:creationId xmlns:a16="http://schemas.microsoft.com/office/drawing/2014/main" id="{F98D03D5-AA72-495F-ABEB-17CA45206B9B}"/>
                    </a:ext>
                  </a:extLst>
                </p:cNvPr>
                <p:cNvSpPr txBox="1"/>
                <p:nvPr/>
              </p:nvSpPr>
              <p:spPr>
                <a:xfrm>
                  <a:off x="7432173" y="5113451"/>
                  <a:ext cx="961445" cy="3077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900" i="1">
                            <a:latin typeface="Cambria Math" panose="02040503050406030204" pitchFamily="18" charset="0"/>
                            <a:ea typeface="Cambria Math" panose="02040503050406030204" pitchFamily="18" charset="0"/>
                          </a:rPr>
                          <m:t>&gt;0.5</m:t>
                        </m:r>
                      </m:oMath>
                    </m:oMathPara>
                  </a14:m>
                  <a:endParaRPr lang="fr-FR" sz="900" i="1" dirty="0"/>
                </a:p>
              </p:txBody>
            </p:sp>
          </mc:Choice>
          <mc:Fallback xmlns="">
            <p:sp>
              <p:nvSpPr>
                <p:cNvPr id="46" name="ZoneTexte 45">
                  <a:extLst>
                    <a:ext uri="{FF2B5EF4-FFF2-40B4-BE49-F238E27FC236}">
                      <a16:creationId xmlns:a16="http://schemas.microsoft.com/office/drawing/2014/main" id="{F98D03D5-AA72-495F-ABEB-17CA45206B9B}"/>
                    </a:ext>
                  </a:extLst>
                </p:cNvPr>
                <p:cNvSpPr txBox="1">
                  <a:spLocks noRot="1" noChangeAspect="1" noMove="1" noResize="1" noEditPoints="1" noAdjustHandles="1" noChangeArrowheads="1" noChangeShapeType="1" noTextEdit="1"/>
                </p:cNvSpPr>
                <p:nvPr/>
              </p:nvSpPr>
              <p:spPr>
                <a:xfrm>
                  <a:off x="7432173" y="5113451"/>
                  <a:ext cx="961445" cy="307776"/>
                </a:xfrm>
                <a:prstGeom prst="rect">
                  <a:avLst/>
                </a:prstGeom>
                <a:blipFill>
                  <a:blip r:embed="rId5"/>
                  <a:stretch>
                    <a:fillRect/>
                  </a:stretch>
                </a:blipFill>
              </p:spPr>
              <p:txBody>
                <a:bodyPr/>
                <a:lstStyle/>
                <a:p>
                  <a:r>
                    <a:rPr lang="fr-FR">
                      <a:noFill/>
                    </a:rPr>
                    <a:t> </a:t>
                  </a:r>
                </a:p>
              </p:txBody>
            </p:sp>
          </mc:Fallback>
        </mc:AlternateContent>
        <p:sp>
          <p:nvSpPr>
            <p:cNvPr id="47" name="Ellipse 46">
              <a:extLst>
                <a:ext uri="{FF2B5EF4-FFF2-40B4-BE49-F238E27FC236}">
                  <a16:creationId xmlns:a16="http://schemas.microsoft.com/office/drawing/2014/main" id="{52413806-2CA9-456C-984B-0FD1A456CB3B}"/>
                </a:ext>
              </a:extLst>
            </p:cNvPr>
            <p:cNvSpPr/>
            <p:nvPr/>
          </p:nvSpPr>
          <p:spPr>
            <a:xfrm>
              <a:off x="5574528" y="5852417"/>
              <a:ext cx="1643822" cy="557501"/>
            </a:xfrm>
            <a:prstGeom prst="ellipse">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1200" dirty="0"/>
                <a:t>Virginica, versicolor</a:t>
              </a:r>
            </a:p>
          </p:txBody>
        </p:sp>
        <p:cxnSp>
          <p:nvCxnSpPr>
            <p:cNvPr id="49" name="Connecteur droit 48">
              <a:extLst>
                <a:ext uri="{FF2B5EF4-FFF2-40B4-BE49-F238E27FC236}">
                  <a16:creationId xmlns:a16="http://schemas.microsoft.com/office/drawing/2014/main" id="{F6865EF1-53D9-4BCD-8759-C505C33CF076}"/>
                </a:ext>
              </a:extLst>
            </p:cNvPr>
            <p:cNvCxnSpPr>
              <a:cxnSpLocks/>
              <a:stCxn id="22" idx="2"/>
              <a:endCxn id="47" idx="0"/>
            </p:cNvCxnSpPr>
            <p:nvPr/>
          </p:nvCxnSpPr>
          <p:spPr>
            <a:xfrm>
              <a:off x="6314489" y="5008074"/>
              <a:ext cx="81950" cy="844343"/>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ZoneTexte 51">
                  <a:extLst>
                    <a:ext uri="{FF2B5EF4-FFF2-40B4-BE49-F238E27FC236}">
                      <a16:creationId xmlns:a16="http://schemas.microsoft.com/office/drawing/2014/main" id="{4B6C2B95-18C6-4DB9-842E-F6FBAFB2006B}"/>
                    </a:ext>
                  </a:extLst>
                </p:cNvPr>
                <p:cNvSpPr txBox="1"/>
                <p:nvPr/>
              </p:nvSpPr>
              <p:spPr>
                <a:xfrm>
                  <a:off x="6276503" y="5572526"/>
                  <a:ext cx="1219001" cy="3077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900" i="1">
                            <a:latin typeface="Cambria Math" panose="02040503050406030204" pitchFamily="18" charset="0"/>
                            <a:ea typeface="Cambria Math" panose="02040503050406030204" pitchFamily="18" charset="0"/>
                          </a:rPr>
                          <m:t>0.4≤</m:t>
                        </m:r>
                        <m:r>
                          <a:rPr lang="fr-FR" sz="900" i="1">
                            <a:latin typeface="Cambria Math" panose="02040503050406030204" pitchFamily="18" charset="0"/>
                            <a:ea typeface="Cambria Math" panose="02040503050406030204" pitchFamily="18" charset="0"/>
                          </a:rPr>
                          <m:t>𝑥</m:t>
                        </m:r>
                        <m:r>
                          <a:rPr lang="fr-FR" sz="900" i="1">
                            <a:latin typeface="Cambria Math" panose="02040503050406030204" pitchFamily="18" charset="0"/>
                            <a:ea typeface="Cambria Math" panose="02040503050406030204" pitchFamily="18" charset="0"/>
                          </a:rPr>
                          <m:t>≤0.6</m:t>
                        </m:r>
                      </m:oMath>
                    </m:oMathPara>
                  </a14:m>
                  <a:endParaRPr lang="fr-FR" sz="900" i="1" dirty="0"/>
                </a:p>
              </p:txBody>
            </p:sp>
          </mc:Choice>
          <mc:Fallback xmlns="">
            <p:sp>
              <p:nvSpPr>
                <p:cNvPr id="52" name="ZoneTexte 51">
                  <a:extLst>
                    <a:ext uri="{FF2B5EF4-FFF2-40B4-BE49-F238E27FC236}">
                      <a16:creationId xmlns:a16="http://schemas.microsoft.com/office/drawing/2014/main" id="{4B6C2B95-18C6-4DB9-842E-F6FBAFB2006B}"/>
                    </a:ext>
                  </a:extLst>
                </p:cNvPr>
                <p:cNvSpPr txBox="1">
                  <a:spLocks noRot="1" noChangeAspect="1" noMove="1" noResize="1" noEditPoints="1" noAdjustHandles="1" noChangeArrowheads="1" noChangeShapeType="1" noTextEdit="1"/>
                </p:cNvSpPr>
                <p:nvPr/>
              </p:nvSpPr>
              <p:spPr>
                <a:xfrm>
                  <a:off x="6276503" y="5572526"/>
                  <a:ext cx="1219001" cy="307776"/>
                </a:xfrm>
                <a:prstGeom prst="rect">
                  <a:avLst/>
                </a:prstGeom>
                <a:blipFill>
                  <a:blip r:embed="rId6"/>
                  <a:stretch>
                    <a:fillRect/>
                  </a:stretch>
                </a:blipFill>
              </p:spPr>
              <p:txBody>
                <a:bodyPr/>
                <a:lstStyle/>
                <a:p>
                  <a:r>
                    <a:rPr lang="fr-FR">
                      <a:noFill/>
                    </a:rPr>
                    <a:t> </a:t>
                  </a:r>
                </a:p>
              </p:txBody>
            </p:sp>
          </mc:Fallback>
        </mc:AlternateContent>
      </p:grpSp>
    </p:spTree>
    <p:extLst>
      <p:ext uri="{BB962C8B-B14F-4D97-AF65-F5344CB8AC3E}">
        <p14:creationId xmlns:p14="http://schemas.microsoft.com/office/powerpoint/2010/main" val="289792573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118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exemple 3</a:t>
            </a:r>
          </a:p>
        </p:txBody>
      </p:sp>
      <p:sp>
        <p:nvSpPr>
          <p:cNvPr id="8" name="Title 13">
            <a:extLst>
              <a:ext uri="{FF2B5EF4-FFF2-40B4-BE49-F238E27FC236}">
                <a16:creationId xmlns:a16="http://schemas.microsoft.com/office/drawing/2014/main" id="{661B7855-BAE4-4388-A518-8FC2872390BA}"/>
              </a:ext>
            </a:extLst>
          </p:cNvPr>
          <p:cNvSpPr txBox="1">
            <a:spLocks/>
          </p:cNvSpPr>
          <p:nvPr/>
        </p:nvSpPr>
        <p:spPr>
          <a:xfrm>
            <a:off x="389008" y="1127098"/>
            <a:ext cx="6249917" cy="26034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Un botaniste se demande comment catégoriser des plantes</a:t>
            </a:r>
          </a:p>
        </p:txBody>
      </p:sp>
      <p:grpSp>
        <p:nvGrpSpPr>
          <p:cNvPr id="33" name="Groupe 32">
            <a:extLst>
              <a:ext uri="{FF2B5EF4-FFF2-40B4-BE49-F238E27FC236}">
                <a16:creationId xmlns:a16="http://schemas.microsoft.com/office/drawing/2014/main" id="{4E51B163-7F6B-4C34-8DBC-A14DF92A77E2}"/>
              </a:ext>
            </a:extLst>
          </p:cNvPr>
          <p:cNvGrpSpPr/>
          <p:nvPr/>
        </p:nvGrpSpPr>
        <p:grpSpPr>
          <a:xfrm>
            <a:off x="1109208" y="1806934"/>
            <a:ext cx="4878125" cy="2301899"/>
            <a:chOff x="1478943" y="2409245"/>
            <a:chExt cx="6504167" cy="3069199"/>
          </a:xfrm>
        </p:grpSpPr>
        <p:cxnSp>
          <p:nvCxnSpPr>
            <p:cNvPr id="3" name="Connecteur droit avec flèche 2">
              <a:extLst>
                <a:ext uri="{FF2B5EF4-FFF2-40B4-BE49-F238E27FC236}">
                  <a16:creationId xmlns:a16="http://schemas.microsoft.com/office/drawing/2014/main" id="{371C5548-A5DE-428F-BF47-1416B7C3E6DE}"/>
                </a:ext>
              </a:extLst>
            </p:cNvPr>
            <p:cNvCxnSpPr/>
            <p:nvPr/>
          </p:nvCxnSpPr>
          <p:spPr>
            <a:xfrm>
              <a:off x="2623930" y="5041127"/>
              <a:ext cx="49298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eur droit avec flèche 26">
              <a:extLst>
                <a:ext uri="{FF2B5EF4-FFF2-40B4-BE49-F238E27FC236}">
                  <a16:creationId xmlns:a16="http://schemas.microsoft.com/office/drawing/2014/main" id="{B30027F3-EDE6-44F8-9C89-237F9F7C7C9D}"/>
                </a:ext>
              </a:extLst>
            </p:cNvPr>
            <p:cNvCxnSpPr>
              <a:cxnSpLocks/>
            </p:cNvCxnSpPr>
            <p:nvPr/>
          </p:nvCxnSpPr>
          <p:spPr>
            <a:xfrm flipV="1">
              <a:off x="2776330" y="2409245"/>
              <a:ext cx="0" cy="2784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969593C5-5FB8-4E71-8028-8A78A852BA52}"/>
                </a:ext>
              </a:extLst>
            </p:cNvPr>
            <p:cNvSpPr/>
            <p:nvPr/>
          </p:nvSpPr>
          <p:spPr>
            <a:xfrm>
              <a:off x="4486185" y="5264559"/>
              <a:ext cx="1978225"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Longueur des sépales</a:t>
              </a:r>
            </a:p>
          </p:txBody>
        </p:sp>
        <p:sp>
          <p:nvSpPr>
            <p:cNvPr id="31" name="Rectangle 30">
              <a:extLst>
                <a:ext uri="{FF2B5EF4-FFF2-40B4-BE49-F238E27FC236}">
                  <a16:creationId xmlns:a16="http://schemas.microsoft.com/office/drawing/2014/main" id="{107380FD-3925-4EDC-AFFF-58A7DD710570}"/>
                </a:ext>
              </a:extLst>
            </p:cNvPr>
            <p:cNvSpPr/>
            <p:nvPr/>
          </p:nvSpPr>
          <p:spPr>
            <a:xfrm rot="16200000">
              <a:off x="1377419" y="3518049"/>
              <a:ext cx="1978225"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Longueur des pétales</a:t>
              </a:r>
            </a:p>
          </p:txBody>
        </p:sp>
        <p:cxnSp>
          <p:nvCxnSpPr>
            <p:cNvPr id="6" name="Connecteur droit 5">
              <a:extLst>
                <a:ext uri="{FF2B5EF4-FFF2-40B4-BE49-F238E27FC236}">
                  <a16:creationId xmlns:a16="http://schemas.microsoft.com/office/drawing/2014/main" id="{18D7D2F1-0EDC-4D53-955B-424831CFC0BE}"/>
                </a:ext>
              </a:extLst>
            </p:cNvPr>
            <p:cNvCxnSpPr>
              <a:cxnSpLocks/>
            </p:cNvCxnSpPr>
            <p:nvPr/>
          </p:nvCxnSpPr>
          <p:spPr>
            <a:xfrm>
              <a:off x="2703444" y="3665551"/>
              <a:ext cx="135172"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61F951AC-B7D4-4566-B545-02D576AF7FA7}"/>
                </a:ext>
              </a:extLst>
            </p:cNvPr>
            <p:cNvSpPr/>
            <p:nvPr/>
          </p:nvSpPr>
          <p:spPr>
            <a:xfrm>
              <a:off x="2515585" y="3556355"/>
              <a:ext cx="140149"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5</a:t>
              </a:r>
            </a:p>
          </p:txBody>
        </p:sp>
        <p:cxnSp>
          <p:nvCxnSpPr>
            <p:cNvPr id="36" name="Connecteur droit avec flèche 35">
              <a:extLst>
                <a:ext uri="{FF2B5EF4-FFF2-40B4-BE49-F238E27FC236}">
                  <a16:creationId xmlns:a16="http://schemas.microsoft.com/office/drawing/2014/main" id="{9EADB721-7538-4283-8AE7-5BCFB1E6AEC4}"/>
                </a:ext>
              </a:extLst>
            </p:cNvPr>
            <p:cNvCxnSpPr>
              <a:cxnSpLocks/>
            </p:cNvCxnSpPr>
            <p:nvPr/>
          </p:nvCxnSpPr>
          <p:spPr>
            <a:xfrm flipV="1">
              <a:off x="4486185" y="2409245"/>
              <a:ext cx="0" cy="2631882"/>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Connecteur droit avec flèche 38">
              <a:extLst>
                <a:ext uri="{FF2B5EF4-FFF2-40B4-BE49-F238E27FC236}">
                  <a16:creationId xmlns:a16="http://schemas.microsoft.com/office/drawing/2014/main" id="{08CE6A5D-8075-4E4B-8881-190F2543B2F2}"/>
                </a:ext>
              </a:extLst>
            </p:cNvPr>
            <p:cNvCxnSpPr>
              <a:cxnSpLocks/>
            </p:cNvCxnSpPr>
            <p:nvPr/>
          </p:nvCxnSpPr>
          <p:spPr>
            <a:xfrm>
              <a:off x="4486185" y="3665551"/>
              <a:ext cx="3067554" cy="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CE58A5FA-B941-44EA-AB49-073C52891280}"/>
                </a:ext>
              </a:extLst>
            </p:cNvPr>
            <p:cNvSpPr/>
            <p:nvPr/>
          </p:nvSpPr>
          <p:spPr>
            <a:xfrm>
              <a:off x="4416110" y="5086584"/>
              <a:ext cx="140149"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6</a:t>
              </a:r>
            </a:p>
          </p:txBody>
        </p:sp>
        <p:cxnSp>
          <p:nvCxnSpPr>
            <p:cNvPr id="45" name="Connecteur droit 44">
              <a:extLst>
                <a:ext uri="{FF2B5EF4-FFF2-40B4-BE49-F238E27FC236}">
                  <a16:creationId xmlns:a16="http://schemas.microsoft.com/office/drawing/2014/main" id="{0786F5CA-9300-422A-BB5C-31722BD3C02F}"/>
                </a:ext>
              </a:extLst>
            </p:cNvPr>
            <p:cNvCxnSpPr>
              <a:cxnSpLocks/>
            </p:cNvCxnSpPr>
            <p:nvPr/>
          </p:nvCxnSpPr>
          <p:spPr>
            <a:xfrm rot="16200000">
              <a:off x="4422251" y="5050407"/>
              <a:ext cx="135172"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26" name="Image 25">
              <a:extLst>
                <a:ext uri="{FF2B5EF4-FFF2-40B4-BE49-F238E27FC236}">
                  <a16:creationId xmlns:a16="http://schemas.microsoft.com/office/drawing/2014/main" id="{8595A534-8A93-41CF-A614-4E5D1D9C1375}"/>
                </a:ext>
              </a:extLst>
            </p:cNvPr>
            <p:cNvPicPr>
              <a:picLocks noChangeAspect="1"/>
            </p:cNvPicPr>
            <p:nvPr/>
          </p:nvPicPr>
          <p:blipFill>
            <a:blip r:embed="rId2">
              <a:duotone>
                <a:prstClr val="black"/>
                <a:schemeClr val="accent4">
                  <a:tint val="45000"/>
                  <a:satMod val="400000"/>
                </a:schemeClr>
              </a:duotone>
            </a:blip>
            <a:stretch>
              <a:fillRect/>
            </a:stretch>
          </p:blipFill>
          <p:spPr>
            <a:xfrm>
              <a:off x="2623930" y="3711011"/>
              <a:ext cx="1739372" cy="1352845"/>
            </a:xfrm>
            <a:prstGeom prst="rect">
              <a:avLst/>
            </a:prstGeom>
          </p:spPr>
        </p:pic>
        <p:pic>
          <p:nvPicPr>
            <p:cNvPr id="50" name="Image 49">
              <a:extLst>
                <a:ext uri="{FF2B5EF4-FFF2-40B4-BE49-F238E27FC236}">
                  <a16:creationId xmlns:a16="http://schemas.microsoft.com/office/drawing/2014/main" id="{3EF7C8A9-F0C5-4DFD-8EDB-BAD0A86DB1DB}"/>
                </a:ext>
              </a:extLst>
            </p:cNvPr>
            <p:cNvPicPr>
              <a:picLocks noChangeAspect="1"/>
            </p:cNvPicPr>
            <p:nvPr/>
          </p:nvPicPr>
          <p:blipFill>
            <a:blip r:embed="rId2"/>
            <a:stretch>
              <a:fillRect/>
            </a:stretch>
          </p:blipFill>
          <p:spPr>
            <a:xfrm rot="9679941">
              <a:off x="5142234" y="2534948"/>
              <a:ext cx="1861843" cy="1448100"/>
            </a:xfrm>
            <a:prstGeom prst="rect">
              <a:avLst/>
            </a:prstGeom>
          </p:spPr>
        </p:pic>
        <p:pic>
          <p:nvPicPr>
            <p:cNvPr id="51" name="Image 50">
              <a:extLst>
                <a:ext uri="{FF2B5EF4-FFF2-40B4-BE49-F238E27FC236}">
                  <a16:creationId xmlns:a16="http://schemas.microsoft.com/office/drawing/2014/main" id="{29126940-5CD6-47A2-8B50-76F337250417}"/>
                </a:ext>
              </a:extLst>
            </p:cNvPr>
            <p:cNvPicPr>
              <a:picLocks noChangeAspect="1"/>
            </p:cNvPicPr>
            <p:nvPr/>
          </p:nvPicPr>
          <p:blipFill>
            <a:blip r:embed="rId2">
              <a:duotone>
                <a:prstClr val="black"/>
                <a:schemeClr val="accent2">
                  <a:tint val="45000"/>
                  <a:satMod val="400000"/>
                </a:schemeClr>
              </a:duotone>
            </a:blip>
            <a:stretch>
              <a:fillRect/>
            </a:stretch>
          </p:blipFill>
          <p:spPr>
            <a:xfrm rot="11037074">
              <a:off x="4459371" y="3273269"/>
              <a:ext cx="2192986" cy="1705656"/>
            </a:xfrm>
            <a:prstGeom prst="rect">
              <a:avLst/>
            </a:prstGeom>
          </p:spPr>
        </p:pic>
        <p:sp>
          <p:nvSpPr>
            <p:cNvPr id="32" name="Légende : flèche courbée 31">
              <a:extLst>
                <a:ext uri="{FF2B5EF4-FFF2-40B4-BE49-F238E27FC236}">
                  <a16:creationId xmlns:a16="http://schemas.microsoft.com/office/drawing/2014/main" id="{2E90B9C8-5CE3-4F4B-B44E-97D7789FF8E2}"/>
                </a:ext>
              </a:extLst>
            </p:cNvPr>
            <p:cNvSpPr/>
            <p:nvPr/>
          </p:nvSpPr>
          <p:spPr>
            <a:xfrm>
              <a:off x="7059801" y="2564298"/>
              <a:ext cx="923309" cy="219102"/>
            </a:xfrm>
            <a:prstGeom prst="borderCallout2">
              <a:avLst>
                <a:gd name="adj1" fmla="val 18750"/>
                <a:gd name="adj2" fmla="val -8333"/>
                <a:gd name="adj3" fmla="val 18750"/>
                <a:gd name="adj4" fmla="val -16667"/>
                <a:gd name="adj5" fmla="val 112500"/>
                <a:gd name="adj6" fmla="val -59585"/>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900" dirty="0"/>
                <a:t>versicolor</a:t>
              </a:r>
            </a:p>
          </p:txBody>
        </p:sp>
        <p:sp>
          <p:nvSpPr>
            <p:cNvPr id="56" name="Légende : flèche courbée 55">
              <a:extLst>
                <a:ext uri="{FF2B5EF4-FFF2-40B4-BE49-F238E27FC236}">
                  <a16:creationId xmlns:a16="http://schemas.microsoft.com/office/drawing/2014/main" id="{D05FE407-97CF-4D8D-8B67-3172BA4D24E5}"/>
                </a:ext>
              </a:extLst>
            </p:cNvPr>
            <p:cNvSpPr/>
            <p:nvPr/>
          </p:nvSpPr>
          <p:spPr>
            <a:xfrm>
              <a:off x="1478943" y="4504553"/>
              <a:ext cx="824117" cy="219102"/>
            </a:xfrm>
            <a:prstGeom prst="borderCallout2">
              <a:avLst>
                <a:gd name="adj1" fmla="val 29637"/>
                <a:gd name="adj2" fmla="val 106236"/>
                <a:gd name="adj3" fmla="val 29637"/>
                <a:gd name="adj4" fmla="val 116446"/>
                <a:gd name="adj5" fmla="val -127017"/>
                <a:gd name="adj6" fmla="val 19173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setosa</a:t>
              </a:r>
            </a:p>
          </p:txBody>
        </p:sp>
        <p:sp>
          <p:nvSpPr>
            <p:cNvPr id="57" name="Légende : flèche courbée 56">
              <a:extLst>
                <a:ext uri="{FF2B5EF4-FFF2-40B4-BE49-F238E27FC236}">
                  <a16:creationId xmlns:a16="http://schemas.microsoft.com/office/drawing/2014/main" id="{2169264D-BDF3-4BF1-847E-63EFDF7E3035}"/>
                </a:ext>
              </a:extLst>
            </p:cNvPr>
            <p:cNvSpPr/>
            <p:nvPr/>
          </p:nvSpPr>
          <p:spPr>
            <a:xfrm>
              <a:off x="7059801" y="4572906"/>
              <a:ext cx="923309" cy="219102"/>
            </a:xfrm>
            <a:prstGeom prst="borderCallout2">
              <a:avLst>
                <a:gd name="adj1" fmla="val 18750"/>
                <a:gd name="adj2" fmla="val -8333"/>
                <a:gd name="adj3" fmla="val 18750"/>
                <a:gd name="adj4" fmla="val -16667"/>
                <a:gd name="adj5" fmla="val -210484"/>
                <a:gd name="adj6" fmla="val -8163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virginica</a:t>
              </a:r>
            </a:p>
          </p:txBody>
        </p:sp>
      </p:grpSp>
    </p:spTree>
    <p:extLst>
      <p:ext uri="{BB962C8B-B14F-4D97-AF65-F5344CB8AC3E}">
        <p14:creationId xmlns:p14="http://schemas.microsoft.com/office/powerpoint/2010/main" val="253008757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119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construction d’un arbre</a:t>
            </a:r>
          </a:p>
        </p:txBody>
      </p:sp>
      <p:sp>
        <p:nvSpPr>
          <p:cNvPr id="9" name="Content Placeholder 15">
            <a:extLst>
              <a:ext uri="{FF2B5EF4-FFF2-40B4-BE49-F238E27FC236}">
                <a16:creationId xmlns:a16="http://schemas.microsoft.com/office/drawing/2014/main" id="{73E5ECC1-08EC-4C1E-83EF-45594F21E905}"/>
              </a:ext>
            </a:extLst>
          </p:cNvPr>
          <p:cNvSpPr>
            <a:spLocks noGrp="1"/>
          </p:cNvSpPr>
          <p:nvPr>
            <p:ph sz="half" idx="13"/>
          </p:nvPr>
        </p:nvSpPr>
        <p:spPr>
          <a:xfrm>
            <a:off x="746911" y="1391970"/>
            <a:ext cx="5891400" cy="3375293"/>
          </a:xfrm>
        </p:spPr>
        <p:txBody>
          <a:bodyPr>
            <a:normAutofit/>
          </a:bodyPr>
          <a:lstStyle/>
          <a:p>
            <a:pPr lvl="1" algn="just">
              <a:lnSpc>
                <a:spcPct val="150000"/>
              </a:lnSpc>
              <a:buClr>
                <a:schemeClr val="accent2"/>
              </a:buClr>
            </a:pPr>
            <a:r>
              <a:rPr lang="fr-FR" dirty="0"/>
              <a:t>Synthèse :</a:t>
            </a:r>
          </a:p>
          <a:p>
            <a:pPr lvl="2" algn="just">
              <a:lnSpc>
                <a:spcPct val="150000"/>
              </a:lnSpc>
              <a:buClr>
                <a:schemeClr val="accent2"/>
              </a:buClr>
            </a:pPr>
            <a:r>
              <a:rPr lang="fr-FR" sz="1500" dirty="0"/>
              <a:t>On commence par trouver la variable qui est la plus appropriée pour la construction de l’arbre (racine) : Entropie (ID3)ou Gini (CART).</a:t>
            </a:r>
          </a:p>
          <a:p>
            <a:pPr lvl="2" algn="just">
              <a:lnSpc>
                <a:spcPct val="150000"/>
              </a:lnSpc>
              <a:buClr>
                <a:schemeClr val="accent2"/>
              </a:buClr>
            </a:pPr>
            <a:r>
              <a:rPr lang="fr-FR" sz="1500" dirty="0"/>
              <a:t>On réitère l’opération jusqu’à ce qu’on ne peut plus séparer les données</a:t>
            </a:r>
          </a:p>
        </p:txBody>
      </p:sp>
    </p:spTree>
    <p:extLst>
      <p:ext uri="{BB962C8B-B14F-4D97-AF65-F5344CB8AC3E}">
        <p14:creationId xmlns:p14="http://schemas.microsoft.com/office/powerpoint/2010/main" val="416811646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375293"/>
          </a:xfrm>
        </p:spPr>
        <p:txBody>
          <a:bodyPr>
            <a:normAutofit fontScale="47500" lnSpcReduction="20000"/>
          </a:bodyPr>
          <a:lstStyle/>
          <a:p>
            <a:pPr lvl="1" algn="just">
              <a:lnSpc>
                <a:spcPct val="150000"/>
              </a:lnSpc>
              <a:buClr>
                <a:schemeClr val="accent2"/>
              </a:buClr>
            </a:pPr>
            <a:r>
              <a:rPr lang="fr-FR" dirty="0"/>
              <a:t>Les mesures d'impuretés sont utilisées pour évaluer la qualité d'une division dans un arbre de décision. Ils aident à quantifier le degré de «mélange» des classes ou des valeurs cibles au sein d'un nœud. </a:t>
            </a:r>
          </a:p>
          <a:p>
            <a:pPr lvl="1" algn="just">
              <a:lnSpc>
                <a:spcPct val="150000"/>
              </a:lnSpc>
              <a:buClr>
                <a:schemeClr val="accent2"/>
              </a:buClr>
            </a:pPr>
            <a:r>
              <a:rPr lang="fr-FR" dirty="0"/>
              <a:t>Une impureté plus faible indique une meilleure répartition. Les mesures d'impuretés courantes comprennent :</a:t>
            </a:r>
          </a:p>
          <a:p>
            <a:pPr lvl="2" algn="just">
              <a:lnSpc>
                <a:spcPct val="150000"/>
              </a:lnSpc>
              <a:buClr>
                <a:schemeClr val="accent2"/>
              </a:buClr>
            </a:pPr>
            <a:r>
              <a:rPr lang="fr-FR" b="1" dirty="0"/>
              <a:t>Impureté de Gini : </a:t>
            </a:r>
            <a:r>
              <a:rPr lang="fr-FR" dirty="0"/>
              <a:t>utilisée pour les problèmes de classification, l'impureté de Gini mesure la probabilité de mal classer une instance si elle était étiquetée de manière aléatoire en fonction de la distribution des classes dans le nœud.</a:t>
            </a:r>
          </a:p>
          <a:p>
            <a:pPr lvl="2" algn="just">
              <a:lnSpc>
                <a:spcPct val="150000"/>
              </a:lnSpc>
              <a:buClr>
                <a:schemeClr val="accent2"/>
              </a:buClr>
            </a:pPr>
            <a:r>
              <a:rPr lang="fr-FR" b="1" dirty="0"/>
              <a:t>Entropie : </a:t>
            </a:r>
            <a:r>
              <a:rPr lang="fr-FR" dirty="0"/>
              <a:t>également utilisée pour les problèmes de classification, l'entropie mesure la quantité de « désordre » ou « d'incertitude » dans le nœud. Il est basé sur le concept de la théorie de l'information.</a:t>
            </a:r>
          </a:p>
          <a:p>
            <a:pPr lvl="2" algn="just">
              <a:lnSpc>
                <a:spcPct val="150000"/>
              </a:lnSpc>
              <a:buClr>
                <a:schemeClr val="accent2"/>
              </a:buClr>
            </a:pPr>
            <a:r>
              <a:rPr lang="fr-FR" b="1" dirty="0"/>
              <a:t>Erreur quadratique moyenne (MSE) : </a:t>
            </a:r>
            <a:r>
              <a:rPr lang="fr-FR" dirty="0"/>
              <a:t>utilisée pour les problèmes de régression, la MSE mesure la différence quadratique moyenne entre les valeurs cibles réelles et prédites.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120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mesures d’impureté</a:t>
            </a:r>
          </a:p>
        </p:txBody>
      </p:sp>
    </p:spTree>
    <p:extLst>
      <p:ext uri="{BB962C8B-B14F-4D97-AF65-F5344CB8AC3E}">
        <p14:creationId xmlns:p14="http://schemas.microsoft.com/office/powerpoint/2010/main" val="50830326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121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602913"/>
          </a:xfrm>
        </p:spPr>
        <p:txBody>
          <a:bodyPr>
            <a:noAutofit/>
          </a:bodyPr>
          <a:lstStyle/>
          <a:p>
            <a:r>
              <a:rPr lang="fr-FR" sz="2100" dirty="0"/>
              <a:t>Arbre de décision :</a:t>
            </a:r>
            <a:r>
              <a:rPr lang="fr-FR" sz="2100" b="0" dirty="0"/>
              <a:t> sélection de la meilleure feature avec l’</a:t>
            </a:r>
            <a:r>
              <a:rPr lang="fr-FR" sz="2100" dirty="0"/>
              <a:t>entropie</a:t>
            </a:r>
          </a:p>
        </p:txBody>
      </p:sp>
      <mc:AlternateContent xmlns:mc="http://schemas.openxmlformats.org/markup-compatibility/2006" xmlns:a14="http://schemas.microsoft.com/office/drawing/2010/main">
        <mc:Choice Requires="a14">
          <p:sp>
            <p:nvSpPr>
              <p:cNvPr id="9" name="Content Placeholder 15">
                <a:extLst>
                  <a:ext uri="{FF2B5EF4-FFF2-40B4-BE49-F238E27FC236}">
                    <a16:creationId xmlns:a16="http://schemas.microsoft.com/office/drawing/2014/main" id="{73E5ECC1-08EC-4C1E-83EF-45594F21E905}"/>
                  </a:ext>
                </a:extLst>
              </p:cNvPr>
              <p:cNvSpPr>
                <a:spLocks noGrp="1"/>
              </p:cNvSpPr>
              <p:nvPr>
                <p:ph sz="half" idx="13"/>
              </p:nvPr>
            </p:nvSpPr>
            <p:spPr>
              <a:xfrm>
                <a:off x="746911" y="1391970"/>
                <a:ext cx="5891400" cy="3375293"/>
              </a:xfrm>
            </p:spPr>
            <p:txBody>
              <a:bodyPr>
                <a:normAutofit fontScale="62500" lnSpcReduction="20000"/>
              </a:bodyPr>
              <a:lstStyle/>
              <a:p>
                <a:pPr algn="just">
                  <a:lnSpc>
                    <a:spcPct val="150000"/>
                  </a:lnSpc>
                  <a:buClr>
                    <a:schemeClr val="accent2"/>
                  </a:buClr>
                </a:pPr>
                <a:r>
                  <a:rPr lang="fr-FR" dirty="0"/>
                  <a:t>Soit un ensemble de classes 𝑘 données par </a:t>
                </a:r>
                <a14:m>
                  <m:oMath xmlns:m="http://schemas.openxmlformats.org/officeDocument/2006/math">
                    <m:r>
                      <a:rPr lang="fr-FR" i="1" dirty="0" smtClean="0">
                        <a:latin typeface="Cambria Math" panose="02040503050406030204" pitchFamily="18" charset="0"/>
                      </a:rPr>
                      <m:t>𝑦</m:t>
                    </m:r>
                  </m:oMath>
                </a14:m>
                <a:r>
                  <a:rPr lang="fr-FR" dirty="0"/>
                  <a:t> :</a:t>
                </a:r>
              </a:p>
              <a:p>
                <a:pPr lvl="1" algn="just">
                  <a:lnSpc>
                    <a:spcPct val="150000"/>
                  </a:lnSpc>
                  <a:buClr>
                    <a:schemeClr val="accent2"/>
                  </a:buClr>
                </a:pPr>
                <a:r>
                  <a:rPr lang="fr-FR" dirty="0"/>
                  <a:t>L’entropie est donnée par : </a:t>
                </a:r>
                <a14:m>
                  <m:oMath xmlns:m="http://schemas.openxmlformats.org/officeDocument/2006/math">
                    <m:r>
                      <a:rPr lang="fr-FR" b="0" i="1" smtClean="0">
                        <a:latin typeface="Cambria Math" panose="02040503050406030204" pitchFamily="18" charset="0"/>
                      </a:rPr>
                      <m:t>𝐸</m:t>
                    </m:r>
                    <m:d>
                      <m:dPr>
                        <m:ctrlPr>
                          <a:rPr lang="fr-FR" b="0" i="1" smtClean="0">
                            <a:latin typeface="Cambria Math" panose="02040503050406030204" pitchFamily="18" charset="0"/>
                          </a:rPr>
                        </m:ctrlPr>
                      </m:dPr>
                      <m:e>
                        <m:r>
                          <a:rPr lang="fr-FR" b="0" i="1" smtClean="0">
                            <a:latin typeface="Cambria Math" panose="02040503050406030204" pitchFamily="18" charset="0"/>
                          </a:rPr>
                          <m:t>𝑆</m:t>
                        </m:r>
                      </m:e>
                    </m:d>
                    <m:r>
                      <a:rPr lang="fr-FR" b="0" i="1" smtClean="0">
                        <a:latin typeface="Cambria Math" panose="02040503050406030204" pitchFamily="18" charset="0"/>
                      </a:rPr>
                      <m:t>=−</m:t>
                    </m:r>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𝛴</m:t>
                        </m:r>
                      </m:e>
                      <m:sub>
                        <m:r>
                          <a:rPr lang="fr-FR" b="0" i="1" smtClean="0">
                            <a:latin typeface="Cambria Math" panose="02040503050406030204" pitchFamily="18" charset="0"/>
                          </a:rPr>
                          <m:t>𝑖</m:t>
                        </m:r>
                        <m:r>
                          <a:rPr lang="fr-FR" b="0" i="1" smtClean="0">
                            <a:latin typeface="Cambria Math" panose="02040503050406030204" pitchFamily="18" charset="0"/>
                          </a:rPr>
                          <m:t>=1</m:t>
                        </m:r>
                      </m:sub>
                      <m:sup>
                        <m:r>
                          <a:rPr lang="fr-FR" b="0" i="1" smtClean="0">
                            <a:latin typeface="Cambria Math" panose="02040503050406030204" pitchFamily="18" charset="0"/>
                          </a:rPr>
                          <m:t>𝐾</m:t>
                        </m:r>
                      </m:sup>
                    </m:sSubSup>
                    <m:sSub>
                      <m:sSubPr>
                        <m:ctrlPr>
                          <a:rPr lang="fr-FR" b="0" i="1" smtClean="0">
                            <a:latin typeface="Cambria Math" panose="02040503050406030204" pitchFamily="18" charset="0"/>
                          </a:rPr>
                        </m:ctrlPr>
                      </m:sSubPr>
                      <m:e>
                        <m:r>
                          <a:rPr lang="fr-FR" b="0" i="1" smtClean="0">
                            <a:latin typeface="Cambria Math" panose="02040503050406030204" pitchFamily="18" charset="0"/>
                          </a:rPr>
                          <m:t>𝑝</m:t>
                        </m:r>
                      </m:e>
                      <m:sub>
                        <m:r>
                          <a:rPr lang="fr-FR" b="0" i="1" smtClean="0">
                            <a:latin typeface="Cambria Math" panose="02040503050406030204" pitchFamily="18" charset="0"/>
                          </a:rPr>
                          <m:t>𝑖</m:t>
                        </m:r>
                      </m:sub>
                    </m:sSub>
                    <m:r>
                      <a:rPr lang="fr-FR" b="0" i="1" smtClean="0">
                        <a:latin typeface="Cambria Math" panose="02040503050406030204" pitchFamily="18" charset="0"/>
                        <a:ea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𝑙𝑜𝑔</m:t>
                        </m:r>
                      </m:e>
                      <m:sub>
                        <m:r>
                          <a:rPr lang="fr-FR" b="0" i="1" smtClean="0">
                            <a:latin typeface="Cambria Math" panose="02040503050406030204" pitchFamily="18" charset="0"/>
                          </a:rPr>
                          <m:t>2</m:t>
                        </m:r>
                      </m:sub>
                    </m:sSub>
                    <m:r>
                      <a:rPr lang="fr-FR" b="0"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𝑝</m:t>
                        </m:r>
                      </m:e>
                      <m:sub>
                        <m:r>
                          <a:rPr lang="fr-FR" b="0" i="1" smtClean="0">
                            <a:latin typeface="Cambria Math" panose="02040503050406030204" pitchFamily="18" charset="0"/>
                          </a:rPr>
                          <m:t>𝑖</m:t>
                        </m:r>
                      </m:sub>
                    </m:sSub>
                    <m:r>
                      <a:rPr lang="fr-FR" b="0" i="1" smtClean="0">
                        <a:latin typeface="Cambria Math" panose="02040503050406030204" pitchFamily="18" charset="0"/>
                      </a:rPr>
                      <m:t>)</m:t>
                    </m:r>
                  </m:oMath>
                </a14:m>
                <a:endParaRPr lang="fr-FR" dirty="0"/>
              </a:p>
              <a:p>
                <a:pPr lvl="1" algn="just">
                  <a:lnSpc>
                    <a:spcPct val="150000"/>
                  </a:lnSpc>
                  <a:buClr>
                    <a:schemeClr val="accent2"/>
                  </a:buClr>
                </a:pPr>
                <a:r>
                  <a:rPr lang="fr-FR" dirty="0"/>
                  <a:t>En fait </a:t>
                </a:r>
                <a14:m>
                  <m:oMath xmlns:m="http://schemas.openxmlformats.org/officeDocument/2006/math">
                    <m:sSub>
                      <m:sSubPr>
                        <m:ctrlPr>
                          <a:rPr lang="fr-FR" i="1">
                            <a:latin typeface="Cambria Math" panose="02040503050406030204" pitchFamily="18" charset="0"/>
                          </a:rPr>
                        </m:ctrlPr>
                      </m:sSubPr>
                      <m:e>
                        <m:r>
                          <a:rPr lang="fr-FR" i="1">
                            <a:latin typeface="Cambria Math" panose="02040503050406030204" pitchFamily="18" charset="0"/>
                          </a:rPr>
                          <m:t>𝑝</m:t>
                        </m:r>
                      </m:e>
                      <m:sub>
                        <m:r>
                          <a:rPr lang="fr-FR" i="1">
                            <a:latin typeface="Cambria Math" panose="02040503050406030204" pitchFamily="18" charset="0"/>
                          </a:rPr>
                          <m:t>𝑖</m:t>
                        </m:r>
                      </m:sub>
                    </m:sSub>
                    <m:r>
                      <a:rPr lang="fr-FR" i="1">
                        <a:latin typeface="Cambria Math" panose="02040503050406030204" pitchFamily="18" charset="0"/>
                      </a:rPr>
                      <m:t> </m:t>
                    </m:r>
                  </m:oMath>
                </a14:m>
                <a:r>
                  <a:rPr lang="fr-FR" dirty="0"/>
                  <a:t>revient à diviser le nombre d’échantillon de la classe par le nombre d’échantillon total (cardinalités) : </a:t>
                </a:r>
                <a14:m>
                  <m:oMath xmlns:m="http://schemas.openxmlformats.org/officeDocument/2006/math">
                    <m:sSub>
                      <m:sSubPr>
                        <m:ctrlPr>
                          <a:rPr lang="fr-FR" sz="1650" i="1">
                            <a:latin typeface="Cambria Math" panose="02040503050406030204" pitchFamily="18" charset="0"/>
                          </a:rPr>
                        </m:ctrlPr>
                      </m:sSubPr>
                      <m:e>
                        <m:r>
                          <a:rPr lang="fr-FR" sz="1650" i="1">
                            <a:latin typeface="Cambria Math" panose="02040503050406030204" pitchFamily="18" charset="0"/>
                          </a:rPr>
                          <m:t>𝑝</m:t>
                        </m:r>
                      </m:e>
                      <m:sub>
                        <m:r>
                          <a:rPr lang="fr-FR" sz="1650" i="1">
                            <a:latin typeface="Cambria Math" panose="02040503050406030204" pitchFamily="18" charset="0"/>
                          </a:rPr>
                          <m:t>𝑖</m:t>
                        </m:r>
                      </m:sub>
                    </m:sSub>
                    <m:r>
                      <a:rPr lang="fr-FR" sz="1650" i="1">
                        <a:latin typeface="Cambria Math" panose="02040503050406030204" pitchFamily="18" charset="0"/>
                      </a:rPr>
                      <m:t>=</m:t>
                    </m:r>
                    <m:box>
                      <m:boxPr>
                        <m:ctrlPr>
                          <a:rPr lang="fr-FR" sz="1650" i="1">
                            <a:latin typeface="Cambria Math" panose="02040503050406030204" pitchFamily="18" charset="0"/>
                          </a:rPr>
                        </m:ctrlPr>
                      </m:boxPr>
                      <m:e>
                        <m:argPr>
                          <m:argSz m:val="-1"/>
                        </m:argPr>
                        <m:f>
                          <m:fPr>
                            <m:ctrlPr>
                              <a:rPr lang="fr-FR" sz="1650" i="1">
                                <a:latin typeface="Cambria Math" panose="02040503050406030204" pitchFamily="18" charset="0"/>
                              </a:rPr>
                            </m:ctrlPr>
                          </m:fPr>
                          <m:num>
                            <m:d>
                              <m:dPr>
                                <m:begChr m:val="|"/>
                                <m:endChr m:val="|"/>
                                <m:ctrlPr>
                                  <a:rPr lang="fr-FR" sz="1650" i="1">
                                    <a:latin typeface="Cambria Math" panose="02040503050406030204" pitchFamily="18" charset="0"/>
                                  </a:rPr>
                                </m:ctrlPr>
                              </m:dPr>
                              <m:e>
                                <m:r>
                                  <a:rPr lang="fr-FR" sz="1650" i="1">
                                    <a:latin typeface="Cambria Math" panose="02040503050406030204" pitchFamily="18" charset="0"/>
                                  </a:rPr>
                                  <m:t>𝑖</m:t>
                                </m:r>
                              </m:e>
                            </m:d>
                          </m:num>
                          <m:den>
                            <m:d>
                              <m:dPr>
                                <m:begChr m:val="|"/>
                                <m:endChr m:val="|"/>
                                <m:ctrlPr>
                                  <a:rPr lang="fr-FR" sz="1650" i="1">
                                    <a:latin typeface="Cambria Math" panose="02040503050406030204" pitchFamily="18" charset="0"/>
                                  </a:rPr>
                                </m:ctrlPr>
                              </m:dPr>
                              <m:e>
                                <m:r>
                                  <a:rPr lang="fr-FR" sz="1650" i="1">
                                    <a:latin typeface="Cambria Math" panose="02040503050406030204" pitchFamily="18" charset="0"/>
                                  </a:rPr>
                                  <m:t>𝑆</m:t>
                                </m:r>
                              </m:e>
                            </m:d>
                          </m:den>
                        </m:f>
                      </m:e>
                    </m:box>
                  </m:oMath>
                </a14:m>
                <a:endParaRPr lang="fr-FR" dirty="0"/>
              </a:p>
              <a:p>
                <a:pPr lvl="1" algn="just">
                  <a:lnSpc>
                    <a:spcPct val="150000"/>
                  </a:lnSpc>
                  <a:buClr>
                    <a:schemeClr val="accent2"/>
                  </a:buClr>
                </a:pPr>
                <a:r>
                  <a:rPr lang="fr-FR" dirty="0"/>
                  <a:t>L’entropie est toujours comprise entre 0 et 1</a:t>
                </a:r>
              </a:p>
              <a:p>
                <a:pPr lvl="1" algn="just">
                  <a:lnSpc>
                    <a:spcPct val="150000"/>
                  </a:lnSpc>
                  <a:buClr>
                    <a:schemeClr val="accent2"/>
                  </a:buClr>
                </a:pPr>
                <a:r>
                  <a:rPr lang="fr-FR" dirty="0"/>
                  <a:t>L’attribut ayant un meilleur gain d’information (valeur la plus élevée) est sélectionné pour la construction de l’arbre :</a:t>
                </a:r>
              </a:p>
              <a:p>
                <a:pPr marL="342900" lvl="1" indent="0" algn="just">
                  <a:lnSpc>
                    <a:spcPct val="150000"/>
                  </a:lnSpc>
                  <a:buClr>
                    <a:schemeClr val="accent2"/>
                  </a:buClr>
                  <a:buNone/>
                </a:pPr>
                <a14:m>
                  <m:oMathPara xmlns:m="http://schemas.openxmlformats.org/officeDocument/2006/math">
                    <m:oMathParaPr>
                      <m:jc m:val="center"/>
                    </m:oMathParaPr>
                    <m:oMath xmlns:m="http://schemas.openxmlformats.org/officeDocument/2006/math">
                      <m:r>
                        <a:rPr lang="fr-FR" b="0" i="1" smtClean="0">
                          <a:latin typeface="Cambria Math" panose="02040503050406030204" pitchFamily="18" charset="0"/>
                        </a:rPr>
                        <m:t>𝐺𝑎𝑖𝑛</m:t>
                      </m:r>
                      <m:d>
                        <m:dPr>
                          <m:ctrlPr>
                            <a:rPr lang="fr-FR" b="0" i="1" smtClean="0">
                              <a:latin typeface="Cambria Math" panose="02040503050406030204" pitchFamily="18" charset="0"/>
                            </a:rPr>
                          </m:ctrlPr>
                        </m:dPr>
                        <m:e>
                          <m:r>
                            <a:rPr lang="fr-FR" b="0" i="1" smtClean="0">
                              <a:latin typeface="Cambria Math" panose="02040503050406030204" pitchFamily="18" charset="0"/>
                            </a:rPr>
                            <m:t>𝑆</m:t>
                          </m:r>
                          <m:r>
                            <a:rPr lang="fr-FR" b="0" i="1" smtClean="0">
                              <a:latin typeface="Cambria Math" panose="02040503050406030204" pitchFamily="18" charset="0"/>
                            </a:rPr>
                            <m:t>, </m:t>
                          </m:r>
                          <m:r>
                            <a:rPr lang="fr-FR" b="0" i="1" smtClean="0">
                              <a:latin typeface="Cambria Math" panose="02040503050406030204" pitchFamily="18" charset="0"/>
                            </a:rPr>
                            <m:t>𝑎𝑡𝑡𝑟𝑖𝑏𝑢𝑡</m:t>
                          </m:r>
                        </m:e>
                      </m:d>
                      <m:r>
                        <a:rPr lang="fr-FR" b="0" i="1" smtClean="0">
                          <a:latin typeface="Cambria Math" panose="02040503050406030204" pitchFamily="18" charset="0"/>
                        </a:rPr>
                        <m:t>=</m:t>
                      </m:r>
                      <m:r>
                        <a:rPr lang="fr-FR" b="0" i="1" smtClean="0">
                          <a:latin typeface="Cambria Math" panose="02040503050406030204" pitchFamily="18" charset="0"/>
                        </a:rPr>
                        <m:t>𝐸</m:t>
                      </m:r>
                      <m:d>
                        <m:dPr>
                          <m:ctrlPr>
                            <a:rPr lang="fr-FR" b="0" i="1" smtClean="0">
                              <a:latin typeface="Cambria Math" panose="02040503050406030204" pitchFamily="18" charset="0"/>
                            </a:rPr>
                          </m:ctrlPr>
                        </m:dPr>
                        <m:e>
                          <m:r>
                            <a:rPr lang="fr-FR" b="0" i="1" smtClean="0">
                              <a:latin typeface="Cambria Math" panose="02040503050406030204" pitchFamily="18" charset="0"/>
                            </a:rPr>
                            <m:t>𝑆</m:t>
                          </m:r>
                        </m:e>
                      </m:d>
                      <m:r>
                        <a:rPr lang="fr-FR" b="0" i="1" smtClean="0">
                          <a:latin typeface="Cambria Math" panose="02040503050406030204" pitchFamily="18" charset="0"/>
                        </a:rPr>
                        <m:t>−</m:t>
                      </m:r>
                      <m:sSubSup>
                        <m:sSubSupPr>
                          <m:ctrlPr>
                            <a:rPr lang="fr-FR" i="1">
                              <a:latin typeface="Cambria Math" panose="02040503050406030204" pitchFamily="18" charset="0"/>
                            </a:rPr>
                          </m:ctrlPr>
                        </m:sSubSupPr>
                        <m:e>
                          <m:r>
                            <a:rPr lang="fr-FR" i="1">
                              <a:latin typeface="Cambria Math" panose="02040503050406030204" pitchFamily="18" charset="0"/>
                            </a:rPr>
                            <m:t>𝛴</m:t>
                          </m:r>
                        </m:e>
                        <m:sub>
                          <m:r>
                            <a:rPr lang="fr-FR" i="1">
                              <a:latin typeface="Cambria Math" panose="02040503050406030204" pitchFamily="18" charset="0"/>
                            </a:rPr>
                            <m:t>𝑖</m:t>
                          </m:r>
                          <m:r>
                            <a:rPr lang="fr-FR" i="1">
                              <a:latin typeface="Cambria Math" panose="02040503050406030204" pitchFamily="18" charset="0"/>
                            </a:rPr>
                            <m:t>=1</m:t>
                          </m:r>
                        </m:sub>
                        <m:sup>
                          <m:r>
                            <a:rPr lang="fr-FR" i="1">
                              <a:latin typeface="Cambria Math" panose="02040503050406030204" pitchFamily="18" charset="0"/>
                            </a:rPr>
                            <m:t>𝐾</m:t>
                          </m:r>
                        </m:sup>
                      </m:sSubSup>
                      <m:sSub>
                        <m:sSubPr>
                          <m:ctrlPr>
                            <a:rPr lang="fr-FR" i="1">
                              <a:latin typeface="Cambria Math" panose="02040503050406030204" pitchFamily="18" charset="0"/>
                            </a:rPr>
                          </m:ctrlPr>
                        </m:sSubPr>
                        <m:e>
                          <m:r>
                            <a:rPr lang="fr-FR" i="1">
                              <a:latin typeface="Cambria Math" panose="02040503050406030204" pitchFamily="18" charset="0"/>
                            </a:rPr>
                            <m:t>𝑝</m:t>
                          </m:r>
                        </m:e>
                        <m:sub>
                          <m:r>
                            <a:rPr lang="fr-FR" i="1">
                              <a:latin typeface="Cambria Math" panose="02040503050406030204" pitchFamily="18" charset="0"/>
                            </a:rPr>
                            <m:t>𝑖</m:t>
                          </m:r>
                        </m:sub>
                      </m:sSub>
                      <m:r>
                        <a:rPr lang="fr-FR"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rPr>
                        <m:t>𝐸</m:t>
                      </m:r>
                      <m:r>
                        <a:rPr lang="fr-FR" i="1">
                          <a:latin typeface="Cambria Math" panose="02040503050406030204" pitchFamily="18" charset="0"/>
                        </a:rPr>
                        <m:t>(</m:t>
                      </m:r>
                      <m:sSub>
                        <m:sSubPr>
                          <m:ctrlPr>
                            <a:rPr lang="fr-FR" i="1">
                              <a:latin typeface="Cambria Math" panose="02040503050406030204" pitchFamily="18" charset="0"/>
                            </a:rPr>
                          </m:ctrlPr>
                        </m:sSubPr>
                        <m:e>
                          <m:r>
                            <a:rPr lang="fr-FR" b="0" i="1" smtClean="0">
                              <a:latin typeface="Cambria Math" panose="02040503050406030204" pitchFamily="18" charset="0"/>
                            </a:rPr>
                            <m:t>𝑆</m:t>
                          </m:r>
                        </m:e>
                        <m:sub>
                          <m:r>
                            <a:rPr lang="fr-FR" i="1">
                              <a:latin typeface="Cambria Math" panose="02040503050406030204" pitchFamily="18" charset="0"/>
                            </a:rPr>
                            <m:t>𝑖</m:t>
                          </m:r>
                        </m:sub>
                      </m:sSub>
                      <m:r>
                        <a:rPr lang="fr-FR" i="1">
                          <a:latin typeface="Cambria Math" panose="02040503050406030204" pitchFamily="18" charset="0"/>
                        </a:rPr>
                        <m:t>)</m:t>
                      </m:r>
                    </m:oMath>
                  </m:oMathPara>
                </a14:m>
                <a:endParaRPr lang="fr-FR" dirty="0"/>
              </a:p>
            </p:txBody>
          </p:sp>
        </mc:Choice>
        <mc:Fallback xmlns="">
          <p:sp>
            <p:nvSpPr>
              <p:cNvPr id="9" name="Content Placeholder 15">
                <a:extLst>
                  <a:ext uri="{FF2B5EF4-FFF2-40B4-BE49-F238E27FC236}">
                    <a16:creationId xmlns:a16="http://schemas.microsoft.com/office/drawing/2014/main" id="{73E5ECC1-08EC-4C1E-83EF-45594F21E905}"/>
                  </a:ext>
                </a:extLst>
              </p:cNvPr>
              <p:cNvSpPr>
                <a:spLocks noGrp="1" noRot="1" noChangeAspect="1" noMove="1" noResize="1" noEditPoints="1" noAdjustHandles="1" noChangeArrowheads="1" noChangeShapeType="1" noTextEdit="1"/>
              </p:cNvSpPr>
              <p:nvPr>
                <p:ph sz="half" idx="13"/>
              </p:nvPr>
            </p:nvSpPr>
            <p:spPr>
              <a:xfrm>
                <a:off x="746911" y="1391970"/>
                <a:ext cx="5891400" cy="3375293"/>
              </a:xfrm>
              <a:blipFill>
                <a:blip r:embed="rId2"/>
                <a:stretch>
                  <a:fillRect l="-2277" t="-1083" r="-1967"/>
                </a:stretch>
              </a:blipFill>
            </p:spPr>
            <p:txBody>
              <a:bodyPr/>
              <a:lstStyle/>
              <a:p>
                <a:r>
                  <a:rPr lang="fr-FR">
                    <a:noFill/>
                  </a:rPr>
                  <a:t> </a:t>
                </a:r>
              </a:p>
            </p:txBody>
          </p:sp>
        </mc:Fallback>
      </mc:AlternateContent>
    </p:spTree>
    <p:extLst>
      <p:ext uri="{BB962C8B-B14F-4D97-AF65-F5344CB8AC3E}">
        <p14:creationId xmlns:p14="http://schemas.microsoft.com/office/powerpoint/2010/main" val="308438412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122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602913"/>
          </a:xfrm>
        </p:spPr>
        <p:txBody>
          <a:bodyPr>
            <a:noAutofit/>
          </a:bodyPr>
          <a:lstStyle/>
          <a:p>
            <a:r>
              <a:rPr lang="fr-FR" sz="2100" dirty="0"/>
              <a:t>Arbre de décision :</a:t>
            </a:r>
            <a:r>
              <a:rPr lang="fr-FR" sz="2100" b="0" dirty="0"/>
              <a:t> sélection de la meilleure feature avec l’</a:t>
            </a:r>
            <a:r>
              <a:rPr lang="fr-FR" sz="2100" dirty="0"/>
              <a:t>entropie</a:t>
            </a:r>
          </a:p>
        </p:txBody>
      </p:sp>
      <mc:AlternateContent xmlns:mc="http://schemas.openxmlformats.org/markup-compatibility/2006" xmlns:a14="http://schemas.microsoft.com/office/drawing/2010/main">
        <mc:Choice Requires="a14">
          <p:sp>
            <p:nvSpPr>
              <p:cNvPr id="9" name="Content Placeholder 15">
                <a:extLst>
                  <a:ext uri="{FF2B5EF4-FFF2-40B4-BE49-F238E27FC236}">
                    <a16:creationId xmlns:a16="http://schemas.microsoft.com/office/drawing/2014/main" id="{73E5ECC1-08EC-4C1E-83EF-45594F21E905}"/>
                  </a:ext>
                </a:extLst>
              </p:cNvPr>
              <p:cNvSpPr>
                <a:spLocks noGrp="1"/>
              </p:cNvSpPr>
              <p:nvPr>
                <p:ph sz="half" idx="13"/>
              </p:nvPr>
            </p:nvSpPr>
            <p:spPr>
              <a:xfrm>
                <a:off x="746911" y="1391970"/>
                <a:ext cx="5891400" cy="3375293"/>
              </a:xfrm>
            </p:spPr>
            <p:txBody>
              <a:bodyPr>
                <a:normAutofit/>
              </a:bodyPr>
              <a:lstStyle/>
              <a:p>
                <a:pPr algn="just">
                  <a:lnSpc>
                    <a:spcPct val="150000"/>
                  </a:lnSpc>
                  <a:buClr>
                    <a:schemeClr val="accent2"/>
                  </a:buClr>
                </a:pPr>
                <a:r>
                  <a:rPr lang="fr-FR" sz="1500" dirty="0"/>
                  <a:t>La division optimale est choisie par la caractéristique ayant moins d'entropie. </a:t>
                </a:r>
              </a:p>
              <a:p>
                <a:pPr algn="just">
                  <a:lnSpc>
                    <a:spcPct val="150000"/>
                  </a:lnSpc>
                  <a:buClr>
                    <a:schemeClr val="accent2"/>
                  </a:buClr>
                </a:pPr>
                <a:r>
                  <a:rPr lang="fr-FR" sz="1500" dirty="0"/>
                  <a:t>Il obtient sa valeur maximale lorsque la probabilité des deux classes est la même et un nœud est pur lorsque l'entropie a sa valeur minimale, qui est 0 :</a:t>
                </a:r>
              </a:p>
              <a:p>
                <a:pPr lvl="1" algn="just">
                  <a:lnSpc>
                    <a:spcPct val="150000"/>
                  </a:lnSpc>
                  <a:buClr>
                    <a:schemeClr val="accent2"/>
                  </a:buClr>
                </a:pP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𝐸𝑛𝑡𝑟𝑜𝑝𝑦</m:t>
                        </m:r>
                      </m:e>
                      <m:sub>
                        <m:r>
                          <a:rPr lang="fr-FR" sz="1350" i="1">
                            <a:latin typeface="Cambria Math" panose="02040503050406030204" pitchFamily="18" charset="0"/>
                          </a:rPr>
                          <m:t>𝑚𝑖𝑛</m:t>
                        </m:r>
                      </m:sub>
                    </m:sSub>
                    <m:r>
                      <a:rPr lang="fr-FR" sz="1350" i="1">
                        <a:latin typeface="Cambria Math" panose="02040503050406030204" pitchFamily="18" charset="0"/>
                      </a:rPr>
                      <m:t>=−1</m:t>
                    </m:r>
                    <m:r>
                      <a:rPr lang="fr-FR" sz="1350" i="1">
                        <a:latin typeface="Cambria Math" panose="02040503050406030204" pitchFamily="18" charset="0"/>
                        <a:ea typeface="Cambria Math" panose="02040503050406030204" pitchFamily="18" charset="0"/>
                      </a:rPr>
                      <m:t>×</m:t>
                    </m:r>
                    <m:sSub>
                      <m:sSubPr>
                        <m:ctrlPr>
                          <a:rPr lang="fr-FR" sz="1350" i="1">
                            <a:latin typeface="Cambria Math" panose="02040503050406030204" pitchFamily="18" charset="0"/>
                            <a:ea typeface="Cambria Math" panose="02040503050406030204" pitchFamily="18" charset="0"/>
                          </a:rPr>
                        </m:ctrlPr>
                      </m:sSubPr>
                      <m:e>
                        <m:r>
                          <a:rPr lang="fr-FR" sz="1350" i="1">
                            <a:latin typeface="Cambria Math" panose="02040503050406030204" pitchFamily="18" charset="0"/>
                            <a:ea typeface="Cambria Math" panose="02040503050406030204" pitchFamily="18" charset="0"/>
                          </a:rPr>
                          <m:t>𝑙𝑜𝑔</m:t>
                        </m:r>
                      </m:e>
                      <m:sub>
                        <m:r>
                          <a:rPr lang="fr-FR" sz="1350" i="1">
                            <a:latin typeface="Cambria Math" panose="02040503050406030204" pitchFamily="18" charset="0"/>
                            <a:ea typeface="Cambria Math" panose="02040503050406030204" pitchFamily="18" charset="0"/>
                          </a:rPr>
                          <m:t>2</m:t>
                        </m:r>
                      </m:sub>
                    </m:sSub>
                    <m:d>
                      <m:dPr>
                        <m:ctrlPr>
                          <a:rPr lang="fr-FR" sz="1350" i="1">
                            <a:latin typeface="Cambria Math" panose="02040503050406030204" pitchFamily="18" charset="0"/>
                            <a:ea typeface="Cambria Math" panose="02040503050406030204" pitchFamily="18" charset="0"/>
                          </a:rPr>
                        </m:ctrlPr>
                      </m:dPr>
                      <m:e>
                        <m:r>
                          <a:rPr lang="fr-FR" sz="1350" i="1">
                            <a:latin typeface="Cambria Math" panose="02040503050406030204" pitchFamily="18" charset="0"/>
                            <a:ea typeface="Cambria Math" panose="02040503050406030204" pitchFamily="18" charset="0"/>
                          </a:rPr>
                          <m:t>1</m:t>
                        </m:r>
                      </m:e>
                    </m:d>
                    <m:r>
                      <a:rPr lang="fr-FR" sz="1350" i="1">
                        <a:latin typeface="Cambria Math" panose="02040503050406030204" pitchFamily="18" charset="0"/>
                        <a:ea typeface="Cambria Math" panose="02040503050406030204" pitchFamily="18" charset="0"/>
                      </a:rPr>
                      <m:t>=0</m:t>
                    </m:r>
                  </m:oMath>
                </a14:m>
                <a:endParaRPr lang="fr-FR" sz="1350" dirty="0"/>
              </a:p>
              <a:p>
                <a:pPr lvl="1" algn="just">
                  <a:lnSpc>
                    <a:spcPct val="150000"/>
                  </a:lnSpc>
                  <a:buClr>
                    <a:schemeClr val="accent2"/>
                  </a:buClr>
                </a:pP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𝐸𝑛𝑡𝑟𝑜𝑝𝑦</m:t>
                        </m:r>
                      </m:e>
                      <m:sub>
                        <m:r>
                          <a:rPr lang="fr-FR" sz="1350" i="1">
                            <a:latin typeface="Cambria Math" panose="02040503050406030204" pitchFamily="18" charset="0"/>
                          </a:rPr>
                          <m:t>𝑚𝑎𝑥</m:t>
                        </m:r>
                      </m:sub>
                    </m:sSub>
                    <m:r>
                      <a:rPr lang="fr-FR" sz="1350" i="1">
                        <a:latin typeface="Cambria Math" panose="02040503050406030204" pitchFamily="18" charset="0"/>
                      </a:rPr>
                      <m:t>=−0.5</m:t>
                    </m:r>
                    <m:r>
                      <a:rPr lang="fr-FR" sz="1350" i="1">
                        <a:latin typeface="Cambria Math" panose="02040503050406030204" pitchFamily="18" charset="0"/>
                        <a:ea typeface="Cambria Math" panose="02040503050406030204" pitchFamily="18" charset="0"/>
                      </a:rPr>
                      <m:t>×</m:t>
                    </m:r>
                    <m:sSub>
                      <m:sSubPr>
                        <m:ctrlPr>
                          <a:rPr lang="fr-FR" sz="1350" i="1">
                            <a:latin typeface="Cambria Math" panose="02040503050406030204" pitchFamily="18" charset="0"/>
                            <a:ea typeface="Cambria Math" panose="02040503050406030204" pitchFamily="18" charset="0"/>
                          </a:rPr>
                        </m:ctrlPr>
                      </m:sSubPr>
                      <m:e>
                        <m:r>
                          <a:rPr lang="fr-FR" sz="1350" i="1">
                            <a:latin typeface="Cambria Math" panose="02040503050406030204" pitchFamily="18" charset="0"/>
                            <a:ea typeface="Cambria Math" panose="02040503050406030204" pitchFamily="18" charset="0"/>
                          </a:rPr>
                          <m:t>𝑙𝑜𝑔</m:t>
                        </m:r>
                      </m:e>
                      <m:sub>
                        <m:r>
                          <a:rPr lang="fr-FR" sz="1350" i="1">
                            <a:latin typeface="Cambria Math" panose="02040503050406030204" pitchFamily="18" charset="0"/>
                            <a:ea typeface="Cambria Math" panose="02040503050406030204" pitchFamily="18" charset="0"/>
                          </a:rPr>
                          <m:t>2</m:t>
                        </m:r>
                      </m:sub>
                    </m:sSub>
                    <m:d>
                      <m:dPr>
                        <m:ctrlPr>
                          <a:rPr lang="fr-FR" sz="1350" i="1">
                            <a:latin typeface="Cambria Math" panose="02040503050406030204" pitchFamily="18" charset="0"/>
                            <a:ea typeface="Cambria Math" panose="02040503050406030204" pitchFamily="18" charset="0"/>
                          </a:rPr>
                        </m:ctrlPr>
                      </m:dPr>
                      <m:e>
                        <m:r>
                          <a:rPr lang="fr-FR" sz="1350" i="1">
                            <a:latin typeface="Cambria Math" panose="02040503050406030204" pitchFamily="18" charset="0"/>
                            <a:ea typeface="Cambria Math" panose="02040503050406030204" pitchFamily="18" charset="0"/>
                          </a:rPr>
                          <m:t>0.5</m:t>
                        </m:r>
                      </m:e>
                    </m:d>
                    <m:r>
                      <a:rPr lang="fr-FR" sz="1350" i="1">
                        <a:latin typeface="Cambria Math" panose="02040503050406030204" pitchFamily="18" charset="0"/>
                      </a:rPr>
                      <m:t>−0.5</m:t>
                    </m:r>
                    <m:r>
                      <a:rPr lang="fr-FR" sz="1350" i="1">
                        <a:latin typeface="Cambria Math" panose="02040503050406030204" pitchFamily="18" charset="0"/>
                        <a:ea typeface="Cambria Math" panose="02040503050406030204" pitchFamily="18" charset="0"/>
                      </a:rPr>
                      <m:t>×</m:t>
                    </m:r>
                    <m:sSub>
                      <m:sSubPr>
                        <m:ctrlPr>
                          <a:rPr lang="fr-FR" sz="1350" i="1">
                            <a:latin typeface="Cambria Math" panose="02040503050406030204" pitchFamily="18" charset="0"/>
                            <a:ea typeface="Cambria Math" panose="02040503050406030204" pitchFamily="18" charset="0"/>
                          </a:rPr>
                        </m:ctrlPr>
                      </m:sSubPr>
                      <m:e>
                        <m:r>
                          <a:rPr lang="fr-FR" sz="1350" i="1">
                            <a:latin typeface="Cambria Math" panose="02040503050406030204" pitchFamily="18" charset="0"/>
                            <a:ea typeface="Cambria Math" panose="02040503050406030204" pitchFamily="18" charset="0"/>
                          </a:rPr>
                          <m:t>𝑙𝑜𝑔</m:t>
                        </m:r>
                      </m:e>
                      <m:sub>
                        <m:r>
                          <a:rPr lang="fr-FR" sz="1350" i="1">
                            <a:latin typeface="Cambria Math" panose="02040503050406030204" pitchFamily="18" charset="0"/>
                            <a:ea typeface="Cambria Math" panose="02040503050406030204" pitchFamily="18" charset="0"/>
                          </a:rPr>
                          <m:t>2</m:t>
                        </m:r>
                      </m:sub>
                    </m:sSub>
                    <m:d>
                      <m:dPr>
                        <m:ctrlPr>
                          <a:rPr lang="fr-FR" sz="1350" i="1">
                            <a:latin typeface="Cambria Math" panose="02040503050406030204" pitchFamily="18" charset="0"/>
                            <a:ea typeface="Cambria Math" panose="02040503050406030204" pitchFamily="18" charset="0"/>
                          </a:rPr>
                        </m:ctrlPr>
                      </m:dPr>
                      <m:e>
                        <m:r>
                          <a:rPr lang="fr-FR" sz="1350" i="1">
                            <a:latin typeface="Cambria Math" panose="02040503050406030204" pitchFamily="18" charset="0"/>
                            <a:ea typeface="Cambria Math" panose="02040503050406030204" pitchFamily="18" charset="0"/>
                          </a:rPr>
                          <m:t>0.5</m:t>
                        </m:r>
                      </m:e>
                    </m:d>
                    <m:r>
                      <a:rPr lang="fr-FR" sz="1350" i="1">
                        <a:latin typeface="Cambria Math" panose="02040503050406030204" pitchFamily="18" charset="0"/>
                        <a:ea typeface="Cambria Math" panose="02040503050406030204" pitchFamily="18" charset="0"/>
                      </a:rPr>
                      <m:t>=1</m:t>
                    </m:r>
                  </m:oMath>
                </a14:m>
                <a:endParaRPr lang="fr-FR" sz="1350" dirty="0"/>
              </a:p>
            </p:txBody>
          </p:sp>
        </mc:Choice>
        <mc:Fallback xmlns="">
          <p:sp>
            <p:nvSpPr>
              <p:cNvPr id="9" name="Content Placeholder 15">
                <a:extLst>
                  <a:ext uri="{FF2B5EF4-FFF2-40B4-BE49-F238E27FC236}">
                    <a16:creationId xmlns:a16="http://schemas.microsoft.com/office/drawing/2014/main" id="{73E5ECC1-08EC-4C1E-83EF-45594F21E905}"/>
                  </a:ext>
                </a:extLst>
              </p:cNvPr>
              <p:cNvSpPr>
                <a:spLocks noGrp="1" noRot="1" noChangeAspect="1" noMove="1" noResize="1" noEditPoints="1" noAdjustHandles="1" noChangeArrowheads="1" noChangeShapeType="1" noTextEdit="1"/>
              </p:cNvSpPr>
              <p:nvPr>
                <p:ph sz="half" idx="13"/>
              </p:nvPr>
            </p:nvSpPr>
            <p:spPr>
              <a:xfrm>
                <a:off x="746911" y="1391970"/>
                <a:ext cx="5891400" cy="3375293"/>
              </a:xfrm>
              <a:blipFill>
                <a:blip r:embed="rId2"/>
                <a:stretch>
                  <a:fillRect l="-1863" r="-1967"/>
                </a:stretch>
              </a:blipFill>
            </p:spPr>
            <p:txBody>
              <a:bodyPr/>
              <a:lstStyle/>
              <a:p>
                <a:r>
                  <a:rPr lang="fr-FR">
                    <a:noFill/>
                  </a:rPr>
                  <a:t> </a:t>
                </a:r>
              </a:p>
            </p:txBody>
          </p:sp>
        </mc:Fallback>
      </mc:AlternateContent>
    </p:spTree>
    <p:extLst>
      <p:ext uri="{BB962C8B-B14F-4D97-AF65-F5344CB8AC3E}">
        <p14:creationId xmlns:p14="http://schemas.microsoft.com/office/powerpoint/2010/main" val="330117072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123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602913"/>
          </a:xfrm>
        </p:spPr>
        <p:txBody>
          <a:bodyPr>
            <a:noAutofit/>
          </a:bodyPr>
          <a:lstStyle/>
          <a:p>
            <a:r>
              <a:rPr lang="fr-FR" sz="2100" dirty="0"/>
              <a:t>Arbre de décision :</a:t>
            </a:r>
            <a:r>
              <a:rPr lang="fr-FR" sz="2100" b="0" dirty="0"/>
              <a:t> sélection de la meilleure feature avec </a:t>
            </a:r>
            <a:r>
              <a:rPr lang="fr-FR" sz="2100" dirty="0"/>
              <a:t>Gini</a:t>
            </a:r>
          </a:p>
        </p:txBody>
      </p:sp>
      <mc:AlternateContent xmlns:mc="http://schemas.openxmlformats.org/markup-compatibility/2006" xmlns:a14="http://schemas.microsoft.com/office/drawing/2010/main">
        <mc:Choice Requires="a14">
          <p:sp>
            <p:nvSpPr>
              <p:cNvPr id="9" name="Content Placeholder 15">
                <a:extLst>
                  <a:ext uri="{FF2B5EF4-FFF2-40B4-BE49-F238E27FC236}">
                    <a16:creationId xmlns:a16="http://schemas.microsoft.com/office/drawing/2014/main" id="{73E5ECC1-08EC-4C1E-83EF-45594F21E905}"/>
                  </a:ext>
                </a:extLst>
              </p:cNvPr>
              <p:cNvSpPr>
                <a:spLocks noGrp="1"/>
              </p:cNvSpPr>
              <p:nvPr>
                <p:ph sz="half" idx="13"/>
              </p:nvPr>
            </p:nvSpPr>
            <p:spPr>
              <a:xfrm>
                <a:off x="746911" y="1391970"/>
                <a:ext cx="5891400" cy="3375293"/>
              </a:xfrm>
            </p:spPr>
            <p:txBody>
              <a:bodyPr>
                <a:normAutofit fontScale="47500" lnSpcReduction="20000"/>
              </a:bodyPr>
              <a:lstStyle/>
              <a:p>
                <a:pPr lvl="1" algn="just">
                  <a:lnSpc>
                    <a:spcPct val="150000"/>
                  </a:lnSpc>
                  <a:buClr>
                    <a:schemeClr val="accent2"/>
                  </a:buClr>
                </a:pPr>
                <a:r>
                  <a:rPr lang="fr-FR" dirty="0"/>
                  <a:t>On cherchera également quel attribut constituera la racine de l’arbre, et comment seront répartis les nœuds. </a:t>
                </a:r>
              </a:p>
              <a:p>
                <a:pPr lvl="1" algn="just">
                  <a:lnSpc>
                    <a:spcPct val="150000"/>
                  </a:lnSpc>
                  <a:buClr>
                    <a:schemeClr val="accent2"/>
                  </a:buClr>
                </a:pPr>
                <a:r>
                  <a:rPr lang="fr-FR" dirty="0"/>
                  <a:t>L'impureté Gini mesure la fréquence à laquelle tout élément de l'ensemble de données sera mal étiqueté lorsqu'il est étiqueté de manière aléatoire.</a:t>
                </a:r>
              </a:p>
              <a:p>
                <a:pPr lvl="1" algn="just">
                  <a:lnSpc>
                    <a:spcPct val="150000"/>
                  </a:lnSpc>
                  <a:buClr>
                    <a:schemeClr val="accent2"/>
                  </a:buClr>
                </a:pPr>
                <a:r>
                  <a:rPr lang="fr-FR" dirty="0"/>
                  <a:t>La valeur minimale de l'indice de Gini est 0. Cela se produit lorsque le nœud est pur, cela signifie que tous les éléments contenus dans le nœud appartiennent à une classe unique. Par conséquent, ce nœud ne sera plus divisé. </a:t>
                </a:r>
              </a:p>
              <a:p>
                <a:pPr lvl="1" algn="just">
                  <a:lnSpc>
                    <a:spcPct val="150000"/>
                  </a:lnSpc>
                  <a:buClr>
                    <a:schemeClr val="accent2"/>
                  </a:buClr>
                </a:pPr>
                <a:r>
                  <a:rPr lang="fr-FR" dirty="0"/>
                  <a:t>Ainsi, la répartition optimale est choisie sur la base des caractéristiques ayant un indice de Gini faible. De plus, il obtient la valeur maximale lorsque la probabilité des deux classes est la même.</a:t>
                </a:r>
              </a:p>
              <a:p>
                <a:pPr lvl="2" algn="just">
                  <a:lnSpc>
                    <a:spcPct val="150000"/>
                  </a:lnSpc>
                  <a:buClr>
                    <a:schemeClr val="accent2"/>
                  </a:buClr>
                </a:pPr>
                <a14:m>
                  <m:oMath xmlns:m="http://schemas.openxmlformats.org/officeDocument/2006/math">
                    <m:sSub>
                      <m:sSubPr>
                        <m:ctrlPr>
                          <a:rPr lang="it-IT" i="1" dirty="0" smtClean="0">
                            <a:latin typeface="Cambria Math" panose="02040503050406030204" pitchFamily="18" charset="0"/>
                          </a:rPr>
                        </m:ctrlPr>
                      </m:sSubPr>
                      <m:e>
                        <m:r>
                          <a:rPr lang="fr-FR" b="0" i="1" dirty="0" smtClean="0">
                            <a:latin typeface="Cambria Math" panose="02040503050406030204" pitchFamily="18" charset="0"/>
                          </a:rPr>
                          <m:t>𝐺𝑖𝑛𝑖</m:t>
                        </m:r>
                      </m:e>
                      <m:sub>
                        <m:r>
                          <a:rPr lang="fr-FR" b="0" i="1" dirty="0" smtClean="0">
                            <a:latin typeface="Cambria Math" panose="02040503050406030204" pitchFamily="18" charset="0"/>
                          </a:rPr>
                          <m:t>𝑚𝑖𝑛</m:t>
                        </m:r>
                      </m:sub>
                    </m:sSub>
                    <m:r>
                      <a:rPr lang="it-IT" i="1" dirty="0" smtClean="0">
                        <a:latin typeface="Cambria Math" panose="02040503050406030204" pitchFamily="18" charset="0"/>
                      </a:rPr>
                      <m:t>=1–</m:t>
                    </m:r>
                    <m:d>
                      <m:dPr>
                        <m:ctrlPr>
                          <a:rPr lang="it-IT" i="1" dirty="0" smtClean="0">
                            <a:latin typeface="Cambria Math" panose="02040503050406030204" pitchFamily="18" charset="0"/>
                          </a:rPr>
                        </m:ctrlPr>
                      </m:dPr>
                      <m:e>
                        <m:sSup>
                          <m:sSupPr>
                            <m:ctrlPr>
                              <a:rPr lang="it-IT" i="1" dirty="0" smtClean="0">
                                <a:latin typeface="Cambria Math" panose="02040503050406030204" pitchFamily="18" charset="0"/>
                              </a:rPr>
                            </m:ctrlPr>
                          </m:sSupPr>
                          <m:e>
                            <m:r>
                              <a:rPr lang="fr-FR" b="0" i="1" dirty="0" smtClean="0">
                                <a:latin typeface="Cambria Math" panose="02040503050406030204" pitchFamily="18" charset="0"/>
                              </a:rPr>
                              <m:t>1</m:t>
                            </m:r>
                          </m:e>
                          <m:sup>
                            <m:r>
                              <a:rPr lang="fr-FR" b="0" i="1" dirty="0" smtClean="0">
                                <a:latin typeface="Cambria Math" panose="02040503050406030204" pitchFamily="18" charset="0"/>
                              </a:rPr>
                              <m:t>2</m:t>
                            </m:r>
                          </m:sup>
                        </m:sSup>
                      </m:e>
                    </m:d>
                    <m:r>
                      <a:rPr lang="it-IT" i="1" dirty="0" smtClean="0">
                        <a:latin typeface="Cambria Math" panose="02040503050406030204" pitchFamily="18" charset="0"/>
                      </a:rPr>
                      <m:t>=0</m:t>
                    </m:r>
                  </m:oMath>
                </a14:m>
                <a:endParaRPr lang="fr-FR" dirty="0"/>
              </a:p>
              <a:p>
                <a:pPr lvl="2" algn="just">
                  <a:lnSpc>
                    <a:spcPct val="150000"/>
                  </a:lnSpc>
                  <a:buClr>
                    <a:schemeClr val="accent2"/>
                  </a:buClr>
                </a:pPr>
                <a14:m>
                  <m:oMath xmlns:m="http://schemas.openxmlformats.org/officeDocument/2006/math">
                    <m:sSub>
                      <m:sSubPr>
                        <m:ctrlPr>
                          <a:rPr lang="it-IT" i="1" dirty="0">
                            <a:latin typeface="Cambria Math" panose="02040503050406030204" pitchFamily="18" charset="0"/>
                          </a:rPr>
                        </m:ctrlPr>
                      </m:sSubPr>
                      <m:e>
                        <m:r>
                          <a:rPr lang="fr-FR" i="1" dirty="0">
                            <a:latin typeface="Cambria Math" panose="02040503050406030204" pitchFamily="18" charset="0"/>
                          </a:rPr>
                          <m:t>𝐺𝑖𝑛𝑖</m:t>
                        </m:r>
                      </m:e>
                      <m:sub>
                        <m:r>
                          <a:rPr lang="fr-FR" i="1" dirty="0">
                            <a:latin typeface="Cambria Math" panose="02040503050406030204" pitchFamily="18" charset="0"/>
                          </a:rPr>
                          <m:t>𝑚</m:t>
                        </m:r>
                        <m:r>
                          <a:rPr lang="fr-FR" b="0" i="1" dirty="0" smtClean="0">
                            <a:latin typeface="Cambria Math" panose="02040503050406030204" pitchFamily="18" charset="0"/>
                          </a:rPr>
                          <m:t>𝑎𝑥</m:t>
                        </m:r>
                      </m:sub>
                    </m:sSub>
                    <m:r>
                      <a:rPr lang="it-IT" i="1" dirty="0">
                        <a:latin typeface="Cambria Math" panose="02040503050406030204" pitchFamily="18" charset="0"/>
                      </a:rPr>
                      <m:t>=1–(</m:t>
                    </m:r>
                    <m:r>
                      <a:rPr lang="fr-FR" b="0" i="1" dirty="0" smtClean="0">
                        <a:latin typeface="Cambria Math" panose="02040503050406030204" pitchFamily="18" charset="0"/>
                      </a:rPr>
                      <m:t>0.52+0.52</m:t>
                    </m:r>
                    <m:r>
                      <a:rPr lang="it-IT" i="1" dirty="0">
                        <a:latin typeface="Cambria Math" panose="02040503050406030204" pitchFamily="18" charset="0"/>
                      </a:rPr>
                      <m:t>)=</m:t>
                    </m:r>
                    <m:r>
                      <a:rPr lang="fr-FR" b="0" i="1" dirty="0" smtClean="0">
                        <a:latin typeface="Cambria Math" panose="02040503050406030204" pitchFamily="18" charset="0"/>
                      </a:rPr>
                      <m:t>0.5</m:t>
                    </m:r>
                  </m:oMath>
                </a14:m>
                <a:endParaRPr lang="it-IT" dirty="0"/>
              </a:p>
            </p:txBody>
          </p:sp>
        </mc:Choice>
        <mc:Fallback xmlns="">
          <p:sp>
            <p:nvSpPr>
              <p:cNvPr id="9" name="Content Placeholder 15">
                <a:extLst>
                  <a:ext uri="{FF2B5EF4-FFF2-40B4-BE49-F238E27FC236}">
                    <a16:creationId xmlns:a16="http://schemas.microsoft.com/office/drawing/2014/main" id="{73E5ECC1-08EC-4C1E-83EF-45594F21E905}"/>
                  </a:ext>
                </a:extLst>
              </p:cNvPr>
              <p:cNvSpPr>
                <a:spLocks noGrp="1" noRot="1" noChangeAspect="1" noMove="1" noResize="1" noEditPoints="1" noAdjustHandles="1" noChangeArrowheads="1" noChangeShapeType="1" noTextEdit="1"/>
              </p:cNvSpPr>
              <p:nvPr>
                <p:ph sz="half" idx="13"/>
              </p:nvPr>
            </p:nvSpPr>
            <p:spPr>
              <a:xfrm>
                <a:off x="746911" y="1391970"/>
                <a:ext cx="5891400" cy="3375293"/>
              </a:xfrm>
              <a:blipFill>
                <a:blip r:embed="rId2"/>
                <a:stretch>
                  <a:fillRect t="-542" r="-1449"/>
                </a:stretch>
              </a:blipFill>
            </p:spPr>
            <p:txBody>
              <a:bodyPr/>
              <a:lstStyle/>
              <a:p>
                <a:r>
                  <a:rPr lang="fr-FR">
                    <a:noFill/>
                  </a:rPr>
                  <a:t> </a:t>
                </a:r>
              </a:p>
            </p:txBody>
          </p:sp>
        </mc:Fallback>
      </mc:AlternateContent>
    </p:spTree>
    <p:extLst>
      <p:ext uri="{BB962C8B-B14F-4D97-AF65-F5344CB8AC3E}">
        <p14:creationId xmlns:p14="http://schemas.microsoft.com/office/powerpoint/2010/main" val="368719609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124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292813"/>
          </a:xfrm>
        </p:spPr>
        <p:txBody>
          <a:bodyPr>
            <a:noAutofit/>
          </a:bodyPr>
          <a:lstStyle/>
          <a:p>
            <a:r>
              <a:rPr lang="fr-FR" sz="2100" dirty="0"/>
              <a:t>Arbre de décision :</a:t>
            </a:r>
            <a:r>
              <a:rPr lang="fr-FR" sz="2100" b="0" dirty="0"/>
              <a:t> </a:t>
            </a:r>
            <a:r>
              <a:rPr lang="fr-FR" sz="2100" dirty="0"/>
              <a:t>entropie</a:t>
            </a:r>
            <a:r>
              <a:rPr lang="fr-FR" sz="2100" b="0" dirty="0"/>
              <a:t> vs </a:t>
            </a:r>
            <a:r>
              <a:rPr lang="fr-FR" sz="2100" dirty="0"/>
              <a:t>Gini</a:t>
            </a:r>
          </a:p>
        </p:txBody>
      </p:sp>
      <p:sp>
        <p:nvSpPr>
          <p:cNvPr id="9" name="Content Placeholder 15">
            <a:extLst>
              <a:ext uri="{FF2B5EF4-FFF2-40B4-BE49-F238E27FC236}">
                <a16:creationId xmlns:a16="http://schemas.microsoft.com/office/drawing/2014/main" id="{73E5ECC1-08EC-4C1E-83EF-45594F21E905}"/>
              </a:ext>
            </a:extLst>
          </p:cNvPr>
          <p:cNvSpPr>
            <a:spLocks noGrp="1"/>
          </p:cNvSpPr>
          <p:nvPr>
            <p:ph sz="half" idx="13"/>
          </p:nvPr>
        </p:nvSpPr>
        <p:spPr>
          <a:xfrm>
            <a:off x="746911" y="1391970"/>
            <a:ext cx="5891400" cy="2138409"/>
          </a:xfrm>
        </p:spPr>
        <p:txBody>
          <a:bodyPr>
            <a:normAutofit fontScale="85000" lnSpcReduction="20000"/>
          </a:bodyPr>
          <a:lstStyle/>
          <a:p>
            <a:pPr lvl="1" algn="just">
              <a:lnSpc>
                <a:spcPct val="150000"/>
              </a:lnSpc>
              <a:buClr>
                <a:schemeClr val="accent2"/>
              </a:buClr>
            </a:pPr>
            <a:r>
              <a:rPr lang="fr-FR" sz="1350" dirty="0"/>
              <a:t>L'indice de Gini et l'entropie ont deux différences principales :</a:t>
            </a:r>
          </a:p>
          <a:p>
            <a:pPr lvl="1" algn="just">
              <a:lnSpc>
                <a:spcPct val="150000"/>
              </a:lnSpc>
              <a:buClr>
                <a:schemeClr val="accent2"/>
              </a:buClr>
            </a:pPr>
            <a:r>
              <a:rPr lang="fr-FR" sz="1350" b="1" dirty="0"/>
              <a:t>Première différence :</a:t>
            </a:r>
            <a:r>
              <a:rPr lang="fr-FR" sz="1350" dirty="0"/>
              <a:t> L'indice de Gini a des valeurs à l'intérieur de l'intervalle [0, 0,5] alors que l'intervalle de l'entropie est [0, 1]. </a:t>
            </a:r>
          </a:p>
          <a:p>
            <a:pPr lvl="1" algn="just">
              <a:lnSpc>
                <a:spcPct val="150000"/>
              </a:lnSpc>
              <a:buClr>
                <a:schemeClr val="accent2"/>
              </a:buClr>
            </a:pPr>
            <a:r>
              <a:rPr lang="fr-FR" sz="1350" b="1" dirty="0"/>
              <a:t>Seconde différence :</a:t>
            </a:r>
            <a:r>
              <a:rPr lang="fr-FR" sz="1350" dirty="0"/>
              <a:t> Sur le plan informatique, l'entropie est plus complexe car elle utilise des logarithmes et, par conséquent, le calcul de l'indice de Gini sera plus rapide.</a:t>
            </a:r>
          </a:p>
          <a:p>
            <a:pPr lvl="1" algn="just">
              <a:lnSpc>
                <a:spcPct val="150000"/>
              </a:lnSpc>
              <a:buClr>
                <a:schemeClr val="accent2"/>
              </a:buClr>
            </a:pPr>
            <a:r>
              <a:rPr lang="fr-FR" sz="1350" dirty="0"/>
              <a:t>Dans la figure ci-dessous, les deux sont représentés. L'indice de Gini a également été représenté multiplié par deux pour voir concrètement les différences entre eux, qui ne sont pas très significatives.</a:t>
            </a:r>
          </a:p>
        </p:txBody>
      </p:sp>
      <p:pic>
        <p:nvPicPr>
          <p:cNvPr id="3" name="Image 2">
            <a:extLst>
              <a:ext uri="{FF2B5EF4-FFF2-40B4-BE49-F238E27FC236}">
                <a16:creationId xmlns:a16="http://schemas.microsoft.com/office/drawing/2014/main" id="{93A32DA6-B616-46F1-8441-D426DBB891D9}"/>
              </a:ext>
            </a:extLst>
          </p:cNvPr>
          <p:cNvPicPr>
            <a:picLocks noChangeAspect="1"/>
          </p:cNvPicPr>
          <p:nvPr/>
        </p:nvPicPr>
        <p:blipFill>
          <a:blip r:embed="rId2"/>
          <a:stretch>
            <a:fillRect/>
          </a:stretch>
        </p:blipFill>
        <p:spPr>
          <a:xfrm>
            <a:off x="2326254" y="3445233"/>
            <a:ext cx="4491493" cy="1497164"/>
          </a:xfrm>
          <a:prstGeom prst="rect">
            <a:avLst/>
          </a:prstGeom>
        </p:spPr>
      </p:pic>
    </p:spTree>
    <p:extLst>
      <p:ext uri="{BB962C8B-B14F-4D97-AF65-F5344CB8AC3E}">
        <p14:creationId xmlns:p14="http://schemas.microsoft.com/office/powerpoint/2010/main" val="192496911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0" y="1391970"/>
            <a:ext cx="6889237" cy="3375293"/>
          </a:xfrm>
        </p:spPr>
        <p:txBody>
          <a:bodyPr>
            <a:normAutofit/>
          </a:bodyPr>
          <a:lstStyle/>
          <a:p>
            <a:pPr lvl="1" algn="just">
              <a:lnSpc>
                <a:spcPct val="100000"/>
              </a:lnSpc>
              <a:buClr>
                <a:schemeClr val="accent2"/>
              </a:buClr>
            </a:pPr>
            <a:r>
              <a:rPr lang="fr-FR" sz="1800" dirty="0"/>
              <a:t>Les arbres de décision peuvent devenir très complexes, entraînant un </a:t>
            </a:r>
            <a:r>
              <a:rPr lang="fr-FR" sz="1800" b="1" dirty="0"/>
              <a:t>overfitting</a:t>
            </a:r>
            <a:r>
              <a:rPr lang="fr-FR" sz="1800" dirty="0"/>
              <a:t> s'ils ne sont pas correctement contrôlés.</a:t>
            </a:r>
          </a:p>
          <a:p>
            <a:pPr lvl="1" algn="just">
              <a:lnSpc>
                <a:spcPct val="100000"/>
              </a:lnSpc>
              <a:buClr>
                <a:schemeClr val="accent2"/>
              </a:buClr>
            </a:pPr>
            <a:r>
              <a:rPr lang="fr-FR" sz="1800" dirty="0"/>
              <a:t>L’overfitting se produit lorsque le modèle capture le bruit dans les données et perd sa capacité à se généraliser sur de nouvelles données. </a:t>
            </a:r>
          </a:p>
          <a:p>
            <a:pPr lvl="1" algn="just">
              <a:lnSpc>
                <a:spcPct val="100000"/>
              </a:lnSpc>
              <a:buClr>
                <a:schemeClr val="accent2"/>
              </a:buClr>
            </a:pPr>
            <a:r>
              <a:rPr lang="fr-FR" sz="1800" dirty="0"/>
              <a:t>Pour éviter l’overfitting, nous pouvons utiliser des techniques comme l'élagage, qui consiste à supprimer certaines branches ou nœuds de l'arbre en fonction de critères spécifiques.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125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overfitting et pruning</a:t>
            </a:r>
          </a:p>
        </p:txBody>
      </p:sp>
    </p:spTree>
    <p:extLst>
      <p:ext uri="{BB962C8B-B14F-4D97-AF65-F5344CB8AC3E}">
        <p14:creationId xmlns:p14="http://schemas.microsoft.com/office/powerpoint/2010/main" val="416668790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249917" cy="3375293"/>
          </a:xfrm>
        </p:spPr>
        <p:txBody>
          <a:bodyPr>
            <a:normAutofit fontScale="55000" lnSpcReduction="20000"/>
          </a:bodyPr>
          <a:lstStyle/>
          <a:p>
            <a:pPr lvl="1" algn="just">
              <a:lnSpc>
                <a:spcPct val="150000"/>
              </a:lnSpc>
              <a:buClr>
                <a:schemeClr val="accent2"/>
              </a:buClr>
            </a:pPr>
            <a:r>
              <a:rPr lang="fr-FR" dirty="0"/>
              <a:t>Lors de la construction d'un arbre de décision, nous devons choisir la feature la plus pertinente et le seuil optimal pour diviser l'ensemble de données à chaque nœud. </a:t>
            </a:r>
          </a:p>
          <a:p>
            <a:pPr lvl="1" algn="just">
              <a:lnSpc>
                <a:spcPct val="150000"/>
              </a:lnSpc>
              <a:buClr>
                <a:schemeClr val="accent2"/>
              </a:buClr>
            </a:pPr>
            <a:r>
              <a:rPr lang="fr-FR" dirty="0"/>
              <a:t>La meilleure feature est celle qui fournit le plus de gain d'informations (ou la plus grande réduction d'impuretés) lors de la division de l'ensemble de données (cf. mesures d’impuretés). </a:t>
            </a:r>
          </a:p>
          <a:p>
            <a:pPr lvl="1" algn="just">
              <a:lnSpc>
                <a:spcPct val="150000"/>
              </a:lnSpc>
              <a:buClr>
                <a:schemeClr val="accent2"/>
              </a:buClr>
            </a:pPr>
            <a:r>
              <a:rPr lang="fr-FR" dirty="0"/>
              <a:t>Le seuil est la valeur utilisée pour diviser les données en deux groupes en fonction de la fonctionnalité choisie.</a:t>
            </a:r>
          </a:p>
          <a:p>
            <a:pPr lvl="1" algn="just">
              <a:lnSpc>
                <a:spcPct val="150000"/>
              </a:lnSpc>
              <a:buClr>
                <a:schemeClr val="accent2"/>
              </a:buClr>
            </a:pPr>
            <a:r>
              <a:rPr lang="fr-FR" dirty="0"/>
              <a:t>Par exemple, dans le problème de classification des fruits, nous pourrions choisir la caractéristique « forme » et un seuil de « rond » pour diviser l'ensemble de données, ce qui signifie que tous les fruits ronds vont à un nœud enfant et tous les fruits non ronds vont à l'autre nœud enfant.</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126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choix de la feature et du seuil</a:t>
            </a:r>
          </a:p>
        </p:txBody>
      </p:sp>
    </p:spTree>
    <p:extLst>
      <p:ext uri="{BB962C8B-B14F-4D97-AF65-F5344CB8AC3E}">
        <p14:creationId xmlns:p14="http://schemas.microsoft.com/office/powerpoint/2010/main" val="159479495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375293"/>
          </a:xfrm>
        </p:spPr>
        <p:txBody>
          <a:bodyPr>
            <a:normAutofit fontScale="55000" lnSpcReduction="20000"/>
          </a:bodyPr>
          <a:lstStyle/>
          <a:p>
            <a:pPr lvl="1" algn="just">
              <a:lnSpc>
                <a:spcPct val="150000"/>
              </a:lnSpc>
              <a:buClr>
                <a:schemeClr val="accent2"/>
              </a:buClr>
            </a:pPr>
            <a:r>
              <a:rPr lang="fr-FR" dirty="0"/>
              <a:t>Les critères d'arrêt sont des conditions qui déterminent le moment où l'algorithme de l'arbre de décision doit arrêter la croissance de l'arbre. </a:t>
            </a:r>
          </a:p>
          <a:p>
            <a:pPr lvl="1" algn="just">
              <a:lnSpc>
                <a:spcPct val="150000"/>
              </a:lnSpc>
              <a:buClr>
                <a:schemeClr val="accent2"/>
              </a:buClr>
            </a:pPr>
            <a:r>
              <a:rPr lang="fr-FR" dirty="0"/>
              <a:t>Les critères d'arrêt courants comprennent :</a:t>
            </a:r>
          </a:p>
          <a:p>
            <a:pPr lvl="2" algn="just">
              <a:lnSpc>
                <a:spcPct val="150000"/>
              </a:lnSpc>
              <a:buClr>
                <a:schemeClr val="accent2"/>
              </a:buClr>
            </a:pPr>
            <a:r>
              <a:rPr lang="fr-FR" b="1" dirty="0"/>
              <a:t>Profondeur maximale de l'arborescence : </a:t>
            </a:r>
            <a:r>
              <a:rPr lang="fr-FR" dirty="0"/>
              <a:t>limitez la profondeur maximale de l'arborescence pour éviter tout ajustement excessif (overfitting).</a:t>
            </a:r>
          </a:p>
          <a:p>
            <a:pPr lvl="2" algn="just">
              <a:lnSpc>
                <a:spcPct val="150000"/>
              </a:lnSpc>
              <a:buClr>
                <a:schemeClr val="accent2"/>
              </a:buClr>
            </a:pPr>
            <a:r>
              <a:rPr lang="fr-FR" b="1" dirty="0"/>
              <a:t>Échantillons minimum par feuille : </a:t>
            </a:r>
            <a:r>
              <a:rPr lang="fr-FR" dirty="0"/>
              <a:t>exigez un nombre minimum d'instances dans chaque nœud feuille pour garantir que l'arbre ne devienne pas trop spécifique aux données d'apprentissage.</a:t>
            </a:r>
          </a:p>
          <a:p>
            <a:pPr lvl="2" algn="just">
              <a:lnSpc>
                <a:spcPct val="150000"/>
              </a:lnSpc>
              <a:buClr>
                <a:schemeClr val="accent2"/>
              </a:buClr>
            </a:pPr>
            <a:r>
              <a:rPr lang="fr-FR" b="1" dirty="0"/>
              <a:t>Nœuds purs : </a:t>
            </a:r>
            <a:r>
              <a:rPr lang="fr-FR" dirty="0"/>
              <a:t>arrêtez de développer l'arborescence lorsque toutes les instances d'un nœud appartiennent à la même classe (pour la classification) ou ont la même valeur cible (pour la régression).</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127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critère d’arrêt</a:t>
            </a:r>
          </a:p>
        </p:txBody>
      </p:sp>
    </p:spTree>
    <p:extLst>
      <p:ext uri="{BB962C8B-B14F-4D97-AF65-F5344CB8AC3E}">
        <p14:creationId xmlns:p14="http://schemas.microsoft.com/office/powerpoint/2010/main" val="238170219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375293"/>
          </a:xfrm>
        </p:spPr>
        <p:txBody>
          <a:bodyPr>
            <a:normAutofit fontScale="62500" lnSpcReduction="20000"/>
          </a:bodyPr>
          <a:lstStyle/>
          <a:p>
            <a:pPr lvl="1" algn="just">
              <a:lnSpc>
                <a:spcPct val="150000"/>
              </a:lnSpc>
              <a:buClr>
                <a:schemeClr val="accent2"/>
              </a:buClr>
            </a:pPr>
            <a:r>
              <a:rPr lang="fr-FR" dirty="0"/>
              <a:t>L'élagage est une technique utilisée pour simplifier un arbre de décision et réduire l’overfitting en supprimant les branches ou les nœuds qui fournissent peu ou pas d'informations supplémentaires. </a:t>
            </a:r>
          </a:p>
          <a:p>
            <a:pPr lvl="1" algn="just">
              <a:lnSpc>
                <a:spcPct val="150000"/>
              </a:lnSpc>
              <a:buClr>
                <a:schemeClr val="accent2"/>
              </a:buClr>
            </a:pPr>
            <a:r>
              <a:rPr lang="fr-FR" dirty="0"/>
              <a:t>Deux types courants d'élagage sont:</a:t>
            </a:r>
          </a:p>
          <a:p>
            <a:pPr lvl="2" algn="just">
              <a:lnSpc>
                <a:spcPct val="150000"/>
              </a:lnSpc>
              <a:buClr>
                <a:schemeClr val="accent2"/>
              </a:buClr>
            </a:pPr>
            <a:r>
              <a:rPr lang="fr-FR" b="1" dirty="0"/>
              <a:t>Pré-élagage : </a:t>
            </a:r>
            <a:r>
              <a:rPr lang="fr-FR" dirty="0"/>
              <a:t>arrêtez la croissance de l'arbre en fonction des critères d'arrêt lors de la construction de l'arbre.</a:t>
            </a:r>
          </a:p>
          <a:p>
            <a:pPr lvl="2" algn="just">
              <a:lnSpc>
                <a:spcPct val="150000"/>
              </a:lnSpc>
              <a:buClr>
                <a:schemeClr val="accent2"/>
              </a:buClr>
            </a:pPr>
            <a:r>
              <a:rPr lang="fr-FR" b="1" dirty="0"/>
              <a:t>Post-élagage : </a:t>
            </a:r>
            <a:r>
              <a:rPr lang="fr-FR" dirty="0"/>
              <a:t>créez d'abord l'arbre complet, puis supprimez les branches ou les nœuds en fonction d'un ensemble de données de validation ou de mesures de complexité (par exemple, le nombre de nœuds ou la profondeur de l'arbre).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128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pruning</a:t>
            </a:r>
          </a:p>
        </p:txBody>
      </p:sp>
    </p:spTree>
    <p:extLst>
      <p:ext uri="{BB962C8B-B14F-4D97-AF65-F5344CB8AC3E}">
        <p14:creationId xmlns:p14="http://schemas.microsoft.com/office/powerpoint/2010/main" val="63343098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7016406" cy="3375293"/>
          </a:xfrm>
        </p:spPr>
        <p:txBody>
          <a:bodyPr>
            <a:normAutofit/>
          </a:bodyPr>
          <a:lstStyle/>
          <a:p>
            <a:pPr lvl="1" algn="just">
              <a:lnSpc>
                <a:spcPct val="100000"/>
              </a:lnSpc>
              <a:buClr>
                <a:schemeClr val="accent2"/>
              </a:buClr>
            </a:pPr>
            <a:r>
              <a:rPr lang="fr-FR" sz="2000" dirty="0"/>
              <a:t>Facile à comprendre et à interpréter.</a:t>
            </a:r>
          </a:p>
          <a:p>
            <a:pPr lvl="1" algn="just">
              <a:lnSpc>
                <a:spcPct val="100000"/>
              </a:lnSpc>
              <a:buClr>
                <a:schemeClr val="accent2"/>
              </a:buClr>
            </a:pPr>
            <a:r>
              <a:rPr lang="fr-FR" sz="2000" dirty="0"/>
              <a:t>Peut gérer à la fois les caractéristiques numériques et catégorielles.</a:t>
            </a:r>
          </a:p>
          <a:p>
            <a:pPr lvl="1" algn="just">
              <a:lnSpc>
                <a:spcPct val="100000"/>
              </a:lnSpc>
              <a:buClr>
                <a:schemeClr val="accent2"/>
              </a:buClr>
            </a:pPr>
            <a:r>
              <a:rPr lang="fr-FR" sz="2000" dirty="0"/>
              <a:t>Nécessite peu de prétraitement des données (par exemple, pas besoin de mise à l'échelle des fonctionnalités).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129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avantages</a:t>
            </a:r>
          </a:p>
        </p:txBody>
      </p:sp>
    </p:spTree>
    <p:extLst>
      <p:ext uri="{BB962C8B-B14F-4D97-AF65-F5344CB8AC3E}">
        <p14:creationId xmlns:p14="http://schemas.microsoft.com/office/powerpoint/2010/main" val="339390586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0" y="1391970"/>
            <a:ext cx="6804459" cy="3375293"/>
          </a:xfrm>
        </p:spPr>
        <p:txBody>
          <a:bodyPr>
            <a:normAutofit/>
          </a:bodyPr>
          <a:lstStyle/>
          <a:p>
            <a:pPr lvl="1" algn="just">
              <a:lnSpc>
                <a:spcPct val="120000"/>
              </a:lnSpc>
              <a:buClr>
                <a:schemeClr val="accent2"/>
              </a:buClr>
            </a:pPr>
            <a:r>
              <a:rPr lang="fr-FR" sz="1800" dirty="0"/>
              <a:t>Enclin à l’overfitting, en particulier lorsqu'il s'agit de données bruyantes ou d'un grand nombre de features.</a:t>
            </a:r>
          </a:p>
          <a:p>
            <a:pPr lvl="1" algn="just">
              <a:lnSpc>
                <a:spcPct val="120000"/>
              </a:lnSpc>
              <a:buClr>
                <a:schemeClr val="accent2"/>
              </a:buClr>
            </a:pPr>
            <a:r>
              <a:rPr lang="fr-FR" sz="1800" dirty="0"/>
              <a:t>Peut être sensible à de petits changements dans les données, conduisant à des arborescences instables.</a:t>
            </a:r>
          </a:p>
          <a:p>
            <a:pPr lvl="1" algn="just">
              <a:lnSpc>
                <a:spcPct val="120000"/>
              </a:lnSpc>
              <a:buClr>
                <a:schemeClr val="accent2"/>
              </a:buClr>
            </a:pPr>
            <a:r>
              <a:rPr lang="fr-FR" sz="1800" dirty="0"/>
              <a:t>La nature gourmande de l'algorithme peut ne pas aboutir à l'arbre optimal.</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130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a:t>
            </a:r>
            <a:r>
              <a:rPr lang="fr-FR" sz="2100" b="0" dirty="0"/>
              <a:t> inconvénients</a:t>
            </a:r>
          </a:p>
        </p:txBody>
      </p:sp>
    </p:spTree>
    <p:extLst>
      <p:ext uri="{BB962C8B-B14F-4D97-AF65-F5344CB8AC3E}">
        <p14:creationId xmlns:p14="http://schemas.microsoft.com/office/powerpoint/2010/main" val="333462212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765207" cy="1715003"/>
          </a:xfrm>
        </p:spPr>
        <p:txBody>
          <a:bodyPr>
            <a:normAutofit/>
          </a:bodyPr>
          <a:lstStyle/>
          <a:p>
            <a:pPr algn="just">
              <a:lnSpc>
                <a:spcPct val="150000"/>
              </a:lnSpc>
              <a:buClr>
                <a:schemeClr val="accent2"/>
              </a:buClr>
            </a:pPr>
            <a:r>
              <a:rPr lang="fr-FR" sz="1500" dirty="0"/>
              <a:t>On utilise les arbres de classification pour expliquer et/ou prédire l’appartenance d’individus à une classe (ou modalité ou catégorie) d’une variable qualitative, sur la base de variables explicatives quantitatives et/ou qualitatives.</a:t>
            </a:r>
            <a:endParaRPr lang="fr-FR" dirty="0"/>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131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 </a:t>
            </a:r>
            <a:r>
              <a:rPr lang="fr-FR" sz="2100" b="0" dirty="0"/>
              <a:t>classification</a:t>
            </a:r>
          </a:p>
        </p:txBody>
      </p:sp>
    </p:spTree>
    <p:extLst>
      <p:ext uri="{BB962C8B-B14F-4D97-AF65-F5344CB8AC3E}">
        <p14:creationId xmlns:p14="http://schemas.microsoft.com/office/powerpoint/2010/main" val="347046006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765207" cy="1715003"/>
          </a:xfrm>
        </p:spPr>
        <p:txBody>
          <a:bodyPr>
            <a:normAutofit fontScale="70000" lnSpcReduction="20000"/>
          </a:bodyPr>
          <a:lstStyle/>
          <a:p>
            <a:pPr algn="just">
              <a:lnSpc>
                <a:spcPct val="150000"/>
              </a:lnSpc>
              <a:buClr>
                <a:schemeClr val="accent2"/>
              </a:buClr>
            </a:pPr>
            <a:r>
              <a:rPr lang="fr-FR" sz="1500" b="1" dirty="0"/>
              <a:t>Jeu de données IRIS : </a:t>
            </a:r>
          </a:p>
          <a:p>
            <a:pPr lvl="1" algn="just">
              <a:lnSpc>
                <a:spcPct val="150000"/>
              </a:lnSpc>
              <a:buClr>
                <a:schemeClr val="accent2"/>
              </a:buClr>
            </a:pPr>
            <a:r>
              <a:rPr lang="fr-FR" dirty="0"/>
              <a:t>Pour chaque type de plante, on dispose de quelques caractéristiques. </a:t>
            </a:r>
          </a:p>
          <a:p>
            <a:pPr lvl="1" algn="just">
              <a:lnSpc>
                <a:spcPct val="150000"/>
              </a:lnSpc>
              <a:buClr>
                <a:schemeClr val="accent2"/>
              </a:buClr>
            </a:pPr>
            <a:r>
              <a:rPr lang="fr-FR" dirty="0"/>
              <a:t>A partir de ces dernières, ont veut prédire à quel type de plante elles appartiennent.</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132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 </a:t>
            </a:r>
            <a:r>
              <a:rPr lang="fr-FR" sz="2100" b="0" dirty="0"/>
              <a:t>classification</a:t>
            </a:r>
          </a:p>
        </p:txBody>
      </p:sp>
      <p:pic>
        <p:nvPicPr>
          <p:cNvPr id="8" name="Image 7">
            <a:extLst>
              <a:ext uri="{FF2B5EF4-FFF2-40B4-BE49-F238E27FC236}">
                <a16:creationId xmlns:a16="http://schemas.microsoft.com/office/drawing/2014/main" id="{56A7B201-18E8-4722-84C5-95BA56CE11FA}"/>
              </a:ext>
            </a:extLst>
          </p:cNvPr>
          <p:cNvPicPr>
            <a:picLocks noChangeAspect="1"/>
          </p:cNvPicPr>
          <p:nvPr/>
        </p:nvPicPr>
        <p:blipFill rotWithShape="1">
          <a:blip r:embed="rId2">
            <a:extLst>
              <a:ext uri="{28A0092B-C50C-407E-A947-70E740481C1C}">
                <a14:useLocalDpi xmlns:a14="http://schemas.microsoft.com/office/drawing/2010/main" val="0"/>
              </a:ext>
            </a:extLst>
          </a:blip>
          <a:srcRect t="5156"/>
          <a:stretch/>
        </p:blipFill>
        <p:spPr>
          <a:xfrm>
            <a:off x="1753345" y="3106972"/>
            <a:ext cx="4389038" cy="1860751"/>
          </a:xfrm>
          <a:prstGeom prst="rect">
            <a:avLst/>
          </a:prstGeom>
        </p:spPr>
      </p:pic>
    </p:spTree>
    <p:extLst>
      <p:ext uri="{BB962C8B-B14F-4D97-AF65-F5344CB8AC3E}">
        <p14:creationId xmlns:p14="http://schemas.microsoft.com/office/powerpoint/2010/main" val="2248088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765207" cy="575978"/>
          </a:xfrm>
        </p:spPr>
        <p:txBody>
          <a:bodyPr>
            <a:normAutofit/>
          </a:bodyPr>
          <a:lstStyle/>
          <a:p>
            <a:pPr algn="just">
              <a:lnSpc>
                <a:spcPct val="150000"/>
              </a:lnSpc>
              <a:buClr>
                <a:schemeClr val="accent2"/>
              </a:buClr>
            </a:pPr>
            <a:r>
              <a:rPr lang="fr-FR" sz="1500" b="1" dirty="0"/>
              <a:t>Jeu de données IRIS : </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133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 </a:t>
            </a:r>
            <a:r>
              <a:rPr lang="fr-FR" sz="2100" b="0" dirty="0"/>
              <a:t>classification</a:t>
            </a:r>
          </a:p>
        </p:txBody>
      </p:sp>
      <p:pic>
        <p:nvPicPr>
          <p:cNvPr id="6" name="Image 5">
            <a:extLst>
              <a:ext uri="{FF2B5EF4-FFF2-40B4-BE49-F238E27FC236}">
                <a16:creationId xmlns:a16="http://schemas.microsoft.com/office/drawing/2014/main" id="{0B9DD50F-19B5-4774-9D69-C0777B133E2C}"/>
              </a:ext>
            </a:extLst>
          </p:cNvPr>
          <p:cNvPicPr>
            <a:picLocks noChangeAspect="1"/>
          </p:cNvPicPr>
          <p:nvPr/>
        </p:nvPicPr>
        <p:blipFill rotWithShape="1">
          <a:blip r:embed="rId2">
            <a:extLst>
              <a:ext uri="{28A0092B-C50C-407E-A947-70E740481C1C}">
                <a14:useLocalDpi xmlns:a14="http://schemas.microsoft.com/office/drawing/2010/main" val="0"/>
              </a:ext>
            </a:extLst>
          </a:blip>
          <a:srcRect l="1404" t="4143" r="1252" b="56389"/>
          <a:stretch/>
        </p:blipFill>
        <p:spPr>
          <a:xfrm>
            <a:off x="1890423" y="2137149"/>
            <a:ext cx="3888188" cy="2076809"/>
          </a:xfrm>
          <a:prstGeom prst="rect">
            <a:avLst/>
          </a:prstGeom>
        </p:spPr>
      </p:pic>
    </p:spTree>
    <p:extLst>
      <p:ext uri="{BB962C8B-B14F-4D97-AF65-F5344CB8AC3E}">
        <p14:creationId xmlns:p14="http://schemas.microsoft.com/office/powerpoint/2010/main" val="366303518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765207" cy="1577843"/>
          </a:xfrm>
        </p:spPr>
        <p:txBody>
          <a:bodyPr>
            <a:normAutofit lnSpcReduction="10000"/>
          </a:bodyPr>
          <a:lstStyle/>
          <a:p>
            <a:pPr algn="just">
              <a:lnSpc>
                <a:spcPct val="150000"/>
              </a:lnSpc>
              <a:buClr>
                <a:schemeClr val="accent2"/>
              </a:buClr>
            </a:pPr>
            <a:r>
              <a:rPr lang="fr-FR" sz="1500" b="1" dirty="0"/>
              <a:t>Jeu de données IRIS :</a:t>
            </a:r>
          </a:p>
          <a:p>
            <a:pPr lvl="1" algn="just">
              <a:lnSpc>
                <a:spcPct val="150000"/>
              </a:lnSpc>
              <a:buClr>
                <a:schemeClr val="accent2"/>
              </a:buClr>
            </a:pPr>
            <a:r>
              <a:rPr lang="fr-FR" sz="1200" dirty="0"/>
              <a:t>On cherche la pureté dans l’arbre</a:t>
            </a:r>
          </a:p>
          <a:p>
            <a:pPr lvl="1" algn="just">
              <a:lnSpc>
                <a:spcPct val="150000"/>
              </a:lnSpc>
              <a:buClr>
                <a:schemeClr val="accent2"/>
              </a:buClr>
            </a:pPr>
            <a:r>
              <a:rPr lang="fr-FR" sz="1200" dirty="0"/>
              <a:t>Dans l’idéal, on voudrait que la classification {setosa, versicolor, virginica} s’opére de façon à obtenir un type de fleur par nœud.</a:t>
            </a:r>
          </a:p>
          <a:p>
            <a:pPr lvl="1" algn="just">
              <a:lnSpc>
                <a:spcPct val="150000"/>
              </a:lnSpc>
              <a:buClr>
                <a:schemeClr val="accent2"/>
              </a:buClr>
            </a:pPr>
            <a:r>
              <a:rPr lang="fr-FR" sz="1200" dirty="0"/>
              <a:t>Le but est de créer un arbre avec des nœuds les plus purs possibles.</a:t>
            </a:r>
            <a:r>
              <a:rPr lang="fr-FR" sz="1200" b="1" dirty="0"/>
              <a:t> </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a:xfrm>
            <a:off x="581343" y="0"/>
            <a:ext cx="0" cy="0"/>
          </a:xfrm>
        </p:spPr>
        <p:txBody>
          <a:bodyPr/>
          <a:lstStyle>
            <a:lvl1pPr algn="r">
              <a:defRPr sz="900">
                <a:solidFill>
                  <a:schemeClr val="tx1">
                    <a:lumMod val="50000"/>
                    <a:lumOff val="50000"/>
                  </a:schemeClr>
                </a:solidFill>
              </a:defRPr>
            </a:lvl1pPr>
          </a:lstStyle>
          <a:p>
            <a:fld id="{8699F50C-BE38-4BD0-BA84-9B090E1F2B9B}" type="slidenum">
              <a:rPr lang="fr-FR" smtClean="0"/>
              <a:pPr/>
              <a:t>134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 </a:t>
            </a:r>
            <a:r>
              <a:rPr lang="fr-FR" sz="2100" b="0" dirty="0"/>
              <a:t>pureté de l’arbre</a:t>
            </a:r>
          </a:p>
        </p:txBody>
      </p:sp>
      <p:grpSp>
        <p:nvGrpSpPr>
          <p:cNvPr id="7" name="Groupe 6">
            <a:extLst>
              <a:ext uri="{FF2B5EF4-FFF2-40B4-BE49-F238E27FC236}">
                <a16:creationId xmlns:a16="http://schemas.microsoft.com/office/drawing/2014/main" id="{5A530E49-BF8E-4B4C-93C5-0519FBF15CF4}"/>
              </a:ext>
            </a:extLst>
          </p:cNvPr>
          <p:cNvGrpSpPr/>
          <p:nvPr/>
        </p:nvGrpSpPr>
        <p:grpSpPr>
          <a:xfrm>
            <a:off x="1016462" y="3121529"/>
            <a:ext cx="2177411" cy="1927365"/>
            <a:chOff x="3971428" y="2712021"/>
            <a:chExt cx="2903214" cy="2569820"/>
          </a:xfrm>
        </p:grpSpPr>
        <p:grpSp>
          <p:nvGrpSpPr>
            <p:cNvPr id="8" name="Groupe 7">
              <a:extLst>
                <a:ext uri="{FF2B5EF4-FFF2-40B4-BE49-F238E27FC236}">
                  <a16:creationId xmlns:a16="http://schemas.microsoft.com/office/drawing/2014/main" id="{94E35BEB-F088-4299-B879-559AAD528634}"/>
                </a:ext>
              </a:extLst>
            </p:cNvPr>
            <p:cNvGrpSpPr/>
            <p:nvPr/>
          </p:nvGrpSpPr>
          <p:grpSpPr>
            <a:xfrm>
              <a:off x="3971428" y="2712021"/>
              <a:ext cx="2796815" cy="2569820"/>
              <a:chOff x="3925376" y="2123624"/>
              <a:chExt cx="2796815" cy="2569820"/>
            </a:xfrm>
          </p:grpSpPr>
          <p:sp>
            <p:nvSpPr>
              <p:cNvPr id="18" name="Rectangle 17">
                <a:extLst>
                  <a:ext uri="{FF2B5EF4-FFF2-40B4-BE49-F238E27FC236}">
                    <a16:creationId xmlns:a16="http://schemas.microsoft.com/office/drawing/2014/main" id="{80FC3D47-3A54-4A25-8AA3-F9D17DFD8918}"/>
                  </a:ext>
                </a:extLst>
              </p:cNvPr>
              <p:cNvSpPr/>
              <p:nvPr/>
            </p:nvSpPr>
            <p:spPr>
              <a:xfrm>
                <a:off x="4779394" y="2123624"/>
                <a:ext cx="961446"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700" dirty="0"/>
                  <a:t>Longueur des sépales</a:t>
                </a:r>
              </a:p>
            </p:txBody>
          </p:sp>
          <p:sp>
            <p:nvSpPr>
              <p:cNvPr id="19" name="Ellipse 18">
                <a:extLst>
                  <a:ext uri="{FF2B5EF4-FFF2-40B4-BE49-F238E27FC236}">
                    <a16:creationId xmlns:a16="http://schemas.microsoft.com/office/drawing/2014/main" id="{4FF11A96-77E8-4A2C-B7E7-D14B2B4BC195}"/>
                  </a:ext>
                </a:extLst>
              </p:cNvPr>
              <p:cNvSpPr/>
              <p:nvPr/>
            </p:nvSpPr>
            <p:spPr>
              <a:xfrm>
                <a:off x="4136336" y="2777023"/>
                <a:ext cx="801918" cy="5553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t>setosa</a:t>
                </a:r>
              </a:p>
            </p:txBody>
          </p:sp>
          <p:cxnSp>
            <p:nvCxnSpPr>
              <p:cNvPr id="20" name="Connecteur droit 19">
                <a:extLst>
                  <a:ext uri="{FF2B5EF4-FFF2-40B4-BE49-F238E27FC236}">
                    <a16:creationId xmlns:a16="http://schemas.microsoft.com/office/drawing/2014/main" id="{FAF5E8E5-AEFF-41E8-B718-8CB5953357E4}"/>
                  </a:ext>
                </a:extLst>
              </p:cNvPr>
              <p:cNvCxnSpPr>
                <a:cxnSpLocks/>
                <a:stCxn id="19" idx="0"/>
                <a:endCxn id="18" idx="2"/>
              </p:cNvCxnSpPr>
              <p:nvPr/>
            </p:nvCxnSpPr>
            <p:spPr>
              <a:xfrm flipV="1">
                <a:off x="4537296" y="2462178"/>
                <a:ext cx="722821" cy="314845"/>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ZoneTexte 21">
                    <a:extLst>
                      <a:ext uri="{FF2B5EF4-FFF2-40B4-BE49-F238E27FC236}">
                        <a16:creationId xmlns:a16="http://schemas.microsoft.com/office/drawing/2014/main" id="{269BE290-C991-4617-8109-B787E613FF9D}"/>
                      </a:ext>
                    </a:extLst>
                  </p:cNvPr>
                  <p:cNvSpPr txBox="1"/>
                  <p:nvPr/>
                </p:nvSpPr>
                <p:spPr>
                  <a:xfrm>
                    <a:off x="3925376" y="2483708"/>
                    <a:ext cx="961446" cy="3077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900" i="1">
                              <a:latin typeface="Cambria Math" panose="02040503050406030204" pitchFamily="18" charset="0"/>
                              <a:ea typeface="Cambria Math" panose="02040503050406030204" pitchFamily="18" charset="0"/>
                            </a:rPr>
                            <m:t>≤0.6</m:t>
                          </m:r>
                        </m:oMath>
                      </m:oMathPara>
                    </a14:m>
                    <a:endParaRPr lang="fr-FR" sz="900" i="1" dirty="0"/>
                  </a:p>
                </p:txBody>
              </p:sp>
            </mc:Choice>
            <mc:Fallback xmlns="">
              <p:sp>
                <p:nvSpPr>
                  <p:cNvPr id="22" name="ZoneTexte 21">
                    <a:extLst>
                      <a:ext uri="{FF2B5EF4-FFF2-40B4-BE49-F238E27FC236}">
                        <a16:creationId xmlns:a16="http://schemas.microsoft.com/office/drawing/2014/main" id="{269BE290-C991-4617-8109-B787E613FF9D}"/>
                      </a:ext>
                    </a:extLst>
                  </p:cNvPr>
                  <p:cNvSpPr txBox="1">
                    <a:spLocks noRot="1" noChangeAspect="1" noMove="1" noResize="1" noEditPoints="1" noAdjustHandles="1" noChangeArrowheads="1" noChangeShapeType="1" noTextEdit="1"/>
                  </p:cNvSpPr>
                  <p:nvPr/>
                </p:nvSpPr>
                <p:spPr>
                  <a:xfrm>
                    <a:off x="3925376" y="2483708"/>
                    <a:ext cx="961446" cy="307776"/>
                  </a:xfrm>
                  <a:prstGeom prst="rect">
                    <a:avLst/>
                  </a:prstGeom>
                  <a:blipFill>
                    <a:blip r:embed="rId2"/>
                    <a:stretch>
                      <a:fillRect/>
                    </a:stretch>
                  </a:blipFill>
                </p:spPr>
                <p:txBody>
                  <a:bodyPr/>
                  <a:lstStyle/>
                  <a:p>
                    <a:r>
                      <a:rPr lang="fr-FR">
                        <a:noFill/>
                      </a:rPr>
                      <a:t> </a:t>
                    </a:r>
                  </a:p>
                </p:txBody>
              </p:sp>
            </mc:Fallback>
          </mc:AlternateContent>
          <p:sp>
            <p:nvSpPr>
              <p:cNvPr id="23" name="Ellipse 22">
                <a:extLst>
                  <a:ext uri="{FF2B5EF4-FFF2-40B4-BE49-F238E27FC236}">
                    <a16:creationId xmlns:a16="http://schemas.microsoft.com/office/drawing/2014/main" id="{0AE33F32-1374-4A7F-AAF7-3E99D0BAF08E}"/>
                  </a:ext>
                </a:extLst>
              </p:cNvPr>
              <p:cNvSpPr/>
              <p:nvPr/>
            </p:nvSpPr>
            <p:spPr>
              <a:xfrm>
                <a:off x="5129828" y="2791675"/>
                <a:ext cx="1081378" cy="5945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800" dirty="0"/>
                  <a:t>virginica, versicolor</a:t>
                </a:r>
              </a:p>
            </p:txBody>
          </p:sp>
          <p:cxnSp>
            <p:nvCxnSpPr>
              <p:cNvPr id="24" name="Connecteur droit 23">
                <a:extLst>
                  <a:ext uri="{FF2B5EF4-FFF2-40B4-BE49-F238E27FC236}">
                    <a16:creationId xmlns:a16="http://schemas.microsoft.com/office/drawing/2014/main" id="{8751BD3E-EAD7-4C3D-986F-1DA61E7B1441}"/>
                  </a:ext>
                </a:extLst>
              </p:cNvPr>
              <p:cNvCxnSpPr>
                <a:cxnSpLocks/>
                <a:stCxn id="18" idx="2"/>
              </p:cNvCxnSpPr>
              <p:nvPr/>
            </p:nvCxnSpPr>
            <p:spPr>
              <a:xfrm>
                <a:off x="5260117" y="2462178"/>
                <a:ext cx="410400" cy="314845"/>
              </a:xfrm>
              <a:prstGeom prst="line">
                <a:avLst/>
              </a:prstGeom>
            </p:spPr>
            <p:style>
              <a:lnRef idx="1">
                <a:schemeClr val="accent1"/>
              </a:lnRef>
              <a:fillRef idx="0">
                <a:schemeClr val="accent1"/>
              </a:fillRef>
              <a:effectRef idx="0">
                <a:schemeClr val="accent1"/>
              </a:effectRef>
              <a:fontRef idx="minor">
                <a:schemeClr val="tx1"/>
              </a:fontRef>
            </p:style>
          </p:cxnSp>
          <p:sp>
            <p:nvSpPr>
              <p:cNvPr id="25" name="Ellipse 24">
                <a:extLst>
                  <a:ext uri="{FF2B5EF4-FFF2-40B4-BE49-F238E27FC236}">
                    <a16:creationId xmlns:a16="http://schemas.microsoft.com/office/drawing/2014/main" id="{CA20B98F-6C05-4006-B32D-B10A141C4685}"/>
                  </a:ext>
                </a:extLst>
              </p:cNvPr>
              <p:cNvSpPr/>
              <p:nvPr/>
            </p:nvSpPr>
            <p:spPr>
              <a:xfrm>
                <a:off x="4559074" y="4145100"/>
                <a:ext cx="961446" cy="54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t>virginica</a:t>
                </a:r>
              </a:p>
            </p:txBody>
          </p:sp>
          <p:sp>
            <p:nvSpPr>
              <p:cNvPr id="26" name="Rectangle 25">
                <a:extLst>
                  <a:ext uri="{FF2B5EF4-FFF2-40B4-BE49-F238E27FC236}">
                    <a16:creationId xmlns:a16="http://schemas.microsoft.com/office/drawing/2014/main" id="{8426A0EB-CEFC-4893-A1CB-4ABFE0A7062A}"/>
                  </a:ext>
                </a:extLst>
              </p:cNvPr>
              <p:cNvSpPr/>
              <p:nvPr/>
            </p:nvSpPr>
            <p:spPr>
              <a:xfrm>
                <a:off x="5131343" y="3457416"/>
                <a:ext cx="1081379" cy="333238"/>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Longueur des pétales</a:t>
                </a:r>
              </a:p>
            </p:txBody>
          </p:sp>
          <p:cxnSp>
            <p:nvCxnSpPr>
              <p:cNvPr id="27" name="Connecteur droit 26">
                <a:extLst>
                  <a:ext uri="{FF2B5EF4-FFF2-40B4-BE49-F238E27FC236}">
                    <a16:creationId xmlns:a16="http://schemas.microsoft.com/office/drawing/2014/main" id="{4ED92465-A2EB-4A07-AF42-10319446C606}"/>
                  </a:ext>
                </a:extLst>
              </p:cNvPr>
              <p:cNvCxnSpPr>
                <a:cxnSpLocks/>
                <a:stCxn id="23" idx="4"/>
                <a:endCxn id="26" idx="0"/>
              </p:cNvCxnSpPr>
              <p:nvPr/>
            </p:nvCxnSpPr>
            <p:spPr>
              <a:xfrm>
                <a:off x="5670517" y="3386228"/>
                <a:ext cx="1516" cy="71188"/>
              </a:xfrm>
              <a:prstGeom prst="line">
                <a:avLst/>
              </a:prstGeom>
            </p:spPr>
            <p:style>
              <a:lnRef idx="1">
                <a:schemeClr val="accent1"/>
              </a:lnRef>
              <a:fillRef idx="0">
                <a:schemeClr val="accent1"/>
              </a:fillRef>
              <a:effectRef idx="0">
                <a:schemeClr val="accent1"/>
              </a:effectRef>
              <a:fontRef idx="minor">
                <a:schemeClr val="tx1"/>
              </a:fontRef>
            </p:style>
          </p:cxnSp>
          <p:sp>
            <p:nvSpPr>
              <p:cNvPr id="28" name="Ellipse 27">
                <a:extLst>
                  <a:ext uri="{FF2B5EF4-FFF2-40B4-BE49-F238E27FC236}">
                    <a16:creationId xmlns:a16="http://schemas.microsoft.com/office/drawing/2014/main" id="{FB058C0F-F694-44D4-A5DA-A89F6C9F0732}"/>
                  </a:ext>
                </a:extLst>
              </p:cNvPr>
              <p:cNvSpPr/>
              <p:nvPr/>
            </p:nvSpPr>
            <p:spPr>
              <a:xfrm>
                <a:off x="5670517" y="4176339"/>
                <a:ext cx="1051674" cy="4858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t>versicolor</a:t>
                </a:r>
              </a:p>
            </p:txBody>
          </p:sp>
        </p:grpSp>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B9D57A74-7773-4FF3-8463-239F43F32062}"/>
                    </a:ext>
                  </a:extLst>
                </p:cNvPr>
                <p:cNvSpPr txBox="1"/>
                <p:nvPr/>
              </p:nvSpPr>
              <p:spPr>
                <a:xfrm>
                  <a:off x="5457552" y="3095041"/>
                  <a:ext cx="961446" cy="3077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900" i="1">
                            <a:latin typeface="Cambria Math" panose="02040503050406030204" pitchFamily="18" charset="0"/>
                            <a:ea typeface="Cambria Math" panose="02040503050406030204" pitchFamily="18" charset="0"/>
                          </a:rPr>
                          <m:t>&gt;0.6</m:t>
                        </m:r>
                      </m:oMath>
                    </m:oMathPara>
                  </a14:m>
                  <a:endParaRPr lang="fr-FR" sz="900" i="1" dirty="0"/>
                </a:p>
              </p:txBody>
            </p:sp>
          </mc:Choice>
          <mc:Fallback xmlns="">
            <p:sp>
              <p:nvSpPr>
                <p:cNvPr id="9" name="ZoneTexte 8">
                  <a:extLst>
                    <a:ext uri="{FF2B5EF4-FFF2-40B4-BE49-F238E27FC236}">
                      <a16:creationId xmlns:a16="http://schemas.microsoft.com/office/drawing/2014/main" id="{B9D57A74-7773-4FF3-8463-239F43F32062}"/>
                    </a:ext>
                  </a:extLst>
                </p:cNvPr>
                <p:cNvSpPr txBox="1">
                  <a:spLocks noRot="1" noChangeAspect="1" noMove="1" noResize="1" noEditPoints="1" noAdjustHandles="1" noChangeArrowheads="1" noChangeShapeType="1" noTextEdit="1"/>
                </p:cNvSpPr>
                <p:nvPr/>
              </p:nvSpPr>
              <p:spPr>
                <a:xfrm>
                  <a:off x="5457552" y="3095041"/>
                  <a:ext cx="961446" cy="307776"/>
                </a:xfrm>
                <a:prstGeom prst="rect">
                  <a:avLst/>
                </a:prstGeom>
                <a:blipFill>
                  <a:blip r:embed="rId3"/>
                  <a:stretch>
                    <a:fillRect/>
                  </a:stretch>
                </a:blipFill>
              </p:spPr>
              <p:txBody>
                <a:bodyPr/>
                <a:lstStyle/>
                <a:p>
                  <a:r>
                    <a:rPr lang="fr-FR">
                      <a:noFill/>
                    </a:rPr>
                    <a:t> </a:t>
                  </a:r>
                </a:p>
              </p:txBody>
            </p:sp>
          </mc:Fallback>
        </mc:AlternateContent>
        <p:cxnSp>
          <p:nvCxnSpPr>
            <p:cNvPr id="10" name="Connecteur droit 9">
              <a:extLst>
                <a:ext uri="{FF2B5EF4-FFF2-40B4-BE49-F238E27FC236}">
                  <a16:creationId xmlns:a16="http://schemas.microsoft.com/office/drawing/2014/main" id="{845CA9CB-CF16-4E26-84EE-AD4FCE375AF9}"/>
                </a:ext>
              </a:extLst>
            </p:cNvPr>
            <p:cNvCxnSpPr>
              <a:cxnSpLocks/>
              <a:stCxn id="25" idx="0"/>
              <a:endCxn id="26" idx="2"/>
            </p:cNvCxnSpPr>
            <p:nvPr/>
          </p:nvCxnSpPr>
          <p:spPr>
            <a:xfrm flipV="1">
              <a:off x="5085849" y="4379051"/>
              <a:ext cx="632236" cy="354446"/>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3522AE8B-62B4-4F8B-9396-A49694092012}"/>
                    </a:ext>
                  </a:extLst>
                </p:cNvPr>
                <p:cNvSpPr txBox="1"/>
                <p:nvPr/>
              </p:nvSpPr>
              <p:spPr>
                <a:xfrm>
                  <a:off x="4440521" y="4437370"/>
                  <a:ext cx="961446" cy="3077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900" i="1">
                            <a:latin typeface="Cambria Math" panose="02040503050406030204" pitchFamily="18" charset="0"/>
                            <a:ea typeface="Cambria Math" panose="02040503050406030204" pitchFamily="18" charset="0"/>
                          </a:rPr>
                          <m:t>≤0.5</m:t>
                        </m:r>
                      </m:oMath>
                    </m:oMathPara>
                  </a14:m>
                  <a:endParaRPr lang="fr-FR" sz="900" i="1" dirty="0"/>
                </a:p>
              </p:txBody>
            </p:sp>
          </mc:Choice>
          <mc:Fallback xmlns="">
            <p:sp>
              <p:nvSpPr>
                <p:cNvPr id="11" name="ZoneTexte 10">
                  <a:extLst>
                    <a:ext uri="{FF2B5EF4-FFF2-40B4-BE49-F238E27FC236}">
                      <a16:creationId xmlns:a16="http://schemas.microsoft.com/office/drawing/2014/main" id="{3522AE8B-62B4-4F8B-9396-A49694092012}"/>
                    </a:ext>
                  </a:extLst>
                </p:cNvPr>
                <p:cNvSpPr txBox="1">
                  <a:spLocks noRot="1" noChangeAspect="1" noMove="1" noResize="1" noEditPoints="1" noAdjustHandles="1" noChangeArrowheads="1" noChangeShapeType="1" noTextEdit="1"/>
                </p:cNvSpPr>
                <p:nvPr/>
              </p:nvSpPr>
              <p:spPr>
                <a:xfrm>
                  <a:off x="4440521" y="4437370"/>
                  <a:ext cx="961446" cy="307776"/>
                </a:xfrm>
                <a:prstGeom prst="rect">
                  <a:avLst/>
                </a:prstGeom>
                <a:blipFill>
                  <a:blip r:embed="rId4"/>
                  <a:stretch>
                    <a:fillRect/>
                  </a:stretch>
                </a:blipFill>
              </p:spPr>
              <p:txBody>
                <a:bodyPr/>
                <a:lstStyle/>
                <a:p>
                  <a:r>
                    <a:rPr lang="fr-FR">
                      <a:noFill/>
                    </a:rPr>
                    <a:t> </a:t>
                  </a:r>
                </a:p>
              </p:txBody>
            </p:sp>
          </mc:Fallback>
        </mc:AlternateContent>
        <p:cxnSp>
          <p:nvCxnSpPr>
            <p:cNvPr id="12" name="Connecteur droit 11">
              <a:extLst>
                <a:ext uri="{FF2B5EF4-FFF2-40B4-BE49-F238E27FC236}">
                  <a16:creationId xmlns:a16="http://schemas.microsoft.com/office/drawing/2014/main" id="{1C7AF37D-B8D0-4C45-B763-6EB65918B347}"/>
                </a:ext>
              </a:extLst>
            </p:cNvPr>
            <p:cNvCxnSpPr>
              <a:cxnSpLocks/>
              <a:stCxn id="28" idx="0"/>
              <a:endCxn id="26" idx="2"/>
            </p:cNvCxnSpPr>
            <p:nvPr/>
          </p:nvCxnSpPr>
          <p:spPr>
            <a:xfrm flipH="1" flipV="1">
              <a:off x="5718085" y="4379051"/>
              <a:ext cx="524321" cy="385685"/>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6F3266A1-C007-4A0A-9AA3-ADC46FB7F410}"/>
                    </a:ext>
                  </a:extLst>
                </p:cNvPr>
                <p:cNvSpPr txBox="1"/>
                <p:nvPr/>
              </p:nvSpPr>
              <p:spPr>
                <a:xfrm>
                  <a:off x="5913196" y="4413230"/>
                  <a:ext cx="961446" cy="3077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900" i="1">
                            <a:latin typeface="Cambria Math" panose="02040503050406030204" pitchFamily="18" charset="0"/>
                            <a:ea typeface="Cambria Math" panose="02040503050406030204" pitchFamily="18" charset="0"/>
                          </a:rPr>
                          <m:t>&gt;0.5</m:t>
                        </m:r>
                      </m:oMath>
                    </m:oMathPara>
                  </a14:m>
                  <a:endParaRPr lang="fr-FR" sz="900" i="1" dirty="0"/>
                </a:p>
              </p:txBody>
            </p:sp>
          </mc:Choice>
          <mc:Fallback xmlns="">
            <p:sp>
              <p:nvSpPr>
                <p:cNvPr id="13" name="ZoneTexte 12">
                  <a:extLst>
                    <a:ext uri="{FF2B5EF4-FFF2-40B4-BE49-F238E27FC236}">
                      <a16:creationId xmlns:a16="http://schemas.microsoft.com/office/drawing/2014/main" id="{6F3266A1-C007-4A0A-9AA3-ADC46FB7F410}"/>
                    </a:ext>
                  </a:extLst>
                </p:cNvPr>
                <p:cNvSpPr txBox="1">
                  <a:spLocks noRot="1" noChangeAspect="1" noMove="1" noResize="1" noEditPoints="1" noAdjustHandles="1" noChangeArrowheads="1" noChangeShapeType="1" noTextEdit="1"/>
                </p:cNvSpPr>
                <p:nvPr/>
              </p:nvSpPr>
              <p:spPr>
                <a:xfrm>
                  <a:off x="5913196" y="4413230"/>
                  <a:ext cx="961446" cy="307776"/>
                </a:xfrm>
                <a:prstGeom prst="rect">
                  <a:avLst/>
                </a:prstGeom>
                <a:blipFill>
                  <a:blip r:embed="rId5"/>
                  <a:stretch>
                    <a:fillRect/>
                  </a:stretch>
                </a:blipFill>
              </p:spPr>
              <p:txBody>
                <a:bodyPr/>
                <a:lstStyle/>
                <a:p>
                  <a:r>
                    <a:rPr lang="fr-FR">
                      <a:noFill/>
                    </a:rPr>
                    <a:t> </a:t>
                  </a:r>
                </a:p>
              </p:txBody>
            </p:sp>
          </mc:Fallback>
        </mc:AlternateContent>
      </p:grpSp>
      <p:grpSp>
        <p:nvGrpSpPr>
          <p:cNvPr id="73" name="Groupe 72">
            <a:extLst>
              <a:ext uri="{FF2B5EF4-FFF2-40B4-BE49-F238E27FC236}">
                <a16:creationId xmlns:a16="http://schemas.microsoft.com/office/drawing/2014/main" id="{9D784324-77A3-4174-A886-F6B45E440A5D}"/>
              </a:ext>
            </a:extLst>
          </p:cNvPr>
          <p:cNvGrpSpPr/>
          <p:nvPr/>
        </p:nvGrpSpPr>
        <p:grpSpPr>
          <a:xfrm>
            <a:off x="3609525" y="3121529"/>
            <a:ext cx="4577146" cy="1894111"/>
            <a:chOff x="4037575" y="4162038"/>
            <a:chExt cx="6102861" cy="2525481"/>
          </a:xfrm>
        </p:grpSpPr>
        <p:sp>
          <p:nvSpPr>
            <p:cNvPr id="45" name="Rectangle 44">
              <a:extLst>
                <a:ext uri="{FF2B5EF4-FFF2-40B4-BE49-F238E27FC236}">
                  <a16:creationId xmlns:a16="http://schemas.microsoft.com/office/drawing/2014/main" id="{2910AE7F-7CE5-49AB-B9EB-3887338D1EF2}"/>
                </a:ext>
              </a:extLst>
            </p:cNvPr>
            <p:cNvSpPr/>
            <p:nvPr/>
          </p:nvSpPr>
          <p:spPr>
            <a:xfrm>
              <a:off x="6096000" y="4162038"/>
              <a:ext cx="1776316" cy="338555"/>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[50, 50, 50]</a:t>
              </a:r>
            </a:p>
          </p:txBody>
        </p: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6AB5B226-A0CA-4591-9525-DC2D7EB8A9A5}"/>
                    </a:ext>
                  </a:extLst>
                </p:cNvPr>
                <p:cNvSpPr/>
                <p:nvPr/>
              </p:nvSpPr>
              <p:spPr>
                <a:xfrm>
                  <a:off x="6095999" y="4497303"/>
                  <a:ext cx="1776317"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00" dirty="0">
                      <a:solidFill>
                        <a:schemeClr val="tx1">
                          <a:lumMod val="50000"/>
                        </a:schemeClr>
                      </a:solidFill>
                    </a:rPr>
                    <a:t>Longueur des sépales </a:t>
                  </a:r>
                  <a14:m>
                    <m:oMath xmlns:m="http://schemas.openxmlformats.org/officeDocument/2006/math">
                      <m:r>
                        <a:rPr lang="fr-FR" sz="700">
                          <a:solidFill>
                            <a:schemeClr val="tx1">
                              <a:lumMod val="50000"/>
                            </a:schemeClr>
                          </a:solidFill>
                          <a:latin typeface="Cambria Math" panose="02040503050406030204" pitchFamily="18" charset="0"/>
                        </a:rPr>
                        <m:t>≤0.6</m:t>
                      </m:r>
                    </m:oMath>
                  </a14:m>
                  <a:endParaRPr lang="fr-FR" sz="700" dirty="0">
                    <a:solidFill>
                      <a:schemeClr val="tx1">
                        <a:lumMod val="50000"/>
                      </a:schemeClr>
                    </a:solidFill>
                  </a:endParaRPr>
                </a:p>
              </p:txBody>
            </p:sp>
          </mc:Choice>
          <mc:Fallback xmlns="">
            <p:sp>
              <p:nvSpPr>
                <p:cNvPr id="46" name="Rectangle 45">
                  <a:extLst>
                    <a:ext uri="{FF2B5EF4-FFF2-40B4-BE49-F238E27FC236}">
                      <a16:creationId xmlns:a16="http://schemas.microsoft.com/office/drawing/2014/main" id="{6AB5B226-A0CA-4591-9525-DC2D7EB8A9A5}"/>
                    </a:ext>
                  </a:extLst>
                </p:cNvPr>
                <p:cNvSpPr>
                  <a:spLocks noRot="1" noChangeAspect="1" noMove="1" noResize="1" noEditPoints="1" noAdjustHandles="1" noChangeArrowheads="1" noChangeShapeType="1" noTextEdit="1"/>
                </p:cNvSpPr>
                <p:nvPr/>
              </p:nvSpPr>
              <p:spPr>
                <a:xfrm>
                  <a:off x="6095999" y="4497303"/>
                  <a:ext cx="1776317" cy="216000"/>
                </a:xfrm>
                <a:prstGeom prst="rect">
                  <a:avLst/>
                </a:prstGeom>
                <a:blipFill>
                  <a:blip r:embed="rId6"/>
                  <a:stretch>
                    <a:fillRect b="-6452"/>
                  </a:stretch>
                </a:blipFill>
                <a:ln>
                  <a:solidFill>
                    <a:schemeClr val="tx1">
                      <a:lumMod val="75000"/>
                    </a:schemeClr>
                  </a:solidFill>
                  <a:headEnd type="none" w="med" len="med"/>
                  <a:tailEnd type="none" w="med" len="med"/>
                </a:ln>
              </p:spPr>
              <p:txBody>
                <a:bodyPr/>
                <a:lstStyle/>
                <a:p>
                  <a:r>
                    <a:rPr lang="fr-FR">
                      <a:noFill/>
                    </a:rPr>
                    <a:t> </a:t>
                  </a:r>
                </a:p>
              </p:txBody>
            </p:sp>
          </mc:Fallback>
        </mc:AlternateContent>
        <p:sp>
          <p:nvSpPr>
            <p:cNvPr id="47" name="Rectangle 46">
              <a:extLst>
                <a:ext uri="{FF2B5EF4-FFF2-40B4-BE49-F238E27FC236}">
                  <a16:creationId xmlns:a16="http://schemas.microsoft.com/office/drawing/2014/main" id="{750850BE-36A0-49F8-8E6F-F0BDDA2D1C4C}"/>
                </a:ext>
              </a:extLst>
            </p:cNvPr>
            <p:cNvSpPr/>
            <p:nvPr/>
          </p:nvSpPr>
          <p:spPr>
            <a:xfrm>
              <a:off x="7228425" y="5081579"/>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50, 50]</a:t>
              </a:r>
            </a:p>
          </p:txBody>
        </p: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97CFE286-6A49-4F79-99BB-2A212B67E235}"/>
                    </a:ext>
                  </a:extLst>
                </p:cNvPr>
                <p:cNvSpPr/>
                <p:nvPr/>
              </p:nvSpPr>
              <p:spPr>
                <a:xfrm>
                  <a:off x="7228424" y="5416844"/>
                  <a:ext cx="1454400"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600" dirty="0">
                      <a:solidFill>
                        <a:schemeClr val="tx1">
                          <a:lumMod val="50000"/>
                        </a:schemeClr>
                      </a:solidFill>
                    </a:rPr>
                    <a:t>Longueur des pétales </a:t>
                  </a:r>
                  <a14:m>
                    <m:oMath xmlns:m="http://schemas.openxmlformats.org/officeDocument/2006/math">
                      <m:r>
                        <a:rPr lang="fr-FR" sz="600">
                          <a:solidFill>
                            <a:schemeClr val="tx1">
                              <a:lumMod val="50000"/>
                            </a:schemeClr>
                          </a:solidFill>
                          <a:latin typeface="Cambria Math" panose="02040503050406030204" pitchFamily="18" charset="0"/>
                        </a:rPr>
                        <m:t>&gt;0.5</m:t>
                      </m:r>
                    </m:oMath>
                  </a14:m>
                  <a:endParaRPr lang="fr-FR" sz="600" dirty="0">
                    <a:solidFill>
                      <a:schemeClr val="tx1">
                        <a:lumMod val="50000"/>
                      </a:schemeClr>
                    </a:solidFill>
                  </a:endParaRPr>
                </a:p>
              </p:txBody>
            </p:sp>
          </mc:Choice>
          <mc:Fallback xmlns="">
            <p:sp>
              <p:nvSpPr>
                <p:cNvPr id="48" name="Rectangle 47">
                  <a:extLst>
                    <a:ext uri="{FF2B5EF4-FFF2-40B4-BE49-F238E27FC236}">
                      <a16:creationId xmlns:a16="http://schemas.microsoft.com/office/drawing/2014/main" id="{97CFE286-6A49-4F79-99BB-2A212B67E235}"/>
                    </a:ext>
                  </a:extLst>
                </p:cNvPr>
                <p:cNvSpPr>
                  <a:spLocks noRot="1" noChangeAspect="1" noMove="1" noResize="1" noEditPoints="1" noAdjustHandles="1" noChangeArrowheads="1" noChangeShapeType="1" noTextEdit="1"/>
                </p:cNvSpPr>
                <p:nvPr/>
              </p:nvSpPr>
              <p:spPr>
                <a:xfrm>
                  <a:off x="7228424" y="5416844"/>
                  <a:ext cx="1454400" cy="216000"/>
                </a:xfrm>
                <a:prstGeom prst="rect">
                  <a:avLst/>
                </a:prstGeom>
                <a:blipFill>
                  <a:blip r:embed="rId9"/>
                  <a:stretch>
                    <a:fillRect b="-8108"/>
                  </a:stretch>
                </a:blipFill>
                <a:ln>
                  <a:solidFill>
                    <a:schemeClr val="tx1">
                      <a:lumMod val="75000"/>
                    </a:schemeClr>
                  </a:solidFill>
                  <a:headEnd type="none" w="med" len="med"/>
                  <a:tailEnd type="none" w="med" len="med"/>
                </a:ln>
              </p:spPr>
              <p:txBody>
                <a:bodyPr/>
                <a:lstStyle/>
                <a:p>
                  <a:r>
                    <a:rPr lang="fr-FR">
                      <a:noFill/>
                    </a:rPr>
                    <a:t> </a:t>
                  </a:r>
                </a:p>
              </p:txBody>
            </p:sp>
          </mc:Fallback>
        </mc:AlternateContent>
        <p:sp>
          <p:nvSpPr>
            <p:cNvPr id="49" name="Rectangle 48">
              <a:extLst>
                <a:ext uri="{FF2B5EF4-FFF2-40B4-BE49-F238E27FC236}">
                  <a16:creationId xmlns:a16="http://schemas.microsoft.com/office/drawing/2014/main" id="{A7090D46-FAA7-4A4C-AD76-ED5B013D14A2}"/>
                </a:ext>
              </a:extLst>
            </p:cNvPr>
            <p:cNvSpPr/>
            <p:nvPr/>
          </p:nvSpPr>
          <p:spPr>
            <a:xfrm>
              <a:off x="5302195" y="5081579"/>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[50, 0, 0]</a:t>
              </a:r>
            </a:p>
          </p:txBody>
        </p:sp>
        <p:sp>
          <p:nvSpPr>
            <p:cNvPr id="51" name="Rectangle 50">
              <a:extLst>
                <a:ext uri="{FF2B5EF4-FFF2-40B4-BE49-F238E27FC236}">
                  <a16:creationId xmlns:a16="http://schemas.microsoft.com/office/drawing/2014/main" id="{A46F1B3B-A050-4A7F-9EC8-850A47FAEE97}"/>
                </a:ext>
              </a:extLst>
            </p:cNvPr>
            <p:cNvSpPr/>
            <p:nvPr/>
          </p:nvSpPr>
          <p:spPr>
            <a:xfrm>
              <a:off x="7228424" y="6108749"/>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1, 45]</a:t>
              </a:r>
            </a:p>
          </p:txBody>
        </p:sp>
        <p:sp>
          <p:nvSpPr>
            <p:cNvPr id="52" name="Rectangle 51">
              <a:extLst>
                <a:ext uri="{FF2B5EF4-FFF2-40B4-BE49-F238E27FC236}">
                  <a16:creationId xmlns:a16="http://schemas.microsoft.com/office/drawing/2014/main" id="{0959708F-474D-46FA-BA60-8DF62B69CA69}"/>
                </a:ext>
              </a:extLst>
            </p:cNvPr>
            <p:cNvSpPr/>
            <p:nvPr/>
          </p:nvSpPr>
          <p:spPr>
            <a:xfrm>
              <a:off x="5298580" y="6129863"/>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49, 5]</a:t>
              </a:r>
            </a:p>
          </p:txBody>
        </p:sp>
        <p:cxnSp>
          <p:nvCxnSpPr>
            <p:cNvPr id="53" name="Connecteur droit 52">
              <a:extLst>
                <a:ext uri="{FF2B5EF4-FFF2-40B4-BE49-F238E27FC236}">
                  <a16:creationId xmlns:a16="http://schemas.microsoft.com/office/drawing/2014/main" id="{06FAC5BD-762C-4B73-97E8-92AF1D988E5F}"/>
                </a:ext>
              </a:extLst>
            </p:cNvPr>
            <p:cNvCxnSpPr>
              <a:cxnSpLocks/>
              <a:stCxn id="49" idx="0"/>
              <a:endCxn id="46" idx="2"/>
            </p:cNvCxnSpPr>
            <p:nvPr/>
          </p:nvCxnSpPr>
          <p:spPr>
            <a:xfrm flipV="1">
              <a:off x="6029395" y="4713303"/>
              <a:ext cx="954763" cy="368276"/>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Connecteur droit 55">
              <a:extLst>
                <a:ext uri="{FF2B5EF4-FFF2-40B4-BE49-F238E27FC236}">
                  <a16:creationId xmlns:a16="http://schemas.microsoft.com/office/drawing/2014/main" id="{9C79D8EE-F4CA-4FBF-A5BD-26923032AAD9}"/>
                </a:ext>
              </a:extLst>
            </p:cNvPr>
            <p:cNvCxnSpPr>
              <a:cxnSpLocks/>
              <a:stCxn id="52" idx="0"/>
              <a:endCxn id="48" idx="2"/>
            </p:cNvCxnSpPr>
            <p:nvPr/>
          </p:nvCxnSpPr>
          <p:spPr>
            <a:xfrm flipV="1">
              <a:off x="6025780" y="5632844"/>
              <a:ext cx="1929844" cy="497019"/>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741D3126-2363-438C-B505-34910DF15C19}"/>
                </a:ext>
              </a:extLst>
            </p:cNvPr>
            <p:cNvCxnSpPr>
              <a:cxnSpLocks/>
              <a:stCxn id="51" idx="0"/>
              <a:endCxn id="48" idx="2"/>
            </p:cNvCxnSpPr>
            <p:nvPr/>
          </p:nvCxnSpPr>
          <p:spPr>
            <a:xfrm flipV="1">
              <a:off x="7955624" y="5632844"/>
              <a:ext cx="0" cy="475905"/>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06AC7CDD-7BA7-483A-954B-EEB9D7C3FB8D}"/>
                </a:ext>
              </a:extLst>
            </p:cNvPr>
            <p:cNvCxnSpPr>
              <a:cxnSpLocks/>
              <a:stCxn id="47" idx="0"/>
              <a:endCxn id="46" idx="2"/>
            </p:cNvCxnSpPr>
            <p:nvPr/>
          </p:nvCxnSpPr>
          <p:spPr>
            <a:xfrm flipH="1" flipV="1">
              <a:off x="6984158" y="4713303"/>
              <a:ext cx="971468" cy="368276"/>
            </a:xfrm>
            <a:prstGeom prst="line">
              <a:avLst/>
            </a:prstGeom>
          </p:spPr>
          <p:style>
            <a:lnRef idx="1">
              <a:schemeClr val="accent1"/>
            </a:lnRef>
            <a:fillRef idx="0">
              <a:schemeClr val="accent1"/>
            </a:fillRef>
            <a:effectRef idx="0">
              <a:schemeClr val="accent1"/>
            </a:effectRef>
            <a:fontRef idx="minor">
              <a:schemeClr val="tx1"/>
            </a:fontRef>
          </p:style>
        </p:cxnSp>
        <p:sp>
          <p:nvSpPr>
            <p:cNvPr id="66" name="Légende : flèche courbée 65">
              <a:extLst>
                <a:ext uri="{FF2B5EF4-FFF2-40B4-BE49-F238E27FC236}">
                  <a16:creationId xmlns:a16="http://schemas.microsoft.com/office/drawing/2014/main" id="{FBDBAE07-7C63-46C3-84F1-5DFBF25863F0}"/>
                </a:ext>
              </a:extLst>
            </p:cNvPr>
            <p:cNvSpPr/>
            <p:nvPr/>
          </p:nvSpPr>
          <p:spPr>
            <a:xfrm>
              <a:off x="9217127" y="6468417"/>
              <a:ext cx="923309" cy="219102"/>
            </a:xfrm>
            <a:prstGeom prst="borderCallout2">
              <a:avLst>
                <a:gd name="adj1" fmla="val 18750"/>
                <a:gd name="adj2" fmla="val -8333"/>
                <a:gd name="adj3" fmla="val 18750"/>
                <a:gd name="adj4" fmla="val -16667"/>
                <a:gd name="adj5" fmla="val -50806"/>
                <a:gd name="adj6" fmla="val -5441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virginica</a:t>
              </a:r>
            </a:p>
          </p:txBody>
        </p:sp>
        <p:sp>
          <p:nvSpPr>
            <p:cNvPr id="67" name="Légende : flèche courbée 66">
              <a:extLst>
                <a:ext uri="{FF2B5EF4-FFF2-40B4-BE49-F238E27FC236}">
                  <a16:creationId xmlns:a16="http://schemas.microsoft.com/office/drawing/2014/main" id="{C345531C-6678-4651-8EF0-7E9251EB668A}"/>
                </a:ext>
              </a:extLst>
            </p:cNvPr>
            <p:cNvSpPr/>
            <p:nvPr/>
          </p:nvSpPr>
          <p:spPr>
            <a:xfrm>
              <a:off x="4709768" y="5552701"/>
              <a:ext cx="824117" cy="219102"/>
            </a:xfrm>
            <a:prstGeom prst="borderCallout2">
              <a:avLst>
                <a:gd name="adj1" fmla="val 29637"/>
                <a:gd name="adj2" fmla="val 106236"/>
                <a:gd name="adj3" fmla="val 29637"/>
                <a:gd name="adj4" fmla="val 116446"/>
                <a:gd name="adj5" fmla="val -36291"/>
                <a:gd name="adj6" fmla="val 13288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setosa</a:t>
              </a:r>
            </a:p>
          </p:txBody>
        </p:sp>
        <p:sp>
          <p:nvSpPr>
            <p:cNvPr id="68" name="Légende : flèche courbée 67">
              <a:extLst>
                <a:ext uri="{FF2B5EF4-FFF2-40B4-BE49-F238E27FC236}">
                  <a16:creationId xmlns:a16="http://schemas.microsoft.com/office/drawing/2014/main" id="{440FD52C-C0F7-40CC-ABBA-9CB5EF169521}"/>
                </a:ext>
              </a:extLst>
            </p:cNvPr>
            <p:cNvSpPr/>
            <p:nvPr/>
          </p:nvSpPr>
          <p:spPr>
            <a:xfrm>
              <a:off x="9061216" y="5552701"/>
              <a:ext cx="923309" cy="475904"/>
            </a:xfrm>
            <a:prstGeom prst="borderCallout2">
              <a:avLst>
                <a:gd name="adj1" fmla="val 18750"/>
                <a:gd name="adj2" fmla="val -8333"/>
                <a:gd name="adj3" fmla="val 18750"/>
                <a:gd name="adj4" fmla="val -16667"/>
                <a:gd name="adj5" fmla="val -37152"/>
                <a:gd name="adj6" fmla="val -3771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900" dirty="0"/>
                <a:t>Virginica,</a:t>
              </a:r>
            </a:p>
            <a:p>
              <a:pPr algn="ctr"/>
              <a:r>
                <a:rPr lang="fr-FR" sz="900" dirty="0"/>
                <a:t>versicolor</a:t>
              </a:r>
            </a:p>
          </p:txBody>
        </p:sp>
        <p:sp>
          <p:nvSpPr>
            <p:cNvPr id="69" name="Légende : flèche courbée 68">
              <a:extLst>
                <a:ext uri="{FF2B5EF4-FFF2-40B4-BE49-F238E27FC236}">
                  <a16:creationId xmlns:a16="http://schemas.microsoft.com/office/drawing/2014/main" id="{DAB20ABF-6C8C-440D-A3EC-117A95C583BA}"/>
                </a:ext>
              </a:extLst>
            </p:cNvPr>
            <p:cNvSpPr/>
            <p:nvPr/>
          </p:nvSpPr>
          <p:spPr>
            <a:xfrm>
              <a:off x="4037575" y="6447303"/>
              <a:ext cx="923308" cy="219102"/>
            </a:xfrm>
            <a:prstGeom prst="borderCallout2">
              <a:avLst>
                <a:gd name="adj1" fmla="val 29637"/>
                <a:gd name="adj2" fmla="val 106236"/>
                <a:gd name="adj3" fmla="val 29637"/>
                <a:gd name="adj4" fmla="val 116446"/>
                <a:gd name="adj5" fmla="val -36291"/>
                <a:gd name="adj6" fmla="val 13288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900" dirty="0"/>
                <a:t>versicolor</a:t>
              </a:r>
            </a:p>
          </p:txBody>
        </p:sp>
      </p:grpSp>
      <p:sp>
        <p:nvSpPr>
          <p:cNvPr id="70" name="Flèche : chevron 69">
            <a:extLst>
              <a:ext uri="{FF2B5EF4-FFF2-40B4-BE49-F238E27FC236}">
                <a16:creationId xmlns:a16="http://schemas.microsoft.com/office/drawing/2014/main" id="{E0FF183F-01D5-4590-8355-D5F9696192A7}"/>
              </a:ext>
            </a:extLst>
          </p:cNvPr>
          <p:cNvSpPr/>
          <p:nvPr/>
        </p:nvSpPr>
        <p:spPr>
          <a:xfrm>
            <a:off x="3348397" y="3715247"/>
            <a:ext cx="254879" cy="27620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solidFill>
                <a:schemeClr val="tx1"/>
              </a:solidFill>
            </a:endParaRPr>
          </a:p>
        </p:txBody>
      </p:sp>
      <p:sp>
        <p:nvSpPr>
          <p:cNvPr id="71" name="Flèche : chevron 70">
            <a:extLst>
              <a:ext uri="{FF2B5EF4-FFF2-40B4-BE49-F238E27FC236}">
                <a16:creationId xmlns:a16="http://schemas.microsoft.com/office/drawing/2014/main" id="{29D9AD41-64E2-4A28-891B-32157FBA45B0}"/>
              </a:ext>
            </a:extLst>
          </p:cNvPr>
          <p:cNvSpPr/>
          <p:nvPr/>
        </p:nvSpPr>
        <p:spPr>
          <a:xfrm>
            <a:off x="3518704" y="3713384"/>
            <a:ext cx="254879" cy="27620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solidFill>
                <a:schemeClr val="tx1"/>
              </a:solidFill>
            </a:endParaRPr>
          </a:p>
        </p:txBody>
      </p:sp>
      <p:sp>
        <p:nvSpPr>
          <p:cNvPr id="72" name="Flèche : chevron 71">
            <a:extLst>
              <a:ext uri="{FF2B5EF4-FFF2-40B4-BE49-F238E27FC236}">
                <a16:creationId xmlns:a16="http://schemas.microsoft.com/office/drawing/2014/main" id="{BE554D08-63EF-4C37-9451-54CB52478AF5}"/>
              </a:ext>
            </a:extLst>
          </p:cNvPr>
          <p:cNvSpPr/>
          <p:nvPr/>
        </p:nvSpPr>
        <p:spPr>
          <a:xfrm>
            <a:off x="3687106" y="3713384"/>
            <a:ext cx="254879" cy="27620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solidFill>
                <a:schemeClr val="tx1"/>
              </a:solidFill>
            </a:endParaRPr>
          </a:p>
        </p:txBody>
      </p:sp>
    </p:spTree>
    <p:extLst>
      <p:ext uri="{BB962C8B-B14F-4D97-AF65-F5344CB8AC3E}">
        <p14:creationId xmlns:p14="http://schemas.microsoft.com/office/powerpoint/2010/main" val="36560097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135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 </a:t>
            </a:r>
            <a:r>
              <a:rPr lang="fr-FR" sz="2100" b="0" dirty="0"/>
              <a:t>pureté de l’arbre</a:t>
            </a:r>
          </a:p>
        </p:txBody>
      </p:sp>
      <p:grpSp>
        <p:nvGrpSpPr>
          <p:cNvPr id="73" name="Groupe 72">
            <a:extLst>
              <a:ext uri="{FF2B5EF4-FFF2-40B4-BE49-F238E27FC236}">
                <a16:creationId xmlns:a16="http://schemas.microsoft.com/office/drawing/2014/main" id="{9D784324-77A3-4174-A886-F6B45E440A5D}"/>
              </a:ext>
            </a:extLst>
          </p:cNvPr>
          <p:cNvGrpSpPr/>
          <p:nvPr/>
        </p:nvGrpSpPr>
        <p:grpSpPr>
          <a:xfrm>
            <a:off x="1550768" y="1058169"/>
            <a:ext cx="4599470" cy="1894111"/>
            <a:chOff x="4023711" y="4162038"/>
            <a:chExt cx="6132627" cy="2525481"/>
          </a:xfrm>
        </p:grpSpPr>
        <p:sp>
          <p:nvSpPr>
            <p:cNvPr id="45" name="Rectangle 44">
              <a:extLst>
                <a:ext uri="{FF2B5EF4-FFF2-40B4-BE49-F238E27FC236}">
                  <a16:creationId xmlns:a16="http://schemas.microsoft.com/office/drawing/2014/main" id="{2910AE7F-7CE5-49AB-B9EB-3887338D1EF2}"/>
                </a:ext>
              </a:extLst>
            </p:cNvPr>
            <p:cNvSpPr/>
            <p:nvPr/>
          </p:nvSpPr>
          <p:spPr>
            <a:xfrm>
              <a:off x="6096000" y="4162038"/>
              <a:ext cx="1641127" cy="338555"/>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[50, 50, 50]</a:t>
              </a:r>
            </a:p>
          </p:txBody>
        </p: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6AB5B226-A0CA-4591-9525-DC2D7EB8A9A5}"/>
                    </a:ext>
                  </a:extLst>
                </p:cNvPr>
                <p:cNvSpPr/>
                <p:nvPr/>
              </p:nvSpPr>
              <p:spPr>
                <a:xfrm>
                  <a:off x="6095999" y="4497303"/>
                  <a:ext cx="1641128"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sz="600" dirty="0">
                      <a:solidFill>
                        <a:schemeClr val="tx1">
                          <a:lumMod val="50000"/>
                        </a:schemeClr>
                      </a:solidFill>
                    </a:rPr>
                    <a:t>Longueur des sépales </a:t>
                  </a:r>
                  <a14:m>
                    <m:oMath xmlns:m="http://schemas.openxmlformats.org/officeDocument/2006/math">
                      <m:r>
                        <a:rPr lang="fr-FR" sz="600" i="1">
                          <a:solidFill>
                            <a:schemeClr val="tx1">
                              <a:lumMod val="50000"/>
                            </a:schemeClr>
                          </a:solidFill>
                          <a:latin typeface="Cambria Math" panose="02040503050406030204" pitchFamily="18" charset="0"/>
                          <a:ea typeface="Cambria Math" panose="02040503050406030204" pitchFamily="18" charset="0"/>
                        </a:rPr>
                        <m:t>≤0.6</m:t>
                      </m:r>
                    </m:oMath>
                  </a14:m>
                  <a:endParaRPr lang="fr-FR" sz="600" i="1" dirty="0">
                    <a:solidFill>
                      <a:schemeClr val="tx1">
                        <a:lumMod val="50000"/>
                      </a:schemeClr>
                    </a:solidFill>
                  </a:endParaRPr>
                </a:p>
              </p:txBody>
            </p:sp>
          </mc:Choice>
          <mc:Fallback xmlns="">
            <p:sp>
              <p:nvSpPr>
                <p:cNvPr id="46" name="Rectangle 45">
                  <a:extLst>
                    <a:ext uri="{FF2B5EF4-FFF2-40B4-BE49-F238E27FC236}">
                      <a16:creationId xmlns:a16="http://schemas.microsoft.com/office/drawing/2014/main" id="{6AB5B226-A0CA-4591-9525-DC2D7EB8A9A5}"/>
                    </a:ext>
                  </a:extLst>
                </p:cNvPr>
                <p:cNvSpPr>
                  <a:spLocks noRot="1" noChangeAspect="1" noMove="1" noResize="1" noEditPoints="1" noAdjustHandles="1" noChangeArrowheads="1" noChangeShapeType="1" noTextEdit="1"/>
                </p:cNvSpPr>
                <p:nvPr/>
              </p:nvSpPr>
              <p:spPr>
                <a:xfrm>
                  <a:off x="6095999" y="4497303"/>
                  <a:ext cx="1641128" cy="216000"/>
                </a:xfrm>
                <a:prstGeom prst="rect">
                  <a:avLst/>
                </a:prstGeom>
                <a:blipFill>
                  <a:blip r:embed="rId2"/>
                  <a:stretch>
                    <a:fillRect b="-3333"/>
                  </a:stretch>
                </a:blipFill>
                <a:ln>
                  <a:solidFill>
                    <a:schemeClr val="tx1">
                      <a:lumMod val="75000"/>
                    </a:schemeClr>
                  </a:solidFill>
                  <a:headEnd type="none" w="med" len="med"/>
                  <a:tailEnd type="none" w="med" len="med"/>
                </a:ln>
              </p:spPr>
              <p:txBody>
                <a:bodyPr/>
                <a:lstStyle/>
                <a:p>
                  <a:r>
                    <a:rPr lang="fr-FR">
                      <a:noFill/>
                    </a:rPr>
                    <a:t> </a:t>
                  </a:r>
                </a:p>
              </p:txBody>
            </p:sp>
          </mc:Fallback>
        </mc:AlternateContent>
        <p:sp>
          <p:nvSpPr>
            <p:cNvPr id="49" name="Rectangle 48">
              <a:extLst>
                <a:ext uri="{FF2B5EF4-FFF2-40B4-BE49-F238E27FC236}">
                  <a16:creationId xmlns:a16="http://schemas.microsoft.com/office/drawing/2014/main" id="{A7090D46-FAA7-4A4C-AD76-ED5B013D14A2}"/>
                </a:ext>
              </a:extLst>
            </p:cNvPr>
            <p:cNvSpPr/>
            <p:nvPr/>
          </p:nvSpPr>
          <p:spPr>
            <a:xfrm>
              <a:off x="5302195" y="5081579"/>
              <a:ext cx="1454399" cy="338554"/>
            </a:xfrm>
            <a:prstGeom prst="rect">
              <a:avLst/>
            </a:prstGeom>
            <a:noFill/>
            <a:ln w="3810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[50, 0, 0]</a:t>
              </a:r>
            </a:p>
          </p:txBody>
        </p:sp>
        <p:sp>
          <p:nvSpPr>
            <p:cNvPr id="51" name="Rectangle 50">
              <a:extLst>
                <a:ext uri="{FF2B5EF4-FFF2-40B4-BE49-F238E27FC236}">
                  <a16:creationId xmlns:a16="http://schemas.microsoft.com/office/drawing/2014/main" id="{A46F1B3B-A050-4A7F-9EC8-850A47FAEE97}"/>
                </a:ext>
              </a:extLst>
            </p:cNvPr>
            <p:cNvSpPr/>
            <p:nvPr/>
          </p:nvSpPr>
          <p:spPr>
            <a:xfrm>
              <a:off x="7228424" y="6108749"/>
              <a:ext cx="1454399" cy="338554"/>
            </a:xfrm>
            <a:prstGeom prst="rect">
              <a:avLst/>
            </a:prstGeom>
            <a:noFill/>
            <a:ln w="38100" cap="flat" cmpd="sng" algn="ctr">
              <a:solidFill>
                <a:srgbClr val="9B9049"/>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1, 45]</a:t>
              </a:r>
            </a:p>
          </p:txBody>
        </p:sp>
        <p:sp>
          <p:nvSpPr>
            <p:cNvPr id="52" name="Rectangle 51">
              <a:extLst>
                <a:ext uri="{FF2B5EF4-FFF2-40B4-BE49-F238E27FC236}">
                  <a16:creationId xmlns:a16="http://schemas.microsoft.com/office/drawing/2014/main" id="{0959708F-474D-46FA-BA60-8DF62B69CA69}"/>
                </a:ext>
              </a:extLst>
            </p:cNvPr>
            <p:cNvSpPr/>
            <p:nvPr/>
          </p:nvSpPr>
          <p:spPr>
            <a:xfrm>
              <a:off x="5298580" y="6129863"/>
              <a:ext cx="1454399" cy="338554"/>
            </a:xfrm>
            <a:prstGeom prst="rect">
              <a:avLst/>
            </a:prstGeom>
            <a:noFill/>
            <a:ln w="38100" cap="flat" cmpd="sng" algn="ctr">
              <a:solidFill>
                <a:srgbClr val="85B897"/>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49, 5]</a:t>
              </a:r>
            </a:p>
          </p:txBody>
        </p:sp>
        <p:cxnSp>
          <p:nvCxnSpPr>
            <p:cNvPr id="53" name="Connecteur droit 52">
              <a:extLst>
                <a:ext uri="{FF2B5EF4-FFF2-40B4-BE49-F238E27FC236}">
                  <a16:creationId xmlns:a16="http://schemas.microsoft.com/office/drawing/2014/main" id="{06FAC5BD-762C-4B73-97E8-92AF1D988E5F}"/>
                </a:ext>
              </a:extLst>
            </p:cNvPr>
            <p:cNvCxnSpPr>
              <a:cxnSpLocks/>
              <a:stCxn id="49" idx="0"/>
              <a:endCxn id="46" idx="2"/>
            </p:cNvCxnSpPr>
            <p:nvPr/>
          </p:nvCxnSpPr>
          <p:spPr>
            <a:xfrm flipV="1">
              <a:off x="6029395" y="4713303"/>
              <a:ext cx="887168" cy="368276"/>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Connecteur droit 55">
              <a:extLst>
                <a:ext uri="{FF2B5EF4-FFF2-40B4-BE49-F238E27FC236}">
                  <a16:creationId xmlns:a16="http://schemas.microsoft.com/office/drawing/2014/main" id="{9C79D8EE-F4CA-4FBF-A5BD-26923032AAD9}"/>
                </a:ext>
              </a:extLst>
            </p:cNvPr>
            <p:cNvCxnSpPr>
              <a:cxnSpLocks/>
              <a:stCxn id="52" idx="0"/>
              <a:endCxn id="48" idx="2"/>
            </p:cNvCxnSpPr>
            <p:nvPr/>
          </p:nvCxnSpPr>
          <p:spPr>
            <a:xfrm flipV="1">
              <a:off x="6025780" y="5632844"/>
              <a:ext cx="1929844" cy="497019"/>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741D3126-2363-438C-B505-34910DF15C19}"/>
                </a:ext>
              </a:extLst>
            </p:cNvPr>
            <p:cNvCxnSpPr>
              <a:cxnSpLocks/>
              <a:stCxn id="51" idx="0"/>
              <a:endCxn id="48" idx="2"/>
            </p:cNvCxnSpPr>
            <p:nvPr/>
          </p:nvCxnSpPr>
          <p:spPr>
            <a:xfrm flipV="1">
              <a:off x="7955624" y="5632844"/>
              <a:ext cx="0" cy="475905"/>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06AC7CDD-7BA7-483A-954B-EEB9D7C3FB8D}"/>
                </a:ext>
              </a:extLst>
            </p:cNvPr>
            <p:cNvCxnSpPr>
              <a:cxnSpLocks/>
              <a:stCxn id="47" idx="0"/>
              <a:endCxn id="46" idx="2"/>
            </p:cNvCxnSpPr>
            <p:nvPr/>
          </p:nvCxnSpPr>
          <p:spPr>
            <a:xfrm flipH="1" flipV="1">
              <a:off x="6916563" y="4713303"/>
              <a:ext cx="1039061" cy="368276"/>
            </a:xfrm>
            <a:prstGeom prst="line">
              <a:avLst/>
            </a:prstGeom>
          </p:spPr>
          <p:style>
            <a:lnRef idx="1">
              <a:schemeClr val="accent1"/>
            </a:lnRef>
            <a:fillRef idx="0">
              <a:schemeClr val="accent1"/>
            </a:fillRef>
            <a:effectRef idx="0">
              <a:schemeClr val="accent1"/>
            </a:effectRef>
            <a:fontRef idx="minor">
              <a:schemeClr val="tx1"/>
            </a:fontRef>
          </p:style>
        </p:cxnSp>
        <p:sp>
          <p:nvSpPr>
            <p:cNvPr id="66" name="Légende : flèche courbée 65">
              <a:extLst>
                <a:ext uri="{FF2B5EF4-FFF2-40B4-BE49-F238E27FC236}">
                  <a16:creationId xmlns:a16="http://schemas.microsoft.com/office/drawing/2014/main" id="{FBDBAE07-7C63-46C3-84F1-5DFBF25863F0}"/>
                </a:ext>
              </a:extLst>
            </p:cNvPr>
            <p:cNvSpPr/>
            <p:nvPr/>
          </p:nvSpPr>
          <p:spPr>
            <a:xfrm>
              <a:off x="9233029" y="6468417"/>
              <a:ext cx="923309" cy="219102"/>
            </a:xfrm>
            <a:prstGeom prst="borderCallout2">
              <a:avLst>
                <a:gd name="adj1" fmla="val 18750"/>
                <a:gd name="adj2" fmla="val -8333"/>
                <a:gd name="adj3" fmla="val 18750"/>
                <a:gd name="adj4" fmla="val -16667"/>
                <a:gd name="adj5" fmla="val -50806"/>
                <a:gd name="adj6" fmla="val -5441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virginica</a:t>
              </a:r>
            </a:p>
          </p:txBody>
        </p:sp>
        <p:sp>
          <p:nvSpPr>
            <p:cNvPr id="67" name="Légende : flèche courbée 66">
              <a:extLst>
                <a:ext uri="{FF2B5EF4-FFF2-40B4-BE49-F238E27FC236}">
                  <a16:creationId xmlns:a16="http://schemas.microsoft.com/office/drawing/2014/main" id="{C345531C-6678-4651-8EF0-7E9251EB668A}"/>
                </a:ext>
              </a:extLst>
            </p:cNvPr>
            <p:cNvSpPr/>
            <p:nvPr/>
          </p:nvSpPr>
          <p:spPr>
            <a:xfrm>
              <a:off x="4709768" y="5552701"/>
              <a:ext cx="824117" cy="219102"/>
            </a:xfrm>
            <a:prstGeom prst="borderCallout2">
              <a:avLst>
                <a:gd name="adj1" fmla="val 29637"/>
                <a:gd name="adj2" fmla="val 106236"/>
                <a:gd name="adj3" fmla="val 29637"/>
                <a:gd name="adj4" fmla="val 116446"/>
                <a:gd name="adj5" fmla="val -36291"/>
                <a:gd name="adj6" fmla="val 13288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setosa</a:t>
              </a:r>
            </a:p>
          </p:txBody>
        </p:sp>
        <p:sp>
          <p:nvSpPr>
            <p:cNvPr id="68" name="Légende : flèche courbée 67">
              <a:extLst>
                <a:ext uri="{FF2B5EF4-FFF2-40B4-BE49-F238E27FC236}">
                  <a16:creationId xmlns:a16="http://schemas.microsoft.com/office/drawing/2014/main" id="{440FD52C-C0F7-40CC-ABBA-9CB5EF169521}"/>
                </a:ext>
              </a:extLst>
            </p:cNvPr>
            <p:cNvSpPr/>
            <p:nvPr/>
          </p:nvSpPr>
          <p:spPr>
            <a:xfrm>
              <a:off x="9061216" y="5552701"/>
              <a:ext cx="923309" cy="475904"/>
            </a:xfrm>
            <a:prstGeom prst="borderCallout2">
              <a:avLst>
                <a:gd name="adj1" fmla="val 18750"/>
                <a:gd name="adj2" fmla="val -8333"/>
                <a:gd name="adj3" fmla="val 18750"/>
                <a:gd name="adj4" fmla="val -16667"/>
                <a:gd name="adj5" fmla="val -37152"/>
                <a:gd name="adj6" fmla="val -3771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900" dirty="0"/>
                <a:t>Virginica,</a:t>
              </a:r>
            </a:p>
            <a:p>
              <a:pPr algn="ctr"/>
              <a:r>
                <a:rPr lang="fr-FR" sz="900" dirty="0"/>
                <a:t>versicolor</a:t>
              </a:r>
            </a:p>
          </p:txBody>
        </p:sp>
        <p:sp>
          <p:nvSpPr>
            <p:cNvPr id="69" name="Légende : flèche courbée 68">
              <a:extLst>
                <a:ext uri="{FF2B5EF4-FFF2-40B4-BE49-F238E27FC236}">
                  <a16:creationId xmlns:a16="http://schemas.microsoft.com/office/drawing/2014/main" id="{DAB20ABF-6C8C-440D-A3EC-117A95C583BA}"/>
                </a:ext>
              </a:extLst>
            </p:cNvPr>
            <p:cNvSpPr/>
            <p:nvPr/>
          </p:nvSpPr>
          <p:spPr>
            <a:xfrm>
              <a:off x="4023711" y="6376140"/>
              <a:ext cx="923308" cy="219102"/>
            </a:xfrm>
            <a:prstGeom prst="borderCallout2">
              <a:avLst>
                <a:gd name="adj1" fmla="val 29637"/>
                <a:gd name="adj2" fmla="val 106236"/>
                <a:gd name="adj3" fmla="val 29637"/>
                <a:gd name="adj4" fmla="val 116446"/>
                <a:gd name="adj5" fmla="val -36291"/>
                <a:gd name="adj6" fmla="val 13288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900" dirty="0"/>
                <a:t>versicolor</a:t>
              </a:r>
            </a:p>
          </p:txBody>
        </p:sp>
        <p:sp>
          <p:nvSpPr>
            <p:cNvPr id="47" name="Rectangle 46">
              <a:extLst>
                <a:ext uri="{FF2B5EF4-FFF2-40B4-BE49-F238E27FC236}">
                  <a16:creationId xmlns:a16="http://schemas.microsoft.com/office/drawing/2014/main" id="{750850BE-36A0-49F8-8E6F-F0BDDA2D1C4C}"/>
                </a:ext>
              </a:extLst>
            </p:cNvPr>
            <p:cNvSpPr/>
            <p:nvPr/>
          </p:nvSpPr>
          <p:spPr>
            <a:xfrm>
              <a:off x="7228425" y="5081579"/>
              <a:ext cx="1454399" cy="338554"/>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50, 50]</a:t>
              </a:r>
            </a:p>
          </p:txBody>
        </p: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97CFE286-6A49-4F79-99BB-2A212B67E235}"/>
                    </a:ext>
                  </a:extLst>
                </p:cNvPr>
                <p:cNvSpPr/>
                <p:nvPr/>
              </p:nvSpPr>
              <p:spPr>
                <a:xfrm>
                  <a:off x="7228424" y="5416844"/>
                  <a:ext cx="1454400"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600" dirty="0">
                      <a:solidFill>
                        <a:schemeClr val="tx1">
                          <a:lumMod val="50000"/>
                        </a:schemeClr>
                      </a:solidFill>
                    </a:rPr>
                    <a:t>Longueur des pétales </a:t>
                  </a:r>
                  <a14:m>
                    <m:oMath xmlns:m="http://schemas.openxmlformats.org/officeDocument/2006/math">
                      <m:r>
                        <a:rPr lang="fr-FR" sz="600">
                          <a:solidFill>
                            <a:schemeClr val="tx1">
                              <a:lumMod val="50000"/>
                            </a:schemeClr>
                          </a:solidFill>
                          <a:latin typeface="Cambria Math" panose="02040503050406030204" pitchFamily="18" charset="0"/>
                        </a:rPr>
                        <m:t>&gt;0.5</m:t>
                      </m:r>
                    </m:oMath>
                  </a14:m>
                  <a:endParaRPr lang="fr-FR" sz="600" dirty="0">
                    <a:solidFill>
                      <a:schemeClr val="tx1">
                        <a:lumMod val="50000"/>
                      </a:schemeClr>
                    </a:solidFill>
                  </a:endParaRPr>
                </a:p>
              </p:txBody>
            </p:sp>
          </mc:Choice>
          <mc:Fallback xmlns="">
            <p:sp>
              <p:nvSpPr>
                <p:cNvPr id="48" name="Rectangle 47">
                  <a:extLst>
                    <a:ext uri="{FF2B5EF4-FFF2-40B4-BE49-F238E27FC236}">
                      <a16:creationId xmlns:a16="http://schemas.microsoft.com/office/drawing/2014/main" id="{97CFE286-6A49-4F79-99BB-2A212B67E235}"/>
                    </a:ext>
                  </a:extLst>
                </p:cNvPr>
                <p:cNvSpPr>
                  <a:spLocks noRot="1" noChangeAspect="1" noMove="1" noResize="1" noEditPoints="1" noAdjustHandles="1" noChangeArrowheads="1" noChangeShapeType="1" noTextEdit="1"/>
                </p:cNvSpPr>
                <p:nvPr/>
              </p:nvSpPr>
              <p:spPr>
                <a:xfrm>
                  <a:off x="7228424" y="5416844"/>
                  <a:ext cx="1454400" cy="216000"/>
                </a:xfrm>
                <a:prstGeom prst="rect">
                  <a:avLst/>
                </a:prstGeom>
                <a:blipFill>
                  <a:blip r:embed="rId5"/>
                  <a:stretch>
                    <a:fillRect b="-7895"/>
                  </a:stretch>
                </a:blipFill>
                <a:ln>
                  <a:solidFill>
                    <a:schemeClr val="tx1">
                      <a:lumMod val="75000"/>
                    </a:schemeClr>
                  </a:solidFill>
                  <a:headEnd type="none" w="med" len="med"/>
                  <a:tailEnd type="none" w="med" len="med"/>
                </a:ln>
              </p:spPr>
              <p:txBody>
                <a:bodyPr/>
                <a:lstStyle/>
                <a:p>
                  <a:r>
                    <a:rPr lang="fr-FR">
                      <a:noFill/>
                    </a:rPr>
                    <a:t> </a:t>
                  </a:r>
                </a:p>
              </p:txBody>
            </p:sp>
          </mc:Fallback>
        </mc:AlternateContent>
      </p:grpSp>
      <p:grpSp>
        <p:nvGrpSpPr>
          <p:cNvPr id="43" name="Groupe 42">
            <a:extLst>
              <a:ext uri="{FF2B5EF4-FFF2-40B4-BE49-F238E27FC236}">
                <a16:creationId xmlns:a16="http://schemas.microsoft.com/office/drawing/2014/main" id="{119B3853-7B88-4584-B4AE-ACBEEF348A8B}"/>
              </a:ext>
            </a:extLst>
          </p:cNvPr>
          <p:cNvGrpSpPr/>
          <p:nvPr/>
        </p:nvGrpSpPr>
        <p:grpSpPr>
          <a:xfrm>
            <a:off x="2100724" y="2930933"/>
            <a:ext cx="3970613" cy="2199845"/>
            <a:chOff x="2259589" y="2409245"/>
            <a:chExt cx="5294150" cy="2933127"/>
          </a:xfrm>
        </p:grpSpPr>
        <p:cxnSp>
          <p:nvCxnSpPr>
            <p:cNvPr id="44" name="Connecteur droit avec flèche 43">
              <a:extLst>
                <a:ext uri="{FF2B5EF4-FFF2-40B4-BE49-F238E27FC236}">
                  <a16:creationId xmlns:a16="http://schemas.microsoft.com/office/drawing/2014/main" id="{0389AE79-6F55-4D28-877D-3140053E67E0}"/>
                </a:ext>
              </a:extLst>
            </p:cNvPr>
            <p:cNvCxnSpPr/>
            <p:nvPr/>
          </p:nvCxnSpPr>
          <p:spPr>
            <a:xfrm>
              <a:off x="2623930" y="5041127"/>
              <a:ext cx="49298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Connecteur droit avec flèche 49">
              <a:extLst>
                <a:ext uri="{FF2B5EF4-FFF2-40B4-BE49-F238E27FC236}">
                  <a16:creationId xmlns:a16="http://schemas.microsoft.com/office/drawing/2014/main" id="{C3F5C66E-8000-436B-9740-B17FA1F2796E}"/>
                </a:ext>
              </a:extLst>
            </p:cNvPr>
            <p:cNvCxnSpPr>
              <a:cxnSpLocks/>
            </p:cNvCxnSpPr>
            <p:nvPr/>
          </p:nvCxnSpPr>
          <p:spPr>
            <a:xfrm flipV="1">
              <a:off x="2776330" y="2409245"/>
              <a:ext cx="0" cy="2784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F2DA3196-78CE-4DF0-98E1-A7892AAAA698}"/>
                </a:ext>
              </a:extLst>
            </p:cNvPr>
            <p:cNvSpPr/>
            <p:nvPr/>
          </p:nvSpPr>
          <p:spPr>
            <a:xfrm>
              <a:off x="4493305" y="5128487"/>
              <a:ext cx="1978225"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Longueur des sépales</a:t>
              </a:r>
            </a:p>
          </p:txBody>
        </p:sp>
        <p:sp>
          <p:nvSpPr>
            <p:cNvPr id="55" name="Rectangle 54">
              <a:extLst>
                <a:ext uri="{FF2B5EF4-FFF2-40B4-BE49-F238E27FC236}">
                  <a16:creationId xmlns:a16="http://schemas.microsoft.com/office/drawing/2014/main" id="{A4952D63-10F4-483B-BEB9-A1D6662DC98B}"/>
                </a:ext>
              </a:extLst>
            </p:cNvPr>
            <p:cNvSpPr/>
            <p:nvPr/>
          </p:nvSpPr>
          <p:spPr>
            <a:xfrm rot="16200000">
              <a:off x="1377419" y="3518049"/>
              <a:ext cx="1978225"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Longueur des pétales</a:t>
              </a:r>
            </a:p>
          </p:txBody>
        </p:sp>
        <p:cxnSp>
          <p:nvCxnSpPr>
            <p:cNvPr id="57" name="Connecteur droit 56">
              <a:extLst>
                <a:ext uri="{FF2B5EF4-FFF2-40B4-BE49-F238E27FC236}">
                  <a16:creationId xmlns:a16="http://schemas.microsoft.com/office/drawing/2014/main" id="{D8BD40E1-A607-46BD-BF6E-AD02D4409D7D}"/>
                </a:ext>
              </a:extLst>
            </p:cNvPr>
            <p:cNvCxnSpPr>
              <a:cxnSpLocks/>
            </p:cNvCxnSpPr>
            <p:nvPr/>
          </p:nvCxnSpPr>
          <p:spPr>
            <a:xfrm>
              <a:off x="2703444" y="3665551"/>
              <a:ext cx="135172"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8ABED101-67F4-4ACE-847B-BFB18430BAFF}"/>
                </a:ext>
              </a:extLst>
            </p:cNvPr>
            <p:cNvSpPr/>
            <p:nvPr/>
          </p:nvSpPr>
          <p:spPr>
            <a:xfrm>
              <a:off x="2515585" y="3556355"/>
              <a:ext cx="140149"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5</a:t>
              </a:r>
            </a:p>
          </p:txBody>
        </p:sp>
        <p:cxnSp>
          <p:nvCxnSpPr>
            <p:cNvPr id="60" name="Connecteur droit avec flèche 59">
              <a:extLst>
                <a:ext uri="{FF2B5EF4-FFF2-40B4-BE49-F238E27FC236}">
                  <a16:creationId xmlns:a16="http://schemas.microsoft.com/office/drawing/2014/main" id="{1C3522E1-78D3-4E04-AB18-B46F83ABC9BD}"/>
                </a:ext>
              </a:extLst>
            </p:cNvPr>
            <p:cNvCxnSpPr>
              <a:cxnSpLocks/>
            </p:cNvCxnSpPr>
            <p:nvPr/>
          </p:nvCxnSpPr>
          <p:spPr>
            <a:xfrm flipV="1">
              <a:off x="4486185" y="2409245"/>
              <a:ext cx="0" cy="2631882"/>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696575F2-6A8B-4C31-BC41-BD2E9D30FABC}"/>
                </a:ext>
              </a:extLst>
            </p:cNvPr>
            <p:cNvCxnSpPr>
              <a:cxnSpLocks/>
            </p:cNvCxnSpPr>
            <p:nvPr/>
          </p:nvCxnSpPr>
          <p:spPr>
            <a:xfrm>
              <a:off x="4486185" y="3665551"/>
              <a:ext cx="3067554" cy="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8D497C43-AD46-4F85-8C20-F4C9C6822F18}"/>
                </a:ext>
              </a:extLst>
            </p:cNvPr>
            <p:cNvSpPr/>
            <p:nvPr/>
          </p:nvSpPr>
          <p:spPr>
            <a:xfrm>
              <a:off x="4416110" y="5086584"/>
              <a:ext cx="140149"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6</a:t>
              </a:r>
            </a:p>
          </p:txBody>
        </p:sp>
        <p:cxnSp>
          <p:nvCxnSpPr>
            <p:cNvPr id="64" name="Connecteur droit 63">
              <a:extLst>
                <a:ext uri="{FF2B5EF4-FFF2-40B4-BE49-F238E27FC236}">
                  <a16:creationId xmlns:a16="http://schemas.microsoft.com/office/drawing/2014/main" id="{7106A2F1-C342-49CA-BA43-79E226FE1C2E}"/>
                </a:ext>
              </a:extLst>
            </p:cNvPr>
            <p:cNvCxnSpPr>
              <a:cxnSpLocks/>
            </p:cNvCxnSpPr>
            <p:nvPr/>
          </p:nvCxnSpPr>
          <p:spPr>
            <a:xfrm rot="16200000">
              <a:off x="4422251" y="5050407"/>
              <a:ext cx="135172"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65" name="Image 64">
              <a:extLst>
                <a:ext uri="{FF2B5EF4-FFF2-40B4-BE49-F238E27FC236}">
                  <a16:creationId xmlns:a16="http://schemas.microsoft.com/office/drawing/2014/main" id="{7D9DABE1-AB65-4997-8ACF-AF07DC3E7470}"/>
                </a:ext>
              </a:extLst>
            </p:cNvPr>
            <p:cNvPicPr>
              <a:picLocks noChangeAspect="1"/>
            </p:cNvPicPr>
            <p:nvPr/>
          </p:nvPicPr>
          <p:blipFill>
            <a:blip r:embed="rId6">
              <a:duotone>
                <a:prstClr val="black"/>
                <a:schemeClr val="accent4">
                  <a:tint val="45000"/>
                  <a:satMod val="400000"/>
                </a:schemeClr>
              </a:duotone>
            </a:blip>
            <a:stretch>
              <a:fillRect/>
            </a:stretch>
          </p:blipFill>
          <p:spPr>
            <a:xfrm>
              <a:off x="2623930" y="3711011"/>
              <a:ext cx="1739372" cy="1352845"/>
            </a:xfrm>
            <a:prstGeom prst="rect">
              <a:avLst/>
            </a:prstGeom>
          </p:spPr>
        </p:pic>
        <p:pic>
          <p:nvPicPr>
            <p:cNvPr id="74" name="Image 73">
              <a:extLst>
                <a:ext uri="{FF2B5EF4-FFF2-40B4-BE49-F238E27FC236}">
                  <a16:creationId xmlns:a16="http://schemas.microsoft.com/office/drawing/2014/main" id="{F8325331-6996-4DD0-9F58-ACDCEAB4EA91}"/>
                </a:ext>
              </a:extLst>
            </p:cNvPr>
            <p:cNvPicPr>
              <a:picLocks noChangeAspect="1"/>
            </p:cNvPicPr>
            <p:nvPr/>
          </p:nvPicPr>
          <p:blipFill>
            <a:blip r:embed="rId6"/>
            <a:stretch>
              <a:fillRect/>
            </a:stretch>
          </p:blipFill>
          <p:spPr>
            <a:xfrm rot="9679941">
              <a:off x="5142234" y="2534948"/>
              <a:ext cx="1861843" cy="1448100"/>
            </a:xfrm>
            <a:prstGeom prst="rect">
              <a:avLst/>
            </a:prstGeom>
          </p:spPr>
        </p:pic>
        <p:pic>
          <p:nvPicPr>
            <p:cNvPr id="75" name="Image 74">
              <a:extLst>
                <a:ext uri="{FF2B5EF4-FFF2-40B4-BE49-F238E27FC236}">
                  <a16:creationId xmlns:a16="http://schemas.microsoft.com/office/drawing/2014/main" id="{EA4FA837-DB3B-4A61-A527-92CC5E0341D8}"/>
                </a:ext>
              </a:extLst>
            </p:cNvPr>
            <p:cNvPicPr>
              <a:picLocks noChangeAspect="1"/>
            </p:cNvPicPr>
            <p:nvPr/>
          </p:nvPicPr>
          <p:blipFill>
            <a:blip r:embed="rId6">
              <a:duotone>
                <a:prstClr val="black"/>
                <a:schemeClr val="accent2">
                  <a:tint val="45000"/>
                  <a:satMod val="400000"/>
                </a:schemeClr>
              </a:duotone>
            </a:blip>
            <a:stretch>
              <a:fillRect/>
            </a:stretch>
          </p:blipFill>
          <p:spPr>
            <a:xfrm rot="11037074">
              <a:off x="4459371" y="3273269"/>
              <a:ext cx="2192986" cy="1705656"/>
            </a:xfrm>
            <a:prstGeom prst="rect">
              <a:avLst/>
            </a:prstGeom>
          </p:spPr>
        </p:pic>
      </p:grpSp>
    </p:spTree>
    <p:extLst>
      <p:ext uri="{BB962C8B-B14F-4D97-AF65-F5344CB8AC3E}">
        <p14:creationId xmlns:p14="http://schemas.microsoft.com/office/powerpoint/2010/main" val="77156091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136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 </a:t>
            </a:r>
            <a:r>
              <a:rPr lang="fr-FR" sz="2100" b="0" dirty="0"/>
              <a:t>pureté de l’arbre, GINI</a:t>
            </a:r>
          </a:p>
        </p:txBody>
      </p:sp>
      <mc:AlternateContent xmlns:mc="http://schemas.openxmlformats.org/markup-compatibility/2006" xmlns:a14="http://schemas.microsoft.com/office/drawing/2010/main">
        <mc:Choice Requires="a14">
          <p:sp>
            <p:nvSpPr>
              <p:cNvPr id="34" name="Content Placeholder 15">
                <a:extLst>
                  <a:ext uri="{FF2B5EF4-FFF2-40B4-BE49-F238E27FC236}">
                    <a16:creationId xmlns:a16="http://schemas.microsoft.com/office/drawing/2014/main" id="{6E5B324F-69AD-4E75-8168-5741CCBA6D88}"/>
                  </a:ext>
                </a:extLst>
              </p:cNvPr>
              <p:cNvSpPr>
                <a:spLocks noGrp="1"/>
              </p:cNvSpPr>
              <p:nvPr>
                <p:ph sz="half" idx="13"/>
              </p:nvPr>
            </p:nvSpPr>
            <p:spPr>
              <a:xfrm>
                <a:off x="746911" y="1391970"/>
                <a:ext cx="5891400" cy="2836136"/>
              </a:xfrm>
            </p:spPr>
            <p:txBody>
              <a:bodyPr>
                <a:normAutofit fontScale="62500" lnSpcReduction="20000"/>
              </a:bodyPr>
              <a:lstStyle/>
              <a:p>
                <a:pPr lvl="1" algn="just">
                  <a:lnSpc>
                    <a:spcPct val="150000"/>
                  </a:lnSpc>
                  <a:buClr>
                    <a:schemeClr val="accent2"/>
                  </a:buClr>
                </a:pPr>
                <a:r>
                  <a:rPr lang="fr-FR" sz="2175" dirty="0"/>
                  <a:t>Gini est un critère permettant de calculer la pureté des nœuds.</a:t>
                </a:r>
              </a:p>
              <a:p>
                <a:pPr lvl="1" algn="just">
                  <a:lnSpc>
                    <a:spcPct val="150000"/>
                  </a:lnSpc>
                  <a:buClr>
                    <a:schemeClr val="accent2"/>
                  </a:buClr>
                </a:pPr>
                <a:r>
                  <a:rPr lang="fr-FR" sz="2175" dirty="0"/>
                  <a:t>C’est la somme de la probabilité d’appartenance à chaque classe élevée au carré.</a:t>
                </a:r>
              </a:p>
              <a:p>
                <a:pPr lvl="1" algn="just">
                  <a:lnSpc>
                    <a:spcPct val="150000"/>
                  </a:lnSpc>
                  <a:buClr>
                    <a:schemeClr val="accent2"/>
                  </a:buClr>
                </a:pPr>
                <a:r>
                  <a:rPr lang="fr-FR" sz="2175" dirty="0"/>
                  <a:t>Plus le Gini est petit (proche de 0), plus le nœud est pur.</a:t>
                </a:r>
              </a:p>
              <a:p>
                <a:pPr lvl="1" algn="just">
                  <a:lnSpc>
                    <a:spcPct val="150000"/>
                  </a:lnSpc>
                  <a:buClr>
                    <a:schemeClr val="accent2"/>
                  </a:buClr>
                </a:pPr>
                <a:r>
                  <a:rPr lang="fr-FR" sz="2175" dirty="0"/>
                  <a:t>Gini est donc un critère à minimiser.</a:t>
                </a:r>
              </a:p>
              <a:p>
                <a:pPr lvl="1" algn="just">
                  <a:lnSpc>
                    <a:spcPct val="150000"/>
                  </a:lnSpc>
                  <a:buClr>
                    <a:schemeClr val="accent2"/>
                  </a:buClr>
                </a:pPr>
                <a14:m>
                  <m:oMath xmlns:m="http://schemas.openxmlformats.org/officeDocument/2006/math">
                    <m:sSub>
                      <m:sSubPr>
                        <m:ctrlPr>
                          <a:rPr lang="fr-FR" sz="2175" i="1">
                            <a:latin typeface="Cambria Math" panose="02040503050406030204" pitchFamily="18" charset="0"/>
                          </a:rPr>
                        </m:ctrlPr>
                      </m:sSubPr>
                      <m:e>
                        <m:r>
                          <a:rPr lang="fr-FR" sz="2175" i="1">
                            <a:latin typeface="Cambria Math" panose="02040503050406030204" pitchFamily="18" charset="0"/>
                          </a:rPr>
                          <m:t>𝐺</m:t>
                        </m:r>
                      </m:e>
                      <m:sub>
                        <m:r>
                          <a:rPr lang="fr-FR" sz="2175" i="1">
                            <a:latin typeface="Cambria Math" panose="02040503050406030204" pitchFamily="18" charset="0"/>
                          </a:rPr>
                          <m:t>𝑖</m:t>
                        </m:r>
                      </m:sub>
                    </m:sSub>
                    <m:r>
                      <a:rPr lang="fr-FR" sz="2175" i="1">
                        <a:latin typeface="Cambria Math" panose="02040503050406030204" pitchFamily="18" charset="0"/>
                      </a:rPr>
                      <m:t>=1−</m:t>
                    </m:r>
                    <m:nary>
                      <m:naryPr>
                        <m:chr m:val="∑"/>
                        <m:ctrlPr>
                          <a:rPr lang="fr-FR" sz="2175" i="1">
                            <a:latin typeface="Cambria Math" panose="02040503050406030204" pitchFamily="18" charset="0"/>
                          </a:rPr>
                        </m:ctrlPr>
                      </m:naryPr>
                      <m:sub>
                        <m:r>
                          <m:rPr>
                            <m:brk m:alnAt="23"/>
                          </m:rPr>
                          <a:rPr lang="fr-FR" sz="2175" i="1">
                            <a:latin typeface="Cambria Math" panose="02040503050406030204" pitchFamily="18" charset="0"/>
                          </a:rPr>
                          <m:t>𝑘</m:t>
                        </m:r>
                        <m:r>
                          <a:rPr lang="fr-FR" sz="2175" i="1">
                            <a:latin typeface="Cambria Math" panose="02040503050406030204" pitchFamily="18" charset="0"/>
                          </a:rPr>
                          <m:t>=1</m:t>
                        </m:r>
                      </m:sub>
                      <m:sup>
                        <m:r>
                          <a:rPr lang="fr-FR" sz="2175" i="1">
                            <a:latin typeface="Cambria Math" panose="02040503050406030204" pitchFamily="18" charset="0"/>
                          </a:rPr>
                          <m:t>𝑛</m:t>
                        </m:r>
                      </m:sup>
                      <m:e>
                        <m:sSubSup>
                          <m:sSubSupPr>
                            <m:ctrlPr>
                              <a:rPr lang="fr-FR" sz="2175" i="1">
                                <a:latin typeface="Cambria Math" panose="02040503050406030204" pitchFamily="18" charset="0"/>
                              </a:rPr>
                            </m:ctrlPr>
                          </m:sSubSupPr>
                          <m:e>
                            <m:r>
                              <a:rPr lang="fr-FR" sz="2175" i="1">
                                <a:latin typeface="Cambria Math" panose="02040503050406030204" pitchFamily="18" charset="0"/>
                              </a:rPr>
                              <m:t>𝑝</m:t>
                            </m:r>
                          </m:e>
                          <m:sub>
                            <m:r>
                              <a:rPr lang="fr-FR" sz="2175" i="1">
                                <a:latin typeface="Cambria Math" panose="02040503050406030204" pitchFamily="18" charset="0"/>
                              </a:rPr>
                              <m:t>𝑖</m:t>
                            </m:r>
                            <m:r>
                              <a:rPr lang="fr-FR" sz="2175" i="1">
                                <a:latin typeface="Cambria Math" panose="02040503050406030204" pitchFamily="18" charset="0"/>
                              </a:rPr>
                              <m:t>,</m:t>
                            </m:r>
                            <m:r>
                              <a:rPr lang="fr-FR" sz="2175" i="1">
                                <a:latin typeface="Cambria Math" panose="02040503050406030204" pitchFamily="18" charset="0"/>
                              </a:rPr>
                              <m:t>𝑘</m:t>
                            </m:r>
                          </m:sub>
                          <m:sup>
                            <m:r>
                              <a:rPr lang="fr-FR" sz="2175" i="1">
                                <a:latin typeface="Cambria Math" panose="02040503050406030204" pitchFamily="18" charset="0"/>
                              </a:rPr>
                              <m:t>2</m:t>
                            </m:r>
                          </m:sup>
                        </m:sSubSup>
                      </m:e>
                    </m:nary>
                  </m:oMath>
                </a14:m>
                <a:endParaRPr lang="fr-FR" sz="2175" dirty="0"/>
              </a:p>
              <a:p>
                <a:pPr lvl="1" algn="just">
                  <a:lnSpc>
                    <a:spcPct val="150000"/>
                  </a:lnSpc>
                  <a:buClr>
                    <a:schemeClr val="accent2"/>
                  </a:buClr>
                </a:pPr>
                <a14:m>
                  <m:oMath xmlns:m="http://schemas.openxmlformats.org/officeDocument/2006/math">
                    <m:sSub>
                      <m:sSubPr>
                        <m:ctrlPr>
                          <a:rPr lang="fr-FR" sz="2175" i="1">
                            <a:latin typeface="Cambria Math" panose="02040503050406030204" pitchFamily="18" charset="0"/>
                          </a:rPr>
                        </m:ctrlPr>
                      </m:sSubPr>
                      <m:e>
                        <m:r>
                          <a:rPr lang="fr-FR" sz="2175" i="1">
                            <a:latin typeface="Cambria Math" panose="02040503050406030204" pitchFamily="18" charset="0"/>
                          </a:rPr>
                          <m:t>𝑝</m:t>
                        </m:r>
                      </m:e>
                      <m:sub>
                        <m:r>
                          <a:rPr lang="fr-FR" sz="2175" i="1">
                            <a:latin typeface="Cambria Math" panose="02040503050406030204" pitchFamily="18" charset="0"/>
                          </a:rPr>
                          <m:t>𝑖</m:t>
                        </m:r>
                        <m:r>
                          <a:rPr lang="fr-FR" sz="2175" i="1">
                            <a:latin typeface="Cambria Math" panose="02040503050406030204" pitchFamily="18" charset="0"/>
                          </a:rPr>
                          <m:t>,</m:t>
                        </m:r>
                        <m:r>
                          <a:rPr lang="fr-FR" sz="2175" i="1">
                            <a:latin typeface="Cambria Math" panose="02040503050406030204" pitchFamily="18" charset="0"/>
                          </a:rPr>
                          <m:t>𝑘</m:t>
                        </m:r>
                      </m:sub>
                    </m:sSub>
                  </m:oMath>
                </a14:m>
                <a:r>
                  <a:rPr lang="fr-FR" sz="2175" dirty="0"/>
                  <a:t> est le ratio du nombre d’individus de la classe </a:t>
                </a:r>
                <a14:m>
                  <m:oMath xmlns:m="http://schemas.openxmlformats.org/officeDocument/2006/math">
                    <m:r>
                      <a:rPr lang="fr-FR" sz="2175" i="1" dirty="0">
                        <a:latin typeface="Cambria Math" panose="02040503050406030204" pitchFamily="18" charset="0"/>
                      </a:rPr>
                      <m:t>𝑘</m:t>
                    </m:r>
                  </m:oMath>
                </a14:m>
                <a:r>
                  <a:rPr lang="fr-FR" sz="2175" dirty="0"/>
                  <a:t> parmi la population du </a:t>
                </a:r>
                <a14:m>
                  <m:oMath xmlns:m="http://schemas.openxmlformats.org/officeDocument/2006/math">
                    <m:sSup>
                      <m:sSupPr>
                        <m:ctrlPr>
                          <a:rPr lang="fr-FR" sz="2175" i="1">
                            <a:latin typeface="Cambria Math" panose="02040503050406030204" pitchFamily="18" charset="0"/>
                          </a:rPr>
                        </m:ctrlPr>
                      </m:sSupPr>
                      <m:e>
                        <m:r>
                          <a:rPr lang="fr-FR" sz="2175" i="1">
                            <a:latin typeface="Cambria Math" panose="02040503050406030204" pitchFamily="18" charset="0"/>
                          </a:rPr>
                          <m:t>𝑖</m:t>
                        </m:r>
                      </m:e>
                      <m:sup>
                        <m:r>
                          <a:rPr lang="fr-FR" sz="2175" i="1">
                            <a:latin typeface="Cambria Math" panose="02040503050406030204" pitchFamily="18" charset="0"/>
                          </a:rPr>
                          <m:t>è</m:t>
                        </m:r>
                        <m:r>
                          <a:rPr lang="fr-FR" sz="2175" i="1">
                            <a:latin typeface="Cambria Math" panose="02040503050406030204" pitchFamily="18" charset="0"/>
                          </a:rPr>
                          <m:t>𝑚𝑒</m:t>
                        </m:r>
                      </m:sup>
                    </m:sSup>
                  </m:oMath>
                </a14:m>
                <a:r>
                  <a:rPr lang="fr-FR" sz="2175" dirty="0"/>
                  <a:t> nœud.</a:t>
                </a:r>
              </a:p>
            </p:txBody>
          </p:sp>
        </mc:Choice>
        <mc:Fallback xmlns="">
          <p:sp>
            <p:nvSpPr>
              <p:cNvPr id="34" name="Content Placeholder 15">
                <a:extLst>
                  <a:ext uri="{FF2B5EF4-FFF2-40B4-BE49-F238E27FC236}">
                    <a16:creationId xmlns:a16="http://schemas.microsoft.com/office/drawing/2014/main" id="{6E5B324F-69AD-4E75-8168-5741CCBA6D88}"/>
                  </a:ext>
                </a:extLst>
              </p:cNvPr>
              <p:cNvSpPr>
                <a:spLocks noGrp="1" noRot="1" noChangeAspect="1" noMove="1" noResize="1" noEditPoints="1" noAdjustHandles="1" noChangeArrowheads="1" noChangeShapeType="1" noTextEdit="1"/>
              </p:cNvSpPr>
              <p:nvPr>
                <p:ph sz="half" idx="13"/>
              </p:nvPr>
            </p:nvSpPr>
            <p:spPr>
              <a:xfrm>
                <a:off x="746911" y="1391970"/>
                <a:ext cx="5891400" cy="2836136"/>
              </a:xfrm>
              <a:blipFill>
                <a:blip r:embed="rId2"/>
                <a:stretch>
                  <a:fillRect t="-644" r="-1863"/>
                </a:stretch>
              </a:blipFill>
            </p:spPr>
            <p:txBody>
              <a:bodyPr/>
              <a:lstStyle/>
              <a:p>
                <a:r>
                  <a:rPr lang="fr-FR">
                    <a:noFill/>
                  </a:rPr>
                  <a:t> </a:t>
                </a:r>
              </a:p>
            </p:txBody>
          </p:sp>
        </mc:Fallback>
      </mc:AlternateContent>
    </p:spTree>
    <p:extLst>
      <p:ext uri="{BB962C8B-B14F-4D97-AF65-F5344CB8AC3E}">
        <p14:creationId xmlns:p14="http://schemas.microsoft.com/office/powerpoint/2010/main" val="406710050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137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 </a:t>
            </a:r>
            <a:r>
              <a:rPr lang="fr-FR" sz="2100" b="0" dirty="0"/>
              <a:t>pureté de l’arbre, GINI</a:t>
            </a:r>
          </a:p>
        </p:txBody>
      </p:sp>
      <p:grpSp>
        <p:nvGrpSpPr>
          <p:cNvPr id="7" name="Groupe 6">
            <a:extLst>
              <a:ext uri="{FF2B5EF4-FFF2-40B4-BE49-F238E27FC236}">
                <a16:creationId xmlns:a16="http://schemas.microsoft.com/office/drawing/2014/main" id="{9F8FB54E-9511-4D0B-BEAE-F1507DCD1D2D}"/>
              </a:ext>
            </a:extLst>
          </p:cNvPr>
          <p:cNvGrpSpPr/>
          <p:nvPr/>
        </p:nvGrpSpPr>
        <p:grpSpPr>
          <a:xfrm>
            <a:off x="1276448" y="1272855"/>
            <a:ext cx="4599470" cy="1894111"/>
            <a:chOff x="4023711" y="4162038"/>
            <a:chExt cx="6132627" cy="2525481"/>
          </a:xfrm>
        </p:grpSpPr>
        <p:sp>
          <p:nvSpPr>
            <p:cNvPr id="8" name="Rectangle 7">
              <a:extLst>
                <a:ext uri="{FF2B5EF4-FFF2-40B4-BE49-F238E27FC236}">
                  <a16:creationId xmlns:a16="http://schemas.microsoft.com/office/drawing/2014/main" id="{C4504155-930F-49E6-939D-67B60C0040AD}"/>
                </a:ext>
              </a:extLst>
            </p:cNvPr>
            <p:cNvSpPr/>
            <p:nvPr/>
          </p:nvSpPr>
          <p:spPr>
            <a:xfrm>
              <a:off x="6096000" y="4162038"/>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[50, 50, 50]</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D01C5421-1321-43D7-B2EE-2DBA7F96AB35}"/>
                    </a:ext>
                  </a:extLst>
                </p:cNvPr>
                <p:cNvSpPr/>
                <p:nvPr/>
              </p:nvSpPr>
              <p:spPr>
                <a:xfrm>
                  <a:off x="6095999" y="4497303"/>
                  <a:ext cx="1454400"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sz="570" dirty="0">
                      <a:solidFill>
                        <a:schemeClr val="tx1">
                          <a:lumMod val="50000"/>
                        </a:schemeClr>
                      </a:solidFill>
                    </a:rPr>
                    <a:t>Longueur des sépales </a:t>
                  </a:r>
                  <a14:m>
                    <m:oMath xmlns:m="http://schemas.openxmlformats.org/officeDocument/2006/math">
                      <m:r>
                        <a:rPr lang="fr-FR" sz="570" i="1">
                          <a:solidFill>
                            <a:schemeClr val="tx1">
                              <a:lumMod val="50000"/>
                            </a:schemeClr>
                          </a:solidFill>
                          <a:latin typeface="Cambria Math" panose="02040503050406030204" pitchFamily="18" charset="0"/>
                          <a:ea typeface="Cambria Math" panose="02040503050406030204" pitchFamily="18" charset="0"/>
                        </a:rPr>
                        <m:t>≤0.6</m:t>
                      </m:r>
                    </m:oMath>
                  </a14:m>
                  <a:endParaRPr lang="fr-FR" sz="570" i="1" dirty="0">
                    <a:solidFill>
                      <a:schemeClr val="tx1">
                        <a:lumMod val="50000"/>
                      </a:schemeClr>
                    </a:solidFill>
                  </a:endParaRPr>
                </a:p>
              </p:txBody>
            </p:sp>
          </mc:Choice>
          <mc:Fallback xmlns="">
            <p:sp>
              <p:nvSpPr>
                <p:cNvPr id="9" name="Rectangle 8">
                  <a:extLst>
                    <a:ext uri="{FF2B5EF4-FFF2-40B4-BE49-F238E27FC236}">
                      <a16:creationId xmlns:a16="http://schemas.microsoft.com/office/drawing/2014/main" id="{D01C5421-1321-43D7-B2EE-2DBA7F96AB35}"/>
                    </a:ext>
                  </a:extLst>
                </p:cNvPr>
                <p:cNvSpPr>
                  <a:spLocks noRot="1" noChangeAspect="1" noMove="1" noResize="1" noEditPoints="1" noAdjustHandles="1" noChangeArrowheads="1" noChangeShapeType="1" noTextEdit="1"/>
                </p:cNvSpPr>
                <p:nvPr/>
              </p:nvSpPr>
              <p:spPr>
                <a:xfrm>
                  <a:off x="6095999" y="4497303"/>
                  <a:ext cx="1454400" cy="216000"/>
                </a:xfrm>
                <a:prstGeom prst="rect">
                  <a:avLst/>
                </a:prstGeom>
                <a:blipFill>
                  <a:blip r:embed="rId2"/>
                  <a:stretch>
                    <a:fillRect/>
                  </a:stretch>
                </a:blipFill>
                <a:ln>
                  <a:solidFill>
                    <a:schemeClr val="tx1">
                      <a:lumMod val="75000"/>
                    </a:schemeClr>
                  </a:solidFill>
                  <a:headEnd type="none" w="med" len="med"/>
                  <a:tailEnd type="none" w="med" len="me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7F6C8F34-2980-41F0-A009-40B6E892B023}"/>
                    </a:ext>
                  </a:extLst>
                </p:cNvPr>
                <p:cNvSpPr/>
                <p:nvPr/>
              </p:nvSpPr>
              <p:spPr>
                <a:xfrm>
                  <a:off x="7228424" y="5416844"/>
                  <a:ext cx="1454400"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600" dirty="0">
                      <a:solidFill>
                        <a:schemeClr val="tx1">
                          <a:lumMod val="50000"/>
                        </a:schemeClr>
                      </a:solidFill>
                    </a:rPr>
                    <a:t>Longueur des pétales </a:t>
                  </a:r>
                  <a14:m>
                    <m:oMath xmlns:m="http://schemas.openxmlformats.org/officeDocument/2006/math">
                      <m:r>
                        <a:rPr lang="fr-FR" sz="600">
                          <a:solidFill>
                            <a:schemeClr val="tx1">
                              <a:lumMod val="50000"/>
                            </a:schemeClr>
                          </a:solidFill>
                          <a:latin typeface="Cambria Math" panose="02040503050406030204" pitchFamily="18" charset="0"/>
                        </a:rPr>
                        <m:t>&gt;0.5</m:t>
                      </m:r>
                    </m:oMath>
                  </a14:m>
                  <a:endParaRPr lang="fr-FR" sz="600" dirty="0">
                    <a:solidFill>
                      <a:schemeClr val="tx1">
                        <a:lumMod val="50000"/>
                      </a:schemeClr>
                    </a:solidFill>
                  </a:endParaRPr>
                </a:p>
              </p:txBody>
            </p:sp>
          </mc:Choice>
          <mc:Fallback xmlns="">
            <p:sp>
              <p:nvSpPr>
                <p:cNvPr id="11" name="Rectangle 10">
                  <a:extLst>
                    <a:ext uri="{FF2B5EF4-FFF2-40B4-BE49-F238E27FC236}">
                      <a16:creationId xmlns:a16="http://schemas.microsoft.com/office/drawing/2014/main" id="{7F6C8F34-2980-41F0-A009-40B6E892B023}"/>
                    </a:ext>
                  </a:extLst>
                </p:cNvPr>
                <p:cNvSpPr>
                  <a:spLocks noRot="1" noChangeAspect="1" noMove="1" noResize="1" noEditPoints="1" noAdjustHandles="1" noChangeArrowheads="1" noChangeShapeType="1" noTextEdit="1"/>
                </p:cNvSpPr>
                <p:nvPr/>
              </p:nvSpPr>
              <p:spPr>
                <a:xfrm>
                  <a:off x="7228424" y="5416844"/>
                  <a:ext cx="1454400" cy="216000"/>
                </a:xfrm>
                <a:prstGeom prst="rect">
                  <a:avLst/>
                </a:prstGeom>
                <a:blipFill>
                  <a:blip r:embed="rId5"/>
                  <a:stretch>
                    <a:fillRect b="-5263"/>
                  </a:stretch>
                </a:blipFill>
                <a:ln>
                  <a:solidFill>
                    <a:schemeClr val="tx1">
                      <a:lumMod val="75000"/>
                    </a:schemeClr>
                  </a:solidFill>
                  <a:headEnd type="none" w="med" len="med"/>
                  <a:tailEnd type="none" w="med" len="med"/>
                </a:ln>
              </p:spPr>
              <p:txBody>
                <a:bodyPr/>
                <a:lstStyle/>
                <a:p>
                  <a:r>
                    <a:rPr lang="fr-FR">
                      <a:noFill/>
                    </a:rPr>
                    <a:t> </a:t>
                  </a:r>
                </a:p>
              </p:txBody>
            </p:sp>
          </mc:Fallback>
        </mc:AlternateContent>
        <p:sp>
          <p:nvSpPr>
            <p:cNvPr id="12" name="Rectangle 11">
              <a:extLst>
                <a:ext uri="{FF2B5EF4-FFF2-40B4-BE49-F238E27FC236}">
                  <a16:creationId xmlns:a16="http://schemas.microsoft.com/office/drawing/2014/main" id="{FB889F44-80D0-4960-A738-298152FBE6B7}"/>
                </a:ext>
              </a:extLst>
            </p:cNvPr>
            <p:cNvSpPr/>
            <p:nvPr/>
          </p:nvSpPr>
          <p:spPr>
            <a:xfrm>
              <a:off x="5302195" y="5081579"/>
              <a:ext cx="1454399" cy="338554"/>
            </a:xfrm>
            <a:prstGeom prst="rect">
              <a:avLst/>
            </a:prstGeom>
            <a:noFill/>
            <a:ln w="3810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[50, 0, 0]</a:t>
              </a:r>
            </a:p>
          </p:txBody>
        </p:sp>
        <p:sp>
          <p:nvSpPr>
            <p:cNvPr id="13" name="Rectangle 12">
              <a:extLst>
                <a:ext uri="{FF2B5EF4-FFF2-40B4-BE49-F238E27FC236}">
                  <a16:creationId xmlns:a16="http://schemas.microsoft.com/office/drawing/2014/main" id="{D51C882F-F89B-467D-BACA-53D83D455D5B}"/>
                </a:ext>
              </a:extLst>
            </p:cNvPr>
            <p:cNvSpPr/>
            <p:nvPr/>
          </p:nvSpPr>
          <p:spPr>
            <a:xfrm>
              <a:off x="7228424" y="6108749"/>
              <a:ext cx="1454399" cy="338554"/>
            </a:xfrm>
            <a:prstGeom prst="rect">
              <a:avLst/>
            </a:prstGeom>
            <a:noFill/>
            <a:ln w="38100" cap="flat" cmpd="sng" algn="ctr">
              <a:solidFill>
                <a:srgbClr val="9B9049"/>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1, 45]</a:t>
              </a:r>
            </a:p>
          </p:txBody>
        </p:sp>
        <p:sp>
          <p:nvSpPr>
            <p:cNvPr id="15" name="Rectangle 14">
              <a:extLst>
                <a:ext uri="{FF2B5EF4-FFF2-40B4-BE49-F238E27FC236}">
                  <a16:creationId xmlns:a16="http://schemas.microsoft.com/office/drawing/2014/main" id="{DA7AAC70-1450-4B44-B8CD-D866195625BB}"/>
                </a:ext>
              </a:extLst>
            </p:cNvPr>
            <p:cNvSpPr/>
            <p:nvPr/>
          </p:nvSpPr>
          <p:spPr>
            <a:xfrm>
              <a:off x="5298580" y="6129863"/>
              <a:ext cx="1454399" cy="338554"/>
            </a:xfrm>
            <a:prstGeom prst="rect">
              <a:avLst/>
            </a:prstGeom>
            <a:noFill/>
            <a:ln w="38100" cap="flat" cmpd="sng" algn="ctr">
              <a:solidFill>
                <a:srgbClr val="85B897"/>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49, 5]</a:t>
              </a:r>
            </a:p>
          </p:txBody>
        </p:sp>
        <p:cxnSp>
          <p:nvCxnSpPr>
            <p:cNvPr id="16" name="Connecteur droit 15">
              <a:extLst>
                <a:ext uri="{FF2B5EF4-FFF2-40B4-BE49-F238E27FC236}">
                  <a16:creationId xmlns:a16="http://schemas.microsoft.com/office/drawing/2014/main" id="{2EB4E820-971B-4FD0-A750-DE18789E6D23}"/>
                </a:ext>
              </a:extLst>
            </p:cNvPr>
            <p:cNvCxnSpPr>
              <a:cxnSpLocks/>
              <a:stCxn id="12" idx="0"/>
              <a:endCxn id="9" idx="2"/>
            </p:cNvCxnSpPr>
            <p:nvPr/>
          </p:nvCxnSpPr>
          <p:spPr>
            <a:xfrm flipV="1">
              <a:off x="6029395" y="4713303"/>
              <a:ext cx="793804" cy="3682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3C5D9F46-2032-4063-8BCC-47C4A8B71158}"/>
                </a:ext>
              </a:extLst>
            </p:cNvPr>
            <p:cNvCxnSpPr>
              <a:cxnSpLocks/>
              <a:stCxn id="15" idx="0"/>
              <a:endCxn id="11" idx="2"/>
            </p:cNvCxnSpPr>
            <p:nvPr/>
          </p:nvCxnSpPr>
          <p:spPr>
            <a:xfrm flipV="1">
              <a:off x="6025780" y="5632844"/>
              <a:ext cx="1929844" cy="4970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08407C13-2067-4AFD-9411-7FDC20A2BEF5}"/>
                </a:ext>
              </a:extLst>
            </p:cNvPr>
            <p:cNvCxnSpPr>
              <a:cxnSpLocks/>
              <a:stCxn id="13" idx="0"/>
              <a:endCxn id="11" idx="2"/>
            </p:cNvCxnSpPr>
            <p:nvPr/>
          </p:nvCxnSpPr>
          <p:spPr>
            <a:xfrm flipV="1">
              <a:off x="7955624" y="5632844"/>
              <a:ext cx="0" cy="4759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D28F92E5-5CD5-4496-8AF5-385EB149A060}"/>
                </a:ext>
              </a:extLst>
            </p:cNvPr>
            <p:cNvCxnSpPr>
              <a:cxnSpLocks/>
              <a:stCxn id="10" idx="0"/>
              <a:endCxn id="9" idx="2"/>
            </p:cNvCxnSpPr>
            <p:nvPr/>
          </p:nvCxnSpPr>
          <p:spPr>
            <a:xfrm flipH="1" flipV="1">
              <a:off x="6823199" y="4713303"/>
              <a:ext cx="1132426" cy="368276"/>
            </a:xfrm>
            <a:prstGeom prst="line">
              <a:avLst/>
            </a:prstGeom>
          </p:spPr>
          <p:style>
            <a:lnRef idx="1">
              <a:schemeClr val="accent1"/>
            </a:lnRef>
            <a:fillRef idx="0">
              <a:schemeClr val="accent1"/>
            </a:fillRef>
            <a:effectRef idx="0">
              <a:schemeClr val="accent1"/>
            </a:effectRef>
            <a:fontRef idx="minor">
              <a:schemeClr val="tx1"/>
            </a:fontRef>
          </p:style>
        </p:cxnSp>
        <p:sp>
          <p:nvSpPr>
            <p:cNvPr id="20" name="Légende : flèche courbée 19">
              <a:extLst>
                <a:ext uri="{FF2B5EF4-FFF2-40B4-BE49-F238E27FC236}">
                  <a16:creationId xmlns:a16="http://schemas.microsoft.com/office/drawing/2014/main" id="{02924561-7E76-4D80-84C1-1D601BC25B6C}"/>
                </a:ext>
              </a:extLst>
            </p:cNvPr>
            <p:cNvSpPr/>
            <p:nvPr/>
          </p:nvSpPr>
          <p:spPr>
            <a:xfrm>
              <a:off x="9233029" y="6468417"/>
              <a:ext cx="923309" cy="219102"/>
            </a:xfrm>
            <a:prstGeom prst="borderCallout2">
              <a:avLst>
                <a:gd name="adj1" fmla="val 18750"/>
                <a:gd name="adj2" fmla="val -8333"/>
                <a:gd name="adj3" fmla="val 18750"/>
                <a:gd name="adj4" fmla="val -16667"/>
                <a:gd name="adj5" fmla="val -50806"/>
                <a:gd name="adj6" fmla="val -5441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virginica</a:t>
              </a:r>
            </a:p>
          </p:txBody>
        </p:sp>
        <p:sp>
          <p:nvSpPr>
            <p:cNvPr id="22" name="Légende : flèche courbée 21">
              <a:extLst>
                <a:ext uri="{FF2B5EF4-FFF2-40B4-BE49-F238E27FC236}">
                  <a16:creationId xmlns:a16="http://schemas.microsoft.com/office/drawing/2014/main" id="{D234E9CD-98DF-4D8B-823D-05C225B4274C}"/>
                </a:ext>
              </a:extLst>
            </p:cNvPr>
            <p:cNvSpPr/>
            <p:nvPr/>
          </p:nvSpPr>
          <p:spPr>
            <a:xfrm>
              <a:off x="4709768" y="5552701"/>
              <a:ext cx="824117" cy="219102"/>
            </a:xfrm>
            <a:prstGeom prst="borderCallout2">
              <a:avLst>
                <a:gd name="adj1" fmla="val 29637"/>
                <a:gd name="adj2" fmla="val 106236"/>
                <a:gd name="adj3" fmla="val 29637"/>
                <a:gd name="adj4" fmla="val 116446"/>
                <a:gd name="adj5" fmla="val -36291"/>
                <a:gd name="adj6" fmla="val 13288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setosa</a:t>
              </a:r>
            </a:p>
          </p:txBody>
        </p:sp>
        <p:sp>
          <p:nvSpPr>
            <p:cNvPr id="23" name="Légende : flèche courbée 22">
              <a:extLst>
                <a:ext uri="{FF2B5EF4-FFF2-40B4-BE49-F238E27FC236}">
                  <a16:creationId xmlns:a16="http://schemas.microsoft.com/office/drawing/2014/main" id="{0C487599-0678-4C35-9A47-88050C92A37D}"/>
                </a:ext>
              </a:extLst>
            </p:cNvPr>
            <p:cNvSpPr/>
            <p:nvPr/>
          </p:nvSpPr>
          <p:spPr>
            <a:xfrm>
              <a:off x="9061216" y="5552701"/>
              <a:ext cx="923309" cy="475904"/>
            </a:xfrm>
            <a:prstGeom prst="borderCallout2">
              <a:avLst>
                <a:gd name="adj1" fmla="val 18750"/>
                <a:gd name="adj2" fmla="val -8333"/>
                <a:gd name="adj3" fmla="val 18750"/>
                <a:gd name="adj4" fmla="val -16667"/>
                <a:gd name="adj5" fmla="val -37152"/>
                <a:gd name="adj6" fmla="val -3771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Virginica,</a:t>
              </a:r>
            </a:p>
            <a:p>
              <a:pPr algn="ctr"/>
              <a:r>
                <a:rPr lang="fr-FR" sz="1050" dirty="0"/>
                <a:t>versicolor</a:t>
              </a:r>
            </a:p>
          </p:txBody>
        </p:sp>
        <p:sp>
          <p:nvSpPr>
            <p:cNvPr id="24" name="Légende : flèche courbée 23">
              <a:extLst>
                <a:ext uri="{FF2B5EF4-FFF2-40B4-BE49-F238E27FC236}">
                  <a16:creationId xmlns:a16="http://schemas.microsoft.com/office/drawing/2014/main" id="{B0C61903-BC2B-4E6E-B889-1701BE50430C}"/>
                </a:ext>
              </a:extLst>
            </p:cNvPr>
            <p:cNvSpPr/>
            <p:nvPr/>
          </p:nvSpPr>
          <p:spPr>
            <a:xfrm>
              <a:off x="4023711" y="6376140"/>
              <a:ext cx="923308" cy="219102"/>
            </a:xfrm>
            <a:prstGeom prst="borderCallout2">
              <a:avLst>
                <a:gd name="adj1" fmla="val 29637"/>
                <a:gd name="adj2" fmla="val 106236"/>
                <a:gd name="adj3" fmla="val 29637"/>
                <a:gd name="adj4" fmla="val 116446"/>
                <a:gd name="adj5" fmla="val -36291"/>
                <a:gd name="adj6" fmla="val 13288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versicolor</a:t>
              </a:r>
            </a:p>
          </p:txBody>
        </p:sp>
        <p:sp>
          <p:nvSpPr>
            <p:cNvPr id="10" name="Rectangle 9">
              <a:extLst>
                <a:ext uri="{FF2B5EF4-FFF2-40B4-BE49-F238E27FC236}">
                  <a16:creationId xmlns:a16="http://schemas.microsoft.com/office/drawing/2014/main" id="{C59078DD-852C-4E37-B732-111538C00C82}"/>
                </a:ext>
              </a:extLst>
            </p:cNvPr>
            <p:cNvSpPr/>
            <p:nvPr/>
          </p:nvSpPr>
          <p:spPr>
            <a:xfrm>
              <a:off x="7228425" y="5081579"/>
              <a:ext cx="1454399" cy="338554"/>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50, 50]</a:t>
              </a:r>
            </a:p>
          </p:txBody>
        </p:sp>
      </p:grpSp>
      <p:sp>
        <p:nvSpPr>
          <p:cNvPr id="4" name="Rectangle : coins arrondis 3">
            <a:extLst>
              <a:ext uri="{FF2B5EF4-FFF2-40B4-BE49-F238E27FC236}">
                <a16:creationId xmlns:a16="http://schemas.microsoft.com/office/drawing/2014/main" id="{CD4B85E0-363C-4C6E-A1C2-464A88C03F6D}"/>
              </a:ext>
            </a:extLst>
          </p:cNvPr>
          <p:cNvSpPr/>
          <p:nvPr/>
        </p:nvSpPr>
        <p:spPr>
          <a:xfrm>
            <a:off x="930302" y="1691232"/>
            <a:ext cx="5402912" cy="1694990"/>
          </a:xfrm>
          <a:prstGeom prst="roundRect">
            <a:avLst/>
          </a:prstGeom>
          <a:solidFill>
            <a:srgbClr val="F9F9F9">
              <a:alpha val="85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1350" dirty="0"/>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C7922BDA-2C5E-4359-86A8-FB5B8FBB11F0}"/>
                  </a:ext>
                </a:extLst>
              </p:cNvPr>
              <p:cNvSpPr txBox="1"/>
              <p:nvPr/>
            </p:nvSpPr>
            <p:spPr>
              <a:xfrm>
                <a:off x="2064398" y="3806890"/>
                <a:ext cx="4100804" cy="444289"/>
              </a:xfrm>
              <a:prstGeom prst="rect">
                <a:avLst/>
              </a:prstGeom>
              <a:noFill/>
            </p:spPr>
            <p:txBody>
              <a:bodyPr wrap="square" rtlCol="0">
                <a:spAutoFit/>
              </a:bodyPr>
              <a:lstStyle/>
              <a:p>
                <a14:m>
                  <m:oMath xmlns:m="http://schemas.openxmlformats.org/officeDocument/2006/math">
                    <m:r>
                      <a:rPr lang="fr-FR" sz="1350" i="1">
                        <a:solidFill>
                          <a:srgbClr val="00194C"/>
                        </a:solidFill>
                        <a:latin typeface="Cambria Math" panose="02040503050406030204" pitchFamily="18" charset="0"/>
                      </a:rPr>
                      <m:t>𝑔𝑖𝑛𝑖</m:t>
                    </m:r>
                    <m:r>
                      <a:rPr lang="fr-FR" sz="1350" i="1">
                        <a:solidFill>
                          <a:srgbClr val="00194C"/>
                        </a:solidFill>
                        <a:latin typeface="Cambria Math" panose="02040503050406030204" pitchFamily="18" charset="0"/>
                      </a:rPr>
                      <m:t>=1 − </m:t>
                    </m:r>
                    <m:sSup>
                      <m:sSupPr>
                        <m:ctrlPr>
                          <a:rPr lang="fr-FR" sz="1350" i="1">
                            <a:solidFill>
                              <a:srgbClr val="00194C"/>
                            </a:solidFill>
                            <a:latin typeface="Cambria Math" panose="02040503050406030204" pitchFamily="18" charset="0"/>
                          </a:rPr>
                        </m:ctrlPr>
                      </m:sSupPr>
                      <m:e>
                        <m:d>
                          <m:dPr>
                            <m:ctrlPr>
                              <a:rPr lang="fr-FR" sz="1350" i="1">
                                <a:solidFill>
                                  <a:srgbClr val="00194C"/>
                                </a:solidFill>
                                <a:latin typeface="Cambria Math" panose="02040503050406030204" pitchFamily="18" charset="0"/>
                              </a:rPr>
                            </m:ctrlPr>
                          </m:dPr>
                          <m:e>
                            <m:f>
                              <m:fPr>
                                <m:ctrlPr>
                                  <a:rPr lang="fr-FR" sz="1350" i="1">
                                    <a:solidFill>
                                      <a:srgbClr val="00194C"/>
                                    </a:solidFill>
                                    <a:latin typeface="Cambria Math" panose="02040503050406030204" pitchFamily="18" charset="0"/>
                                  </a:rPr>
                                </m:ctrlPr>
                              </m:fPr>
                              <m:num>
                                <m:r>
                                  <a:rPr lang="fr-FR" sz="1350" i="1">
                                    <a:solidFill>
                                      <a:srgbClr val="00194C"/>
                                    </a:solidFill>
                                    <a:latin typeface="Cambria Math" panose="02040503050406030204" pitchFamily="18" charset="0"/>
                                  </a:rPr>
                                  <m:t>50</m:t>
                                </m:r>
                              </m:num>
                              <m:den>
                                <m:r>
                                  <a:rPr lang="fr-FR" sz="1350" i="1">
                                    <a:solidFill>
                                      <a:srgbClr val="00194C"/>
                                    </a:solidFill>
                                    <a:latin typeface="Cambria Math" panose="02040503050406030204" pitchFamily="18" charset="0"/>
                                  </a:rPr>
                                  <m:t>150</m:t>
                                </m:r>
                              </m:den>
                            </m:f>
                          </m:e>
                        </m:d>
                      </m:e>
                      <m:sup>
                        <m:r>
                          <a:rPr lang="fr-FR" sz="1350" i="1">
                            <a:solidFill>
                              <a:srgbClr val="00194C"/>
                            </a:solidFill>
                            <a:latin typeface="Cambria Math" panose="02040503050406030204" pitchFamily="18" charset="0"/>
                          </a:rPr>
                          <m:t>2</m:t>
                        </m:r>
                      </m:sup>
                    </m:sSup>
                    <m:r>
                      <a:rPr lang="fr-FR" sz="1350" i="1">
                        <a:solidFill>
                          <a:srgbClr val="00194C"/>
                        </a:solidFill>
                        <a:latin typeface="Cambria Math" panose="02040503050406030204" pitchFamily="18" charset="0"/>
                      </a:rPr>
                      <m:t>− </m:t>
                    </m:r>
                    <m:sSup>
                      <m:sSupPr>
                        <m:ctrlPr>
                          <a:rPr lang="fr-FR" sz="1350" i="1">
                            <a:solidFill>
                              <a:srgbClr val="00194C"/>
                            </a:solidFill>
                            <a:latin typeface="Cambria Math" panose="02040503050406030204" pitchFamily="18" charset="0"/>
                          </a:rPr>
                        </m:ctrlPr>
                      </m:sSupPr>
                      <m:e>
                        <m:d>
                          <m:dPr>
                            <m:ctrlPr>
                              <a:rPr lang="fr-FR" sz="1350" i="1">
                                <a:solidFill>
                                  <a:srgbClr val="00194C"/>
                                </a:solidFill>
                                <a:latin typeface="Cambria Math" panose="02040503050406030204" pitchFamily="18" charset="0"/>
                              </a:rPr>
                            </m:ctrlPr>
                          </m:dPr>
                          <m:e>
                            <m:f>
                              <m:fPr>
                                <m:ctrlPr>
                                  <a:rPr lang="fr-FR" sz="1350" i="1">
                                    <a:solidFill>
                                      <a:srgbClr val="00194C"/>
                                    </a:solidFill>
                                    <a:latin typeface="Cambria Math" panose="02040503050406030204" pitchFamily="18" charset="0"/>
                                  </a:rPr>
                                </m:ctrlPr>
                              </m:fPr>
                              <m:num>
                                <m:r>
                                  <a:rPr lang="fr-FR" sz="1350" i="1">
                                    <a:solidFill>
                                      <a:srgbClr val="00194C"/>
                                    </a:solidFill>
                                    <a:latin typeface="Cambria Math" panose="02040503050406030204" pitchFamily="18" charset="0"/>
                                  </a:rPr>
                                  <m:t>50</m:t>
                                </m:r>
                              </m:num>
                              <m:den>
                                <m:r>
                                  <a:rPr lang="fr-FR" sz="1350" i="1">
                                    <a:solidFill>
                                      <a:srgbClr val="00194C"/>
                                    </a:solidFill>
                                    <a:latin typeface="Cambria Math" panose="02040503050406030204" pitchFamily="18" charset="0"/>
                                  </a:rPr>
                                  <m:t>150</m:t>
                                </m:r>
                              </m:den>
                            </m:f>
                          </m:e>
                        </m:d>
                      </m:e>
                      <m:sup>
                        <m:r>
                          <a:rPr lang="fr-FR" sz="1350" i="1">
                            <a:solidFill>
                              <a:srgbClr val="00194C"/>
                            </a:solidFill>
                            <a:latin typeface="Cambria Math" panose="02040503050406030204" pitchFamily="18" charset="0"/>
                          </a:rPr>
                          <m:t>2</m:t>
                        </m:r>
                      </m:sup>
                    </m:sSup>
                  </m:oMath>
                </a14:m>
                <a:r>
                  <a:rPr lang="fr-FR" sz="1350" dirty="0">
                    <a:solidFill>
                      <a:srgbClr val="00194C"/>
                    </a:solidFill>
                  </a:rPr>
                  <a:t> </a:t>
                </a:r>
                <a14:m>
                  <m:oMath xmlns:m="http://schemas.openxmlformats.org/officeDocument/2006/math">
                    <m:r>
                      <a:rPr lang="fr-FR" sz="1350" i="1">
                        <a:solidFill>
                          <a:srgbClr val="00194C"/>
                        </a:solidFill>
                        <a:latin typeface="Cambria Math" panose="02040503050406030204" pitchFamily="18" charset="0"/>
                      </a:rPr>
                      <m:t>− </m:t>
                    </m:r>
                    <m:sSup>
                      <m:sSupPr>
                        <m:ctrlPr>
                          <a:rPr lang="fr-FR" sz="1350" i="1">
                            <a:solidFill>
                              <a:srgbClr val="00194C"/>
                            </a:solidFill>
                            <a:latin typeface="Cambria Math" panose="02040503050406030204" pitchFamily="18" charset="0"/>
                          </a:rPr>
                        </m:ctrlPr>
                      </m:sSupPr>
                      <m:e>
                        <m:d>
                          <m:dPr>
                            <m:ctrlPr>
                              <a:rPr lang="fr-FR" sz="1350" i="1">
                                <a:solidFill>
                                  <a:srgbClr val="00194C"/>
                                </a:solidFill>
                                <a:latin typeface="Cambria Math" panose="02040503050406030204" pitchFamily="18" charset="0"/>
                              </a:rPr>
                            </m:ctrlPr>
                          </m:dPr>
                          <m:e>
                            <m:f>
                              <m:fPr>
                                <m:ctrlPr>
                                  <a:rPr lang="fr-FR" sz="1350" i="1">
                                    <a:solidFill>
                                      <a:srgbClr val="00194C"/>
                                    </a:solidFill>
                                    <a:latin typeface="Cambria Math" panose="02040503050406030204" pitchFamily="18" charset="0"/>
                                  </a:rPr>
                                </m:ctrlPr>
                              </m:fPr>
                              <m:num>
                                <m:r>
                                  <a:rPr lang="fr-FR" sz="1350" i="1">
                                    <a:solidFill>
                                      <a:srgbClr val="00194C"/>
                                    </a:solidFill>
                                    <a:latin typeface="Cambria Math" panose="02040503050406030204" pitchFamily="18" charset="0"/>
                                  </a:rPr>
                                  <m:t>50</m:t>
                                </m:r>
                              </m:num>
                              <m:den>
                                <m:r>
                                  <a:rPr lang="fr-FR" sz="1350" i="1">
                                    <a:solidFill>
                                      <a:srgbClr val="00194C"/>
                                    </a:solidFill>
                                    <a:latin typeface="Cambria Math" panose="02040503050406030204" pitchFamily="18" charset="0"/>
                                  </a:rPr>
                                  <m:t>150</m:t>
                                </m:r>
                              </m:den>
                            </m:f>
                          </m:e>
                        </m:d>
                      </m:e>
                      <m:sup>
                        <m:r>
                          <a:rPr lang="fr-FR" sz="1350" i="1">
                            <a:solidFill>
                              <a:srgbClr val="00194C"/>
                            </a:solidFill>
                            <a:latin typeface="Cambria Math" panose="02040503050406030204" pitchFamily="18" charset="0"/>
                          </a:rPr>
                          <m:t>2</m:t>
                        </m:r>
                      </m:sup>
                    </m:sSup>
                  </m:oMath>
                </a14:m>
                <a:r>
                  <a:rPr lang="fr-FR" sz="1350" dirty="0">
                    <a:solidFill>
                      <a:srgbClr val="00194C"/>
                    </a:solidFill>
                  </a:rPr>
                  <a:t>= 0.667</a:t>
                </a:r>
              </a:p>
            </p:txBody>
          </p:sp>
        </mc:Choice>
        <mc:Fallback xmlns="">
          <p:sp>
            <p:nvSpPr>
              <p:cNvPr id="5" name="ZoneTexte 4">
                <a:extLst>
                  <a:ext uri="{FF2B5EF4-FFF2-40B4-BE49-F238E27FC236}">
                    <a16:creationId xmlns:a16="http://schemas.microsoft.com/office/drawing/2014/main" id="{C7922BDA-2C5E-4359-86A8-FB5B8FBB11F0}"/>
                  </a:ext>
                </a:extLst>
              </p:cNvPr>
              <p:cNvSpPr txBox="1">
                <a:spLocks noRot="1" noChangeAspect="1" noMove="1" noResize="1" noEditPoints="1" noAdjustHandles="1" noChangeArrowheads="1" noChangeShapeType="1" noTextEdit="1"/>
              </p:cNvSpPr>
              <p:nvPr/>
            </p:nvSpPr>
            <p:spPr>
              <a:xfrm>
                <a:off x="2064398" y="3806890"/>
                <a:ext cx="4100804" cy="444289"/>
              </a:xfrm>
              <a:prstGeom prst="rect">
                <a:avLst/>
              </a:prstGeom>
              <a:blipFill>
                <a:blip r:embed="rId6"/>
                <a:stretch>
                  <a:fillRect b="-1370"/>
                </a:stretch>
              </a:blipFill>
            </p:spPr>
            <p:txBody>
              <a:bodyPr/>
              <a:lstStyle/>
              <a:p>
                <a:r>
                  <a:rPr lang="fr-FR">
                    <a:noFill/>
                  </a:rPr>
                  <a:t> </a:t>
                </a:r>
              </a:p>
            </p:txBody>
          </p:sp>
        </mc:Fallback>
      </mc:AlternateContent>
    </p:spTree>
    <p:extLst>
      <p:ext uri="{BB962C8B-B14F-4D97-AF65-F5344CB8AC3E}">
        <p14:creationId xmlns:p14="http://schemas.microsoft.com/office/powerpoint/2010/main" val="159388423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138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 </a:t>
            </a:r>
            <a:r>
              <a:rPr lang="fr-FR" sz="2100" b="0" dirty="0"/>
              <a:t>pureté de l’arbre, GINI</a:t>
            </a:r>
          </a:p>
        </p:txBody>
      </p:sp>
      <p:grpSp>
        <p:nvGrpSpPr>
          <p:cNvPr id="7" name="Groupe 6">
            <a:extLst>
              <a:ext uri="{FF2B5EF4-FFF2-40B4-BE49-F238E27FC236}">
                <a16:creationId xmlns:a16="http://schemas.microsoft.com/office/drawing/2014/main" id="{9F8FB54E-9511-4D0B-BEAE-F1507DCD1D2D}"/>
              </a:ext>
            </a:extLst>
          </p:cNvPr>
          <p:cNvGrpSpPr/>
          <p:nvPr/>
        </p:nvGrpSpPr>
        <p:grpSpPr>
          <a:xfrm>
            <a:off x="1276448" y="1272855"/>
            <a:ext cx="4599470" cy="1894111"/>
            <a:chOff x="4023711" y="4162038"/>
            <a:chExt cx="6132627" cy="2525481"/>
          </a:xfrm>
        </p:grpSpPr>
        <p:sp>
          <p:nvSpPr>
            <p:cNvPr id="8" name="Rectangle 7">
              <a:extLst>
                <a:ext uri="{FF2B5EF4-FFF2-40B4-BE49-F238E27FC236}">
                  <a16:creationId xmlns:a16="http://schemas.microsoft.com/office/drawing/2014/main" id="{C4504155-930F-49E6-939D-67B60C0040AD}"/>
                </a:ext>
              </a:extLst>
            </p:cNvPr>
            <p:cNvSpPr/>
            <p:nvPr/>
          </p:nvSpPr>
          <p:spPr>
            <a:xfrm>
              <a:off x="6096000" y="4162038"/>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[50, 50, 50]</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D01C5421-1321-43D7-B2EE-2DBA7F96AB35}"/>
                    </a:ext>
                  </a:extLst>
                </p:cNvPr>
                <p:cNvSpPr/>
                <p:nvPr/>
              </p:nvSpPr>
              <p:spPr>
                <a:xfrm>
                  <a:off x="6095999" y="4497303"/>
                  <a:ext cx="1454400"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sz="600" dirty="0">
                      <a:solidFill>
                        <a:schemeClr val="tx1">
                          <a:lumMod val="50000"/>
                        </a:schemeClr>
                      </a:solidFill>
                    </a:rPr>
                    <a:t>Longueur des sépales </a:t>
                  </a:r>
                  <a14:m>
                    <m:oMath xmlns:m="http://schemas.openxmlformats.org/officeDocument/2006/math">
                      <m:r>
                        <a:rPr lang="fr-FR" sz="600" i="1">
                          <a:solidFill>
                            <a:schemeClr val="tx1">
                              <a:lumMod val="50000"/>
                            </a:schemeClr>
                          </a:solidFill>
                          <a:latin typeface="Cambria Math" panose="02040503050406030204" pitchFamily="18" charset="0"/>
                          <a:ea typeface="Cambria Math" panose="02040503050406030204" pitchFamily="18" charset="0"/>
                        </a:rPr>
                        <m:t>≤0.6</m:t>
                      </m:r>
                    </m:oMath>
                  </a14:m>
                  <a:endParaRPr lang="fr-FR" sz="600" i="1" dirty="0">
                    <a:solidFill>
                      <a:schemeClr val="tx1">
                        <a:lumMod val="50000"/>
                      </a:schemeClr>
                    </a:solidFill>
                  </a:endParaRPr>
                </a:p>
              </p:txBody>
            </p:sp>
          </mc:Choice>
          <mc:Fallback xmlns="">
            <p:sp>
              <p:nvSpPr>
                <p:cNvPr id="9" name="Rectangle 8">
                  <a:extLst>
                    <a:ext uri="{FF2B5EF4-FFF2-40B4-BE49-F238E27FC236}">
                      <a16:creationId xmlns:a16="http://schemas.microsoft.com/office/drawing/2014/main" id="{D01C5421-1321-43D7-B2EE-2DBA7F96AB35}"/>
                    </a:ext>
                  </a:extLst>
                </p:cNvPr>
                <p:cNvSpPr>
                  <a:spLocks noRot="1" noChangeAspect="1" noMove="1" noResize="1" noEditPoints="1" noAdjustHandles="1" noChangeArrowheads="1" noChangeShapeType="1" noTextEdit="1"/>
                </p:cNvSpPr>
                <p:nvPr/>
              </p:nvSpPr>
              <p:spPr>
                <a:xfrm>
                  <a:off x="6095999" y="4497303"/>
                  <a:ext cx="1454400" cy="216000"/>
                </a:xfrm>
                <a:prstGeom prst="rect">
                  <a:avLst/>
                </a:prstGeom>
                <a:blipFill>
                  <a:blip r:embed="rId4"/>
                  <a:stretch>
                    <a:fillRect b="-7895"/>
                  </a:stretch>
                </a:blipFill>
                <a:ln>
                  <a:solidFill>
                    <a:schemeClr val="tx1">
                      <a:lumMod val="75000"/>
                    </a:schemeClr>
                  </a:solidFill>
                  <a:headEnd type="none" w="med" len="med"/>
                  <a:tailEnd type="none" w="med" len="me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7F6C8F34-2980-41F0-A009-40B6E892B023}"/>
                    </a:ext>
                  </a:extLst>
                </p:cNvPr>
                <p:cNvSpPr/>
                <p:nvPr/>
              </p:nvSpPr>
              <p:spPr>
                <a:xfrm>
                  <a:off x="7228424" y="5416844"/>
                  <a:ext cx="1454400"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600" dirty="0">
                      <a:solidFill>
                        <a:schemeClr val="tx1">
                          <a:lumMod val="50000"/>
                        </a:schemeClr>
                      </a:solidFill>
                    </a:rPr>
                    <a:t>Longueur des pétales </a:t>
                  </a:r>
                  <a14:m>
                    <m:oMath xmlns:m="http://schemas.openxmlformats.org/officeDocument/2006/math">
                      <m:r>
                        <a:rPr lang="fr-FR" sz="600">
                          <a:solidFill>
                            <a:schemeClr val="tx1">
                              <a:lumMod val="50000"/>
                            </a:schemeClr>
                          </a:solidFill>
                          <a:latin typeface="Cambria Math" panose="02040503050406030204" pitchFamily="18" charset="0"/>
                        </a:rPr>
                        <m:t>&gt;0.5</m:t>
                      </m:r>
                    </m:oMath>
                  </a14:m>
                  <a:endParaRPr lang="fr-FR" sz="600" dirty="0">
                    <a:solidFill>
                      <a:schemeClr val="tx1">
                        <a:lumMod val="50000"/>
                      </a:schemeClr>
                    </a:solidFill>
                  </a:endParaRPr>
                </a:p>
              </p:txBody>
            </p:sp>
          </mc:Choice>
          <mc:Fallback xmlns="">
            <p:sp>
              <p:nvSpPr>
                <p:cNvPr id="11" name="Rectangle 10">
                  <a:extLst>
                    <a:ext uri="{FF2B5EF4-FFF2-40B4-BE49-F238E27FC236}">
                      <a16:creationId xmlns:a16="http://schemas.microsoft.com/office/drawing/2014/main" id="{7F6C8F34-2980-41F0-A009-40B6E892B023}"/>
                    </a:ext>
                  </a:extLst>
                </p:cNvPr>
                <p:cNvSpPr>
                  <a:spLocks noRot="1" noChangeAspect="1" noMove="1" noResize="1" noEditPoints="1" noAdjustHandles="1" noChangeArrowheads="1" noChangeShapeType="1" noTextEdit="1"/>
                </p:cNvSpPr>
                <p:nvPr/>
              </p:nvSpPr>
              <p:spPr>
                <a:xfrm>
                  <a:off x="7228424" y="5416844"/>
                  <a:ext cx="1454400" cy="216000"/>
                </a:xfrm>
                <a:prstGeom prst="rect">
                  <a:avLst/>
                </a:prstGeom>
                <a:blipFill>
                  <a:blip r:embed="rId5"/>
                  <a:stretch>
                    <a:fillRect b="-5263"/>
                  </a:stretch>
                </a:blipFill>
                <a:ln>
                  <a:solidFill>
                    <a:schemeClr val="tx1">
                      <a:lumMod val="75000"/>
                    </a:schemeClr>
                  </a:solidFill>
                  <a:headEnd type="none" w="med" len="med"/>
                  <a:tailEnd type="none" w="med" len="med"/>
                </a:ln>
              </p:spPr>
              <p:txBody>
                <a:bodyPr/>
                <a:lstStyle/>
                <a:p>
                  <a:r>
                    <a:rPr lang="fr-FR">
                      <a:noFill/>
                    </a:rPr>
                    <a:t> </a:t>
                  </a:r>
                </a:p>
              </p:txBody>
            </p:sp>
          </mc:Fallback>
        </mc:AlternateContent>
        <p:sp>
          <p:nvSpPr>
            <p:cNvPr id="12" name="Rectangle 11">
              <a:extLst>
                <a:ext uri="{FF2B5EF4-FFF2-40B4-BE49-F238E27FC236}">
                  <a16:creationId xmlns:a16="http://schemas.microsoft.com/office/drawing/2014/main" id="{FB889F44-80D0-4960-A738-298152FBE6B7}"/>
                </a:ext>
              </a:extLst>
            </p:cNvPr>
            <p:cNvSpPr/>
            <p:nvPr/>
          </p:nvSpPr>
          <p:spPr>
            <a:xfrm>
              <a:off x="5302195" y="5081579"/>
              <a:ext cx="1454399" cy="338554"/>
            </a:xfrm>
            <a:prstGeom prst="rect">
              <a:avLst/>
            </a:prstGeom>
            <a:noFill/>
            <a:ln w="3810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solidFill>
                    <a:srgbClr val="2D2183"/>
                  </a:solidFill>
                </a:rPr>
                <a:t>Pop. = [50, 0, 0]</a:t>
              </a:r>
            </a:p>
          </p:txBody>
        </p:sp>
        <p:sp>
          <p:nvSpPr>
            <p:cNvPr id="13" name="Rectangle 12">
              <a:extLst>
                <a:ext uri="{FF2B5EF4-FFF2-40B4-BE49-F238E27FC236}">
                  <a16:creationId xmlns:a16="http://schemas.microsoft.com/office/drawing/2014/main" id="{D51C882F-F89B-467D-BACA-53D83D455D5B}"/>
                </a:ext>
              </a:extLst>
            </p:cNvPr>
            <p:cNvSpPr/>
            <p:nvPr/>
          </p:nvSpPr>
          <p:spPr>
            <a:xfrm>
              <a:off x="7228424" y="6108749"/>
              <a:ext cx="1454399" cy="338554"/>
            </a:xfrm>
            <a:prstGeom prst="rect">
              <a:avLst/>
            </a:prstGeom>
            <a:noFill/>
            <a:ln w="38100" cap="flat" cmpd="sng" algn="ctr">
              <a:solidFill>
                <a:srgbClr val="9B9049"/>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1, 45]</a:t>
              </a:r>
            </a:p>
          </p:txBody>
        </p:sp>
        <p:sp>
          <p:nvSpPr>
            <p:cNvPr id="15" name="Rectangle 14">
              <a:extLst>
                <a:ext uri="{FF2B5EF4-FFF2-40B4-BE49-F238E27FC236}">
                  <a16:creationId xmlns:a16="http://schemas.microsoft.com/office/drawing/2014/main" id="{DA7AAC70-1450-4B44-B8CD-D866195625BB}"/>
                </a:ext>
              </a:extLst>
            </p:cNvPr>
            <p:cNvSpPr/>
            <p:nvPr/>
          </p:nvSpPr>
          <p:spPr>
            <a:xfrm>
              <a:off x="5298580" y="6129863"/>
              <a:ext cx="1454399" cy="338554"/>
            </a:xfrm>
            <a:prstGeom prst="rect">
              <a:avLst/>
            </a:prstGeom>
            <a:noFill/>
            <a:ln w="38100" cap="flat" cmpd="sng" algn="ctr">
              <a:solidFill>
                <a:srgbClr val="85B897"/>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49, 5]</a:t>
              </a:r>
            </a:p>
          </p:txBody>
        </p:sp>
        <p:cxnSp>
          <p:nvCxnSpPr>
            <p:cNvPr id="16" name="Connecteur droit 15">
              <a:extLst>
                <a:ext uri="{FF2B5EF4-FFF2-40B4-BE49-F238E27FC236}">
                  <a16:creationId xmlns:a16="http://schemas.microsoft.com/office/drawing/2014/main" id="{2EB4E820-971B-4FD0-A750-DE18789E6D23}"/>
                </a:ext>
              </a:extLst>
            </p:cNvPr>
            <p:cNvCxnSpPr>
              <a:cxnSpLocks/>
              <a:stCxn id="12" idx="0"/>
              <a:endCxn id="9" idx="2"/>
            </p:cNvCxnSpPr>
            <p:nvPr/>
          </p:nvCxnSpPr>
          <p:spPr>
            <a:xfrm flipV="1">
              <a:off x="6029395" y="4713303"/>
              <a:ext cx="793804" cy="3682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3C5D9F46-2032-4063-8BCC-47C4A8B71158}"/>
                </a:ext>
              </a:extLst>
            </p:cNvPr>
            <p:cNvCxnSpPr>
              <a:cxnSpLocks/>
              <a:stCxn id="15" idx="0"/>
              <a:endCxn id="11" idx="2"/>
            </p:cNvCxnSpPr>
            <p:nvPr/>
          </p:nvCxnSpPr>
          <p:spPr>
            <a:xfrm flipV="1">
              <a:off x="6025780" y="5632844"/>
              <a:ext cx="1929844" cy="4970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08407C13-2067-4AFD-9411-7FDC20A2BEF5}"/>
                </a:ext>
              </a:extLst>
            </p:cNvPr>
            <p:cNvCxnSpPr>
              <a:cxnSpLocks/>
              <a:stCxn id="13" idx="0"/>
              <a:endCxn id="11" idx="2"/>
            </p:cNvCxnSpPr>
            <p:nvPr/>
          </p:nvCxnSpPr>
          <p:spPr>
            <a:xfrm flipV="1">
              <a:off x="7955624" y="5632844"/>
              <a:ext cx="0" cy="4759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D28F92E5-5CD5-4496-8AF5-385EB149A060}"/>
                </a:ext>
              </a:extLst>
            </p:cNvPr>
            <p:cNvCxnSpPr>
              <a:cxnSpLocks/>
              <a:stCxn id="10" idx="0"/>
              <a:endCxn id="9" idx="2"/>
            </p:cNvCxnSpPr>
            <p:nvPr/>
          </p:nvCxnSpPr>
          <p:spPr>
            <a:xfrm flipH="1" flipV="1">
              <a:off x="6823199" y="4713303"/>
              <a:ext cx="1132426" cy="368276"/>
            </a:xfrm>
            <a:prstGeom prst="line">
              <a:avLst/>
            </a:prstGeom>
          </p:spPr>
          <p:style>
            <a:lnRef idx="1">
              <a:schemeClr val="accent1"/>
            </a:lnRef>
            <a:fillRef idx="0">
              <a:schemeClr val="accent1"/>
            </a:fillRef>
            <a:effectRef idx="0">
              <a:schemeClr val="accent1"/>
            </a:effectRef>
            <a:fontRef idx="minor">
              <a:schemeClr val="tx1"/>
            </a:fontRef>
          </p:style>
        </p:cxnSp>
        <p:sp>
          <p:nvSpPr>
            <p:cNvPr id="20" name="Légende : flèche courbée 19">
              <a:extLst>
                <a:ext uri="{FF2B5EF4-FFF2-40B4-BE49-F238E27FC236}">
                  <a16:creationId xmlns:a16="http://schemas.microsoft.com/office/drawing/2014/main" id="{02924561-7E76-4D80-84C1-1D601BC25B6C}"/>
                </a:ext>
              </a:extLst>
            </p:cNvPr>
            <p:cNvSpPr/>
            <p:nvPr/>
          </p:nvSpPr>
          <p:spPr>
            <a:xfrm>
              <a:off x="9233029" y="6468417"/>
              <a:ext cx="923309" cy="219102"/>
            </a:xfrm>
            <a:prstGeom prst="borderCallout2">
              <a:avLst>
                <a:gd name="adj1" fmla="val 18750"/>
                <a:gd name="adj2" fmla="val -8333"/>
                <a:gd name="adj3" fmla="val 18750"/>
                <a:gd name="adj4" fmla="val -16667"/>
                <a:gd name="adj5" fmla="val -50806"/>
                <a:gd name="adj6" fmla="val -5441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virginica</a:t>
              </a:r>
            </a:p>
          </p:txBody>
        </p:sp>
        <p:sp>
          <p:nvSpPr>
            <p:cNvPr id="22" name="Légende : flèche courbée 21">
              <a:extLst>
                <a:ext uri="{FF2B5EF4-FFF2-40B4-BE49-F238E27FC236}">
                  <a16:creationId xmlns:a16="http://schemas.microsoft.com/office/drawing/2014/main" id="{D234E9CD-98DF-4D8B-823D-05C225B4274C}"/>
                </a:ext>
              </a:extLst>
            </p:cNvPr>
            <p:cNvSpPr/>
            <p:nvPr/>
          </p:nvSpPr>
          <p:spPr>
            <a:xfrm>
              <a:off x="4709768" y="5552701"/>
              <a:ext cx="824117" cy="219102"/>
            </a:xfrm>
            <a:prstGeom prst="borderCallout2">
              <a:avLst>
                <a:gd name="adj1" fmla="val 29637"/>
                <a:gd name="adj2" fmla="val 106236"/>
                <a:gd name="adj3" fmla="val 29637"/>
                <a:gd name="adj4" fmla="val 116446"/>
                <a:gd name="adj5" fmla="val -36291"/>
                <a:gd name="adj6" fmla="val 13288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setosa</a:t>
              </a:r>
            </a:p>
          </p:txBody>
        </p:sp>
        <p:sp>
          <p:nvSpPr>
            <p:cNvPr id="23" name="Légende : flèche courbée 22">
              <a:extLst>
                <a:ext uri="{FF2B5EF4-FFF2-40B4-BE49-F238E27FC236}">
                  <a16:creationId xmlns:a16="http://schemas.microsoft.com/office/drawing/2014/main" id="{0C487599-0678-4C35-9A47-88050C92A37D}"/>
                </a:ext>
              </a:extLst>
            </p:cNvPr>
            <p:cNvSpPr/>
            <p:nvPr/>
          </p:nvSpPr>
          <p:spPr>
            <a:xfrm>
              <a:off x="9061216" y="5552701"/>
              <a:ext cx="923309" cy="475904"/>
            </a:xfrm>
            <a:prstGeom prst="borderCallout2">
              <a:avLst>
                <a:gd name="adj1" fmla="val 18750"/>
                <a:gd name="adj2" fmla="val -8333"/>
                <a:gd name="adj3" fmla="val 18750"/>
                <a:gd name="adj4" fmla="val -16667"/>
                <a:gd name="adj5" fmla="val -37152"/>
                <a:gd name="adj6" fmla="val -3771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Virginica,</a:t>
              </a:r>
            </a:p>
            <a:p>
              <a:pPr algn="ctr"/>
              <a:r>
                <a:rPr lang="fr-FR" sz="1050" dirty="0"/>
                <a:t>versicolor</a:t>
              </a:r>
            </a:p>
          </p:txBody>
        </p:sp>
        <p:sp>
          <p:nvSpPr>
            <p:cNvPr id="24" name="Légende : flèche courbée 23">
              <a:extLst>
                <a:ext uri="{FF2B5EF4-FFF2-40B4-BE49-F238E27FC236}">
                  <a16:creationId xmlns:a16="http://schemas.microsoft.com/office/drawing/2014/main" id="{B0C61903-BC2B-4E6E-B889-1701BE50430C}"/>
                </a:ext>
              </a:extLst>
            </p:cNvPr>
            <p:cNvSpPr/>
            <p:nvPr/>
          </p:nvSpPr>
          <p:spPr>
            <a:xfrm>
              <a:off x="4023711" y="6376140"/>
              <a:ext cx="923308" cy="219102"/>
            </a:xfrm>
            <a:prstGeom prst="borderCallout2">
              <a:avLst>
                <a:gd name="adj1" fmla="val 29637"/>
                <a:gd name="adj2" fmla="val 106236"/>
                <a:gd name="adj3" fmla="val 29637"/>
                <a:gd name="adj4" fmla="val 116446"/>
                <a:gd name="adj5" fmla="val -36291"/>
                <a:gd name="adj6" fmla="val 13288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versicolor</a:t>
              </a:r>
            </a:p>
          </p:txBody>
        </p:sp>
        <p:sp>
          <p:nvSpPr>
            <p:cNvPr id="10" name="Rectangle 9">
              <a:extLst>
                <a:ext uri="{FF2B5EF4-FFF2-40B4-BE49-F238E27FC236}">
                  <a16:creationId xmlns:a16="http://schemas.microsoft.com/office/drawing/2014/main" id="{C59078DD-852C-4E37-B732-111538C00C82}"/>
                </a:ext>
              </a:extLst>
            </p:cNvPr>
            <p:cNvSpPr/>
            <p:nvPr/>
          </p:nvSpPr>
          <p:spPr>
            <a:xfrm>
              <a:off x="7228425" y="5081579"/>
              <a:ext cx="1454399" cy="338554"/>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50, 50]</a:t>
              </a:r>
            </a:p>
          </p:txBody>
        </p:sp>
      </p:gr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C7922BDA-2C5E-4359-86A8-FB5B8FBB11F0}"/>
                  </a:ext>
                </a:extLst>
              </p:cNvPr>
              <p:cNvSpPr txBox="1"/>
              <p:nvPr/>
            </p:nvSpPr>
            <p:spPr>
              <a:xfrm>
                <a:off x="2064398" y="3806890"/>
                <a:ext cx="4100804" cy="444289"/>
              </a:xfrm>
              <a:prstGeom prst="rect">
                <a:avLst/>
              </a:prstGeom>
              <a:noFill/>
            </p:spPr>
            <p:txBody>
              <a:bodyPr wrap="square" rtlCol="0">
                <a:spAutoFit/>
              </a:bodyPr>
              <a:lstStyle/>
              <a:p>
                <a14:m>
                  <m:oMath xmlns:m="http://schemas.openxmlformats.org/officeDocument/2006/math">
                    <m:r>
                      <a:rPr lang="fr-FR" sz="1350" i="1" smtClean="0">
                        <a:solidFill>
                          <a:srgbClr val="2D2183"/>
                        </a:solidFill>
                        <a:latin typeface="Cambria Math" panose="02040503050406030204" pitchFamily="18" charset="0"/>
                      </a:rPr>
                      <m:t>𝑔𝑖𝑛𝑖</m:t>
                    </m:r>
                    <m:r>
                      <a:rPr lang="fr-FR" sz="1350" i="1" smtClean="0">
                        <a:solidFill>
                          <a:srgbClr val="2D2183"/>
                        </a:solidFill>
                        <a:latin typeface="Cambria Math" panose="02040503050406030204" pitchFamily="18" charset="0"/>
                      </a:rPr>
                      <m:t>=1 − </m:t>
                    </m:r>
                    <m:sSup>
                      <m:sSupPr>
                        <m:ctrlPr>
                          <a:rPr lang="fr-FR" sz="1350" i="1">
                            <a:solidFill>
                              <a:srgbClr val="2D2183"/>
                            </a:solidFill>
                            <a:latin typeface="Cambria Math" panose="02040503050406030204" pitchFamily="18" charset="0"/>
                          </a:rPr>
                        </m:ctrlPr>
                      </m:sSupPr>
                      <m:e>
                        <m:d>
                          <m:dPr>
                            <m:ctrlPr>
                              <a:rPr lang="fr-FR" sz="1350" i="1">
                                <a:solidFill>
                                  <a:srgbClr val="2D2183"/>
                                </a:solidFill>
                                <a:latin typeface="Cambria Math" panose="02040503050406030204" pitchFamily="18" charset="0"/>
                              </a:rPr>
                            </m:ctrlPr>
                          </m:dPr>
                          <m:e>
                            <m:f>
                              <m:fPr>
                                <m:ctrlPr>
                                  <a:rPr lang="fr-FR" sz="1350" i="1">
                                    <a:solidFill>
                                      <a:srgbClr val="2D2183"/>
                                    </a:solidFill>
                                    <a:latin typeface="Cambria Math" panose="02040503050406030204" pitchFamily="18" charset="0"/>
                                  </a:rPr>
                                </m:ctrlPr>
                              </m:fPr>
                              <m:num>
                                <m:r>
                                  <a:rPr lang="fr-FR" sz="1350" i="1">
                                    <a:solidFill>
                                      <a:srgbClr val="2D2183"/>
                                    </a:solidFill>
                                    <a:latin typeface="Cambria Math" panose="02040503050406030204" pitchFamily="18" charset="0"/>
                                  </a:rPr>
                                  <m:t>50</m:t>
                                </m:r>
                              </m:num>
                              <m:den>
                                <m:r>
                                  <a:rPr lang="fr-FR" sz="1350" i="1">
                                    <a:solidFill>
                                      <a:srgbClr val="2D2183"/>
                                    </a:solidFill>
                                    <a:latin typeface="Cambria Math" panose="02040503050406030204" pitchFamily="18" charset="0"/>
                                  </a:rPr>
                                  <m:t>50</m:t>
                                </m:r>
                              </m:den>
                            </m:f>
                          </m:e>
                        </m:d>
                      </m:e>
                      <m:sup>
                        <m:r>
                          <a:rPr lang="fr-FR" sz="1350" i="1">
                            <a:solidFill>
                              <a:srgbClr val="2D2183"/>
                            </a:solidFill>
                            <a:latin typeface="Cambria Math" panose="02040503050406030204" pitchFamily="18" charset="0"/>
                          </a:rPr>
                          <m:t>2</m:t>
                        </m:r>
                      </m:sup>
                    </m:sSup>
                    <m:r>
                      <a:rPr lang="fr-FR" sz="1350" i="1">
                        <a:solidFill>
                          <a:srgbClr val="2D2183"/>
                        </a:solidFill>
                        <a:latin typeface="Cambria Math" panose="02040503050406030204" pitchFamily="18" charset="0"/>
                      </a:rPr>
                      <m:t>− </m:t>
                    </m:r>
                    <m:sSup>
                      <m:sSupPr>
                        <m:ctrlPr>
                          <a:rPr lang="fr-FR" sz="1350" i="1">
                            <a:solidFill>
                              <a:srgbClr val="2D2183"/>
                            </a:solidFill>
                            <a:latin typeface="Cambria Math" panose="02040503050406030204" pitchFamily="18" charset="0"/>
                          </a:rPr>
                        </m:ctrlPr>
                      </m:sSupPr>
                      <m:e>
                        <m:d>
                          <m:dPr>
                            <m:ctrlPr>
                              <a:rPr lang="fr-FR" sz="1350" i="1">
                                <a:solidFill>
                                  <a:srgbClr val="2D2183"/>
                                </a:solidFill>
                                <a:latin typeface="Cambria Math" panose="02040503050406030204" pitchFamily="18" charset="0"/>
                              </a:rPr>
                            </m:ctrlPr>
                          </m:dPr>
                          <m:e>
                            <m:f>
                              <m:fPr>
                                <m:ctrlPr>
                                  <a:rPr lang="fr-FR" sz="1350" i="1">
                                    <a:solidFill>
                                      <a:srgbClr val="2D2183"/>
                                    </a:solidFill>
                                    <a:latin typeface="Cambria Math" panose="02040503050406030204" pitchFamily="18" charset="0"/>
                                  </a:rPr>
                                </m:ctrlPr>
                              </m:fPr>
                              <m:num>
                                <m:r>
                                  <a:rPr lang="fr-FR" sz="1350" i="1">
                                    <a:solidFill>
                                      <a:srgbClr val="2D2183"/>
                                    </a:solidFill>
                                    <a:latin typeface="Cambria Math" panose="02040503050406030204" pitchFamily="18" charset="0"/>
                                  </a:rPr>
                                  <m:t>0</m:t>
                                </m:r>
                              </m:num>
                              <m:den>
                                <m:r>
                                  <a:rPr lang="fr-FR" sz="1350" i="1">
                                    <a:solidFill>
                                      <a:srgbClr val="2D2183"/>
                                    </a:solidFill>
                                    <a:latin typeface="Cambria Math" panose="02040503050406030204" pitchFamily="18" charset="0"/>
                                  </a:rPr>
                                  <m:t>50</m:t>
                                </m:r>
                              </m:den>
                            </m:f>
                          </m:e>
                        </m:d>
                      </m:e>
                      <m:sup>
                        <m:r>
                          <a:rPr lang="fr-FR" sz="1350" i="1">
                            <a:solidFill>
                              <a:srgbClr val="2D2183"/>
                            </a:solidFill>
                            <a:latin typeface="Cambria Math" panose="02040503050406030204" pitchFamily="18" charset="0"/>
                          </a:rPr>
                          <m:t>2</m:t>
                        </m:r>
                      </m:sup>
                    </m:sSup>
                  </m:oMath>
                </a14:m>
                <a:r>
                  <a:rPr lang="fr-FR" sz="1350" dirty="0">
                    <a:solidFill>
                      <a:srgbClr val="2D2183"/>
                    </a:solidFill>
                  </a:rPr>
                  <a:t> </a:t>
                </a:r>
                <a14:m>
                  <m:oMath xmlns:m="http://schemas.openxmlformats.org/officeDocument/2006/math">
                    <m:r>
                      <a:rPr lang="fr-FR" sz="1350" i="1">
                        <a:solidFill>
                          <a:srgbClr val="2D2183"/>
                        </a:solidFill>
                        <a:latin typeface="Cambria Math" panose="02040503050406030204" pitchFamily="18" charset="0"/>
                      </a:rPr>
                      <m:t>− </m:t>
                    </m:r>
                    <m:sSup>
                      <m:sSupPr>
                        <m:ctrlPr>
                          <a:rPr lang="fr-FR" sz="1350" i="1">
                            <a:solidFill>
                              <a:srgbClr val="2D2183"/>
                            </a:solidFill>
                            <a:latin typeface="Cambria Math" panose="02040503050406030204" pitchFamily="18" charset="0"/>
                          </a:rPr>
                        </m:ctrlPr>
                      </m:sSupPr>
                      <m:e>
                        <m:d>
                          <m:dPr>
                            <m:ctrlPr>
                              <a:rPr lang="fr-FR" sz="1350" i="1">
                                <a:solidFill>
                                  <a:srgbClr val="2D2183"/>
                                </a:solidFill>
                                <a:latin typeface="Cambria Math" panose="02040503050406030204" pitchFamily="18" charset="0"/>
                              </a:rPr>
                            </m:ctrlPr>
                          </m:dPr>
                          <m:e>
                            <m:f>
                              <m:fPr>
                                <m:ctrlPr>
                                  <a:rPr lang="fr-FR" sz="1350" i="1">
                                    <a:solidFill>
                                      <a:srgbClr val="2D2183"/>
                                    </a:solidFill>
                                    <a:latin typeface="Cambria Math" panose="02040503050406030204" pitchFamily="18" charset="0"/>
                                  </a:rPr>
                                </m:ctrlPr>
                              </m:fPr>
                              <m:num>
                                <m:r>
                                  <a:rPr lang="fr-FR" sz="1350" i="1">
                                    <a:solidFill>
                                      <a:srgbClr val="2D2183"/>
                                    </a:solidFill>
                                    <a:latin typeface="Cambria Math" panose="02040503050406030204" pitchFamily="18" charset="0"/>
                                  </a:rPr>
                                  <m:t>0</m:t>
                                </m:r>
                              </m:num>
                              <m:den>
                                <m:r>
                                  <a:rPr lang="fr-FR" sz="1350" i="1">
                                    <a:solidFill>
                                      <a:srgbClr val="2D2183"/>
                                    </a:solidFill>
                                    <a:latin typeface="Cambria Math" panose="02040503050406030204" pitchFamily="18" charset="0"/>
                                  </a:rPr>
                                  <m:t>50</m:t>
                                </m:r>
                              </m:den>
                            </m:f>
                          </m:e>
                        </m:d>
                      </m:e>
                      <m:sup>
                        <m:r>
                          <a:rPr lang="fr-FR" sz="1350" i="1">
                            <a:solidFill>
                              <a:srgbClr val="2D2183"/>
                            </a:solidFill>
                            <a:latin typeface="Cambria Math" panose="02040503050406030204" pitchFamily="18" charset="0"/>
                          </a:rPr>
                          <m:t>2</m:t>
                        </m:r>
                      </m:sup>
                    </m:sSup>
                  </m:oMath>
                </a14:m>
                <a:r>
                  <a:rPr lang="fr-FR" sz="1350" dirty="0">
                    <a:solidFill>
                      <a:srgbClr val="2D2183"/>
                    </a:solidFill>
                  </a:rPr>
                  <a:t>= 0</a:t>
                </a:r>
              </a:p>
            </p:txBody>
          </p:sp>
        </mc:Choice>
        <mc:Fallback xmlns="">
          <p:sp>
            <p:nvSpPr>
              <p:cNvPr id="5" name="ZoneTexte 4">
                <a:extLst>
                  <a:ext uri="{FF2B5EF4-FFF2-40B4-BE49-F238E27FC236}">
                    <a16:creationId xmlns:a16="http://schemas.microsoft.com/office/drawing/2014/main" id="{C7922BDA-2C5E-4359-86A8-FB5B8FBB11F0}"/>
                  </a:ext>
                </a:extLst>
              </p:cNvPr>
              <p:cNvSpPr txBox="1">
                <a:spLocks noRot="1" noChangeAspect="1" noMove="1" noResize="1" noEditPoints="1" noAdjustHandles="1" noChangeArrowheads="1" noChangeShapeType="1" noTextEdit="1"/>
              </p:cNvSpPr>
              <p:nvPr/>
            </p:nvSpPr>
            <p:spPr>
              <a:xfrm>
                <a:off x="2064398" y="3806890"/>
                <a:ext cx="4100804" cy="444289"/>
              </a:xfrm>
              <a:prstGeom prst="rect">
                <a:avLst/>
              </a:prstGeom>
              <a:blipFill>
                <a:blip r:embed="rId6"/>
                <a:stretch>
                  <a:fillRect b="-1370"/>
                </a:stretch>
              </a:blipFill>
            </p:spPr>
            <p:txBody>
              <a:bodyPr/>
              <a:lstStyle/>
              <a:p>
                <a:r>
                  <a:rPr lang="fr-FR">
                    <a:noFill/>
                  </a:rPr>
                  <a:t> </a:t>
                </a:r>
              </a:p>
            </p:txBody>
          </p:sp>
        </mc:Fallback>
      </mc:AlternateContent>
      <p:sp>
        <p:nvSpPr>
          <p:cNvPr id="26" name="Forme libre : forme 25">
            <a:extLst>
              <a:ext uri="{FF2B5EF4-FFF2-40B4-BE49-F238E27FC236}">
                <a16:creationId xmlns:a16="http://schemas.microsoft.com/office/drawing/2014/main" id="{885DDFE8-87C3-4D1E-96C0-4651D0177F9A}"/>
              </a:ext>
            </a:extLst>
          </p:cNvPr>
          <p:cNvSpPr/>
          <p:nvPr/>
        </p:nvSpPr>
        <p:spPr>
          <a:xfrm>
            <a:off x="930301" y="1686303"/>
            <a:ext cx="5402912" cy="1699918"/>
          </a:xfrm>
          <a:custGeom>
            <a:avLst/>
            <a:gdLst>
              <a:gd name="connsiteX0" fmla="*/ 3266260 w 7203882"/>
              <a:gd name="connsiteY0" fmla="*/ 0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193481 w 7203882"/>
              <a:gd name="connsiteY10" fmla="*/ 1105694 h 2266557"/>
              <a:gd name="connsiteX11" fmla="*/ 3261014 w 7203882"/>
              <a:gd name="connsiteY11" fmla="*/ 1105694 h 2266557"/>
              <a:gd name="connsiteX12" fmla="*/ 3261014 w 7203882"/>
              <a:gd name="connsiteY12" fmla="*/ 5246 h 2266557"/>
              <a:gd name="connsiteX13" fmla="*/ 3266260 w 7203882"/>
              <a:gd name="connsiteY13" fmla="*/ 0 h 2266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203882" h="2266557">
                <a:moveTo>
                  <a:pt x="3266260" y="0"/>
                </a:moveTo>
                <a:lnTo>
                  <a:pt x="7198635" y="0"/>
                </a:lnTo>
                <a:cubicBezTo>
                  <a:pt x="7201532" y="0"/>
                  <a:pt x="7203881" y="2349"/>
                  <a:pt x="7203881" y="5246"/>
                </a:cubicBezTo>
                <a:lnTo>
                  <a:pt x="7203881" y="1299170"/>
                </a:lnTo>
                <a:lnTo>
                  <a:pt x="7203882" y="1299175"/>
                </a:lnTo>
                <a:lnTo>
                  <a:pt x="7203882" y="2073076"/>
                </a:lnTo>
                <a:cubicBezTo>
                  <a:pt x="7203882" y="2179933"/>
                  <a:pt x="7117258" y="2266557"/>
                  <a:pt x="7010401" y="2266557"/>
                </a:cubicBezTo>
                <a:lnTo>
                  <a:pt x="193481" y="2266557"/>
                </a:lnTo>
                <a:cubicBezTo>
                  <a:pt x="86624" y="2266557"/>
                  <a:pt x="0" y="2179933"/>
                  <a:pt x="0" y="2073076"/>
                </a:cubicBezTo>
                <a:lnTo>
                  <a:pt x="0" y="1299175"/>
                </a:lnTo>
                <a:cubicBezTo>
                  <a:pt x="0" y="1192318"/>
                  <a:pt x="86624" y="1105694"/>
                  <a:pt x="193481" y="1105694"/>
                </a:cubicBezTo>
                <a:lnTo>
                  <a:pt x="3261014" y="1105694"/>
                </a:lnTo>
                <a:lnTo>
                  <a:pt x="3261014" y="5246"/>
                </a:lnTo>
                <a:cubicBezTo>
                  <a:pt x="3261014" y="2349"/>
                  <a:pt x="3263363" y="0"/>
                  <a:pt x="3266260" y="0"/>
                </a:cubicBezTo>
                <a:close/>
              </a:path>
            </a:pathLst>
          </a:custGeom>
          <a:solidFill>
            <a:srgbClr val="F9F9F9">
              <a:alpha val="85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1350" dirty="0"/>
          </a:p>
        </p:txBody>
      </p:sp>
    </p:spTree>
    <p:extLst>
      <p:ext uri="{BB962C8B-B14F-4D97-AF65-F5344CB8AC3E}">
        <p14:creationId xmlns:p14="http://schemas.microsoft.com/office/powerpoint/2010/main" val="179578292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139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 </a:t>
            </a:r>
            <a:r>
              <a:rPr lang="fr-FR" sz="2100" b="0" dirty="0"/>
              <a:t>pureté de l’arbre, GINI</a:t>
            </a:r>
          </a:p>
        </p:txBody>
      </p:sp>
      <p:grpSp>
        <p:nvGrpSpPr>
          <p:cNvPr id="7" name="Groupe 6">
            <a:extLst>
              <a:ext uri="{FF2B5EF4-FFF2-40B4-BE49-F238E27FC236}">
                <a16:creationId xmlns:a16="http://schemas.microsoft.com/office/drawing/2014/main" id="{9F8FB54E-9511-4D0B-BEAE-F1507DCD1D2D}"/>
              </a:ext>
            </a:extLst>
          </p:cNvPr>
          <p:cNvGrpSpPr/>
          <p:nvPr/>
        </p:nvGrpSpPr>
        <p:grpSpPr>
          <a:xfrm>
            <a:off x="1276448" y="1272855"/>
            <a:ext cx="4599470" cy="1894111"/>
            <a:chOff x="4023711" y="4162038"/>
            <a:chExt cx="6132627" cy="2525481"/>
          </a:xfrm>
        </p:grpSpPr>
        <p:sp>
          <p:nvSpPr>
            <p:cNvPr id="8" name="Rectangle 7">
              <a:extLst>
                <a:ext uri="{FF2B5EF4-FFF2-40B4-BE49-F238E27FC236}">
                  <a16:creationId xmlns:a16="http://schemas.microsoft.com/office/drawing/2014/main" id="{C4504155-930F-49E6-939D-67B60C0040AD}"/>
                </a:ext>
              </a:extLst>
            </p:cNvPr>
            <p:cNvSpPr/>
            <p:nvPr/>
          </p:nvSpPr>
          <p:spPr>
            <a:xfrm>
              <a:off x="6096000" y="4162038"/>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[50, 50, 50]</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D01C5421-1321-43D7-B2EE-2DBA7F96AB35}"/>
                    </a:ext>
                  </a:extLst>
                </p:cNvPr>
                <p:cNvSpPr/>
                <p:nvPr/>
              </p:nvSpPr>
              <p:spPr>
                <a:xfrm>
                  <a:off x="6095999" y="4497303"/>
                  <a:ext cx="1454400"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sz="600" dirty="0">
                      <a:solidFill>
                        <a:schemeClr val="tx1">
                          <a:lumMod val="50000"/>
                        </a:schemeClr>
                      </a:solidFill>
                    </a:rPr>
                    <a:t>Longueur des sépales </a:t>
                  </a:r>
                  <a14:m>
                    <m:oMath xmlns:m="http://schemas.openxmlformats.org/officeDocument/2006/math">
                      <m:r>
                        <a:rPr lang="fr-FR" sz="600" i="1">
                          <a:solidFill>
                            <a:schemeClr val="tx1">
                              <a:lumMod val="50000"/>
                            </a:schemeClr>
                          </a:solidFill>
                          <a:latin typeface="Cambria Math" panose="02040503050406030204" pitchFamily="18" charset="0"/>
                          <a:ea typeface="Cambria Math" panose="02040503050406030204" pitchFamily="18" charset="0"/>
                        </a:rPr>
                        <m:t>≤0.6</m:t>
                      </m:r>
                    </m:oMath>
                  </a14:m>
                  <a:endParaRPr lang="fr-FR" sz="600" i="1" dirty="0">
                    <a:solidFill>
                      <a:schemeClr val="tx1">
                        <a:lumMod val="50000"/>
                      </a:schemeClr>
                    </a:solidFill>
                  </a:endParaRPr>
                </a:p>
              </p:txBody>
            </p:sp>
          </mc:Choice>
          <mc:Fallback xmlns="">
            <p:sp>
              <p:nvSpPr>
                <p:cNvPr id="9" name="Rectangle 8">
                  <a:extLst>
                    <a:ext uri="{FF2B5EF4-FFF2-40B4-BE49-F238E27FC236}">
                      <a16:creationId xmlns:a16="http://schemas.microsoft.com/office/drawing/2014/main" id="{D01C5421-1321-43D7-B2EE-2DBA7F96AB35}"/>
                    </a:ext>
                  </a:extLst>
                </p:cNvPr>
                <p:cNvSpPr>
                  <a:spLocks noRot="1" noChangeAspect="1" noMove="1" noResize="1" noEditPoints="1" noAdjustHandles="1" noChangeArrowheads="1" noChangeShapeType="1" noTextEdit="1"/>
                </p:cNvSpPr>
                <p:nvPr/>
              </p:nvSpPr>
              <p:spPr>
                <a:xfrm>
                  <a:off x="6095999" y="4497303"/>
                  <a:ext cx="1454400" cy="216000"/>
                </a:xfrm>
                <a:prstGeom prst="rect">
                  <a:avLst/>
                </a:prstGeom>
                <a:blipFill>
                  <a:blip r:embed="rId4"/>
                  <a:stretch>
                    <a:fillRect b="-7895"/>
                  </a:stretch>
                </a:blipFill>
                <a:ln>
                  <a:solidFill>
                    <a:schemeClr val="tx1">
                      <a:lumMod val="75000"/>
                    </a:schemeClr>
                  </a:solidFill>
                  <a:headEnd type="none" w="med" len="med"/>
                  <a:tailEnd type="none" w="med" len="me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7F6C8F34-2980-41F0-A009-40B6E892B023}"/>
                    </a:ext>
                  </a:extLst>
                </p:cNvPr>
                <p:cNvSpPr/>
                <p:nvPr/>
              </p:nvSpPr>
              <p:spPr>
                <a:xfrm>
                  <a:off x="7228424" y="5416844"/>
                  <a:ext cx="1454400"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600" dirty="0">
                      <a:solidFill>
                        <a:schemeClr val="tx1">
                          <a:lumMod val="50000"/>
                        </a:schemeClr>
                      </a:solidFill>
                    </a:rPr>
                    <a:t>Longueur des pétales </a:t>
                  </a:r>
                  <a14:m>
                    <m:oMath xmlns:m="http://schemas.openxmlformats.org/officeDocument/2006/math">
                      <m:r>
                        <a:rPr lang="fr-FR" sz="600">
                          <a:solidFill>
                            <a:schemeClr val="tx1">
                              <a:lumMod val="50000"/>
                            </a:schemeClr>
                          </a:solidFill>
                          <a:latin typeface="Cambria Math" panose="02040503050406030204" pitchFamily="18" charset="0"/>
                        </a:rPr>
                        <m:t>&gt;0.5</m:t>
                      </m:r>
                    </m:oMath>
                  </a14:m>
                  <a:endParaRPr lang="fr-FR" sz="600" dirty="0">
                    <a:solidFill>
                      <a:schemeClr val="tx1">
                        <a:lumMod val="50000"/>
                      </a:schemeClr>
                    </a:solidFill>
                  </a:endParaRPr>
                </a:p>
              </p:txBody>
            </p:sp>
          </mc:Choice>
          <mc:Fallback xmlns="">
            <p:sp>
              <p:nvSpPr>
                <p:cNvPr id="11" name="Rectangle 10">
                  <a:extLst>
                    <a:ext uri="{FF2B5EF4-FFF2-40B4-BE49-F238E27FC236}">
                      <a16:creationId xmlns:a16="http://schemas.microsoft.com/office/drawing/2014/main" id="{7F6C8F34-2980-41F0-A009-40B6E892B023}"/>
                    </a:ext>
                  </a:extLst>
                </p:cNvPr>
                <p:cNvSpPr>
                  <a:spLocks noRot="1" noChangeAspect="1" noMove="1" noResize="1" noEditPoints="1" noAdjustHandles="1" noChangeArrowheads="1" noChangeShapeType="1" noTextEdit="1"/>
                </p:cNvSpPr>
                <p:nvPr/>
              </p:nvSpPr>
              <p:spPr>
                <a:xfrm>
                  <a:off x="7228424" y="5416844"/>
                  <a:ext cx="1454400" cy="216000"/>
                </a:xfrm>
                <a:prstGeom prst="rect">
                  <a:avLst/>
                </a:prstGeom>
                <a:blipFill>
                  <a:blip r:embed="rId5"/>
                  <a:stretch>
                    <a:fillRect b="-5263"/>
                  </a:stretch>
                </a:blipFill>
                <a:ln>
                  <a:solidFill>
                    <a:schemeClr val="tx1">
                      <a:lumMod val="75000"/>
                    </a:schemeClr>
                  </a:solidFill>
                  <a:headEnd type="none" w="med" len="med"/>
                  <a:tailEnd type="none" w="med" len="med"/>
                </a:ln>
              </p:spPr>
              <p:txBody>
                <a:bodyPr/>
                <a:lstStyle/>
                <a:p>
                  <a:r>
                    <a:rPr lang="fr-FR">
                      <a:noFill/>
                    </a:rPr>
                    <a:t> </a:t>
                  </a:r>
                </a:p>
              </p:txBody>
            </p:sp>
          </mc:Fallback>
        </mc:AlternateContent>
        <p:sp>
          <p:nvSpPr>
            <p:cNvPr id="12" name="Rectangle 11">
              <a:extLst>
                <a:ext uri="{FF2B5EF4-FFF2-40B4-BE49-F238E27FC236}">
                  <a16:creationId xmlns:a16="http://schemas.microsoft.com/office/drawing/2014/main" id="{FB889F44-80D0-4960-A738-298152FBE6B7}"/>
                </a:ext>
              </a:extLst>
            </p:cNvPr>
            <p:cNvSpPr/>
            <p:nvPr/>
          </p:nvSpPr>
          <p:spPr>
            <a:xfrm>
              <a:off x="5302195" y="5081579"/>
              <a:ext cx="1454399" cy="338554"/>
            </a:xfrm>
            <a:prstGeom prst="rect">
              <a:avLst/>
            </a:prstGeom>
            <a:noFill/>
            <a:ln w="3810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[50, 0, 0]</a:t>
              </a:r>
            </a:p>
          </p:txBody>
        </p:sp>
        <p:sp>
          <p:nvSpPr>
            <p:cNvPr id="13" name="Rectangle 12">
              <a:extLst>
                <a:ext uri="{FF2B5EF4-FFF2-40B4-BE49-F238E27FC236}">
                  <a16:creationId xmlns:a16="http://schemas.microsoft.com/office/drawing/2014/main" id="{D51C882F-F89B-467D-BACA-53D83D455D5B}"/>
                </a:ext>
              </a:extLst>
            </p:cNvPr>
            <p:cNvSpPr/>
            <p:nvPr/>
          </p:nvSpPr>
          <p:spPr>
            <a:xfrm>
              <a:off x="7228424" y="6108749"/>
              <a:ext cx="1454399" cy="338554"/>
            </a:xfrm>
            <a:prstGeom prst="rect">
              <a:avLst/>
            </a:prstGeom>
            <a:noFill/>
            <a:ln w="38100" cap="flat" cmpd="sng" algn="ctr">
              <a:solidFill>
                <a:srgbClr val="9B9049"/>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1, 45]</a:t>
              </a:r>
            </a:p>
          </p:txBody>
        </p:sp>
        <p:sp>
          <p:nvSpPr>
            <p:cNvPr id="15" name="Rectangle 14">
              <a:extLst>
                <a:ext uri="{FF2B5EF4-FFF2-40B4-BE49-F238E27FC236}">
                  <a16:creationId xmlns:a16="http://schemas.microsoft.com/office/drawing/2014/main" id="{DA7AAC70-1450-4B44-B8CD-D866195625BB}"/>
                </a:ext>
              </a:extLst>
            </p:cNvPr>
            <p:cNvSpPr/>
            <p:nvPr/>
          </p:nvSpPr>
          <p:spPr>
            <a:xfrm>
              <a:off x="5298580" y="6129863"/>
              <a:ext cx="1454399" cy="338554"/>
            </a:xfrm>
            <a:prstGeom prst="rect">
              <a:avLst/>
            </a:prstGeom>
            <a:noFill/>
            <a:ln w="38100" cap="flat" cmpd="sng" algn="ctr">
              <a:solidFill>
                <a:srgbClr val="85B897"/>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49, 5]</a:t>
              </a:r>
            </a:p>
          </p:txBody>
        </p:sp>
        <p:cxnSp>
          <p:nvCxnSpPr>
            <p:cNvPr id="16" name="Connecteur droit 15">
              <a:extLst>
                <a:ext uri="{FF2B5EF4-FFF2-40B4-BE49-F238E27FC236}">
                  <a16:creationId xmlns:a16="http://schemas.microsoft.com/office/drawing/2014/main" id="{2EB4E820-971B-4FD0-A750-DE18789E6D23}"/>
                </a:ext>
              </a:extLst>
            </p:cNvPr>
            <p:cNvCxnSpPr>
              <a:cxnSpLocks/>
              <a:stCxn id="12" idx="0"/>
              <a:endCxn id="9" idx="2"/>
            </p:cNvCxnSpPr>
            <p:nvPr/>
          </p:nvCxnSpPr>
          <p:spPr>
            <a:xfrm flipV="1">
              <a:off x="6029395" y="4713303"/>
              <a:ext cx="793804" cy="3682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3C5D9F46-2032-4063-8BCC-47C4A8B71158}"/>
                </a:ext>
              </a:extLst>
            </p:cNvPr>
            <p:cNvCxnSpPr>
              <a:cxnSpLocks/>
              <a:stCxn id="15" idx="0"/>
              <a:endCxn id="11" idx="2"/>
            </p:cNvCxnSpPr>
            <p:nvPr/>
          </p:nvCxnSpPr>
          <p:spPr>
            <a:xfrm flipV="1">
              <a:off x="6025780" y="5632844"/>
              <a:ext cx="1929844" cy="4970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08407C13-2067-4AFD-9411-7FDC20A2BEF5}"/>
                </a:ext>
              </a:extLst>
            </p:cNvPr>
            <p:cNvCxnSpPr>
              <a:cxnSpLocks/>
              <a:stCxn id="13" idx="0"/>
              <a:endCxn id="11" idx="2"/>
            </p:cNvCxnSpPr>
            <p:nvPr/>
          </p:nvCxnSpPr>
          <p:spPr>
            <a:xfrm flipV="1">
              <a:off x="7955624" y="5632844"/>
              <a:ext cx="0" cy="4759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D28F92E5-5CD5-4496-8AF5-385EB149A060}"/>
                </a:ext>
              </a:extLst>
            </p:cNvPr>
            <p:cNvCxnSpPr>
              <a:cxnSpLocks/>
              <a:stCxn id="10" idx="0"/>
              <a:endCxn id="9" idx="2"/>
            </p:cNvCxnSpPr>
            <p:nvPr/>
          </p:nvCxnSpPr>
          <p:spPr>
            <a:xfrm flipH="1" flipV="1">
              <a:off x="6823199" y="4713303"/>
              <a:ext cx="1132426" cy="368276"/>
            </a:xfrm>
            <a:prstGeom prst="line">
              <a:avLst/>
            </a:prstGeom>
          </p:spPr>
          <p:style>
            <a:lnRef idx="1">
              <a:schemeClr val="accent1"/>
            </a:lnRef>
            <a:fillRef idx="0">
              <a:schemeClr val="accent1"/>
            </a:fillRef>
            <a:effectRef idx="0">
              <a:schemeClr val="accent1"/>
            </a:effectRef>
            <a:fontRef idx="minor">
              <a:schemeClr val="tx1"/>
            </a:fontRef>
          </p:style>
        </p:cxnSp>
        <p:sp>
          <p:nvSpPr>
            <p:cNvPr id="20" name="Légende : flèche courbée 19">
              <a:extLst>
                <a:ext uri="{FF2B5EF4-FFF2-40B4-BE49-F238E27FC236}">
                  <a16:creationId xmlns:a16="http://schemas.microsoft.com/office/drawing/2014/main" id="{02924561-7E76-4D80-84C1-1D601BC25B6C}"/>
                </a:ext>
              </a:extLst>
            </p:cNvPr>
            <p:cNvSpPr/>
            <p:nvPr/>
          </p:nvSpPr>
          <p:spPr>
            <a:xfrm>
              <a:off x="9233029" y="6468417"/>
              <a:ext cx="923309" cy="219102"/>
            </a:xfrm>
            <a:prstGeom prst="borderCallout2">
              <a:avLst>
                <a:gd name="adj1" fmla="val 18750"/>
                <a:gd name="adj2" fmla="val -8333"/>
                <a:gd name="adj3" fmla="val 18750"/>
                <a:gd name="adj4" fmla="val -16667"/>
                <a:gd name="adj5" fmla="val -50806"/>
                <a:gd name="adj6" fmla="val -5441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virginica</a:t>
              </a:r>
            </a:p>
          </p:txBody>
        </p:sp>
        <p:sp>
          <p:nvSpPr>
            <p:cNvPr id="22" name="Légende : flèche courbée 21">
              <a:extLst>
                <a:ext uri="{FF2B5EF4-FFF2-40B4-BE49-F238E27FC236}">
                  <a16:creationId xmlns:a16="http://schemas.microsoft.com/office/drawing/2014/main" id="{D234E9CD-98DF-4D8B-823D-05C225B4274C}"/>
                </a:ext>
              </a:extLst>
            </p:cNvPr>
            <p:cNvSpPr/>
            <p:nvPr/>
          </p:nvSpPr>
          <p:spPr>
            <a:xfrm>
              <a:off x="4709768" y="5552701"/>
              <a:ext cx="824117" cy="219102"/>
            </a:xfrm>
            <a:prstGeom prst="borderCallout2">
              <a:avLst>
                <a:gd name="adj1" fmla="val 29637"/>
                <a:gd name="adj2" fmla="val 106236"/>
                <a:gd name="adj3" fmla="val 29637"/>
                <a:gd name="adj4" fmla="val 116446"/>
                <a:gd name="adj5" fmla="val -36291"/>
                <a:gd name="adj6" fmla="val 13288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setosa</a:t>
              </a:r>
            </a:p>
          </p:txBody>
        </p:sp>
        <p:sp>
          <p:nvSpPr>
            <p:cNvPr id="23" name="Légende : flèche courbée 22">
              <a:extLst>
                <a:ext uri="{FF2B5EF4-FFF2-40B4-BE49-F238E27FC236}">
                  <a16:creationId xmlns:a16="http://schemas.microsoft.com/office/drawing/2014/main" id="{0C487599-0678-4C35-9A47-88050C92A37D}"/>
                </a:ext>
              </a:extLst>
            </p:cNvPr>
            <p:cNvSpPr/>
            <p:nvPr/>
          </p:nvSpPr>
          <p:spPr>
            <a:xfrm>
              <a:off x="9061216" y="5552701"/>
              <a:ext cx="923309" cy="475904"/>
            </a:xfrm>
            <a:prstGeom prst="borderCallout2">
              <a:avLst>
                <a:gd name="adj1" fmla="val 18750"/>
                <a:gd name="adj2" fmla="val -8333"/>
                <a:gd name="adj3" fmla="val 18750"/>
                <a:gd name="adj4" fmla="val -16667"/>
                <a:gd name="adj5" fmla="val -37152"/>
                <a:gd name="adj6" fmla="val -3771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900" dirty="0"/>
                <a:t>Virginica,</a:t>
              </a:r>
            </a:p>
            <a:p>
              <a:pPr algn="ctr"/>
              <a:r>
                <a:rPr lang="fr-FR" sz="900" dirty="0"/>
                <a:t>versicolor</a:t>
              </a:r>
            </a:p>
          </p:txBody>
        </p:sp>
        <p:sp>
          <p:nvSpPr>
            <p:cNvPr id="24" name="Légende : flèche courbée 23">
              <a:extLst>
                <a:ext uri="{FF2B5EF4-FFF2-40B4-BE49-F238E27FC236}">
                  <a16:creationId xmlns:a16="http://schemas.microsoft.com/office/drawing/2014/main" id="{B0C61903-BC2B-4E6E-B889-1701BE50430C}"/>
                </a:ext>
              </a:extLst>
            </p:cNvPr>
            <p:cNvSpPr/>
            <p:nvPr/>
          </p:nvSpPr>
          <p:spPr>
            <a:xfrm>
              <a:off x="4023711" y="6376140"/>
              <a:ext cx="923308" cy="219102"/>
            </a:xfrm>
            <a:prstGeom prst="borderCallout2">
              <a:avLst>
                <a:gd name="adj1" fmla="val 29637"/>
                <a:gd name="adj2" fmla="val 106236"/>
                <a:gd name="adj3" fmla="val 29637"/>
                <a:gd name="adj4" fmla="val 116446"/>
                <a:gd name="adj5" fmla="val -36291"/>
                <a:gd name="adj6" fmla="val 13288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versicolor</a:t>
              </a:r>
            </a:p>
          </p:txBody>
        </p:sp>
        <p:sp>
          <p:nvSpPr>
            <p:cNvPr id="10" name="Rectangle 9">
              <a:extLst>
                <a:ext uri="{FF2B5EF4-FFF2-40B4-BE49-F238E27FC236}">
                  <a16:creationId xmlns:a16="http://schemas.microsoft.com/office/drawing/2014/main" id="{C59078DD-852C-4E37-B732-111538C00C82}"/>
                </a:ext>
              </a:extLst>
            </p:cNvPr>
            <p:cNvSpPr/>
            <p:nvPr/>
          </p:nvSpPr>
          <p:spPr>
            <a:xfrm>
              <a:off x="7228425" y="5081579"/>
              <a:ext cx="1454399" cy="338554"/>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50, 50]</a:t>
              </a:r>
            </a:p>
          </p:txBody>
        </p:sp>
      </p:gr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C7922BDA-2C5E-4359-86A8-FB5B8FBB11F0}"/>
                  </a:ext>
                </a:extLst>
              </p:cNvPr>
              <p:cNvSpPr txBox="1"/>
              <p:nvPr/>
            </p:nvSpPr>
            <p:spPr>
              <a:xfrm>
                <a:off x="2064398" y="3806890"/>
                <a:ext cx="4100804" cy="444289"/>
              </a:xfrm>
              <a:prstGeom prst="rect">
                <a:avLst/>
              </a:prstGeom>
              <a:noFill/>
            </p:spPr>
            <p:txBody>
              <a:bodyPr wrap="square" rtlCol="0">
                <a:spAutoFit/>
              </a:bodyPr>
              <a:lstStyle/>
              <a:p>
                <a14:m>
                  <m:oMath xmlns:m="http://schemas.openxmlformats.org/officeDocument/2006/math">
                    <m:r>
                      <a:rPr lang="fr-FR" sz="1350" i="1" smtClean="0">
                        <a:solidFill>
                          <a:srgbClr val="224CE6"/>
                        </a:solidFill>
                        <a:latin typeface="Cambria Math" panose="02040503050406030204" pitchFamily="18" charset="0"/>
                      </a:rPr>
                      <m:t>𝑔𝑖𝑛𝑖</m:t>
                    </m:r>
                    <m:r>
                      <a:rPr lang="fr-FR" sz="1350" i="1" smtClean="0">
                        <a:solidFill>
                          <a:srgbClr val="224CE6"/>
                        </a:solidFill>
                        <a:latin typeface="Cambria Math" panose="02040503050406030204" pitchFamily="18" charset="0"/>
                      </a:rPr>
                      <m:t>=1 − </m:t>
                    </m:r>
                    <m:sSup>
                      <m:sSupPr>
                        <m:ctrlPr>
                          <a:rPr lang="fr-FR" sz="1350" i="1">
                            <a:solidFill>
                              <a:srgbClr val="224CE6"/>
                            </a:solidFill>
                            <a:latin typeface="Cambria Math" panose="02040503050406030204" pitchFamily="18" charset="0"/>
                          </a:rPr>
                        </m:ctrlPr>
                      </m:sSupPr>
                      <m:e>
                        <m:d>
                          <m:dPr>
                            <m:ctrlPr>
                              <a:rPr lang="fr-FR" sz="1350" i="1">
                                <a:solidFill>
                                  <a:srgbClr val="224CE6"/>
                                </a:solidFill>
                                <a:latin typeface="Cambria Math" panose="02040503050406030204" pitchFamily="18" charset="0"/>
                              </a:rPr>
                            </m:ctrlPr>
                          </m:dPr>
                          <m:e>
                            <m:f>
                              <m:fPr>
                                <m:ctrlPr>
                                  <a:rPr lang="fr-FR" sz="1350" i="1">
                                    <a:solidFill>
                                      <a:srgbClr val="224CE6"/>
                                    </a:solidFill>
                                    <a:latin typeface="Cambria Math" panose="02040503050406030204" pitchFamily="18" charset="0"/>
                                  </a:rPr>
                                </m:ctrlPr>
                              </m:fPr>
                              <m:num>
                                <m:r>
                                  <a:rPr lang="fr-FR" sz="1350" i="1">
                                    <a:solidFill>
                                      <a:srgbClr val="224CE6"/>
                                    </a:solidFill>
                                    <a:latin typeface="Cambria Math" panose="02040503050406030204" pitchFamily="18" charset="0"/>
                                  </a:rPr>
                                  <m:t>0</m:t>
                                </m:r>
                              </m:num>
                              <m:den>
                                <m:r>
                                  <a:rPr lang="fr-FR" sz="1350" i="1">
                                    <a:solidFill>
                                      <a:srgbClr val="224CE6"/>
                                    </a:solidFill>
                                    <a:latin typeface="Cambria Math" panose="02040503050406030204" pitchFamily="18" charset="0"/>
                                  </a:rPr>
                                  <m:t>50</m:t>
                                </m:r>
                              </m:den>
                            </m:f>
                          </m:e>
                        </m:d>
                      </m:e>
                      <m:sup>
                        <m:r>
                          <a:rPr lang="fr-FR" sz="1350" i="1">
                            <a:solidFill>
                              <a:srgbClr val="224CE6"/>
                            </a:solidFill>
                            <a:latin typeface="Cambria Math" panose="02040503050406030204" pitchFamily="18" charset="0"/>
                          </a:rPr>
                          <m:t>2</m:t>
                        </m:r>
                      </m:sup>
                    </m:sSup>
                    <m:r>
                      <a:rPr lang="fr-FR" sz="1350" i="1">
                        <a:solidFill>
                          <a:srgbClr val="224CE6"/>
                        </a:solidFill>
                        <a:latin typeface="Cambria Math" panose="02040503050406030204" pitchFamily="18" charset="0"/>
                      </a:rPr>
                      <m:t>− </m:t>
                    </m:r>
                    <m:sSup>
                      <m:sSupPr>
                        <m:ctrlPr>
                          <a:rPr lang="fr-FR" sz="1350" i="1">
                            <a:solidFill>
                              <a:srgbClr val="224CE6"/>
                            </a:solidFill>
                            <a:latin typeface="Cambria Math" panose="02040503050406030204" pitchFamily="18" charset="0"/>
                          </a:rPr>
                        </m:ctrlPr>
                      </m:sSupPr>
                      <m:e>
                        <m:d>
                          <m:dPr>
                            <m:ctrlPr>
                              <a:rPr lang="fr-FR" sz="1350" i="1">
                                <a:solidFill>
                                  <a:srgbClr val="224CE6"/>
                                </a:solidFill>
                                <a:latin typeface="Cambria Math" panose="02040503050406030204" pitchFamily="18" charset="0"/>
                              </a:rPr>
                            </m:ctrlPr>
                          </m:dPr>
                          <m:e>
                            <m:f>
                              <m:fPr>
                                <m:ctrlPr>
                                  <a:rPr lang="fr-FR" sz="1350" i="1">
                                    <a:solidFill>
                                      <a:srgbClr val="224CE6"/>
                                    </a:solidFill>
                                    <a:latin typeface="Cambria Math" panose="02040503050406030204" pitchFamily="18" charset="0"/>
                                  </a:rPr>
                                </m:ctrlPr>
                              </m:fPr>
                              <m:num>
                                <m:r>
                                  <a:rPr lang="fr-FR" sz="1350" i="1">
                                    <a:solidFill>
                                      <a:srgbClr val="224CE6"/>
                                    </a:solidFill>
                                    <a:latin typeface="Cambria Math" panose="02040503050406030204" pitchFamily="18" charset="0"/>
                                  </a:rPr>
                                  <m:t>50</m:t>
                                </m:r>
                              </m:num>
                              <m:den>
                                <m:r>
                                  <a:rPr lang="fr-FR" sz="1350" i="1">
                                    <a:solidFill>
                                      <a:srgbClr val="224CE6"/>
                                    </a:solidFill>
                                    <a:latin typeface="Cambria Math" panose="02040503050406030204" pitchFamily="18" charset="0"/>
                                  </a:rPr>
                                  <m:t>100</m:t>
                                </m:r>
                              </m:den>
                            </m:f>
                          </m:e>
                        </m:d>
                      </m:e>
                      <m:sup>
                        <m:r>
                          <a:rPr lang="fr-FR" sz="1350" i="1">
                            <a:solidFill>
                              <a:srgbClr val="224CE6"/>
                            </a:solidFill>
                            <a:latin typeface="Cambria Math" panose="02040503050406030204" pitchFamily="18" charset="0"/>
                          </a:rPr>
                          <m:t>2</m:t>
                        </m:r>
                      </m:sup>
                    </m:sSup>
                  </m:oMath>
                </a14:m>
                <a:r>
                  <a:rPr lang="fr-FR" sz="1350" dirty="0">
                    <a:solidFill>
                      <a:srgbClr val="224CE6"/>
                    </a:solidFill>
                  </a:rPr>
                  <a:t> </a:t>
                </a:r>
                <a14:m>
                  <m:oMath xmlns:m="http://schemas.openxmlformats.org/officeDocument/2006/math">
                    <m:r>
                      <a:rPr lang="fr-FR" sz="1350" i="1">
                        <a:solidFill>
                          <a:srgbClr val="224CE6"/>
                        </a:solidFill>
                        <a:latin typeface="Cambria Math" panose="02040503050406030204" pitchFamily="18" charset="0"/>
                      </a:rPr>
                      <m:t>− </m:t>
                    </m:r>
                    <m:sSup>
                      <m:sSupPr>
                        <m:ctrlPr>
                          <a:rPr lang="fr-FR" sz="1350" i="1">
                            <a:solidFill>
                              <a:srgbClr val="224CE6"/>
                            </a:solidFill>
                            <a:latin typeface="Cambria Math" panose="02040503050406030204" pitchFamily="18" charset="0"/>
                          </a:rPr>
                        </m:ctrlPr>
                      </m:sSupPr>
                      <m:e>
                        <m:d>
                          <m:dPr>
                            <m:ctrlPr>
                              <a:rPr lang="fr-FR" sz="1350" i="1">
                                <a:solidFill>
                                  <a:srgbClr val="224CE6"/>
                                </a:solidFill>
                                <a:latin typeface="Cambria Math" panose="02040503050406030204" pitchFamily="18" charset="0"/>
                              </a:rPr>
                            </m:ctrlPr>
                          </m:dPr>
                          <m:e>
                            <m:f>
                              <m:fPr>
                                <m:ctrlPr>
                                  <a:rPr lang="fr-FR" sz="1350" i="1">
                                    <a:solidFill>
                                      <a:srgbClr val="224CE6"/>
                                    </a:solidFill>
                                    <a:latin typeface="Cambria Math" panose="02040503050406030204" pitchFamily="18" charset="0"/>
                                  </a:rPr>
                                </m:ctrlPr>
                              </m:fPr>
                              <m:num>
                                <m:r>
                                  <a:rPr lang="fr-FR" sz="1350" i="1">
                                    <a:solidFill>
                                      <a:srgbClr val="224CE6"/>
                                    </a:solidFill>
                                    <a:latin typeface="Cambria Math" panose="02040503050406030204" pitchFamily="18" charset="0"/>
                                  </a:rPr>
                                  <m:t>50</m:t>
                                </m:r>
                              </m:num>
                              <m:den>
                                <m:r>
                                  <a:rPr lang="fr-FR" sz="1350" i="1">
                                    <a:solidFill>
                                      <a:srgbClr val="224CE6"/>
                                    </a:solidFill>
                                    <a:latin typeface="Cambria Math" panose="02040503050406030204" pitchFamily="18" charset="0"/>
                                  </a:rPr>
                                  <m:t>100</m:t>
                                </m:r>
                              </m:den>
                            </m:f>
                          </m:e>
                        </m:d>
                      </m:e>
                      <m:sup>
                        <m:r>
                          <a:rPr lang="fr-FR" sz="1350" i="1">
                            <a:solidFill>
                              <a:srgbClr val="224CE6"/>
                            </a:solidFill>
                            <a:latin typeface="Cambria Math" panose="02040503050406030204" pitchFamily="18" charset="0"/>
                          </a:rPr>
                          <m:t>2</m:t>
                        </m:r>
                      </m:sup>
                    </m:sSup>
                  </m:oMath>
                </a14:m>
                <a:r>
                  <a:rPr lang="fr-FR" sz="1350" dirty="0">
                    <a:solidFill>
                      <a:srgbClr val="224CE6"/>
                    </a:solidFill>
                  </a:rPr>
                  <a:t>= 0.5</a:t>
                </a:r>
              </a:p>
            </p:txBody>
          </p:sp>
        </mc:Choice>
        <mc:Fallback xmlns="">
          <p:sp>
            <p:nvSpPr>
              <p:cNvPr id="5" name="ZoneTexte 4">
                <a:extLst>
                  <a:ext uri="{FF2B5EF4-FFF2-40B4-BE49-F238E27FC236}">
                    <a16:creationId xmlns:a16="http://schemas.microsoft.com/office/drawing/2014/main" id="{C7922BDA-2C5E-4359-86A8-FB5B8FBB11F0}"/>
                  </a:ext>
                </a:extLst>
              </p:cNvPr>
              <p:cNvSpPr txBox="1">
                <a:spLocks noRot="1" noChangeAspect="1" noMove="1" noResize="1" noEditPoints="1" noAdjustHandles="1" noChangeArrowheads="1" noChangeShapeType="1" noTextEdit="1"/>
              </p:cNvSpPr>
              <p:nvPr/>
            </p:nvSpPr>
            <p:spPr>
              <a:xfrm>
                <a:off x="2064398" y="3806890"/>
                <a:ext cx="4100804" cy="444289"/>
              </a:xfrm>
              <a:prstGeom prst="rect">
                <a:avLst/>
              </a:prstGeom>
              <a:blipFill>
                <a:blip r:embed="rId6"/>
                <a:stretch>
                  <a:fillRect b="-1370"/>
                </a:stretch>
              </a:blipFill>
            </p:spPr>
            <p:txBody>
              <a:bodyPr/>
              <a:lstStyle/>
              <a:p>
                <a:r>
                  <a:rPr lang="fr-FR">
                    <a:noFill/>
                  </a:rPr>
                  <a:t> </a:t>
                </a:r>
              </a:p>
            </p:txBody>
          </p:sp>
        </mc:Fallback>
      </mc:AlternateContent>
      <p:sp>
        <p:nvSpPr>
          <p:cNvPr id="26" name="Forme libre : forme 25">
            <a:extLst>
              <a:ext uri="{FF2B5EF4-FFF2-40B4-BE49-F238E27FC236}">
                <a16:creationId xmlns:a16="http://schemas.microsoft.com/office/drawing/2014/main" id="{885DDFE8-87C3-4D1E-96C0-4651D0177F9A}"/>
              </a:ext>
            </a:extLst>
          </p:cNvPr>
          <p:cNvSpPr/>
          <p:nvPr/>
        </p:nvSpPr>
        <p:spPr>
          <a:xfrm flipH="1">
            <a:off x="930301" y="1686303"/>
            <a:ext cx="5402912" cy="1699918"/>
          </a:xfrm>
          <a:custGeom>
            <a:avLst/>
            <a:gdLst>
              <a:gd name="connsiteX0" fmla="*/ 3266260 w 7203882"/>
              <a:gd name="connsiteY0" fmla="*/ 0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193481 w 7203882"/>
              <a:gd name="connsiteY10" fmla="*/ 1105694 h 2266557"/>
              <a:gd name="connsiteX11" fmla="*/ 3261014 w 7203882"/>
              <a:gd name="connsiteY11" fmla="*/ 1105694 h 2266557"/>
              <a:gd name="connsiteX12" fmla="*/ 3261014 w 7203882"/>
              <a:gd name="connsiteY12" fmla="*/ 5246 h 2266557"/>
              <a:gd name="connsiteX13" fmla="*/ 3266260 w 7203882"/>
              <a:gd name="connsiteY13" fmla="*/ 0 h 2266557"/>
              <a:gd name="connsiteX0" fmla="*/ 3266260 w 7203882"/>
              <a:gd name="connsiteY0" fmla="*/ 0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193481 w 7203882"/>
              <a:gd name="connsiteY10" fmla="*/ 1105694 h 2266557"/>
              <a:gd name="connsiteX11" fmla="*/ 3634239 w 7203882"/>
              <a:gd name="connsiteY11" fmla="*/ 956404 h 2266557"/>
              <a:gd name="connsiteX12" fmla="*/ 3261014 w 7203882"/>
              <a:gd name="connsiteY12" fmla="*/ 5246 h 2266557"/>
              <a:gd name="connsiteX13" fmla="*/ 3266260 w 7203882"/>
              <a:gd name="connsiteY13" fmla="*/ 0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193481 w 7203882"/>
              <a:gd name="connsiteY10" fmla="*/ 1105694 h 2266557"/>
              <a:gd name="connsiteX11" fmla="*/ 3634239 w 7203882"/>
              <a:gd name="connsiteY11" fmla="*/ 956404 h 2266557"/>
              <a:gd name="connsiteX12" fmla="*/ 3261014 w 7203882"/>
              <a:gd name="connsiteY12" fmla="*/ 5246 h 2266557"/>
              <a:gd name="connsiteX13" fmla="*/ 3452872 w 7203882"/>
              <a:gd name="connsiteY13"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193481 w 7203882"/>
              <a:gd name="connsiteY10" fmla="*/ 1105694 h 2266557"/>
              <a:gd name="connsiteX11" fmla="*/ 3634239 w 7203882"/>
              <a:gd name="connsiteY11" fmla="*/ 956404 h 2266557"/>
              <a:gd name="connsiteX12" fmla="*/ 3615577 w 7203882"/>
              <a:gd name="connsiteY12" fmla="*/ 154536 h 2266557"/>
              <a:gd name="connsiteX13" fmla="*/ 3452872 w 7203882"/>
              <a:gd name="connsiteY13"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3634239 w 7203882"/>
              <a:gd name="connsiteY11" fmla="*/ 956404 h 2266557"/>
              <a:gd name="connsiteX12" fmla="*/ 3615577 w 7203882"/>
              <a:gd name="connsiteY12" fmla="*/ 154536 h 2266557"/>
              <a:gd name="connsiteX13" fmla="*/ 3452872 w 7203882"/>
              <a:gd name="connsiteY13"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3634239 w 7203882"/>
              <a:gd name="connsiteY11" fmla="*/ 956404 h 2266557"/>
              <a:gd name="connsiteX12" fmla="*/ 3615577 w 7203882"/>
              <a:gd name="connsiteY12" fmla="*/ 154536 h 2266557"/>
              <a:gd name="connsiteX13" fmla="*/ 3452872 w 7203882"/>
              <a:gd name="connsiteY13"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2351394 w 7203882"/>
              <a:gd name="connsiteY11" fmla="*/ 1091955 h 2266557"/>
              <a:gd name="connsiteX12" fmla="*/ 3634239 w 7203882"/>
              <a:gd name="connsiteY12" fmla="*/ 956404 h 2266557"/>
              <a:gd name="connsiteX13" fmla="*/ 3615577 w 7203882"/>
              <a:gd name="connsiteY13" fmla="*/ 154536 h 2266557"/>
              <a:gd name="connsiteX14" fmla="*/ 3452872 w 7203882"/>
              <a:gd name="connsiteY14"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2351394 w 7203882"/>
              <a:gd name="connsiteY11" fmla="*/ 1091955 h 2266557"/>
              <a:gd name="connsiteX12" fmla="*/ 2817925 w 7203882"/>
              <a:gd name="connsiteY12" fmla="*/ 961327 h 2266557"/>
              <a:gd name="connsiteX13" fmla="*/ 3634239 w 7203882"/>
              <a:gd name="connsiteY13" fmla="*/ 956404 h 2266557"/>
              <a:gd name="connsiteX14" fmla="*/ 3615577 w 7203882"/>
              <a:gd name="connsiteY14" fmla="*/ 154536 h 2266557"/>
              <a:gd name="connsiteX15" fmla="*/ 3452872 w 7203882"/>
              <a:gd name="connsiteY15"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1744904 w 7203882"/>
              <a:gd name="connsiteY11" fmla="*/ 1399865 h 2266557"/>
              <a:gd name="connsiteX12" fmla="*/ 2351394 w 7203882"/>
              <a:gd name="connsiteY12" fmla="*/ 1091955 h 2266557"/>
              <a:gd name="connsiteX13" fmla="*/ 2817925 w 7203882"/>
              <a:gd name="connsiteY13" fmla="*/ 961327 h 2266557"/>
              <a:gd name="connsiteX14" fmla="*/ 3634239 w 7203882"/>
              <a:gd name="connsiteY14" fmla="*/ 956404 h 2266557"/>
              <a:gd name="connsiteX15" fmla="*/ 3615577 w 7203882"/>
              <a:gd name="connsiteY15" fmla="*/ 154536 h 2266557"/>
              <a:gd name="connsiteX16" fmla="*/ 3452872 w 7203882"/>
              <a:gd name="connsiteY16" fmla="*/ 18661 h 2266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03882" h="2266557">
                <a:moveTo>
                  <a:pt x="3452872" y="18661"/>
                </a:moveTo>
                <a:lnTo>
                  <a:pt x="7198635" y="0"/>
                </a:lnTo>
                <a:cubicBezTo>
                  <a:pt x="7201532" y="0"/>
                  <a:pt x="7203881" y="2349"/>
                  <a:pt x="7203881" y="5246"/>
                </a:cubicBezTo>
                <a:lnTo>
                  <a:pt x="7203881" y="1299170"/>
                </a:lnTo>
                <a:cubicBezTo>
                  <a:pt x="7203881" y="1299172"/>
                  <a:pt x="7203882" y="1299173"/>
                  <a:pt x="7203882" y="1299175"/>
                </a:cubicBezTo>
                <a:lnTo>
                  <a:pt x="7203882" y="2073076"/>
                </a:lnTo>
                <a:cubicBezTo>
                  <a:pt x="7203882" y="2179933"/>
                  <a:pt x="7117258" y="2266557"/>
                  <a:pt x="7010401" y="2266557"/>
                </a:cubicBezTo>
                <a:lnTo>
                  <a:pt x="193481" y="2266557"/>
                </a:lnTo>
                <a:cubicBezTo>
                  <a:pt x="86624" y="2266557"/>
                  <a:pt x="0" y="2179933"/>
                  <a:pt x="0" y="2073076"/>
                </a:cubicBezTo>
                <a:lnTo>
                  <a:pt x="0" y="1299175"/>
                </a:lnTo>
                <a:cubicBezTo>
                  <a:pt x="0" y="1192318"/>
                  <a:pt x="702444" y="1469588"/>
                  <a:pt x="809301" y="1469588"/>
                </a:cubicBezTo>
                <a:cubicBezTo>
                  <a:pt x="1092343" y="1463043"/>
                  <a:pt x="1487889" y="1462804"/>
                  <a:pt x="1744904" y="1399865"/>
                </a:cubicBezTo>
                <a:cubicBezTo>
                  <a:pt x="2001920" y="1336926"/>
                  <a:pt x="2164782" y="1141718"/>
                  <a:pt x="2351394" y="1091955"/>
                </a:cubicBezTo>
                <a:cubicBezTo>
                  <a:pt x="2726597" y="1024351"/>
                  <a:pt x="2604118" y="983919"/>
                  <a:pt x="2817925" y="961327"/>
                </a:cubicBezTo>
                <a:cubicBezTo>
                  <a:pt x="3031732" y="938735"/>
                  <a:pt x="3541730" y="1107975"/>
                  <a:pt x="3634239" y="956404"/>
                </a:cubicBezTo>
                <a:cubicBezTo>
                  <a:pt x="3634239" y="589588"/>
                  <a:pt x="3615577" y="521352"/>
                  <a:pt x="3615577" y="154536"/>
                </a:cubicBezTo>
                <a:cubicBezTo>
                  <a:pt x="3615577" y="151639"/>
                  <a:pt x="3449975" y="18661"/>
                  <a:pt x="3452872" y="18661"/>
                </a:cubicBezTo>
                <a:close/>
              </a:path>
            </a:pathLst>
          </a:custGeom>
          <a:solidFill>
            <a:srgbClr val="F9F9F9">
              <a:alpha val="85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1350" dirty="0"/>
          </a:p>
        </p:txBody>
      </p:sp>
    </p:spTree>
    <p:extLst>
      <p:ext uri="{BB962C8B-B14F-4D97-AF65-F5344CB8AC3E}">
        <p14:creationId xmlns:p14="http://schemas.microsoft.com/office/powerpoint/2010/main" val="191547332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140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 </a:t>
            </a:r>
            <a:r>
              <a:rPr lang="fr-FR" sz="2100" b="0" dirty="0"/>
              <a:t>pureté de l’arbre, GINI</a:t>
            </a:r>
          </a:p>
        </p:txBody>
      </p:sp>
      <p:grpSp>
        <p:nvGrpSpPr>
          <p:cNvPr id="7" name="Groupe 6">
            <a:extLst>
              <a:ext uri="{FF2B5EF4-FFF2-40B4-BE49-F238E27FC236}">
                <a16:creationId xmlns:a16="http://schemas.microsoft.com/office/drawing/2014/main" id="{9F8FB54E-9511-4D0B-BEAE-F1507DCD1D2D}"/>
              </a:ext>
            </a:extLst>
          </p:cNvPr>
          <p:cNvGrpSpPr/>
          <p:nvPr/>
        </p:nvGrpSpPr>
        <p:grpSpPr>
          <a:xfrm>
            <a:off x="1276448" y="1272855"/>
            <a:ext cx="4599470" cy="1894111"/>
            <a:chOff x="4023711" y="4162038"/>
            <a:chExt cx="6132627" cy="2525481"/>
          </a:xfrm>
        </p:grpSpPr>
        <p:sp>
          <p:nvSpPr>
            <p:cNvPr id="8" name="Rectangle 7">
              <a:extLst>
                <a:ext uri="{FF2B5EF4-FFF2-40B4-BE49-F238E27FC236}">
                  <a16:creationId xmlns:a16="http://schemas.microsoft.com/office/drawing/2014/main" id="{C4504155-930F-49E6-939D-67B60C0040AD}"/>
                </a:ext>
              </a:extLst>
            </p:cNvPr>
            <p:cNvSpPr/>
            <p:nvPr/>
          </p:nvSpPr>
          <p:spPr>
            <a:xfrm>
              <a:off x="6096000" y="4162038"/>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[50, 50, 50]</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D01C5421-1321-43D7-B2EE-2DBA7F96AB35}"/>
                    </a:ext>
                  </a:extLst>
                </p:cNvPr>
                <p:cNvSpPr/>
                <p:nvPr/>
              </p:nvSpPr>
              <p:spPr>
                <a:xfrm>
                  <a:off x="6095999" y="4497303"/>
                  <a:ext cx="1454400"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sz="600" dirty="0">
                      <a:solidFill>
                        <a:schemeClr val="tx1">
                          <a:lumMod val="50000"/>
                        </a:schemeClr>
                      </a:solidFill>
                    </a:rPr>
                    <a:t>Longueur des sépales </a:t>
                  </a:r>
                  <a14:m>
                    <m:oMath xmlns:m="http://schemas.openxmlformats.org/officeDocument/2006/math">
                      <m:r>
                        <a:rPr lang="fr-FR" sz="600" i="1">
                          <a:solidFill>
                            <a:schemeClr val="tx1">
                              <a:lumMod val="50000"/>
                            </a:schemeClr>
                          </a:solidFill>
                          <a:latin typeface="Cambria Math" panose="02040503050406030204" pitchFamily="18" charset="0"/>
                          <a:ea typeface="Cambria Math" panose="02040503050406030204" pitchFamily="18" charset="0"/>
                        </a:rPr>
                        <m:t>≤0.6</m:t>
                      </m:r>
                    </m:oMath>
                  </a14:m>
                  <a:endParaRPr lang="fr-FR" sz="600" i="1" dirty="0">
                    <a:solidFill>
                      <a:schemeClr val="tx1">
                        <a:lumMod val="50000"/>
                      </a:schemeClr>
                    </a:solidFill>
                  </a:endParaRPr>
                </a:p>
              </p:txBody>
            </p:sp>
          </mc:Choice>
          <mc:Fallback xmlns="">
            <p:sp>
              <p:nvSpPr>
                <p:cNvPr id="9" name="Rectangle 8">
                  <a:extLst>
                    <a:ext uri="{FF2B5EF4-FFF2-40B4-BE49-F238E27FC236}">
                      <a16:creationId xmlns:a16="http://schemas.microsoft.com/office/drawing/2014/main" id="{D01C5421-1321-43D7-B2EE-2DBA7F96AB35}"/>
                    </a:ext>
                  </a:extLst>
                </p:cNvPr>
                <p:cNvSpPr>
                  <a:spLocks noRot="1" noChangeAspect="1" noMove="1" noResize="1" noEditPoints="1" noAdjustHandles="1" noChangeArrowheads="1" noChangeShapeType="1" noTextEdit="1"/>
                </p:cNvSpPr>
                <p:nvPr/>
              </p:nvSpPr>
              <p:spPr>
                <a:xfrm>
                  <a:off x="6095999" y="4497303"/>
                  <a:ext cx="1454400" cy="216000"/>
                </a:xfrm>
                <a:prstGeom prst="rect">
                  <a:avLst/>
                </a:prstGeom>
                <a:blipFill>
                  <a:blip r:embed="rId4"/>
                  <a:stretch>
                    <a:fillRect b="-7895"/>
                  </a:stretch>
                </a:blipFill>
                <a:ln>
                  <a:solidFill>
                    <a:schemeClr val="tx1">
                      <a:lumMod val="75000"/>
                    </a:schemeClr>
                  </a:solidFill>
                  <a:headEnd type="none" w="med" len="med"/>
                  <a:tailEnd type="none" w="med" len="me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7F6C8F34-2980-41F0-A009-40B6E892B023}"/>
                    </a:ext>
                  </a:extLst>
                </p:cNvPr>
                <p:cNvSpPr/>
                <p:nvPr/>
              </p:nvSpPr>
              <p:spPr>
                <a:xfrm>
                  <a:off x="7228424" y="5416844"/>
                  <a:ext cx="1454400"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600" dirty="0">
                      <a:solidFill>
                        <a:schemeClr val="tx1">
                          <a:lumMod val="50000"/>
                        </a:schemeClr>
                      </a:solidFill>
                    </a:rPr>
                    <a:t>Longueur des pétales </a:t>
                  </a:r>
                  <a14:m>
                    <m:oMath xmlns:m="http://schemas.openxmlformats.org/officeDocument/2006/math">
                      <m:r>
                        <a:rPr lang="fr-FR" sz="600">
                          <a:solidFill>
                            <a:schemeClr val="tx1">
                              <a:lumMod val="50000"/>
                            </a:schemeClr>
                          </a:solidFill>
                          <a:latin typeface="Cambria Math" panose="02040503050406030204" pitchFamily="18" charset="0"/>
                        </a:rPr>
                        <m:t>&gt;0.5</m:t>
                      </m:r>
                    </m:oMath>
                  </a14:m>
                  <a:endParaRPr lang="fr-FR" sz="600" dirty="0">
                    <a:solidFill>
                      <a:schemeClr val="tx1">
                        <a:lumMod val="50000"/>
                      </a:schemeClr>
                    </a:solidFill>
                  </a:endParaRPr>
                </a:p>
              </p:txBody>
            </p:sp>
          </mc:Choice>
          <mc:Fallback xmlns="">
            <p:sp>
              <p:nvSpPr>
                <p:cNvPr id="11" name="Rectangle 10">
                  <a:extLst>
                    <a:ext uri="{FF2B5EF4-FFF2-40B4-BE49-F238E27FC236}">
                      <a16:creationId xmlns:a16="http://schemas.microsoft.com/office/drawing/2014/main" id="{7F6C8F34-2980-41F0-A009-40B6E892B023}"/>
                    </a:ext>
                  </a:extLst>
                </p:cNvPr>
                <p:cNvSpPr>
                  <a:spLocks noRot="1" noChangeAspect="1" noMove="1" noResize="1" noEditPoints="1" noAdjustHandles="1" noChangeArrowheads="1" noChangeShapeType="1" noTextEdit="1"/>
                </p:cNvSpPr>
                <p:nvPr/>
              </p:nvSpPr>
              <p:spPr>
                <a:xfrm>
                  <a:off x="7228424" y="5416844"/>
                  <a:ext cx="1454400" cy="216000"/>
                </a:xfrm>
                <a:prstGeom prst="rect">
                  <a:avLst/>
                </a:prstGeom>
                <a:blipFill>
                  <a:blip r:embed="rId5"/>
                  <a:stretch>
                    <a:fillRect b="-5263"/>
                  </a:stretch>
                </a:blipFill>
                <a:ln>
                  <a:solidFill>
                    <a:schemeClr val="tx1">
                      <a:lumMod val="75000"/>
                    </a:schemeClr>
                  </a:solidFill>
                  <a:headEnd type="none" w="med" len="med"/>
                  <a:tailEnd type="none" w="med" len="med"/>
                </a:ln>
              </p:spPr>
              <p:txBody>
                <a:bodyPr/>
                <a:lstStyle/>
                <a:p>
                  <a:r>
                    <a:rPr lang="fr-FR">
                      <a:noFill/>
                    </a:rPr>
                    <a:t> </a:t>
                  </a:r>
                </a:p>
              </p:txBody>
            </p:sp>
          </mc:Fallback>
        </mc:AlternateContent>
        <p:sp>
          <p:nvSpPr>
            <p:cNvPr id="12" name="Rectangle 11">
              <a:extLst>
                <a:ext uri="{FF2B5EF4-FFF2-40B4-BE49-F238E27FC236}">
                  <a16:creationId xmlns:a16="http://schemas.microsoft.com/office/drawing/2014/main" id="{FB889F44-80D0-4960-A738-298152FBE6B7}"/>
                </a:ext>
              </a:extLst>
            </p:cNvPr>
            <p:cNvSpPr/>
            <p:nvPr/>
          </p:nvSpPr>
          <p:spPr>
            <a:xfrm>
              <a:off x="5302195" y="5081579"/>
              <a:ext cx="1454399" cy="338554"/>
            </a:xfrm>
            <a:prstGeom prst="rect">
              <a:avLst/>
            </a:prstGeom>
            <a:noFill/>
            <a:ln w="3810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[50, 0, 0]</a:t>
              </a:r>
            </a:p>
          </p:txBody>
        </p:sp>
        <p:sp>
          <p:nvSpPr>
            <p:cNvPr id="13" name="Rectangle 12">
              <a:extLst>
                <a:ext uri="{FF2B5EF4-FFF2-40B4-BE49-F238E27FC236}">
                  <a16:creationId xmlns:a16="http://schemas.microsoft.com/office/drawing/2014/main" id="{D51C882F-F89B-467D-BACA-53D83D455D5B}"/>
                </a:ext>
              </a:extLst>
            </p:cNvPr>
            <p:cNvSpPr/>
            <p:nvPr/>
          </p:nvSpPr>
          <p:spPr>
            <a:xfrm>
              <a:off x="7228424" y="6108749"/>
              <a:ext cx="1454399" cy="338554"/>
            </a:xfrm>
            <a:prstGeom prst="rect">
              <a:avLst/>
            </a:prstGeom>
            <a:noFill/>
            <a:ln w="38100" cap="flat" cmpd="sng" algn="ctr">
              <a:solidFill>
                <a:srgbClr val="9B9049"/>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1, 45]</a:t>
              </a:r>
            </a:p>
          </p:txBody>
        </p:sp>
        <p:sp>
          <p:nvSpPr>
            <p:cNvPr id="15" name="Rectangle 14">
              <a:extLst>
                <a:ext uri="{FF2B5EF4-FFF2-40B4-BE49-F238E27FC236}">
                  <a16:creationId xmlns:a16="http://schemas.microsoft.com/office/drawing/2014/main" id="{DA7AAC70-1450-4B44-B8CD-D866195625BB}"/>
                </a:ext>
              </a:extLst>
            </p:cNvPr>
            <p:cNvSpPr/>
            <p:nvPr/>
          </p:nvSpPr>
          <p:spPr>
            <a:xfrm>
              <a:off x="5298580" y="6129863"/>
              <a:ext cx="1454399" cy="338554"/>
            </a:xfrm>
            <a:prstGeom prst="rect">
              <a:avLst/>
            </a:prstGeom>
            <a:noFill/>
            <a:ln w="38100" cap="flat" cmpd="sng" algn="ctr">
              <a:solidFill>
                <a:srgbClr val="85B897"/>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49, 5]</a:t>
              </a:r>
            </a:p>
          </p:txBody>
        </p:sp>
        <p:cxnSp>
          <p:nvCxnSpPr>
            <p:cNvPr id="16" name="Connecteur droit 15">
              <a:extLst>
                <a:ext uri="{FF2B5EF4-FFF2-40B4-BE49-F238E27FC236}">
                  <a16:creationId xmlns:a16="http://schemas.microsoft.com/office/drawing/2014/main" id="{2EB4E820-971B-4FD0-A750-DE18789E6D23}"/>
                </a:ext>
              </a:extLst>
            </p:cNvPr>
            <p:cNvCxnSpPr>
              <a:cxnSpLocks/>
              <a:stCxn id="12" idx="0"/>
              <a:endCxn id="9" idx="2"/>
            </p:cNvCxnSpPr>
            <p:nvPr/>
          </p:nvCxnSpPr>
          <p:spPr>
            <a:xfrm flipV="1">
              <a:off x="6029395" y="4713303"/>
              <a:ext cx="793804" cy="3682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3C5D9F46-2032-4063-8BCC-47C4A8B71158}"/>
                </a:ext>
              </a:extLst>
            </p:cNvPr>
            <p:cNvCxnSpPr>
              <a:cxnSpLocks/>
              <a:stCxn id="15" idx="0"/>
              <a:endCxn id="11" idx="2"/>
            </p:cNvCxnSpPr>
            <p:nvPr/>
          </p:nvCxnSpPr>
          <p:spPr>
            <a:xfrm flipV="1">
              <a:off x="6025780" y="5632844"/>
              <a:ext cx="1929844" cy="4970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08407C13-2067-4AFD-9411-7FDC20A2BEF5}"/>
                </a:ext>
              </a:extLst>
            </p:cNvPr>
            <p:cNvCxnSpPr>
              <a:cxnSpLocks/>
              <a:stCxn id="13" idx="0"/>
              <a:endCxn id="11" idx="2"/>
            </p:cNvCxnSpPr>
            <p:nvPr/>
          </p:nvCxnSpPr>
          <p:spPr>
            <a:xfrm flipV="1">
              <a:off x="7955624" y="5632844"/>
              <a:ext cx="0" cy="4759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D28F92E5-5CD5-4496-8AF5-385EB149A060}"/>
                </a:ext>
              </a:extLst>
            </p:cNvPr>
            <p:cNvCxnSpPr>
              <a:cxnSpLocks/>
              <a:stCxn id="10" idx="0"/>
              <a:endCxn id="9" idx="2"/>
            </p:cNvCxnSpPr>
            <p:nvPr/>
          </p:nvCxnSpPr>
          <p:spPr>
            <a:xfrm flipH="1" flipV="1">
              <a:off x="6823199" y="4713303"/>
              <a:ext cx="1132426" cy="368276"/>
            </a:xfrm>
            <a:prstGeom prst="line">
              <a:avLst/>
            </a:prstGeom>
          </p:spPr>
          <p:style>
            <a:lnRef idx="1">
              <a:schemeClr val="accent1"/>
            </a:lnRef>
            <a:fillRef idx="0">
              <a:schemeClr val="accent1"/>
            </a:fillRef>
            <a:effectRef idx="0">
              <a:schemeClr val="accent1"/>
            </a:effectRef>
            <a:fontRef idx="minor">
              <a:schemeClr val="tx1"/>
            </a:fontRef>
          </p:style>
        </p:cxnSp>
        <p:sp>
          <p:nvSpPr>
            <p:cNvPr id="20" name="Légende : flèche courbée 19">
              <a:extLst>
                <a:ext uri="{FF2B5EF4-FFF2-40B4-BE49-F238E27FC236}">
                  <a16:creationId xmlns:a16="http://schemas.microsoft.com/office/drawing/2014/main" id="{02924561-7E76-4D80-84C1-1D601BC25B6C}"/>
                </a:ext>
              </a:extLst>
            </p:cNvPr>
            <p:cNvSpPr/>
            <p:nvPr/>
          </p:nvSpPr>
          <p:spPr>
            <a:xfrm>
              <a:off x="9233029" y="6468417"/>
              <a:ext cx="923309" cy="219102"/>
            </a:xfrm>
            <a:prstGeom prst="borderCallout2">
              <a:avLst>
                <a:gd name="adj1" fmla="val 18750"/>
                <a:gd name="adj2" fmla="val -8333"/>
                <a:gd name="adj3" fmla="val 18750"/>
                <a:gd name="adj4" fmla="val -16667"/>
                <a:gd name="adj5" fmla="val -50806"/>
                <a:gd name="adj6" fmla="val -5441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virginica</a:t>
              </a:r>
            </a:p>
          </p:txBody>
        </p:sp>
        <p:sp>
          <p:nvSpPr>
            <p:cNvPr id="22" name="Légende : flèche courbée 21">
              <a:extLst>
                <a:ext uri="{FF2B5EF4-FFF2-40B4-BE49-F238E27FC236}">
                  <a16:creationId xmlns:a16="http://schemas.microsoft.com/office/drawing/2014/main" id="{D234E9CD-98DF-4D8B-823D-05C225B4274C}"/>
                </a:ext>
              </a:extLst>
            </p:cNvPr>
            <p:cNvSpPr/>
            <p:nvPr/>
          </p:nvSpPr>
          <p:spPr>
            <a:xfrm>
              <a:off x="4709768" y="5552701"/>
              <a:ext cx="824117" cy="219102"/>
            </a:xfrm>
            <a:prstGeom prst="borderCallout2">
              <a:avLst>
                <a:gd name="adj1" fmla="val 29637"/>
                <a:gd name="adj2" fmla="val 106236"/>
                <a:gd name="adj3" fmla="val 29637"/>
                <a:gd name="adj4" fmla="val 116446"/>
                <a:gd name="adj5" fmla="val -36291"/>
                <a:gd name="adj6" fmla="val 13288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setosa</a:t>
              </a:r>
            </a:p>
          </p:txBody>
        </p:sp>
        <p:sp>
          <p:nvSpPr>
            <p:cNvPr id="23" name="Légende : flèche courbée 22">
              <a:extLst>
                <a:ext uri="{FF2B5EF4-FFF2-40B4-BE49-F238E27FC236}">
                  <a16:creationId xmlns:a16="http://schemas.microsoft.com/office/drawing/2014/main" id="{0C487599-0678-4C35-9A47-88050C92A37D}"/>
                </a:ext>
              </a:extLst>
            </p:cNvPr>
            <p:cNvSpPr/>
            <p:nvPr/>
          </p:nvSpPr>
          <p:spPr>
            <a:xfrm>
              <a:off x="9061216" y="5552701"/>
              <a:ext cx="923309" cy="475904"/>
            </a:xfrm>
            <a:prstGeom prst="borderCallout2">
              <a:avLst>
                <a:gd name="adj1" fmla="val 18750"/>
                <a:gd name="adj2" fmla="val -8333"/>
                <a:gd name="adj3" fmla="val 18750"/>
                <a:gd name="adj4" fmla="val -16667"/>
                <a:gd name="adj5" fmla="val -37152"/>
                <a:gd name="adj6" fmla="val -3771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Virginica,</a:t>
              </a:r>
            </a:p>
            <a:p>
              <a:pPr algn="ctr"/>
              <a:r>
                <a:rPr lang="fr-FR" sz="1050" dirty="0"/>
                <a:t>versicolor</a:t>
              </a:r>
            </a:p>
          </p:txBody>
        </p:sp>
        <p:sp>
          <p:nvSpPr>
            <p:cNvPr id="24" name="Légende : flèche courbée 23">
              <a:extLst>
                <a:ext uri="{FF2B5EF4-FFF2-40B4-BE49-F238E27FC236}">
                  <a16:creationId xmlns:a16="http://schemas.microsoft.com/office/drawing/2014/main" id="{B0C61903-BC2B-4E6E-B889-1701BE50430C}"/>
                </a:ext>
              </a:extLst>
            </p:cNvPr>
            <p:cNvSpPr/>
            <p:nvPr/>
          </p:nvSpPr>
          <p:spPr>
            <a:xfrm>
              <a:off x="4023711" y="6376140"/>
              <a:ext cx="923308" cy="219102"/>
            </a:xfrm>
            <a:prstGeom prst="borderCallout2">
              <a:avLst>
                <a:gd name="adj1" fmla="val 29637"/>
                <a:gd name="adj2" fmla="val 106236"/>
                <a:gd name="adj3" fmla="val 29637"/>
                <a:gd name="adj4" fmla="val 116446"/>
                <a:gd name="adj5" fmla="val -36291"/>
                <a:gd name="adj6" fmla="val 13288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versicolor</a:t>
              </a:r>
            </a:p>
          </p:txBody>
        </p:sp>
        <p:sp>
          <p:nvSpPr>
            <p:cNvPr id="10" name="Rectangle 9">
              <a:extLst>
                <a:ext uri="{FF2B5EF4-FFF2-40B4-BE49-F238E27FC236}">
                  <a16:creationId xmlns:a16="http://schemas.microsoft.com/office/drawing/2014/main" id="{C59078DD-852C-4E37-B732-111538C00C82}"/>
                </a:ext>
              </a:extLst>
            </p:cNvPr>
            <p:cNvSpPr/>
            <p:nvPr/>
          </p:nvSpPr>
          <p:spPr>
            <a:xfrm>
              <a:off x="7228425" y="5081579"/>
              <a:ext cx="1454399" cy="338554"/>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50, 50]</a:t>
              </a:r>
            </a:p>
          </p:txBody>
        </p:sp>
      </p:gr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C7922BDA-2C5E-4359-86A8-FB5B8FBB11F0}"/>
                  </a:ext>
                </a:extLst>
              </p:cNvPr>
              <p:cNvSpPr txBox="1"/>
              <p:nvPr/>
            </p:nvSpPr>
            <p:spPr>
              <a:xfrm>
                <a:off x="2064398" y="3806890"/>
                <a:ext cx="4100804" cy="444289"/>
              </a:xfrm>
              <a:prstGeom prst="rect">
                <a:avLst/>
              </a:prstGeom>
              <a:noFill/>
            </p:spPr>
            <p:txBody>
              <a:bodyPr wrap="square" rtlCol="0">
                <a:spAutoFit/>
              </a:bodyPr>
              <a:lstStyle/>
              <a:p>
                <a14:m>
                  <m:oMath xmlns:m="http://schemas.openxmlformats.org/officeDocument/2006/math">
                    <m:r>
                      <a:rPr lang="fr-FR" sz="1350" i="1">
                        <a:solidFill>
                          <a:srgbClr val="9B9049"/>
                        </a:solidFill>
                        <a:latin typeface="Cambria Math" panose="02040503050406030204" pitchFamily="18" charset="0"/>
                      </a:rPr>
                      <m:t>𝑔𝑖𝑛𝑖</m:t>
                    </m:r>
                    <m:r>
                      <a:rPr lang="fr-FR" sz="1350" i="1">
                        <a:solidFill>
                          <a:srgbClr val="9B9049"/>
                        </a:solidFill>
                        <a:latin typeface="Cambria Math" panose="02040503050406030204" pitchFamily="18" charset="0"/>
                      </a:rPr>
                      <m:t>=1 − </m:t>
                    </m:r>
                    <m:sSup>
                      <m:sSupPr>
                        <m:ctrlPr>
                          <a:rPr lang="fr-FR" sz="1350" i="1">
                            <a:solidFill>
                              <a:srgbClr val="9B9049"/>
                            </a:solidFill>
                            <a:latin typeface="Cambria Math" panose="02040503050406030204" pitchFamily="18" charset="0"/>
                          </a:rPr>
                        </m:ctrlPr>
                      </m:sSupPr>
                      <m:e>
                        <m:d>
                          <m:dPr>
                            <m:ctrlPr>
                              <a:rPr lang="fr-FR" sz="1350" i="1">
                                <a:solidFill>
                                  <a:srgbClr val="9B9049"/>
                                </a:solidFill>
                                <a:latin typeface="Cambria Math" panose="02040503050406030204" pitchFamily="18" charset="0"/>
                              </a:rPr>
                            </m:ctrlPr>
                          </m:dPr>
                          <m:e>
                            <m:f>
                              <m:fPr>
                                <m:ctrlPr>
                                  <a:rPr lang="fr-FR" sz="1350" i="1">
                                    <a:solidFill>
                                      <a:srgbClr val="9B9049"/>
                                    </a:solidFill>
                                    <a:latin typeface="Cambria Math" panose="02040503050406030204" pitchFamily="18" charset="0"/>
                                  </a:rPr>
                                </m:ctrlPr>
                              </m:fPr>
                              <m:num>
                                <m:r>
                                  <a:rPr lang="fr-FR" sz="1350" i="1">
                                    <a:solidFill>
                                      <a:srgbClr val="9B9049"/>
                                    </a:solidFill>
                                    <a:latin typeface="Cambria Math" panose="02040503050406030204" pitchFamily="18" charset="0"/>
                                  </a:rPr>
                                  <m:t>0</m:t>
                                </m:r>
                              </m:num>
                              <m:den>
                                <m:r>
                                  <a:rPr lang="fr-FR" sz="1350" i="1">
                                    <a:solidFill>
                                      <a:srgbClr val="9B9049"/>
                                    </a:solidFill>
                                    <a:latin typeface="Cambria Math" panose="02040503050406030204" pitchFamily="18" charset="0"/>
                                  </a:rPr>
                                  <m:t>46</m:t>
                                </m:r>
                              </m:den>
                            </m:f>
                          </m:e>
                        </m:d>
                      </m:e>
                      <m:sup>
                        <m:r>
                          <a:rPr lang="fr-FR" sz="1350" i="1">
                            <a:solidFill>
                              <a:srgbClr val="9B9049"/>
                            </a:solidFill>
                            <a:latin typeface="Cambria Math" panose="02040503050406030204" pitchFamily="18" charset="0"/>
                          </a:rPr>
                          <m:t>2</m:t>
                        </m:r>
                      </m:sup>
                    </m:sSup>
                    <m:r>
                      <a:rPr lang="fr-FR" sz="1350" i="1">
                        <a:solidFill>
                          <a:srgbClr val="9B9049"/>
                        </a:solidFill>
                        <a:latin typeface="Cambria Math" panose="02040503050406030204" pitchFamily="18" charset="0"/>
                      </a:rPr>
                      <m:t>− </m:t>
                    </m:r>
                    <m:sSup>
                      <m:sSupPr>
                        <m:ctrlPr>
                          <a:rPr lang="fr-FR" sz="1350" i="1">
                            <a:solidFill>
                              <a:srgbClr val="9B9049"/>
                            </a:solidFill>
                            <a:latin typeface="Cambria Math" panose="02040503050406030204" pitchFamily="18" charset="0"/>
                          </a:rPr>
                        </m:ctrlPr>
                      </m:sSupPr>
                      <m:e>
                        <m:d>
                          <m:dPr>
                            <m:ctrlPr>
                              <a:rPr lang="fr-FR" sz="1350" i="1">
                                <a:solidFill>
                                  <a:srgbClr val="9B9049"/>
                                </a:solidFill>
                                <a:latin typeface="Cambria Math" panose="02040503050406030204" pitchFamily="18" charset="0"/>
                              </a:rPr>
                            </m:ctrlPr>
                          </m:dPr>
                          <m:e>
                            <m:f>
                              <m:fPr>
                                <m:ctrlPr>
                                  <a:rPr lang="fr-FR" sz="1350" i="1">
                                    <a:solidFill>
                                      <a:srgbClr val="9B9049"/>
                                    </a:solidFill>
                                    <a:latin typeface="Cambria Math" panose="02040503050406030204" pitchFamily="18" charset="0"/>
                                  </a:rPr>
                                </m:ctrlPr>
                              </m:fPr>
                              <m:num>
                                <m:r>
                                  <a:rPr lang="fr-FR" sz="1350" i="1">
                                    <a:solidFill>
                                      <a:srgbClr val="9B9049"/>
                                    </a:solidFill>
                                    <a:latin typeface="Cambria Math" panose="02040503050406030204" pitchFamily="18" charset="0"/>
                                  </a:rPr>
                                  <m:t>1</m:t>
                                </m:r>
                              </m:num>
                              <m:den>
                                <m:r>
                                  <a:rPr lang="fr-FR" sz="1350" i="1">
                                    <a:solidFill>
                                      <a:srgbClr val="9B9049"/>
                                    </a:solidFill>
                                    <a:latin typeface="Cambria Math" panose="02040503050406030204" pitchFamily="18" charset="0"/>
                                  </a:rPr>
                                  <m:t>46</m:t>
                                </m:r>
                              </m:den>
                            </m:f>
                          </m:e>
                        </m:d>
                      </m:e>
                      <m:sup>
                        <m:r>
                          <a:rPr lang="fr-FR" sz="1350" i="1">
                            <a:solidFill>
                              <a:srgbClr val="9B9049"/>
                            </a:solidFill>
                            <a:latin typeface="Cambria Math" panose="02040503050406030204" pitchFamily="18" charset="0"/>
                          </a:rPr>
                          <m:t>2</m:t>
                        </m:r>
                      </m:sup>
                    </m:sSup>
                  </m:oMath>
                </a14:m>
                <a:r>
                  <a:rPr lang="fr-FR" sz="1350" dirty="0">
                    <a:solidFill>
                      <a:srgbClr val="9B9049"/>
                    </a:solidFill>
                  </a:rPr>
                  <a:t> </a:t>
                </a:r>
                <a14:m>
                  <m:oMath xmlns:m="http://schemas.openxmlformats.org/officeDocument/2006/math">
                    <m:r>
                      <a:rPr lang="fr-FR" sz="1350" i="1">
                        <a:solidFill>
                          <a:srgbClr val="9B9049"/>
                        </a:solidFill>
                        <a:latin typeface="Cambria Math" panose="02040503050406030204" pitchFamily="18" charset="0"/>
                      </a:rPr>
                      <m:t>− </m:t>
                    </m:r>
                    <m:sSup>
                      <m:sSupPr>
                        <m:ctrlPr>
                          <a:rPr lang="fr-FR" sz="1350" i="1">
                            <a:solidFill>
                              <a:srgbClr val="9B9049"/>
                            </a:solidFill>
                            <a:latin typeface="Cambria Math" panose="02040503050406030204" pitchFamily="18" charset="0"/>
                          </a:rPr>
                        </m:ctrlPr>
                      </m:sSupPr>
                      <m:e>
                        <m:d>
                          <m:dPr>
                            <m:ctrlPr>
                              <a:rPr lang="fr-FR" sz="1350" i="1">
                                <a:solidFill>
                                  <a:srgbClr val="9B9049"/>
                                </a:solidFill>
                                <a:latin typeface="Cambria Math" panose="02040503050406030204" pitchFamily="18" charset="0"/>
                              </a:rPr>
                            </m:ctrlPr>
                          </m:dPr>
                          <m:e>
                            <m:f>
                              <m:fPr>
                                <m:ctrlPr>
                                  <a:rPr lang="fr-FR" sz="1350" i="1">
                                    <a:solidFill>
                                      <a:srgbClr val="9B9049"/>
                                    </a:solidFill>
                                    <a:latin typeface="Cambria Math" panose="02040503050406030204" pitchFamily="18" charset="0"/>
                                  </a:rPr>
                                </m:ctrlPr>
                              </m:fPr>
                              <m:num>
                                <m:r>
                                  <a:rPr lang="fr-FR" sz="1350" i="1">
                                    <a:solidFill>
                                      <a:srgbClr val="9B9049"/>
                                    </a:solidFill>
                                    <a:latin typeface="Cambria Math" panose="02040503050406030204" pitchFamily="18" charset="0"/>
                                  </a:rPr>
                                  <m:t>45</m:t>
                                </m:r>
                              </m:num>
                              <m:den>
                                <m:r>
                                  <a:rPr lang="fr-FR" sz="1350" i="1">
                                    <a:solidFill>
                                      <a:srgbClr val="9B9049"/>
                                    </a:solidFill>
                                    <a:latin typeface="Cambria Math" panose="02040503050406030204" pitchFamily="18" charset="0"/>
                                  </a:rPr>
                                  <m:t>46</m:t>
                                </m:r>
                              </m:den>
                            </m:f>
                          </m:e>
                        </m:d>
                      </m:e>
                      <m:sup>
                        <m:r>
                          <a:rPr lang="fr-FR" sz="1350" i="1">
                            <a:solidFill>
                              <a:srgbClr val="9B9049"/>
                            </a:solidFill>
                            <a:latin typeface="Cambria Math" panose="02040503050406030204" pitchFamily="18" charset="0"/>
                          </a:rPr>
                          <m:t>2</m:t>
                        </m:r>
                      </m:sup>
                    </m:sSup>
                  </m:oMath>
                </a14:m>
                <a:r>
                  <a:rPr lang="fr-FR" sz="1350" dirty="0">
                    <a:solidFill>
                      <a:srgbClr val="9B9049"/>
                    </a:solidFill>
                  </a:rPr>
                  <a:t>= 0.043</a:t>
                </a:r>
              </a:p>
            </p:txBody>
          </p:sp>
        </mc:Choice>
        <mc:Fallback xmlns="">
          <p:sp>
            <p:nvSpPr>
              <p:cNvPr id="5" name="ZoneTexte 4">
                <a:extLst>
                  <a:ext uri="{FF2B5EF4-FFF2-40B4-BE49-F238E27FC236}">
                    <a16:creationId xmlns:a16="http://schemas.microsoft.com/office/drawing/2014/main" id="{C7922BDA-2C5E-4359-86A8-FB5B8FBB11F0}"/>
                  </a:ext>
                </a:extLst>
              </p:cNvPr>
              <p:cNvSpPr txBox="1">
                <a:spLocks noRot="1" noChangeAspect="1" noMove="1" noResize="1" noEditPoints="1" noAdjustHandles="1" noChangeArrowheads="1" noChangeShapeType="1" noTextEdit="1"/>
              </p:cNvSpPr>
              <p:nvPr/>
            </p:nvSpPr>
            <p:spPr>
              <a:xfrm>
                <a:off x="2064398" y="3806890"/>
                <a:ext cx="4100804" cy="444289"/>
              </a:xfrm>
              <a:prstGeom prst="rect">
                <a:avLst/>
              </a:prstGeom>
              <a:blipFill>
                <a:blip r:embed="rId6"/>
                <a:stretch>
                  <a:fillRect b="-1370"/>
                </a:stretch>
              </a:blipFill>
            </p:spPr>
            <p:txBody>
              <a:bodyPr/>
              <a:lstStyle/>
              <a:p>
                <a:r>
                  <a:rPr lang="fr-FR">
                    <a:noFill/>
                  </a:rPr>
                  <a:t> </a:t>
                </a:r>
              </a:p>
            </p:txBody>
          </p:sp>
        </mc:Fallback>
      </mc:AlternateContent>
      <p:sp>
        <p:nvSpPr>
          <p:cNvPr id="26" name="Forme libre : forme 25">
            <a:extLst>
              <a:ext uri="{FF2B5EF4-FFF2-40B4-BE49-F238E27FC236}">
                <a16:creationId xmlns:a16="http://schemas.microsoft.com/office/drawing/2014/main" id="{885DDFE8-87C3-4D1E-96C0-4651D0177F9A}"/>
              </a:ext>
            </a:extLst>
          </p:cNvPr>
          <p:cNvSpPr/>
          <p:nvPr/>
        </p:nvSpPr>
        <p:spPr>
          <a:xfrm flipH="1">
            <a:off x="911252" y="1687421"/>
            <a:ext cx="5044195" cy="1717343"/>
          </a:xfrm>
          <a:custGeom>
            <a:avLst/>
            <a:gdLst>
              <a:gd name="connsiteX0" fmla="*/ 3266260 w 7203882"/>
              <a:gd name="connsiteY0" fmla="*/ 0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193481 w 7203882"/>
              <a:gd name="connsiteY10" fmla="*/ 1105694 h 2266557"/>
              <a:gd name="connsiteX11" fmla="*/ 3261014 w 7203882"/>
              <a:gd name="connsiteY11" fmla="*/ 1105694 h 2266557"/>
              <a:gd name="connsiteX12" fmla="*/ 3261014 w 7203882"/>
              <a:gd name="connsiteY12" fmla="*/ 5246 h 2266557"/>
              <a:gd name="connsiteX13" fmla="*/ 3266260 w 7203882"/>
              <a:gd name="connsiteY13" fmla="*/ 0 h 2266557"/>
              <a:gd name="connsiteX0" fmla="*/ 3266260 w 7203882"/>
              <a:gd name="connsiteY0" fmla="*/ 0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193481 w 7203882"/>
              <a:gd name="connsiteY10" fmla="*/ 1105694 h 2266557"/>
              <a:gd name="connsiteX11" fmla="*/ 3634239 w 7203882"/>
              <a:gd name="connsiteY11" fmla="*/ 956404 h 2266557"/>
              <a:gd name="connsiteX12" fmla="*/ 3261014 w 7203882"/>
              <a:gd name="connsiteY12" fmla="*/ 5246 h 2266557"/>
              <a:gd name="connsiteX13" fmla="*/ 3266260 w 7203882"/>
              <a:gd name="connsiteY13" fmla="*/ 0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193481 w 7203882"/>
              <a:gd name="connsiteY10" fmla="*/ 1105694 h 2266557"/>
              <a:gd name="connsiteX11" fmla="*/ 3634239 w 7203882"/>
              <a:gd name="connsiteY11" fmla="*/ 956404 h 2266557"/>
              <a:gd name="connsiteX12" fmla="*/ 3261014 w 7203882"/>
              <a:gd name="connsiteY12" fmla="*/ 5246 h 2266557"/>
              <a:gd name="connsiteX13" fmla="*/ 3452872 w 7203882"/>
              <a:gd name="connsiteY13"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193481 w 7203882"/>
              <a:gd name="connsiteY10" fmla="*/ 1105694 h 2266557"/>
              <a:gd name="connsiteX11" fmla="*/ 3634239 w 7203882"/>
              <a:gd name="connsiteY11" fmla="*/ 956404 h 2266557"/>
              <a:gd name="connsiteX12" fmla="*/ 3615577 w 7203882"/>
              <a:gd name="connsiteY12" fmla="*/ 154536 h 2266557"/>
              <a:gd name="connsiteX13" fmla="*/ 3452872 w 7203882"/>
              <a:gd name="connsiteY13"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3634239 w 7203882"/>
              <a:gd name="connsiteY11" fmla="*/ 956404 h 2266557"/>
              <a:gd name="connsiteX12" fmla="*/ 3615577 w 7203882"/>
              <a:gd name="connsiteY12" fmla="*/ 154536 h 2266557"/>
              <a:gd name="connsiteX13" fmla="*/ 3452872 w 7203882"/>
              <a:gd name="connsiteY13"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3634239 w 7203882"/>
              <a:gd name="connsiteY11" fmla="*/ 956404 h 2266557"/>
              <a:gd name="connsiteX12" fmla="*/ 3615577 w 7203882"/>
              <a:gd name="connsiteY12" fmla="*/ 154536 h 2266557"/>
              <a:gd name="connsiteX13" fmla="*/ 3452872 w 7203882"/>
              <a:gd name="connsiteY13"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2351394 w 7203882"/>
              <a:gd name="connsiteY11" fmla="*/ 1091955 h 2266557"/>
              <a:gd name="connsiteX12" fmla="*/ 3634239 w 7203882"/>
              <a:gd name="connsiteY12" fmla="*/ 956404 h 2266557"/>
              <a:gd name="connsiteX13" fmla="*/ 3615577 w 7203882"/>
              <a:gd name="connsiteY13" fmla="*/ 154536 h 2266557"/>
              <a:gd name="connsiteX14" fmla="*/ 3452872 w 7203882"/>
              <a:gd name="connsiteY14"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2351394 w 7203882"/>
              <a:gd name="connsiteY11" fmla="*/ 1091955 h 2266557"/>
              <a:gd name="connsiteX12" fmla="*/ 2817925 w 7203882"/>
              <a:gd name="connsiteY12" fmla="*/ 961327 h 2266557"/>
              <a:gd name="connsiteX13" fmla="*/ 3634239 w 7203882"/>
              <a:gd name="connsiteY13" fmla="*/ 956404 h 2266557"/>
              <a:gd name="connsiteX14" fmla="*/ 3615577 w 7203882"/>
              <a:gd name="connsiteY14" fmla="*/ 154536 h 2266557"/>
              <a:gd name="connsiteX15" fmla="*/ 3452872 w 7203882"/>
              <a:gd name="connsiteY15"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1744904 w 7203882"/>
              <a:gd name="connsiteY11" fmla="*/ 1399865 h 2266557"/>
              <a:gd name="connsiteX12" fmla="*/ 2351394 w 7203882"/>
              <a:gd name="connsiteY12" fmla="*/ 1091955 h 2266557"/>
              <a:gd name="connsiteX13" fmla="*/ 2817925 w 7203882"/>
              <a:gd name="connsiteY13" fmla="*/ 961327 h 2266557"/>
              <a:gd name="connsiteX14" fmla="*/ 3634239 w 7203882"/>
              <a:gd name="connsiteY14" fmla="*/ 956404 h 2266557"/>
              <a:gd name="connsiteX15" fmla="*/ 3615577 w 7203882"/>
              <a:gd name="connsiteY15" fmla="*/ 154536 h 2266557"/>
              <a:gd name="connsiteX16" fmla="*/ 3452872 w 7203882"/>
              <a:gd name="connsiteY16"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1744904 w 7203882"/>
              <a:gd name="connsiteY11" fmla="*/ 1399865 h 2266557"/>
              <a:gd name="connsiteX12" fmla="*/ 2351394 w 7203882"/>
              <a:gd name="connsiteY12" fmla="*/ 1091955 h 2266557"/>
              <a:gd name="connsiteX13" fmla="*/ 2817925 w 7203882"/>
              <a:gd name="connsiteY13" fmla="*/ 961327 h 2266557"/>
              <a:gd name="connsiteX14" fmla="*/ 2021339 w 7203882"/>
              <a:gd name="connsiteY14" fmla="*/ 238854 h 2266557"/>
              <a:gd name="connsiteX15" fmla="*/ 3615577 w 7203882"/>
              <a:gd name="connsiteY15" fmla="*/ 154536 h 2266557"/>
              <a:gd name="connsiteX16" fmla="*/ 3452872 w 7203882"/>
              <a:gd name="connsiteY16"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1744904 w 7203882"/>
              <a:gd name="connsiteY11" fmla="*/ 1399865 h 2266557"/>
              <a:gd name="connsiteX12" fmla="*/ 2351394 w 7203882"/>
              <a:gd name="connsiteY12" fmla="*/ 1091955 h 2266557"/>
              <a:gd name="connsiteX13" fmla="*/ 2817925 w 7203882"/>
              <a:gd name="connsiteY13" fmla="*/ 961327 h 2266557"/>
              <a:gd name="connsiteX14" fmla="*/ 2021339 w 7203882"/>
              <a:gd name="connsiteY14" fmla="*/ 238854 h 2266557"/>
              <a:gd name="connsiteX15" fmla="*/ 1894727 w 7203882"/>
              <a:gd name="connsiteY15" fmla="*/ 14836 h 2266557"/>
              <a:gd name="connsiteX16" fmla="*/ 3452872 w 7203882"/>
              <a:gd name="connsiteY16"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1744904 w 7203882"/>
              <a:gd name="connsiteY11" fmla="*/ 1399865 h 2266557"/>
              <a:gd name="connsiteX12" fmla="*/ 2351394 w 7203882"/>
              <a:gd name="connsiteY12" fmla="*/ 1091955 h 2266557"/>
              <a:gd name="connsiteX13" fmla="*/ 2817925 w 7203882"/>
              <a:gd name="connsiteY13" fmla="*/ 961327 h 2266557"/>
              <a:gd name="connsiteX14" fmla="*/ 478289 w 7203882"/>
              <a:gd name="connsiteY14" fmla="*/ 689704 h 2266557"/>
              <a:gd name="connsiteX15" fmla="*/ 1894727 w 7203882"/>
              <a:gd name="connsiteY15" fmla="*/ 14836 h 2266557"/>
              <a:gd name="connsiteX16" fmla="*/ 3452872 w 7203882"/>
              <a:gd name="connsiteY16"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1744904 w 7203882"/>
              <a:gd name="connsiteY11" fmla="*/ 1399865 h 2266557"/>
              <a:gd name="connsiteX12" fmla="*/ 2351394 w 7203882"/>
              <a:gd name="connsiteY12" fmla="*/ 1091955 h 2266557"/>
              <a:gd name="connsiteX13" fmla="*/ 665275 w 7203882"/>
              <a:gd name="connsiteY13" fmla="*/ 1456627 h 2266557"/>
              <a:gd name="connsiteX14" fmla="*/ 478289 w 7203882"/>
              <a:gd name="connsiteY14" fmla="*/ 689704 h 2266557"/>
              <a:gd name="connsiteX15" fmla="*/ 1894727 w 7203882"/>
              <a:gd name="connsiteY15" fmla="*/ 14836 h 2266557"/>
              <a:gd name="connsiteX16" fmla="*/ 3452872 w 7203882"/>
              <a:gd name="connsiteY16"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1071934 w 7203882"/>
              <a:gd name="connsiteY11" fmla="*/ 1491746 h 2266557"/>
              <a:gd name="connsiteX12" fmla="*/ 1744904 w 7203882"/>
              <a:gd name="connsiteY12" fmla="*/ 1399865 h 2266557"/>
              <a:gd name="connsiteX13" fmla="*/ 2351394 w 7203882"/>
              <a:gd name="connsiteY13" fmla="*/ 1091955 h 2266557"/>
              <a:gd name="connsiteX14" fmla="*/ 665275 w 7203882"/>
              <a:gd name="connsiteY14" fmla="*/ 1456627 h 2266557"/>
              <a:gd name="connsiteX15" fmla="*/ 478289 w 7203882"/>
              <a:gd name="connsiteY15" fmla="*/ 689704 h 2266557"/>
              <a:gd name="connsiteX16" fmla="*/ 1894727 w 7203882"/>
              <a:gd name="connsiteY16" fmla="*/ 14836 h 2266557"/>
              <a:gd name="connsiteX17" fmla="*/ 3452872 w 7203882"/>
              <a:gd name="connsiteY17"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1071934 w 7203882"/>
              <a:gd name="connsiteY11" fmla="*/ 1491746 h 2266557"/>
              <a:gd name="connsiteX12" fmla="*/ 1744904 w 7203882"/>
              <a:gd name="connsiteY12" fmla="*/ 1399865 h 2266557"/>
              <a:gd name="connsiteX13" fmla="*/ 395594 w 7203882"/>
              <a:gd name="connsiteY13" fmla="*/ 1422155 h 2266557"/>
              <a:gd name="connsiteX14" fmla="*/ 665275 w 7203882"/>
              <a:gd name="connsiteY14" fmla="*/ 1456627 h 2266557"/>
              <a:gd name="connsiteX15" fmla="*/ 478289 w 7203882"/>
              <a:gd name="connsiteY15" fmla="*/ 689704 h 2266557"/>
              <a:gd name="connsiteX16" fmla="*/ 1894727 w 7203882"/>
              <a:gd name="connsiteY16" fmla="*/ 14836 h 2266557"/>
              <a:gd name="connsiteX17" fmla="*/ 3452872 w 7203882"/>
              <a:gd name="connsiteY17"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1071934 w 7203882"/>
              <a:gd name="connsiteY11" fmla="*/ 1491746 h 2266557"/>
              <a:gd name="connsiteX12" fmla="*/ 395594 w 7203882"/>
              <a:gd name="connsiteY12" fmla="*/ 1422155 h 2266557"/>
              <a:gd name="connsiteX13" fmla="*/ 665275 w 7203882"/>
              <a:gd name="connsiteY13" fmla="*/ 1456627 h 2266557"/>
              <a:gd name="connsiteX14" fmla="*/ 478289 w 7203882"/>
              <a:gd name="connsiteY14" fmla="*/ 689704 h 2266557"/>
              <a:gd name="connsiteX15" fmla="*/ 1894727 w 7203882"/>
              <a:gd name="connsiteY15" fmla="*/ 14836 h 2266557"/>
              <a:gd name="connsiteX16" fmla="*/ 3452872 w 7203882"/>
              <a:gd name="connsiteY16"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1071934 w 7203882"/>
              <a:gd name="connsiteY10" fmla="*/ 1491746 h 2266557"/>
              <a:gd name="connsiteX11" fmla="*/ 395594 w 7203882"/>
              <a:gd name="connsiteY11" fmla="*/ 1422155 h 2266557"/>
              <a:gd name="connsiteX12" fmla="*/ 665275 w 7203882"/>
              <a:gd name="connsiteY12" fmla="*/ 1456627 h 2266557"/>
              <a:gd name="connsiteX13" fmla="*/ 478289 w 7203882"/>
              <a:gd name="connsiteY13" fmla="*/ 689704 h 2266557"/>
              <a:gd name="connsiteX14" fmla="*/ 1894727 w 7203882"/>
              <a:gd name="connsiteY14" fmla="*/ 14836 h 2266557"/>
              <a:gd name="connsiteX15" fmla="*/ 3452872 w 7203882"/>
              <a:gd name="connsiteY15"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395594 w 7203882"/>
              <a:gd name="connsiteY10" fmla="*/ 1422155 h 2266557"/>
              <a:gd name="connsiteX11" fmla="*/ 665275 w 7203882"/>
              <a:gd name="connsiteY11" fmla="*/ 1456627 h 2266557"/>
              <a:gd name="connsiteX12" fmla="*/ 478289 w 7203882"/>
              <a:gd name="connsiteY12" fmla="*/ 689704 h 2266557"/>
              <a:gd name="connsiteX13" fmla="*/ 1894727 w 7203882"/>
              <a:gd name="connsiteY13" fmla="*/ 14836 h 2266557"/>
              <a:gd name="connsiteX14" fmla="*/ 3452872 w 7203882"/>
              <a:gd name="connsiteY14"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3362131 w 7203882"/>
              <a:gd name="connsiteY7" fmla="*/ 1199757 h 2266557"/>
              <a:gd name="connsiteX8" fmla="*/ 0 w 7203882"/>
              <a:gd name="connsiteY8" fmla="*/ 2073076 h 2266557"/>
              <a:gd name="connsiteX9" fmla="*/ 0 w 7203882"/>
              <a:gd name="connsiteY9" fmla="*/ 1299175 h 2266557"/>
              <a:gd name="connsiteX10" fmla="*/ 395594 w 7203882"/>
              <a:gd name="connsiteY10" fmla="*/ 1422155 h 2266557"/>
              <a:gd name="connsiteX11" fmla="*/ 665275 w 7203882"/>
              <a:gd name="connsiteY11" fmla="*/ 1456627 h 2266557"/>
              <a:gd name="connsiteX12" fmla="*/ 478289 w 7203882"/>
              <a:gd name="connsiteY12" fmla="*/ 689704 h 2266557"/>
              <a:gd name="connsiteX13" fmla="*/ 1894727 w 7203882"/>
              <a:gd name="connsiteY13" fmla="*/ 14836 h 2266557"/>
              <a:gd name="connsiteX14" fmla="*/ 3452872 w 7203882"/>
              <a:gd name="connsiteY14"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3362131 w 7203882"/>
              <a:gd name="connsiteY7" fmla="*/ 1199757 h 2266557"/>
              <a:gd name="connsiteX8" fmla="*/ 0 w 7203882"/>
              <a:gd name="connsiteY8" fmla="*/ 2073076 h 2266557"/>
              <a:gd name="connsiteX9" fmla="*/ 0 w 7203882"/>
              <a:gd name="connsiteY9" fmla="*/ 1299175 h 2266557"/>
              <a:gd name="connsiteX10" fmla="*/ 395594 w 7203882"/>
              <a:gd name="connsiteY10" fmla="*/ 1422155 h 2266557"/>
              <a:gd name="connsiteX11" fmla="*/ 665275 w 7203882"/>
              <a:gd name="connsiteY11" fmla="*/ 1456627 h 2266557"/>
              <a:gd name="connsiteX12" fmla="*/ 478289 w 7203882"/>
              <a:gd name="connsiteY12" fmla="*/ 689704 h 2266557"/>
              <a:gd name="connsiteX13" fmla="*/ 1894727 w 7203882"/>
              <a:gd name="connsiteY13" fmla="*/ 14836 h 2266557"/>
              <a:gd name="connsiteX14" fmla="*/ 3452872 w 7203882"/>
              <a:gd name="connsiteY14" fmla="*/ 18661 h 2266557"/>
              <a:gd name="connsiteX0" fmla="*/ 3452872 w 7203882"/>
              <a:gd name="connsiteY0" fmla="*/ 18661 h 2289791"/>
              <a:gd name="connsiteX1" fmla="*/ 7198635 w 7203882"/>
              <a:gd name="connsiteY1" fmla="*/ 0 h 2289791"/>
              <a:gd name="connsiteX2" fmla="*/ 7203881 w 7203882"/>
              <a:gd name="connsiteY2" fmla="*/ 5246 h 2289791"/>
              <a:gd name="connsiteX3" fmla="*/ 7203881 w 7203882"/>
              <a:gd name="connsiteY3" fmla="*/ 1299170 h 2289791"/>
              <a:gd name="connsiteX4" fmla="*/ 7203882 w 7203882"/>
              <a:gd name="connsiteY4" fmla="*/ 1299175 h 2289791"/>
              <a:gd name="connsiteX5" fmla="*/ 7203882 w 7203882"/>
              <a:gd name="connsiteY5" fmla="*/ 2073076 h 2289791"/>
              <a:gd name="connsiteX6" fmla="*/ 7010401 w 7203882"/>
              <a:gd name="connsiteY6" fmla="*/ 2266557 h 2289791"/>
              <a:gd name="connsiteX7" fmla="*/ 3999284 w 7203882"/>
              <a:gd name="connsiteY7" fmla="*/ 2221996 h 2289791"/>
              <a:gd name="connsiteX8" fmla="*/ 3362131 w 7203882"/>
              <a:gd name="connsiteY8" fmla="*/ 1199757 h 2289791"/>
              <a:gd name="connsiteX9" fmla="*/ 0 w 7203882"/>
              <a:gd name="connsiteY9" fmla="*/ 2073076 h 2289791"/>
              <a:gd name="connsiteX10" fmla="*/ 0 w 7203882"/>
              <a:gd name="connsiteY10" fmla="*/ 1299175 h 2289791"/>
              <a:gd name="connsiteX11" fmla="*/ 395594 w 7203882"/>
              <a:gd name="connsiteY11" fmla="*/ 1422155 h 2289791"/>
              <a:gd name="connsiteX12" fmla="*/ 665275 w 7203882"/>
              <a:gd name="connsiteY12" fmla="*/ 1456627 h 2289791"/>
              <a:gd name="connsiteX13" fmla="*/ 478289 w 7203882"/>
              <a:gd name="connsiteY13" fmla="*/ 689704 h 2289791"/>
              <a:gd name="connsiteX14" fmla="*/ 1894727 w 7203882"/>
              <a:gd name="connsiteY14" fmla="*/ 14836 h 2289791"/>
              <a:gd name="connsiteX15" fmla="*/ 3452872 w 7203882"/>
              <a:gd name="connsiteY15" fmla="*/ 18661 h 2289791"/>
              <a:gd name="connsiteX0" fmla="*/ 3452872 w 7203882"/>
              <a:gd name="connsiteY0" fmla="*/ 18661 h 2289791"/>
              <a:gd name="connsiteX1" fmla="*/ 7198635 w 7203882"/>
              <a:gd name="connsiteY1" fmla="*/ 0 h 2289791"/>
              <a:gd name="connsiteX2" fmla="*/ 7203881 w 7203882"/>
              <a:gd name="connsiteY2" fmla="*/ 5246 h 2289791"/>
              <a:gd name="connsiteX3" fmla="*/ 7203881 w 7203882"/>
              <a:gd name="connsiteY3" fmla="*/ 1299170 h 2289791"/>
              <a:gd name="connsiteX4" fmla="*/ 7203882 w 7203882"/>
              <a:gd name="connsiteY4" fmla="*/ 1299175 h 2289791"/>
              <a:gd name="connsiteX5" fmla="*/ 7203882 w 7203882"/>
              <a:gd name="connsiteY5" fmla="*/ 2073076 h 2289791"/>
              <a:gd name="connsiteX6" fmla="*/ 7010401 w 7203882"/>
              <a:gd name="connsiteY6" fmla="*/ 2266557 h 2289791"/>
              <a:gd name="connsiteX7" fmla="*/ 3999284 w 7203882"/>
              <a:gd name="connsiteY7" fmla="*/ 2221996 h 2289791"/>
              <a:gd name="connsiteX8" fmla="*/ 3362131 w 7203882"/>
              <a:gd name="connsiteY8" fmla="*/ 1199757 h 2289791"/>
              <a:gd name="connsiteX9" fmla="*/ 1662484 w 7203882"/>
              <a:gd name="connsiteY9" fmla="*/ 1479046 h 2289791"/>
              <a:gd name="connsiteX10" fmla="*/ 0 w 7203882"/>
              <a:gd name="connsiteY10" fmla="*/ 2073076 h 2289791"/>
              <a:gd name="connsiteX11" fmla="*/ 0 w 7203882"/>
              <a:gd name="connsiteY11" fmla="*/ 1299175 h 2289791"/>
              <a:gd name="connsiteX12" fmla="*/ 395594 w 7203882"/>
              <a:gd name="connsiteY12" fmla="*/ 1422155 h 2289791"/>
              <a:gd name="connsiteX13" fmla="*/ 665275 w 7203882"/>
              <a:gd name="connsiteY13" fmla="*/ 1456627 h 2289791"/>
              <a:gd name="connsiteX14" fmla="*/ 478289 w 7203882"/>
              <a:gd name="connsiteY14" fmla="*/ 689704 h 2289791"/>
              <a:gd name="connsiteX15" fmla="*/ 1894727 w 7203882"/>
              <a:gd name="connsiteY15" fmla="*/ 14836 h 2289791"/>
              <a:gd name="connsiteX16" fmla="*/ 3452872 w 7203882"/>
              <a:gd name="connsiteY16" fmla="*/ 18661 h 2289791"/>
              <a:gd name="connsiteX0" fmla="*/ 3452872 w 7203882"/>
              <a:gd name="connsiteY0" fmla="*/ 18661 h 2289791"/>
              <a:gd name="connsiteX1" fmla="*/ 7198635 w 7203882"/>
              <a:gd name="connsiteY1" fmla="*/ 0 h 2289791"/>
              <a:gd name="connsiteX2" fmla="*/ 7203881 w 7203882"/>
              <a:gd name="connsiteY2" fmla="*/ 5246 h 2289791"/>
              <a:gd name="connsiteX3" fmla="*/ 7203881 w 7203882"/>
              <a:gd name="connsiteY3" fmla="*/ 1299170 h 2289791"/>
              <a:gd name="connsiteX4" fmla="*/ 7203882 w 7203882"/>
              <a:gd name="connsiteY4" fmla="*/ 1299175 h 2289791"/>
              <a:gd name="connsiteX5" fmla="*/ 7203882 w 7203882"/>
              <a:gd name="connsiteY5" fmla="*/ 2073076 h 2289791"/>
              <a:gd name="connsiteX6" fmla="*/ 7010401 w 7203882"/>
              <a:gd name="connsiteY6" fmla="*/ 2266557 h 2289791"/>
              <a:gd name="connsiteX7" fmla="*/ 3999284 w 7203882"/>
              <a:gd name="connsiteY7" fmla="*/ 2221996 h 2289791"/>
              <a:gd name="connsiteX8" fmla="*/ 3669084 w 7203882"/>
              <a:gd name="connsiteY8" fmla="*/ 1464856 h 2289791"/>
              <a:gd name="connsiteX9" fmla="*/ 3362131 w 7203882"/>
              <a:gd name="connsiteY9" fmla="*/ 1199757 h 2289791"/>
              <a:gd name="connsiteX10" fmla="*/ 1662484 w 7203882"/>
              <a:gd name="connsiteY10" fmla="*/ 1479046 h 2289791"/>
              <a:gd name="connsiteX11" fmla="*/ 0 w 7203882"/>
              <a:gd name="connsiteY11" fmla="*/ 2073076 h 2289791"/>
              <a:gd name="connsiteX12" fmla="*/ 0 w 7203882"/>
              <a:gd name="connsiteY12" fmla="*/ 1299175 h 2289791"/>
              <a:gd name="connsiteX13" fmla="*/ 395594 w 7203882"/>
              <a:gd name="connsiteY13" fmla="*/ 1422155 h 2289791"/>
              <a:gd name="connsiteX14" fmla="*/ 665275 w 7203882"/>
              <a:gd name="connsiteY14" fmla="*/ 1456627 h 2289791"/>
              <a:gd name="connsiteX15" fmla="*/ 478289 w 7203882"/>
              <a:gd name="connsiteY15" fmla="*/ 689704 h 2289791"/>
              <a:gd name="connsiteX16" fmla="*/ 1894727 w 7203882"/>
              <a:gd name="connsiteY16" fmla="*/ 14836 h 2289791"/>
              <a:gd name="connsiteX17" fmla="*/ 3452872 w 7203882"/>
              <a:gd name="connsiteY17" fmla="*/ 18661 h 2289791"/>
              <a:gd name="connsiteX0" fmla="*/ 3452872 w 7203882"/>
              <a:gd name="connsiteY0" fmla="*/ 18661 h 2289791"/>
              <a:gd name="connsiteX1" fmla="*/ 7198635 w 7203882"/>
              <a:gd name="connsiteY1" fmla="*/ 0 h 2289791"/>
              <a:gd name="connsiteX2" fmla="*/ 7203881 w 7203882"/>
              <a:gd name="connsiteY2" fmla="*/ 5246 h 2289791"/>
              <a:gd name="connsiteX3" fmla="*/ 7203881 w 7203882"/>
              <a:gd name="connsiteY3" fmla="*/ 1299170 h 2289791"/>
              <a:gd name="connsiteX4" fmla="*/ 7203882 w 7203882"/>
              <a:gd name="connsiteY4" fmla="*/ 1299175 h 2289791"/>
              <a:gd name="connsiteX5" fmla="*/ 7203882 w 7203882"/>
              <a:gd name="connsiteY5" fmla="*/ 2073076 h 2289791"/>
              <a:gd name="connsiteX6" fmla="*/ 7010401 w 7203882"/>
              <a:gd name="connsiteY6" fmla="*/ 2266557 h 2289791"/>
              <a:gd name="connsiteX7" fmla="*/ 3999284 w 7203882"/>
              <a:gd name="connsiteY7" fmla="*/ 2221996 h 2289791"/>
              <a:gd name="connsiteX8" fmla="*/ 3669084 w 7203882"/>
              <a:gd name="connsiteY8" fmla="*/ 1464856 h 2289791"/>
              <a:gd name="connsiteX9" fmla="*/ 3362131 w 7203882"/>
              <a:gd name="connsiteY9" fmla="*/ 1199757 h 2289791"/>
              <a:gd name="connsiteX10" fmla="*/ 2297484 w 7203882"/>
              <a:gd name="connsiteY10" fmla="*/ 1280706 h 2289791"/>
              <a:gd name="connsiteX11" fmla="*/ 1662484 w 7203882"/>
              <a:gd name="connsiteY11" fmla="*/ 1479046 h 2289791"/>
              <a:gd name="connsiteX12" fmla="*/ 0 w 7203882"/>
              <a:gd name="connsiteY12" fmla="*/ 2073076 h 2289791"/>
              <a:gd name="connsiteX13" fmla="*/ 0 w 7203882"/>
              <a:gd name="connsiteY13" fmla="*/ 1299175 h 2289791"/>
              <a:gd name="connsiteX14" fmla="*/ 395594 w 7203882"/>
              <a:gd name="connsiteY14" fmla="*/ 1422155 h 2289791"/>
              <a:gd name="connsiteX15" fmla="*/ 665275 w 7203882"/>
              <a:gd name="connsiteY15" fmla="*/ 1456627 h 2289791"/>
              <a:gd name="connsiteX16" fmla="*/ 478289 w 7203882"/>
              <a:gd name="connsiteY16" fmla="*/ 689704 h 2289791"/>
              <a:gd name="connsiteX17" fmla="*/ 1894727 w 7203882"/>
              <a:gd name="connsiteY17" fmla="*/ 14836 h 2289791"/>
              <a:gd name="connsiteX18" fmla="*/ 3452872 w 7203882"/>
              <a:gd name="connsiteY18" fmla="*/ 18661 h 2289791"/>
              <a:gd name="connsiteX0" fmla="*/ 3452872 w 7203882"/>
              <a:gd name="connsiteY0" fmla="*/ 18661 h 2289791"/>
              <a:gd name="connsiteX1" fmla="*/ 7198635 w 7203882"/>
              <a:gd name="connsiteY1" fmla="*/ 0 h 2289791"/>
              <a:gd name="connsiteX2" fmla="*/ 7203881 w 7203882"/>
              <a:gd name="connsiteY2" fmla="*/ 5246 h 2289791"/>
              <a:gd name="connsiteX3" fmla="*/ 7203881 w 7203882"/>
              <a:gd name="connsiteY3" fmla="*/ 1299170 h 2289791"/>
              <a:gd name="connsiteX4" fmla="*/ 7203882 w 7203882"/>
              <a:gd name="connsiteY4" fmla="*/ 1299175 h 2289791"/>
              <a:gd name="connsiteX5" fmla="*/ 7203882 w 7203882"/>
              <a:gd name="connsiteY5" fmla="*/ 2073076 h 2289791"/>
              <a:gd name="connsiteX6" fmla="*/ 7010401 w 7203882"/>
              <a:gd name="connsiteY6" fmla="*/ 2266557 h 2289791"/>
              <a:gd name="connsiteX7" fmla="*/ 3999284 w 7203882"/>
              <a:gd name="connsiteY7" fmla="*/ 2221996 h 2289791"/>
              <a:gd name="connsiteX8" fmla="*/ 3669084 w 7203882"/>
              <a:gd name="connsiteY8" fmla="*/ 1464856 h 2289791"/>
              <a:gd name="connsiteX9" fmla="*/ 3362131 w 7203882"/>
              <a:gd name="connsiteY9" fmla="*/ 1199757 h 2289791"/>
              <a:gd name="connsiteX10" fmla="*/ 2970584 w 7203882"/>
              <a:gd name="connsiteY10" fmla="*/ 1261656 h 2289791"/>
              <a:gd name="connsiteX11" fmla="*/ 2297484 w 7203882"/>
              <a:gd name="connsiteY11" fmla="*/ 1280706 h 2289791"/>
              <a:gd name="connsiteX12" fmla="*/ 1662484 w 7203882"/>
              <a:gd name="connsiteY12" fmla="*/ 1479046 h 2289791"/>
              <a:gd name="connsiteX13" fmla="*/ 0 w 7203882"/>
              <a:gd name="connsiteY13" fmla="*/ 2073076 h 2289791"/>
              <a:gd name="connsiteX14" fmla="*/ 0 w 7203882"/>
              <a:gd name="connsiteY14" fmla="*/ 1299175 h 2289791"/>
              <a:gd name="connsiteX15" fmla="*/ 395594 w 7203882"/>
              <a:gd name="connsiteY15" fmla="*/ 1422155 h 2289791"/>
              <a:gd name="connsiteX16" fmla="*/ 665275 w 7203882"/>
              <a:gd name="connsiteY16" fmla="*/ 1456627 h 2289791"/>
              <a:gd name="connsiteX17" fmla="*/ 478289 w 7203882"/>
              <a:gd name="connsiteY17" fmla="*/ 689704 h 2289791"/>
              <a:gd name="connsiteX18" fmla="*/ 1894727 w 7203882"/>
              <a:gd name="connsiteY18" fmla="*/ 14836 h 2289791"/>
              <a:gd name="connsiteX19" fmla="*/ 3452872 w 7203882"/>
              <a:gd name="connsiteY19" fmla="*/ 18661 h 2289791"/>
              <a:gd name="connsiteX0" fmla="*/ 3452872 w 7203882"/>
              <a:gd name="connsiteY0" fmla="*/ 18661 h 2289791"/>
              <a:gd name="connsiteX1" fmla="*/ 7198635 w 7203882"/>
              <a:gd name="connsiteY1" fmla="*/ 0 h 2289791"/>
              <a:gd name="connsiteX2" fmla="*/ 7203881 w 7203882"/>
              <a:gd name="connsiteY2" fmla="*/ 5246 h 2289791"/>
              <a:gd name="connsiteX3" fmla="*/ 7203881 w 7203882"/>
              <a:gd name="connsiteY3" fmla="*/ 1299170 h 2289791"/>
              <a:gd name="connsiteX4" fmla="*/ 7203882 w 7203882"/>
              <a:gd name="connsiteY4" fmla="*/ 1299175 h 2289791"/>
              <a:gd name="connsiteX5" fmla="*/ 7203882 w 7203882"/>
              <a:gd name="connsiteY5" fmla="*/ 2073076 h 2289791"/>
              <a:gd name="connsiteX6" fmla="*/ 7010401 w 7203882"/>
              <a:gd name="connsiteY6" fmla="*/ 2266557 h 2289791"/>
              <a:gd name="connsiteX7" fmla="*/ 3999284 w 7203882"/>
              <a:gd name="connsiteY7" fmla="*/ 2221996 h 2289791"/>
              <a:gd name="connsiteX8" fmla="*/ 3669084 w 7203882"/>
              <a:gd name="connsiteY8" fmla="*/ 1464856 h 2289791"/>
              <a:gd name="connsiteX9" fmla="*/ 3470081 w 7203882"/>
              <a:gd name="connsiteY9" fmla="*/ 1269607 h 2289791"/>
              <a:gd name="connsiteX10" fmla="*/ 2970584 w 7203882"/>
              <a:gd name="connsiteY10" fmla="*/ 1261656 h 2289791"/>
              <a:gd name="connsiteX11" fmla="*/ 2297484 w 7203882"/>
              <a:gd name="connsiteY11" fmla="*/ 1280706 h 2289791"/>
              <a:gd name="connsiteX12" fmla="*/ 1662484 w 7203882"/>
              <a:gd name="connsiteY12" fmla="*/ 1479046 h 2289791"/>
              <a:gd name="connsiteX13" fmla="*/ 0 w 7203882"/>
              <a:gd name="connsiteY13" fmla="*/ 2073076 h 2289791"/>
              <a:gd name="connsiteX14" fmla="*/ 0 w 7203882"/>
              <a:gd name="connsiteY14" fmla="*/ 1299175 h 2289791"/>
              <a:gd name="connsiteX15" fmla="*/ 395594 w 7203882"/>
              <a:gd name="connsiteY15" fmla="*/ 1422155 h 2289791"/>
              <a:gd name="connsiteX16" fmla="*/ 665275 w 7203882"/>
              <a:gd name="connsiteY16" fmla="*/ 1456627 h 2289791"/>
              <a:gd name="connsiteX17" fmla="*/ 478289 w 7203882"/>
              <a:gd name="connsiteY17" fmla="*/ 689704 h 2289791"/>
              <a:gd name="connsiteX18" fmla="*/ 1894727 w 7203882"/>
              <a:gd name="connsiteY18" fmla="*/ 14836 h 2289791"/>
              <a:gd name="connsiteX19" fmla="*/ 3452872 w 7203882"/>
              <a:gd name="connsiteY19" fmla="*/ 18661 h 2289791"/>
              <a:gd name="connsiteX0" fmla="*/ 3452872 w 7203882"/>
              <a:gd name="connsiteY0" fmla="*/ 18661 h 2289791"/>
              <a:gd name="connsiteX1" fmla="*/ 7198635 w 7203882"/>
              <a:gd name="connsiteY1" fmla="*/ 0 h 2289791"/>
              <a:gd name="connsiteX2" fmla="*/ 7203881 w 7203882"/>
              <a:gd name="connsiteY2" fmla="*/ 5246 h 2289791"/>
              <a:gd name="connsiteX3" fmla="*/ 7203881 w 7203882"/>
              <a:gd name="connsiteY3" fmla="*/ 1299170 h 2289791"/>
              <a:gd name="connsiteX4" fmla="*/ 7203882 w 7203882"/>
              <a:gd name="connsiteY4" fmla="*/ 1299175 h 2289791"/>
              <a:gd name="connsiteX5" fmla="*/ 7203882 w 7203882"/>
              <a:gd name="connsiteY5" fmla="*/ 2073076 h 2289791"/>
              <a:gd name="connsiteX6" fmla="*/ 7010401 w 7203882"/>
              <a:gd name="connsiteY6" fmla="*/ 2266557 h 2289791"/>
              <a:gd name="connsiteX7" fmla="*/ 3999284 w 7203882"/>
              <a:gd name="connsiteY7" fmla="*/ 2221996 h 2289791"/>
              <a:gd name="connsiteX8" fmla="*/ 3669084 w 7203882"/>
              <a:gd name="connsiteY8" fmla="*/ 1464856 h 2289791"/>
              <a:gd name="connsiteX9" fmla="*/ 3470081 w 7203882"/>
              <a:gd name="connsiteY9" fmla="*/ 1269607 h 2289791"/>
              <a:gd name="connsiteX10" fmla="*/ 2970584 w 7203882"/>
              <a:gd name="connsiteY10" fmla="*/ 1261656 h 2289791"/>
              <a:gd name="connsiteX11" fmla="*/ 2297484 w 7203882"/>
              <a:gd name="connsiteY11" fmla="*/ 1280706 h 2289791"/>
              <a:gd name="connsiteX12" fmla="*/ 1662484 w 7203882"/>
              <a:gd name="connsiteY12" fmla="*/ 1479046 h 2289791"/>
              <a:gd name="connsiteX13" fmla="*/ 831850 w 7203882"/>
              <a:gd name="connsiteY13" fmla="*/ 1660326 h 2289791"/>
              <a:gd name="connsiteX14" fmla="*/ 0 w 7203882"/>
              <a:gd name="connsiteY14" fmla="*/ 1299175 h 2289791"/>
              <a:gd name="connsiteX15" fmla="*/ 395594 w 7203882"/>
              <a:gd name="connsiteY15" fmla="*/ 1422155 h 2289791"/>
              <a:gd name="connsiteX16" fmla="*/ 665275 w 7203882"/>
              <a:gd name="connsiteY16" fmla="*/ 1456627 h 2289791"/>
              <a:gd name="connsiteX17" fmla="*/ 478289 w 7203882"/>
              <a:gd name="connsiteY17" fmla="*/ 689704 h 2289791"/>
              <a:gd name="connsiteX18" fmla="*/ 1894727 w 7203882"/>
              <a:gd name="connsiteY18" fmla="*/ 14836 h 2289791"/>
              <a:gd name="connsiteX19" fmla="*/ 3452872 w 7203882"/>
              <a:gd name="connsiteY19" fmla="*/ 18661 h 2289791"/>
              <a:gd name="connsiteX0" fmla="*/ 3452872 w 7203882"/>
              <a:gd name="connsiteY0" fmla="*/ 18661 h 2289791"/>
              <a:gd name="connsiteX1" fmla="*/ 7198635 w 7203882"/>
              <a:gd name="connsiteY1" fmla="*/ 0 h 2289791"/>
              <a:gd name="connsiteX2" fmla="*/ 7203881 w 7203882"/>
              <a:gd name="connsiteY2" fmla="*/ 5246 h 2289791"/>
              <a:gd name="connsiteX3" fmla="*/ 7203881 w 7203882"/>
              <a:gd name="connsiteY3" fmla="*/ 1299170 h 2289791"/>
              <a:gd name="connsiteX4" fmla="*/ 7203882 w 7203882"/>
              <a:gd name="connsiteY4" fmla="*/ 1299175 h 2289791"/>
              <a:gd name="connsiteX5" fmla="*/ 7203882 w 7203882"/>
              <a:gd name="connsiteY5" fmla="*/ 2073076 h 2289791"/>
              <a:gd name="connsiteX6" fmla="*/ 7010401 w 7203882"/>
              <a:gd name="connsiteY6" fmla="*/ 2266557 h 2289791"/>
              <a:gd name="connsiteX7" fmla="*/ 3999284 w 7203882"/>
              <a:gd name="connsiteY7" fmla="*/ 2221996 h 2289791"/>
              <a:gd name="connsiteX8" fmla="*/ 3669084 w 7203882"/>
              <a:gd name="connsiteY8" fmla="*/ 1464856 h 2289791"/>
              <a:gd name="connsiteX9" fmla="*/ 3470081 w 7203882"/>
              <a:gd name="connsiteY9" fmla="*/ 1269607 h 2289791"/>
              <a:gd name="connsiteX10" fmla="*/ 2970584 w 7203882"/>
              <a:gd name="connsiteY10" fmla="*/ 1261656 h 2289791"/>
              <a:gd name="connsiteX11" fmla="*/ 2297484 w 7203882"/>
              <a:gd name="connsiteY11" fmla="*/ 1280706 h 2289791"/>
              <a:gd name="connsiteX12" fmla="*/ 1662484 w 7203882"/>
              <a:gd name="connsiteY12" fmla="*/ 1479046 h 2289791"/>
              <a:gd name="connsiteX13" fmla="*/ 831850 w 7203882"/>
              <a:gd name="connsiteY13" fmla="*/ 1660326 h 2289791"/>
              <a:gd name="connsiteX14" fmla="*/ 0 w 7203882"/>
              <a:gd name="connsiteY14" fmla="*/ 1299175 h 2289791"/>
              <a:gd name="connsiteX15" fmla="*/ 395594 w 7203882"/>
              <a:gd name="connsiteY15" fmla="*/ 1422155 h 2289791"/>
              <a:gd name="connsiteX16" fmla="*/ 478289 w 7203882"/>
              <a:gd name="connsiteY16" fmla="*/ 689704 h 2289791"/>
              <a:gd name="connsiteX17" fmla="*/ 1894727 w 7203882"/>
              <a:gd name="connsiteY17" fmla="*/ 14836 h 2289791"/>
              <a:gd name="connsiteX18" fmla="*/ 3452872 w 7203882"/>
              <a:gd name="connsiteY18" fmla="*/ 18661 h 2289791"/>
              <a:gd name="connsiteX0" fmla="*/ 3462389 w 7213399"/>
              <a:gd name="connsiteY0" fmla="*/ 18661 h 2289791"/>
              <a:gd name="connsiteX1" fmla="*/ 7208152 w 7213399"/>
              <a:gd name="connsiteY1" fmla="*/ 0 h 2289791"/>
              <a:gd name="connsiteX2" fmla="*/ 7213398 w 7213399"/>
              <a:gd name="connsiteY2" fmla="*/ 5246 h 2289791"/>
              <a:gd name="connsiteX3" fmla="*/ 7213398 w 7213399"/>
              <a:gd name="connsiteY3" fmla="*/ 1299170 h 2289791"/>
              <a:gd name="connsiteX4" fmla="*/ 7213399 w 7213399"/>
              <a:gd name="connsiteY4" fmla="*/ 1299175 h 2289791"/>
              <a:gd name="connsiteX5" fmla="*/ 7213399 w 7213399"/>
              <a:gd name="connsiteY5" fmla="*/ 2073076 h 2289791"/>
              <a:gd name="connsiteX6" fmla="*/ 7019918 w 7213399"/>
              <a:gd name="connsiteY6" fmla="*/ 2266557 h 2289791"/>
              <a:gd name="connsiteX7" fmla="*/ 4008801 w 7213399"/>
              <a:gd name="connsiteY7" fmla="*/ 2221996 h 2289791"/>
              <a:gd name="connsiteX8" fmla="*/ 3678601 w 7213399"/>
              <a:gd name="connsiteY8" fmla="*/ 1464856 h 2289791"/>
              <a:gd name="connsiteX9" fmla="*/ 3479598 w 7213399"/>
              <a:gd name="connsiteY9" fmla="*/ 1269607 h 2289791"/>
              <a:gd name="connsiteX10" fmla="*/ 2980101 w 7213399"/>
              <a:gd name="connsiteY10" fmla="*/ 1261656 h 2289791"/>
              <a:gd name="connsiteX11" fmla="*/ 2307001 w 7213399"/>
              <a:gd name="connsiteY11" fmla="*/ 1280706 h 2289791"/>
              <a:gd name="connsiteX12" fmla="*/ 1672001 w 7213399"/>
              <a:gd name="connsiteY12" fmla="*/ 1479046 h 2289791"/>
              <a:gd name="connsiteX13" fmla="*/ 841367 w 7213399"/>
              <a:gd name="connsiteY13" fmla="*/ 1660326 h 2289791"/>
              <a:gd name="connsiteX14" fmla="*/ 9517 w 7213399"/>
              <a:gd name="connsiteY14" fmla="*/ 1299175 h 2289791"/>
              <a:gd name="connsiteX15" fmla="*/ 487806 w 7213399"/>
              <a:gd name="connsiteY15" fmla="*/ 689704 h 2289791"/>
              <a:gd name="connsiteX16" fmla="*/ 1904244 w 7213399"/>
              <a:gd name="connsiteY16" fmla="*/ 14836 h 2289791"/>
              <a:gd name="connsiteX17" fmla="*/ 3462389 w 7213399"/>
              <a:gd name="connsiteY17" fmla="*/ 18661 h 2289791"/>
              <a:gd name="connsiteX0" fmla="*/ 2974583 w 6725593"/>
              <a:gd name="connsiteY0" fmla="*/ 18661 h 2289791"/>
              <a:gd name="connsiteX1" fmla="*/ 6720346 w 6725593"/>
              <a:gd name="connsiteY1" fmla="*/ 0 h 2289791"/>
              <a:gd name="connsiteX2" fmla="*/ 6725592 w 6725593"/>
              <a:gd name="connsiteY2" fmla="*/ 5246 h 2289791"/>
              <a:gd name="connsiteX3" fmla="*/ 6725592 w 6725593"/>
              <a:gd name="connsiteY3" fmla="*/ 1299170 h 2289791"/>
              <a:gd name="connsiteX4" fmla="*/ 6725593 w 6725593"/>
              <a:gd name="connsiteY4" fmla="*/ 1299175 h 2289791"/>
              <a:gd name="connsiteX5" fmla="*/ 6725593 w 6725593"/>
              <a:gd name="connsiteY5" fmla="*/ 2073076 h 2289791"/>
              <a:gd name="connsiteX6" fmla="*/ 6532112 w 6725593"/>
              <a:gd name="connsiteY6" fmla="*/ 2266557 h 2289791"/>
              <a:gd name="connsiteX7" fmla="*/ 3520995 w 6725593"/>
              <a:gd name="connsiteY7" fmla="*/ 2221996 h 2289791"/>
              <a:gd name="connsiteX8" fmla="*/ 3190795 w 6725593"/>
              <a:gd name="connsiteY8" fmla="*/ 1464856 h 2289791"/>
              <a:gd name="connsiteX9" fmla="*/ 2991792 w 6725593"/>
              <a:gd name="connsiteY9" fmla="*/ 1269607 h 2289791"/>
              <a:gd name="connsiteX10" fmla="*/ 2492295 w 6725593"/>
              <a:gd name="connsiteY10" fmla="*/ 1261656 h 2289791"/>
              <a:gd name="connsiteX11" fmla="*/ 1819195 w 6725593"/>
              <a:gd name="connsiteY11" fmla="*/ 1280706 h 2289791"/>
              <a:gd name="connsiteX12" fmla="*/ 1184195 w 6725593"/>
              <a:gd name="connsiteY12" fmla="*/ 1479046 h 2289791"/>
              <a:gd name="connsiteX13" fmla="*/ 353561 w 6725593"/>
              <a:gd name="connsiteY13" fmla="*/ 1660326 h 2289791"/>
              <a:gd name="connsiteX14" fmla="*/ 0 w 6725593"/>
              <a:gd name="connsiteY14" fmla="*/ 689704 h 2289791"/>
              <a:gd name="connsiteX15" fmla="*/ 1416438 w 6725593"/>
              <a:gd name="connsiteY15" fmla="*/ 14836 h 2289791"/>
              <a:gd name="connsiteX16" fmla="*/ 2974583 w 6725593"/>
              <a:gd name="connsiteY16" fmla="*/ 18661 h 2289791"/>
              <a:gd name="connsiteX0" fmla="*/ 2974583 w 6725593"/>
              <a:gd name="connsiteY0" fmla="*/ 18661 h 2289791"/>
              <a:gd name="connsiteX1" fmla="*/ 6720346 w 6725593"/>
              <a:gd name="connsiteY1" fmla="*/ 0 h 2289791"/>
              <a:gd name="connsiteX2" fmla="*/ 6725592 w 6725593"/>
              <a:gd name="connsiteY2" fmla="*/ 5246 h 2289791"/>
              <a:gd name="connsiteX3" fmla="*/ 6725592 w 6725593"/>
              <a:gd name="connsiteY3" fmla="*/ 1299170 h 2289791"/>
              <a:gd name="connsiteX4" fmla="*/ 6725593 w 6725593"/>
              <a:gd name="connsiteY4" fmla="*/ 1299175 h 2289791"/>
              <a:gd name="connsiteX5" fmla="*/ 6725593 w 6725593"/>
              <a:gd name="connsiteY5" fmla="*/ 2073076 h 2289791"/>
              <a:gd name="connsiteX6" fmla="*/ 6532112 w 6725593"/>
              <a:gd name="connsiteY6" fmla="*/ 2266557 h 2289791"/>
              <a:gd name="connsiteX7" fmla="*/ 3520995 w 6725593"/>
              <a:gd name="connsiteY7" fmla="*/ 2221996 h 2289791"/>
              <a:gd name="connsiteX8" fmla="*/ 3190795 w 6725593"/>
              <a:gd name="connsiteY8" fmla="*/ 1464856 h 2289791"/>
              <a:gd name="connsiteX9" fmla="*/ 2991792 w 6725593"/>
              <a:gd name="connsiteY9" fmla="*/ 1269607 h 2289791"/>
              <a:gd name="connsiteX10" fmla="*/ 2492295 w 6725593"/>
              <a:gd name="connsiteY10" fmla="*/ 1261656 h 2289791"/>
              <a:gd name="connsiteX11" fmla="*/ 1819195 w 6725593"/>
              <a:gd name="connsiteY11" fmla="*/ 1280706 h 2289791"/>
              <a:gd name="connsiteX12" fmla="*/ 1184195 w 6725593"/>
              <a:gd name="connsiteY12" fmla="*/ 1479046 h 2289791"/>
              <a:gd name="connsiteX13" fmla="*/ 99561 w 6725593"/>
              <a:gd name="connsiteY13" fmla="*/ 1609526 h 2289791"/>
              <a:gd name="connsiteX14" fmla="*/ 0 w 6725593"/>
              <a:gd name="connsiteY14" fmla="*/ 689704 h 2289791"/>
              <a:gd name="connsiteX15" fmla="*/ 1416438 w 6725593"/>
              <a:gd name="connsiteY15" fmla="*/ 14836 h 2289791"/>
              <a:gd name="connsiteX16" fmla="*/ 2974583 w 6725593"/>
              <a:gd name="connsiteY16" fmla="*/ 18661 h 2289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5593" h="2289791">
                <a:moveTo>
                  <a:pt x="2974583" y="18661"/>
                </a:moveTo>
                <a:lnTo>
                  <a:pt x="6720346" y="0"/>
                </a:lnTo>
                <a:cubicBezTo>
                  <a:pt x="6723243" y="0"/>
                  <a:pt x="6725592" y="2349"/>
                  <a:pt x="6725592" y="5246"/>
                </a:cubicBezTo>
                <a:lnTo>
                  <a:pt x="6725592" y="1299170"/>
                </a:lnTo>
                <a:cubicBezTo>
                  <a:pt x="6725592" y="1299172"/>
                  <a:pt x="6725593" y="1299173"/>
                  <a:pt x="6725593" y="1299175"/>
                </a:cubicBezTo>
                <a:lnTo>
                  <a:pt x="6725593" y="2073076"/>
                </a:lnTo>
                <a:cubicBezTo>
                  <a:pt x="6725593" y="2179933"/>
                  <a:pt x="6638969" y="2266557"/>
                  <a:pt x="6532112" y="2266557"/>
                </a:cubicBezTo>
                <a:cubicBezTo>
                  <a:pt x="5993779" y="2159085"/>
                  <a:pt x="4129040" y="2399796"/>
                  <a:pt x="3520995" y="2221996"/>
                </a:cubicBezTo>
                <a:cubicBezTo>
                  <a:pt x="2950351" y="2114838"/>
                  <a:pt x="3296987" y="1635229"/>
                  <a:pt x="3190795" y="1464856"/>
                </a:cubicBezTo>
                <a:cubicBezTo>
                  <a:pt x="3084603" y="1294483"/>
                  <a:pt x="3102917" y="1314057"/>
                  <a:pt x="2991792" y="1269607"/>
                </a:cubicBezTo>
                <a:cubicBezTo>
                  <a:pt x="2880667" y="1225157"/>
                  <a:pt x="2669736" y="1248165"/>
                  <a:pt x="2492295" y="1261656"/>
                </a:cubicBezTo>
                <a:cubicBezTo>
                  <a:pt x="2314854" y="1275147"/>
                  <a:pt x="2042503" y="1233891"/>
                  <a:pt x="1819195" y="1280706"/>
                </a:cubicBezTo>
                <a:cubicBezTo>
                  <a:pt x="1595887" y="1327521"/>
                  <a:pt x="1640134" y="1340634"/>
                  <a:pt x="1184195" y="1479046"/>
                </a:cubicBezTo>
                <a:cubicBezTo>
                  <a:pt x="728256" y="1617458"/>
                  <a:pt x="413683" y="1658554"/>
                  <a:pt x="99561" y="1609526"/>
                </a:cubicBezTo>
                <a:lnTo>
                  <a:pt x="0" y="689704"/>
                </a:lnTo>
                <a:cubicBezTo>
                  <a:pt x="0" y="322888"/>
                  <a:pt x="1416438" y="381652"/>
                  <a:pt x="1416438" y="14836"/>
                </a:cubicBezTo>
                <a:cubicBezTo>
                  <a:pt x="1416438" y="11939"/>
                  <a:pt x="2971686" y="18661"/>
                  <a:pt x="2974583" y="18661"/>
                </a:cubicBezTo>
                <a:close/>
              </a:path>
            </a:pathLst>
          </a:custGeom>
          <a:solidFill>
            <a:srgbClr val="F9F9F9">
              <a:alpha val="85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1350" dirty="0"/>
          </a:p>
        </p:txBody>
      </p:sp>
    </p:spTree>
    <p:extLst>
      <p:ext uri="{BB962C8B-B14F-4D97-AF65-F5344CB8AC3E}">
        <p14:creationId xmlns:p14="http://schemas.microsoft.com/office/powerpoint/2010/main" val="76952228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141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 </a:t>
            </a:r>
            <a:r>
              <a:rPr lang="fr-FR" sz="2100" b="0" dirty="0"/>
              <a:t>pureté de l’arbre, GINI</a:t>
            </a:r>
          </a:p>
        </p:txBody>
      </p:sp>
      <p:grpSp>
        <p:nvGrpSpPr>
          <p:cNvPr id="7" name="Groupe 6">
            <a:extLst>
              <a:ext uri="{FF2B5EF4-FFF2-40B4-BE49-F238E27FC236}">
                <a16:creationId xmlns:a16="http://schemas.microsoft.com/office/drawing/2014/main" id="{9F8FB54E-9511-4D0B-BEAE-F1507DCD1D2D}"/>
              </a:ext>
            </a:extLst>
          </p:cNvPr>
          <p:cNvGrpSpPr/>
          <p:nvPr/>
        </p:nvGrpSpPr>
        <p:grpSpPr>
          <a:xfrm>
            <a:off x="1276448" y="1272855"/>
            <a:ext cx="4599470" cy="1894111"/>
            <a:chOff x="4023711" y="4162038"/>
            <a:chExt cx="6132627" cy="2525481"/>
          </a:xfrm>
        </p:grpSpPr>
        <p:sp>
          <p:nvSpPr>
            <p:cNvPr id="8" name="Rectangle 7">
              <a:extLst>
                <a:ext uri="{FF2B5EF4-FFF2-40B4-BE49-F238E27FC236}">
                  <a16:creationId xmlns:a16="http://schemas.microsoft.com/office/drawing/2014/main" id="{C4504155-930F-49E6-939D-67B60C0040AD}"/>
                </a:ext>
              </a:extLst>
            </p:cNvPr>
            <p:cNvSpPr/>
            <p:nvPr/>
          </p:nvSpPr>
          <p:spPr>
            <a:xfrm>
              <a:off x="6096000" y="4162038"/>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[50, 50, 50]</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D01C5421-1321-43D7-B2EE-2DBA7F96AB35}"/>
                    </a:ext>
                  </a:extLst>
                </p:cNvPr>
                <p:cNvSpPr/>
                <p:nvPr/>
              </p:nvSpPr>
              <p:spPr>
                <a:xfrm>
                  <a:off x="6095999" y="4497303"/>
                  <a:ext cx="1454400"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sz="600" dirty="0">
                      <a:solidFill>
                        <a:schemeClr val="tx1">
                          <a:lumMod val="50000"/>
                        </a:schemeClr>
                      </a:solidFill>
                    </a:rPr>
                    <a:t>Longueur des sépales </a:t>
                  </a:r>
                  <a14:m>
                    <m:oMath xmlns:m="http://schemas.openxmlformats.org/officeDocument/2006/math">
                      <m:r>
                        <a:rPr lang="fr-FR" sz="600" i="1">
                          <a:solidFill>
                            <a:schemeClr val="tx1">
                              <a:lumMod val="50000"/>
                            </a:schemeClr>
                          </a:solidFill>
                          <a:latin typeface="Cambria Math" panose="02040503050406030204" pitchFamily="18" charset="0"/>
                          <a:ea typeface="Cambria Math" panose="02040503050406030204" pitchFamily="18" charset="0"/>
                        </a:rPr>
                        <m:t>≤0.6</m:t>
                      </m:r>
                    </m:oMath>
                  </a14:m>
                  <a:endParaRPr lang="fr-FR" sz="600" i="1" dirty="0">
                    <a:solidFill>
                      <a:schemeClr val="tx1">
                        <a:lumMod val="50000"/>
                      </a:schemeClr>
                    </a:solidFill>
                  </a:endParaRPr>
                </a:p>
              </p:txBody>
            </p:sp>
          </mc:Choice>
          <mc:Fallback xmlns="">
            <p:sp>
              <p:nvSpPr>
                <p:cNvPr id="9" name="Rectangle 8">
                  <a:extLst>
                    <a:ext uri="{FF2B5EF4-FFF2-40B4-BE49-F238E27FC236}">
                      <a16:creationId xmlns:a16="http://schemas.microsoft.com/office/drawing/2014/main" id="{D01C5421-1321-43D7-B2EE-2DBA7F96AB35}"/>
                    </a:ext>
                  </a:extLst>
                </p:cNvPr>
                <p:cNvSpPr>
                  <a:spLocks noRot="1" noChangeAspect="1" noMove="1" noResize="1" noEditPoints="1" noAdjustHandles="1" noChangeArrowheads="1" noChangeShapeType="1" noTextEdit="1"/>
                </p:cNvSpPr>
                <p:nvPr/>
              </p:nvSpPr>
              <p:spPr>
                <a:xfrm>
                  <a:off x="6095999" y="4497303"/>
                  <a:ext cx="1454400" cy="216000"/>
                </a:xfrm>
                <a:prstGeom prst="rect">
                  <a:avLst/>
                </a:prstGeom>
                <a:blipFill>
                  <a:blip r:embed="rId4"/>
                  <a:stretch>
                    <a:fillRect b="-7895"/>
                  </a:stretch>
                </a:blipFill>
                <a:ln>
                  <a:solidFill>
                    <a:schemeClr val="tx1">
                      <a:lumMod val="75000"/>
                    </a:schemeClr>
                  </a:solidFill>
                  <a:headEnd type="none" w="med" len="med"/>
                  <a:tailEnd type="none" w="med" len="me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7F6C8F34-2980-41F0-A009-40B6E892B023}"/>
                    </a:ext>
                  </a:extLst>
                </p:cNvPr>
                <p:cNvSpPr/>
                <p:nvPr/>
              </p:nvSpPr>
              <p:spPr>
                <a:xfrm>
                  <a:off x="7228424" y="5416844"/>
                  <a:ext cx="1454400"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600" dirty="0">
                      <a:solidFill>
                        <a:schemeClr val="tx1">
                          <a:lumMod val="50000"/>
                        </a:schemeClr>
                      </a:solidFill>
                    </a:rPr>
                    <a:t>Longueur des pétales </a:t>
                  </a:r>
                  <a14:m>
                    <m:oMath xmlns:m="http://schemas.openxmlformats.org/officeDocument/2006/math">
                      <m:r>
                        <a:rPr lang="fr-FR" sz="600">
                          <a:solidFill>
                            <a:schemeClr val="tx1">
                              <a:lumMod val="50000"/>
                            </a:schemeClr>
                          </a:solidFill>
                          <a:latin typeface="Cambria Math" panose="02040503050406030204" pitchFamily="18" charset="0"/>
                        </a:rPr>
                        <m:t>&gt;0.5</m:t>
                      </m:r>
                    </m:oMath>
                  </a14:m>
                  <a:endParaRPr lang="fr-FR" sz="600" dirty="0">
                    <a:solidFill>
                      <a:schemeClr val="tx1">
                        <a:lumMod val="50000"/>
                      </a:schemeClr>
                    </a:solidFill>
                  </a:endParaRPr>
                </a:p>
              </p:txBody>
            </p:sp>
          </mc:Choice>
          <mc:Fallback xmlns="">
            <p:sp>
              <p:nvSpPr>
                <p:cNvPr id="11" name="Rectangle 10">
                  <a:extLst>
                    <a:ext uri="{FF2B5EF4-FFF2-40B4-BE49-F238E27FC236}">
                      <a16:creationId xmlns:a16="http://schemas.microsoft.com/office/drawing/2014/main" id="{7F6C8F34-2980-41F0-A009-40B6E892B023}"/>
                    </a:ext>
                  </a:extLst>
                </p:cNvPr>
                <p:cNvSpPr>
                  <a:spLocks noRot="1" noChangeAspect="1" noMove="1" noResize="1" noEditPoints="1" noAdjustHandles="1" noChangeArrowheads="1" noChangeShapeType="1" noTextEdit="1"/>
                </p:cNvSpPr>
                <p:nvPr/>
              </p:nvSpPr>
              <p:spPr>
                <a:xfrm>
                  <a:off x="7228424" y="5416844"/>
                  <a:ext cx="1454400" cy="216000"/>
                </a:xfrm>
                <a:prstGeom prst="rect">
                  <a:avLst/>
                </a:prstGeom>
                <a:blipFill>
                  <a:blip r:embed="rId5"/>
                  <a:stretch>
                    <a:fillRect b="-5263"/>
                  </a:stretch>
                </a:blipFill>
                <a:ln>
                  <a:solidFill>
                    <a:schemeClr val="tx1">
                      <a:lumMod val="75000"/>
                    </a:schemeClr>
                  </a:solidFill>
                  <a:headEnd type="none" w="med" len="med"/>
                  <a:tailEnd type="none" w="med" len="med"/>
                </a:ln>
              </p:spPr>
              <p:txBody>
                <a:bodyPr/>
                <a:lstStyle/>
                <a:p>
                  <a:r>
                    <a:rPr lang="fr-FR">
                      <a:noFill/>
                    </a:rPr>
                    <a:t> </a:t>
                  </a:r>
                </a:p>
              </p:txBody>
            </p:sp>
          </mc:Fallback>
        </mc:AlternateContent>
        <p:sp>
          <p:nvSpPr>
            <p:cNvPr id="12" name="Rectangle 11">
              <a:extLst>
                <a:ext uri="{FF2B5EF4-FFF2-40B4-BE49-F238E27FC236}">
                  <a16:creationId xmlns:a16="http://schemas.microsoft.com/office/drawing/2014/main" id="{FB889F44-80D0-4960-A738-298152FBE6B7}"/>
                </a:ext>
              </a:extLst>
            </p:cNvPr>
            <p:cNvSpPr/>
            <p:nvPr/>
          </p:nvSpPr>
          <p:spPr>
            <a:xfrm>
              <a:off x="5302195" y="5081579"/>
              <a:ext cx="1454399" cy="338554"/>
            </a:xfrm>
            <a:prstGeom prst="rect">
              <a:avLst/>
            </a:prstGeom>
            <a:noFill/>
            <a:ln w="3810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[50, 0, 0]</a:t>
              </a:r>
            </a:p>
          </p:txBody>
        </p:sp>
        <p:sp>
          <p:nvSpPr>
            <p:cNvPr id="13" name="Rectangle 12">
              <a:extLst>
                <a:ext uri="{FF2B5EF4-FFF2-40B4-BE49-F238E27FC236}">
                  <a16:creationId xmlns:a16="http://schemas.microsoft.com/office/drawing/2014/main" id="{D51C882F-F89B-467D-BACA-53D83D455D5B}"/>
                </a:ext>
              </a:extLst>
            </p:cNvPr>
            <p:cNvSpPr/>
            <p:nvPr/>
          </p:nvSpPr>
          <p:spPr>
            <a:xfrm>
              <a:off x="7228424" y="6108749"/>
              <a:ext cx="1454399" cy="338554"/>
            </a:xfrm>
            <a:prstGeom prst="rect">
              <a:avLst/>
            </a:prstGeom>
            <a:noFill/>
            <a:ln w="38100" cap="flat" cmpd="sng" algn="ctr">
              <a:solidFill>
                <a:srgbClr val="9B9049"/>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1, 45]</a:t>
              </a:r>
            </a:p>
          </p:txBody>
        </p:sp>
        <p:sp>
          <p:nvSpPr>
            <p:cNvPr id="15" name="Rectangle 14">
              <a:extLst>
                <a:ext uri="{FF2B5EF4-FFF2-40B4-BE49-F238E27FC236}">
                  <a16:creationId xmlns:a16="http://schemas.microsoft.com/office/drawing/2014/main" id="{DA7AAC70-1450-4B44-B8CD-D866195625BB}"/>
                </a:ext>
              </a:extLst>
            </p:cNvPr>
            <p:cNvSpPr/>
            <p:nvPr/>
          </p:nvSpPr>
          <p:spPr>
            <a:xfrm>
              <a:off x="5298580" y="6129863"/>
              <a:ext cx="1454399" cy="338554"/>
            </a:xfrm>
            <a:prstGeom prst="rect">
              <a:avLst/>
            </a:prstGeom>
            <a:noFill/>
            <a:ln w="38100" cap="flat" cmpd="sng" algn="ctr">
              <a:solidFill>
                <a:srgbClr val="85B897"/>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49, 5]</a:t>
              </a:r>
            </a:p>
          </p:txBody>
        </p:sp>
        <p:cxnSp>
          <p:nvCxnSpPr>
            <p:cNvPr id="16" name="Connecteur droit 15">
              <a:extLst>
                <a:ext uri="{FF2B5EF4-FFF2-40B4-BE49-F238E27FC236}">
                  <a16:creationId xmlns:a16="http://schemas.microsoft.com/office/drawing/2014/main" id="{2EB4E820-971B-4FD0-A750-DE18789E6D23}"/>
                </a:ext>
              </a:extLst>
            </p:cNvPr>
            <p:cNvCxnSpPr>
              <a:cxnSpLocks/>
              <a:stCxn id="12" idx="0"/>
              <a:endCxn id="9" idx="2"/>
            </p:cNvCxnSpPr>
            <p:nvPr/>
          </p:nvCxnSpPr>
          <p:spPr>
            <a:xfrm flipV="1">
              <a:off x="6029395" y="4713303"/>
              <a:ext cx="793804" cy="3682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3C5D9F46-2032-4063-8BCC-47C4A8B71158}"/>
                </a:ext>
              </a:extLst>
            </p:cNvPr>
            <p:cNvCxnSpPr>
              <a:cxnSpLocks/>
              <a:stCxn id="15" idx="0"/>
              <a:endCxn id="11" idx="2"/>
            </p:cNvCxnSpPr>
            <p:nvPr/>
          </p:nvCxnSpPr>
          <p:spPr>
            <a:xfrm flipV="1">
              <a:off x="6025780" y="5632844"/>
              <a:ext cx="1929844" cy="4970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08407C13-2067-4AFD-9411-7FDC20A2BEF5}"/>
                </a:ext>
              </a:extLst>
            </p:cNvPr>
            <p:cNvCxnSpPr>
              <a:cxnSpLocks/>
              <a:stCxn id="13" idx="0"/>
              <a:endCxn id="11" idx="2"/>
            </p:cNvCxnSpPr>
            <p:nvPr/>
          </p:nvCxnSpPr>
          <p:spPr>
            <a:xfrm flipV="1">
              <a:off x="7955624" y="5632844"/>
              <a:ext cx="0" cy="4759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D28F92E5-5CD5-4496-8AF5-385EB149A060}"/>
                </a:ext>
              </a:extLst>
            </p:cNvPr>
            <p:cNvCxnSpPr>
              <a:cxnSpLocks/>
              <a:stCxn id="10" idx="0"/>
              <a:endCxn id="9" idx="2"/>
            </p:cNvCxnSpPr>
            <p:nvPr/>
          </p:nvCxnSpPr>
          <p:spPr>
            <a:xfrm flipH="1" flipV="1">
              <a:off x="6823199" y="4713303"/>
              <a:ext cx="1132426" cy="368276"/>
            </a:xfrm>
            <a:prstGeom prst="line">
              <a:avLst/>
            </a:prstGeom>
          </p:spPr>
          <p:style>
            <a:lnRef idx="1">
              <a:schemeClr val="accent1"/>
            </a:lnRef>
            <a:fillRef idx="0">
              <a:schemeClr val="accent1"/>
            </a:fillRef>
            <a:effectRef idx="0">
              <a:schemeClr val="accent1"/>
            </a:effectRef>
            <a:fontRef idx="minor">
              <a:schemeClr val="tx1"/>
            </a:fontRef>
          </p:style>
        </p:cxnSp>
        <p:sp>
          <p:nvSpPr>
            <p:cNvPr id="20" name="Légende : flèche courbée 19">
              <a:extLst>
                <a:ext uri="{FF2B5EF4-FFF2-40B4-BE49-F238E27FC236}">
                  <a16:creationId xmlns:a16="http://schemas.microsoft.com/office/drawing/2014/main" id="{02924561-7E76-4D80-84C1-1D601BC25B6C}"/>
                </a:ext>
              </a:extLst>
            </p:cNvPr>
            <p:cNvSpPr/>
            <p:nvPr/>
          </p:nvSpPr>
          <p:spPr>
            <a:xfrm>
              <a:off x="9233029" y="6468417"/>
              <a:ext cx="923309" cy="219102"/>
            </a:xfrm>
            <a:prstGeom prst="borderCallout2">
              <a:avLst>
                <a:gd name="adj1" fmla="val 18750"/>
                <a:gd name="adj2" fmla="val -8333"/>
                <a:gd name="adj3" fmla="val 18750"/>
                <a:gd name="adj4" fmla="val -16667"/>
                <a:gd name="adj5" fmla="val -50806"/>
                <a:gd name="adj6" fmla="val -5441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virginica</a:t>
              </a:r>
            </a:p>
          </p:txBody>
        </p:sp>
        <p:sp>
          <p:nvSpPr>
            <p:cNvPr id="22" name="Légende : flèche courbée 21">
              <a:extLst>
                <a:ext uri="{FF2B5EF4-FFF2-40B4-BE49-F238E27FC236}">
                  <a16:creationId xmlns:a16="http://schemas.microsoft.com/office/drawing/2014/main" id="{D234E9CD-98DF-4D8B-823D-05C225B4274C}"/>
                </a:ext>
              </a:extLst>
            </p:cNvPr>
            <p:cNvSpPr/>
            <p:nvPr/>
          </p:nvSpPr>
          <p:spPr>
            <a:xfrm>
              <a:off x="4709768" y="5552701"/>
              <a:ext cx="824117" cy="219102"/>
            </a:xfrm>
            <a:prstGeom prst="borderCallout2">
              <a:avLst>
                <a:gd name="adj1" fmla="val 29637"/>
                <a:gd name="adj2" fmla="val 106236"/>
                <a:gd name="adj3" fmla="val 29637"/>
                <a:gd name="adj4" fmla="val 116446"/>
                <a:gd name="adj5" fmla="val -36291"/>
                <a:gd name="adj6" fmla="val 13288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setosa</a:t>
              </a:r>
            </a:p>
          </p:txBody>
        </p:sp>
        <p:sp>
          <p:nvSpPr>
            <p:cNvPr id="23" name="Légende : flèche courbée 22">
              <a:extLst>
                <a:ext uri="{FF2B5EF4-FFF2-40B4-BE49-F238E27FC236}">
                  <a16:creationId xmlns:a16="http://schemas.microsoft.com/office/drawing/2014/main" id="{0C487599-0678-4C35-9A47-88050C92A37D}"/>
                </a:ext>
              </a:extLst>
            </p:cNvPr>
            <p:cNvSpPr/>
            <p:nvPr/>
          </p:nvSpPr>
          <p:spPr>
            <a:xfrm>
              <a:off x="9061216" y="5552701"/>
              <a:ext cx="923309" cy="475904"/>
            </a:xfrm>
            <a:prstGeom prst="borderCallout2">
              <a:avLst>
                <a:gd name="adj1" fmla="val 18750"/>
                <a:gd name="adj2" fmla="val -8333"/>
                <a:gd name="adj3" fmla="val 18750"/>
                <a:gd name="adj4" fmla="val -16667"/>
                <a:gd name="adj5" fmla="val -37152"/>
                <a:gd name="adj6" fmla="val -3771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Virginica,</a:t>
              </a:r>
            </a:p>
            <a:p>
              <a:pPr algn="ctr"/>
              <a:r>
                <a:rPr lang="fr-FR" sz="1050" dirty="0"/>
                <a:t>versicolor</a:t>
              </a:r>
            </a:p>
          </p:txBody>
        </p:sp>
        <p:sp>
          <p:nvSpPr>
            <p:cNvPr id="24" name="Légende : flèche courbée 23">
              <a:extLst>
                <a:ext uri="{FF2B5EF4-FFF2-40B4-BE49-F238E27FC236}">
                  <a16:creationId xmlns:a16="http://schemas.microsoft.com/office/drawing/2014/main" id="{B0C61903-BC2B-4E6E-B889-1701BE50430C}"/>
                </a:ext>
              </a:extLst>
            </p:cNvPr>
            <p:cNvSpPr/>
            <p:nvPr/>
          </p:nvSpPr>
          <p:spPr>
            <a:xfrm>
              <a:off x="4023711" y="6376140"/>
              <a:ext cx="923308" cy="219102"/>
            </a:xfrm>
            <a:prstGeom prst="borderCallout2">
              <a:avLst>
                <a:gd name="adj1" fmla="val 29637"/>
                <a:gd name="adj2" fmla="val 106236"/>
                <a:gd name="adj3" fmla="val 29637"/>
                <a:gd name="adj4" fmla="val 116446"/>
                <a:gd name="adj5" fmla="val -36291"/>
                <a:gd name="adj6" fmla="val 13288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900" dirty="0"/>
                <a:t>versicolor</a:t>
              </a:r>
            </a:p>
          </p:txBody>
        </p:sp>
        <p:sp>
          <p:nvSpPr>
            <p:cNvPr id="10" name="Rectangle 9">
              <a:extLst>
                <a:ext uri="{FF2B5EF4-FFF2-40B4-BE49-F238E27FC236}">
                  <a16:creationId xmlns:a16="http://schemas.microsoft.com/office/drawing/2014/main" id="{C59078DD-852C-4E37-B732-111538C00C82}"/>
                </a:ext>
              </a:extLst>
            </p:cNvPr>
            <p:cNvSpPr/>
            <p:nvPr/>
          </p:nvSpPr>
          <p:spPr>
            <a:xfrm>
              <a:off x="7228425" y="5081579"/>
              <a:ext cx="1454399" cy="338554"/>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[0, 50, 50]</a:t>
              </a:r>
            </a:p>
          </p:txBody>
        </p:sp>
      </p:gr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C7922BDA-2C5E-4359-86A8-FB5B8FBB11F0}"/>
                  </a:ext>
                </a:extLst>
              </p:cNvPr>
              <p:cNvSpPr txBox="1"/>
              <p:nvPr/>
            </p:nvSpPr>
            <p:spPr>
              <a:xfrm>
                <a:off x="2064398" y="3806890"/>
                <a:ext cx="4100804" cy="444289"/>
              </a:xfrm>
              <a:prstGeom prst="rect">
                <a:avLst/>
              </a:prstGeom>
              <a:noFill/>
            </p:spPr>
            <p:txBody>
              <a:bodyPr wrap="square" rtlCol="0">
                <a:spAutoFit/>
              </a:bodyPr>
              <a:lstStyle/>
              <a:p>
                <a14:m>
                  <m:oMath xmlns:m="http://schemas.openxmlformats.org/officeDocument/2006/math">
                    <m:r>
                      <a:rPr lang="fr-FR" sz="1350" i="1">
                        <a:solidFill>
                          <a:srgbClr val="85B897"/>
                        </a:solidFill>
                        <a:latin typeface="Cambria Math" panose="02040503050406030204" pitchFamily="18" charset="0"/>
                      </a:rPr>
                      <m:t>𝑔𝑖𝑛𝑖</m:t>
                    </m:r>
                    <m:r>
                      <a:rPr lang="fr-FR" sz="1350" i="1">
                        <a:solidFill>
                          <a:srgbClr val="85B897"/>
                        </a:solidFill>
                        <a:latin typeface="Cambria Math" panose="02040503050406030204" pitchFamily="18" charset="0"/>
                      </a:rPr>
                      <m:t>=1 − </m:t>
                    </m:r>
                    <m:sSup>
                      <m:sSupPr>
                        <m:ctrlPr>
                          <a:rPr lang="fr-FR" sz="1350" i="1">
                            <a:solidFill>
                              <a:srgbClr val="85B897"/>
                            </a:solidFill>
                            <a:latin typeface="Cambria Math" panose="02040503050406030204" pitchFamily="18" charset="0"/>
                          </a:rPr>
                        </m:ctrlPr>
                      </m:sSupPr>
                      <m:e>
                        <m:d>
                          <m:dPr>
                            <m:ctrlPr>
                              <a:rPr lang="fr-FR" sz="1350" i="1">
                                <a:solidFill>
                                  <a:srgbClr val="85B897"/>
                                </a:solidFill>
                                <a:latin typeface="Cambria Math" panose="02040503050406030204" pitchFamily="18" charset="0"/>
                              </a:rPr>
                            </m:ctrlPr>
                          </m:dPr>
                          <m:e>
                            <m:f>
                              <m:fPr>
                                <m:ctrlPr>
                                  <a:rPr lang="fr-FR" sz="1350" i="1">
                                    <a:solidFill>
                                      <a:srgbClr val="85B897"/>
                                    </a:solidFill>
                                    <a:latin typeface="Cambria Math" panose="02040503050406030204" pitchFamily="18" charset="0"/>
                                  </a:rPr>
                                </m:ctrlPr>
                              </m:fPr>
                              <m:num>
                                <m:r>
                                  <a:rPr lang="fr-FR" sz="1350" i="1">
                                    <a:solidFill>
                                      <a:srgbClr val="85B897"/>
                                    </a:solidFill>
                                    <a:latin typeface="Cambria Math" panose="02040503050406030204" pitchFamily="18" charset="0"/>
                                  </a:rPr>
                                  <m:t>0</m:t>
                                </m:r>
                              </m:num>
                              <m:den>
                                <m:r>
                                  <a:rPr lang="fr-FR" sz="1350" i="1">
                                    <a:solidFill>
                                      <a:srgbClr val="85B897"/>
                                    </a:solidFill>
                                    <a:latin typeface="Cambria Math" panose="02040503050406030204" pitchFamily="18" charset="0"/>
                                  </a:rPr>
                                  <m:t>54</m:t>
                                </m:r>
                              </m:den>
                            </m:f>
                          </m:e>
                        </m:d>
                      </m:e>
                      <m:sup>
                        <m:r>
                          <a:rPr lang="fr-FR" sz="1350" i="1">
                            <a:solidFill>
                              <a:srgbClr val="85B897"/>
                            </a:solidFill>
                            <a:latin typeface="Cambria Math" panose="02040503050406030204" pitchFamily="18" charset="0"/>
                          </a:rPr>
                          <m:t>2</m:t>
                        </m:r>
                      </m:sup>
                    </m:sSup>
                    <m:r>
                      <a:rPr lang="fr-FR" sz="1350" i="1">
                        <a:solidFill>
                          <a:srgbClr val="85B897"/>
                        </a:solidFill>
                        <a:latin typeface="Cambria Math" panose="02040503050406030204" pitchFamily="18" charset="0"/>
                      </a:rPr>
                      <m:t>− </m:t>
                    </m:r>
                    <m:sSup>
                      <m:sSupPr>
                        <m:ctrlPr>
                          <a:rPr lang="fr-FR" sz="1350" i="1">
                            <a:solidFill>
                              <a:srgbClr val="85B897"/>
                            </a:solidFill>
                            <a:latin typeface="Cambria Math" panose="02040503050406030204" pitchFamily="18" charset="0"/>
                          </a:rPr>
                        </m:ctrlPr>
                      </m:sSupPr>
                      <m:e>
                        <m:d>
                          <m:dPr>
                            <m:ctrlPr>
                              <a:rPr lang="fr-FR" sz="1350" i="1">
                                <a:solidFill>
                                  <a:srgbClr val="85B897"/>
                                </a:solidFill>
                                <a:latin typeface="Cambria Math" panose="02040503050406030204" pitchFamily="18" charset="0"/>
                              </a:rPr>
                            </m:ctrlPr>
                          </m:dPr>
                          <m:e>
                            <m:f>
                              <m:fPr>
                                <m:ctrlPr>
                                  <a:rPr lang="fr-FR" sz="1350" i="1">
                                    <a:solidFill>
                                      <a:srgbClr val="85B897"/>
                                    </a:solidFill>
                                    <a:latin typeface="Cambria Math" panose="02040503050406030204" pitchFamily="18" charset="0"/>
                                  </a:rPr>
                                </m:ctrlPr>
                              </m:fPr>
                              <m:num>
                                <m:r>
                                  <a:rPr lang="fr-FR" sz="1350" i="1">
                                    <a:solidFill>
                                      <a:srgbClr val="85B897"/>
                                    </a:solidFill>
                                    <a:latin typeface="Cambria Math" panose="02040503050406030204" pitchFamily="18" charset="0"/>
                                  </a:rPr>
                                  <m:t>49</m:t>
                                </m:r>
                              </m:num>
                              <m:den>
                                <m:r>
                                  <a:rPr lang="fr-FR" sz="1350" i="1">
                                    <a:solidFill>
                                      <a:srgbClr val="85B897"/>
                                    </a:solidFill>
                                    <a:latin typeface="Cambria Math" panose="02040503050406030204" pitchFamily="18" charset="0"/>
                                  </a:rPr>
                                  <m:t>54</m:t>
                                </m:r>
                              </m:den>
                            </m:f>
                          </m:e>
                        </m:d>
                      </m:e>
                      <m:sup>
                        <m:r>
                          <a:rPr lang="fr-FR" sz="1350" i="1">
                            <a:solidFill>
                              <a:srgbClr val="85B897"/>
                            </a:solidFill>
                            <a:latin typeface="Cambria Math" panose="02040503050406030204" pitchFamily="18" charset="0"/>
                          </a:rPr>
                          <m:t>2</m:t>
                        </m:r>
                      </m:sup>
                    </m:sSup>
                  </m:oMath>
                </a14:m>
                <a:r>
                  <a:rPr lang="fr-FR" sz="1350" dirty="0">
                    <a:solidFill>
                      <a:srgbClr val="85B897"/>
                    </a:solidFill>
                  </a:rPr>
                  <a:t> </a:t>
                </a:r>
                <a14:m>
                  <m:oMath xmlns:m="http://schemas.openxmlformats.org/officeDocument/2006/math">
                    <m:r>
                      <a:rPr lang="fr-FR" sz="1350" i="1">
                        <a:solidFill>
                          <a:srgbClr val="85B897"/>
                        </a:solidFill>
                        <a:latin typeface="Cambria Math" panose="02040503050406030204" pitchFamily="18" charset="0"/>
                      </a:rPr>
                      <m:t>− </m:t>
                    </m:r>
                    <m:sSup>
                      <m:sSupPr>
                        <m:ctrlPr>
                          <a:rPr lang="fr-FR" sz="1350" i="1">
                            <a:solidFill>
                              <a:srgbClr val="85B897"/>
                            </a:solidFill>
                            <a:latin typeface="Cambria Math" panose="02040503050406030204" pitchFamily="18" charset="0"/>
                          </a:rPr>
                        </m:ctrlPr>
                      </m:sSupPr>
                      <m:e>
                        <m:d>
                          <m:dPr>
                            <m:ctrlPr>
                              <a:rPr lang="fr-FR" sz="1350" i="1">
                                <a:solidFill>
                                  <a:srgbClr val="85B897"/>
                                </a:solidFill>
                                <a:latin typeface="Cambria Math" panose="02040503050406030204" pitchFamily="18" charset="0"/>
                              </a:rPr>
                            </m:ctrlPr>
                          </m:dPr>
                          <m:e>
                            <m:f>
                              <m:fPr>
                                <m:ctrlPr>
                                  <a:rPr lang="fr-FR" sz="1350" i="1">
                                    <a:solidFill>
                                      <a:srgbClr val="85B897"/>
                                    </a:solidFill>
                                    <a:latin typeface="Cambria Math" panose="02040503050406030204" pitchFamily="18" charset="0"/>
                                  </a:rPr>
                                </m:ctrlPr>
                              </m:fPr>
                              <m:num>
                                <m:r>
                                  <a:rPr lang="fr-FR" sz="1350" i="1">
                                    <a:solidFill>
                                      <a:srgbClr val="85B897"/>
                                    </a:solidFill>
                                    <a:latin typeface="Cambria Math" panose="02040503050406030204" pitchFamily="18" charset="0"/>
                                  </a:rPr>
                                  <m:t>5</m:t>
                                </m:r>
                              </m:num>
                              <m:den>
                                <m:r>
                                  <a:rPr lang="fr-FR" sz="1350" i="1">
                                    <a:solidFill>
                                      <a:srgbClr val="85B897"/>
                                    </a:solidFill>
                                    <a:latin typeface="Cambria Math" panose="02040503050406030204" pitchFamily="18" charset="0"/>
                                  </a:rPr>
                                  <m:t>54</m:t>
                                </m:r>
                              </m:den>
                            </m:f>
                          </m:e>
                        </m:d>
                      </m:e>
                      <m:sup>
                        <m:r>
                          <a:rPr lang="fr-FR" sz="1350" i="1">
                            <a:solidFill>
                              <a:srgbClr val="85B897"/>
                            </a:solidFill>
                            <a:latin typeface="Cambria Math" panose="02040503050406030204" pitchFamily="18" charset="0"/>
                          </a:rPr>
                          <m:t>2</m:t>
                        </m:r>
                      </m:sup>
                    </m:sSup>
                  </m:oMath>
                </a14:m>
                <a:r>
                  <a:rPr lang="fr-FR" sz="1350" dirty="0">
                    <a:solidFill>
                      <a:srgbClr val="85B897"/>
                    </a:solidFill>
                  </a:rPr>
                  <a:t>= 0.168</a:t>
                </a:r>
              </a:p>
            </p:txBody>
          </p:sp>
        </mc:Choice>
        <mc:Fallback xmlns="">
          <p:sp>
            <p:nvSpPr>
              <p:cNvPr id="5" name="ZoneTexte 4">
                <a:extLst>
                  <a:ext uri="{FF2B5EF4-FFF2-40B4-BE49-F238E27FC236}">
                    <a16:creationId xmlns:a16="http://schemas.microsoft.com/office/drawing/2014/main" id="{C7922BDA-2C5E-4359-86A8-FB5B8FBB11F0}"/>
                  </a:ext>
                </a:extLst>
              </p:cNvPr>
              <p:cNvSpPr txBox="1">
                <a:spLocks noRot="1" noChangeAspect="1" noMove="1" noResize="1" noEditPoints="1" noAdjustHandles="1" noChangeArrowheads="1" noChangeShapeType="1" noTextEdit="1"/>
              </p:cNvSpPr>
              <p:nvPr/>
            </p:nvSpPr>
            <p:spPr>
              <a:xfrm>
                <a:off x="2064398" y="3806890"/>
                <a:ext cx="4100804" cy="444289"/>
              </a:xfrm>
              <a:prstGeom prst="rect">
                <a:avLst/>
              </a:prstGeom>
              <a:blipFill>
                <a:blip r:embed="rId6"/>
                <a:stretch>
                  <a:fillRect b="-1370"/>
                </a:stretch>
              </a:blipFill>
            </p:spPr>
            <p:txBody>
              <a:bodyPr/>
              <a:lstStyle/>
              <a:p>
                <a:r>
                  <a:rPr lang="fr-FR">
                    <a:noFill/>
                  </a:rPr>
                  <a:t> </a:t>
                </a:r>
              </a:p>
            </p:txBody>
          </p:sp>
        </mc:Fallback>
      </mc:AlternateContent>
      <p:sp>
        <p:nvSpPr>
          <p:cNvPr id="26" name="Forme libre : forme 25">
            <a:extLst>
              <a:ext uri="{FF2B5EF4-FFF2-40B4-BE49-F238E27FC236}">
                <a16:creationId xmlns:a16="http://schemas.microsoft.com/office/drawing/2014/main" id="{885DDFE8-87C3-4D1E-96C0-4651D0177F9A}"/>
              </a:ext>
            </a:extLst>
          </p:cNvPr>
          <p:cNvSpPr/>
          <p:nvPr/>
        </p:nvSpPr>
        <p:spPr>
          <a:xfrm flipH="1">
            <a:off x="911252" y="1687421"/>
            <a:ext cx="5060012" cy="1632803"/>
          </a:xfrm>
          <a:custGeom>
            <a:avLst/>
            <a:gdLst>
              <a:gd name="connsiteX0" fmla="*/ 3266260 w 7203882"/>
              <a:gd name="connsiteY0" fmla="*/ 0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193481 w 7203882"/>
              <a:gd name="connsiteY10" fmla="*/ 1105694 h 2266557"/>
              <a:gd name="connsiteX11" fmla="*/ 3261014 w 7203882"/>
              <a:gd name="connsiteY11" fmla="*/ 1105694 h 2266557"/>
              <a:gd name="connsiteX12" fmla="*/ 3261014 w 7203882"/>
              <a:gd name="connsiteY12" fmla="*/ 5246 h 2266557"/>
              <a:gd name="connsiteX13" fmla="*/ 3266260 w 7203882"/>
              <a:gd name="connsiteY13" fmla="*/ 0 h 2266557"/>
              <a:gd name="connsiteX0" fmla="*/ 3266260 w 7203882"/>
              <a:gd name="connsiteY0" fmla="*/ 0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193481 w 7203882"/>
              <a:gd name="connsiteY10" fmla="*/ 1105694 h 2266557"/>
              <a:gd name="connsiteX11" fmla="*/ 3634239 w 7203882"/>
              <a:gd name="connsiteY11" fmla="*/ 956404 h 2266557"/>
              <a:gd name="connsiteX12" fmla="*/ 3261014 w 7203882"/>
              <a:gd name="connsiteY12" fmla="*/ 5246 h 2266557"/>
              <a:gd name="connsiteX13" fmla="*/ 3266260 w 7203882"/>
              <a:gd name="connsiteY13" fmla="*/ 0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193481 w 7203882"/>
              <a:gd name="connsiteY10" fmla="*/ 1105694 h 2266557"/>
              <a:gd name="connsiteX11" fmla="*/ 3634239 w 7203882"/>
              <a:gd name="connsiteY11" fmla="*/ 956404 h 2266557"/>
              <a:gd name="connsiteX12" fmla="*/ 3261014 w 7203882"/>
              <a:gd name="connsiteY12" fmla="*/ 5246 h 2266557"/>
              <a:gd name="connsiteX13" fmla="*/ 3452872 w 7203882"/>
              <a:gd name="connsiteY13"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193481 w 7203882"/>
              <a:gd name="connsiteY10" fmla="*/ 1105694 h 2266557"/>
              <a:gd name="connsiteX11" fmla="*/ 3634239 w 7203882"/>
              <a:gd name="connsiteY11" fmla="*/ 956404 h 2266557"/>
              <a:gd name="connsiteX12" fmla="*/ 3615577 w 7203882"/>
              <a:gd name="connsiteY12" fmla="*/ 154536 h 2266557"/>
              <a:gd name="connsiteX13" fmla="*/ 3452872 w 7203882"/>
              <a:gd name="connsiteY13"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3634239 w 7203882"/>
              <a:gd name="connsiteY11" fmla="*/ 956404 h 2266557"/>
              <a:gd name="connsiteX12" fmla="*/ 3615577 w 7203882"/>
              <a:gd name="connsiteY12" fmla="*/ 154536 h 2266557"/>
              <a:gd name="connsiteX13" fmla="*/ 3452872 w 7203882"/>
              <a:gd name="connsiteY13"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3634239 w 7203882"/>
              <a:gd name="connsiteY11" fmla="*/ 956404 h 2266557"/>
              <a:gd name="connsiteX12" fmla="*/ 3615577 w 7203882"/>
              <a:gd name="connsiteY12" fmla="*/ 154536 h 2266557"/>
              <a:gd name="connsiteX13" fmla="*/ 3452872 w 7203882"/>
              <a:gd name="connsiteY13"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2351394 w 7203882"/>
              <a:gd name="connsiteY11" fmla="*/ 1091955 h 2266557"/>
              <a:gd name="connsiteX12" fmla="*/ 3634239 w 7203882"/>
              <a:gd name="connsiteY12" fmla="*/ 956404 h 2266557"/>
              <a:gd name="connsiteX13" fmla="*/ 3615577 w 7203882"/>
              <a:gd name="connsiteY13" fmla="*/ 154536 h 2266557"/>
              <a:gd name="connsiteX14" fmla="*/ 3452872 w 7203882"/>
              <a:gd name="connsiteY14"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2351394 w 7203882"/>
              <a:gd name="connsiteY11" fmla="*/ 1091955 h 2266557"/>
              <a:gd name="connsiteX12" fmla="*/ 2817925 w 7203882"/>
              <a:gd name="connsiteY12" fmla="*/ 961327 h 2266557"/>
              <a:gd name="connsiteX13" fmla="*/ 3634239 w 7203882"/>
              <a:gd name="connsiteY13" fmla="*/ 956404 h 2266557"/>
              <a:gd name="connsiteX14" fmla="*/ 3615577 w 7203882"/>
              <a:gd name="connsiteY14" fmla="*/ 154536 h 2266557"/>
              <a:gd name="connsiteX15" fmla="*/ 3452872 w 7203882"/>
              <a:gd name="connsiteY15"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1744904 w 7203882"/>
              <a:gd name="connsiteY11" fmla="*/ 1399865 h 2266557"/>
              <a:gd name="connsiteX12" fmla="*/ 2351394 w 7203882"/>
              <a:gd name="connsiteY12" fmla="*/ 1091955 h 2266557"/>
              <a:gd name="connsiteX13" fmla="*/ 2817925 w 7203882"/>
              <a:gd name="connsiteY13" fmla="*/ 961327 h 2266557"/>
              <a:gd name="connsiteX14" fmla="*/ 3634239 w 7203882"/>
              <a:gd name="connsiteY14" fmla="*/ 956404 h 2266557"/>
              <a:gd name="connsiteX15" fmla="*/ 3615577 w 7203882"/>
              <a:gd name="connsiteY15" fmla="*/ 154536 h 2266557"/>
              <a:gd name="connsiteX16" fmla="*/ 3452872 w 7203882"/>
              <a:gd name="connsiteY16"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1744904 w 7203882"/>
              <a:gd name="connsiteY11" fmla="*/ 1399865 h 2266557"/>
              <a:gd name="connsiteX12" fmla="*/ 2351394 w 7203882"/>
              <a:gd name="connsiteY12" fmla="*/ 1091955 h 2266557"/>
              <a:gd name="connsiteX13" fmla="*/ 2817925 w 7203882"/>
              <a:gd name="connsiteY13" fmla="*/ 961327 h 2266557"/>
              <a:gd name="connsiteX14" fmla="*/ 2021339 w 7203882"/>
              <a:gd name="connsiteY14" fmla="*/ 238854 h 2266557"/>
              <a:gd name="connsiteX15" fmla="*/ 3615577 w 7203882"/>
              <a:gd name="connsiteY15" fmla="*/ 154536 h 2266557"/>
              <a:gd name="connsiteX16" fmla="*/ 3452872 w 7203882"/>
              <a:gd name="connsiteY16"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1744904 w 7203882"/>
              <a:gd name="connsiteY11" fmla="*/ 1399865 h 2266557"/>
              <a:gd name="connsiteX12" fmla="*/ 2351394 w 7203882"/>
              <a:gd name="connsiteY12" fmla="*/ 1091955 h 2266557"/>
              <a:gd name="connsiteX13" fmla="*/ 2817925 w 7203882"/>
              <a:gd name="connsiteY13" fmla="*/ 961327 h 2266557"/>
              <a:gd name="connsiteX14" fmla="*/ 2021339 w 7203882"/>
              <a:gd name="connsiteY14" fmla="*/ 238854 h 2266557"/>
              <a:gd name="connsiteX15" fmla="*/ 1894727 w 7203882"/>
              <a:gd name="connsiteY15" fmla="*/ 14836 h 2266557"/>
              <a:gd name="connsiteX16" fmla="*/ 3452872 w 7203882"/>
              <a:gd name="connsiteY16"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1744904 w 7203882"/>
              <a:gd name="connsiteY11" fmla="*/ 1399865 h 2266557"/>
              <a:gd name="connsiteX12" fmla="*/ 2351394 w 7203882"/>
              <a:gd name="connsiteY12" fmla="*/ 1091955 h 2266557"/>
              <a:gd name="connsiteX13" fmla="*/ 2817925 w 7203882"/>
              <a:gd name="connsiteY13" fmla="*/ 961327 h 2266557"/>
              <a:gd name="connsiteX14" fmla="*/ 478289 w 7203882"/>
              <a:gd name="connsiteY14" fmla="*/ 689704 h 2266557"/>
              <a:gd name="connsiteX15" fmla="*/ 1894727 w 7203882"/>
              <a:gd name="connsiteY15" fmla="*/ 14836 h 2266557"/>
              <a:gd name="connsiteX16" fmla="*/ 3452872 w 7203882"/>
              <a:gd name="connsiteY16"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1744904 w 7203882"/>
              <a:gd name="connsiteY11" fmla="*/ 1399865 h 2266557"/>
              <a:gd name="connsiteX12" fmla="*/ 2351394 w 7203882"/>
              <a:gd name="connsiteY12" fmla="*/ 1091955 h 2266557"/>
              <a:gd name="connsiteX13" fmla="*/ 665275 w 7203882"/>
              <a:gd name="connsiteY13" fmla="*/ 1456627 h 2266557"/>
              <a:gd name="connsiteX14" fmla="*/ 478289 w 7203882"/>
              <a:gd name="connsiteY14" fmla="*/ 689704 h 2266557"/>
              <a:gd name="connsiteX15" fmla="*/ 1894727 w 7203882"/>
              <a:gd name="connsiteY15" fmla="*/ 14836 h 2266557"/>
              <a:gd name="connsiteX16" fmla="*/ 3452872 w 7203882"/>
              <a:gd name="connsiteY16"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1071934 w 7203882"/>
              <a:gd name="connsiteY11" fmla="*/ 1491746 h 2266557"/>
              <a:gd name="connsiteX12" fmla="*/ 1744904 w 7203882"/>
              <a:gd name="connsiteY12" fmla="*/ 1399865 h 2266557"/>
              <a:gd name="connsiteX13" fmla="*/ 2351394 w 7203882"/>
              <a:gd name="connsiteY13" fmla="*/ 1091955 h 2266557"/>
              <a:gd name="connsiteX14" fmla="*/ 665275 w 7203882"/>
              <a:gd name="connsiteY14" fmla="*/ 1456627 h 2266557"/>
              <a:gd name="connsiteX15" fmla="*/ 478289 w 7203882"/>
              <a:gd name="connsiteY15" fmla="*/ 689704 h 2266557"/>
              <a:gd name="connsiteX16" fmla="*/ 1894727 w 7203882"/>
              <a:gd name="connsiteY16" fmla="*/ 14836 h 2266557"/>
              <a:gd name="connsiteX17" fmla="*/ 3452872 w 7203882"/>
              <a:gd name="connsiteY17"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1071934 w 7203882"/>
              <a:gd name="connsiteY11" fmla="*/ 1491746 h 2266557"/>
              <a:gd name="connsiteX12" fmla="*/ 1744904 w 7203882"/>
              <a:gd name="connsiteY12" fmla="*/ 1399865 h 2266557"/>
              <a:gd name="connsiteX13" fmla="*/ 395594 w 7203882"/>
              <a:gd name="connsiteY13" fmla="*/ 1422155 h 2266557"/>
              <a:gd name="connsiteX14" fmla="*/ 665275 w 7203882"/>
              <a:gd name="connsiteY14" fmla="*/ 1456627 h 2266557"/>
              <a:gd name="connsiteX15" fmla="*/ 478289 w 7203882"/>
              <a:gd name="connsiteY15" fmla="*/ 689704 h 2266557"/>
              <a:gd name="connsiteX16" fmla="*/ 1894727 w 7203882"/>
              <a:gd name="connsiteY16" fmla="*/ 14836 h 2266557"/>
              <a:gd name="connsiteX17" fmla="*/ 3452872 w 7203882"/>
              <a:gd name="connsiteY17"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809301 w 7203882"/>
              <a:gd name="connsiteY10" fmla="*/ 1469588 h 2266557"/>
              <a:gd name="connsiteX11" fmla="*/ 1071934 w 7203882"/>
              <a:gd name="connsiteY11" fmla="*/ 1491746 h 2266557"/>
              <a:gd name="connsiteX12" fmla="*/ 395594 w 7203882"/>
              <a:gd name="connsiteY12" fmla="*/ 1422155 h 2266557"/>
              <a:gd name="connsiteX13" fmla="*/ 665275 w 7203882"/>
              <a:gd name="connsiteY13" fmla="*/ 1456627 h 2266557"/>
              <a:gd name="connsiteX14" fmla="*/ 478289 w 7203882"/>
              <a:gd name="connsiteY14" fmla="*/ 689704 h 2266557"/>
              <a:gd name="connsiteX15" fmla="*/ 1894727 w 7203882"/>
              <a:gd name="connsiteY15" fmla="*/ 14836 h 2266557"/>
              <a:gd name="connsiteX16" fmla="*/ 3452872 w 7203882"/>
              <a:gd name="connsiteY16"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1071934 w 7203882"/>
              <a:gd name="connsiteY10" fmla="*/ 1491746 h 2266557"/>
              <a:gd name="connsiteX11" fmla="*/ 395594 w 7203882"/>
              <a:gd name="connsiteY11" fmla="*/ 1422155 h 2266557"/>
              <a:gd name="connsiteX12" fmla="*/ 665275 w 7203882"/>
              <a:gd name="connsiteY12" fmla="*/ 1456627 h 2266557"/>
              <a:gd name="connsiteX13" fmla="*/ 478289 w 7203882"/>
              <a:gd name="connsiteY13" fmla="*/ 689704 h 2266557"/>
              <a:gd name="connsiteX14" fmla="*/ 1894727 w 7203882"/>
              <a:gd name="connsiteY14" fmla="*/ 14836 h 2266557"/>
              <a:gd name="connsiteX15" fmla="*/ 3452872 w 7203882"/>
              <a:gd name="connsiteY15"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193481 w 7203882"/>
              <a:gd name="connsiteY7" fmla="*/ 2266557 h 2266557"/>
              <a:gd name="connsiteX8" fmla="*/ 0 w 7203882"/>
              <a:gd name="connsiteY8" fmla="*/ 2073076 h 2266557"/>
              <a:gd name="connsiteX9" fmla="*/ 0 w 7203882"/>
              <a:gd name="connsiteY9" fmla="*/ 1299175 h 2266557"/>
              <a:gd name="connsiteX10" fmla="*/ 395594 w 7203882"/>
              <a:gd name="connsiteY10" fmla="*/ 1422155 h 2266557"/>
              <a:gd name="connsiteX11" fmla="*/ 665275 w 7203882"/>
              <a:gd name="connsiteY11" fmla="*/ 1456627 h 2266557"/>
              <a:gd name="connsiteX12" fmla="*/ 478289 w 7203882"/>
              <a:gd name="connsiteY12" fmla="*/ 689704 h 2266557"/>
              <a:gd name="connsiteX13" fmla="*/ 1894727 w 7203882"/>
              <a:gd name="connsiteY13" fmla="*/ 14836 h 2266557"/>
              <a:gd name="connsiteX14" fmla="*/ 3452872 w 7203882"/>
              <a:gd name="connsiteY14"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3362131 w 7203882"/>
              <a:gd name="connsiteY7" fmla="*/ 1199757 h 2266557"/>
              <a:gd name="connsiteX8" fmla="*/ 0 w 7203882"/>
              <a:gd name="connsiteY8" fmla="*/ 2073076 h 2266557"/>
              <a:gd name="connsiteX9" fmla="*/ 0 w 7203882"/>
              <a:gd name="connsiteY9" fmla="*/ 1299175 h 2266557"/>
              <a:gd name="connsiteX10" fmla="*/ 395594 w 7203882"/>
              <a:gd name="connsiteY10" fmla="*/ 1422155 h 2266557"/>
              <a:gd name="connsiteX11" fmla="*/ 665275 w 7203882"/>
              <a:gd name="connsiteY11" fmla="*/ 1456627 h 2266557"/>
              <a:gd name="connsiteX12" fmla="*/ 478289 w 7203882"/>
              <a:gd name="connsiteY12" fmla="*/ 689704 h 2266557"/>
              <a:gd name="connsiteX13" fmla="*/ 1894727 w 7203882"/>
              <a:gd name="connsiteY13" fmla="*/ 14836 h 2266557"/>
              <a:gd name="connsiteX14" fmla="*/ 3452872 w 7203882"/>
              <a:gd name="connsiteY14" fmla="*/ 18661 h 2266557"/>
              <a:gd name="connsiteX0" fmla="*/ 3452872 w 7203882"/>
              <a:gd name="connsiteY0" fmla="*/ 18661 h 2266557"/>
              <a:gd name="connsiteX1" fmla="*/ 7198635 w 7203882"/>
              <a:gd name="connsiteY1" fmla="*/ 0 h 2266557"/>
              <a:gd name="connsiteX2" fmla="*/ 7203881 w 7203882"/>
              <a:gd name="connsiteY2" fmla="*/ 5246 h 2266557"/>
              <a:gd name="connsiteX3" fmla="*/ 7203881 w 7203882"/>
              <a:gd name="connsiteY3" fmla="*/ 1299170 h 2266557"/>
              <a:gd name="connsiteX4" fmla="*/ 7203882 w 7203882"/>
              <a:gd name="connsiteY4" fmla="*/ 1299175 h 2266557"/>
              <a:gd name="connsiteX5" fmla="*/ 7203882 w 7203882"/>
              <a:gd name="connsiteY5" fmla="*/ 2073076 h 2266557"/>
              <a:gd name="connsiteX6" fmla="*/ 7010401 w 7203882"/>
              <a:gd name="connsiteY6" fmla="*/ 2266557 h 2266557"/>
              <a:gd name="connsiteX7" fmla="*/ 3362131 w 7203882"/>
              <a:gd name="connsiteY7" fmla="*/ 1199757 h 2266557"/>
              <a:gd name="connsiteX8" fmla="*/ 0 w 7203882"/>
              <a:gd name="connsiteY8" fmla="*/ 2073076 h 2266557"/>
              <a:gd name="connsiteX9" fmla="*/ 0 w 7203882"/>
              <a:gd name="connsiteY9" fmla="*/ 1299175 h 2266557"/>
              <a:gd name="connsiteX10" fmla="*/ 395594 w 7203882"/>
              <a:gd name="connsiteY10" fmla="*/ 1422155 h 2266557"/>
              <a:gd name="connsiteX11" fmla="*/ 665275 w 7203882"/>
              <a:gd name="connsiteY11" fmla="*/ 1456627 h 2266557"/>
              <a:gd name="connsiteX12" fmla="*/ 478289 w 7203882"/>
              <a:gd name="connsiteY12" fmla="*/ 689704 h 2266557"/>
              <a:gd name="connsiteX13" fmla="*/ 1894727 w 7203882"/>
              <a:gd name="connsiteY13" fmla="*/ 14836 h 2266557"/>
              <a:gd name="connsiteX14" fmla="*/ 3452872 w 7203882"/>
              <a:gd name="connsiteY14" fmla="*/ 18661 h 2266557"/>
              <a:gd name="connsiteX0" fmla="*/ 3452872 w 7203882"/>
              <a:gd name="connsiteY0" fmla="*/ 18661 h 2289791"/>
              <a:gd name="connsiteX1" fmla="*/ 7198635 w 7203882"/>
              <a:gd name="connsiteY1" fmla="*/ 0 h 2289791"/>
              <a:gd name="connsiteX2" fmla="*/ 7203881 w 7203882"/>
              <a:gd name="connsiteY2" fmla="*/ 5246 h 2289791"/>
              <a:gd name="connsiteX3" fmla="*/ 7203881 w 7203882"/>
              <a:gd name="connsiteY3" fmla="*/ 1299170 h 2289791"/>
              <a:gd name="connsiteX4" fmla="*/ 7203882 w 7203882"/>
              <a:gd name="connsiteY4" fmla="*/ 1299175 h 2289791"/>
              <a:gd name="connsiteX5" fmla="*/ 7203882 w 7203882"/>
              <a:gd name="connsiteY5" fmla="*/ 2073076 h 2289791"/>
              <a:gd name="connsiteX6" fmla="*/ 7010401 w 7203882"/>
              <a:gd name="connsiteY6" fmla="*/ 2266557 h 2289791"/>
              <a:gd name="connsiteX7" fmla="*/ 3999284 w 7203882"/>
              <a:gd name="connsiteY7" fmla="*/ 2221996 h 2289791"/>
              <a:gd name="connsiteX8" fmla="*/ 3362131 w 7203882"/>
              <a:gd name="connsiteY8" fmla="*/ 1199757 h 2289791"/>
              <a:gd name="connsiteX9" fmla="*/ 0 w 7203882"/>
              <a:gd name="connsiteY9" fmla="*/ 2073076 h 2289791"/>
              <a:gd name="connsiteX10" fmla="*/ 0 w 7203882"/>
              <a:gd name="connsiteY10" fmla="*/ 1299175 h 2289791"/>
              <a:gd name="connsiteX11" fmla="*/ 395594 w 7203882"/>
              <a:gd name="connsiteY11" fmla="*/ 1422155 h 2289791"/>
              <a:gd name="connsiteX12" fmla="*/ 665275 w 7203882"/>
              <a:gd name="connsiteY12" fmla="*/ 1456627 h 2289791"/>
              <a:gd name="connsiteX13" fmla="*/ 478289 w 7203882"/>
              <a:gd name="connsiteY13" fmla="*/ 689704 h 2289791"/>
              <a:gd name="connsiteX14" fmla="*/ 1894727 w 7203882"/>
              <a:gd name="connsiteY14" fmla="*/ 14836 h 2289791"/>
              <a:gd name="connsiteX15" fmla="*/ 3452872 w 7203882"/>
              <a:gd name="connsiteY15" fmla="*/ 18661 h 2289791"/>
              <a:gd name="connsiteX0" fmla="*/ 3452872 w 7203882"/>
              <a:gd name="connsiteY0" fmla="*/ 18661 h 2289791"/>
              <a:gd name="connsiteX1" fmla="*/ 7198635 w 7203882"/>
              <a:gd name="connsiteY1" fmla="*/ 0 h 2289791"/>
              <a:gd name="connsiteX2" fmla="*/ 7203881 w 7203882"/>
              <a:gd name="connsiteY2" fmla="*/ 5246 h 2289791"/>
              <a:gd name="connsiteX3" fmla="*/ 7203881 w 7203882"/>
              <a:gd name="connsiteY3" fmla="*/ 1299170 h 2289791"/>
              <a:gd name="connsiteX4" fmla="*/ 7203882 w 7203882"/>
              <a:gd name="connsiteY4" fmla="*/ 1299175 h 2289791"/>
              <a:gd name="connsiteX5" fmla="*/ 7203882 w 7203882"/>
              <a:gd name="connsiteY5" fmla="*/ 2073076 h 2289791"/>
              <a:gd name="connsiteX6" fmla="*/ 7010401 w 7203882"/>
              <a:gd name="connsiteY6" fmla="*/ 2266557 h 2289791"/>
              <a:gd name="connsiteX7" fmla="*/ 3999284 w 7203882"/>
              <a:gd name="connsiteY7" fmla="*/ 2221996 h 2289791"/>
              <a:gd name="connsiteX8" fmla="*/ 3362131 w 7203882"/>
              <a:gd name="connsiteY8" fmla="*/ 1199757 h 2289791"/>
              <a:gd name="connsiteX9" fmla="*/ 1662484 w 7203882"/>
              <a:gd name="connsiteY9" fmla="*/ 1479046 h 2289791"/>
              <a:gd name="connsiteX10" fmla="*/ 0 w 7203882"/>
              <a:gd name="connsiteY10" fmla="*/ 2073076 h 2289791"/>
              <a:gd name="connsiteX11" fmla="*/ 0 w 7203882"/>
              <a:gd name="connsiteY11" fmla="*/ 1299175 h 2289791"/>
              <a:gd name="connsiteX12" fmla="*/ 395594 w 7203882"/>
              <a:gd name="connsiteY12" fmla="*/ 1422155 h 2289791"/>
              <a:gd name="connsiteX13" fmla="*/ 665275 w 7203882"/>
              <a:gd name="connsiteY13" fmla="*/ 1456627 h 2289791"/>
              <a:gd name="connsiteX14" fmla="*/ 478289 w 7203882"/>
              <a:gd name="connsiteY14" fmla="*/ 689704 h 2289791"/>
              <a:gd name="connsiteX15" fmla="*/ 1894727 w 7203882"/>
              <a:gd name="connsiteY15" fmla="*/ 14836 h 2289791"/>
              <a:gd name="connsiteX16" fmla="*/ 3452872 w 7203882"/>
              <a:gd name="connsiteY16" fmla="*/ 18661 h 2289791"/>
              <a:gd name="connsiteX0" fmla="*/ 3452872 w 7203882"/>
              <a:gd name="connsiteY0" fmla="*/ 18661 h 2289791"/>
              <a:gd name="connsiteX1" fmla="*/ 7198635 w 7203882"/>
              <a:gd name="connsiteY1" fmla="*/ 0 h 2289791"/>
              <a:gd name="connsiteX2" fmla="*/ 7203881 w 7203882"/>
              <a:gd name="connsiteY2" fmla="*/ 5246 h 2289791"/>
              <a:gd name="connsiteX3" fmla="*/ 7203881 w 7203882"/>
              <a:gd name="connsiteY3" fmla="*/ 1299170 h 2289791"/>
              <a:gd name="connsiteX4" fmla="*/ 7203882 w 7203882"/>
              <a:gd name="connsiteY4" fmla="*/ 1299175 h 2289791"/>
              <a:gd name="connsiteX5" fmla="*/ 7203882 w 7203882"/>
              <a:gd name="connsiteY5" fmla="*/ 2073076 h 2289791"/>
              <a:gd name="connsiteX6" fmla="*/ 7010401 w 7203882"/>
              <a:gd name="connsiteY6" fmla="*/ 2266557 h 2289791"/>
              <a:gd name="connsiteX7" fmla="*/ 3999284 w 7203882"/>
              <a:gd name="connsiteY7" fmla="*/ 2221996 h 2289791"/>
              <a:gd name="connsiteX8" fmla="*/ 3669084 w 7203882"/>
              <a:gd name="connsiteY8" fmla="*/ 1464856 h 2289791"/>
              <a:gd name="connsiteX9" fmla="*/ 3362131 w 7203882"/>
              <a:gd name="connsiteY9" fmla="*/ 1199757 h 2289791"/>
              <a:gd name="connsiteX10" fmla="*/ 1662484 w 7203882"/>
              <a:gd name="connsiteY10" fmla="*/ 1479046 h 2289791"/>
              <a:gd name="connsiteX11" fmla="*/ 0 w 7203882"/>
              <a:gd name="connsiteY11" fmla="*/ 2073076 h 2289791"/>
              <a:gd name="connsiteX12" fmla="*/ 0 w 7203882"/>
              <a:gd name="connsiteY12" fmla="*/ 1299175 h 2289791"/>
              <a:gd name="connsiteX13" fmla="*/ 395594 w 7203882"/>
              <a:gd name="connsiteY13" fmla="*/ 1422155 h 2289791"/>
              <a:gd name="connsiteX14" fmla="*/ 665275 w 7203882"/>
              <a:gd name="connsiteY14" fmla="*/ 1456627 h 2289791"/>
              <a:gd name="connsiteX15" fmla="*/ 478289 w 7203882"/>
              <a:gd name="connsiteY15" fmla="*/ 689704 h 2289791"/>
              <a:gd name="connsiteX16" fmla="*/ 1894727 w 7203882"/>
              <a:gd name="connsiteY16" fmla="*/ 14836 h 2289791"/>
              <a:gd name="connsiteX17" fmla="*/ 3452872 w 7203882"/>
              <a:gd name="connsiteY17" fmla="*/ 18661 h 2289791"/>
              <a:gd name="connsiteX0" fmla="*/ 3452872 w 7203882"/>
              <a:gd name="connsiteY0" fmla="*/ 18661 h 2289791"/>
              <a:gd name="connsiteX1" fmla="*/ 7198635 w 7203882"/>
              <a:gd name="connsiteY1" fmla="*/ 0 h 2289791"/>
              <a:gd name="connsiteX2" fmla="*/ 7203881 w 7203882"/>
              <a:gd name="connsiteY2" fmla="*/ 5246 h 2289791"/>
              <a:gd name="connsiteX3" fmla="*/ 7203881 w 7203882"/>
              <a:gd name="connsiteY3" fmla="*/ 1299170 h 2289791"/>
              <a:gd name="connsiteX4" fmla="*/ 7203882 w 7203882"/>
              <a:gd name="connsiteY4" fmla="*/ 1299175 h 2289791"/>
              <a:gd name="connsiteX5" fmla="*/ 7203882 w 7203882"/>
              <a:gd name="connsiteY5" fmla="*/ 2073076 h 2289791"/>
              <a:gd name="connsiteX6" fmla="*/ 7010401 w 7203882"/>
              <a:gd name="connsiteY6" fmla="*/ 2266557 h 2289791"/>
              <a:gd name="connsiteX7" fmla="*/ 3999284 w 7203882"/>
              <a:gd name="connsiteY7" fmla="*/ 2221996 h 2289791"/>
              <a:gd name="connsiteX8" fmla="*/ 3669084 w 7203882"/>
              <a:gd name="connsiteY8" fmla="*/ 1464856 h 2289791"/>
              <a:gd name="connsiteX9" fmla="*/ 3362131 w 7203882"/>
              <a:gd name="connsiteY9" fmla="*/ 1199757 h 2289791"/>
              <a:gd name="connsiteX10" fmla="*/ 2297484 w 7203882"/>
              <a:gd name="connsiteY10" fmla="*/ 1280706 h 2289791"/>
              <a:gd name="connsiteX11" fmla="*/ 1662484 w 7203882"/>
              <a:gd name="connsiteY11" fmla="*/ 1479046 h 2289791"/>
              <a:gd name="connsiteX12" fmla="*/ 0 w 7203882"/>
              <a:gd name="connsiteY12" fmla="*/ 2073076 h 2289791"/>
              <a:gd name="connsiteX13" fmla="*/ 0 w 7203882"/>
              <a:gd name="connsiteY13" fmla="*/ 1299175 h 2289791"/>
              <a:gd name="connsiteX14" fmla="*/ 395594 w 7203882"/>
              <a:gd name="connsiteY14" fmla="*/ 1422155 h 2289791"/>
              <a:gd name="connsiteX15" fmla="*/ 665275 w 7203882"/>
              <a:gd name="connsiteY15" fmla="*/ 1456627 h 2289791"/>
              <a:gd name="connsiteX16" fmla="*/ 478289 w 7203882"/>
              <a:gd name="connsiteY16" fmla="*/ 689704 h 2289791"/>
              <a:gd name="connsiteX17" fmla="*/ 1894727 w 7203882"/>
              <a:gd name="connsiteY17" fmla="*/ 14836 h 2289791"/>
              <a:gd name="connsiteX18" fmla="*/ 3452872 w 7203882"/>
              <a:gd name="connsiteY18" fmla="*/ 18661 h 2289791"/>
              <a:gd name="connsiteX0" fmla="*/ 3452872 w 7203882"/>
              <a:gd name="connsiteY0" fmla="*/ 18661 h 2289791"/>
              <a:gd name="connsiteX1" fmla="*/ 7198635 w 7203882"/>
              <a:gd name="connsiteY1" fmla="*/ 0 h 2289791"/>
              <a:gd name="connsiteX2" fmla="*/ 7203881 w 7203882"/>
              <a:gd name="connsiteY2" fmla="*/ 5246 h 2289791"/>
              <a:gd name="connsiteX3" fmla="*/ 7203881 w 7203882"/>
              <a:gd name="connsiteY3" fmla="*/ 1299170 h 2289791"/>
              <a:gd name="connsiteX4" fmla="*/ 7203882 w 7203882"/>
              <a:gd name="connsiteY4" fmla="*/ 1299175 h 2289791"/>
              <a:gd name="connsiteX5" fmla="*/ 7203882 w 7203882"/>
              <a:gd name="connsiteY5" fmla="*/ 2073076 h 2289791"/>
              <a:gd name="connsiteX6" fmla="*/ 7010401 w 7203882"/>
              <a:gd name="connsiteY6" fmla="*/ 2266557 h 2289791"/>
              <a:gd name="connsiteX7" fmla="*/ 3999284 w 7203882"/>
              <a:gd name="connsiteY7" fmla="*/ 2221996 h 2289791"/>
              <a:gd name="connsiteX8" fmla="*/ 3669084 w 7203882"/>
              <a:gd name="connsiteY8" fmla="*/ 1464856 h 2289791"/>
              <a:gd name="connsiteX9" fmla="*/ 3362131 w 7203882"/>
              <a:gd name="connsiteY9" fmla="*/ 1199757 h 2289791"/>
              <a:gd name="connsiteX10" fmla="*/ 2970584 w 7203882"/>
              <a:gd name="connsiteY10" fmla="*/ 1261656 h 2289791"/>
              <a:gd name="connsiteX11" fmla="*/ 2297484 w 7203882"/>
              <a:gd name="connsiteY11" fmla="*/ 1280706 h 2289791"/>
              <a:gd name="connsiteX12" fmla="*/ 1662484 w 7203882"/>
              <a:gd name="connsiteY12" fmla="*/ 1479046 h 2289791"/>
              <a:gd name="connsiteX13" fmla="*/ 0 w 7203882"/>
              <a:gd name="connsiteY13" fmla="*/ 2073076 h 2289791"/>
              <a:gd name="connsiteX14" fmla="*/ 0 w 7203882"/>
              <a:gd name="connsiteY14" fmla="*/ 1299175 h 2289791"/>
              <a:gd name="connsiteX15" fmla="*/ 395594 w 7203882"/>
              <a:gd name="connsiteY15" fmla="*/ 1422155 h 2289791"/>
              <a:gd name="connsiteX16" fmla="*/ 665275 w 7203882"/>
              <a:gd name="connsiteY16" fmla="*/ 1456627 h 2289791"/>
              <a:gd name="connsiteX17" fmla="*/ 478289 w 7203882"/>
              <a:gd name="connsiteY17" fmla="*/ 689704 h 2289791"/>
              <a:gd name="connsiteX18" fmla="*/ 1894727 w 7203882"/>
              <a:gd name="connsiteY18" fmla="*/ 14836 h 2289791"/>
              <a:gd name="connsiteX19" fmla="*/ 3452872 w 7203882"/>
              <a:gd name="connsiteY19" fmla="*/ 18661 h 2289791"/>
              <a:gd name="connsiteX0" fmla="*/ 3452872 w 7203882"/>
              <a:gd name="connsiteY0" fmla="*/ 18661 h 2289791"/>
              <a:gd name="connsiteX1" fmla="*/ 7198635 w 7203882"/>
              <a:gd name="connsiteY1" fmla="*/ 0 h 2289791"/>
              <a:gd name="connsiteX2" fmla="*/ 7203881 w 7203882"/>
              <a:gd name="connsiteY2" fmla="*/ 5246 h 2289791"/>
              <a:gd name="connsiteX3" fmla="*/ 7203881 w 7203882"/>
              <a:gd name="connsiteY3" fmla="*/ 1299170 h 2289791"/>
              <a:gd name="connsiteX4" fmla="*/ 7203882 w 7203882"/>
              <a:gd name="connsiteY4" fmla="*/ 1299175 h 2289791"/>
              <a:gd name="connsiteX5" fmla="*/ 7203882 w 7203882"/>
              <a:gd name="connsiteY5" fmla="*/ 2073076 h 2289791"/>
              <a:gd name="connsiteX6" fmla="*/ 7010401 w 7203882"/>
              <a:gd name="connsiteY6" fmla="*/ 2266557 h 2289791"/>
              <a:gd name="connsiteX7" fmla="*/ 3999284 w 7203882"/>
              <a:gd name="connsiteY7" fmla="*/ 2221996 h 2289791"/>
              <a:gd name="connsiteX8" fmla="*/ 3669084 w 7203882"/>
              <a:gd name="connsiteY8" fmla="*/ 1464856 h 2289791"/>
              <a:gd name="connsiteX9" fmla="*/ 3470081 w 7203882"/>
              <a:gd name="connsiteY9" fmla="*/ 1269607 h 2289791"/>
              <a:gd name="connsiteX10" fmla="*/ 2970584 w 7203882"/>
              <a:gd name="connsiteY10" fmla="*/ 1261656 h 2289791"/>
              <a:gd name="connsiteX11" fmla="*/ 2297484 w 7203882"/>
              <a:gd name="connsiteY11" fmla="*/ 1280706 h 2289791"/>
              <a:gd name="connsiteX12" fmla="*/ 1662484 w 7203882"/>
              <a:gd name="connsiteY12" fmla="*/ 1479046 h 2289791"/>
              <a:gd name="connsiteX13" fmla="*/ 0 w 7203882"/>
              <a:gd name="connsiteY13" fmla="*/ 2073076 h 2289791"/>
              <a:gd name="connsiteX14" fmla="*/ 0 w 7203882"/>
              <a:gd name="connsiteY14" fmla="*/ 1299175 h 2289791"/>
              <a:gd name="connsiteX15" fmla="*/ 395594 w 7203882"/>
              <a:gd name="connsiteY15" fmla="*/ 1422155 h 2289791"/>
              <a:gd name="connsiteX16" fmla="*/ 665275 w 7203882"/>
              <a:gd name="connsiteY16" fmla="*/ 1456627 h 2289791"/>
              <a:gd name="connsiteX17" fmla="*/ 478289 w 7203882"/>
              <a:gd name="connsiteY17" fmla="*/ 689704 h 2289791"/>
              <a:gd name="connsiteX18" fmla="*/ 1894727 w 7203882"/>
              <a:gd name="connsiteY18" fmla="*/ 14836 h 2289791"/>
              <a:gd name="connsiteX19" fmla="*/ 3452872 w 7203882"/>
              <a:gd name="connsiteY19" fmla="*/ 18661 h 2289791"/>
              <a:gd name="connsiteX0" fmla="*/ 3452872 w 7203882"/>
              <a:gd name="connsiteY0" fmla="*/ 18661 h 2289791"/>
              <a:gd name="connsiteX1" fmla="*/ 7198635 w 7203882"/>
              <a:gd name="connsiteY1" fmla="*/ 0 h 2289791"/>
              <a:gd name="connsiteX2" fmla="*/ 7203881 w 7203882"/>
              <a:gd name="connsiteY2" fmla="*/ 5246 h 2289791"/>
              <a:gd name="connsiteX3" fmla="*/ 7203881 w 7203882"/>
              <a:gd name="connsiteY3" fmla="*/ 1299170 h 2289791"/>
              <a:gd name="connsiteX4" fmla="*/ 7203882 w 7203882"/>
              <a:gd name="connsiteY4" fmla="*/ 1299175 h 2289791"/>
              <a:gd name="connsiteX5" fmla="*/ 7203882 w 7203882"/>
              <a:gd name="connsiteY5" fmla="*/ 2073076 h 2289791"/>
              <a:gd name="connsiteX6" fmla="*/ 7010401 w 7203882"/>
              <a:gd name="connsiteY6" fmla="*/ 2266557 h 2289791"/>
              <a:gd name="connsiteX7" fmla="*/ 3999284 w 7203882"/>
              <a:gd name="connsiteY7" fmla="*/ 2221996 h 2289791"/>
              <a:gd name="connsiteX8" fmla="*/ 3669084 w 7203882"/>
              <a:gd name="connsiteY8" fmla="*/ 1464856 h 2289791"/>
              <a:gd name="connsiteX9" fmla="*/ 3470081 w 7203882"/>
              <a:gd name="connsiteY9" fmla="*/ 1269607 h 2289791"/>
              <a:gd name="connsiteX10" fmla="*/ 2970584 w 7203882"/>
              <a:gd name="connsiteY10" fmla="*/ 1261656 h 2289791"/>
              <a:gd name="connsiteX11" fmla="*/ 2297484 w 7203882"/>
              <a:gd name="connsiteY11" fmla="*/ 1280706 h 2289791"/>
              <a:gd name="connsiteX12" fmla="*/ 1662484 w 7203882"/>
              <a:gd name="connsiteY12" fmla="*/ 1479046 h 2289791"/>
              <a:gd name="connsiteX13" fmla="*/ 831850 w 7203882"/>
              <a:gd name="connsiteY13" fmla="*/ 1660326 h 2289791"/>
              <a:gd name="connsiteX14" fmla="*/ 0 w 7203882"/>
              <a:gd name="connsiteY14" fmla="*/ 1299175 h 2289791"/>
              <a:gd name="connsiteX15" fmla="*/ 395594 w 7203882"/>
              <a:gd name="connsiteY15" fmla="*/ 1422155 h 2289791"/>
              <a:gd name="connsiteX16" fmla="*/ 665275 w 7203882"/>
              <a:gd name="connsiteY16" fmla="*/ 1456627 h 2289791"/>
              <a:gd name="connsiteX17" fmla="*/ 478289 w 7203882"/>
              <a:gd name="connsiteY17" fmla="*/ 689704 h 2289791"/>
              <a:gd name="connsiteX18" fmla="*/ 1894727 w 7203882"/>
              <a:gd name="connsiteY18" fmla="*/ 14836 h 2289791"/>
              <a:gd name="connsiteX19" fmla="*/ 3452872 w 7203882"/>
              <a:gd name="connsiteY19" fmla="*/ 18661 h 2289791"/>
              <a:gd name="connsiteX0" fmla="*/ 3452872 w 7203882"/>
              <a:gd name="connsiteY0" fmla="*/ 18661 h 2289791"/>
              <a:gd name="connsiteX1" fmla="*/ 7198635 w 7203882"/>
              <a:gd name="connsiteY1" fmla="*/ 0 h 2289791"/>
              <a:gd name="connsiteX2" fmla="*/ 7203881 w 7203882"/>
              <a:gd name="connsiteY2" fmla="*/ 5246 h 2289791"/>
              <a:gd name="connsiteX3" fmla="*/ 7203881 w 7203882"/>
              <a:gd name="connsiteY3" fmla="*/ 1299170 h 2289791"/>
              <a:gd name="connsiteX4" fmla="*/ 7203882 w 7203882"/>
              <a:gd name="connsiteY4" fmla="*/ 1299175 h 2289791"/>
              <a:gd name="connsiteX5" fmla="*/ 7203882 w 7203882"/>
              <a:gd name="connsiteY5" fmla="*/ 2073076 h 2289791"/>
              <a:gd name="connsiteX6" fmla="*/ 7010401 w 7203882"/>
              <a:gd name="connsiteY6" fmla="*/ 2266557 h 2289791"/>
              <a:gd name="connsiteX7" fmla="*/ 3999284 w 7203882"/>
              <a:gd name="connsiteY7" fmla="*/ 2221996 h 2289791"/>
              <a:gd name="connsiteX8" fmla="*/ 3669084 w 7203882"/>
              <a:gd name="connsiteY8" fmla="*/ 1464856 h 2289791"/>
              <a:gd name="connsiteX9" fmla="*/ 3470081 w 7203882"/>
              <a:gd name="connsiteY9" fmla="*/ 1269607 h 2289791"/>
              <a:gd name="connsiteX10" fmla="*/ 2970584 w 7203882"/>
              <a:gd name="connsiteY10" fmla="*/ 1261656 h 2289791"/>
              <a:gd name="connsiteX11" fmla="*/ 2297484 w 7203882"/>
              <a:gd name="connsiteY11" fmla="*/ 1280706 h 2289791"/>
              <a:gd name="connsiteX12" fmla="*/ 1662484 w 7203882"/>
              <a:gd name="connsiteY12" fmla="*/ 1479046 h 2289791"/>
              <a:gd name="connsiteX13" fmla="*/ 831850 w 7203882"/>
              <a:gd name="connsiteY13" fmla="*/ 1660326 h 2289791"/>
              <a:gd name="connsiteX14" fmla="*/ 0 w 7203882"/>
              <a:gd name="connsiteY14" fmla="*/ 1299175 h 2289791"/>
              <a:gd name="connsiteX15" fmla="*/ 395594 w 7203882"/>
              <a:gd name="connsiteY15" fmla="*/ 1422155 h 2289791"/>
              <a:gd name="connsiteX16" fmla="*/ 478289 w 7203882"/>
              <a:gd name="connsiteY16" fmla="*/ 689704 h 2289791"/>
              <a:gd name="connsiteX17" fmla="*/ 1894727 w 7203882"/>
              <a:gd name="connsiteY17" fmla="*/ 14836 h 2289791"/>
              <a:gd name="connsiteX18" fmla="*/ 3452872 w 7203882"/>
              <a:gd name="connsiteY18" fmla="*/ 18661 h 2289791"/>
              <a:gd name="connsiteX0" fmla="*/ 3462389 w 7213399"/>
              <a:gd name="connsiteY0" fmla="*/ 18661 h 2289791"/>
              <a:gd name="connsiteX1" fmla="*/ 7208152 w 7213399"/>
              <a:gd name="connsiteY1" fmla="*/ 0 h 2289791"/>
              <a:gd name="connsiteX2" fmla="*/ 7213398 w 7213399"/>
              <a:gd name="connsiteY2" fmla="*/ 5246 h 2289791"/>
              <a:gd name="connsiteX3" fmla="*/ 7213398 w 7213399"/>
              <a:gd name="connsiteY3" fmla="*/ 1299170 h 2289791"/>
              <a:gd name="connsiteX4" fmla="*/ 7213399 w 7213399"/>
              <a:gd name="connsiteY4" fmla="*/ 1299175 h 2289791"/>
              <a:gd name="connsiteX5" fmla="*/ 7213399 w 7213399"/>
              <a:gd name="connsiteY5" fmla="*/ 2073076 h 2289791"/>
              <a:gd name="connsiteX6" fmla="*/ 7019918 w 7213399"/>
              <a:gd name="connsiteY6" fmla="*/ 2266557 h 2289791"/>
              <a:gd name="connsiteX7" fmla="*/ 4008801 w 7213399"/>
              <a:gd name="connsiteY7" fmla="*/ 2221996 h 2289791"/>
              <a:gd name="connsiteX8" fmla="*/ 3678601 w 7213399"/>
              <a:gd name="connsiteY8" fmla="*/ 1464856 h 2289791"/>
              <a:gd name="connsiteX9" fmla="*/ 3479598 w 7213399"/>
              <a:gd name="connsiteY9" fmla="*/ 1269607 h 2289791"/>
              <a:gd name="connsiteX10" fmla="*/ 2980101 w 7213399"/>
              <a:gd name="connsiteY10" fmla="*/ 1261656 h 2289791"/>
              <a:gd name="connsiteX11" fmla="*/ 2307001 w 7213399"/>
              <a:gd name="connsiteY11" fmla="*/ 1280706 h 2289791"/>
              <a:gd name="connsiteX12" fmla="*/ 1672001 w 7213399"/>
              <a:gd name="connsiteY12" fmla="*/ 1479046 h 2289791"/>
              <a:gd name="connsiteX13" fmla="*/ 841367 w 7213399"/>
              <a:gd name="connsiteY13" fmla="*/ 1660326 h 2289791"/>
              <a:gd name="connsiteX14" fmla="*/ 9517 w 7213399"/>
              <a:gd name="connsiteY14" fmla="*/ 1299175 h 2289791"/>
              <a:gd name="connsiteX15" fmla="*/ 487806 w 7213399"/>
              <a:gd name="connsiteY15" fmla="*/ 689704 h 2289791"/>
              <a:gd name="connsiteX16" fmla="*/ 1904244 w 7213399"/>
              <a:gd name="connsiteY16" fmla="*/ 14836 h 2289791"/>
              <a:gd name="connsiteX17" fmla="*/ 3462389 w 7213399"/>
              <a:gd name="connsiteY17" fmla="*/ 18661 h 2289791"/>
              <a:gd name="connsiteX0" fmla="*/ 2974583 w 6725593"/>
              <a:gd name="connsiteY0" fmla="*/ 18661 h 2289791"/>
              <a:gd name="connsiteX1" fmla="*/ 6720346 w 6725593"/>
              <a:gd name="connsiteY1" fmla="*/ 0 h 2289791"/>
              <a:gd name="connsiteX2" fmla="*/ 6725592 w 6725593"/>
              <a:gd name="connsiteY2" fmla="*/ 5246 h 2289791"/>
              <a:gd name="connsiteX3" fmla="*/ 6725592 w 6725593"/>
              <a:gd name="connsiteY3" fmla="*/ 1299170 h 2289791"/>
              <a:gd name="connsiteX4" fmla="*/ 6725593 w 6725593"/>
              <a:gd name="connsiteY4" fmla="*/ 1299175 h 2289791"/>
              <a:gd name="connsiteX5" fmla="*/ 6725593 w 6725593"/>
              <a:gd name="connsiteY5" fmla="*/ 2073076 h 2289791"/>
              <a:gd name="connsiteX6" fmla="*/ 6532112 w 6725593"/>
              <a:gd name="connsiteY6" fmla="*/ 2266557 h 2289791"/>
              <a:gd name="connsiteX7" fmla="*/ 3520995 w 6725593"/>
              <a:gd name="connsiteY7" fmla="*/ 2221996 h 2289791"/>
              <a:gd name="connsiteX8" fmla="*/ 3190795 w 6725593"/>
              <a:gd name="connsiteY8" fmla="*/ 1464856 h 2289791"/>
              <a:gd name="connsiteX9" fmla="*/ 2991792 w 6725593"/>
              <a:gd name="connsiteY9" fmla="*/ 1269607 h 2289791"/>
              <a:gd name="connsiteX10" fmla="*/ 2492295 w 6725593"/>
              <a:gd name="connsiteY10" fmla="*/ 1261656 h 2289791"/>
              <a:gd name="connsiteX11" fmla="*/ 1819195 w 6725593"/>
              <a:gd name="connsiteY11" fmla="*/ 1280706 h 2289791"/>
              <a:gd name="connsiteX12" fmla="*/ 1184195 w 6725593"/>
              <a:gd name="connsiteY12" fmla="*/ 1479046 h 2289791"/>
              <a:gd name="connsiteX13" fmla="*/ 353561 w 6725593"/>
              <a:gd name="connsiteY13" fmla="*/ 1660326 h 2289791"/>
              <a:gd name="connsiteX14" fmla="*/ 0 w 6725593"/>
              <a:gd name="connsiteY14" fmla="*/ 689704 h 2289791"/>
              <a:gd name="connsiteX15" fmla="*/ 1416438 w 6725593"/>
              <a:gd name="connsiteY15" fmla="*/ 14836 h 2289791"/>
              <a:gd name="connsiteX16" fmla="*/ 2974583 w 6725593"/>
              <a:gd name="connsiteY16" fmla="*/ 18661 h 2289791"/>
              <a:gd name="connsiteX0" fmla="*/ 2974583 w 6725593"/>
              <a:gd name="connsiteY0" fmla="*/ 18661 h 2289791"/>
              <a:gd name="connsiteX1" fmla="*/ 6720346 w 6725593"/>
              <a:gd name="connsiteY1" fmla="*/ 0 h 2289791"/>
              <a:gd name="connsiteX2" fmla="*/ 6725592 w 6725593"/>
              <a:gd name="connsiteY2" fmla="*/ 5246 h 2289791"/>
              <a:gd name="connsiteX3" fmla="*/ 6725592 w 6725593"/>
              <a:gd name="connsiteY3" fmla="*/ 1299170 h 2289791"/>
              <a:gd name="connsiteX4" fmla="*/ 6725593 w 6725593"/>
              <a:gd name="connsiteY4" fmla="*/ 1299175 h 2289791"/>
              <a:gd name="connsiteX5" fmla="*/ 6725593 w 6725593"/>
              <a:gd name="connsiteY5" fmla="*/ 2073076 h 2289791"/>
              <a:gd name="connsiteX6" fmla="*/ 6532112 w 6725593"/>
              <a:gd name="connsiteY6" fmla="*/ 2266557 h 2289791"/>
              <a:gd name="connsiteX7" fmla="*/ 3520995 w 6725593"/>
              <a:gd name="connsiteY7" fmla="*/ 2221996 h 2289791"/>
              <a:gd name="connsiteX8" fmla="*/ 3190795 w 6725593"/>
              <a:gd name="connsiteY8" fmla="*/ 1464856 h 2289791"/>
              <a:gd name="connsiteX9" fmla="*/ 2991792 w 6725593"/>
              <a:gd name="connsiteY9" fmla="*/ 1269607 h 2289791"/>
              <a:gd name="connsiteX10" fmla="*/ 2492295 w 6725593"/>
              <a:gd name="connsiteY10" fmla="*/ 1261656 h 2289791"/>
              <a:gd name="connsiteX11" fmla="*/ 1819195 w 6725593"/>
              <a:gd name="connsiteY11" fmla="*/ 1280706 h 2289791"/>
              <a:gd name="connsiteX12" fmla="*/ 1184195 w 6725593"/>
              <a:gd name="connsiteY12" fmla="*/ 1479046 h 2289791"/>
              <a:gd name="connsiteX13" fmla="*/ 99561 w 6725593"/>
              <a:gd name="connsiteY13" fmla="*/ 1609526 h 2289791"/>
              <a:gd name="connsiteX14" fmla="*/ 0 w 6725593"/>
              <a:gd name="connsiteY14" fmla="*/ 689704 h 2289791"/>
              <a:gd name="connsiteX15" fmla="*/ 1416438 w 6725593"/>
              <a:gd name="connsiteY15" fmla="*/ 14836 h 2289791"/>
              <a:gd name="connsiteX16" fmla="*/ 2974583 w 6725593"/>
              <a:gd name="connsiteY16" fmla="*/ 18661 h 2289791"/>
              <a:gd name="connsiteX0" fmla="*/ 2974583 w 6725593"/>
              <a:gd name="connsiteY0" fmla="*/ 18661 h 2266557"/>
              <a:gd name="connsiteX1" fmla="*/ 6720346 w 6725593"/>
              <a:gd name="connsiteY1" fmla="*/ 0 h 2266557"/>
              <a:gd name="connsiteX2" fmla="*/ 6725592 w 6725593"/>
              <a:gd name="connsiteY2" fmla="*/ 5246 h 2266557"/>
              <a:gd name="connsiteX3" fmla="*/ 6725592 w 6725593"/>
              <a:gd name="connsiteY3" fmla="*/ 1299170 h 2266557"/>
              <a:gd name="connsiteX4" fmla="*/ 6725593 w 6725593"/>
              <a:gd name="connsiteY4" fmla="*/ 1299175 h 2266557"/>
              <a:gd name="connsiteX5" fmla="*/ 6725593 w 6725593"/>
              <a:gd name="connsiteY5" fmla="*/ 2073076 h 2266557"/>
              <a:gd name="connsiteX6" fmla="*/ 6532112 w 6725593"/>
              <a:gd name="connsiteY6" fmla="*/ 2266557 h 2266557"/>
              <a:gd name="connsiteX7" fmla="*/ 5406945 w 6725593"/>
              <a:gd name="connsiteY7" fmla="*/ 1244096 h 2266557"/>
              <a:gd name="connsiteX8" fmla="*/ 3190795 w 6725593"/>
              <a:gd name="connsiteY8" fmla="*/ 1464856 h 2266557"/>
              <a:gd name="connsiteX9" fmla="*/ 2991792 w 6725593"/>
              <a:gd name="connsiteY9" fmla="*/ 1269607 h 2266557"/>
              <a:gd name="connsiteX10" fmla="*/ 2492295 w 6725593"/>
              <a:gd name="connsiteY10" fmla="*/ 1261656 h 2266557"/>
              <a:gd name="connsiteX11" fmla="*/ 1819195 w 6725593"/>
              <a:gd name="connsiteY11" fmla="*/ 1280706 h 2266557"/>
              <a:gd name="connsiteX12" fmla="*/ 1184195 w 6725593"/>
              <a:gd name="connsiteY12" fmla="*/ 1479046 h 2266557"/>
              <a:gd name="connsiteX13" fmla="*/ 99561 w 6725593"/>
              <a:gd name="connsiteY13" fmla="*/ 1609526 h 2266557"/>
              <a:gd name="connsiteX14" fmla="*/ 0 w 6725593"/>
              <a:gd name="connsiteY14" fmla="*/ 689704 h 2266557"/>
              <a:gd name="connsiteX15" fmla="*/ 1416438 w 6725593"/>
              <a:gd name="connsiteY15" fmla="*/ 14836 h 2266557"/>
              <a:gd name="connsiteX16" fmla="*/ 2974583 w 6725593"/>
              <a:gd name="connsiteY16" fmla="*/ 18661 h 2266557"/>
              <a:gd name="connsiteX0" fmla="*/ 2974583 w 6725593"/>
              <a:gd name="connsiteY0" fmla="*/ 18661 h 2086745"/>
              <a:gd name="connsiteX1" fmla="*/ 6720346 w 6725593"/>
              <a:gd name="connsiteY1" fmla="*/ 0 h 2086745"/>
              <a:gd name="connsiteX2" fmla="*/ 6725592 w 6725593"/>
              <a:gd name="connsiteY2" fmla="*/ 5246 h 2086745"/>
              <a:gd name="connsiteX3" fmla="*/ 6725592 w 6725593"/>
              <a:gd name="connsiteY3" fmla="*/ 1299170 h 2086745"/>
              <a:gd name="connsiteX4" fmla="*/ 6725593 w 6725593"/>
              <a:gd name="connsiteY4" fmla="*/ 1299175 h 2086745"/>
              <a:gd name="connsiteX5" fmla="*/ 6725593 w 6725593"/>
              <a:gd name="connsiteY5" fmla="*/ 2073076 h 2086745"/>
              <a:gd name="connsiteX6" fmla="*/ 6176512 w 6725593"/>
              <a:gd name="connsiteY6" fmla="*/ 1625207 h 2086745"/>
              <a:gd name="connsiteX7" fmla="*/ 5406945 w 6725593"/>
              <a:gd name="connsiteY7" fmla="*/ 1244096 h 2086745"/>
              <a:gd name="connsiteX8" fmla="*/ 3190795 w 6725593"/>
              <a:gd name="connsiteY8" fmla="*/ 1464856 h 2086745"/>
              <a:gd name="connsiteX9" fmla="*/ 2991792 w 6725593"/>
              <a:gd name="connsiteY9" fmla="*/ 1269607 h 2086745"/>
              <a:gd name="connsiteX10" fmla="*/ 2492295 w 6725593"/>
              <a:gd name="connsiteY10" fmla="*/ 1261656 h 2086745"/>
              <a:gd name="connsiteX11" fmla="*/ 1819195 w 6725593"/>
              <a:gd name="connsiteY11" fmla="*/ 1280706 h 2086745"/>
              <a:gd name="connsiteX12" fmla="*/ 1184195 w 6725593"/>
              <a:gd name="connsiteY12" fmla="*/ 1479046 h 2086745"/>
              <a:gd name="connsiteX13" fmla="*/ 99561 w 6725593"/>
              <a:gd name="connsiteY13" fmla="*/ 1609526 h 2086745"/>
              <a:gd name="connsiteX14" fmla="*/ 0 w 6725593"/>
              <a:gd name="connsiteY14" fmla="*/ 689704 h 2086745"/>
              <a:gd name="connsiteX15" fmla="*/ 1416438 w 6725593"/>
              <a:gd name="connsiteY15" fmla="*/ 14836 h 2086745"/>
              <a:gd name="connsiteX16" fmla="*/ 2974583 w 6725593"/>
              <a:gd name="connsiteY16" fmla="*/ 18661 h 2086745"/>
              <a:gd name="connsiteX0" fmla="*/ 2974583 w 6732552"/>
              <a:gd name="connsiteY0" fmla="*/ 18661 h 2159823"/>
              <a:gd name="connsiteX1" fmla="*/ 6720346 w 6732552"/>
              <a:gd name="connsiteY1" fmla="*/ 0 h 2159823"/>
              <a:gd name="connsiteX2" fmla="*/ 6725592 w 6732552"/>
              <a:gd name="connsiteY2" fmla="*/ 5246 h 2159823"/>
              <a:gd name="connsiteX3" fmla="*/ 6725592 w 6732552"/>
              <a:gd name="connsiteY3" fmla="*/ 1299170 h 2159823"/>
              <a:gd name="connsiteX4" fmla="*/ 6725593 w 6732552"/>
              <a:gd name="connsiteY4" fmla="*/ 1299175 h 2159823"/>
              <a:gd name="connsiteX5" fmla="*/ 6725593 w 6732552"/>
              <a:gd name="connsiteY5" fmla="*/ 2073076 h 2159823"/>
              <a:gd name="connsiteX6" fmla="*/ 6676945 w 6732552"/>
              <a:gd name="connsiteY6" fmla="*/ 2093506 h 2159823"/>
              <a:gd name="connsiteX7" fmla="*/ 6176512 w 6732552"/>
              <a:gd name="connsiteY7" fmla="*/ 1625207 h 2159823"/>
              <a:gd name="connsiteX8" fmla="*/ 5406945 w 6732552"/>
              <a:gd name="connsiteY8" fmla="*/ 1244096 h 2159823"/>
              <a:gd name="connsiteX9" fmla="*/ 3190795 w 6732552"/>
              <a:gd name="connsiteY9" fmla="*/ 1464856 h 2159823"/>
              <a:gd name="connsiteX10" fmla="*/ 2991792 w 6732552"/>
              <a:gd name="connsiteY10" fmla="*/ 1269607 h 2159823"/>
              <a:gd name="connsiteX11" fmla="*/ 2492295 w 6732552"/>
              <a:gd name="connsiteY11" fmla="*/ 1261656 h 2159823"/>
              <a:gd name="connsiteX12" fmla="*/ 1819195 w 6732552"/>
              <a:gd name="connsiteY12" fmla="*/ 1280706 h 2159823"/>
              <a:gd name="connsiteX13" fmla="*/ 1184195 w 6732552"/>
              <a:gd name="connsiteY13" fmla="*/ 1479046 h 2159823"/>
              <a:gd name="connsiteX14" fmla="*/ 99561 w 6732552"/>
              <a:gd name="connsiteY14" fmla="*/ 1609526 h 2159823"/>
              <a:gd name="connsiteX15" fmla="*/ 0 w 6732552"/>
              <a:gd name="connsiteY15" fmla="*/ 689704 h 2159823"/>
              <a:gd name="connsiteX16" fmla="*/ 1416438 w 6732552"/>
              <a:gd name="connsiteY16" fmla="*/ 14836 h 2159823"/>
              <a:gd name="connsiteX17" fmla="*/ 2974583 w 6732552"/>
              <a:gd name="connsiteY17" fmla="*/ 18661 h 2159823"/>
              <a:gd name="connsiteX0" fmla="*/ 2974583 w 6725593"/>
              <a:gd name="connsiteY0" fmla="*/ 18661 h 2078560"/>
              <a:gd name="connsiteX1" fmla="*/ 6720346 w 6725593"/>
              <a:gd name="connsiteY1" fmla="*/ 0 h 2078560"/>
              <a:gd name="connsiteX2" fmla="*/ 6725592 w 6725593"/>
              <a:gd name="connsiteY2" fmla="*/ 5246 h 2078560"/>
              <a:gd name="connsiteX3" fmla="*/ 6725592 w 6725593"/>
              <a:gd name="connsiteY3" fmla="*/ 1299170 h 2078560"/>
              <a:gd name="connsiteX4" fmla="*/ 6725593 w 6725593"/>
              <a:gd name="connsiteY4" fmla="*/ 1299175 h 2078560"/>
              <a:gd name="connsiteX5" fmla="*/ 6725593 w 6725593"/>
              <a:gd name="connsiteY5" fmla="*/ 2073076 h 2078560"/>
              <a:gd name="connsiteX6" fmla="*/ 6176512 w 6725593"/>
              <a:gd name="connsiteY6" fmla="*/ 1625207 h 2078560"/>
              <a:gd name="connsiteX7" fmla="*/ 5406945 w 6725593"/>
              <a:gd name="connsiteY7" fmla="*/ 1244096 h 2078560"/>
              <a:gd name="connsiteX8" fmla="*/ 3190795 w 6725593"/>
              <a:gd name="connsiteY8" fmla="*/ 1464856 h 2078560"/>
              <a:gd name="connsiteX9" fmla="*/ 2991792 w 6725593"/>
              <a:gd name="connsiteY9" fmla="*/ 1269607 h 2078560"/>
              <a:gd name="connsiteX10" fmla="*/ 2492295 w 6725593"/>
              <a:gd name="connsiteY10" fmla="*/ 1261656 h 2078560"/>
              <a:gd name="connsiteX11" fmla="*/ 1819195 w 6725593"/>
              <a:gd name="connsiteY11" fmla="*/ 1280706 h 2078560"/>
              <a:gd name="connsiteX12" fmla="*/ 1184195 w 6725593"/>
              <a:gd name="connsiteY12" fmla="*/ 1479046 h 2078560"/>
              <a:gd name="connsiteX13" fmla="*/ 99561 w 6725593"/>
              <a:gd name="connsiteY13" fmla="*/ 1609526 h 2078560"/>
              <a:gd name="connsiteX14" fmla="*/ 0 w 6725593"/>
              <a:gd name="connsiteY14" fmla="*/ 689704 h 2078560"/>
              <a:gd name="connsiteX15" fmla="*/ 1416438 w 6725593"/>
              <a:gd name="connsiteY15" fmla="*/ 14836 h 2078560"/>
              <a:gd name="connsiteX16" fmla="*/ 2974583 w 6725593"/>
              <a:gd name="connsiteY16" fmla="*/ 18661 h 2078560"/>
              <a:gd name="connsiteX0" fmla="*/ 2974583 w 6725593"/>
              <a:gd name="connsiteY0" fmla="*/ 18661 h 1629387"/>
              <a:gd name="connsiteX1" fmla="*/ 6720346 w 6725593"/>
              <a:gd name="connsiteY1" fmla="*/ 0 h 1629387"/>
              <a:gd name="connsiteX2" fmla="*/ 6725592 w 6725593"/>
              <a:gd name="connsiteY2" fmla="*/ 5246 h 1629387"/>
              <a:gd name="connsiteX3" fmla="*/ 6725592 w 6725593"/>
              <a:gd name="connsiteY3" fmla="*/ 1299170 h 1629387"/>
              <a:gd name="connsiteX4" fmla="*/ 6725593 w 6725593"/>
              <a:gd name="connsiteY4" fmla="*/ 1299175 h 1629387"/>
              <a:gd name="connsiteX5" fmla="*/ 6176512 w 6725593"/>
              <a:gd name="connsiteY5" fmla="*/ 1625207 h 1629387"/>
              <a:gd name="connsiteX6" fmla="*/ 5406945 w 6725593"/>
              <a:gd name="connsiteY6" fmla="*/ 1244096 h 1629387"/>
              <a:gd name="connsiteX7" fmla="*/ 3190795 w 6725593"/>
              <a:gd name="connsiteY7" fmla="*/ 1464856 h 1629387"/>
              <a:gd name="connsiteX8" fmla="*/ 2991792 w 6725593"/>
              <a:gd name="connsiteY8" fmla="*/ 1269607 h 1629387"/>
              <a:gd name="connsiteX9" fmla="*/ 2492295 w 6725593"/>
              <a:gd name="connsiteY9" fmla="*/ 1261656 h 1629387"/>
              <a:gd name="connsiteX10" fmla="*/ 1819195 w 6725593"/>
              <a:gd name="connsiteY10" fmla="*/ 1280706 h 1629387"/>
              <a:gd name="connsiteX11" fmla="*/ 1184195 w 6725593"/>
              <a:gd name="connsiteY11" fmla="*/ 1479046 h 1629387"/>
              <a:gd name="connsiteX12" fmla="*/ 99561 w 6725593"/>
              <a:gd name="connsiteY12" fmla="*/ 1609526 h 1629387"/>
              <a:gd name="connsiteX13" fmla="*/ 0 w 6725593"/>
              <a:gd name="connsiteY13" fmla="*/ 689704 h 1629387"/>
              <a:gd name="connsiteX14" fmla="*/ 1416438 w 6725593"/>
              <a:gd name="connsiteY14" fmla="*/ 14836 h 1629387"/>
              <a:gd name="connsiteX15" fmla="*/ 2974583 w 6725593"/>
              <a:gd name="connsiteY15" fmla="*/ 18661 h 1629387"/>
              <a:gd name="connsiteX0" fmla="*/ 2974583 w 6725593"/>
              <a:gd name="connsiteY0" fmla="*/ 18661 h 1629387"/>
              <a:gd name="connsiteX1" fmla="*/ 6720346 w 6725593"/>
              <a:gd name="connsiteY1" fmla="*/ 0 h 1629387"/>
              <a:gd name="connsiteX2" fmla="*/ 6725592 w 6725593"/>
              <a:gd name="connsiteY2" fmla="*/ 5246 h 1629387"/>
              <a:gd name="connsiteX3" fmla="*/ 6725592 w 6725593"/>
              <a:gd name="connsiteY3" fmla="*/ 1299170 h 1629387"/>
              <a:gd name="connsiteX4" fmla="*/ 6725593 w 6725593"/>
              <a:gd name="connsiteY4" fmla="*/ 1299175 h 1629387"/>
              <a:gd name="connsiteX5" fmla="*/ 6157462 w 6725593"/>
              <a:gd name="connsiteY5" fmla="*/ 1396607 h 1629387"/>
              <a:gd name="connsiteX6" fmla="*/ 5406945 w 6725593"/>
              <a:gd name="connsiteY6" fmla="*/ 1244096 h 1629387"/>
              <a:gd name="connsiteX7" fmla="*/ 3190795 w 6725593"/>
              <a:gd name="connsiteY7" fmla="*/ 1464856 h 1629387"/>
              <a:gd name="connsiteX8" fmla="*/ 2991792 w 6725593"/>
              <a:gd name="connsiteY8" fmla="*/ 1269607 h 1629387"/>
              <a:gd name="connsiteX9" fmla="*/ 2492295 w 6725593"/>
              <a:gd name="connsiteY9" fmla="*/ 1261656 h 1629387"/>
              <a:gd name="connsiteX10" fmla="*/ 1819195 w 6725593"/>
              <a:gd name="connsiteY10" fmla="*/ 1280706 h 1629387"/>
              <a:gd name="connsiteX11" fmla="*/ 1184195 w 6725593"/>
              <a:gd name="connsiteY11" fmla="*/ 1479046 h 1629387"/>
              <a:gd name="connsiteX12" fmla="*/ 99561 w 6725593"/>
              <a:gd name="connsiteY12" fmla="*/ 1609526 h 1629387"/>
              <a:gd name="connsiteX13" fmla="*/ 0 w 6725593"/>
              <a:gd name="connsiteY13" fmla="*/ 689704 h 1629387"/>
              <a:gd name="connsiteX14" fmla="*/ 1416438 w 6725593"/>
              <a:gd name="connsiteY14" fmla="*/ 14836 h 1629387"/>
              <a:gd name="connsiteX15" fmla="*/ 2974583 w 6725593"/>
              <a:gd name="connsiteY15" fmla="*/ 18661 h 1629387"/>
              <a:gd name="connsiteX0" fmla="*/ 2974583 w 6725593"/>
              <a:gd name="connsiteY0" fmla="*/ 18661 h 1629387"/>
              <a:gd name="connsiteX1" fmla="*/ 6720346 w 6725593"/>
              <a:gd name="connsiteY1" fmla="*/ 0 h 1629387"/>
              <a:gd name="connsiteX2" fmla="*/ 6725592 w 6725593"/>
              <a:gd name="connsiteY2" fmla="*/ 5246 h 1629387"/>
              <a:gd name="connsiteX3" fmla="*/ 6725592 w 6725593"/>
              <a:gd name="connsiteY3" fmla="*/ 1299170 h 1629387"/>
              <a:gd name="connsiteX4" fmla="*/ 6725593 w 6725593"/>
              <a:gd name="connsiteY4" fmla="*/ 1299175 h 1629387"/>
              <a:gd name="connsiteX5" fmla="*/ 6157462 w 6725593"/>
              <a:gd name="connsiteY5" fmla="*/ 1396607 h 1629387"/>
              <a:gd name="connsiteX6" fmla="*/ 5406945 w 6725593"/>
              <a:gd name="connsiteY6" fmla="*/ 1244096 h 1629387"/>
              <a:gd name="connsiteX7" fmla="*/ 3178095 w 6725593"/>
              <a:gd name="connsiteY7" fmla="*/ 1306106 h 1629387"/>
              <a:gd name="connsiteX8" fmla="*/ 2991792 w 6725593"/>
              <a:gd name="connsiteY8" fmla="*/ 1269607 h 1629387"/>
              <a:gd name="connsiteX9" fmla="*/ 2492295 w 6725593"/>
              <a:gd name="connsiteY9" fmla="*/ 1261656 h 1629387"/>
              <a:gd name="connsiteX10" fmla="*/ 1819195 w 6725593"/>
              <a:gd name="connsiteY10" fmla="*/ 1280706 h 1629387"/>
              <a:gd name="connsiteX11" fmla="*/ 1184195 w 6725593"/>
              <a:gd name="connsiteY11" fmla="*/ 1479046 h 1629387"/>
              <a:gd name="connsiteX12" fmla="*/ 99561 w 6725593"/>
              <a:gd name="connsiteY12" fmla="*/ 1609526 h 1629387"/>
              <a:gd name="connsiteX13" fmla="*/ 0 w 6725593"/>
              <a:gd name="connsiteY13" fmla="*/ 689704 h 1629387"/>
              <a:gd name="connsiteX14" fmla="*/ 1416438 w 6725593"/>
              <a:gd name="connsiteY14" fmla="*/ 14836 h 1629387"/>
              <a:gd name="connsiteX15" fmla="*/ 2974583 w 6725593"/>
              <a:gd name="connsiteY15" fmla="*/ 18661 h 1629387"/>
              <a:gd name="connsiteX0" fmla="*/ 2974583 w 6725593"/>
              <a:gd name="connsiteY0" fmla="*/ 18661 h 1629387"/>
              <a:gd name="connsiteX1" fmla="*/ 6720346 w 6725593"/>
              <a:gd name="connsiteY1" fmla="*/ 0 h 1629387"/>
              <a:gd name="connsiteX2" fmla="*/ 6725592 w 6725593"/>
              <a:gd name="connsiteY2" fmla="*/ 5246 h 1629387"/>
              <a:gd name="connsiteX3" fmla="*/ 6725592 w 6725593"/>
              <a:gd name="connsiteY3" fmla="*/ 1299170 h 1629387"/>
              <a:gd name="connsiteX4" fmla="*/ 6725593 w 6725593"/>
              <a:gd name="connsiteY4" fmla="*/ 1299175 h 1629387"/>
              <a:gd name="connsiteX5" fmla="*/ 6157462 w 6725593"/>
              <a:gd name="connsiteY5" fmla="*/ 1396607 h 1629387"/>
              <a:gd name="connsiteX6" fmla="*/ 5406945 w 6725593"/>
              <a:gd name="connsiteY6" fmla="*/ 1244096 h 1629387"/>
              <a:gd name="connsiteX7" fmla="*/ 3178095 w 6725593"/>
              <a:gd name="connsiteY7" fmla="*/ 1306106 h 1629387"/>
              <a:gd name="connsiteX8" fmla="*/ 2991792 w 6725593"/>
              <a:gd name="connsiteY8" fmla="*/ 1269607 h 1629387"/>
              <a:gd name="connsiteX9" fmla="*/ 2492295 w 6725593"/>
              <a:gd name="connsiteY9" fmla="*/ 1261656 h 1629387"/>
              <a:gd name="connsiteX10" fmla="*/ 1819195 w 6725593"/>
              <a:gd name="connsiteY10" fmla="*/ 1280706 h 1629387"/>
              <a:gd name="connsiteX11" fmla="*/ 1184195 w 6725593"/>
              <a:gd name="connsiteY11" fmla="*/ 1479046 h 1629387"/>
              <a:gd name="connsiteX12" fmla="*/ 99561 w 6725593"/>
              <a:gd name="connsiteY12" fmla="*/ 1609526 h 1629387"/>
              <a:gd name="connsiteX13" fmla="*/ 0 w 6725593"/>
              <a:gd name="connsiteY13" fmla="*/ 689704 h 1629387"/>
              <a:gd name="connsiteX14" fmla="*/ 1416438 w 6725593"/>
              <a:gd name="connsiteY14" fmla="*/ 14836 h 1629387"/>
              <a:gd name="connsiteX15" fmla="*/ 2974583 w 6725593"/>
              <a:gd name="connsiteY15" fmla="*/ 18661 h 1629387"/>
              <a:gd name="connsiteX0" fmla="*/ 2974583 w 6725593"/>
              <a:gd name="connsiteY0" fmla="*/ 18661 h 1629387"/>
              <a:gd name="connsiteX1" fmla="*/ 6720346 w 6725593"/>
              <a:gd name="connsiteY1" fmla="*/ 0 h 1629387"/>
              <a:gd name="connsiteX2" fmla="*/ 6725592 w 6725593"/>
              <a:gd name="connsiteY2" fmla="*/ 5246 h 1629387"/>
              <a:gd name="connsiteX3" fmla="*/ 6725592 w 6725593"/>
              <a:gd name="connsiteY3" fmla="*/ 1299170 h 1629387"/>
              <a:gd name="connsiteX4" fmla="*/ 6725593 w 6725593"/>
              <a:gd name="connsiteY4" fmla="*/ 1299175 h 1629387"/>
              <a:gd name="connsiteX5" fmla="*/ 6157462 w 6725593"/>
              <a:gd name="connsiteY5" fmla="*/ 1396607 h 1629387"/>
              <a:gd name="connsiteX6" fmla="*/ 5406945 w 6725593"/>
              <a:gd name="connsiteY6" fmla="*/ 1244096 h 1629387"/>
              <a:gd name="connsiteX7" fmla="*/ 3178095 w 6725593"/>
              <a:gd name="connsiteY7" fmla="*/ 1306106 h 1629387"/>
              <a:gd name="connsiteX8" fmla="*/ 2991792 w 6725593"/>
              <a:gd name="connsiteY8" fmla="*/ 1269607 h 1629387"/>
              <a:gd name="connsiteX9" fmla="*/ 2492295 w 6725593"/>
              <a:gd name="connsiteY9" fmla="*/ 1261656 h 1629387"/>
              <a:gd name="connsiteX10" fmla="*/ 1819195 w 6725593"/>
              <a:gd name="connsiteY10" fmla="*/ 1280706 h 1629387"/>
              <a:gd name="connsiteX11" fmla="*/ 1184195 w 6725593"/>
              <a:gd name="connsiteY11" fmla="*/ 1479046 h 1629387"/>
              <a:gd name="connsiteX12" fmla="*/ 99561 w 6725593"/>
              <a:gd name="connsiteY12" fmla="*/ 1609526 h 1629387"/>
              <a:gd name="connsiteX13" fmla="*/ 0 w 6725593"/>
              <a:gd name="connsiteY13" fmla="*/ 689704 h 1629387"/>
              <a:gd name="connsiteX14" fmla="*/ 1416438 w 6725593"/>
              <a:gd name="connsiteY14" fmla="*/ 14836 h 1629387"/>
              <a:gd name="connsiteX15" fmla="*/ 2974583 w 6725593"/>
              <a:gd name="connsiteY15" fmla="*/ 18661 h 1629387"/>
              <a:gd name="connsiteX0" fmla="*/ 2974583 w 6725593"/>
              <a:gd name="connsiteY0" fmla="*/ 18661 h 2059678"/>
              <a:gd name="connsiteX1" fmla="*/ 6720346 w 6725593"/>
              <a:gd name="connsiteY1" fmla="*/ 0 h 2059678"/>
              <a:gd name="connsiteX2" fmla="*/ 6725592 w 6725593"/>
              <a:gd name="connsiteY2" fmla="*/ 5246 h 2059678"/>
              <a:gd name="connsiteX3" fmla="*/ 6725592 w 6725593"/>
              <a:gd name="connsiteY3" fmla="*/ 1299170 h 2059678"/>
              <a:gd name="connsiteX4" fmla="*/ 6725593 w 6725593"/>
              <a:gd name="connsiteY4" fmla="*/ 1299175 h 2059678"/>
              <a:gd name="connsiteX5" fmla="*/ 6157462 w 6725593"/>
              <a:gd name="connsiteY5" fmla="*/ 1396607 h 2059678"/>
              <a:gd name="connsiteX6" fmla="*/ 5406945 w 6725593"/>
              <a:gd name="connsiteY6" fmla="*/ 1244096 h 2059678"/>
              <a:gd name="connsiteX7" fmla="*/ 3178095 w 6725593"/>
              <a:gd name="connsiteY7" fmla="*/ 1306106 h 2059678"/>
              <a:gd name="connsiteX8" fmla="*/ 2928292 w 6725593"/>
              <a:gd name="connsiteY8" fmla="*/ 2057007 h 2059678"/>
              <a:gd name="connsiteX9" fmla="*/ 2492295 w 6725593"/>
              <a:gd name="connsiteY9" fmla="*/ 1261656 h 2059678"/>
              <a:gd name="connsiteX10" fmla="*/ 1819195 w 6725593"/>
              <a:gd name="connsiteY10" fmla="*/ 1280706 h 2059678"/>
              <a:gd name="connsiteX11" fmla="*/ 1184195 w 6725593"/>
              <a:gd name="connsiteY11" fmla="*/ 1479046 h 2059678"/>
              <a:gd name="connsiteX12" fmla="*/ 99561 w 6725593"/>
              <a:gd name="connsiteY12" fmla="*/ 1609526 h 2059678"/>
              <a:gd name="connsiteX13" fmla="*/ 0 w 6725593"/>
              <a:gd name="connsiteY13" fmla="*/ 689704 h 2059678"/>
              <a:gd name="connsiteX14" fmla="*/ 1416438 w 6725593"/>
              <a:gd name="connsiteY14" fmla="*/ 14836 h 2059678"/>
              <a:gd name="connsiteX15" fmla="*/ 2974583 w 6725593"/>
              <a:gd name="connsiteY15" fmla="*/ 18661 h 2059678"/>
              <a:gd name="connsiteX0" fmla="*/ 2995672 w 6746682"/>
              <a:gd name="connsiteY0" fmla="*/ 18661 h 2139566"/>
              <a:gd name="connsiteX1" fmla="*/ 6741435 w 6746682"/>
              <a:gd name="connsiteY1" fmla="*/ 0 h 2139566"/>
              <a:gd name="connsiteX2" fmla="*/ 6746681 w 6746682"/>
              <a:gd name="connsiteY2" fmla="*/ 5246 h 2139566"/>
              <a:gd name="connsiteX3" fmla="*/ 6746681 w 6746682"/>
              <a:gd name="connsiteY3" fmla="*/ 1299170 h 2139566"/>
              <a:gd name="connsiteX4" fmla="*/ 6746682 w 6746682"/>
              <a:gd name="connsiteY4" fmla="*/ 1299175 h 2139566"/>
              <a:gd name="connsiteX5" fmla="*/ 6178551 w 6746682"/>
              <a:gd name="connsiteY5" fmla="*/ 1396607 h 2139566"/>
              <a:gd name="connsiteX6" fmla="*/ 5428034 w 6746682"/>
              <a:gd name="connsiteY6" fmla="*/ 1244096 h 2139566"/>
              <a:gd name="connsiteX7" fmla="*/ 3199184 w 6746682"/>
              <a:gd name="connsiteY7" fmla="*/ 1306106 h 2139566"/>
              <a:gd name="connsiteX8" fmla="*/ 2949381 w 6746682"/>
              <a:gd name="connsiteY8" fmla="*/ 2057007 h 2139566"/>
              <a:gd name="connsiteX9" fmla="*/ 2513384 w 6746682"/>
              <a:gd name="connsiteY9" fmla="*/ 1261656 h 2139566"/>
              <a:gd name="connsiteX10" fmla="*/ 1840284 w 6746682"/>
              <a:gd name="connsiteY10" fmla="*/ 1280706 h 2139566"/>
              <a:gd name="connsiteX11" fmla="*/ 1205284 w 6746682"/>
              <a:gd name="connsiteY11" fmla="*/ 1479046 h 2139566"/>
              <a:gd name="connsiteX12" fmla="*/ 0 w 6746682"/>
              <a:gd name="connsiteY12" fmla="*/ 2136576 h 2139566"/>
              <a:gd name="connsiteX13" fmla="*/ 21089 w 6746682"/>
              <a:gd name="connsiteY13" fmla="*/ 689704 h 2139566"/>
              <a:gd name="connsiteX14" fmla="*/ 1437527 w 6746682"/>
              <a:gd name="connsiteY14" fmla="*/ 14836 h 2139566"/>
              <a:gd name="connsiteX15" fmla="*/ 2995672 w 6746682"/>
              <a:gd name="connsiteY15" fmla="*/ 18661 h 2139566"/>
              <a:gd name="connsiteX0" fmla="*/ 2995672 w 6746682"/>
              <a:gd name="connsiteY0" fmla="*/ 18661 h 2139566"/>
              <a:gd name="connsiteX1" fmla="*/ 6741435 w 6746682"/>
              <a:gd name="connsiteY1" fmla="*/ 0 h 2139566"/>
              <a:gd name="connsiteX2" fmla="*/ 6746681 w 6746682"/>
              <a:gd name="connsiteY2" fmla="*/ 5246 h 2139566"/>
              <a:gd name="connsiteX3" fmla="*/ 6746681 w 6746682"/>
              <a:gd name="connsiteY3" fmla="*/ 1299170 h 2139566"/>
              <a:gd name="connsiteX4" fmla="*/ 6746682 w 6746682"/>
              <a:gd name="connsiteY4" fmla="*/ 1299175 h 2139566"/>
              <a:gd name="connsiteX5" fmla="*/ 6178551 w 6746682"/>
              <a:gd name="connsiteY5" fmla="*/ 1396607 h 2139566"/>
              <a:gd name="connsiteX6" fmla="*/ 5428034 w 6746682"/>
              <a:gd name="connsiteY6" fmla="*/ 1244096 h 2139566"/>
              <a:gd name="connsiteX7" fmla="*/ 3199184 w 6746682"/>
              <a:gd name="connsiteY7" fmla="*/ 1306106 h 2139566"/>
              <a:gd name="connsiteX8" fmla="*/ 2949381 w 6746682"/>
              <a:gd name="connsiteY8" fmla="*/ 2057007 h 2139566"/>
              <a:gd name="connsiteX9" fmla="*/ 2513384 w 6746682"/>
              <a:gd name="connsiteY9" fmla="*/ 1261656 h 2139566"/>
              <a:gd name="connsiteX10" fmla="*/ 1795834 w 6746682"/>
              <a:gd name="connsiteY10" fmla="*/ 2118906 h 2139566"/>
              <a:gd name="connsiteX11" fmla="*/ 1205284 w 6746682"/>
              <a:gd name="connsiteY11" fmla="*/ 1479046 h 2139566"/>
              <a:gd name="connsiteX12" fmla="*/ 0 w 6746682"/>
              <a:gd name="connsiteY12" fmla="*/ 2136576 h 2139566"/>
              <a:gd name="connsiteX13" fmla="*/ 21089 w 6746682"/>
              <a:gd name="connsiteY13" fmla="*/ 689704 h 2139566"/>
              <a:gd name="connsiteX14" fmla="*/ 1437527 w 6746682"/>
              <a:gd name="connsiteY14" fmla="*/ 14836 h 2139566"/>
              <a:gd name="connsiteX15" fmla="*/ 2995672 w 6746682"/>
              <a:gd name="connsiteY15" fmla="*/ 18661 h 2139566"/>
              <a:gd name="connsiteX0" fmla="*/ 2995672 w 6746682"/>
              <a:gd name="connsiteY0" fmla="*/ 18661 h 2139566"/>
              <a:gd name="connsiteX1" fmla="*/ 6741435 w 6746682"/>
              <a:gd name="connsiteY1" fmla="*/ 0 h 2139566"/>
              <a:gd name="connsiteX2" fmla="*/ 6746681 w 6746682"/>
              <a:gd name="connsiteY2" fmla="*/ 5246 h 2139566"/>
              <a:gd name="connsiteX3" fmla="*/ 6746681 w 6746682"/>
              <a:gd name="connsiteY3" fmla="*/ 1299170 h 2139566"/>
              <a:gd name="connsiteX4" fmla="*/ 6746682 w 6746682"/>
              <a:gd name="connsiteY4" fmla="*/ 1299175 h 2139566"/>
              <a:gd name="connsiteX5" fmla="*/ 6178551 w 6746682"/>
              <a:gd name="connsiteY5" fmla="*/ 1396607 h 2139566"/>
              <a:gd name="connsiteX6" fmla="*/ 5428034 w 6746682"/>
              <a:gd name="connsiteY6" fmla="*/ 1244096 h 2139566"/>
              <a:gd name="connsiteX7" fmla="*/ 3199184 w 6746682"/>
              <a:gd name="connsiteY7" fmla="*/ 1306106 h 2139566"/>
              <a:gd name="connsiteX8" fmla="*/ 2949381 w 6746682"/>
              <a:gd name="connsiteY8" fmla="*/ 2057007 h 2139566"/>
              <a:gd name="connsiteX9" fmla="*/ 2183184 w 6746682"/>
              <a:gd name="connsiteY9" fmla="*/ 2118906 h 2139566"/>
              <a:gd name="connsiteX10" fmla="*/ 1795834 w 6746682"/>
              <a:gd name="connsiteY10" fmla="*/ 2118906 h 2139566"/>
              <a:gd name="connsiteX11" fmla="*/ 1205284 w 6746682"/>
              <a:gd name="connsiteY11" fmla="*/ 1479046 h 2139566"/>
              <a:gd name="connsiteX12" fmla="*/ 0 w 6746682"/>
              <a:gd name="connsiteY12" fmla="*/ 2136576 h 2139566"/>
              <a:gd name="connsiteX13" fmla="*/ 21089 w 6746682"/>
              <a:gd name="connsiteY13" fmla="*/ 689704 h 2139566"/>
              <a:gd name="connsiteX14" fmla="*/ 1437527 w 6746682"/>
              <a:gd name="connsiteY14" fmla="*/ 14836 h 2139566"/>
              <a:gd name="connsiteX15" fmla="*/ 2995672 w 6746682"/>
              <a:gd name="connsiteY15" fmla="*/ 18661 h 2139566"/>
              <a:gd name="connsiteX0" fmla="*/ 2995672 w 6746682"/>
              <a:gd name="connsiteY0" fmla="*/ 18661 h 2177071"/>
              <a:gd name="connsiteX1" fmla="*/ 6741435 w 6746682"/>
              <a:gd name="connsiteY1" fmla="*/ 0 h 2177071"/>
              <a:gd name="connsiteX2" fmla="*/ 6746681 w 6746682"/>
              <a:gd name="connsiteY2" fmla="*/ 5246 h 2177071"/>
              <a:gd name="connsiteX3" fmla="*/ 6746681 w 6746682"/>
              <a:gd name="connsiteY3" fmla="*/ 1299170 h 2177071"/>
              <a:gd name="connsiteX4" fmla="*/ 6746682 w 6746682"/>
              <a:gd name="connsiteY4" fmla="*/ 1299175 h 2177071"/>
              <a:gd name="connsiteX5" fmla="*/ 6178551 w 6746682"/>
              <a:gd name="connsiteY5" fmla="*/ 1396607 h 2177071"/>
              <a:gd name="connsiteX6" fmla="*/ 5428034 w 6746682"/>
              <a:gd name="connsiteY6" fmla="*/ 1244096 h 2177071"/>
              <a:gd name="connsiteX7" fmla="*/ 3199184 w 6746682"/>
              <a:gd name="connsiteY7" fmla="*/ 1306106 h 2177071"/>
              <a:gd name="connsiteX8" fmla="*/ 2949381 w 6746682"/>
              <a:gd name="connsiteY8" fmla="*/ 2057007 h 2177071"/>
              <a:gd name="connsiteX9" fmla="*/ 2183184 w 6746682"/>
              <a:gd name="connsiteY9" fmla="*/ 2118906 h 2177071"/>
              <a:gd name="connsiteX10" fmla="*/ 1795834 w 6746682"/>
              <a:gd name="connsiteY10" fmla="*/ 2118906 h 2177071"/>
              <a:gd name="connsiteX11" fmla="*/ 951284 w 6746682"/>
              <a:gd name="connsiteY11" fmla="*/ 2075946 h 2177071"/>
              <a:gd name="connsiteX12" fmla="*/ 0 w 6746682"/>
              <a:gd name="connsiteY12" fmla="*/ 2136576 h 2177071"/>
              <a:gd name="connsiteX13" fmla="*/ 21089 w 6746682"/>
              <a:gd name="connsiteY13" fmla="*/ 689704 h 2177071"/>
              <a:gd name="connsiteX14" fmla="*/ 1437527 w 6746682"/>
              <a:gd name="connsiteY14" fmla="*/ 14836 h 2177071"/>
              <a:gd name="connsiteX15" fmla="*/ 2995672 w 6746682"/>
              <a:gd name="connsiteY15" fmla="*/ 18661 h 2177071"/>
              <a:gd name="connsiteX0" fmla="*/ 2995672 w 6746682"/>
              <a:gd name="connsiteY0" fmla="*/ 18661 h 2177071"/>
              <a:gd name="connsiteX1" fmla="*/ 6741435 w 6746682"/>
              <a:gd name="connsiteY1" fmla="*/ 0 h 2177071"/>
              <a:gd name="connsiteX2" fmla="*/ 6746681 w 6746682"/>
              <a:gd name="connsiteY2" fmla="*/ 5246 h 2177071"/>
              <a:gd name="connsiteX3" fmla="*/ 6746681 w 6746682"/>
              <a:gd name="connsiteY3" fmla="*/ 1299170 h 2177071"/>
              <a:gd name="connsiteX4" fmla="*/ 6746682 w 6746682"/>
              <a:gd name="connsiteY4" fmla="*/ 1299175 h 2177071"/>
              <a:gd name="connsiteX5" fmla="*/ 6178551 w 6746682"/>
              <a:gd name="connsiteY5" fmla="*/ 1396607 h 2177071"/>
              <a:gd name="connsiteX6" fmla="*/ 5428034 w 6746682"/>
              <a:gd name="connsiteY6" fmla="*/ 1244096 h 2177071"/>
              <a:gd name="connsiteX7" fmla="*/ 3199184 w 6746682"/>
              <a:gd name="connsiteY7" fmla="*/ 1306106 h 2177071"/>
              <a:gd name="connsiteX8" fmla="*/ 2949381 w 6746682"/>
              <a:gd name="connsiteY8" fmla="*/ 2057007 h 2177071"/>
              <a:gd name="connsiteX9" fmla="*/ 2183184 w 6746682"/>
              <a:gd name="connsiteY9" fmla="*/ 2118906 h 2177071"/>
              <a:gd name="connsiteX10" fmla="*/ 1795834 w 6746682"/>
              <a:gd name="connsiteY10" fmla="*/ 2118906 h 2177071"/>
              <a:gd name="connsiteX11" fmla="*/ 951284 w 6746682"/>
              <a:gd name="connsiteY11" fmla="*/ 2075946 h 2177071"/>
              <a:gd name="connsiteX12" fmla="*/ 0 w 6746682"/>
              <a:gd name="connsiteY12" fmla="*/ 2136576 h 2177071"/>
              <a:gd name="connsiteX13" fmla="*/ 21089 w 6746682"/>
              <a:gd name="connsiteY13" fmla="*/ 689704 h 2177071"/>
              <a:gd name="connsiteX14" fmla="*/ 1437527 w 6746682"/>
              <a:gd name="connsiteY14" fmla="*/ 14836 h 2177071"/>
              <a:gd name="connsiteX15" fmla="*/ 2995672 w 6746682"/>
              <a:gd name="connsiteY15" fmla="*/ 18661 h 2177071"/>
              <a:gd name="connsiteX0" fmla="*/ 2995672 w 6746682"/>
              <a:gd name="connsiteY0" fmla="*/ 18661 h 2177071"/>
              <a:gd name="connsiteX1" fmla="*/ 6741435 w 6746682"/>
              <a:gd name="connsiteY1" fmla="*/ 0 h 2177071"/>
              <a:gd name="connsiteX2" fmla="*/ 6746681 w 6746682"/>
              <a:gd name="connsiteY2" fmla="*/ 5246 h 2177071"/>
              <a:gd name="connsiteX3" fmla="*/ 6746681 w 6746682"/>
              <a:gd name="connsiteY3" fmla="*/ 1299170 h 2177071"/>
              <a:gd name="connsiteX4" fmla="*/ 6746682 w 6746682"/>
              <a:gd name="connsiteY4" fmla="*/ 1299175 h 2177071"/>
              <a:gd name="connsiteX5" fmla="*/ 6178551 w 6746682"/>
              <a:gd name="connsiteY5" fmla="*/ 1396607 h 2177071"/>
              <a:gd name="connsiteX6" fmla="*/ 5428034 w 6746682"/>
              <a:gd name="connsiteY6" fmla="*/ 1244096 h 2177071"/>
              <a:gd name="connsiteX7" fmla="*/ 3218234 w 6746682"/>
              <a:gd name="connsiteY7" fmla="*/ 1363256 h 2177071"/>
              <a:gd name="connsiteX8" fmla="*/ 2949381 w 6746682"/>
              <a:gd name="connsiteY8" fmla="*/ 2057007 h 2177071"/>
              <a:gd name="connsiteX9" fmla="*/ 2183184 w 6746682"/>
              <a:gd name="connsiteY9" fmla="*/ 2118906 h 2177071"/>
              <a:gd name="connsiteX10" fmla="*/ 1795834 w 6746682"/>
              <a:gd name="connsiteY10" fmla="*/ 2118906 h 2177071"/>
              <a:gd name="connsiteX11" fmla="*/ 951284 w 6746682"/>
              <a:gd name="connsiteY11" fmla="*/ 2075946 h 2177071"/>
              <a:gd name="connsiteX12" fmla="*/ 0 w 6746682"/>
              <a:gd name="connsiteY12" fmla="*/ 2136576 h 2177071"/>
              <a:gd name="connsiteX13" fmla="*/ 21089 w 6746682"/>
              <a:gd name="connsiteY13" fmla="*/ 689704 h 2177071"/>
              <a:gd name="connsiteX14" fmla="*/ 1437527 w 6746682"/>
              <a:gd name="connsiteY14" fmla="*/ 14836 h 2177071"/>
              <a:gd name="connsiteX15" fmla="*/ 2995672 w 6746682"/>
              <a:gd name="connsiteY15" fmla="*/ 18661 h 2177071"/>
              <a:gd name="connsiteX0" fmla="*/ 2995672 w 6746682"/>
              <a:gd name="connsiteY0" fmla="*/ 18661 h 2177071"/>
              <a:gd name="connsiteX1" fmla="*/ 6741435 w 6746682"/>
              <a:gd name="connsiteY1" fmla="*/ 0 h 2177071"/>
              <a:gd name="connsiteX2" fmla="*/ 6746681 w 6746682"/>
              <a:gd name="connsiteY2" fmla="*/ 5246 h 2177071"/>
              <a:gd name="connsiteX3" fmla="*/ 6746681 w 6746682"/>
              <a:gd name="connsiteY3" fmla="*/ 1299170 h 2177071"/>
              <a:gd name="connsiteX4" fmla="*/ 6746682 w 6746682"/>
              <a:gd name="connsiteY4" fmla="*/ 1299175 h 2177071"/>
              <a:gd name="connsiteX5" fmla="*/ 6178551 w 6746682"/>
              <a:gd name="connsiteY5" fmla="*/ 1396607 h 2177071"/>
              <a:gd name="connsiteX6" fmla="*/ 5428034 w 6746682"/>
              <a:gd name="connsiteY6" fmla="*/ 1244096 h 2177071"/>
              <a:gd name="connsiteX7" fmla="*/ 3218234 w 6746682"/>
              <a:gd name="connsiteY7" fmla="*/ 1363256 h 2177071"/>
              <a:gd name="connsiteX8" fmla="*/ 2949381 w 6746682"/>
              <a:gd name="connsiteY8" fmla="*/ 2057007 h 2177071"/>
              <a:gd name="connsiteX9" fmla="*/ 2183184 w 6746682"/>
              <a:gd name="connsiteY9" fmla="*/ 2118906 h 2177071"/>
              <a:gd name="connsiteX10" fmla="*/ 1795834 w 6746682"/>
              <a:gd name="connsiteY10" fmla="*/ 2118906 h 2177071"/>
              <a:gd name="connsiteX11" fmla="*/ 951284 w 6746682"/>
              <a:gd name="connsiteY11" fmla="*/ 2075946 h 2177071"/>
              <a:gd name="connsiteX12" fmla="*/ 0 w 6746682"/>
              <a:gd name="connsiteY12" fmla="*/ 2136576 h 2177071"/>
              <a:gd name="connsiteX13" fmla="*/ 21089 w 6746682"/>
              <a:gd name="connsiteY13" fmla="*/ 689704 h 2177071"/>
              <a:gd name="connsiteX14" fmla="*/ 1437527 w 6746682"/>
              <a:gd name="connsiteY14" fmla="*/ 14836 h 2177071"/>
              <a:gd name="connsiteX15" fmla="*/ 2995672 w 6746682"/>
              <a:gd name="connsiteY15" fmla="*/ 18661 h 2177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746682" h="2177071">
                <a:moveTo>
                  <a:pt x="2995672" y="18661"/>
                </a:moveTo>
                <a:lnTo>
                  <a:pt x="6741435" y="0"/>
                </a:lnTo>
                <a:cubicBezTo>
                  <a:pt x="6744332" y="0"/>
                  <a:pt x="6746681" y="2349"/>
                  <a:pt x="6746681" y="5246"/>
                </a:cubicBezTo>
                <a:lnTo>
                  <a:pt x="6746681" y="1299170"/>
                </a:lnTo>
                <a:cubicBezTo>
                  <a:pt x="6746681" y="1299172"/>
                  <a:pt x="6746682" y="1299173"/>
                  <a:pt x="6746682" y="1299175"/>
                </a:cubicBezTo>
                <a:lnTo>
                  <a:pt x="6178551" y="1396607"/>
                </a:lnTo>
                <a:cubicBezTo>
                  <a:pt x="5640218" y="1289135"/>
                  <a:pt x="6036079" y="1421896"/>
                  <a:pt x="5428034" y="1244096"/>
                </a:cubicBezTo>
                <a:cubicBezTo>
                  <a:pt x="4857390" y="1136938"/>
                  <a:pt x="3426026" y="1285979"/>
                  <a:pt x="3218234" y="1363256"/>
                </a:cubicBezTo>
                <a:cubicBezTo>
                  <a:pt x="3219992" y="1637383"/>
                  <a:pt x="3060506" y="2101457"/>
                  <a:pt x="2949381" y="2057007"/>
                </a:cubicBezTo>
                <a:cubicBezTo>
                  <a:pt x="2838256" y="2012557"/>
                  <a:pt x="2360625" y="2105415"/>
                  <a:pt x="2183184" y="2118906"/>
                </a:cubicBezTo>
                <a:cubicBezTo>
                  <a:pt x="2005743" y="2132397"/>
                  <a:pt x="2019142" y="2072091"/>
                  <a:pt x="1795834" y="2118906"/>
                </a:cubicBezTo>
                <a:cubicBezTo>
                  <a:pt x="1572526" y="2165721"/>
                  <a:pt x="1458023" y="2020084"/>
                  <a:pt x="951284" y="2075946"/>
                </a:cubicBezTo>
                <a:cubicBezTo>
                  <a:pt x="495345" y="2214358"/>
                  <a:pt x="314122" y="2185604"/>
                  <a:pt x="0" y="2136576"/>
                </a:cubicBezTo>
                <a:lnTo>
                  <a:pt x="21089" y="689704"/>
                </a:lnTo>
                <a:cubicBezTo>
                  <a:pt x="21089" y="322888"/>
                  <a:pt x="1437527" y="381652"/>
                  <a:pt x="1437527" y="14836"/>
                </a:cubicBezTo>
                <a:cubicBezTo>
                  <a:pt x="1437527" y="11939"/>
                  <a:pt x="2992775" y="18661"/>
                  <a:pt x="2995672" y="18661"/>
                </a:cubicBezTo>
                <a:close/>
              </a:path>
            </a:pathLst>
          </a:custGeom>
          <a:solidFill>
            <a:srgbClr val="F9F9F9">
              <a:alpha val="85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1350" dirty="0"/>
          </a:p>
        </p:txBody>
      </p:sp>
    </p:spTree>
    <p:extLst>
      <p:ext uri="{BB962C8B-B14F-4D97-AF65-F5344CB8AC3E}">
        <p14:creationId xmlns:p14="http://schemas.microsoft.com/office/powerpoint/2010/main" val="6741837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36769" cy="2395757"/>
          </a:xfrm>
        </p:spPr>
        <p:txBody>
          <a:bodyPr>
            <a:normAutofit fontScale="55000" lnSpcReduction="20000"/>
          </a:bodyPr>
          <a:lstStyle/>
          <a:p>
            <a:pPr lvl="1" algn="just">
              <a:lnSpc>
                <a:spcPct val="150000"/>
              </a:lnSpc>
              <a:buClr>
                <a:schemeClr val="accent2"/>
              </a:buClr>
            </a:pPr>
            <a:r>
              <a:rPr lang="fr-FR" dirty="0"/>
              <a:t>On utilise les arbres de régression pour expliquer et/ou prédire les valeurs prise par une variable dépendante quantitative, en fonction de variables explicatives quantitatives et/ou qualitatives.</a:t>
            </a:r>
          </a:p>
          <a:p>
            <a:pPr lvl="1" algn="just">
              <a:lnSpc>
                <a:spcPct val="150000"/>
              </a:lnSpc>
              <a:buClr>
                <a:schemeClr val="accent2"/>
              </a:buClr>
            </a:pPr>
            <a:endParaRPr lang="fr-FR" dirty="0"/>
          </a:p>
          <a:p>
            <a:pPr lvl="1" algn="just">
              <a:lnSpc>
                <a:spcPct val="150000"/>
              </a:lnSpc>
              <a:buClr>
                <a:schemeClr val="accent2"/>
              </a:buClr>
            </a:pPr>
            <a:r>
              <a:rPr lang="fr-FR" dirty="0"/>
              <a:t>Ils peuvent par exemple aider à prédire le niveau des prix de loyers en fonction de certaines caractéristiques d’un logement.</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142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 </a:t>
            </a:r>
            <a:r>
              <a:rPr lang="fr-FR" sz="2100" b="0" dirty="0"/>
              <a:t>régression</a:t>
            </a:r>
          </a:p>
        </p:txBody>
      </p:sp>
    </p:spTree>
    <p:extLst>
      <p:ext uri="{BB962C8B-B14F-4D97-AF65-F5344CB8AC3E}">
        <p14:creationId xmlns:p14="http://schemas.microsoft.com/office/powerpoint/2010/main" val="123412378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143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 </a:t>
            </a:r>
            <a:r>
              <a:rPr lang="fr-FR" sz="2100" b="0" dirty="0"/>
              <a:t>régression</a:t>
            </a:r>
          </a:p>
        </p:txBody>
      </p:sp>
      <p:sp>
        <p:nvSpPr>
          <p:cNvPr id="5" name="Title 13">
            <a:extLst>
              <a:ext uri="{FF2B5EF4-FFF2-40B4-BE49-F238E27FC236}">
                <a16:creationId xmlns:a16="http://schemas.microsoft.com/office/drawing/2014/main" id="{C07CBBA6-525F-4FD6-9489-DDE130034ED2}"/>
              </a:ext>
            </a:extLst>
          </p:cNvPr>
          <p:cNvSpPr txBox="1">
            <a:spLocks/>
          </p:cNvSpPr>
          <p:nvPr/>
        </p:nvSpPr>
        <p:spPr>
          <a:xfrm>
            <a:off x="389008" y="912804"/>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2100" b="0" dirty="0"/>
              <a:t>Boston House</a:t>
            </a:r>
          </a:p>
        </p:txBody>
      </p:sp>
      <p:grpSp>
        <p:nvGrpSpPr>
          <p:cNvPr id="47" name="Groupe 46">
            <a:extLst>
              <a:ext uri="{FF2B5EF4-FFF2-40B4-BE49-F238E27FC236}">
                <a16:creationId xmlns:a16="http://schemas.microsoft.com/office/drawing/2014/main" id="{4ADB4FBF-F43E-4B43-BF82-5B02DE9C0637}"/>
              </a:ext>
            </a:extLst>
          </p:cNvPr>
          <p:cNvGrpSpPr/>
          <p:nvPr/>
        </p:nvGrpSpPr>
        <p:grpSpPr>
          <a:xfrm>
            <a:off x="1781378" y="1939921"/>
            <a:ext cx="4021602" cy="2529926"/>
            <a:chOff x="2375170" y="2586561"/>
            <a:chExt cx="5362136" cy="3373231"/>
          </a:xfrm>
        </p:grpSpPr>
        <p:pic>
          <p:nvPicPr>
            <p:cNvPr id="29" name="Image 28">
              <a:extLst>
                <a:ext uri="{FF2B5EF4-FFF2-40B4-BE49-F238E27FC236}">
                  <a16:creationId xmlns:a16="http://schemas.microsoft.com/office/drawing/2014/main" id="{509F22D5-DE25-4B20-8598-03407E6F67C5}"/>
                </a:ext>
              </a:extLst>
            </p:cNvPr>
            <p:cNvPicPr>
              <a:picLocks noChangeAspect="1"/>
            </p:cNvPicPr>
            <p:nvPr/>
          </p:nvPicPr>
          <p:blipFill>
            <a:blip r:embed="rId2"/>
            <a:stretch>
              <a:fillRect/>
            </a:stretch>
          </p:blipFill>
          <p:spPr>
            <a:xfrm>
              <a:off x="2375170" y="2586561"/>
              <a:ext cx="5001694" cy="3334462"/>
            </a:xfrm>
            <a:prstGeom prst="rect">
              <a:avLst/>
            </a:prstGeom>
          </p:spPr>
        </p:pic>
        <p:grpSp>
          <p:nvGrpSpPr>
            <p:cNvPr id="8" name="Groupe 7">
              <a:extLst>
                <a:ext uri="{FF2B5EF4-FFF2-40B4-BE49-F238E27FC236}">
                  <a16:creationId xmlns:a16="http://schemas.microsoft.com/office/drawing/2014/main" id="{C2A1B6A1-99D2-4ADD-A95C-D63434245FAD}"/>
                </a:ext>
              </a:extLst>
            </p:cNvPr>
            <p:cNvGrpSpPr/>
            <p:nvPr/>
          </p:nvGrpSpPr>
          <p:grpSpPr>
            <a:xfrm>
              <a:off x="2443156" y="2937851"/>
              <a:ext cx="5294150" cy="3021941"/>
              <a:chOff x="2259589" y="2409245"/>
              <a:chExt cx="5294150" cy="3021941"/>
            </a:xfrm>
          </p:grpSpPr>
          <p:cxnSp>
            <p:nvCxnSpPr>
              <p:cNvPr id="9" name="Connecteur droit avec flèche 8">
                <a:extLst>
                  <a:ext uri="{FF2B5EF4-FFF2-40B4-BE49-F238E27FC236}">
                    <a16:creationId xmlns:a16="http://schemas.microsoft.com/office/drawing/2014/main" id="{C7BE956D-A6BF-4F59-BC5E-E82CA04D09A3}"/>
                  </a:ext>
                </a:extLst>
              </p:cNvPr>
              <p:cNvCxnSpPr/>
              <p:nvPr/>
            </p:nvCxnSpPr>
            <p:spPr>
              <a:xfrm>
                <a:off x="2623930" y="5041127"/>
                <a:ext cx="49298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necteur droit avec flèche 9">
                <a:extLst>
                  <a:ext uri="{FF2B5EF4-FFF2-40B4-BE49-F238E27FC236}">
                    <a16:creationId xmlns:a16="http://schemas.microsoft.com/office/drawing/2014/main" id="{A93F7CC9-0D35-4A22-B9AA-F90B92B513E1}"/>
                  </a:ext>
                </a:extLst>
              </p:cNvPr>
              <p:cNvCxnSpPr>
                <a:cxnSpLocks/>
              </p:cNvCxnSpPr>
              <p:nvPr/>
            </p:nvCxnSpPr>
            <p:spPr>
              <a:xfrm flipV="1">
                <a:off x="2776330" y="2409245"/>
                <a:ext cx="0" cy="2784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04AC6BE7-D38E-4C64-87DF-924889E332E2}"/>
                      </a:ext>
                    </a:extLst>
                  </p:cNvPr>
                  <p:cNvSpPr/>
                  <p:nvPr/>
                </p:nvSpPr>
                <p:spPr>
                  <a:xfrm>
                    <a:off x="4493305" y="5217301"/>
                    <a:ext cx="1978225"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Surface en </a:t>
                    </a:r>
                    <a14:m>
                      <m:oMath xmlns:m="http://schemas.openxmlformats.org/officeDocument/2006/math">
                        <m:sSup>
                          <m:sSupPr>
                            <m:ctrlPr>
                              <a:rPr lang="fr-FR" sz="825" i="1">
                                <a:latin typeface="Cambria Math" panose="02040503050406030204" pitchFamily="18" charset="0"/>
                              </a:rPr>
                            </m:ctrlPr>
                          </m:sSupPr>
                          <m:e>
                            <m:r>
                              <a:rPr lang="fr-FR" sz="825" i="1">
                                <a:latin typeface="Cambria Math" panose="02040503050406030204" pitchFamily="18" charset="0"/>
                              </a:rPr>
                              <m:t>𝑚</m:t>
                            </m:r>
                          </m:e>
                          <m:sup>
                            <m:r>
                              <a:rPr lang="fr-FR" sz="825" i="1">
                                <a:latin typeface="Cambria Math" panose="02040503050406030204" pitchFamily="18" charset="0"/>
                              </a:rPr>
                              <m:t>2</m:t>
                            </m:r>
                          </m:sup>
                        </m:sSup>
                      </m:oMath>
                    </a14:m>
                    <a:r>
                      <a:rPr lang="fr-FR" sz="825" dirty="0"/>
                      <a:t> (dizaines)</a:t>
                    </a:r>
                  </a:p>
                </p:txBody>
              </p:sp>
            </mc:Choice>
            <mc:Fallback xmlns="">
              <p:sp>
                <p:nvSpPr>
                  <p:cNvPr id="11" name="Rectangle 10">
                    <a:extLst>
                      <a:ext uri="{FF2B5EF4-FFF2-40B4-BE49-F238E27FC236}">
                        <a16:creationId xmlns:a16="http://schemas.microsoft.com/office/drawing/2014/main" id="{04AC6BE7-D38E-4C64-87DF-924889E332E2}"/>
                      </a:ext>
                    </a:extLst>
                  </p:cNvPr>
                  <p:cNvSpPr>
                    <a:spLocks noRot="1" noChangeAspect="1" noMove="1" noResize="1" noEditPoints="1" noAdjustHandles="1" noChangeArrowheads="1" noChangeShapeType="1" noTextEdit="1"/>
                  </p:cNvSpPr>
                  <p:nvPr/>
                </p:nvSpPr>
                <p:spPr>
                  <a:xfrm>
                    <a:off x="4493305" y="5217301"/>
                    <a:ext cx="1978225" cy="213885"/>
                  </a:xfrm>
                  <a:prstGeom prst="rect">
                    <a:avLst/>
                  </a:prstGeom>
                  <a:blipFill>
                    <a:blip r:embed="rId3"/>
                    <a:stretch>
                      <a:fillRect t="-7692" b="-30769"/>
                    </a:stretch>
                  </a:blipFill>
                  <a:ln w="9525" cap="flat" cmpd="sng" algn="ctr">
                    <a:noFill/>
                    <a:prstDash val="solid"/>
                    <a:round/>
                    <a:headEnd type="none" w="med" len="med"/>
                    <a:tailEnd type="none" w="med" len="med"/>
                  </a:ln>
                </p:spPr>
                <p:txBody>
                  <a:bodyPr/>
                  <a:lstStyle/>
                  <a:p>
                    <a:r>
                      <a:rPr lang="fr-FR">
                        <a:noFill/>
                      </a:rPr>
                      <a:t> </a:t>
                    </a:r>
                  </a:p>
                </p:txBody>
              </p:sp>
            </mc:Fallback>
          </mc:AlternateContent>
          <p:sp>
            <p:nvSpPr>
              <p:cNvPr id="12" name="Rectangle 11">
                <a:extLst>
                  <a:ext uri="{FF2B5EF4-FFF2-40B4-BE49-F238E27FC236}">
                    <a16:creationId xmlns:a16="http://schemas.microsoft.com/office/drawing/2014/main" id="{A94F39AF-BD69-4B48-8916-568D907ADDD5}"/>
                  </a:ext>
                </a:extLst>
              </p:cNvPr>
              <p:cNvSpPr/>
              <p:nvPr/>
            </p:nvSpPr>
            <p:spPr>
              <a:xfrm rot="16200000">
                <a:off x="1377419" y="3518049"/>
                <a:ext cx="1978225"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Prix en euros (milliers)</a:t>
                </a:r>
              </a:p>
            </p:txBody>
          </p:sp>
          <p:cxnSp>
            <p:nvCxnSpPr>
              <p:cNvPr id="16" name="Connecteur droit avec flèche 15">
                <a:extLst>
                  <a:ext uri="{FF2B5EF4-FFF2-40B4-BE49-F238E27FC236}">
                    <a16:creationId xmlns:a16="http://schemas.microsoft.com/office/drawing/2014/main" id="{7E7402C7-6C10-486C-8484-A04FDCB2A2F6}"/>
                  </a:ext>
                </a:extLst>
              </p:cNvPr>
              <p:cNvCxnSpPr>
                <a:cxnSpLocks/>
              </p:cNvCxnSpPr>
              <p:nvPr/>
            </p:nvCxnSpPr>
            <p:spPr>
              <a:xfrm flipV="1">
                <a:off x="3404806" y="4614104"/>
                <a:ext cx="0" cy="427023"/>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6051B61D-CE70-4EB6-A2B7-CFD02337D7AE}"/>
                  </a:ext>
                </a:extLst>
              </p:cNvPr>
              <p:cNvCxnSpPr>
                <a:cxnSpLocks/>
              </p:cNvCxnSpPr>
              <p:nvPr/>
            </p:nvCxnSpPr>
            <p:spPr>
              <a:xfrm>
                <a:off x="2776330" y="4614104"/>
                <a:ext cx="628475" cy="0"/>
              </a:xfrm>
              <a:prstGeom prst="straightConnector1">
                <a:avLst/>
              </a:prstGeom>
              <a:ln>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D7762858-39AC-4275-B031-6DE8D896CF70}"/>
                  </a:ext>
                </a:extLst>
              </p:cNvPr>
              <p:cNvSpPr/>
              <p:nvPr/>
            </p:nvSpPr>
            <p:spPr>
              <a:xfrm>
                <a:off x="3334731" y="5086584"/>
                <a:ext cx="140149"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5</a:t>
                </a:r>
              </a:p>
            </p:txBody>
          </p:sp>
        </p:grpSp>
        <p:cxnSp>
          <p:nvCxnSpPr>
            <p:cNvPr id="31" name="Connecteur droit avec flèche 30">
              <a:extLst>
                <a:ext uri="{FF2B5EF4-FFF2-40B4-BE49-F238E27FC236}">
                  <a16:creationId xmlns:a16="http://schemas.microsoft.com/office/drawing/2014/main" id="{396A02F4-4233-429E-88C0-7BFFA05506DE}"/>
                </a:ext>
              </a:extLst>
            </p:cNvPr>
            <p:cNvCxnSpPr>
              <a:cxnSpLocks/>
            </p:cNvCxnSpPr>
            <p:nvPr/>
          </p:nvCxnSpPr>
          <p:spPr>
            <a:xfrm flipH="1" flipV="1">
              <a:off x="3914962" y="4881642"/>
              <a:ext cx="16493" cy="68787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701D0CE5-4139-4B6D-B190-5BA8F3C35F78}"/>
                </a:ext>
              </a:extLst>
            </p:cNvPr>
            <p:cNvSpPr/>
            <p:nvPr/>
          </p:nvSpPr>
          <p:spPr>
            <a:xfrm>
              <a:off x="3861380" y="5614973"/>
              <a:ext cx="140149"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6</a:t>
              </a:r>
            </a:p>
          </p:txBody>
        </p:sp>
        <p:cxnSp>
          <p:nvCxnSpPr>
            <p:cNvPr id="33" name="Connecteur droit avec flèche 32">
              <a:extLst>
                <a:ext uri="{FF2B5EF4-FFF2-40B4-BE49-F238E27FC236}">
                  <a16:creationId xmlns:a16="http://schemas.microsoft.com/office/drawing/2014/main" id="{03665D4E-3EE7-489A-AD68-E9970C4D0334}"/>
                </a:ext>
              </a:extLst>
            </p:cNvPr>
            <p:cNvCxnSpPr>
              <a:cxnSpLocks/>
            </p:cNvCxnSpPr>
            <p:nvPr/>
          </p:nvCxnSpPr>
          <p:spPr>
            <a:xfrm flipH="1" flipV="1">
              <a:off x="4870027" y="4253792"/>
              <a:ext cx="1" cy="1294737"/>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AC3C9290-299A-4345-8DA4-E44AF7067B66}"/>
                </a:ext>
              </a:extLst>
            </p:cNvPr>
            <p:cNvSpPr/>
            <p:nvPr/>
          </p:nvSpPr>
          <p:spPr>
            <a:xfrm>
              <a:off x="4799953" y="5593986"/>
              <a:ext cx="140149"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9</a:t>
              </a:r>
            </a:p>
          </p:txBody>
        </p:sp>
        <p:cxnSp>
          <p:nvCxnSpPr>
            <p:cNvPr id="35" name="Connecteur droit avec flèche 34">
              <a:extLst>
                <a:ext uri="{FF2B5EF4-FFF2-40B4-BE49-F238E27FC236}">
                  <a16:creationId xmlns:a16="http://schemas.microsoft.com/office/drawing/2014/main" id="{82A21EC7-01D4-467B-90C4-5F58C35F6262}"/>
                </a:ext>
              </a:extLst>
            </p:cNvPr>
            <p:cNvCxnSpPr>
              <a:cxnSpLocks/>
            </p:cNvCxnSpPr>
            <p:nvPr/>
          </p:nvCxnSpPr>
          <p:spPr>
            <a:xfrm>
              <a:off x="2959897" y="4881642"/>
              <a:ext cx="955065" cy="0"/>
            </a:xfrm>
            <a:prstGeom prst="straightConnector1">
              <a:avLst/>
            </a:prstGeom>
            <a:ln>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93739AFD-D8EB-4061-BCDA-7B621E540F14}"/>
                </a:ext>
              </a:extLst>
            </p:cNvPr>
            <p:cNvCxnSpPr>
              <a:cxnSpLocks/>
            </p:cNvCxnSpPr>
            <p:nvPr/>
          </p:nvCxnSpPr>
          <p:spPr>
            <a:xfrm>
              <a:off x="2959897" y="4269392"/>
              <a:ext cx="1910130" cy="0"/>
            </a:xfrm>
            <a:prstGeom prst="straightConnector1">
              <a:avLst/>
            </a:prstGeom>
            <a:ln w="3175">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893EE177-81C1-453E-8495-7C32AF319D06}"/>
                </a:ext>
              </a:extLst>
            </p:cNvPr>
            <p:cNvSpPr/>
            <p:nvPr/>
          </p:nvSpPr>
          <p:spPr>
            <a:xfrm>
              <a:off x="2742764" y="5047573"/>
              <a:ext cx="140149"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a:t>
              </a:r>
            </a:p>
          </p:txBody>
        </p:sp>
        <p:sp>
          <p:nvSpPr>
            <p:cNvPr id="40" name="Rectangle 39">
              <a:extLst>
                <a:ext uri="{FF2B5EF4-FFF2-40B4-BE49-F238E27FC236}">
                  <a16:creationId xmlns:a16="http://schemas.microsoft.com/office/drawing/2014/main" id="{2381501A-BD24-4D49-979A-64000498F1D5}"/>
                </a:ext>
              </a:extLst>
            </p:cNvPr>
            <p:cNvSpPr/>
            <p:nvPr/>
          </p:nvSpPr>
          <p:spPr>
            <a:xfrm>
              <a:off x="2737048" y="4788232"/>
              <a:ext cx="140149"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2</a:t>
              </a:r>
            </a:p>
          </p:txBody>
        </p:sp>
        <p:sp>
          <p:nvSpPr>
            <p:cNvPr id="41" name="Rectangle 40">
              <a:extLst>
                <a:ext uri="{FF2B5EF4-FFF2-40B4-BE49-F238E27FC236}">
                  <a16:creationId xmlns:a16="http://schemas.microsoft.com/office/drawing/2014/main" id="{45D99AC6-E770-4485-8480-902EAEAF0505}"/>
                </a:ext>
              </a:extLst>
            </p:cNvPr>
            <p:cNvSpPr/>
            <p:nvPr/>
          </p:nvSpPr>
          <p:spPr>
            <a:xfrm>
              <a:off x="2736666" y="4162449"/>
              <a:ext cx="140149"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6</a:t>
              </a:r>
            </a:p>
          </p:txBody>
        </p:sp>
      </p:grpSp>
    </p:spTree>
    <p:extLst>
      <p:ext uri="{BB962C8B-B14F-4D97-AF65-F5344CB8AC3E}">
        <p14:creationId xmlns:p14="http://schemas.microsoft.com/office/powerpoint/2010/main" val="242504667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144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 </a:t>
            </a:r>
            <a:r>
              <a:rPr lang="fr-FR" sz="2100" b="0" dirty="0"/>
              <a:t>régression</a:t>
            </a:r>
          </a:p>
        </p:txBody>
      </p:sp>
      <p:sp>
        <p:nvSpPr>
          <p:cNvPr id="5" name="Title 13">
            <a:extLst>
              <a:ext uri="{FF2B5EF4-FFF2-40B4-BE49-F238E27FC236}">
                <a16:creationId xmlns:a16="http://schemas.microsoft.com/office/drawing/2014/main" id="{C07CBBA6-525F-4FD6-9489-DDE130034ED2}"/>
              </a:ext>
            </a:extLst>
          </p:cNvPr>
          <p:cNvSpPr txBox="1">
            <a:spLocks/>
          </p:cNvSpPr>
          <p:nvPr/>
        </p:nvSpPr>
        <p:spPr>
          <a:xfrm>
            <a:off x="389008" y="912804"/>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2100" b="0" dirty="0"/>
              <a:t>Boston House</a:t>
            </a:r>
          </a:p>
        </p:txBody>
      </p:sp>
      <p:grpSp>
        <p:nvGrpSpPr>
          <p:cNvPr id="65" name="Groupe 64">
            <a:extLst>
              <a:ext uri="{FF2B5EF4-FFF2-40B4-BE49-F238E27FC236}">
                <a16:creationId xmlns:a16="http://schemas.microsoft.com/office/drawing/2014/main" id="{A7E8672A-5DBA-4CA2-B997-CAAA8BC9E00D}"/>
              </a:ext>
            </a:extLst>
          </p:cNvPr>
          <p:cNvGrpSpPr/>
          <p:nvPr/>
        </p:nvGrpSpPr>
        <p:grpSpPr>
          <a:xfrm>
            <a:off x="1275945" y="1888792"/>
            <a:ext cx="5362981" cy="1898678"/>
            <a:chOff x="2022643" y="2563794"/>
            <a:chExt cx="7150641" cy="2531570"/>
          </a:xfrm>
        </p:grpSpPr>
        <p:sp>
          <p:nvSpPr>
            <p:cNvPr id="2" name="ZoneTexte 1">
              <a:extLst>
                <a:ext uri="{FF2B5EF4-FFF2-40B4-BE49-F238E27FC236}">
                  <a16:creationId xmlns:a16="http://schemas.microsoft.com/office/drawing/2014/main" id="{8CF13AD2-0E68-4F13-AF0F-C9F647554A36}"/>
                </a:ext>
              </a:extLst>
            </p:cNvPr>
            <p:cNvSpPr txBox="1"/>
            <p:nvPr/>
          </p:nvSpPr>
          <p:spPr>
            <a:xfrm>
              <a:off x="3831654" y="3309738"/>
              <a:ext cx="518735" cy="284780"/>
            </a:xfrm>
            <a:prstGeom prst="rect">
              <a:avLst/>
            </a:prstGeom>
            <a:noFill/>
          </p:spPr>
          <p:txBody>
            <a:bodyPr wrap="square" rtlCol="0">
              <a:spAutoFit/>
            </a:bodyPr>
            <a:lstStyle/>
            <a:p>
              <a:r>
                <a:rPr lang="fr-FR" sz="788" dirty="0"/>
                <a:t>Oui</a:t>
              </a:r>
            </a:p>
          </p:txBody>
        </p:sp>
        <p:sp>
          <p:nvSpPr>
            <p:cNvPr id="51" name="ZoneTexte 50">
              <a:extLst>
                <a:ext uri="{FF2B5EF4-FFF2-40B4-BE49-F238E27FC236}">
                  <a16:creationId xmlns:a16="http://schemas.microsoft.com/office/drawing/2014/main" id="{9BD287C4-3A9A-4D77-A26D-95F6686E6D72}"/>
                </a:ext>
              </a:extLst>
            </p:cNvPr>
            <p:cNvSpPr txBox="1"/>
            <p:nvPr/>
          </p:nvSpPr>
          <p:spPr>
            <a:xfrm>
              <a:off x="2633031" y="4392132"/>
              <a:ext cx="576127" cy="284780"/>
            </a:xfrm>
            <a:prstGeom prst="rect">
              <a:avLst/>
            </a:prstGeom>
            <a:noFill/>
          </p:spPr>
          <p:txBody>
            <a:bodyPr wrap="square" rtlCol="0">
              <a:spAutoFit/>
            </a:bodyPr>
            <a:lstStyle/>
            <a:p>
              <a:r>
                <a:rPr lang="fr-FR" sz="788" dirty="0"/>
                <a:t>Non</a:t>
              </a:r>
            </a:p>
          </p:txBody>
        </p:sp>
        <p:grpSp>
          <p:nvGrpSpPr>
            <p:cNvPr id="6" name="Groupe 5">
              <a:extLst>
                <a:ext uri="{FF2B5EF4-FFF2-40B4-BE49-F238E27FC236}">
                  <a16:creationId xmlns:a16="http://schemas.microsoft.com/office/drawing/2014/main" id="{65E30522-34D9-4A70-A897-C6480F56A6F7}"/>
                </a:ext>
              </a:extLst>
            </p:cNvPr>
            <p:cNvGrpSpPr/>
            <p:nvPr/>
          </p:nvGrpSpPr>
          <p:grpSpPr>
            <a:xfrm>
              <a:off x="2022643" y="2563794"/>
              <a:ext cx="5661947" cy="2521504"/>
              <a:chOff x="2022643" y="2563794"/>
              <a:chExt cx="5661947" cy="2521504"/>
            </a:xfrm>
          </p:grpSpPr>
          <p:grpSp>
            <p:nvGrpSpPr>
              <p:cNvPr id="24" name="Groupe 23">
                <a:extLst>
                  <a:ext uri="{FF2B5EF4-FFF2-40B4-BE49-F238E27FC236}">
                    <a16:creationId xmlns:a16="http://schemas.microsoft.com/office/drawing/2014/main" id="{E0495EA8-0CAA-467E-AFA1-815166B8CF44}"/>
                  </a:ext>
                </a:extLst>
              </p:cNvPr>
              <p:cNvGrpSpPr/>
              <p:nvPr/>
            </p:nvGrpSpPr>
            <p:grpSpPr>
              <a:xfrm>
                <a:off x="2022643" y="2563794"/>
                <a:ext cx="5661947" cy="2521504"/>
                <a:chOff x="3748076" y="4162038"/>
                <a:chExt cx="5661947" cy="2521504"/>
              </a:xfrm>
            </p:grpSpPr>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22EA7FAB-AF08-4A1B-A6EF-913C07A26A67}"/>
                        </a:ext>
                      </a:extLst>
                    </p:cNvPr>
                    <p:cNvSpPr/>
                    <p:nvPr/>
                  </p:nvSpPr>
                  <p:spPr>
                    <a:xfrm>
                      <a:off x="6096000" y="4162038"/>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200</a:t>
                      </a:r>
                    </a:p>
                    <a:p>
                      <a:pPr algn="ctr"/>
                      <a14:m>
                        <m:oMathPara xmlns:m="http://schemas.openxmlformats.org/officeDocument/2006/math">
                          <m:oMathParaPr>
                            <m:jc m:val="centerGroup"/>
                          </m:oMathParaPr>
                          <m:oMath xmlns:m="http://schemas.openxmlformats.org/officeDocument/2006/math">
                            <m:acc>
                              <m:accPr>
                                <m:chr m:val="̅"/>
                                <m:ctrlPr>
                                  <a:rPr lang="fr-FR" sz="825" i="1">
                                    <a:solidFill>
                                      <a:schemeClr val="tx1">
                                        <a:lumMod val="50000"/>
                                      </a:schemeClr>
                                    </a:solidFill>
                                    <a:latin typeface="Cambria Math" panose="02040503050406030204" pitchFamily="18" charset="0"/>
                                  </a:rPr>
                                </m:ctrlPr>
                              </m:accPr>
                              <m:e>
                                <m:r>
                                  <a:rPr lang="fr-FR" sz="825" i="1">
                                    <a:solidFill>
                                      <a:schemeClr val="tx1">
                                        <a:lumMod val="50000"/>
                                      </a:schemeClr>
                                    </a:solidFill>
                                    <a:latin typeface="Cambria Math" panose="02040503050406030204" pitchFamily="18" charset="0"/>
                                  </a:rPr>
                                  <m:t>𝑥</m:t>
                                </m:r>
                              </m:e>
                            </m:acc>
                            <m:r>
                              <a:rPr lang="fr-FR" sz="825" i="1">
                                <a:solidFill>
                                  <a:schemeClr val="tx1">
                                    <a:lumMod val="50000"/>
                                  </a:schemeClr>
                                </a:solidFill>
                                <a:latin typeface="Cambria Math" panose="02040503050406030204" pitchFamily="18" charset="0"/>
                              </a:rPr>
                              <m:t>=$3500</m:t>
                            </m:r>
                          </m:oMath>
                        </m:oMathPara>
                      </a14:m>
                      <a:endParaRPr lang="fr-FR" sz="825" dirty="0">
                        <a:solidFill>
                          <a:schemeClr val="tx1">
                            <a:lumMod val="50000"/>
                          </a:schemeClr>
                        </a:solidFill>
                      </a:endParaRPr>
                    </a:p>
                  </p:txBody>
                </p:sp>
              </mc:Choice>
              <mc:Fallback xmlns="">
                <p:sp>
                  <p:nvSpPr>
                    <p:cNvPr id="25" name="Rectangle 24">
                      <a:extLst>
                        <a:ext uri="{FF2B5EF4-FFF2-40B4-BE49-F238E27FC236}">
                          <a16:creationId xmlns:a16="http://schemas.microsoft.com/office/drawing/2014/main" id="{22EA7FAB-AF08-4A1B-A6EF-913C07A26A67}"/>
                        </a:ext>
                      </a:extLst>
                    </p:cNvPr>
                    <p:cNvSpPr>
                      <a:spLocks noRot="1" noChangeAspect="1" noMove="1" noResize="1" noEditPoints="1" noAdjustHandles="1" noChangeArrowheads="1" noChangeShapeType="1" noTextEdit="1"/>
                    </p:cNvSpPr>
                    <p:nvPr/>
                  </p:nvSpPr>
                  <p:spPr>
                    <a:xfrm>
                      <a:off x="6096000" y="4162038"/>
                      <a:ext cx="1454399" cy="338554"/>
                    </a:xfrm>
                    <a:prstGeom prst="rect">
                      <a:avLst/>
                    </a:prstGeom>
                    <a:blipFill>
                      <a:blip r:embed="rId4"/>
                      <a:stretch>
                        <a:fillRect t="-12069" b="-6897"/>
                      </a:stretch>
                    </a:blipFill>
                    <a:ln w="9525" cap="flat" cmpd="sng" algn="ctr">
                      <a:solidFill>
                        <a:schemeClr val="accent1"/>
                      </a:solidFill>
                      <a:prstDash val="solid"/>
                      <a:round/>
                      <a:headEnd type="none" w="med" len="med"/>
                      <a:tailEnd type="none" w="med" len="me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B7B37E86-4D9C-4134-8794-8410F54876DC}"/>
                        </a:ext>
                      </a:extLst>
                    </p:cNvPr>
                    <p:cNvSpPr/>
                    <p:nvPr/>
                  </p:nvSpPr>
                  <p:spPr>
                    <a:xfrm>
                      <a:off x="6095999" y="4497303"/>
                      <a:ext cx="1454400"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sSup>
                              <m:sSupPr>
                                <m:ctrlPr>
                                  <a:rPr lang="fr-FR" sz="750" i="1">
                                    <a:solidFill>
                                      <a:schemeClr val="tx1">
                                        <a:lumMod val="50000"/>
                                      </a:schemeClr>
                                    </a:solidFill>
                                    <a:latin typeface="Cambria Math" panose="02040503050406030204" pitchFamily="18" charset="0"/>
                                    <a:ea typeface="Cambria Math" panose="02040503050406030204" pitchFamily="18" charset="0"/>
                                  </a:rPr>
                                </m:ctrlPr>
                              </m:sSupPr>
                              <m:e>
                                <m:r>
                                  <a:rPr lang="fr-FR" sz="750" i="1">
                                    <a:solidFill>
                                      <a:schemeClr val="tx1">
                                        <a:lumMod val="50000"/>
                                      </a:schemeClr>
                                    </a:solidFill>
                                    <a:latin typeface="Cambria Math" panose="02040503050406030204" pitchFamily="18" charset="0"/>
                                    <a:ea typeface="Cambria Math" panose="02040503050406030204" pitchFamily="18" charset="0"/>
                                  </a:rPr>
                                  <m:t>𝑚</m:t>
                                </m:r>
                              </m:e>
                              <m:sup>
                                <m:r>
                                  <a:rPr lang="fr-FR" sz="750" i="1">
                                    <a:solidFill>
                                      <a:schemeClr val="tx1">
                                        <a:lumMod val="50000"/>
                                      </a:schemeClr>
                                    </a:solidFill>
                                    <a:latin typeface="Cambria Math" panose="02040503050406030204" pitchFamily="18" charset="0"/>
                                    <a:ea typeface="Cambria Math" panose="02040503050406030204" pitchFamily="18" charset="0"/>
                                  </a:rPr>
                                  <m:t>2</m:t>
                                </m:r>
                              </m:sup>
                            </m:sSup>
                            <m:r>
                              <a:rPr lang="fr-FR" sz="750" i="1">
                                <a:solidFill>
                                  <a:schemeClr val="tx1">
                                    <a:lumMod val="50000"/>
                                  </a:schemeClr>
                                </a:solidFill>
                                <a:latin typeface="Cambria Math" panose="02040503050406030204" pitchFamily="18" charset="0"/>
                                <a:ea typeface="Cambria Math" panose="02040503050406030204" pitchFamily="18" charset="0"/>
                              </a:rPr>
                              <m:t>≤6</m:t>
                            </m:r>
                            <m:r>
                              <a:rPr lang="fr-FR" sz="750" i="1">
                                <a:solidFill>
                                  <a:schemeClr val="tx1">
                                    <a:lumMod val="50000"/>
                                  </a:schemeClr>
                                </a:solidFill>
                                <a:latin typeface="Cambria Math" panose="02040503050406030204" pitchFamily="18" charset="0"/>
                              </a:rPr>
                              <m:t>0</m:t>
                            </m:r>
                          </m:oMath>
                        </m:oMathPara>
                      </a14:m>
                      <a:endParaRPr lang="fr-FR" sz="750" dirty="0">
                        <a:solidFill>
                          <a:schemeClr val="tx1">
                            <a:lumMod val="50000"/>
                          </a:schemeClr>
                        </a:solidFill>
                      </a:endParaRPr>
                    </a:p>
                  </p:txBody>
                </p:sp>
              </mc:Choice>
              <mc:Fallback xmlns="">
                <p:sp>
                  <p:nvSpPr>
                    <p:cNvPr id="26" name="Rectangle 25">
                      <a:extLst>
                        <a:ext uri="{FF2B5EF4-FFF2-40B4-BE49-F238E27FC236}">
                          <a16:creationId xmlns:a16="http://schemas.microsoft.com/office/drawing/2014/main" id="{B7B37E86-4D9C-4134-8794-8410F54876DC}"/>
                        </a:ext>
                      </a:extLst>
                    </p:cNvPr>
                    <p:cNvSpPr>
                      <a:spLocks noRot="1" noChangeAspect="1" noMove="1" noResize="1" noEditPoints="1" noAdjustHandles="1" noChangeArrowheads="1" noChangeShapeType="1" noTextEdit="1"/>
                    </p:cNvSpPr>
                    <p:nvPr/>
                  </p:nvSpPr>
                  <p:spPr>
                    <a:xfrm>
                      <a:off x="6095999" y="4497303"/>
                      <a:ext cx="1454400" cy="216000"/>
                    </a:xfrm>
                    <a:prstGeom prst="rect">
                      <a:avLst/>
                    </a:prstGeom>
                    <a:blipFill>
                      <a:blip r:embed="rId5"/>
                      <a:stretch>
                        <a:fillRect/>
                      </a:stretch>
                    </a:blipFill>
                    <a:ln>
                      <a:solidFill>
                        <a:schemeClr val="tx1">
                          <a:lumMod val="75000"/>
                        </a:schemeClr>
                      </a:solidFill>
                      <a:headEnd type="none" w="med" len="med"/>
                      <a:tailEnd type="none" w="med" len="me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68799AD0-B607-4813-A96B-7226791C1EC1}"/>
                        </a:ext>
                      </a:extLst>
                    </p:cNvPr>
                    <p:cNvSpPr/>
                    <p:nvPr/>
                  </p:nvSpPr>
                  <p:spPr>
                    <a:xfrm>
                      <a:off x="7955624" y="5309945"/>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156</a:t>
                      </a:r>
                    </a:p>
                    <a:p>
                      <a:pPr algn="ctr"/>
                      <a14:m>
                        <m:oMathPara xmlns:m="http://schemas.openxmlformats.org/officeDocument/2006/math">
                          <m:oMathParaPr>
                            <m:jc m:val="centerGroup"/>
                          </m:oMathParaPr>
                          <m:oMath xmlns:m="http://schemas.openxmlformats.org/officeDocument/2006/math">
                            <m:acc>
                              <m:accPr>
                                <m:chr m:val="̅"/>
                                <m:ctrlPr>
                                  <a:rPr lang="fr-FR" sz="825" i="1">
                                    <a:solidFill>
                                      <a:schemeClr val="tx1">
                                        <a:lumMod val="50000"/>
                                      </a:schemeClr>
                                    </a:solidFill>
                                    <a:latin typeface="Cambria Math" panose="02040503050406030204" pitchFamily="18" charset="0"/>
                                  </a:rPr>
                                </m:ctrlPr>
                              </m:accPr>
                              <m:e>
                                <m:r>
                                  <a:rPr lang="fr-FR" sz="825" i="1">
                                    <a:solidFill>
                                      <a:schemeClr val="tx1">
                                        <a:lumMod val="50000"/>
                                      </a:schemeClr>
                                    </a:solidFill>
                                    <a:latin typeface="Cambria Math" panose="02040503050406030204" pitchFamily="18" charset="0"/>
                                  </a:rPr>
                                  <m:t>𝑥</m:t>
                                </m:r>
                              </m:e>
                            </m:acc>
                            <m:r>
                              <a:rPr lang="fr-FR" sz="825" i="1">
                                <a:solidFill>
                                  <a:schemeClr val="tx1">
                                    <a:lumMod val="50000"/>
                                  </a:schemeClr>
                                </a:solidFill>
                                <a:latin typeface="Cambria Math" panose="02040503050406030204" pitchFamily="18" charset="0"/>
                              </a:rPr>
                              <m:t>=$4500</m:t>
                            </m:r>
                          </m:oMath>
                        </m:oMathPara>
                      </a14:m>
                      <a:endParaRPr lang="fr-FR" sz="825" dirty="0">
                        <a:solidFill>
                          <a:schemeClr val="tx1">
                            <a:lumMod val="50000"/>
                          </a:schemeClr>
                        </a:solidFill>
                      </a:endParaRPr>
                    </a:p>
                  </p:txBody>
                </p:sp>
              </mc:Choice>
              <mc:Fallback xmlns="">
                <p:sp>
                  <p:nvSpPr>
                    <p:cNvPr id="27" name="Rectangle 26">
                      <a:extLst>
                        <a:ext uri="{FF2B5EF4-FFF2-40B4-BE49-F238E27FC236}">
                          <a16:creationId xmlns:a16="http://schemas.microsoft.com/office/drawing/2014/main" id="{68799AD0-B607-4813-A96B-7226791C1EC1}"/>
                        </a:ext>
                      </a:extLst>
                    </p:cNvPr>
                    <p:cNvSpPr>
                      <a:spLocks noRot="1" noChangeAspect="1" noMove="1" noResize="1" noEditPoints="1" noAdjustHandles="1" noChangeArrowheads="1" noChangeShapeType="1" noTextEdit="1"/>
                    </p:cNvSpPr>
                    <p:nvPr/>
                  </p:nvSpPr>
                  <p:spPr>
                    <a:xfrm>
                      <a:off x="7955624" y="5309945"/>
                      <a:ext cx="1454399" cy="338554"/>
                    </a:xfrm>
                    <a:prstGeom prst="rect">
                      <a:avLst/>
                    </a:prstGeom>
                    <a:blipFill>
                      <a:blip r:embed="rId6"/>
                      <a:stretch>
                        <a:fillRect t="-12069" b="-8621"/>
                      </a:stretch>
                    </a:blipFill>
                    <a:ln w="9525" cap="flat" cmpd="sng" algn="ctr">
                      <a:solidFill>
                        <a:schemeClr val="accent1"/>
                      </a:solidFill>
                      <a:prstDash val="solid"/>
                      <a:round/>
                      <a:headEnd type="none" w="med" len="med"/>
                      <a:tailEnd type="none" w="med" len="me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218ED83D-B7CD-4404-8FF5-55599AA39940}"/>
                        </a:ext>
                      </a:extLst>
                    </p:cNvPr>
                    <p:cNvSpPr/>
                    <p:nvPr/>
                  </p:nvSpPr>
                  <p:spPr>
                    <a:xfrm>
                      <a:off x="7955623" y="5645210"/>
                      <a:ext cx="1454400"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sSup>
                              <m:sSupPr>
                                <m:ctrlPr>
                                  <a:rPr lang="fr-FR" sz="600" i="1">
                                    <a:solidFill>
                                      <a:schemeClr val="tx1">
                                        <a:lumMod val="50000"/>
                                      </a:schemeClr>
                                    </a:solidFill>
                                    <a:latin typeface="Cambria Math" panose="02040503050406030204" pitchFamily="18" charset="0"/>
                                    <a:ea typeface="Cambria Math" panose="02040503050406030204" pitchFamily="18" charset="0"/>
                                  </a:rPr>
                                </m:ctrlPr>
                              </m:sSupPr>
                              <m:e>
                                <m:r>
                                  <a:rPr lang="fr-FR" sz="600" i="1">
                                    <a:solidFill>
                                      <a:schemeClr val="tx1">
                                        <a:lumMod val="50000"/>
                                      </a:schemeClr>
                                    </a:solidFill>
                                    <a:latin typeface="Cambria Math" panose="02040503050406030204" pitchFamily="18" charset="0"/>
                                    <a:ea typeface="Cambria Math" panose="02040503050406030204" pitchFamily="18" charset="0"/>
                                  </a:rPr>
                                  <m:t>𝑚</m:t>
                                </m:r>
                              </m:e>
                              <m:sup>
                                <m:r>
                                  <a:rPr lang="fr-FR" sz="600" i="1">
                                    <a:solidFill>
                                      <a:schemeClr val="tx1">
                                        <a:lumMod val="50000"/>
                                      </a:schemeClr>
                                    </a:solidFill>
                                    <a:latin typeface="Cambria Math" panose="02040503050406030204" pitchFamily="18" charset="0"/>
                                    <a:ea typeface="Cambria Math" panose="02040503050406030204" pitchFamily="18" charset="0"/>
                                  </a:rPr>
                                  <m:t>2</m:t>
                                </m:r>
                              </m:sup>
                            </m:sSup>
                            <m:r>
                              <a:rPr lang="fr-FR" sz="600" i="1">
                                <a:solidFill>
                                  <a:schemeClr val="tx1">
                                    <a:lumMod val="50000"/>
                                  </a:schemeClr>
                                </a:solidFill>
                                <a:latin typeface="Cambria Math" panose="02040503050406030204" pitchFamily="18" charset="0"/>
                                <a:ea typeface="Cambria Math" panose="02040503050406030204" pitchFamily="18" charset="0"/>
                              </a:rPr>
                              <m:t>&gt;9</m:t>
                            </m:r>
                            <m:r>
                              <a:rPr lang="fr-FR" sz="600" i="1">
                                <a:solidFill>
                                  <a:schemeClr val="tx1">
                                    <a:lumMod val="50000"/>
                                  </a:schemeClr>
                                </a:solidFill>
                                <a:latin typeface="Cambria Math" panose="02040503050406030204" pitchFamily="18" charset="0"/>
                              </a:rPr>
                              <m:t>0</m:t>
                            </m:r>
                          </m:oMath>
                        </m:oMathPara>
                      </a14:m>
                      <a:endParaRPr lang="fr-FR" sz="600" dirty="0">
                        <a:solidFill>
                          <a:schemeClr val="tx1">
                            <a:lumMod val="50000"/>
                          </a:schemeClr>
                        </a:solidFill>
                      </a:endParaRPr>
                    </a:p>
                  </p:txBody>
                </p:sp>
              </mc:Choice>
              <mc:Fallback xmlns="">
                <p:sp>
                  <p:nvSpPr>
                    <p:cNvPr id="28" name="Rectangle 27">
                      <a:extLst>
                        <a:ext uri="{FF2B5EF4-FFF2-40B4-BE49-F238E27FC236}">
                          <a16:creationId xmlns:a16="http://schemas.microsoft.com/office/drawing/2014/main" id="{218ED83D-B7CD-4404-8FF5-55599AA39940}"/>
                        </a:ext>
                      </a:extLst>
                    </p:cNvPr>
                    <p:cNvSpPr>
                      <a:spLocks noRot="1" noChangeAspect="1" noMove="1" noResize="1" noEditPoints="1" noAdjustHandles="1" noChangeArrowheads="1" noChangeShapeType="1" noTextEdit="1"/>
                    </p:cNvSpPr>
                    <p:nvPr/>
                  </p:nvSpPr>
                  <p:spPr>
                    <a:xfrm>
                      <a:off x="7955623" y="5645210"/>
                      <a:ext cx="1454400" cy="216000"/>
                    </a:xfrm>
                    <a:prstGeom prst="rect">
                      <a:avLst/>
                    </a:prstGeom>
                    <a:blipFill>
                      <a:blip r:embed="rId7"/>
                      <a:stretch>
                        <a:fillRect/>
                      </a:stretch>
                    </a:blipFill>
                    <a:ln>
                      <a:solidFill>
                        <a:schemeClr val="tx1">
                          <a:lumMod val="75000"/>
                        </a:schemeClr>
                      </a:solidFill>
                      <a:headEnd type="none" w="med" len="med"/>
                      <a:tailEnd type="none" w="med" len="me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3CD4A1A3-7AC6-4CD8-852A-11EE613CC351}"/>
                        </a:ext>
                      </a:extLst>
                    </p:cNvPr>
                    <p:cNvSpPr/>
                    <p:nvPr/>
                  </p:nvSpPr>
                  <p:spPr>
                    <a:xfrm>
                      <a:off x="4813833" y="5306656"/>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44</a:t>
                      </a:r>
                    </a:p>
                    <a:p>
                      <a:pPr algn="ctr"/>
                      <a14:m>
                        <m:oMathPara xmlns:m="http://schemas.openxmlformats.org/officeDocument/2006/math">
                          <m:oMathParaPr>
                            <m:jc m:val="centerGroup"/>
                          </m:oMathParaPr>
                          <m:oMath xmlns:m="http://schemas.openxmlformats.org/officeDocument/2006/math">
                            <m:acc>
                              <m:accPr>
                                <m:chr m:val="̅"/>
                                <m:ctrlPr>
                                  <a:rPr lang="fr-FR" sz="825" i="1">
                                    <a:solidFill>
                                      <a:schemeClr val="tx1">
                                        <a:lumMod val="50000"/>
                                      </a:schemeClr>
                                    </a:solidFill>
                                    <a:latin typeface="Cambria Math" panose="02040503050406030204" pitchFamily="18" charset="0"/>
                                  </a:rPr>
                                </m:ctrlPr>
                              </m:accPr>
                              <m:e>
                                <m:r>
                                  <a:rPr lang="fr-FR" sz="825" i="1">
                                    <a:solidFill>
                                      <a:schemeClr val="tx1">
                                        <a:lumMod val="50000"/>
                                      </a:schemeClr>
                                    </a:solidFill>
                                    <a:latin typeface="Cambria Math" panose="02040503050406030204" pitchFamily="18" charset="0"/>
                                  </a:rPr>
                                  <m:t>𝑥</m:t>
                                </m:r>
                              </m:e>
                            </m:acc>
                            <m:r>
                              <a:rPr lang="fr-FR" sz="825" i="1">
                                <a:solidFill>
                                  <a:schemeClr val="tx1">
                                    <a:lumMod val="50000"/>
                                  </a:schemeClr>
                                </a:solidFill>
                                <a:latin typeface="Cambria Math" panose="02040503050406030204" pitchFamily="18" charset="0"/>
                              </a:rPr>
                              <m:t>=$900</m:t>
                            </m:r>
                          </m:oMath>
                        </m:oMathPara>
                      </a14:m>
                      <a:endParaRPr lang="fr-FR" sz="825" dirty="0"/>
                    </a:p>
                  </p:txBody>
                </p:sp>
              </mc:Choice>
              <mc:Fallback xmlns="">
                <p:sp>
                  <p:nvSpPr>
                    <p:cNvPr id="30" name="Rectangle 29">
                      <a:extLst>
                        <a:ext uri="{FF2B5EF4-FFF2-40B4-BE49-F238E27FC236}">
                          <a16:creationId xmlns:a16="http://schemas.microsoft.com/office/drawing/2014/main" id="{3CD4A1A3-7AC6-4CD8-852A-11EE613CC351}"/>
                        </a:ext>
                      </a:extLst>
                    </p:cNvPr>
                    <p:cNvSpPr>
                      <a:spLocks noRot="1" noChangeAspect="1" noMove="1" noResize="1" noEditPoints="1" noAdjustHandles="1" noChangeArrowheads="1" noChangeShapeType="1" noTextEdit="1"/>
                    </p:cNvSpPr>
                    <p:nvPr/>
                  </p:nvSpPr>
                  <p:spPr>
                    <a:xfrm>
                      <a:off x="4813833" y="5306656"/>
                      <a:ext cx="1454399" cy="338554"/>
                    </a:xfrm>
                    <a:prstGeom prst="rect">
                      <a:avLst/>
                    </a:prstGeom>
                    <a:blipFill>
                      <a:blip r:embed="rId8"/>
                      <a:stretch>
                        <a:fillRect t="-12281" b="-8772"/>
                      </a:stretch>
                    </a:blipFill>
                    <a:ln w="9525" cap="flat" cmpd="sng" algn="ctr">
                      <a:solidFill>
                        <a:schemeClr val="accent1"/>
                      </a:solidFill>
                      <a:prstDash val="solid"/>
                      <a:round/>
                      <a:headEnd type="none" w="med" len="med"/>
                      <a:tailEnd type="none" w="med" len="me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1117B830-B3D3-469E-8B3C-0390B9FEC1EE}"/>
                        </a:ext>
                      </a:extLst>
                    </p:cNvPr>
                    <p:cNvSpPr/>
                    <p:nvPr/>
                  </p:nvSpPr>
                  <p:spPr>
                    <a:xfrm>
                      <a:off x="7355645" y="6344988"/>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110</a:t>
                      </a:r>
                    </a:p>
                    <a:p>
                      <a:pPr algn="ctr"/>
                      <a14:m>
                        <m:oMathPara xmlns:m="http://schemas.openxmlformats.org/officeDocument/2006/math">
                          <m:oMathParaPr>
                            <m:jc m:val="centerGroup"/>
                          </m:oMathParaPr>
                          <m:oMath xmlns:m="http://schemas.openxmlformats.org/officeDocument/2006/math">
                            <m:acc>
                              <m:accPr>
                                <m:chr m:val="̅"/>
                                <m:ctrlPr>
                                  <a:rPr lang="fr-FR" sz="825" i="1">
                                    <a:solidFill>
                                      <a:schemeClr val="tx1">
                                        <a:lumMod val="50000"/>
                                      </a:schemeClr>
                                    </a:solidFill>
                                    <a:latin typeface="Cambria Math" panose="02040503050406030204" pitchFamily="18" charset="0"/>
                                  </a:rPr>
                                </m:ctrlPr>
                              </m:accPr>
                              <m:e>
                                <m:r>
                                  <a:rPr lang="fr-FR" sz="825" i="1">
                                    <a:solidFill>
                                      <a:schemeClr val="tx1">
                                        <a:lumMod val="50000"/>
                                      </a:schemeClr>
                                    </a:solidFill>
                                    <a:latin typeface="Cambria Math" panose="02040503050406030204" pitchFamily="18" charset="0"/>
                                  </a:rPr>
                                  <m:t>𝑥</m:t>
                                </m:r>
                              </m:e>
                            </m:acc>
                            <m:r>
                              <a:rPr lang="fr-FR" sz="825" i="1">
                                <a:solidFill>
                                  <a:schemeClr val="tx1">
                                    <a:lumMod val="50000"/>
                                  </a:schemeClr>
                                </a:solidFill>
                                <a:latin typeface="Cambria Math" panose="02040503050406030204" pitchFamily="18" charset="0"/>
                              </a:rPr>
                              <m:t>=$6500</m:t>
                            </m:r>
                          </m:oMath>
                        </m:oMathPara>
                      </a14:m>
                      <a:endParaRPr lang="fr-FR" sz="825" dirty="0">
                        <a:solidFill>
                          <a:schemeClr val="tx1">
                            <a:lumMod val="50000"/>
                          </a:schemeClr>
                        </a:solidFill>
                      </a:endParaRPr>
                    </a:p>
                  </p:txBody>
                </p:sp>
              </mc:Choice>
              <mc:Fallback xmlns="">
                <p:sp>
                  <p:nvSpPr>
                    <p:cNvPr id="37" name="Rectangle 36">
                      <a:extLst>
                        <a:ext uri="{FF2B5EF4-FFF2-40B4-BE49-F238E27FC236}">
                          <a16:creationId xmlns:a16="http://schemas.microsoft.com/office/drawing/2014/main" id="{1117B830-B3D3-469E-8B3C-0390B9FEC1EE}"/>
                        </a:ext>
                      </a:extLst>
                    </p:cNvPr>
                    <p:cNvSpPr>
                      <a:spLocks noRot="1" noChangeAspect="1" noMove="1" noResize="1" noEditPoints="1" noAdjustHandles="1" noChangeArrowheads="1" noChangeShapeType="1" noTextEdit="1"/>
                    </p:cNvSpPr>
                    <p:nvPr/>
                  </p:nvSpPr>
                  <p:spPr>
                    <a:xfrm>
                      <a:off x="7355645" y="6344988"/>
                      <a:ext cx="1454399" cy="338554"/>
                    </a:xfrm>
                    <a:prstGeom prst="rect">
                      <a:avLst/>
                    </a:prstGeom>
                    <a:blipFill>
                      <a:blip r:embed="rId9"/>
                      <a:stretch>
                        <a:fillRect t="-12069" b="-6897"/>
                      </a:stretch>
                    </a:blipFill>
                    <a:ln w="9525" cap="flat" cmpd="sng" algn="ctr">
                      <a:solidFill>
                        <a:schemeClr val="accent1"/>
                      </a:solidFill>
                      <a:prstDash val="solid"/>
                      <a:round/>
                      <a:headEnd type="none" w="med" len="med"/>
                      <a:tailEnd type="none" w="med" len="me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10D754A2-D16B-4E66-A027-16D5370CBD12}"/>
                        </a:ext>
                      </a:extLst>
                    </p:cNvPr>
                    <p:cNvSpPr/>
                    <p:nvPr/>
                  </p:nvSpPr>
                  <p:spPr>
                    <a:xfrm>
                      <a:off x="3748076" y="6344988"/>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20</a:t>
                      </a:r>
                    </a:p>
                    <a:p>
                      <a:pPr algn="ctr"/>
                      <a14:m>
                        <m:oMathPara xmlns:m="http://schemas.openxmlformats.org/officeDocument/2006/math">
                          <m:oMathParaPr>
                            <m:jc m:val="centerGroup"/>
                          </m:oMathParaPr>
                          <m:oMath xmlns:m="http://schemas.openxmlformats.org/officeDocument/2006/math">
                            <m:acc>
                              <m:accPr>
                                <m:chr m:val="̅"/>
                                <m:ctrlPr>
                                  <a:rPr lang="fr-FR" sz="825" i="1">
                                    <a:solidFill>
                                      <a:schemeClr val="tx1">
                                        <a:lumMod val="50000"/>
                                      </a:schemeClr>
                                    </a:solidFill>
                                    <a:latin typeface="Cambria Math" panose="02040503050406030204" pitchFamily="18" charset="0"/>
                                  </a:rPr>
                                </m:ctrlPr>
                              </m:accPr>
                              <m:e>
                                <m:r>
                                  <a:rPr lang="fr-FR" sz="825" i="1">
                                    <a:solidFill>
                                      <a:schemeClr val="tx1">
                                        <a:lumMod val="50000"/>
                                      </a:schemeClr>
                                    </a:solidFill>
                                    <a:latin typeface="Cambria Math" panose="02040503050406030204" pitchFamily="18" charset="0"/>
                                  </a:rPr>
                                  <m:t>𝑥</m:t>
                                </m:r>
                              </m:e>
                            </m:acc>
                            <m:r>
                              <a:rPr lang="fr-FR" sz="825" i="1">
                                <a:solidFill>
                                  <a:schemeClr val="tx1">
                                    <a:lumMod val="50000"/>
                                  </a:schemeClr>
                                </a:solidFill>
                                <a:latin typeface="Cambria Math" panose="02040503050406030204" pitchFamily="18" charset="0"/>
                              </a:rPr>
                              <m:t>=$650</m:t>
                            </m:r>
                          </m:oMath>
                        </m:oMathPara>
                      </a14:m>
                      <a:endParaRPr lang="fr-FR" sz="825" dirty="0"/>
                    </a:p>
                  </p:txBody>
                </p:sp>
              </mc:Choice>
              <mc:Fallback xmlns="">
                <p:sp>
                  <p:nvSpPr>
                    <p:cNvPr id="39" name="Rectangle 38">
                      <a:extLst>
                        <a:ext uri="{FF2B5EF4-FFF2-40B4-BE49-F238E27FC236}">
                          <a16:creationId xmlns:a16="http://schemas.microsoft.com/office/drawing/2014/main" id="{10D754A2-D16B-4E66-A027-16D5370CBD12}"/>
                        </a:ext>
                      </a:extLst>
                    </p:cNvPr>
                    <p:cNvSpPr>
                      <a:spLocks noRot="1" noChangeAspect="1" noMove="1" noResize="1" noEditPoints="1" noAdjustHandles="1" noChangeArrowheads="1" noChangeShapeType="1" noTextEdit="1"/>
                    </p:cNvSpPr>
                    <p:nvPr/>
                  </p:nvSpPr>
                  <p:spPr>
                    <a:xfrm>
                      <a:off x="3748076" y="6344988"/>
                      <a:ext cx="1454399" cy="338554"/>
                    </a:xfrm>
                    <a:prstGeom prst="rect">
                      <a:avLst/>
                    </a:prstGeom>
                    <a:blipFill>
                      <a:blip r:embed="rId10"/>
                      <a:stretch>
                        <a:fillRect t="-12069" b="-6897"/>
                      </a:stretch>
                    </a:blipFill>
                    <a:ln w="9525" cap="flat" cmpd="sng" algn="ctr">
                      <a:solidFill>
                        <a:schemeClr val="accent1"/>
                      </a:solidFill>
                      <a:prstDash val="solid"/>
                      <a:round/>
                      <a:headEnd type="none" w="med" len="med"/>
                      <a:tailEnd type="none" w="med" len="med"/>
                    </a:ln>
                  </p:spPr>
                  <p:txBody>
                    <a:bodyPr/>
                    <a:lstStyle/>
                    <a:p>
                      <a:r>
                        <a:rPr lang="fr-FR">
                          <a:noFill/>
                        </a:rPr>
                        <a:t> </a:t>
                      </a:r>
                    </a:p>
                  </p:txBody>
                </p:sp>
              </mc:Fallback>
            </mc:AlternateContent>
            <p:cxnSp>
              <p:nvCxnSpPr>
                <p:cNvPr id="42" name="Connecteur droit 41">
                  <a:extLst>
                    <a:ext uri="{FF2B5EF4-FFF2-40B4-BE49-F238E27FC236}">
                      <a16:creationId xmlns:a16="http://schemas.microsoft.com/office/drawing/2014/main" id="{ED5EC06B-5121-4D65-900C-9310919E7C12}"/>
                    </a:ext>
                  </a:extLst>
                </p:cNvPr>
                <p:cNvCxnSpPr>
                  <a:cxnSpLocks/>
                  <a:stCxn id="30" idx="0"/>
                  <a:endCxn id="26" idx="2"/>
                </p:cNvCxnSpPr>
                <p:nvPr/>
              </p:nvCxnSpPr>
              <p:spPr>
                <a:xfrm flipV="1">
                  <a:off x="5541033" y="4713303"/>
                  <a:ext cx="1282166" cy="593353"/>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160FA3A2-3781-43B4-B748-65995EF99DC4}"/>
                    </a:ext>
                  </a:extLst>
                </p:cNvPr>
                <p:cNvCxnSpPr>
                  <a:cxnSpLocks/>
                  <a:stCxn id="39" idx="0"/>
                  <a:endCxn id="53" idx="2"/>
                </p:cNvCxnSpPr>
                <p:nvPr/>
              </p:nvCxnSpPr>
              <p:spPr>
                <a:xfrm flipV="1">
                  <a:off x="4475276" y="5858879"/>
                  <a:ext cx="1070093" cy="486109"/>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Connecteur droit 43">
                  <a:extLst>
                    <a:ext uri="{FF2B5EF4-FFF2-40B4-BE49-F238E27FC236}">
                      <a16:creationId xmlns:a16="http://schemas.microsoft.com/office/drawing/2014/main" id="{F6A9FA03-7137-4BD3-B031-6836429F1E1E}"/>
                    </a:ext>
                  </a:extLst>
                </p:cNvPr>
                <p:cNvCxnSpPr>
                  <a:cxnSpLocks/>
                  <a:stCxn id="37" idx="0"/>
                  <a:endCxn id="28" idx="2"/>
                </p:cNvCxnSpPr>
                <p:nvPr/>
              </p:nvCxnSpPr>
              <p:spPr>
                <a:xfrm flipV="1">
                  <a:off x="8082845" y="5861210"/>
                  <a:ext cx="599978" cy="483778"/>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Connecteur droit 44">
                  <a:extLst>
                    <a:ext uri="{FF2B5EF4-FFF2-40B4-BE49-F238E27FC236}">
                      <a16:creationId xmlns:a16="http://schemas.microsoft.com/office/drawing/2014/main" id="{10F1DDF5-732D-4930-A5D5-38195208882A}"/>
                    </a:ext>
                  </a:extLst>
                </p:cNvPr>
                <p:cNvCxnSpPr>
                  <a:cxnSpLocks/>
                  <a:stCxn id="27" idx="0"/>
                  <a:endCxn id="26" idx="2"/>
                </p:cNvCxnSpPr>
                <p:nvPr/>
              </p:nvCxnSpPr>
              <p:spPr>
                <a:xfrm flipH="1" flipV="1">
                  <a:off x="6823199" y="4713303"/>
                  <a:ext cx="1859625" cy="596642"/>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C73E1A45-0D28-48E8-90C0-BF5399964492}"/>
                      </a:ext>
                    </a:extLst>
                  </p:cNvPr>
                  <p:cNvSpPr/>
                  <p:nvPr/>
                </p:nvSpPr>
                <p:spPr>
                  <a:xfrm>
                    <a:off x="3092736" y="4044635"/>
                    <a:ext cx="1454400"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sSup>
                            <m:sSupPr>
                              <m:ctrlPr>
                                <a:rPr lang="fr-FR" sz="750" i="1">
                                  <a:solidFill>
                                    <a:schemeClr val="tx1">
                                      <a:lumMod val="50000"/>
                                    </a:schemeClr>
                                  </a:solidFill>
                                  <a:latin typeface="Cambria Math" panose="02040503050406030204" pitchFamily="18" charset="0"/>
                                  <a:ea typeface="Cambria Math" panose="02040503050406030204" pitchFamily="18" charset="0"/>
                                </a:rPr>
                              </m:ctrlPr>
                            </m:sSupPr>
                            <m:e>
                              <m:r>
                                <a:rPr lang="fr-FR" sz="750" i="1">
                                  <a:solidFill>
                                    <a:schemeClr val="tx1">
                                      <a:lumMod val="50000"/>
                                    </a:schemeClr>
                                  </a:solidFill>
                                  <a:latin typeface="Cambria Math" panose="02040503050406030204" pitchFamily="18" charset="0"/>
                                  <a:ea typeface="Cambria Math" panose="02040503050406030204" pitchFamily="18" charset="0"/>
                                </a:rPr>
                                <m:t>𝑚</m:t>
                              </m:r>
                            </m:e>
                            <m:sup>
                              <m:r>
                                <a:rPr lang="fr-FR" sz="750" i="1">
                                  <a:solidFill>
                                    <a:schemeClr val="tx1">
                                      <a:lumMod val="50000"/>
                                    </a:schemeClr>
                                  </a:solidFill>
                                  <a:latin typeface="Cambria Math" panose="02040503050406030204" pitchFamily="18" charset="0"/>
                                  <a:ea typeface="Cambria Math" panose="02040503050406030204" pitchFamily="18" charset="0"/>
                                </a:rPr>
                                <m:t>2</m:t>
                              </m:r>
                            </m:sup>
                          </m:sSup>
                          <m:r>
                            <a:rPr lang="fr-FR" sz="750" i="1">
                              <a:solidFill>
                                <a:schemeClr val="tx1">
                                  <a:lumMod val="50000"/>
                                </a:schemeClr>
                              </a:solidFill>
                              <a:latin typeface="Cambria Math" panose="02040503050406030204" pitchFamily="18" charset="0"/>
                              <a:ea typeface="Cambria Math" panose="02040503050406030204" pitchFamily="18" charset="0"/>
                            </a:rPr>
                            <m:t>≤5</m:t>
                          </m:r>
                          <m:r>
                            <a:rPr lang="fr-FR" sz="750" i="1">
                              <a:solidFill>
                                <a:schemeClr val="tx1">
                                  <a:lumMod val="50000"/>
                                </a:schemeClr>
                              </a:solidFill>
                              <a:latin typeface="Cambria Math" panose="02040503050406030204" pitchFamily="18" charset="0"/>
                            </a:rPr>
                            <m:t>0</m:t>
                          </m:r>
                        </m:oMath>
                      </m:oMathPara>
                    </a14:m>
                    <a:endParaRPr lang="fr-FR" sz="750" dirty="0">
                      <a:solidFill>
                        <a:schemeClr val="tx1">
                          <a:lumMod val="50000"/>
                        </a:schemeClr>
                      </a:solidFill>
                    </a:endParaRPr>
                  </a:p>
                </p:txBody>
              </p:sp>
            </mc:Choice>
            <mc:Fallback xmlns="">
              <p:sp>
                <p:nvSpPr>
                  <p:cNvPr id="53" name="Rectangle 52">
                    <a:extLst>
                      <a:ext uri="{FF2B5EF4-FFF2-40B4-BE49-F238E27FC236}">
                        <a16:creationId xmlns:a16="http://schemas.microsoft.com/office/drawing/2014/main" id="{C73E1A45-0D28-48E8-90C0-BF5399964492}"/>
                      </a:ext>
                    </a:extLst>
                  </p:cNvPr>
                  <p:cNvSpPr>
                    <a:spLocks noRot="1" noChangeAspect="1" noMove="1" noResize="1" noEditPoints="1" noAdjustHandles="1" noChangeArrowheads="1" noChangeShapeType="1" noTextEdit="1"/>
                  </p:cNvSpPr>
                  <p:nvPr/>
                </p:nvSpPr>
                <p:spPr>
                  <a:xfrm>
                    <a:off x="3092736" y="4044635"/>
                    <a:ext cx="1454400" cy="216000"/>
                  </a:xfrm>
                  <a:prstGeom prst="rect">
                    <a:avLst/>
                  </a:prstGeom>
                  <a:blipFill>
                    <a:blip r:embed="rId11"/>
                    <a:stretch>
                      <a:fillRect/>
                    </a:stretch>
                  </a:blipFill>
                  <a:ln>
                    <a:solidFill>
                      <a:schemeClr val="tx1">
                        <a:lumMod val="75000"/>
                      </a:schemeClr>
                    </a:solidFill>
                    <a:headEnd type="none" w="med" len="med"/>
                    <a:tailEnd type="none" w="med" len="med"/>
                  </a:ln>
                </p:spPr>
                <p:txBody>
                  <a:bodyPr/>
                  <a:lstStyle/>
                  <a:p>
                    <a:r>
                      <a:rPr lang="fr-FR">
                        <a:noFill/>
                      </a:rPr>
                      <a:t> </a:t>
                    </a:r>
                  </a:p>
                </p:txBody>
              </p:sp>
            </mc:Fallback>
          </mc:AlternateContent>
        </p:grpSp>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9087DB1C-446A-4CED-A144-5D271A486049}"/>
                    </a:ext>
                  </a:extLst>
                </p:cNvPr>
                <p:cNvSpPr/>
                <p:nvPr/>
              </p:nvSpPr>
              <p:spPr>
                <a:xfrm>
                  <a:off x="3944699" y="4746744"/>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24</a:t>
                  </a:r>
                </a:p>
                <a:p>
                  <a:pPr algn="ctr"/>
                  <a14:m>
                    <m:oMathPara xmlns:m="http://schemas.openxmlformats.org/officeDocument/2006/math">
                      <m:oMathParaPr>
                        <m:jc m:val="centerGroup"/>
                      </m:oMathParaPr>
                      <m:oMath xmlns:m="http://schemas.openxmlformats.org/officeDocument/2006/math">
                        <m:acc>
                          <m:accPr>
                            <m:chr m:val="̅"/>
                            <m:ctrlPr>
                              <a:rPr lang="fr-FR" sz="825" i="1">
                                <a:solidFill>
                                  <a:schemeClr val="tx1">
                                    <a:lumMod val="50000"/>
                                  </a:schemeClr>
                                </a:solidFill>
                                <a:latin typeface="Cambria Math" panose="02040503050406030204" pitchFamily="18" charset="0"/>
                              </a:rPr>
                            </m:ctrlPr>
                          </m:accPr>
                          <m:e>
                            <m:r>
                              <a:rPr lang="fr-FR" sz="825" i="1">
                                <a:solidFill>
                                  <a:schemeClr val="tx1">
                                    <a:lumMod val="50000"/>
                                  </a:schemeClr>
                                </a:solidFill>
                                <a:latin typeface="Cambria Math" panose="02040503050406030204" pitchFamily="18" charset="0"/>
                              </a:rPr>
                              <m:t>𝑥</m:t>
                            </m:r>
                          </m:e>
                        </m:acc>
                        <m:r>
                          <a:rPr lang="fr-FR" sz="825" i="1">
                            <a:solidFill>
                              <a:schemeClr val="tx1">
                                <a:lumMod val="50000"/>
                              </a:schemeClr>
                            </a:solidFill>
                            <a:latin typeface="Cambria Math" panose="02040503050406030204" pitchFamily="18" charset="0"/>
                          </a:rPr>
                          <m:t>=$450</m:t>
                        </m:r>
                      </m:oMath>
                    </m:oMathPara>
                  </a14:m>
                  <a:endParaRPr lang="fr-FR" sz="825" dirty="0"/>
                </a:p>
              </p:txBody>
            </p:sp>
          </mc:Choice>
          <mc:Fallback xmlns="">
            <p:sp>
              <p:nvSpPr>
                <p:cNvPr id="54" name="Rectangle 53">
                  <a:extLst>
                    <a:ext uri="{FF2B5EF4-FFF2-40B4-BE49-F238E27FC236}">
                      <a16:creationId xmlns:a16="http://schemas.microsoft.com/office/drawing/2014/main" id="{9087DB1C-446A-4CED-A144-5D271A486049}"/>
                    </a:ext>
                  </a:extLst>
                </p:cNvPr>
                <p:cNvSpPr>
                  <a:spLocks noRot="1" noChangeAspect="1" noMove="1" noResize="1" noEditPoints="1" noAdjustHandles="1" noChangeArrowheads="1" noChangeShapeType="1" noTextEdit="1"/>
                </p:cNvSpPr>
                <p:nvPr/>
              </p:nvSpPr>
              <p:spPr>
                <a:xfrm>
                  <a:off x="3944699" y="4746744"/>
                  <a:ext cx="1454399" cy="338554"/>
                </a:xfrm>
                <a:prstGeom prst="rect">
                  <a:avLst/>
                </a:prstGeom>
                <a:blipFill>
                  <a:blip r:embed="rId12"/>
                  <a:stretch>
                    <a:fillRect t="-12069" b="-6897"/>
                  </a:stretch>
                </a:blipFill>
                <a:ln w="9525" cap="flat" cmpd="sng" algn="ctr">
                  <a:solidFill>
                    <a:schemeClr val="accent1"/>
                  </a:solidFill>
                  <a:prstDash val="solid"/>
                  <a:round/>
                  <a:headEnd type="none" w="med" len="med"/>
                  <a:tailEnd type="none" w="med" len="med"/>
                </a:ln>
              </p:spPr>
              <p:txBody>
                <a:bodyPr/>
                <a:lstStyle/>
                <a:p>
                  <a:r>
                    <a:rPr lang="fr-FR">
                      <a:noFill/>
                    </a:rPr>
                    <a:t> </a:t>
                  </a:r>
                </a:p>
              </p:txBody>
            </p:sp>
          </mc:Fallback>
        </mc:AlternateContent>
        <p:cxnSp>
          <p:nvCxnSpPr>
            <p:cNvPr id="55" name="Connecteur droit 54">
              <a:extLst>
                <a:ext uri="{FF2B5EF4-FFF2-40B4-BE49-F238E27FC236}">
                  <a16:creationId xmlns:a16="http://schemas.microsoft.com/office/drawing/2014/main" id="{59C463AA-F8DD-4531-BEA8-B41890ED57AC}"/>
                </a:ext>
              </a:extLst>
            </p:cNvPr>
            <p:cNvCxnSpPr>
              <a:cxnSpLocks/>
              <a:stCxn id="54" idx="0"/>
              <a:endCxn id="53" idx="2"/>
            </p:cNvCxnSpPr>
            <p:nvPr/>
          </p:nvCxnSpPr>
          <p:spPr>
            <a:xfrm flipH="1" flipV="1">
              <a:off x="3819936" y="4260635"/>
              <a:ext cx="851963" cy="486109"/>
            </a:xfrm>
            <a:prstGeom prst="line">
              <a:avLst/>
            </a:prstGeom>
          </p:spPr>
          <p:style>
            <a:lnRef idx="1">
              <a:schemeClr val="accent1"/>
            </a:lnRef>
            <a:fillRef idx="0">
              <a:schemeClr val="accent1"/>
            </a:fillRef>
            <a:effectRef idx="0">
              <a:schemeClr val="accent1"/>
            </a:effectRef>
            <a:fontRef idx="minor">
              <a:schemeClr val="tx1"/>
            </a:fontRef>
          </p:style>
        </p:cxnSp>
        <p:sp>
          <p:nvSpPr>
            <p:cNvPr id="56" name="ZoneTexte 55">
              <a:extLst>
                <a:ext uri="{FF2B5EF4-FFF2-40B4-BE49-F238E27FC236}">
                  <a16:creationId xmlns:a16="http://schemas.microsoft.com/office/drawing/2014/main" id="{F1546231-0892-4956-AC8E-C7E499B72D49}"/>
                </a:ext>
              </a:extLst>
            </p:cNvPr>
            <p:cNvSpPr txBox="1"/>
            <p:nvPr/>
          </p:nvSpPr>
          <p:spPr>
            <a:xfrm>
              <a:off x="4342183" y="4400822"/>
              <a:ext cx="593929" cy="284780"/>
            </a:xfrm>
            <a:prstGeom prst="rect">
              <a:avLst/>
            </a:prstGeom>
            <a:noFill/>
          </p:spPr>
          <p:txBody>
            <a:bodyPr wrap="square" rtlCol="0">
              <a:spAutoFit/>
            </a:bodyPr>
            <a:lstStyle/>
            <a:p>
              <a:r>
                <a:rPr lang="fr-FR" sz="788" dirty="0"/>
                <a:t>Oui</a:t>
              </a:r>
            </a:p>
          </p:txBody>
        </p: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7DE41B71-BC59-4A06-9A8E-BAD680C3E4BC}"/>
                    </a:ext>
                  </a:extLst>
                </p:cNvPr>
                <p:cNvSpPr/>
                <p:nvPr/>
              </p:nvSpPr>
              <p:spPr>
                <a:xfrm>
                  <a:off x="7718885" y="4756810"/>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Pop. = 46</a:t>
                  </a:r>
                </a:p>
                <a:p>
                  <a:pPr algn="ctr"/>
                  <a14:m>
                    <m:oMathPara xmlns:m="http://schemas.openxmlformats.org/officeDocument/2006/math">
                      <m:oMathParaPr>
                        <m:jc m:val="centerGroup"/>
                      </m:oMathParaPr>
                      <m:oMath xmlns:m="http://schemas.openxmlformats.org/officeDocument/2006/math">
                        <m:acc>
                          <m:accPr>
                            <m:chr m:val="̅"/>
                            <m:ctrlPr>
                              <a:rPr lang="fr-FR" sz="825" i="1">
                                <a:solidFill>
                                  <a:schemeClr val="tx1">
                                    <a:lumMod val="50000"/>
                                  </a:schemeClr>
                                </a:solidFill>
                                <a:latin typeface="Cambria Math" panose="02040503050406030204" pitchFamily="18" charset="0"/>
                              </a:rPr>
                            </m:ctrlPr>
                          </m:accPr>
                          <m:e>
                            <m:r>
                              <a:rPr lang="fr-FR" sz="825" i="1">
                                <a:solidFill>
                                  <a:schemeClr val="tx1">
                                    <a:lumMod val="50000"/>
                                  </a:schemeClr>
                                </a:solidFill>
                                <a:latin typeface="Cambria Math" panose="02040503050406030204" pitchFamily="18" charset="0"/>
                              </a:rPr>
                              <m:t>𝑥</m:t>
                            </m:r>
                          </m:e>
                        </m:acc>
                        <m:r>
                          <a:rPr lang="fr-FR" sz="825" i="1">
                            <a:solidFill>
                              <a:schemeClr val="tx1">
                                <a:lumMod val="50000"/>
                              </a:schemeClr>
                            </a:solidFill>
                            <a:latin typeface="Cambria Math" panose="02040503050406030204" pitchFamily="18" charset="0"/>
                          </a:rPr>
                          <m:t>=$9500</m:t>
                        </m:r>
                      </m:oMath>
                    </m:oMathPara>
                  </a14:m>
                  <a:endParaRPr lang="fr-FR" sz="825" dirty="0">
                    <a:solidFill>
                      <a:schemeClr val="tx1">
                        <a:lumMod val="50000"/>
                      </a:schemeClr>
                    </a:solidFill>
                  </a:endParaRPr>
                </a:p>
              </p:txBody>
            </p:sp>
          </mc:Choice>
          <mc:Fallback xmlns="">
            <p:sp>
              <p:nvSpPr>
                <p:cNvPr id="57" name="Rectangle 56">
                  <a:extLst>
                    <a:ext uri="{FF2B5EF4-FFF2-40B4-BE49-F238E27FC236}">
                      <a16:creationId xmlns:a16="http://schemas.microsoft.com/office/drawing/2014/main" id="{7DE41B71-BC59-4A06-9A8E-BAD680C3E4BC}"/>
                    </a:ext>
                  </a:extLst>
                </p:cNvPr>
                <p:cNvSpPr>
                  <a:spLocks noRot="1" noChangeAspect="1" noMove="1" noResize="1" noEditPoints="1" noAdjustHandles="1" noChangeArrowheads="1" noChangeShapeType="1" noTextEdit="1"/>
                </p:cNvSpPr>
                <p:nvPr/>
              </p:nvSpPr>
              <p:spPr>
                <a:xfrm>
                  <a:off x="7718885" y="4756810"/>
                  <a:ext cx="1454399" cy="338554"/>
                </a:xfrm>
                <a:prstGeom prst="rect">
                  <a:avLst/>
                </a:prstGeom>
                <a:blipFill>
                  <a:blip r:embed="rId13"/>
                  <a:stretch>
                    <a:fillRect t="-12281" b="-8772"/>
                  </a:stretch>
                </a:blipFill>
                <a:ln w="9525" cap="flat" cmpd="sng" algn="ctr">
                  <a:solidFill>
                    <a:schemeClr val="accent1"/>
                  </a:solidFill>
                  <a:prstDash val="solid"/>
                  <a:round/>
                  <a:headEnd type="none" w="med" len="med"/>
                  <a:tailEnd type="none" w="med" len="med"/>
                </a:ln>
              </p:spPr>
              <p:txBody>
                <a:bodyPr/>
                <a:lstStyle/>
                <a:p>
                  <a:r>
                    <a:rPr lang="fr-FR">
                      <a:noFill/>
                    </a:rPr>
                    <a:t> </a:t>
                  </a:r>
                </a:p>
              </p:txBody>
            </p:sp>
          </mc:Fallback>
        </mc:AlternateContent>
        <p:cxnSp>
          <p:nvCxnSpPr>
            <p:cNvPr id="58" name="Connecteur droit 57">
              <a:extLst>
                <a:ext uri="{FF2B5EF4-FFF2-40B4-BE49-F238E27FC236}">
                  <a16:creationId xmlns:a16="http://schemas.microsoft.com/office/drawing/2014/main" id="{81E31896-BED1-4557-A2FB-3FFE674F25FE}"/>
                </a:ext>
              </a:extLst>
            </p:cNvPr>
            <p:cNvCxnSpPr>
              <a:cxnSpLocks/>
              <a:stCxn id="57" idx="0"/>
              <a:endCxn id="28" idx="2"/>
            </p:cNvCxnSpPr>
            <p:nvPr/>
          </p:nvCxnSpPr>
          <p:spPr>
            <a:xfrm flipH="1" flipV="1">
              <a:off x="6957390" y="4262966"/>
              <a:ext cx="1488695" cy="493844"/>
            </a:xfrm>
            <a:prstGeom prst="line">
              <a:avLst/>
            </a:prstGeom>
          </p:spPr>
          <p:style>
            <a:lnRef idx="1">
              <a:schemeClr val="accent1"/>
            </a:lnRef>
            <a:fillRef idx="0">
              <a:schemeClr val="accent1"/>
            </a:fillRef>
            <a:effectRef idx="0">
              <a:schemeClr val="accent1"/>
            </a:effectRef>
            <a:fontRef idx="minor">
              <a:schemeClr val="tx1"/>
            </a:fontRef>
          </p:style>
        </p:cxnSp>
        <p:sp>
          <p:nvSpPr>
            <p:cNvPr id="62" name="ZoneTexte 61">
              <a:extLst>
                <a:ext uri="{FF2B5EF4-FFF2-40B4-BE49-F238E27FC236}">
                  <a16:creationId xmlns:a16="http://schemas.microsoft.com/office/drawing/2014/main" id="{06161C76-47F3-4DAD-B2BD-9571C2CDB12B}"/>
                </a:ext>
              </a:extLst>
            </p:cNvPr>
            <p:cNvSpPr txBox="1"/>
            <p:nvPr/>
          </p:nvSpPr>
          <p:spPr>
            <a:xfrm>
              <a:off x="6227021" y="3286484"/>
              <a:ext cx="576127" cy="284780"/>
            </a:xfrm>
            <a:prstGeom prst="rect">
              <a:avLst/>
            </a:prstGeom>
            <a:noFill/>
          </p:spPr>
          <p:txBody>
            <a:bodyPr wrap="square" rtlCol="0">
              <a:spAutoFit/>
            </a:bodyPr>
            <a:lstStyle/>
            <a:p>
              <a:r>
                <a:rPr lang="fr-FR" sz="788" dirty="0"/>
                <a:t>Non</a:t>
              </a:r>
            </a:p>
          </p:txBody>
        </p:sp>
        <p:sp>
          <p:nvSpPr>
            <p:cNvPr id="63" name="ZoneTexte 62">
              <a:extLst>
                <a:ext uri="{FF2B5EF4-FFF2-40B4-BE49-F238E27FC236}">
                  <a16:creationId xmlns:a16="http://schemas.microsoft.com/office/drawing/2014/main" id="{1BCDB8BB-0D8B-4E96-B5C2-8BF60D163144}"/>
                </a:ext>
              </a:extLst>
            </p:cNvPr>
            <p:cNvSpPr txBox="1"/>
            <p:nvPr/>
          </p:nvSpPr>
          <p:spPr>
            <a:xfrm>
              <a:off x="7902905" y="4378206"/>
              <a:ext cx="508883" cy="284780"/>
            </a:xfrm>
            <a:prstGeom prst="rect">
              <a:avLst/>
            </a:prstGeom>
            <a:noFill/>
          </p:spPr>
          <p:txBody>
            <a:bodyPr wrap="square" rtlCol="0">
              <a:spAutoFit/>
            </a:bodyPr>
            <a:lstStyle/>
            <a:p>
              <a:r>
                <a:rPr lang="fr-FR" sz="788" dirty="0"/>
                <a:t>Oui</a:t>
              </a:r>
            </a:p>
          </p:txBody>
        </p:sp>
        <p:sp>
          <p:nvSpPr>
            <p:cNvPr id="64" name="ZoneTexte 63">
              <a:extLst>
                <a:ext uri="{FF2B5EF4-FFF2-40B4-BE49-F238E27FC236}">
                  <a16:creationId xmlns:a16="http://schemas.microsoft.com/office/drawing/2014/main" id="{99A6B130-2A5B-4EB1-B7B4-6165CE3EC50A}"/>
                </a:ext>
              </a:extLst>
            </p:cNvPr>
            <p:cNvSpPr txBox="1"/>
            <p:nvPr/>
          </p:nvSpPr>
          <p:spPr>
            <a:xfrm>
              <a:off x="6093199" y="4431778"/>
              <a:ext cx="576127" cy="284780"/>
            </a:xfrm>
            <a:prstGeom prst="rect">
              <a:avLst/>
            </a:prstGeom>
            <a:noFill/>
          </p:spPr>
          <p:txBody>
            <a:bodyPr wrap="square" rtlCol="0">
              <a:spAutoFit/>
            </a:bodyPr>
            <a:lstStyle/>
            <a:p>
              <a:r>
                <a:rPr lang="fr-FR" sz="788" dirty="0"/>
                <a:t>Non</a:t>
              </a:r>
            </a:p>
          </p:txBody>
        </p:sp>
      </p:grpSp>
      <p:grpSp>
        <p:nvGrpSpPr>
          <p:cNvPr id="74" name="Groupe 73">
            <a:extLst>
              <a:ext uri="{FF2B5EF4-FFF2-40B4-BE49-F238E27FC236}">
                <a16:creationId xmlns:a16="http://schemas.microsoft.com/office/drawing/2014/main" id="{59919C49-B703-4547-9D94-F4DA60265EFC}"/>
              </a:ext>
            </a:extLst>
          </p:cNvPr>
          <p:cNvGrpSpPr/>
          <p:nvPr/>
        </p:nvGrpSpPr>
        <p:grpSpPr>
          <a:xfrm>
            <a:off x="2548247" y="4253220"/>
            <a:ext cx="1401794" cy="549495"/>
            <a:chOff x="3397662" y="5670956"/>
            <a:chExt cx="1869059" cy="732660"/>
          </a:xfrm>
        </p:grpSpPr>
        <mc:AlternateContent xmlns:mc="http://schemas.openxmlformats.org/markup-compatibility/2006" xmlns:a14="http://schemas.microsoft.com/office/drawing/2010/main">
          <mc:Choice Requires="a14">
            <p:sp>
              <p:nvSpPr>
                <p:cNvPr id="72" name="ZoneTexte 71">
                  <a:extLst>
                    <a:ext uri="{FF2B5EF4-FFF2-40B4-BE49-F238E27FC236}">
                      <a16:creationId xmlns:a16="http://schemas.microsoft.com/office/drawing/2014/main" id="{7C11D2F4-2E76-4993-B389-95B6984DA16A}"/>
                    </a:ext>
                  </a:extLst>
                </p:cNvPr>
                <p:cNvSpPr txBox="1"/>
                <p:nvPr/>
              </p:nvSpPr>
              <p:spPr>
                <a:xfrm>
                  <a:off x="3397662" y="5922733"/>
                  <a:ext cx="1615702"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fr-FR" sz="1050" i="1">
                                <a:solidFill>
                                  <a:srgbClr val="836967"/>
                                </a:solidFill>
                                <a:latin typeface="Cambria Math" panose="02040503050406030204" pitchFamily="18" charset="0"/>
                              </a:rPr>
                            </m:ctrlPr>
                          </m:accPr>
                          <m:e>
                            <m:r>
                              <a:rPr lang="fr-FR" sz="1050" i="1">
                                <a:latin typeface="Cambria Math" panose="02040503050406030204" pitchFamily="18" charset="0"/>
                              </a:rPr>
                              <m:t>𝑥</m:t>
                            </m:r>
                            <m:r>
                              <a:rPr lang="fr-FR" sz="1050" i="1">
                                <a:latin typeface="Cambria Math" panose="02040503050406030204" pitchFamily="18" charset="0"/>
                              </a:rPr>
                              <m:t> </m:t>
                            </m:r>
                          </m:e>
                        </m:acc>
                        <m:r>
                          <a:rPr lang="fr-FR" sz="1050" i="1">
                            <a:latin typeface="Cambria Math" panose="02040503050406030204" pitchFamily="18" charset="0"/>
                          </a:rPr>
                          <m:t>: </m:t>
                        </m:r>
                        <m:r>
                          <a:rPr lang="fr-FR" sz="1050" i="1">
                            <a:latin typeface="Cambria Math" panose="02040503050406030204" pitchFamily="18" charset="0"/>
                          </a:rPr>
                          <m:t>𝑝𝑟</m:t>
                        </m:r>
                        <m:r>
                          <a:rPr lang="fr-FR" sz="1050" i="1">
                            <a:latin typeface="Cambria Math" panose="02040503050406030204" pitchFamily="18" charset="0"/>
                          </a:rPr>
                          <m:t>é</m:t>
                        </m:r>
                        <m:r>
                          <a:rPr lang="fr-FR" sz="1050" i="1">
                            <a:latin typeface="Cambria Math" panose="02040503050406030204" pitchFamily="18" charset="0"/>
                          </a:rPr>
                          <m:t>𝑑𝑖𝑐𝑡𝑖𝑜𝑛</m:t>
                        </m:r>
                      </m:oMath>
                    </m:oMathPara>
                  </a14:m>
                  <a:endParaRPr lang="fr-FR" sz="1050" dirty="0"/>
                </a:p>
              </p:txBody>
            </p:sp>
          </mc:Choice>
          <mc:Fallback xmlns="">
            <p:sp>
              <p:nvSpPr>
                <p:cNvPr id="72" name="ZoneTexte 71">
                  <a:extLst>
                    <a:ext uri="{FF2B5EF4-FFF2-40B4-BE49-F238E27FC236}">
                      <a16:creationId xmlns:a16="http://schemas.microsoft.com/office/drawing/2014/main" id="{7C11D2F4-2E76-4993-B389-95B6984DA16A}"/>
                    </a:ext>
                  </a:extLst>
                </p:cNvPr>
                <p:cNvSpPr txBox="1">
                  <a:spLocks noRot="1" noChangeAspect="1" noMove="1" noResize="1" noEditPoints="1" noAdjustHandles="1" noChangeArrowheads="1" noChangeShapeType="1" noTextEdit="1"/>
                </p:cNvSpPr>
                <p:nvPr/>
              </p:nvSpPr>
              <p:spPr>
                <a:xfrm>
                  <a:off x="3397662" y="5922733"/>
                  <a:ext cx="1615702" cy="215444"/>
                </a:xfrm>
                <a:prstGeom prst="rect">
                  <a:avLst/>
                </a:prstGeom>
                <a:blipFill>
                  <a:blip r:embed="rId14"/>
                  <a:stretch>
                    <a:fillRect t="-23077" b="-42308"/>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9" name="ZoneTexte 68">
                  <a:extLst>
                    <a:ext uri="{FF2B5EF4-FFF2-40B4-BE49-F238E27FC236}">
                      <a16:creationId xmlns:a16="http://schemas.microsoft.com/office/drawing/2014/main" id="{4B5ED2D2-3647-4DEA-8FEE-D2EEFB311AE7}"/>
                    </a:ext>
                  </a:extLst>
                </p:cNvPr>
                <p:cNvSpPr txBox="1"/>
                <p:nvPr/>
              </p:nvSpPr>
              <p:spPr>
                <a:xfrm>
                  <a:off x="3651019" y="5670956"/>
                  <a:ext cx="1615702" cy="21544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fr-FR" sz="1050" i="1">
                            <a:latin typeface="Cambria Math" panose="02040503050406030204" pitchFamily="18" charset="0"/>
                          </a:rPr>
                          <m:t>𝑥</m:t>
                        </m:r>
                        <m:r>
                          <a:rPr lang="fr-FR" sz="1050" i="1">
                            <a:latin typeface="Cambria Math" panose="02040503050406030204" pitchFamily="18" charset="0"/>
                          </a:rPr>
                          <m:t> :</m:t>
                        </m:r>
                        <m:r>
                          <a:rPr lang="fr-FR" sz="1050" i="1">
                            <a:latin typeface="Cambria Math" panose="02040503050406030204" pitchFamily="18" charset="0"/>
                          </a:rPr>
                          <m:t>𝑣𝑎𝑙𝑒𝑢𝑟𝑠</m:t>
                        </m:r>
                        <m:r>
                          <a:rPr lang="fr-FR" sz="1050" i="1">
                            <a:latin typeface="Cambria Math" panose="02040503050406030204" pitchFamily="18" charset="0"/>
                          </a:rPr>
                          <m:t> </m:t>
                        </m:r>
                        <m:r>
                          <a:rPr lang="fr-FR" sz="1050" i="1">
                            <a:latin typeface="Cambria Math" panose="02040503050406030204" pitchFamily="18" charset="0"/>
                          </a:rPr>
                          <m:t>𝑟</m:t>
                        </m:r>
                        <m:r>
                          <a:rPr lang="fr-FR" sz="1050" i="1">
                            <a:latin typeface="Cambria Math" panose="02040503050406030204" pitchFamily="18" charset="0"/>
                          </a:rPr>
                          <m:t>é</m:t>
                        </m:r>
                        <m:r>
                          <a:rPr lang="fr-FR" sz="1050" i="1">
                            <a:latin typeface="Cambria Math" panose="02040503050406030204" pitchFamily="18" charset="0"/>
                          </a:rPr>
                          <m:t>𝑒𝑙𝑙𝑒𝑠</m:t>
                        </m:r>
                      </m:oMath>
                    </m:oMathPara>
                  </a14:m>
                  <a:endParaRPr lang="fr-FR" sz="1050" dirty="0"/>
                </a:p>
              </p:txBody>
            </p:sp>
          </mc:Choice>
          <mc:Fallback xmlns="">
            <p:sp>
              <p:nvSpPr>
                <p:cNvPr id="69" name="ZoneTexte 68">
                  <a:extLst>
                    <a:ext uri="{FF2B5EF4-FFF2-40B4-BE49-F238E27FC236}">
                      <a16:creationId xmlns:a16="http://schemas.microsoft.com/office/drawing/2014/main" id="{4B5ED2D2-3647-4DEA-8FEE-D2EEFB311AE7}"/>
                    </a:ext>
                  </a:extLst>
                </p:cNvPr>
                <p:cNvSpPr txBox="1">
                  <a:spLocks noRot="1" noChangeAspect="1" noMove="1" noResize="1" noEditPoints="1" noAdjustHandles="1" noChangeArrowheads="1" noChangeShapeType="1" noTextEdit="1"/>
                </p:cNvSpPr>
                <p:nvPr/>
              </p:nvSpPr>
              <p:spPr>
                <a:xfrm>
                  <a:off x="3651019" y="5670956"/>
                  <a:ext cx="1615702" cy="215444"/>
                </a:xfrm>
                <a:prstGeom prst="rect">
                  <a:avLst/>
                </a:prstGeom>
                <a:blipFill>
                  <a:blip r:embed="rId15"/>
                  <a:stretch>
                    <a:fillRect l="-2513" b="-11538"/>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0" name="ZoneTexte 69">
                  <a:extLst>
                    <a:ext uri="{FF2B5EF4-FFF2-40B4-BE49-F238E27FC236}">
                      <a16:creationId xmlns:a16="http://schemas.microsoft.com/office/drawing/2014/main" id="{497993E7-665E-474B-AFC6-D68569A9CED5}"/>
                    </a:ext>
                  </a:extLst>
                </p:cNvPr>
                <p:cNvSpPr txBox="1"/>
                <p:nvPr/>
              </p:nvSpPr>
              <p:spPr>
                <a:xfrm>
                  <a:off x="3494215" y="6188172"/>
                  <a:ext cx="128216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fr-FR" sz="1050" i="1">
                                <a:solidFill>
                                  <a:srgbClr val="836967"/>
                                </a:solidFill>
                                <a:latin typeface="Cambria Math" panose="02040503050406030204" pitchFamily="18" charset="0"/>
                              </a:rPr>
                            </m:ctrlPr>
                          </m:accPr>
                          <m:e>
                            <m:r>
                              <a:rPr lang="fr-FR" sz="1050" i="1">
                                <a:latin typeface="Cambria Math" panose="02040503050406030204" pitchFamily="18" charset="0"/>
                              </a:rPr>
                              <m:t>𝑥</m:t>
                            </m:r>
                          </m:e>
                        </m:acc>
                        <m:r>
                          <a:rPr lang="fr-FR" sz="1050" i="1">
                            <a:latin typeface="Cambria Math" panose="02040503050406030204" pitchFamily="18" charset="0"/>
                          </a:rPr>
                          <m:t> :</m:t>
                        </m:r>
                        <m:r>
                          <a:rPr lang="fr-FR" sz="1050" i="1">
                            <a:latin typeface="Cambria Math" panose="02040503050406030204" pitchFamily="18" charset="0"/>
                          </a:rPr>
                          <m:t>𝑚𝑜𝑦𝑒𝑛𝑛𝑒</m:t>
                        </m:r>
                      </m:oMath>
                    </m:oMathPara>
                  </a14:m>
                  <a:endParaRPr lang="fr-FR" sz="1050" dirty="0"/>
                </a:p>
              </p:txBody>
            </p:sp>
          </mc:Choice>
          <mc:Fallback xmlns="">
            <p:sp>
              <p:nvSpPr>
                <p:cNvPr id="70" name="ZoneTexte 69">
                  <a:extLst>
                    <a:ext uri="{FF2B5EF4-FFF2-40B4-BE49-F238E27FC236}">
                      <a16:creationId xmlns:a16="http://schemas.microsoft.com/office/drawing/2014/main" id="{497993E7-665E-474B-AFC6-D68569A9CED5}"/>
                    </a:ext>
                  </a:extLst>
                </p:cNvPr>
                <p:cNvSpPr txBox="1">
                  <a:spLocks noRot="1" noChangeAspect="1" noMove="1" noResize="1" noEditPoints="1" noAdjustHandles="1" noChangeArrowheads="1" noChangeShapeType="1" noTextEdit="1"/>
                </p:cNvSpPr>
                <p:nvPr/>
              </p:nvSpPr>
              <p:spPr>
                <a:xfrm>
                  <a:off x="3494215" y="6188172"/>
                  <a:ext cx="1282166" cy="215444"/>
                </a:xfrm>
                <a:prstGeom prst="rect">
                  <a:avLst/>
                </a:prstGeom>
                <a:blipFill>
                  <a:blip r:embed="rId16"/>
                  <a:stretch>
                    <a:fillRect b="-25926"/>
                  </a:stretch>
                </a:blipFill>
              </p:spPr>
              <p:txBody>
                <a:bodyPr/>
                <a:lstStyle/>
                <a:p>
                  <a:r>
                    <a:rPr lang="fr-FR">
                      <a:noFill/>
                    </a:rPr>
                    <a:t> </a:t>
                  </a:r>
                </a:p>
              </p:txBody>
            </p:sp>
          </mc:Fallback>
        </mc:AlternateContent>
      </p:grpSp>
    </p:spTree>
    <p:extLst>
      <p:ext uri="{BB962C8B-B14F-4D97-AF65-F5344CB8AC3E}">
        <p14:creationId xmlns:p14="http://schemas.microsoft.com/office/powerpoint/2010/main" val="248309039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145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Arbre de décision : </a:t>
            </a:r>
            <a:r>
              <a:rPr lang="fr-FR" sz="2100" b="0" dirty="0"/>
              <a:t>pureté de l’arbre, MSE</a:t>
            </a:r>
          </a:p>
        </p:txBody>
      </p:sp>
      <mc:AlternateContent xmlns:mc="http://schemas.openxmlformats.org/markup-compatibility/2006" xmlns:a14="http://schemas.microsoft.com/office/drawing/2010/main">
        <mc:Choice Requires="a14">
          <p:sp>
            <p:nvSpPr>
              <p:cNvPr id="34" name="Content Placeholder 15">
                <a:extLst>
                  <a:ext uri="{FF2B5EF4-FFF2-40B4-BE49-F238E27FC236}">
                    <a16:creationId xmlns:a16="http://schemas.microsoft.com/office/drawing/2014/main" id="{5CA3829C-38C2-421F-A32C-BE3012CE3B26}"/>
                  </a:ext>
                </a:extLst>
              </p:cNvPr>
              <p:cNvSpPr>
                <a:spLocks noGrp="1"/>
              </p:cNvSpPr>
              <p:nvPr>
                <p:ph sz="half" idx="13"/>
              </p:nvPr>
            </p:nvSpPr>
            <p:spPr>
              <a:xfrm>
                <a:off x="746911" y="1391970"/>
                <a:ext cx="5891400" cy="2836136"/>
              </a:xfrm>
            </p:spPr>
            <p:txBody>
              <a:bodyPr>
                <a:normAutofit fontScale="70000" lnSpcReduction="20000"/>
              </a:bodyPr>
              <a:lstStyle/>
              <a:p>
                <a:pPr lvl="1" algn="just">
                  <a:lnSpc>
                    <a:spcPct val="150000"/>
                  </a:lnSpc>
                  <a:buClr>
                    <a:schemeClr val="accent2"/>
                  </a:buClr>
                </a:pPr>
                <a:r>
                  <a:rPr lang="fr-FR" dirty="0"/>
                  <a:t>Ici, pas de critère Gini.</a:t>
                </a:r>
              </a:p>
              <a:p>
                <a:pPr lvl="1" algn="just">
                  <a:lnSpc>
                    <a:spcPct val="150000"/>
                  </a:lnSpc>
                  <a:buClr>
                    <a:schemeClr val="accent2"/>
                  </a:buClr>
                </a:pPr>
                <a:r>
                  <a:rPr lang="fr-FR" dirty="0"/>
                  <a:t>On calcule l’erreur moyenne de prédiction.</a:t>
                </a:r>
              </a:p>
              <a:p>
                <a:pPr lvl="1" algn="just">
                  <a:lnSpc>
                    <a:spcPct val="150000"/>
                  </a:lnSpc>
                  <a:buClr>
                    <a:schemeClr val="accent2"/>
                  </a:buClr>
                </a:pPr>
                <a14:m>
                  <m:oMath xmlns:m="http://schemas.openxmlformats.org/officeDocument/2006/math">
                    <m:r>
                      <a:rPr lang="fr-FR" b="0" i="1" smtClean="0">
                        <a:latin typeface="Cambria Math" panose="02040503050406030204" pitchFamily="18" charset="0"/>
                      </a:rPr>
                      <m:t>𝑀𝑆𝐸</m:t>
                    </m:r>
                    <m:r>
                      <a:rPr lang="fr-FR" b="0" i="1" smtClean="0">
                        <a:latin typeface="Cambria Math" panose="02040503050406030204" pitchFamily="18" charset="0"/>
                      </a:rPr>
                      <m:t>= </m:t>
                    </m:r>
                    <m:f>
                      <m:fPr>
                        <m:ctrlPr>
                          <a:rPr lang="fr-FR" b="0" i="1" smtClean="0">
                            <a:latin typeface="Cambria Math" panose="02040503050406030204" pitchFamily="18" charset="0"/>
                          </a:rPr>
                        </m:ctrlPr>
                      </m:fPr>
                      <m:num>
                        <m:r>
                          <a:rPr lang="fr-FR" b="0" i="1" smtClean="0">
                            <a:latin typeface="Cambria Math" panose="02040503050406030204" pitchFamily="18" charset="0"/>
                          </a:rPr>
                          <m:t>1</m:t>
                        </m:r>
                      </m:num>
                      <m:den>
                        <m:r>
                          <a:rPr lang="fr-FR" b="0" i="1" smtClean="0">
                            <a:latin typeface="Cambria Math" panose="02040503050406030204" pitchFamily="18" charset="0"/>
                          </a:rPr>
                          <m:t>𝑛</m:t>
                        </m:r>
                      </m:den>
                    </m:f>
                    <m:nary>
                      <m:naryPr>
                        <m:chr m:val="∑"/>
                        <m:ctrlPr>
                          <a:rPr lang="fr-FR" b="0" i="1" smtClean="0">
                            <a:latin typeface="Cambria Math" panose="02040503050406030204" pitchFamily="18" charset="0"/>
                          </a:rPr>
                        </m:ctrlPr>
                      </m:naryPr>
                      <m:sub>
                        <m:r>
                          <m:rPr>
                            <m:brk m:alnAt="23"/>
                          </m:rPr>
                          <a:rPr lang="fr-FR" b="0" i="1" smtClean="0">
                            <a:latin typeface="Cambria Math" panose="02040503050406030204" pitchFamily="18" charset="0"/>
                          </a:rPr>
                          <m:t>𝑖</m:t>
                        </m:r>
                        <m:r>
                          <a:rPr lang="fr-FR" b="0" i="1" smtClean="0">
                            <a:latin typeface="Cambria Math" panose="02040503050406030204" pitchFamily="18" charset="0"/>
                          </a:rPr>
                          <m:t>=1</m:t>
                        </m:r>
                      </m:sub>
                      <m:sup>
                        <m:r>
                          <a:rPr lang="fr-FR" b="0" i="1" smtClean="0">
                            <a:latin typeface="Cambria Math" panose="02040503050406030204" pitchFamily="18" charset="0"/>
                          </a:rPr>
                          <m:t>𝑛</m:t>
                        </m:r>
                      </m:sup>
                      <m:e>
                        <m:sSup>
                          <m:sSupPr>
                            <m:ctrlPr>
                              <a:rPr lang="fr-FR" b="0" i="1" smtClean="0">
                                <a:latin typeface="Cambria Math" panose="02040503050406030204" pitchFamily="18" charset="0"/>
                              </a:rPr>
                            </m:ctrlPr>
                          </m:sSupPr>
                          <m:e>
                            <m:d>
                              <m:dPr>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a:rPr lang="fr-FR" b="0" i="1" smtClean="0">
                                        <a:latin typeface="Cambria Math" panose="02040503050406030204" pitchFamily="18" charset="0"/>
                                      </a:rPr>
                                      <m:t>𝑌</m:t>
                                    </m:r>
                                  </m:e>
                                  <m:sub>
                                    <m:r>
                                      <a:rPr lang="fr-FR" b="0" i="1" smtClean="0">
                                        <a:latin typeface="Cambria Math" panose="02040503050406030204" pitchFamily="18" charset="0"/>
                                      </a:rPr>
                                      <m:t>𝑖</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acc>
                                      <m:accPr>
                                        <m:chr m:val="̂"/>
                                        <m:ctrlPr>
                                          <a:rPr lang="fr-FR" b="0" i="1" smtClean="0">
                                            <a:latin typeface="Cambria Math" panose="02040503050406030204" pitchFamily="18" charset="0"/>
                                          </a:rPr>
                                        </m:ctrlPr>
                                      </m:accPr>
                                      <m:e>
                                        <m:r>
                                          <a:rPr lang="fr-FR" b="0" i="1" smtClean="0">
                                            <a:latin typeface="Cambria Math" panose="02040503050406030204" pitchFamily="18" charset="0"/>
                                          </a:rPr>
                                          <m:t>𝑌</m:t>
                                        </m:r>
                                      </m:e>
                                    </m:acc>
                                  </m:e>
                                  <m:sub>
                                    <m:r>
                                      <a:rPr lang="fr-FR" b="0" i="1" smtClean="0">
                                        <a:latin typeface="Cambria Math" panose="02040503050406030204" pitchFamily="18" charset="0"/>
                                      </a:rPr>
                                      <m:t>𝑖</m:t>
                                    </m:r>
                                  </m:sub>
                                </m:sSub>
                              </m:e>
                            </m:d>
                          </m:e>
                          <m:sup>
                            <m:r>
                              <a:rPr lang="fr-FR" b="0" i="1" smtClean="0">
                                <a:latin typeface="Cambria Math" panose="02040503050406030204" pitchFamily="18" charset="0"/>
                              </a:rPr>
                              <m:t>2</m:t>
                            </m:r>
                          </m:sup>
                        </m:sSup>
                      </m:e>
                    </m:nary>
                  </m:oMath>
                </a14:m>
                <a:endParaRPr lang="fr-FR" b="0" dirty="0"/>
              </a:p>
              <a:p>
                <a:pPr lvl="1" algn="just">
                  <a:lnSpc>
                    <a:spcPct val="150000"/>
                  </a:lnSpc>
                  <a:buClr>
                    <a:schemeClr val="accent2"/>
                  </a:buClr>
                </a:pPr>
                <a:r>
                  <a:rPr lang="fr-FR" dirty="0"/>
                  <a:t>Cette métrique nous indique dans quelle mesure les prédictions s’écartent des valeurs réelles.</a:t>
                </a:r>
              </a:p>
              <a:p>
                <a:pPr lvl="1" algn="just">
                  <a:lnSpc>
                    <a:spcPct val="150000"/>
                  </a:lnSpc>
                  <a:buClr>
                    <a:schemeClr val="accent2"/>
                  </a:buClr>
                </a:pPr>
                <a:r>
                  <a:rPr lang="fr-FR" dirty="0"/>
                  <a:t>Ce critère est à minimiser.</a:t>
                </a:r>
                <a:endParaRPr lang="fr-FR" b="0" dirty="0"/>
              </a:p>
            </p:txBody>
          </p:sp>
        </mc:Choice>
        <mc:Fallback xmlns="">
          <p:sp>
            <p:nvSpPr>
              <p:cNvPr id="34" name="Content Placeholder 15">
                <a:extLst>
                  <a:ext uri="{FF2B5EF4-FFF2-40B4-BE49-F238E27FC236}">
                    <a16:creationId xmlns:a16="http://schemas.microsoft.com/office/drawing/2014/main" id="{5CA3829C-38C2-421F-A32C-BE3012CE3B26}"/>
                  </a:ext>
                </a:extLst>
              </p:cNvPr>
              <p:cNvSpPr>
                <a:spLocks noGrp="1" noRot="1" noChangeAspect="1" noMove="1" noResize="1" noEditPoints="1" noAdjustHandles="1" noChangeArrowheads="1" noChangeShapeType="1" noTextEdit="1"/>
              </p:cNvSpPr>
              <p:nvPr>
                <p:ph sz="half" idx="13"/>
              </p:nvPr>
            </p:nvSpPr>
            <p:spPr>
              <a:xfrm>
                <a:off x="746911" y="1391970"/>
                <a:ext cx="5891400" cy="2836136"/>
              </a:xfrm>
              <a:blipFill>
                <a:blip r:embed="rId2"/>
                <a:stretch>
                  <a:fillRect t="-858" r="-2174"/>
                </a:stretch>
              </a:blipFill>
            </p:spPr>
            <p:txBody>
              <a:bodyPr/>
              <a:lstStyle/>
              <a:p>
                <a:r>
                  <a:rPr lang="fr-FR">
                    <a:noFill/>
                  </a:rPr>
                  <a:t> </a:t>
                </a:r>
              </a:p>
            </p:txBody>
          </p:sp>
        </mc:Fallback>
      </mc:AlternateContent>
    </p:spTree>
    <p:extLst>
      <p:ext uri="{BB962C8B-B14F-4D97-AF65-F5344CB8AC3E}">
        <p14:creationId xmlns:p14="http://schemas.microsoft.com/office/powerpoint/2010/main" val="102106736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Random Forest</a:t>
            </a:r>
          </a:p>
        </p:txBody>
      </p:sp>
    </p:spTree>
    <p:extLst>
      <p:ext uri="{BB962C8B-B14F-4D97-AF65-F5344CB8AC3E}">
        <p14:creationId xmlns:p14="http://schemas.microsoft.com/office/powerpoint/2010/main" val="191007525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147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a:t>
            </a:r>
            <a:endParaRPr lang="fr-FR" sz="2100" b="0" dirty="0"/>
          </a:p>
        </p:txBody>
      </p:sp>
      <p:sp>
        <p:nvSpPr>
          <p:cNvPr id="7" name="Freeform: Shape 32">
            <a:extLst>
              <a:ext uri="{FF2B5EF4-FFF2-40B4-BE49-F238E27FC236}">
                <a16:creationId xmlns:a16="http://schemas.microsoft.com/office/drawing/2014/main" id="{8D323D6F-43A3-43BB-A261-38F4A7B24CE5}"/>
              </a:ext>
            </a:extLst>
          </p:cNvPr>
          <p:cNvSpPr/>
          <p:nvPr/>
        </p:nvSpPr>
        <p:spPr>
          <a:xfrm>
            <a:off x="2481738" y="3153440"/>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3">
              <a:lumMod val="75000"/>
            </a:schemeClr>
          </a:solidFill>
          <a:ln w="12700">
            <a:miter lim="400000"/>
          </a:ln>
        </p:spPr>
        <p:txBody>
          <a:bodyPr wrap="square" lIns="720090" tIns="21431" rIns="21431" bIns="21431" anchor="ctr">
            <a:noAutofit/>
          </a:bodyPr>
          <a:lstStyle/>
          <a:p>
            <a:pPr>
              <a:lnSpc>
                <a:spcPts val="900"/>
              </a:lnSpc>
            </a:pPr>
            <a:r>
              <a:rPr lang="en-US" sz="788" noProof="1">
                <a:solidFill>
                  <a:srgbClr val="FFFFFF"/>
                </a:solidFill>
              </a:rPr>
              <a:t>Code Python</a:t>
            </a:r>
          </a:p>
        </p:txBody>
      </p:sp>
      <p:sp>
        <p:nvSpPr>
          <p:cNvPr id="8" name="Freeform: Shape 30">
            <a:extLst>
              <a:ext uri="{FF2B5EF4-FFF2-40B4-BE49-F238E27FC236}">
                <a16:creationId xmlns:a16="http://schemas.microsoft.com/office/drawing/2014/main" id="{5B0C4411-C38B-4276-B1AF-42ED15449A8D}"/>
              </a:ext>
            </a:extLst>
          </p:cNvPr>
          <p:cNvSpPr/>
          <p:nvPr/>
        </p:nvSpPr>
        <p:spPr>
          <a:xfrm>
            <a:off x="2481738" y="2814000"/>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5">
              <a:lumMod val="75000"/>
            </a:schemeClr>
          </a:solidFill>
          <a:ln w="12700">
            <a:miter lim="400000"/>
          </a:ln>
        </p:spPr>
        <p:txBody>
          <a:bodyPr wrap="square" lIns="874395" tIns="21431" rIns="21431" bIns="21431" anchor="ctr">
            <a:noAutofit/>
          </a:bodyPr>
          <a:lstStyle/>
          <a:p>
            <a:pPr>
              <a:lnSpc>
                <a:spcPts val="900"/>
              </a:lnSpc>
            </a:pPr>
            <a:r>
              <a:rPr lang="en-US" sz="788" noProof="1">
                <a:solidFill>
                  <a:srgbClr val="FFFFFF"/>
                </a:solidFill>
              </a:rPr>
              <a:t>Avantages et inconvénients</a:t>
            </a:r>
          </a:p>
        </p:txBody>
      </p:sp>
      <p:sp>
        <p:nvSpPr>
          <p:cNvPr id="9" name="Freeform: Shape 28">
            <a:extLst>
              <a:ext uri="{FF2B5EF4-FFF2-40B4-BE49-F238E27FC236}">
                <a16:creationId xmlns:a16="http://schemas.microsoft.com/office/drawing/2014/main" id="{3082E7F3-8E97-45EB-9F35-5B94A21F25C2}"/>
              </a:ext>
            </a:extLst>
          </p:cNvPr>
          <p:cNvSpPr/>
          <p:nvPr/>
        </p:nvSpPr>
        <p:spPr>
          <a:xfrm>
            <a:off x="2481738" y="2474559"/>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2">
              <a:lumMod val="75000"/>
            </a:schemeClr>
          </a:solidFill>
          <a:ln w="12700">
            <a:miter lim="400000"/>
          </a:ln>
        </p:spPr>
        <p:txBody>
          <a:bodyPr wrap="square" lIns="977265" tIns="21431" rIns="21431" bIns="21431" anchor="ctr">
            <a:noAutofit/>
          </a:bodyPr>
          <a:lstStyle/>
          <a:p>
            <a:pPr>
              <a:lnSpc>
                <a:spcPts val="900"/>
              </a:lnSpc>
            </a:pPr>
            <a:r>
              <a:rPr lang="en-US" sz="788" noProof="1">
                <a:solidFill>
                  <a:srgbClr val="FFFFFF"/>
                </a:solidFill>
              </a:rPr>
              <a:t>Fine tuning</a:t>
            </a:r>
          </a:p>
        </p:txBody>
      </p:sp>
      <p:sp>
        <p:nvSpPr>
          <p:cNvPr id="10" name="Freeform: Shape 26">
            <a:extLst>
              <a:ext uri="{FF2B5EF4-FFF2-40B4-BE49-F238E27FC236}">
                <a16:creationId xmlns:a16="http://schemas.microsoft.com/office/drawing/2014/main" id="{165E2F83-5BFA-440D-A36A-6048E93E7B7F}"/>
              </a:ext>
            </a:extLst>
          </p:cNvPr>
          <p:cNvSpPr/>
          <p:nvPr/>
        </p:nvSpPr>
        <p:spPr>
          <a:xfrm>
            <a:off x="2481738" y="2135119"/>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6">
              <a:lumMod val="75000"/>
            </a:schemeClr>
          </a:solidFill>
          <a:ln w="12700">
            <a:miter lim="400000"/>
          </a:ln>
        </p:spPr>
        <p:txBody>
          <a:bodyPr wrap="square" lIns="874395" tIns="21431" rIns="21431" bIns="21431" anchor="ctr">
            <a:noAutofit/>
          </a:bodyPr>
          <a:lstStyle/>
          <a:p>
            <a:pPr>
              <a:lnSpc>
                <a:spcPts val="900"/>
              </a:lnSpc>
            </a:pPr>
            <a:r>
              <a:rPr lang="en-US" sz="788" noProof="1">
                <a:solidFill>
                  <a:srgbClr val="FFFFFF"/>
                </a:solidFill>
              </a:rPr>
              <a:t>Représentation graphique</a:t>
            </a:r>
          </a:p>
        </p:txBody>
      </p:sp>
      <p:sp>
        <p:nvSpPr>
          <p:cNvPr id="11" name="Freeform: Shape 24">
            <a:extLst>
              <a:ext uri="{FF2B5EF4-FFF2-40B4-BE49-F238E27FC236}">
                <a16:creationId xmlns:a16="http://schemas.microsoft.com/office/drawing/2014/main" id="{1F9CF6AA-6B5F-4C96-8772-4AD98C60724B}"/>
              </a:ext>
            </a:extLst>
          </p:cNvPr>
          <p:cNvSpPr/>
          <p:nvPr/>
        </p:nvSpPr>
        <p:spPr>
          <a:xfrm>
            <a:off x="2481738" y="1795678"/>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4">
              <a:lumMod val="75000"/>
            </a:schemeClr>
          </a:solidFill>
          <a:ln w="12700">
            <a:miter lim="400000"/>
          </a:ln>
        </p:spPr>
        <p:txBody>
          <a:bodyPr wrap="square" lIns="720090" tIns="21431" rIns="21431" bIns="21431" anchor="ctr">
            <a:noAutofit/>
          </a:bodyPr>
          <a:lstStyle/>
          <a:p>
            <a:pPr>
              <a:lnSpc>
                <a:spcPts val="900"/>
              </a:lnSpc>
            </a:pPr>
            <a:r>
              <a:rPr lang="en-US" sz="788" noProof="1">
                <a:solidFill>
                  <a:schemeClr val="bg1"/>
                </a:solidFill>
              </a:rPr>
              <a:t>Intuition</a:t>
            </a:r>
          </a:p>
        </p:txBody>
      </p:sp>
      <p:sp>
        <p:nvSpPr>
          <p:cNvPr id="12" name="Shape">
            <a:extLst>
              <a:ext uri="{FF2B5EF4-FFF2-40B4-BE49-F238E27FC236}">
                <a16:creationId xmlns:a16="http://schemas.microsoft.com/office/drawing/2014/main" id="{C1F4D004-0AD6-4D76-9D13-64FFF5AC0721}"/>
              </a:ext>
            </a:extLst>
          </p:cNvPr>
          <p:cNvSpPr/>
          <p:nvPr/>
        </p:nvSpPr>
        <p:spPr>
          <a:xfrm>
            <a:off x="2267940" y="3153440"/>
            <a:ext cx="837287"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16638" y="21600"/>
                </a:lnTo>
                <a:cubicBezTo>
                  <a:pt x="18614" y="15120"/>
                  <a:pt x="20298" y="7920"/>
                  <a:pt x="21600" y="0"/>
                </a:cubicBezTo>
                <a:lnTo>
                  <a:pt x="3705" y="0"/>
                </a:lnTo>
                <a:cubicBezTo>
                  <a:pt x="1662" y="0"/>
                  <a:pt x="0" y="4844"/>
                  <a:pt x="0" y="10800"/>
                </a:cubicBezTo>
                <a:close/>
              </a:path>
            </a:pathLst>
          </a:custGeom>
          <a:solidFill>
            <a:schemeClr val="accent3"/>
          </a:solidFill>
          <a:ln w="12700">
            <a:miter lim="400000"/>
          </a:ln>
        </p:spPr>
        <p:txBody>
          <a:bodyPr lIns="21431" tIns="21431" rIns="21431" bIns="21431" anchor="ctr"/>
          <a:lstStyle/>
          <a:p>
            <a:pPr>
              <a:defRPr sz="3000">
                <a:solidFill>
                  <a:srgbClr val="FFFFFF"/>
                </a:solidFill>
              </a:defRPr>
            </a:pPr>
            <a:endParaRPr sz="1688" dirty="0"/>
          </a:p>
        </p:txBody>
      </p:sp>
      <p:sp>
        <p:nvSpPr>
          <p:cNvPr id="13" name="Shape">
            <a:extLst>
              <a:ext uri="{FF2B5EF4-FFF2-40B4-BE49-F238E27FC236}">
                <a16:creationId xmlns:a16="http://schemas.microsoft.com/office/drawing/2014/main" id="{B02504A0-64A8-44DD-A3D7-C4176D7E387A}"/>
              </a:ext>
            </a:extLst>
          </p:cNvPr>
          <p:cNvSpPr/>
          <p:nvPr/>
        </p:nvSpPr>
        <p:spPr>
          <a:xfrm>
            <a:off x="2267939" y="2814000"/>
            <a:ext cx="943470"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19707" y="21600"/>
                </a:lnTo>
                <a:cubicBezTo>
                  <a:pt x="20584" y="14793"/>
                  <a:pt x="21241" y="7527"/>
                  <a:pt x="21600" y="0"/>
                </a:cubicBezTo>
                <a:lnTo>
                  <a:pt x="3288" y="0"/>
                </a:lnTo>
                <a:cubicBezTo>
                  <a:pt x="1475" y="0"/>
                  <a:pt x="0" y="4844"/>
                  <a:pt x="0" y="10800"/>
                </a:cubicBezTo>
                <a:close/>
              </a:path>
            </a:pathLst>
          </a:custGeom>
          <a:solidFill>
            <a:schemeClr val="accent5"/>
          </a:solidFill>
          <a:ln w="12700">
            <a:miter lim="400000"/>
          </a:ln>
        </p:spPr>
        <p:txBody>
          <a:bodyPr lIns="21431" tIns="21431" rIns="21431" bIns="21431" anchor="ctr"/>
          <a:lstStyle/>
          <a:p>
            <a:pPr>
              <a:defRPr sz="3000">
                <a:solidFill>
                  <a:srgbClr val="FFFFFF"/>
                </a:solidFill>
              </a:defRPr>
            </a:pPr>
            <a:endParaRPr sz="1688" dirty="0"/>
          </a:p>
        </p:txBody>
      </p:sp>
      <p:sp>
        <p:nvSpPr>
          <p:cNvPr id="15" name="Shape">
            <a:extLst>
              <a:ext uri="{FF2B5EF4-FFF2-40B4-BE49-F238E27FC236}">
                <a16:creationId xmlns:a16="http://schemas.microsoft.com/office/drawing/2014/main" id="{9105B451-33EA-4FD9-882C-AF67B0CC291E}"/>
              </a:ext>
            </a:extLst>
          </p:cNvPr>
          <p:cNvSpPr/>
          <p:nvPr/>
        </p:nvSpPr>
        <p:spPr>
          <a:xfrm>
            <a:off x="2267939" y="2474559"/>
            <a:ext cx="960009"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49" y="21600"/>
                  <a:pt x="3231" y="21600"/>
                </a:cubicBezTo>
                <a:lnTo>
                  <a:pt x="21404" y="21600"/>
                </a:lnTo>
                <a:cubicBezTo>
                  <a:pt x="21522" y="18065"/>
                  <a:pt x="21600" y="14465"/>
                  <a:pt x="21600" y="10800"/>
                </a:cubicBezTo>
                <a:cubicBezTo>
                  <a:pt x="21600" y="7135"/>
                  <a:pt x="21541" y="3535"/>
                  <a:pt x="21404" y="0"/>
                </a:cubicBezTo>
                <a:lnTo>
                  <a:pt x="3231" y="0"/>
                </a:lnTo>
                <a:cubicBezTo>
                  <a:pt x="1449" y="0"/>
                  <a:pt x="0" y="4844"/>
                  <a:pt x="0" y="10800"/>
                </a:cubicBezTo>
                <a:close/>
              </a:path>
            </a:pathLst>
          </a:custGeom>
          <a:solidFill>
            <a:schemeClr val="accent2"/>
          </a:solidFill>
          <a:ln w="12700">
            <a:miter lim="400000"/>
          </a:ln>
        </p:spPr>
        <p:txBody>
          <a:bodyPr lIns="21431" tIns="21431" rIns="21431" bIns="21431" anchor="ctr"/>
          <a:lstStyle/>
          <a:p>
            <a:pPr>
              <a:defRPr sz="3000">
                <a:solidFill>
                  <a:srgbClr val="FFFFFF"/>
                </a:solidFill>
              </a:defRPr>
            </a:pPr>
            <a:endParaRPr sz="1688" dirty="0"/>
          </a:p>
        </p:txBody>
      </p:sp>
      <p:sp>
        <p:nvSpPr>
          <p:cNvPr id="16" name="Shape">
            <a:extLst>
              <a:ext uri="{FF2B5EF4-FFF2-40B4-BE49-F238E27FC236}">
                <a16:creationId xmlns:a16="http://schemas.microsoft.com/office/drawing/2014/main" id="{ECB995B6-B538-415C-9E37-6EB9C9026DA0}"/>
              </a:ext>
            </a:extLst>
          </p:cNvPr>
          <p:cNvSpPr/>
          <p:nvPr/>
        </p:nvSpPr>
        <p:spPr>
          <a:xfrm>
            <a:off x="2267939" y="2135119"/>
            <a:ext cx="943470"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21600" y="21600"/>
                </a:lnTo>
                <a:cubicBezTo>
                  <a:pt x="21241" y="14073"/>
                  <a:pt x="20584" y="6807"/>
                  <a:pt x="19707" y="0"/>
                </a:cubicBezTo>
                <a:lnTo>
                  <a:pt x="3288" y="0"/>
                </a:lnTo>
                <a:cubicBezTo>
                  <a:pt x="1475" y="0"/>
                  <a:pt x="0" y="4844"/>
                  <a:pt x="0" y="10800"/>
                </a:cubicBezTo>
                <a:close/>
              </a:path>
            </a:pathLst>
          </a:custGeom>
          <a:solidFill>
            <a:schemeClr val="accent6"/>
          </a:solidFill>
          <a:ln w="12700">
            <a:miter lim="400000"/>
          </a:ln>
        </p:spPr>
        <p:txBody>
          <a:bodyPr lIns="21431" tIns="21431" rIns="21431" bIns="21431" anchor="ctr"/>
          <a:lstStyle/>
          <a:p>
            <a:pPr>
              <a:defRPr sz="3000">
                <a:solidFill>
                  <a:srgbClr val="FFFFFF"/>
                </a:solidFill>
              </a:defRPr>
            </a:pPr>
            <a:endParaRPr sz="1688" dirty="0"/>
          </a:p>
        </p:txBody>
      </p:sp>
      <p:sp>
        <p:nvSpPr>
          <p:cNvPr id="17" name="Shape">
            <a:extLst>
              <a:ext uri="{FF2B5EF4-FFF2-40B4-BE49-F238E27FC236}">
                <a16:creationId xmlns:a16="http://schemas.microsoft.com/office/drawing/2014/main" id="{1F5AD88E-3F40-452E-AA10-48C09E0EF91A}"/>
              </a:ext>
            </a:extLst>
          </p:cNvPr>
          <p:cNvSpPr/>
          <p:nvPr/>
        </p:nvSpPr>
        <p:spPr>
          <a:xfrm>
            <a:off x="2267940" y="1795678"/>
            <a:ext cx="837287"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21600" y="21600"/>
                </a:lnTo>
                <a:cubicBezTo>
                  <a:pt x="20298" y="13745"/>
                  <a:pt x="18614" y="6480"/>
                  <a:pt x="16638" y="0"/>
                </a:cubicBezTo>
                <a:lnTo>
                  <a:pt x="3705" y="0"/>
                </a:lnTo>
                <a:cubicBezTo>
                  <a:pt x="1662" y="65"/>
                  <a:pt x="0" y="4844"/>
                  <a:pt x="0" y="10800"/>
                </a:cubicBezTo>
                <a:close/>
              </a:path>
            </a:pathLst>
          </a:custGeom>
          <a:solidFill>
            <a:schemeClr val="accent4"/>
          </a:solidFill>
          <a:ln w="12700">
            <a:miter lim="400000"/>
          </a:ln>
        </p:spPr>
        <p:txBody>
          <a:bodyPr lIns="21431" tIns="21431" rIns="21431" bIns="21431" anchor="ctr"/>
          <a:lstStyle/>
          <a:p>
            <a:pPr>
              <a:defRPr sz="3000">
                <a:solidFill>
                  <a:srgbClr val="FFFFFF"/>
                </a:solidFill>
              </a:defRPr>
            </a:pPr>
            <a:endParaRPr sz="1688" dirty="0"/>
          </a:p>
        </p:txBody>
      </p:sp>
      <p:pic>
        <p:nvPicPr>
          <p:cNvPr id="18" name="Graphic 14" descr="Livres">
            <a:extLst>
              <a:ext uri="{FF2B5EF4-FFF2-40B4-BE49-F238E27FC236}">
                <a16:creationId xmlns:a16="http://schemas.microsoft.com/office/drawing/2014/main" id="{6DD4E521-1957-4D9E-9A3F-2DBA7190FED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1813174"/>
            <a:ext cx="252228" cy="252228"/>
          </a:xfrm>
          <a:prstGeom prst="rect">
            <a:avLst/>
          </a:prstGeom>
        </p:spPr>
      </p:pic>
      <p:pic>
        <p:nvPicPr>
          <p:cNvPr id="19" name="Graphic 16" descr="Livres">
            <a:extLst>
              <a:ext uri="{FF2B5EF4-FFF2-40B4-BE49-F238E27FC236}">
                <a16:creationId xmlns:a16="http://schemas.microsoft.com/office/drawing/2014/main" id="{4911E582-B8E7-4B2E-A274-900F38EA034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3170936"/>
            <a:ext cx="252228" cy="252228"/>
          </a:xfrm>
          <a:prstGeom prst="rect">
            <a:avLst/>
          </a:prstGeom>
        </p:spPr>
      </p:pic>
      <p:pic>
        <p:nvPicPr>
          <p:cNvPr id="20" name="Graphic 18" descr="Livres">
            <a:extLst>
              <a:ext uri="{FF2B5EF4-FFF2-40B4-BE49-F238E27FC236}">
                <a16:creationId xmlns:a16="http://schemas.microsoft.com/office/drawing/2014/main" id="{9E411969-A695-41D6-ACAC-662B36F5388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2152615"/>
            <a:ext cx="252228" cy="252228"/>
          </a:xfrm>
          <a:prstGeom prst="rect">
            <a:avLst/>
          </a:prstGeom>
        </p:spPr>
      </p:pic>
      <p:pic>
        <p:nvPicPr>
          <p:cNvPr id="22" name="Graphic 20" descr="Livres">
            <a:extLst>
              <a:ext uri="{FF2B5EF4-FFF2-40B4-BE49-F238E27FC236}">
                <a16:creationId xmlns:a16="http://schemas.microsoft.com/office/drawing/2014/main" id="{E648F90B-E51C-46C7-B40B-F602F2B6B2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2492055"/>
            <a:ext cx="252228" cy="252228"/>
          </a:xfrm>
          <a:prstGeom prst="rect">
            <a:avLst/>
          </a:prstGeom>
        </p:spPr>
      </p:pic>
      <p:pic>
        <p:nvPicPr>
          <p:cNvPr id="23" name="Graphic 22" descr="Livres">
            <a:extLst>
              <a:ext uri="{FF2B5EF4-FFF2-40B4-BE49-F238E27FC236}">
                <a16:creationId xmlns:a16="http://schemas.microsoft.com/office/drawing/2014/main" id="{6537E571-AA24-4DAC-8AEA-D0EA1CA407E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2831495"/>
            <a:ext cx="252228" cy="252228"/>
          </a:xfrm>
          <a:prstGeom prst="rect">
            <a:avLst/>
          </a:prstGeom>
        </p:spPr>
      </p:pic>
    </p:spTree>
    <p:extLst>
      <p:ext uri="{BB962C8B-B14F-4D97-AF65-F5344CB8AC3E}">
        <p14:creationId xmlns:p14="http://schemas.microsoft.com/office/powerpoint/2010/main" val="2601066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2395757"/>
          </a:xfrm>
        </p:spPr>
        <p:txBody>
          <a:bodyPr>
            <a:normAutofit fontScale="62500" lnSpcReduction="20000"/>
          </a:bodyPr>
          <a:lstStyle/>
          <a:p>
            <a:pPr lvl="1" algn="just">
              <a:lnSpc>
                <a:spcPct val="150000"/>
              </a:lnSpc>
              <a:buClr>
                <a:schemeClr val="accent2"/>
              </a:buClr>
            </a:pPr>
            <a:r>
              <a:rPr lang="fr-FR" dirty="0"/>
              <a:t>Random Forest est un algorithme de Machine Learning utilisée pour la classification, la régression et d'autres tâches.</a:t>
            </a:r>
          </a:p>
          <a:p>
            <a:pPr lvl="1" algn="just">
              <a:lnSpc>
                <a:spcPct val="150000"/>
              </a:lnSpc>
              <a:buClr>
                <a:schemeClr val="accent2"/>
              </a:buClr>
            </a:pPr>
            <a:endParaRPr lang="fr-FR" dirty="0"/>
          </a:p>
          <a:p>
            <a:pPr lvl="1" algn="just">
              <a:lnSpc>
                <a:spcPct val="150000"/>
              </a:lnSpc>
              <a:buClr>
                <a:schemeClr val="accent2"/>
              </a:buClr>
            </a:pPr>
            <a:r>
              <a:rPr lang="fr-FR" dirty="0"/>
              <a:t>Il fonctionne en construisant une multitude d'arbres de décision au moment de l’entraînement et prédit la classe d’appartenance d’un individu (classification) ou la prédiction moyenne (régression) des arbres individuels.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148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intuition</a:t>
            </a:r>
          </a:p>
        </p:txBody>
      </p:sp>
    </p:spTree>
    <p:extLst>
      <p:ext uri="{BB962C8B-B14F-4D97-AF65-F5344CB8AC3E}">
        <p14:creationId xmlns:p14="http://schemas.microsoft.com/office/powerpoint/2010/main" val="302232050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2395757"/>
          </a:xfrm>
        </p:spPr>
        <p:txBody>
          <a:bodyPr>
            <a:normAutofit/>
          </a:bodyPr>
          <a:lstStyle/>
          <a:p>
            <a:pPr lvl="1" algn="just">
              <a:lnSpc>
                <a:spcPct val="150000"/>
              </a:lnSpc>
              <a:buClr>
                <a:schemeClr val="accent2"/>
              </a:buClr>
            </a:pPr>
            <a:r>
              <a:rPr lang="fr-FR" sz="1350" dirty="0"/>
              <a:t>L'algorithme de forêt aléatoire combine plusieurs algorithmes d'arbres de décision pour améliorer la stabilité et la précision de la prise de décision. C'est un algorithme d'apprentissage automatique populaire car il peut gérer une grande quantité de données et il est relativement précis.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149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intuition</a:t>
            </a:r>
          </a:p>
        </p:txBody>
      </p:sp>
      <p:grpSp>
        <p:nvGrpSpPr>
          <p:cNvPr id="55" name="Groupe 54">
            <a:extLst>
              <a:ext uri="{FF2B5EF4-FFF2-40B4-BE49-F238E27FC236}">
                <a16:creationId xmlns:a16="http://schemas.microsoft.com/office/drawing/2014/main" id="{A7D977F7-70C6-433A-9382-2016C8395661}"/>
              </a:ext>
            </a:extLst>
          </p:cNvPr>
          <p:cNvGrpSpPr/>
          <p:nvPr/>
        </p:nvGrpSpPr>
        <p:grpSpPr>
          <a:xfrm>
            <a:off x="1757055" y="3097957"/>
            <a:ext cx="3947677" cy="1853971"/>
            <a:chOff x="2342740" y="3767263"/>
            <a:chExt cx="5263569" cy="2471961"/>
          </a:xfrm>
        </p:grpSpPr>
        <p:sp>
          <p:nvSpPr>
            <p:cNvPr id="24" name="Rectangle : coins arrondis 23">
              <a:extLst>
                <a:ext uri="{FF2B5EF4-FFF2-40B4-BE49-F238E27FC236}">
                  <a16:creationId xmlns:a16="http://schemas.microsoft.com/office/drawing/2014/main" id="{ECF01684-7DFF-4EF8-80A3-05318CB79D2C}"/>
                </a:ext>
              </a:extLst>
            </p:cNvPr>
            <p:cNvSpPr/>
            <p:nvPr/>
          </p:nvSpPr>
          <p:spPr>
            <a:xfrm>
              <a:off x="2342740" y="3767263"/>
              <a:ext cx="889986" cy="1602820"/>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Training</a:t>
              </a:r>
            </a:p>
            <a:p>
              <a:pPr algn="ctr"/>
              <a:r>
                <a:rPr lang="fr-FR" sz="825" dirty="0">
                  <a:solidFill>
                    <a:schemeClr val="tx1">
                      <a:lumMod val="50000"/>
                    </a:schemeClr>
                  </a:solidFill>
                </a:rPr>
                <a:t>set</a:t>
              </a:r>
            </a:p>
          </p:txBody>
        </p:sp>
        <p:sp>
          <p:nvSpPr>
            <p:cNvPr id="25" name="Rectangle 24">
              <a:extLst>
                <a:ext uri="{FF2B5EF4-FFF2-40B4-BE49-F238E27FC236}">
                  <a16:creationId xmlns:a16="http://schemas.microsoft.com/office/drawing/2014/main" id="{83301BE0-F2B8-409F-A4CC-6F49FA2B2118}"/>
                </a:ext>
              </a:extLst>
            </p:cNvPr>
            <p:cNvSpPr/>
            <p:nvPr/>
          </p:nvSpPr>
          <p:spPr>
            <a:xfrm>
              <a:off x="3704381" y="3891497"/>
              <a:ext cx="1050499" cy="216000"/>
            </a:xfrm>
            <a:prstGeom prst="rect">
              <a:avLst/>
            </a:prstGeom>
            <a:solidFill>
              <a:srgbClr val="1D79B7"/>
            </a:solidFill>
            <a:ln>
              <a:solidFill>
                <a:srgbClr val="1D79B7"/>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Training data 1</a:t>
              </a:r>
            </a:p>
          </p:txBody>
        </p:sp>
        <p:sp>
          <p:nvSpPr>
            <p:cNvPr id="35" name="Rectangle : coins arrondis 34">
              <a:extLst>
                <a:ext uri="{FF2B5EF4-FFF2-40B4-BE49-F238E27FC236}">
                  <a16:creationId xmlns:a16="http://schemas.microsoft.com/office/drawing/2014/main" id="{90A49366-6BDB-4D6C-B87B-7EBDB3A45077}"/>
                </a:ext>
              </a:extLst>
            </p:cNvPr>
            <p:cNvSpPr/>
            <p:nvPr/>
          </p:nvSpPr>
          <p:spPr>
            <a:xfrm>
              <a:off x="2342740" y="5486400"/>
              <a:ext cx="889986" cy="464128"/>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Test</a:t>
              </a:r>
            </a:p>
            <a:p>
              <a:pPr algn="ctr"/>
              <a:r>
                <a:rPr lang="fr-FR" sz="825" dirty="0">
                  <a:solidFill>
                    <a:schemeClr val="tx1">
                      <a:lumMod val="50000"/>
                    </a:schemeClr>
                  </a:solidFill>
                </a:rPr>
                <a:t>set</a:t>
              </a:r>
            </a:p>
          </p:txBody>
        </p:sp>
        <p:sp>
          <p:nvSpPr>
            <p:cNvPr id="36" name="Rectangle 35">
              <a:extLst>
                <a:ext uri="{FF2B5EF4-FFF2-40B4-BE49-F238E27FC236}">
                  <a16:creationId xmlns:a16="http://schemas.microsoft.com/office/drawing/2014/main" id="{17245A09-23E3-4166-A35A-EABE731C3675}"/>
                </a:ext>
              </a:extLst>
            </p:cNvPr>
            <p:cNvSpPr/>
            <p:nvPr/>
          </p:nvSpPr>
          <p:spPr>
            <a:xfrm>
              <a:off x="4940245" y="3891497"/>
              <a:ext cx="1050499" cy="216000"/>
            </a:xfrm>
            <a:prstGeom prst="rect">
              <a:avLst/>
            </a:prstGeom>
            <a:solidFill>
              <a:srgbClr val="4A4A4A"/>
            </a:solidFill>
            <a:ln>
              <a:solidFill>
                <a:srgbClr val="4A4A4A"/>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bg1"/>
                  </a:solidFill>
                </a:rPr>
                <a:t>Training data 2</a:t>
              </a:r>
            </a:p>
          </p:txBody>
        </p: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C95A1078-22DD-406E-80AD-2921B81A621B}"/>
                    </a:ext>
                  </a:extLst>
                </p:cNvPr>
                <p:cNvSpPr/>
                <p:nvPr/>
              </p:nvSpPr>
              <p:spPr>
                <a:xfrm>
                  <a:off x="6513874" y="3891497"/>
                  <a:ext cx="1050499" cy="216000"/>
                </a:xfrm>
                <a:prstGeom prst="rect">
                  <a:avLst/>
                </a:prstGeom>
                <a:solidFill>
                  <a:srgbClr val="469460"/>
                </a:solidFill>
                <a:ln>
                  <a:solidFill>
                    <a:srgbClr val="469460"/>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Training data </a:t>
                  </a:r>
                  <a14:m>
                    <m:oMath xmlns:m="http://schemas.openxmlformats.org/officeDocument/2006/math">
                      <m:r>
                        <a:rPr lang="fr-FR" sz="750" i="1" dirty="0">
                          <a:solidFill>
                            <a:schemeClr val="tx1">
                              <a:lumMod val="50000"/>
                            </a:schemeClr>
                          </a:solidFill>
                          <a:latin typeface="Cambria Math" panose="02040503050406030204" pitchFamily="18" charset="0"/>
                        </a:rPr>
                        <m:t>𝑛</m:t>
                      </m:r>
                    </m:oMath>
                  </a14:m>
                  <a:endParaRPr lang="fr-FR" sz="750" dirty="0">
                    <a:solidFill>
                      <a:schemeClr val="tx1">
                        <a:lumMod val="50000"/>
                      </a:schemeClr>
                    </a:solidFill>
                  </a:endParaRPr>
                </a:p>
              </p:txBody>
            </p:sp>
          </mc:Choice>
          <mc:Fallback xmlns="">
            <p:sp>
              <p:nvSpPr>
                <p:cNvPr id="37" name="Rectangle 36">
                  <a:extLst>
                    <a:ext uri="{FF2B5EF4-FFF2-40B4-BE49-F238E27FC236}">
                      <a16:creationId xmlns:a16="http://schemas.microsoft.com/office/drawing/2014/main" id="{C95A1078-22DD-406E-80AD-2921B81A621B}"/>
                    </a:ext>
                  </a:extLst>
                </p:cNvPr>
                <p:cNvSpPr>
                  <a:spLocks noRot="1" noChangeAspect="1" noMove="1" noResize="1" noEditPoints="1" noAdjustHandles="1" noChangeArrowheads="1" noChangeShapeType="1" noTextEdit="1"/>
                </p:cNvSpPr>
                <p:nvPr/>
              </p:nvSpPr>
              <p:spPr>
                <a:xfrm>
                  <a:off x="6513874" y="3891497"/>
                  <a:ext cx="1050499" cy="216000"/>
                </a:xfrm>
                <a:prstGeom prst="rect">
                  <a:avLst/>
                </a:prstGeom>
                <a:blipFill>
                  <a:blip r:embed="rId4"/>
                  <a:stretch>
                    <a:fillRect b="-21053"/>
                  </a:stretch>
                </a:blipFill>
                <a:ln>
                  <a:solidFill>
                    <a:srgbClr val="469460"/>
                  </a:solidFill>
                  <a:headEnd type="none" w="med" len="med"/>
                  <a:tailEnd type="none" w="med" len="med"/>
                </a:ln>
              </p:spPr>
              <p:txBody>
                <a:bodyPr/>
                <a:lstStyle/>
                <a:p>
                  <a:r>
                    <a:rPr lang="fr-FR">
                      <a:noFill/>
                    </a:rPr>
                    <a:t> </a:t>
                  </a:r>
                </a:p>
              </p:txBody>
            </p:sp>
          </mc:Fallback>
        </mc:AlternateContent>
        <p:sp>
          <p:nvSpPr>
            <p:cNvPr id="38" name="Rectangle 37">
              <a:extLst>
                <a:ext uri="{FF2B5EF4-FFF2-40B4-BE49-F238E27FC236}">
                  <a16:creationId xmlns:a16="http://schemas.microsoft.com/office/drawing/2014/main" id="{2F932635-0E73-4290-9620-9697DF34BAB2}"/>
                </a:ext>
              </a:extLst>
            </p:cNvPr>
            <p:cNvSpPr/>
            <p:nvPr/>
          </p:nvSpPr>
          <p:spPr>
            <a:xfrm>
              <a:off x="6176109" y="3891497"/>
              <a:ext cx="152400" cy="216000"/>
            </a:xfrm>
            <a:prstGeom prst="rect">
              <a:avLst/>
            </a:prstGeom>
            <a:solidFill>
              <a:srgbClr val="C9C9C8"/>
            </a:solidFill>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a:t>
              </a:r>
            </a:p>
          </p:txBody>
        </p:sp>
        <p:pic>
          <p:nvPicPr>
            <p:cNvPr id="6" name="Image 5">
              <a:extLst>
                <a:ext uri="{FF2B5EF4-FFF2-40B4-BE49-F238E27FC236}">
                  <a16:creationId xmlns:a16="http://schemas.microsoft.com/office/drawing/2014/main" id="{BDF913AA-9D64-4032-B54E-34A170E6A688}"/>
                </a:ext>
              </a:extLst>
            </p:cNvPr>
            <p:cNvPicPr>
              <a:picLocks noChangeAspect="1"/>
            </p:cNvPicPr>
            <p:nvPr/>
          </p:nvPicPr>
          <p:blipFill>
            <a:blip r:embed="rId5"/>
            <a:stretch>
              <a:fillRect/>
            </a:stretch>
          </p:blipFill>
          <p:spPr>
            <a:xfrm>
              <a:off x="3691685" y="4385716"/>
              <a:ext cx="988583" cy="656650"/>
            </a:xfrm>
            <a:prstGeom prst="rect">
              <a:avLst/>
            </a:prstGeom>
          </p:spPr>
        </p:pic>
        <p:pic>
          <p:nvPicPr>
            <p:cNvPr id="41" name="Image 40">
              <a:extLst>
                <a:ext uri="{FF2B5EF4-FFF2-40B4-BE49-F238E27FC236}">
                  <a16:creationId xmlns:a16="http://schemas.microsoft.com/office/drawing/2014/main" id="{B57F5DA7-7FC7-4E46-8C97-68C379F8E657}"/>
                </a:ext>
              </a:extLst>
            </p:cNvPr>
            <p:cNvPicPr>
              <a:picLocks noChangeAspect="1"/>
            </p:cNvPicPr>
            <p:nvPr/>
          </p:nvPicPr>
          <p:blipFill>
            <a:blip r:embed="rId5">
              <a:grayscl/>
            </a:blip>
            <a:stretch>
              <a:fillRect/>
            </a:stretch>
          </p:blipFill>
          <p:spPr>
            <a:xfrm>
              <a:off x="4993402" y="4385716"/>
              <a:ext cx="988583" cy="656650"/>
            </a:xfrm>
            <a:prstGeom prst="rect">
              <a:avLst/>
            </a:prstGeom>
          </p:spPr>
        </p:pic>
        <p:pic>
          <p:nvPicPr>
            <p:cNvPr id="42" name="Image 41">
              <a:extLst>
                <a:ext uri="{FF2B5EF4-FFF2-40B4-BE49-F238E27FC236}">
                  <a16:creationId xmlns:a16="http://schemas.microsoft.com/office/drawing/2014/main" id="{79B0D083-B94B-4CA4-B6EC-2717BCBCB334}"/>
                </a:ext>
              </a:extLst>
            </p:cNvPr>
            <p:cNvPicPr>
              <a:picLocks noChangeAspect="1"/>
            </p:cNvPicPr>
            <p:nvPr/>
          </p:nvPicPr>
          <p:blipFill>
            <a:blip r:embed="rId5">
              <a:duotone>
                <a:schemeClr val="accent5">
                  <a:shade val="45000"/>
                  <a:satMod val="135000"/>
                </a:schemeClr>
                <a:prstClr val="white"/>
              </a:duotone>
            </a:blip>
            <a:stretch>
              <a:fillRect/>
            </a:stretch>
          </p:blipFill>
          <p:spPr>
            <a:xfrm>
              <a:off x="6617726" y="4280049"/>
              <a:ext cx="988583" cy="656650"/>
            </a:xfrm>
            <a:prstGeom prst="rect">
              <a:avLst/>
            </a:prstGeom>
          </p:spPr>
        </p:pic>
        <p:sp>
          <p:nvSpPr>
            <p:cNvPr id="43" name="Rectangle 42">
              <a:extLst>
                <a:ext uri="{FF2B5EF4-FFF2-40B4-BE49-F238E27FC236}">
                  <a16:creationId xmlns:a16="http://schemas.microsoft.com/office/drawing/2014/main" id="{E1BB1B8C-ECD0-4AE5-94CA-3D9C168DDF2B}"/>
                </a:ext>
              </a:extLst>
            </p:cNvPr>
            <p:cNvSpPr/>
            <p:nvPr/>
          </p:nvSpPr>
          <p:spPr>
            <a:xfrm>
              <a:off x="4808017" y="5377356"/>
              <a:ext cx="1520492" cy="288696"/>
            </a:xfrm>
            <a:prstGeom prst="rect">
              <a:avLst/>
            </a:prstGeom>
            <a:solidFill>
              <a:srgbClr val="C9C9C8"/>
            </a:solidFill>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Voting / Averaging</a:t>
              </a:r>
            </a:p>
          </p:txBody>
        </p:sp>
        <p:sp>
          <p:nvSpPr>
            <p:cNvPr id="44" name="Rectangle 43">
              <a:extLst>
                <a:ext uri="{FF2B5EF4-FFF2-40B4-BE49-F238E27FC236}">
                  <a16:creationId xmlns:a16="http://schemas.microsoft.com/office/drawing/2014/main" id="{F2D47A27-3486-49EF-B68B-7CAA5F62D319}"/>
                </a:ext>
              </a:extLst>
            </p:cNvPr>
            <p:cNvSpPr/>
            <p:nvPr/>
          </p:nvSpPr>
          <p:spPr>
            <a:xfrm>
              <a:off x="4808017" y="5950528"/>
              <a:ext cx="1520492" cy="288696"/>
            </a:xfrm>
            <a:prstGeom prst="rect">
              <a:avLst/>
            </a:prstGeom>
            <a:solidFill>
              <a:srgbClr val="EAB200"/>
            </a:solidFill>
            <a:ln>
              <a:solidFill>
                <a:srgbClr val="EAB200"/>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Prediction</a:t>
              </a:r>
            </a:p>
          </p:txBody>
        </p:sp>
        <p:sp>
          <p:nvSpPr>
            <p:cNvPr id="7" name="Flèche : droite 6">
              <a:extLst>
                <a:ext uri="{FF2B5EF4-FFF2-40B4-BE49-F238E27FC236}">
                  <a16:creationId xmlns:a16="http://schemas.microsoft.com/office/drawing/2014/main" id="{69BDC12F-E4D7-41D9-9687-8BF6CA27156B}"/>
                </a:ext>
              </a:extLst>
            </p:cNvPr>
            <p:cNvSpPr/>
            <p:nvPr/>
          </p:nvSpPr>
          <p:spPr>
            <a:xfrm>
              <a:off x="3379304" y="3939203"/>
              <a:ext cx="139712" cy="1477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5" name="Flèche : droite 44">
              <a:extLst>
                <a:ext uri="{FF2B5EF4-FFF2-40B4-BE49-F238E27FC236}">
                  <a16:creationId xmlns:a16="http://schemas.microsoft.com/office/drawing/2014/main" id="{6DA349CF-71D7-4E45-8F18-2A3EAEF4F83E}"/>
                </a:ext>
              </a:extLst>
            </p:cNvPr>
            <p:cNvSpPr/>
            <p:nvPr/>
          </p:nvSpPr>
          <p:spPr>
            <a:xfrm rot="5400000">
              <a:off x="4149383" y="4181807"/>
              <a:ext cx="139712" cy="147766"/>
            </a:xfrm>
            <a:prstGeom prst="rightArrow">
              <a:avLst/>
            </a:prstGeom>
            <a:solidFill>
              <a:srgbClr val="1D79B7"/>
            </a:solidFill>
            <a:ln>
              <a:solidFill>
                <a:srgbClr val="1D79B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6" name="Flèche : droite 45">
              <a:extLst>
                <a:ext uri="{FF2B5EF4-FFF2-40B4-BE49-F238E27FC236}">
                  <a16:creationId xmlns:a16="http://schemas.microsoft.com/office/drawing/2014/main" id="{3761C216-C652-4670-9180-8E2E91373BAA}"/>
                </a:ext>
              </a:extLst>
            </p:cNvPr>
            <p:cNvSpPr/>
            <p:nvPr/>
          </p:nvSpPr>
          <p:spPr>
            <a:xfrm rot="5400000">
              <a:off x="5441691" y="4169975"/>
              <a:ext cx="139712" cy="147766"/>
            </a:xfrm>
            <a:prstGeom prst="rightArrow">
              <a:avLst/>
            </a:prstGeom>
            <a:solidFill>
              <a:srgbClr val="4A4A4A"/>
            </a:solidFill>
            <a:ln>
              <a:solidFill>
                <a:srgbClr val="4A4A4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7" name="Flèche : droite 46">
              <a:extLst>
                <a:ext uri="{FF2B5EF4-FFF2-40B4-BE49-F238E27FC236}">
                  <a16:creationId xmlns:a16="http://schemas.microsoft.com/office/drawing/2014/main" id="{16B9C556-8E54-4F00-8306-A9743957F6CD}"/>
                </a:ext>
              </a:extLst>
            </p:cNvPr>
            <p:cNvSpPr/>
            <p:nvPr/>
          </p:nvSpPr>
          <p:spPr>
            <a:xfrm rot="5400000">
              <a:off x="6968278" y="4159661"/>
              <a:ext cx="139712" cy="147766"/>
            </a:xfrm>
            <a:prstGeom prst="rightArrow">
              <a:avLst/>
            </a:prstGeom>
            <a:solidFill>
              <a:srgbClr val="469460"/>
            </a:solidFill>
            <a:ln>
              <a:solidFill>
                <a:srgbClr val="4694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8" name="Flèche : droite 47">
              <a:extLst>
                <a:ext uri="{FF2B5EF4-FFF2-40B4-BE49-F238E27FC236}">
                  <a16:creationId xmlns:a16="http://schemas.microsoft.com/office/drawing/2014/main" id="{7A1EE086-99EC-494B-B780-025AF94D1353}"/>
                </a:ext>
              </a:extLst>
            </p:cNvPr>
            <p:cNvSpPr/>
            <p:nvPr/>
          </p:nvSpPr>
          <p:spPr>
            <a:xfrm rot="5400000">
              <a:off x="5498407" y="5734407"/>
              <a:ext cx="139712" cy="147766"/>
            </a:xfrm>
            <a:prstGeom prst="rightArrow">
              <a:avLst/>
            </a:prstGeom>
            <a:solidFill>
              <a:srgbClr val="EAB200"/>
            </a:solidFill>
            <a:ln>
              <a:solidFill>
                <a:srgbClr val="EAB2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sz="1350" dirty="0"/>
            </a:p>
          </p:txBody>
        </p:sp>
        <p:cxnSp>
          <p:nvCxnSpPr>
            <p:cNvPr id="50" name="Connecteur droit avec flèche 49">
              <a:extLst>
                <a:ext uri="{FF2B5EF4-FFF2-40B4-BE49-F238E27FC236}">
                  <a16:creationId xmlns:a16="http://schemas.microsoft.com/office/drawing/2014/main" id="{E4AF5A9D-88B9-4770-B73D-67DBEC9C0A28}"/>
                </a:ext>
              </a:extLst>
            </p:cNvPr>
            <p:cNvCxnSpPr>
              <a:stCxn id="6" idx="2"/>
              <a:endCxn id="43" idx="0"/>
            </p:cNvCxnSpPr>
            <p:nvPr/>
          </p:nvCxnSpPr>
          <p:spPr>
            <a:xfrm>
              <a:off x="4185977" y="5042366"/>
              <a:ext cx="1382286" cy="334990"/>
            </a:xfrm>
            <a:prstGeom prst="straightConnector1">
              <a:avLst/>
            </a:prstGeom>
            <a:ln>
              <a:solidFill>
                <a:srgbClr val="1D79B7"/>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eur droit avec flèche 51">
              <a:extLst>
                <a:ext uri="{FF2B5EF4-FFF2-40B4-BE49-F238E27FC236}">
                  <a16:creationId xmlns:a16="http://schemas.microsoft.com/office/drawing/2014/main" id="{787F938A-AE08-4B35-B2F2-4D0F8B67180D}"/>
                </a:ext>
              </a:extLst>
            </p:cNvPr>
            <p:cNvCxnSpPr>
              <a:stCxn id="41" idx="2"/>
              <a:endCxn id="43" idx="0"/>
            </p:cNvCxnSpPr>
            <p:nvPr/>
          </p:nvCxnSpPr>
          <p:spPr>
            <a:xfrm>
              <a:off x="5487694" y="5042366"/>
              <a:ext cx="80569" cy="334990"/>
            </a:xfrm>
            <a:prstGeom prst="straightConnector1">
              <a:avLst/>
            </a:prstGeom>
            <a:ln>
              <a:solidFill>
                <a:srgbClr val="4A4A4A"/>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necteur droit avec flèche 53">
              <a:extLst>
                <a:ext uri="{FF2B5EF4-FFF2-40B4-BE49-F238E27FC236}">
                  <a16:creationId xmlns:a16="http://schemas.microsoft.com/office/drawing/2014/main" id="{ABEDF025-6892-453A-B0A5-2F158478937C}"/>
                </a:ext>
              </a:extLst>
            </p:cNvPr>
            <p:cNvCxnSpPr>
              <a:stCxn id="42" idx="2"/>
              <a:endCxn id="43" idx="0"/>
            </p:cNvCxnSpPr>
            <p:nvPr/>
          </p:nvCxnSpPr>
          <p:spPr>
            <a:xfrm flipH="1">
              <a:off x="5568263" y="4936699"/>
              <a:ext cx="1543755" cy="440657"/>
            </a:xfrm>
            <a:prstGeom prst="straightConnector1">
              <a:avLst/>
            </a:prstGeom>
            <a:ln>
              <a:solidFill>
                <a:srgbClr val="46946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0190622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2395757"/>
          </a:xfrm>
        </p:spPr>
        <p:txBody>
          <a:bodyPr>
            <a:normAutofit/>
          </a:bodyPr>
          <a:lstStyle/>
          <a:p>
            <a:pPr lvl="1" algn="just">
              <a:lnSpc>
                <a:spcPct val="150000"/>
              </a:lnSpc>
              <a:buClr>
                <a:schemeClr val="accent2"/>
              </a:buClr>
            </a:pPr>
            <a:r>
              <a:rPr lang="fr-FR" sz="1350" b="1" dirty="0"/>
              <a:t>Modèle ensembliste (ou ensemble learning) :</a:t>
            </a:r>
            <a:r>
              <a:rPr lang="fr-FR" sz="1350" dirty="0"/>
              <a:t> technique qui repose sur la combinaison de multiples algorithmes de Machine Learning afin d’accroître les performances du modèle d’apprentissage, et parvenir à un niveau de précision supérieur à celui qui serait réalisé si on utilisait un de ces algorithmes pris séparément.</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150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intuition</a:t>
            </a:r>
          </a:p>
        </p:txBody>
      </p:sp>
    </p:spTree>
    <p:extLst>
      <p:ext uri="{BB962C8B-B14F-4D97-AF65-F5344CB8AC3E}">
        <p14:creationId xmlns:p14="http://schemas.microsoft.com/office/powerpoint/2010/main" val="208302094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092107"/>
          </a:xfrm>
        </p:spPr>
        <p:txBody>
          <a:bodyPr>
            <a:normAutofit/>
          </a:bodyPr>
          <a:lstStyle/>
          <a:p>
            <a:pPr marL="600075" lvl="1" indent="-257175" algn="just">
              <a:lnSpc>
                <a:spcPct val="150000"/>
              </a:lnSpc>
              <a:buClr>
                <a:schemeClr val="accent2"/>
              </a:buClr>
              <a:buFont typeface="+mj-lt"/>
              <a:buAutoNum type="arabicPeriod"/>
            </a:pPr>
            <a:r>
              <a:rPr lang="fr-FR" sz="1350" dirty="0"/>
              <a:t>L’algorithme sélectionne des échantillons aléatoires de données à partir du dataset d'origine (bagging) pour créer de nombreux ensembles d'apprentissage différents.</a:t>
            </a:r>
          </a:p>
          <a:p>
            <a:pPr marL="600075" lvl="1" indent="-257175" algn="just">
              <a:lnSpc>
                <a:spcPct val="150000"/>
              </a:lnSpc>
              <a:buClr>
                <a:schemeClr val="accent2"/>
              </a:buClr>
              <a:buFont typeface="+mj-lt"/>
              <a:buAutoNum type="arabicPeriod"/>
            </a:pPr>
            <a:r>
              <a:rPr lang="fr-FR" sz="1350" dirty="0"/>
              <a:t>Pour chaque échantillon, un modèle d'arbre de décision est construit.</a:t>
            </a:r>
          </a:p>
          <a:p>
            <a:pPr marL="600075" lvl="1" indent="-257175" algn="just">
              <a:lnSpc>
                <a:spcPct val="150000"/>
              </a:lnSpc>
              <a:buClr>
                <a:schemeClr val="accent2"/>
              </a:buClr>
              <a:buFont typeface="+mj-lt"/>
              <a:buAutoNum type="arabicPeriod"/>
            </a:pPr>
            <a:r>
              <a:rPr lang="fr-FR" sz="1350" dirty="0"/>
              <a:t>Pour chaque arbre, un sous-ensemble aléatoire des features est choisi pour la construction et le fractionnement de l'arbre.</a:t>
            </a:r>
          </a:p>
          <a:p>
            <a:pPr marL="600075" lvl="1" indent="-257175" algn="just">
              <a:lnSpc>
                <a:spcPct val="150000"/>
              </a:lnSpc>
              <a:buClr>
                <a:schemeClr val="accent2"/>
              </a:buClr>
              <a:buFont typeface="+mj-lt"/>
              <a:buAutoNum type="arabicPeriod"/>
            </a:pPr>
            <a:r>
              <a:rPr lang="fr-FR" sz="1350" dirty="0"/>
              <a:t>L’algorithme combine les arbres de décision individuels dans un modèle final en prenant un vote majoritaire pour la classification ou en faisant la moyenne pour la régression.</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151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fonctionnement</a:t>
            </a:r>
          </a:p>
        </p:txBody>
      </p:sp>
    </p:spTree>
    <p:extLst>
      <p:ext uri="{BB962C8B-B14F-4D97-AF65-F5344CB8AC3E}">
        <p14:creationId xmlns:p14="http://schemas.microsoft.com/office/powerpoint/2010/main" val="308865740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489566" cy="1726930"/>
          </a:xfrm>
        </p:spPr>
        <p:txBody>
          <a:bodyPr>
            <a:normAutofit/>
          </a:bodyPr>
          <a:lstStyle/>
          <a:p>
            <a:pPr lvl="1" algn="just">
              <a:lnSpc>
                <a:spcPct val="150000"/>
              </a:lnSpc>
              <a:buClr>
                <a:schemeClr val="accent2"/>
              </a:buClr>
            </a:pPr>
            <a:r>
              <a:rPr lang="fr-FR" sz="1300" dirty="0"/>
              <a:t>Aussi appelé bootstrap aggregating, consiste à sous-échantillonner les données, en créant un data set pour chaque modèle. </a:t>
            </a:r>
          </a:p>
          <a:p>
            <a:pPr lvl="1" algn="just">
              <a:lnSpc>
                <a:spcPct val="150000"/>
              </a:lnSpc>
              <a:buClr>
                <a:schemeClr val="accent2"/>
              </a:buClr>
            </a:pPr>
            <a:r>
              <a:rPr lang="fr-FR" sz="1300" dirty="0"/>
              <a:t>Pour déterminer le résultat final, on procède par un vote des résultats de chaque modèle pour une classification, ou par une moyenne pour une régression.</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152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bagging</a:t>
            </a:r>
          </a:p>
        </p:txBody>
      </p:sp>
      <p:grpSp>
        <p:nvGrpSpPr>
          <p:cNvPr id="49" name="Groupe 48">
            <a:extLst>
              <a:ext uri="{FF2B5EF4-FFF2-40B4-BE49-F238E27FC236}">
                <a16:creationId xmlns:a16="http://schemas.microsoft.com/office/drawing/2014/main" id="{EDD244D7-0518-45F8-9AE1-A282BF21FE53}"/>
              </a:ext>
            </a:extLst>
          </p:cNvPr>
          <p:cNvGrpSpPr/>
          <p:nvPr/>
        </p:nvGrpSpPr>
        <p:grpSpPr>
          <a:xfrm>
            <a:off x="1295785" y="2876088"/>
            <a:ext cx="5606424" cy="2151329"/>
            <a:chOff x="1727713" y="3834783"/>
            <a:chExt cx="7475232" cy="2868439"/>
          </a:xfrm>
        </p:grpSpPr>
        <p:sp>
          <p:nvSpPr>
            <p:cNvPr id="6" name="Rectangle 5">
              <a:extLst>
                <a:ext uri="{FF2B5EF4-FFF2-40B4-BE49-F238E27FC236}">
                  <a16:creationId xmlns:a16="http://schemas.microsoft.com/office/drawing/2014/main" id="{34E27C9C-5A43-4A07-B242-CB4A747F6B8F}"/>
                </a:ext>
              </a:extLst>
            </p:cNvPr>
            <p:cNvSpPr/>
            <p:nvPr/>
          </p:nvSpPr>
          <p:spPr>
            <a:xfrm>
              <a:off x="3625795" y="3964819"/>
              <a:ext cx="3172571" cy="349858"/>
            </a:xfrm>
            <a:prstGeom prst="rect">
              <a:avLst/>
            </a:prstGeom>
            <a:solidFill>
              <a:schemeClr val="accent1">
                <a:lumMod val="50000"/>
                <a:lumOff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1350" dirty="0"/>
            </a:p>
          </p:txBody>
        </p:sp>
        <p:sp>
          <p:nvSpPr>
            <p:cNvPr id="7" name="Rectangle 6">
              <a:extLst>
                <a:ext uri="{FF2B5EF4-FFF2-40B4-BE49-F238E27FC236}">
                  <a16:creationId xmlns:a16="http://schemas.microsoft.com/office/drawing/2014/main" id="{ED92F3CA-F68F-4C69-878C-A1FF60645295}"/>
                </a:ext>
              </a:extLst>
            </p:cNvPr>
            <p:cNvSpPr/>
            <p:nvPr/>
          </p:nvSpPr>
          <p:spPr>
            <a:xfrm>
              <a:off x="3625795" y="4366359"/>
              <a:ext cx="3172571" cy="349858"/>
            </a:xfrm>
            <a:prstGeom prst="rect">
              <a:avLst/>
            </a:prstGeom>
            <a:solidFill>
              <a:schemeClr val="accent1">
                <a:lumMod val="25000"/>
                <a:lumOff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1350" dirty="0"/>
            </a:p>
          </p:txBody>
        </p:sp>
        <p:sp>
          <p:nvSpPr>
            <p:cNvPr id="8" name="Rectangle 7">
              <a:extLst>
                <a:ext uri="{FF2B5EF4-FFF2-40B4-BE49-F238E27FC236}">
                  <a16:creationId xmlns:a16="http://schemas.microsoft.com/office/drawing/2014/main" id="{5CCDA44D-4283-4FC2-AFB8-9254ADE8E9E1}"/>
                </a:ext>
              </a:extLst>
            </p:cNvPr>
            <p:cNvSpPr/>
            <p:nvPr/>
          </p:nvSpPr>
          <p:spPr>
            <a:xfrm>
              <a:off x="3625795" y="4767899"/>
              <a:ext cx="3172571" cy="349858"/>
            </a:xfrm>
            <a:prstGeom prst="rect">
              <a:avLst/>
            </a:prstGeom>
            <a:solidFill>
              <a:schemeClr val="accent1">
                <a:lumMod val="10000"/>
                <a:lumOff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sz="1350" dirty="0"/>
            </a:p>
          </p:txBody>
        </p:sp>
        <p:sp>
          <p:nvSpPr>
            <p:cNvPr id="2" name="Rectangle 1">
              <a:extLst>
                <a:ext uri="{FF2B5EF4-FFF2-40B4-BE49-F238E27FC236}">
                  <a16:creationId xmlns:a16="http://schemas.microsoft.com/office/drawing/2014/main" id="{421EA850-1CA3-487D-9AED-3DEAE7BD8F6B}"/>
                </a:ext>
              </a:extLst>
            </p:cNvPr>
            <p:cNvSpPr/>
            <p:nvPr/>
          </p:nvSpPr>
          <p:spPr>
            <a:xfrm>
              <a:off x="3625795" y="3964819"/>
              <a:ext cx="556591" cy="75139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 name="Rectangle 9">
              <a:extLst>
                <a:ext uri="{FF2B5EF4-FFF2-40B4-BE49-F238E27FC236}">
                  <a16:creationId xmlns:a16="http://schemas.microsoft.com/office/drawing/2014/main" id="{36C81D20-92FC-4970-A20B-78B82D5BA289}"/>
                </a:ext>
              </a:extLst>
            </p:cNvPr>
            <p:cNvSpPr/>
            <p:nvPr/>
          </p:nvSpPr>
          <p:spPr>
            <a:xfrm>
              <a:off x="3625795" y="4366359"/>
              <a:ext cx="556591" cy="75139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 name="Rectangle 10">
              <a:extLst>
                <a:ext uri="{FF2B5EF4-FFF2-40B4-BE49-F238E27FC236}">
                  <a16:creationId xmlns:a16="http://schemas.microsoft.com/office/drawing/2014/main" id="{91FBC912-C335-4F94-9E8B-8B7EA4F23028}"/>
                </a:ext>
              </a:extLst>
            </p:cNvPr>
            <p:cNvSpPr/>
            <p:nvPr/>
          </p:nvSpPr>
          <p:spPr>
            <a:xfrm>
              <a:off x="4939382" y="4392200"/>
              <a:ext cx="556591" cy="751398"/>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 name="Rectangle 11">
              <a:extLst>
                <a:ext uri="{FF2B5EF4-FFF2-40B4-BE49-F238E27FC236}">
                  <a16:creationId xmlns:a16="http://schemas.microsoft.com/office/drawing/2014/main" id="{597DB139-C3BB-467C-8530-AD40A555995A}"/>
                </a:ext>
              </a:extLst>
            </p:cNvPr>
            <p:cNvSpPr/>
            <p:nvPr/>
          </p:nvSpPr>
          <p:spPr>
            <a:xfrm>
              <a:off x="6241774" y="3964819"/>
              <a:ext cx="556591" cy="751398"/>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3" name="Rectangle 12">
              <a:extLst>
                <a:ext uri="{FF2B5EF4-FFF2-40B4-BE49-F238E27FC236}">
                  <a16:creationId xmlns:a16="http://schemas.microsoft.com/office/drawing/2014/main" id="{CF01F3D4-0D99-430F-85CB-F1BC8E4D8637}"/>
                </a:ext>
              </a:extLst>
            </p:cNvPr>
            <p:cNvSpPr/>
            <p:nvPr/>
          </p:nvSpPr>
          <p:spPr>
            <a:xfrm>
              <a:off x="3554234" y="3864334"/>
              <a:ext cx="3323644" cy="1359673"/>
            </a:xfrm>
            <a:prstGeom prst="rect">
              <a:avLst/>
            </a:prstGeom>
            <a:noFill/>
            <a:ln w="28575">
              <a:solidFill>
                <a:srgbClr val="EAB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15" name="Connecteur droit avec flèche 14">
              <a:extLst>
                <a:ext uri="{FF2B5EF4-FFF2-40B4-BE49-F238E27FC236}">
                  <a16:creationId xmlns:a16="http://schemas.microsoft.com/office/drawing/2014/main" id="{824D90A5-C403-413D-B902-0A1185916172}"/>
                </a:ext>
              </a:extLst>
            </p:cNvPr>
            <p:cNvCxnSpPr>
              <a:cxnSpLocks/>
            </p:cNvCxnSpPr>
            <p:nvPr/>
          </p:nvCxnSpPr>
          <p:spPr>
            <a:xfrm flipV="1">
              <a:off x="4272188" y="3844293"/>
              <a:ext cx="0" cy="136800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43CF1C70-C0DB-433A-BB3F-E07BEC88488E}"/>
                </a:ext>
              </a:extLst>
            </p:cNvPr>
            <p:cNvCxnSpPr>
              <a:cxnSpLocks/>
            </p:cNvCxnSpPr>
            <p:nvPr/>
          </p:nvCxnSpPr>
          <p:spPr>
            <a:xfrm flipV="1">
              <a:off x="4861910" y="3844293"/>
              <a:ext cx="0" cy="136800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Connecteur droit avec flèche 17">
              <a:extLst>
                <a:ext uri="{FF2B5EF4-FFF2-40B4-BE49-F238E27FC236}">
                  <a16:creationId xmlns:a16="http://schemas.microsoft.com/office/drawing/2014/main" id="{37D23261-EC60-4B2B-9537-B03FEA2D70F9}"/>
                </a:ext>
              </a:extLst>
            </p:cNvPr>
            <p:cNvCxnSpPr>
              <a:cxnSpLocks/>
            </p:cNvCxnSpPr>
            <p:nvPr/>
          </p:nvCxnSpPr>
          <p:spPr>
            <a:xfrm flipV="1">
              <a:off x="5561626" y="3844293"/>
              <a:ext cx="0" cy="136800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Connecteur droit avec flèche 18">
              <a:extLst>
                <a:ext uri="{FF2B5EF4-FFF2-40B4-BE49-F238E27FC236}">
                  <a16:creationId xmlns:a16="http://schemas.microsoft.com/office/drawing/2014/main" id="{5AF3E601-A7C9-459F-8FF5-F7A83D18C213}"/>
                </a:ext>
              </a:extLst>
            </p:cNvPr>
            <p:cNvCxnSpPr>
              <a:cxnSpLocks/>
            </p:cNvCxnSpPr>
            <p:nvPr/>
          </p:nvCxnSpPr>
          <p:spPr>
            <a:xfrm flipV="1">
              <a:off x="6157973" y="3834783"/>
              <a:ext cx="0" cy="136800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0" name="Image 19">
              <a:extLst>
                <a:ext uri="{FF2B5EF4-FFF2-40B4-BE49-F238E27FC236}">
                  <a16:creationId xmlns:a16="http://schemas.microsoft.com/office/drawing/2014/main" id="{F038D1C2-2B95-48E6-BCAE-71E129803F8D}"/>
                </a:ext>
              </a:extLst>
            </p:cNvPr>
            <p:cNvPicPr>
              <a:picLocks noChangeAspect="1"/>
            </p:cNvPicPr>
            <p:nvPr/>
          </p:nvPicPr>
          <p:blipFill>
            <a:blip r:embed="rId2">
              <a:duotone>
                <a:prstClr val="black"/>
                <a:srgbClr val="FF0000">
                  <a:tint val="45000"/>
                  <a:satMod val="400000"/>
                </a:srgbClr>
              </a:duotone>
            </a:blip>
            <a:stretch>
              <a:fillRect/>
            </a:stretch>
          </p:blipFill>
          <p:spPr>
            <a:xfrm>
              <a:off x="1727713" y="5454730"/>
              <a:ext cx="988583" cy="656650"/>
            </a:xfrm>
            <a:prstGeom prst="rect">
              <a:avLst/>
            </a:prstGeom>
          </p:spPr>
        </p:pic>
        <p:pic>
          <p:nvPicPr>
            <p:cNvPr id="22" name="Image 21">
              <a:extLst>
                <a:ext uri="{FF2B5EF4-FFF2-40B4-BE49-F238E27FC236}">
                  <a16:creationId xmlns:a16="http://schemas.microsoft.com/office/drawing/2014/main" id="{AA1B5532-BB40-44AF-BCFC-4A8E71A2F2EF}"/>
                </a:ext>
              </a:extLst>
            </p:cNvPr>
            <p:cNvPicPr>
              <a:picLocks noChangeAspect="1"/>
            </p:cNvPicPr>
            <p:nvPr/>
          </p:nvPicPr>
          <p:blipFill>
            <a:blip r:embed="rId2">
              <a:duotone>
                <a:prstClr val="black"/>
                <a:schemeClr val="tx1">
                  <a:lumMod val="50000"/>
                  <a:tint val="45000"/>
                  <a:satMod val="400000"/>
                </a:schemeClr>
              </a:duotone>
            </a:blip>
            <a:stretch>
              <a:fillRect/>
            </a:stretch>
          </p:blipFill>
          <p:spPr>
            <a:xfrm>
              <a:off x="3283605" y="5454730"/>
              <a:ext cx="988583" cy="656650"/>
            </a:xfrm>
            <a:prstGeom prst="rect">
              <a:avLst/>
            </a:prstGeom>
          </p:spPr>
        </p:pic>
        <p:pic>
          <p:nvPicPr>
            <p:cNvPr id="23" name="Image 22">
              <a:extLst>
                <a:ext uri="{FF2B5EF4-FFF2-40B4-BE49-F238E27FC236}">
                  <a16:creationId xmlns:a16="http://schemas.microsoft.com/office/drawing/2014/main" id="{73540496-FAAA-462D-9273-A0353CCDF71E}"/>
                </a:ext>
              </a:extLst>
            </p:cNvPr>
            <p:cNvPicPr>
              <a:picLocks noChangeAspect="1"/>
            </p:cNvPicPr>
            <p:nvPr/>
          </p:nvPicPr>
          <p:blipFill>
            <a:blip r:embed="rId2">
              <a:duotone>
                <a:prstClr val="black"/>
                <a:schemeClr val="accent5">
                  <a:tint val="45000"/>
                  <a:satMod val="400000"/>
                </a:schemeClr>
              </a:duotone>
            </a:blip>
            <a:stretch>
              <a:fillRect/>
            </a:stretch>
          </p:blipFill>
          <p:spPr>
            <a:xfrm>
              <a:off x="4861910" y="5454730"/>
              <a:ext cx="988583" cy="656650"/>
            </a:xfrm>
            <a:prstGeom prst="rect">
              <a:avLst/>
            </a:prstGeom>
          </p:spPr>
        </p:pic>
        <p:pic>
          <p:nvPicPr>
            <p:cNvPr id="24" name="Image 23">
              <a:extLst>
                <a:ext uri="{FF2B5EF4-FFF2-40B4-BE49-F238E27FC236}">
                  <a16:creationId xmlns:a16="http://schemas.microsoft.com/office/drawing/2014/main" id="{2CBE0B48-346F-4964-B761-785B328BD948}"/>
                </a:ext>
              </a:extLst>
            </p:cNvPr>
            <p:cNvPicPr>
              <a:picLocks noChangeAspect="1"/>
            </p:cNvPicPr>
            <p:nvPr/>
          </p:nvPicPr>
          <p:blipFill>
            <a:blip r:embed="rId2">
              <a:duotone>
                <a:prstClr val="black"/>
                <a:schemeClr val="accent4">
                  <a:tint val="45000"/>
                  <a:satMod val="400000"/>
                </a:schemeClr>
              </a:duotone>
            </a:blip>
            <a:stretch>
              <a:fillRect/>
            </a:stretch>
          </p:blipFill>
          <p:spPr>
            <a:xfrm>
              <a:off x="7072315" y="5454730"/>
              <a:ext cx="988583" cy="656650"/>
            </a:xfrm>
            <a:prstGeom prst="rect">
              <a:avLst/>
            </a:prstGeom>
          </p:spPr>
        </p:pic>
        <p:cxnSp>
          <p:nvCxnSpPr>
            <p:cNvPr id="5" name="Connecteur droit avec flèche 4">
              <a:extLst>
                <a:ext uri="{FF2B5EF4-FFF2-40B4-BE49-F238E27FC236}">
                  <a16:creationId xmlns:a16="http://schemas.microsoft.com/office/drawing/2014/main" id="{2D5DFF66-1A9A-4CA7-A862-66DD5D0871C5}"/>
                </a:ext>
              </a:extLst>
            </p:cNvPr>
            <p:cNvCxnSpPr>
              <a:cxnSpLocks/>
            </p:cNvCxnSpPr>
            <p:nvPr/>
          </p:nvCxnSpPr>
          <p:spPr>
            <a:xfrm flipH="1">
              <a:off x="2364259" y="4139748"/>
              <a:ext cx="1261536" cy="13149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eur droit avec flèche 26">
              <a:extLst>
                <a:ext uri="{FF2B5EF4-FFF2-40B4-BE49-F238E27FC236}">
                  <a16:creationId xmlns:a16="http://schemas.microsoft.com/office/drawing/2014/main" id="{2C447585-22BF-42F7-843A-3395096674D5}"/>
                </a:ext>
              </a:extLst>
            </p:cNvPr>
            <p:cNvCxnSpPr>
              <a:cxnSpLocks/>
              <a:stCxn id="10" idx="2"/>
              <a:endCxn id="22" idx="0"/>
            </p:cNvCxnSpPr>
            <p:nvPr/>
          </p:nvCxnSpPr>
          <p:spPr>
            <a:xfrm flipH="1">
              <a:off x="3777897" y="5117757"/>
              <a:ext cx="126194" cy="336973"/>
            </a:xfrm>
            <a:prstGeom prst="straightConnector1">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9DED167A-EFEC-4E79-A7F9-6D704C94D748}"/>
                </a:ext>
              </a:extLst>
            </p:cNvPr>
            <p:cNvCxnSpPr>
              <a:cxnSpLocks/>
              <a:stCxn id="11" idx="2"/>
              <a:endCxn id="23" idx="0"/>
            </p:cNvCxnSpPr>
            <p:nvPr/>
          </p:nvCxnSpPr>
          <p:spPr>
            <a:xfrm>
              <a:off x="5217678" y="5143598"/>
              <a:ext cx="138524" cy="31113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eur droit avec flèche 33">
              <a:extLst>
                <a:ext uri="{FF2B5EF4-FFF2-40B4-BE49-F238E27FC236}">
                  <a16:creationId xmlns:a16="http://schemas.microsoft.com/office/drawing/2014/main" id="{10644614-D774-4585-9DDA-9467A4B1518C}"/>
                </a:ext>
              </a:extLst>
            </p:cNvPr>
            <p:cNvCxnSpPr>
              <a:cxnSpLocks/>
              <a:stCxn id="12" idx="2"/>
            </p:cNvCxnSpPr>
            <p:nvPr/>
          </p:nvCxnSpPr>
          <p:spPr>
            <a:xfrm>
              <a:off x="6520070" y="4716217"/>
              <a:ext cx="1046536" cy="738513"/>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6" name="Flèche : droite 35">
              <a:extLst>
                <a:ext uri="{FF2B5EF4-FFF2-40B4-BE49-F238E27FC236}">
                  <a16:creationId xmlns:a16="http://schemas.microsoft.com/office/drawing/2014/main" id="{A2F708D5-27AB-416F-BDDD-A63D59413FE9}"/>
                </a:ext>
              </a:extLst>
            </p:cNvPr>
            <p:cNvSpPr/>
            <p:nvPr/>
          </p:nvSpPr>
          <p:spPr>
            <a:xfrm rot="5400000">
              <a:off x="2152148" y="6212611"/>
              <a:ext cx="139712" cy="147766"/>
            </a:xfrm>
            <a:prstGeom prst="rightArrow">
              <a:avLst/>
            </a:prstGeom>
            <a:solidFill>
              <a:srgbClr val="1D79B7"/>
            </a:solidFill>
            <a:ln>
              <a:solidFill>
                <a:srgbClr val="1D79B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7" name="Flèche : droite 36">
              <a:extLst>
                <a:ext uri="{FF2B5EF4-FFF2-40B4-BE49-F238E27FC236}">
                  <a16:creationId xmlns:a16="http://schemas.microsoft.com/office/drawing/2014/main" id="{52278083-7107-4EDE-85D0-277708D20B7B}"/>
                </a:ext>
              </a:extLst>
            </p:cNvPr>
            <p:cNvSpPr/>
            <p:nvPr/>
          </p:nvSpPr>
          <p:spPr>
            <a:xfrm rot="5400000">
              <a:off x="3708040" y="6208191"/>
              <a:ext cx="139712" cy="147766"/>
            </a:xfrm>
            <a:prstGeom prst="rightArrow">
              <a:avLst/>
            </a:prstGeom>
            <a:solidFill>
              <a:srgbClr val="1D79B7"/>
            </a:solidFill>
            <a:ln>
              <a:solidFill>
                <a:srgbClr val="1D79B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8" name="Flèche : droite 37">
              <a:extLst>
                <a:ext uri="{FF2B5EF4-FFF2-40B4-BE49-F238E27FC236}">
                  <a16:creationId xmlns:a16="http://schemas.microsoft.com/office/drawing/2014/main" id="{7A7B5050-2872-4A2E-A6E1-732DF70399FE}"/>
                </a:ext>
              </a:extLst>
            </p:cNvPr>
            <p:cNvSpPr/>
            <p:nvPr/>
          </p:nvSpPr>
          <p:spPr>
            <a:xfrm rot="5400000">
              <a:off x="5352234" y="6212611"/>
              <a:ext cx="139712" cy="147766"/>
            </a:xfrm>
            <a:prstGeom prst="rightArrow">
              <a:avLst/>
            </a:prstGeom>
            <a:solidFill>
              <a:srgbClr val="1D79B7"/>
            </a:solidFill>
            <a:ln>
              <a:solidFill>
                <a:srgbClr val="1D79B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0" name="Flèche : droite 39">
              <a:extLst>
                <a:ext uri="{FF2B5EF4-FFF2-40B4-BE49-F238E27FC236}">
                  <a16:creationId xmlns:a16="http://schemas.microsoft.com/office/drawing/2014/main" id="{EF531803-7198-4695-B2A1-8D1823AAD5B8}"/>
                </a:ext>
              </a:extLst>
            </p:cNvPr>
            <p:cNvSpPr/>
            <p:nvPr/>
          </p:nvSpPr>
          <p:spPr>
            <a:xfrm rot="5400000">
              <a:off x="7570633" y="6192747"/>
              <a:ext cx="139712" cy="147766"/>
            </a:xfrm>
            <a:prstGeom prst="rightArrow">
              <a:avLst/>
            </a:prstGeom>
            <a:solidFill>
              <a:srgbClr val="1D79B7"/>
            </a:solidFill>
            <a:ln>
              <a:solidFill>
                <a:srgbClr val="1D79B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1" name="Rectangle 40">
              <a:extLst>
                <a:ext uri="{FF2B5EF4-FFF2-40B4-BE49-F238E27FC236}">
                  <a16:creationId xmlns:a16="http://schemas.microsoft.com/office/drawing/2014/main" id="{18828324-482E-49E0-8C5C-DDCD83150D95}"/>
                </a:ext>
              </a:extLst>
            </p:cNvPr>
            <p:cNvSpPr/>
            <p:nvPr/>
          </p:nvSpPr>
          <p:spPr>
            <a:xfrm>
              <a:off x="2155625" y="6421785"/>
              <a:ext cx="152400" cy="216000"/>
            </a:xfrm>
            <a:prstGeom prst="rect">
              <a:avLst/>
            </a:prstGeom>
            <a:solidFill>
              <a:srgbClr val="C9C9C8"/>
            </a:solidFill>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b="1" dirty="0">
                  <a:solidFill>
                    <a:schemeClr val="tx1">
                      <a:lumMod val="50000"/>
                    </a:schemeClr>
                  </a:solidFill>
                </a:rPr>
                <a:t>1</a:t>
              </a:r>
            </a:p>
          </p:txBody>
        </p:sp>
        <p:sp>
          <p:nvSpPr>
            <p:cNvPr id="42" name="Rectangle 41">
              <a:extLst>
                <a:ext uri="{FF2B5EF4-FFF2-40B4-BE49-F238E27FC236}">
                  <a16:creationId xmlns:a16="http://schemas.microsoft.com/office/drawing/2014/main" id="{5C75F20F-6C5F-4FF8-BD87-8575748A9BAB}"/>
                </a:ext>
              </a:extLst>
            </p:cNvPr>
            <p:cNvSpPr/>
            <p:nvPr/>
          </p:nvSpPr>
          <p:spPr>
            <a:xfrm>
              <a:off x="3704013" y="6429857"/>
              <a:ext cx="152400" cy="216000"/>
            </a:xfrm>
            <a:prstGeom prst="rect">
              <a:avLst/>
            </a:prstGeom>
            <a:solidFill>
              <a:srgbClr val="C9C9C8"/>
            </a:solidFill>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b="1" dirty="0">
                  <a:solidFill>
                    <a:schemeClr val="tx1">
                      <a:lumMod val="50000"/>
                    </a:schemeClr>
                  </a:solidFill>
                </a:rPr>
                <a:t>1</a:t>
              </a:r>
            </a:p>
          </p:txBody>
        </p:sp>
        <p:sp>
          <p:nvSpPr>
            <p:cNvPr id="43" name="Rectangle 42">
              <a:extLst>
                <a:ext uri="{FF2B5EF4-FFF2-40B4-BE49-F238E27FC236}">
                  <a16:creationId xmlns:a16="http://schemas.microsoft.com/office/drawing/2014/main" id="{3E9E09FB-ABC4-40DD-BF44-267865C14C39}"/>
                </a:ext>
              </a:extLst>
            </p:cNvPr>
            <p:cNvSpPr/>
            <p:nvPr/>
          </p:nvSpPr>
          <p:spPr>
            <a:xfrm>
              <a:off x="5356201" y="6421785"/>
              <a:ext cx="152400" cy="216000"/>
            </a:xfrm>
            <a:prstGeom prst="rect">
              <a:avLst/>
            </a:prstGeom>
            <a:solidFill>
              <a:srgbClr val="C9C9C8"/>
            </a:solidFill>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b="1" dirty="0">
                  <a:solidFill>
                    <a:schemeClr val="tx1">
                      <a:lumMod val="50000"/>
                    </a:schemeClr>
                  </a:solidFill>
                </a:rPr>
                <a:t>0</a:t>
              </a:r>
            </a:p>
          </p:txBody>
        </p:sp>
        <p:sp>
          <p:nvSpPr>
            <p:cNvPr id="44" name="Rectangle 43">
              <a:extLst>
                <a:ext uri="{FF2B5EF4-FFF2-40B4-BE49-F238E27FC236}">
                  <a16:creationId xmlns:a16="http://schemas.microsoft.com/office/drawing/2014/main" id="{46AC2D3E-5285-48DF-AF4A-61FD921B1590}"/>
                </a:ext>
              </a:extLst>
            </p:cNvPr>
            <p:cNvSpPr/>
            <p:nvPr/>
          </p:nvSpPr>
          <p:spPr>
            <a:xfrm>
              <a:off x="7566606" y="6429857"/>
              <a:ext cx="152400" cy="216000"/>
            </a:xfrm>
            <a:prstGeom prst="rect">
              <a:avLst/>
            </a:prstGeom>
            <a:solidFill>
              <a:srgbClr val="C9C9C8"/>
            </a:solidFill>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b="1" dirty="0">
                  <a:solidFill>
                    <a:schemeClr val="tx1">
                      <a:lumMod val="50000"/>
                    </a:schemeClr>
                  </a:solidFill>
                </a:rPr>
                <a:t>1</a:t>
              </a:r>
            </a:p>
          </p:txBody>
        </p:sp>
        <p:sp>
          <p:nvSpPr>
            <p:cNvPr id="35" name="Rectangle : coins arrondis 34">
              <a:extLst>
                <a:ext uri="{FF2B5EF4-FFF2-40B4-BE49-F238E27FC236}">
                  <a16:creationId xmlns:a16="http://schemas.microsoft.com/office/drawing/2014/main" id="{27F3454C-F48F-4909-9F6A-C6DD0C8FFAB4}"/>
                </a:ext>
              </a:extLst>
            </p:cNvPr>
            <p:cNvSpPr/>
            <p:nvPr/>
          </p:nvSpPr>
          <p:spPr>
            <a:xfrm>
              <a:off x="1741338" y="6374079"/>
              <a:ext cx="6432605" cy="329143"/>
            </a:xfrm>
            <a:prstGeom prst="roundRect">
              <a:avLst/>
            </a:prstGeom>
            <a:noFill/>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fr-FR" sz="1350" dirty="0"/>
            </a:p>
          </p:txBody>
        </p:sp>
        <p:sp>
          <p:nvSpPr>
            <p:cNvPr id="47" name="Flèche : droite 46">
              <a:extLst>
                <a:ext uri="{FF2B5EF4-FFF2-40B4-BE49-F238E27FC236}">
                  <a16:creationId xmlns:a16="http://schemas.microsoft.com/office/drawing/2014/main" id="{D94F3C35-7B18-4545-BCDE-EAB14FB2FA1F}"/>
                </a:ext>
              </a:extLst>
            </p:cNvPr>
            <p:cNvSpPr/>
            <p:nvPr/>
          </p:nvSpPr>
          <p:spPr>
            <a:xfrm>
              <a:off x="8398895" y="6448512"/>
              <a:ext cx="432000" cy="144000"/>
            </a:xfrm>
            <a:prstGeom prst="rightArrow">
              <a:avLst/>
            </a:prstGeom>
            <a:solidFill>
              <a:srgbClr val="1D79B7"/>
            </a:solidFill>
            <a:ln>
              <a:solidFill>
                <a:srgbClr val="1D79B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8" name="Rectangle 47">
              <a:extLst>
                <a:ext uri="{FF2B5EF4-FFF2-40B4-BE49-F238E27FC236}">
                  <a16:creationId xmlns:a16="http://schemas.microsoft.com/office/drawing/2014/main" id="{E6DC9640-FA62-4570-B098-E2C268650F9D}"/>
                </a:ext>
              </a:extLst>
            </p:cNvPr>
            <p:cNvSpPr/>
            <p:nvPr/>
          </p:nvSpPr>
          <p:spPr>
            <a:xfrm>
              <a:off x="9050545" y="6412512"/>
              <a:ext cx="152400" cy="216000"/>
            </a:xfrm>
            <a:prstGeom prst="rect">
              <a:avLst/>
            </a:prstGeom>
            <a:solidFill>
              <a:srgbClr val="C9C9C8"/>
            </a:solidFill>
            <a:ln>
              <a:solidFill>
                <a:srgbClr val="EAB200"/>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b="1" dirty="0">
                  <a:solidFill>
                    <a:schemeClr val="tx1">
                      <a:lumMod val="50000"/>
                    </a:schemeClr>
                  </a:solidFill>
                </a:rPr>
                <a:t>1</a:t>
              </a:r>
            </a:p>
          </p:txBody>
        </p:sp>
      </p:grpSp>
    </p:spTree>
    <p:extLst>
      <p:ext uri="{BB962C8B-B14F-4D97-AF65-F5344CB8AC3E}">
        <p14:creationId xmlns:p14="http://schemas.microsoft.com/office/powerpoint/2010/main" val="233848639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092107"/>
          </a:xfrm>
        </p:spPr>
        <p:txBody>
          <a:bodyPr>
            <a:normAutofit fontScale="92500"/>
          </a:bodyPr>
          <a:lstStyle/>
          <a:p>
            <a:pPr marL="342900" lvl="1" indent="0" algn="just">
              <a:lnSpc>
                <a:spcPct val="150000"/>
              </a:lnSpc>
              <a:buClr>
                <a:schemeClr val="accent2"/>
              </a:buClr>
              <a:buNone/>
            </a:pPr>
            <a:r>
              <a:rPr lang="fr-FR" sz="1200" dirty="0"/>
              <a:t>Certaines étapes supplémentaires qui peuvent être prises en compte pour affiner le modèle :</a:t>
            </a:r>
          </a:p>
          <a:p>
            <a:pPr marL="342900" lvl="1" indent="0" algn="just">
              <a:lnSpc>
                <a:spcPct val="150000"/>
              </a:lnSpc>
              <a:buClr>
                <a:schemeClr val="accent2"/>
              </a:buClr>
              <a:buNone/>
            </a:pPr>
            <a:endParaRPr lang="fr-FR" sz="1200" dirty="0"/>
          </a:p>
          <a:p>
            <a:pPr marL="600075" lvl="1" indent="-257175" algn="just">
              <a:lnSpc>
                <a:spcPct val="150000"/>
              </a:lnSpc>
              <a:buClr>
                <a:schemeClr val="accent2"/>
              </a:buClr>
              <a:buFont typeface="+mj-lt"/>
              <a:buAutoNum type="arabicPeriod"/>
            </a:pPr>
            <a:r>
              <a:rPr lang="fr-FR" sz="1200" dirty="0"/>
              <a:t>Régler des paramètres de l'algorithme de l'arbre de décision, tels que la profondeur maximale de l'arbre et le nombre minimal d'échantillons requis pour diviser un nœud.</a:t>
            </a:r>
          </a:p>
          <a:p>
            <a:pPr marL="600075" lvl="1" indent="-257175" algn="just">
              <a:lnSpc>
                <a:spcPct val="150000"/>
              </a:lnSpc>
              <a:buClr>
                <a:schemeClr val="accent2"/>
              </a:buClr>
              <a:buFont typeface="+mj-lt"/>
              <a:buAutoNum type="arabicPeriod"/>
            </a:pPr>
            <a:r>
              <a:rPr lang="fr-FR" sz="1200" dirty="0"/>
              <a:t>Élaguer les arbres pour enlever les branches qui n'apportent pas d'amélioration significative de la précision.</a:t>
            </a:r>
          </a:p>
          <a:p>
            <a:pPr marL="600075" lvl="1" indent="-257175" algn="just">
              <a:lnSpc>
                <a:spcPct val="150000"/>
              </a:lnSpc>
              <a:buClr>
                <a:schemeClr val="accent2"/>
              </a:buClr>
              <a:buFont typeface="+mj-lt"/>
              <a:buAutoNum type="arabicPeriod"/>
            </a:pPr>
            <a:r>
              <a:rPr lang="fr-FR" sz="1200" dirty="0"/>
              <a:t>Utiliser la validation croisée pour évaluer les performances du modèle et identifier la meilleure combinaison de paramètres.</a:t>
            </a:r>
          </a:p>
          <a:p>
            <a:pPr marL="600075" lvl="1" indent="-257175" algn="just">
              <a:lnSpc>
                <a:spcPct val="150000"/>
              </a:lnSpc>
              <a:buClr>
                <a:schemeClr val="accent2"/>
              </a:buClr>
              <a:buFont typeface="+mj-lt"/>
              <a:buAutoNum type="arabicPeriod"/>
            </a:pPr>
            <a:r>
              <a:rPr lang="fr-FR" sz="1200" dirty="0"/>
              <a:t>Utiliser les « </a:t>
            </a:r>
            <a:r>
              <a:rPr lang="fr-FR" sz="1200" b="1" dirty="0"/>
              <a:t>features importance »</a:t>
            </a:r>
            <a:r>
              <a:rPr lang="fr-FR" sz="1200" dirty="0"/>
              <a:t> pour sélectionner les variables pertinentes, permettant ainsi de réduire la dimension des données et avoir de meilleurs résultats.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153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fine tuning</a:t>
            </a:r>
          </a:p>
        </p:txBody>
      </p:sp>
    </p:spTree>
    <p:extLst>
      <p:ext uri="{BB962C8B-B14F-4D97-AF65-F5344CB8AC3E}">
        <p14:creationId xmlns:p14="http://schemas.microsoft.com/office/powerpoint/2010/main" val="345333314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092107"/>
          </a:xfrm>
        </p:spPr>
        <p:txBody>
          <a:bodyPr>
            <a:normAutofit fontScale="92500"/>
          </a:bodyPr>
          <a:lstStyle/>
          <a:p>
            <a:pPr lvl="1" algn="just">
              <a:lnSpc>
                <a:spcPct val="150000"/>
              </a:lnSpc>
              <a:buClr>
                <a:schemeClr val="accent2"/>
              </a:buClr>
            </a:pPr>
            <a:r>
              <a:rPr lang="fr-FR" sz="1350" dirty="0"/>
              <a:t>Il s'agit d'un algorithme polyvalent qui peut être utilisé à la fois pour des tâches de classification et de régression.</a:t>
            </a:r>
          </a:p>
          <a:p>
            <a:pPr lvl="1" algn="just">
              <a:lnSpc>
                <a:spcPct val="150000"/>
              </a:lnSpc>
              <a:buClr>
                <a:schemeClr val="accent2"/>
              </a:buClr>
            </a:pPr>
            <a:r>
              <a:rPr lang="fr-FR" sz="1350" dirty="0"/>
              <a:t>Il peut gérer des données de grande dimension et un grand nombre de features.</a:t>
            </a:r>
          </a:p>
          <a:p>
            <a:pPr lvl="1" algn="just">
              <a:lnSpc>
                <a:spcPct val="150000"/>
              </a:lnSpc>
              <a:buClr>
                <a:schemeClr val="accent2"/>
              </a:buClr>
            </a:pPr>
            <a:r>
              <a:rPr lang="fr-FR" sz="1350" dirty="0"/>
              <a:t>Il est moins sujet à l’overfitting par rapport à un arbre de décision unique.</a:t>
            </a:r>
          </a:p>
          <a:p>
            <a:pPr lvl="1" algn="just">
              <a:lnSpc>
                <a:spcPct val="150000"/>
              </a:lnSpc>
              <a:buClr>
                <a:schemeClr val="accent2"/>
              </a:buClr>
            </a:pPr>
            <a:r>
              <a:rPr lang="fr-FR" sz="1350" dirty="0"/>
              <a:t>Il fournit une estimation de l'importance des features dans le modèle.</a:t>
            </a:r>
          </a:p>
          <a:p>
            <a:pPr lvl="1" algn="just">
              <a:lnSpc>
                <a:spcPct val="150000"/>
              </a:lnSpc>
              <a:buClr>
                <a:schemeClr val="accent2"/>
              </a:buClr>
            </a:pPr>
            <a:r>
              <a:rPr lang="fr-FR" sz="1350" dirty="0"/>
              <a:t>Il peut être utilisé pour les variables catégorielles et continues.</a:t>
            </a:r>
          </a:p>
          <a:p>
            <a:pPr lvl="1" algn="just">
              <a:lnSpc>
                <a:spcPct val="150000"/>
              </a:lnSpc>
              <a:buClr>
                <a:schemeClr val="accent2"/>
              </a:buClr>
            </a:pPr>
            <a:r>
              <a:rPr lang="fr-FR" sz="1350" dirty="0"/>
              <a:t>Il peut gérer les données manquantes.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154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avantages</a:t>
            </a:r>
          </a:p>
        </p:txBody>
      </p:sp>
    </p:spTree>
    <p:extLst>
      <p:ext uri="{BB962C8B-B14F-4D97-AF65-F5344CB8AC3E}">
        <p14:creationId xmlns:p14="http://schemas.microsoft.com/office/powerpoint/2010/main" val="299767262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092107"/>
          </a:xfrm>
        </p:spPr>
        <p:txBody>
          <a:bodyPr>
            <a:normAutofit/>
          </a:bodyPr>
          <a:lstStyle/>
          <a:p>
            <a:pPr lvl="1" algn="just">
              <a:lnSpc>
                <a:spcPct val="150000"/>
              </a:lnSpc>
              <a:buClr>
                <a:schemeClr val="accent2"/>
              </a:buClr>
            </a:pPr>
            <a:r>
              <a:rPr lang="fr-FR" sz="1200" dirty="0"/>
              <a:t>Il peut être difficile d'interpréter le modèle final car il s'agit d'une combinaison de nombreux arbres de décision. </a:t>
            </a:r>
          </a:p>
          <a:p>
            <a:pPr lvl="1" algn="just">
              <a:lnSpc>
                <a:spcPct val="150000"/>
              </a:lnSpc>
              <a:buClr>
                <a:schemeClr val="accent2"/>
              </a:buClr>
            </a:pPr>
            <a:r>
              <a:rPr lang="fr-FR" sz="1200" dirty="0"/>
              <a:t>Il est moins performant avec des données de très petite taille.</a:t>
            </a:r>
          </a:p>
          <a:p>
            <a:pPr lvl="1" algn="just">
              <a:lnSpc>
                <a:spcPct val="150000"/>
              </a:lnSpc>
              <a:buClr>
                <a:schemeClr val="accent2"/>
              </a:buClr>
            </a:pPr>
            <a:r>
              <a:rPr lang="fr-FR" sz="1200" dirty="0"/>
              <a:t>Il peut être coûteux en temps de calcul de former un grand nombre d'arbres, en particulier si les données sont de grande dimension.</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155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inconvénients</a:t>
            </a:r>
          </a:p>
        </p:txBody>
      </p:sp>
    </p:spTree>
    <p:extLst>
      <p:ext uri="{BB962C8B-B14F-4D97-AF65-F5344CB8AC3E}">
        <p14:creationId xmlns:p14="http://schemas.microsoft.com/office/powerpoint/2010/main" val="84974628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092107"/>
          </a:xfrm>
        </p:spPr>
        <p:txBody>
          <a:bodyPr>
            <a:normAutofit fontScale="92500"/>
          </a:bodyPr>
          <a:lstStyle/>
          <a:p>
            <a:pPr marL="342900" lvl="1" indent="0" algn="just">
              <a:lnSpc>
                <a:spcPct val="150000"/>
              </a:lnSpc>
              <a:buClr>
                <a:schemeClr val="accent2"/>
              </a:buClr>
              <a:buNone/>
            </a:pPr>
            <a:r>
              <a:rPr lang="fr-FR" sz="1350" b="1" dirty="0"/>
              <a:t>Classification : </a:t>
            </a:r>
          </a:p>
          <a:p>
            <a:pPr lvl="1" algn="just">
              <a:lnSpc>
                <a:spcPct val="150000"/>
              </a:lnSpc>
              <a:buClr>
                <a:schemeClr val="accent2"/>
              </a:buClr>
            </a:pPr>
            <a:r>
              <a:rPr lang="fr-FR" sz="1350" dirty="0"/>
              <a:t>Les forêts aléatoires sont largement utilisées pour les tâches de classification dans divers domaines tels que la classification d'images, la reconnaissance vocale, la bio-informatique et le diagnostic médical. </a:t>
            </a:r>
          </a:p>
          <a:p>
            <a:pPr lvl="1" algn="just">
              <a:lnSpc>
                <a:spcPct val="150000"/>
              </a:lnSpc>
              <a:buClr>
                <a:schemeClr val="accent2"/>
              </a:buClr>
            </a:pPr>
            <a:endParaRPr lang="fr-FR" sz="1350" dirty="0"/>
          </a:p>
          <a:p>
            <a:pPr lvl="1" algn="just">
              <a:lnSpc>
                <a:spcPct val="150000"/>
              </a:lnSpc>
              <a:buClr>
                <a:schemeClr val="accent2"/>
              </a:buClr>
            </a:pPr>
            <a:r>
              <a:rPr lang="fr-FR" sz="1350" dirty="0"/>
              <a:t>Par exemple, des forêts aléatoires peuvent être utilisées pour classer des images de chiffres manuscrits, pour identifier l'espèce d'une fleur d'iris en fonction de ses caractéristiques physiques et pour diagnostiquer un patient atteint d'une certaine maladie en fonction des symptômes et des résultats des tests.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156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cas d’applications</a:t>
            </a:r>
          </a:p>
        </p:txBody>
      </p:sp>
    </p:spTree>
    <p:extLst>
      <p:ext uri="{BB962C8B-B14F-4D97-AF65-F5344CB8AC3E}">
        <p14:creationId xmlns:p14="http://schemas.microsoft.com/office/powerpoint/2010/main" val="198214330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092107"/>
          </a:xfrm>
        </p:spPr>
        <p:txBody>
          <a:bodyPr>
            <a:normAutofit fontScale="92500"/>
          </a:bodyPr>
          <a:lstStyle/>
          <a:p>
            <a:pPr marL="342900" lvl="1" indent="0" algn="just">
              <a:lnSpc>
                <a:spcPct val="150000"/>
              </a:lnSpc>
              <a:buClr>
                <a:schemeClr val="accent2"/>
              </a:buClr>
              <a:buNone/>
            </a:pPr>
            <a:r>
              <a:rPr lang="fr-FR" sz="1350" b="1" dirty="0"/>
              <a:t>Régression : </a:t>
            </a:r>
          </a:p>
          <a:p>
            <a:pPr lvl="1" algn="just">
              <a:lnSpc>
                <a:spcPct val="150000"/>
              </a:lnSpc>
              <a:buClr>
                <a:schemeClr val="accent2"/>
              </a:buClr>
            </a:pPr>
            <a:r>
              <a:rPr lang="fr-FR" sz="1350" dirty="0"/>
              <a:t>Random Forest peut être utilisé pour des tâches de régression telles que la prévision du cours des actions, les prévisions météorologiques et la prévision de la consommation d'énergie.</a:t>
            </a:r>
          </a:p>
          <a:p>
            <a:pPr marL="342900" lvl="1" indent="0" algn="just">
              <a:lnSpc>
                <a:spcPct val="150000"/>
              </a:lnSpc>
              <a:buClr>
                <a:schemeClr val="accent2"/>
              </a:buClr>
              <a:buNone/>
            </a:pPr>
            <a:endParaRPr lang="fr-FR" sz="1350" dirty="0"/>
          </a:p>
          <a:p>
            <a:pPr marL="342900" lvl="1" indent="0" algn="just">
              <a:lnSpc>
                <a:spcPct val="150000"/>
              </a:lnSpc>
              <a:buClr>
                <a:schemeClr val="accent2"/>
              </a:buClr>
              <a:buNone/>
            </a:pPr>
            <a:r>
              <a:rPr lang="fr-FR" sz="1350" b="1" dirty="0"/>
              <a:t>Features selection : </a:t>
            </a:r>
          </a:p>
          <a:p>
            <a:pPr lvl="1" algn="just">
              <a:lnSpc>
                <a:spcPct val="150000"/>
              </a:lnSpc>
              <a:buClr>
                <a:schemeClr val="accent2"/>
              </a:buClr>
            </a:pPr>
            <a:r>
              <a:rPr lang="fr-FR" sz="1350" dirty="0"/>
              <a:t>Pour identifier les features les plus importantes d'un jeu de données. La mesure de l'importance des variables peut être utilisée pour sélectionner les variables les plus pertinentes pour une tâche particulière ou pour réduire la dimensionnalité des données.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157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cas d’applications</a:t>
            </a:r>
          </a:p>
        </p:txBody>
      </p:sp>
    </p:spTree>
    <p:extLst>
      <p:ext uri="{BB962C8B-B14F-4D97-AF65-F5344CB8AC3E}">
        <p14:creationId xmlns:p14="http://schemas.microsoft.com/office/powerpoint/2010/main" val="41554612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092107"/>
          </a:xfrm>
        </p:spPr>
        <p:txBody>
          <a:bodyPr>
            <a:normAutofit/>
          </a:bodyPr>
          <a:lstStyle/>
          <a:p>
            <a:pPr marL="342900" lvl="1" indent="0" algn="just">
              <a:lnSpc>
                <a:spcPct val="150000"/>
              </a:lnSpc>
              <a:buClr>
                <a:schemeClr val="accent2"/>
              </a:buClr>
              <a:buNone/>
            </a:pPr>
            <a:r>
              <a:rPr lang="fr-FR" sz="1350" b="1" dirty="0"/>
              <a:t>Détection d'anomalies : </a:t>
            </a:r>
          </a:p>
          <a:p>
            <a:pPr marL="342900" lvl="1" indent="0" algn="just">
              <a:lnSpc>
                <a:spcPct val="150000"/>
              </a:lnSpc>
              <a:buClr>
                <a:schemeClr val="accent2"/>
              </a:buClr>
              <a:buNone/>
            </a:pPr>
            <a:r>
              <a:rPr lang="fr-FR" sz="1350" dirty="0"/>
              <a:t>Les forêts aléatoires peuvent être utilisées pour détecter des anomalies ou des valeurs aberrantes dans des ensembles de données en identifiant des modèles qui s'écartent de la norme.</a:t>
            </a:r>
          </a:p>
          <a:p>
            <a:pPr marL="342900" lvl="1" indent="0" algn="just">
              <a:lnSpc>
                <a:spcPct val="150000"/>
              </a:lnSpc>
              <a:buClr>
                <a:schemeClr val="accent2"/>
              </a:buClr>
              <a:buNone/>
            </a:pPr>
            <a:endParaRPr lang="fr-FR" sz="1350" dirty="0"/>
          </a:p>
          <a:p>
            <a:pPr marL="342900" lvl="1" indent="0" algn="just">
              <a:lnSpc>
                <a:spcPct val="150000"/>
              </a:lnSpc>
              <a:buClr>
                <a:schemeClr val="accent2"/>
              </a:buClr>
              <a:buNone/>
            </a:pPr>
            <a:r>
              <a:rPr lang="fr-FR" sz="1350" b="1" dirty="0"/>
              <a:t>Credit scoring : </a:t>
            </a:r>
          </a:p>
          <a:p>
            <a:pPr marL="342900" lvl="1" indent="0" algn="just">
              <a:lnSpc>
                <a:spcPct val="150000"/>
              </a:lnSpc>
              <a:buClr>
                <a:schemeClr val="accent2"/>
              </a:buClr>
              <a:buNone/>
            </a:pPr>
            <a:r>
              <a:rPr lang="fr-FR" sz="1350" dirty="0"/>
              <a:t>Les forêts aléatoires peuvent être utilisées pour prédire le risque de défaut de remboursement d’un crédit, en identifiant des patterns dans les données qui indiquent un risque de défaut élevé.</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158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cas d’applications</a:t>
            </a:r>
          </a:p>
        </p:txBody>
      </p:sp>
    </p:spTree>
    <p:extLst>
      <p:ext uri="{BB962C8B-B14F-4D97-AF65-F5344CB8AC3E}">
        <p14:creationId xmlns:p14="http://schemas.microsoft.com/office/powerpoint/2010/main" val="116959347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092107"/>
          </a:xfrm>
        </p:spPr>
        <p:txBody>
          <a:bodyPr>
            <a:normAutofit fontScale="92500"/>
          </a:bodyPr>
          <a:lstStyle/>
          <a:p>
            <a:pPr marL="342900" lvl="1" indent="0" algn="just">
              <a:lnSpc>
                <a:spcPct val="150000"/>
              </a:lnSpc>
              <a:buClr>
                <a:schemeClr val="accent2"/>
              </a:buClr>
              <a:buNone/>
            </a:pPr>
            <a:r>
              <a:rPr lang="fr-FR" sz="1350" b="1" dirty="0"/>
              <a:t>Détection des fraudes : </a:t>
            </a:r>
          </a:p>
          <a:p>
            <a:pPr marL="342900" lvl="1" indent="0" algn="just">
              <a:lnSpc>
                <a:spcPct val="150000"/>
              </a:lnSpc>
              <a:buClr>
                <a:schemeClr val="accent2"/>
              </a:buClr>
              <a:buNone/>
            </a:pPr>
            <a:r>
              <a:rPr lang="fr-FR" sz="1350" dirty="0"/>
              <a:t>Les forêts aléatoires peuvent être utilisées pour détecter les transactions frauduleuses en identifiant les modèles qui s'écartent du comportement normal.</a:t>
            </a:r>
          </a:p>
          <a:p>
            <a:pPr marL="342900" lvl="1" indent="0" algn="just">
              <a:lnSpc>
                <a:spcPct val="150000"/>
              </a:lnSpc>
              <a:buClr>
                <a:schemeClr val="accent2"/>
              </a:buClr>
              <a:buNone/>
            </a:pPr>
            <a:endParaRPr lang="fr-FR" sz="1350" dirty="0"/>
          </a:p>
          <a:p>
            <a:pPr marL="342900" lvl="1" indent="0" algn="just">
              <a:lnSpc>
                <a:spcPct val="150000"/>
              </a:lnSpc>
              <a:buClr>
                <a:schemeClr val="accent2"/>
              </a:buClr>
              <a:buNone/>
            </a:pPr>
            <a:r>
              <a:rPr lang="fr-FR" sz="1350" b="1" dirty="0"/>
              <a:t>Systèmes de recommandation : </a:t>
            </a:r>
          </a:p>
          <a:p>
            <a:pPr marL="342900" lvl="1" indent="0" algn="just">
              <a:lnSpc>
                <a:spcPct val="150000"/>
              </a:lnSpc>
              <a:buClr>
                <a:schemeClr val="accent2"/>
              </a:buClr>
              <a:buNone/>
            </a:pPr>
            <a:r>
              <a:rPr lang="fr-FR" sz="1350" dirty="0"/>
              <a:t>Les forêts aléatoires peuvent être utilisées pour créer des systèmes de recommandation en identifiant des patterns dans les données qui indiquent les préférences d'un utilisateur et en recommandant des éléments susceptibles de l'intéresser.</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159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cas d’applications</a:t>
            </a:r>
          </a:p>
        </p:txBody>
      </p:sp>
    </p:spTree>
    <p:extLst>
      <p:ext uri="{BB962C8B-B14F-4D97-AF65-F5344CB8AC3E}">
        <p14:creationId xmlns:p14="http://schemas.microsoft.com/office/powerpoint/2010/main" val="294471086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2877881"/>
          </a:xfrm>
        </p:spPr>
        <p:txBody>
          <a:bodyPr>
            <a:normAutofit fontScale="85000" lnSpcReduction="20000"/>
          </a:bodyPr>
          <a:lstStyle/>
          <a:p>
            <a:pPr algn="just">
              <a:lnSpc>
                <a:spcPct val="150000"/>
              </a:lnSpc>
              <a:buClr>
                <a:schemeClr val="accent2"/>
              </a:buClr>
            </a:pPr>
            <a:r>
              <a:rPr lang="fr-FR" sz="1500" dirty="0"/>
              <a:t>Le nombre d’hyper paramètres à optimiser varie d’un algorithme à l’autre.</a:t>
            </a:r>
          </a:p>
          <a:p>
            <a:pPr algn="just">
              <a:lnSpc>
                <a:spcPct val="150000"/>
              </a:lnSpc>
              <a:buClr>
                <a:schemeClr val="accent2"/>
              </a:buClr>
            </a:pPr>
            <a:r>
              <a:rPr lang="fr-FR" sz="1500" dirty="0"/>
              <a:t>Par exemple pour Random Forest, on peut choisir le nombre d’arbres à créer et le nombre de variables à utiliser à chaque division d’un nœud.</a:t>
            </a:r>
          </a:p>
          <a:p>
            <a:pPr algn="just">
              <a:lnSpc>
                <a:spcPct val="150000"/>
              </a:lnSpc>
              <a:buClr>
                <a:schemeClr val="accent2"/>
              </a:buClr>
            </a:pPr>
            <a:r>
              <a:rPr lang="fr-FR" sz="1500" dirty="0"/>
              <a:t>Si on le paramètre à la main, cela peut vite s’avérer très coûteux en temps (et pas forcément très intéressant).</a:t>
            </a:r>
          </a:p>
          <a:p>
            <a:pPr algn="just">
              <a:lnSpc>
                <a:spcPct val="150000"/>
              </a:lnSpc>
              <a:buClr>
                <a:schemeClr val="accent2"/>
              </a:buClr>
            </a:pPr>
            <a:r>
              <a:rPr lang="fr-FR" sz="1500" dirty="0"/>
              <a:t>Grid Search va créer un modèle pour chaque combinaison de paramètres.</a:t>
            </a:r>
          </a:p>
          <a:p>
            <a:pPr algn="just">
              <a:lnSpc>
                <a:spcPct val="150000"/>
              </a:lnSpc>
              <a:buClr>
                <a:schemeClr val="accent2"/>
              </a:buClr>
            </a:pPr>
            <a:r>
              <a:rPr lang="fr-FR" sz="1500" dirty="0"/>
              <a:t>Dans notre exemple nous aurons 20 modèles à construire. Vous comprenez donc rapidement qu’il ne faut pas abuser du Grid Search parce qu’il augmente considérablement les temps de calcul.</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160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hyper paramètre Grid Search</a:t>
            </a:r>
          </a:p>
        </p:txBody>
      </p:sp>
      <p:grpSp>
        <p:nvGrpSpPr>
          <p:cNvPr id="3" name="Groupe 2">
            <a:extLst>
              <a:ext uri="{FF2B5EF4-FFF2-40B4-BE49-F238E27FC236}">
                <a16:creationId xmlns:a16="http://schemas.microsoft.com/office/drawing/2014/main" id="{ED3033AC-5943-4772-BEDC-A53A12DE8526}"/>
              </a:ext>
            </a:extLst>
          </p:cNvPr>
          <p:cNvGrpSpPr/>
          <p:nvPr/>
        </p:nvGrpSpPr>
        <p:grpSpPr>
          <a:xfrm>
            <a:off x="2118029" y="4442703"/>
            <a:ext cx="4907943" cy="577081"/>
            <a:chOff x="2767053" y="5597607"/>
            <a:chExt cx="6543924" cy="769441"/>
          </a:xfrm>
        </p:grpSpPr>
        <mc:AlternateContent xmlns:mc="http://schemas.openxmlformats.org/markup-compatibility/2006" xmlns:a14="http://schemas.microsoft.com/office/drawing/2010/main">
          <mc:Choice Requires="a14">
            <p:sp>
              <p:nvSpPr>
                <p:cNvPr id="2" name="ZoneTexte 1">
                  <a:extLst>
                    <a:ext uri="{FF2B5EF4-FFF2-40B4-BE49-F238E27FC236}">
                      <a16:creationId xmlns:a16="http://schemas.microsoft.com/office/drawing/2014/main" id="{C7922033-B4B2-42AD-A597-8D6B6210F4CA}"/>
                    </a:ext>
                  </a:extLst>
                </p:cNvPr>
                <p:cNvSpPr txBox="1"/>
                <p:nvPr/>
              </p:nvSpPr>
              <p:spPr>
                <a:xfrm>
                  <a:off x="2767053" y="5597607"/>
                  <a:ext cx="5375083" cy="4001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350" i="1">
                            <a:latin typeface="Cambria Math" panose="02040503050406030204" pitchFamily="18" charset="0"/>
                          </a:rPr>
                          <m:t>𝑛𝑜𝑚𝑏𝑟𝑒</m:t>
                        </m:r>
                        <m:r>
                          <a:rPr lang="fr-FR" sz="1350" i="1">
                            <a:latin typeface="Cambria Math" panose="02040503050406030204" pitchFamily="18" charset="0"/>
                          </a:rPr>
                          <m:t> </m:t>
                        </m:r>
                        <m:sSup>
                          <m:sSupPr>
                            <m:ctrlPr>
                              <a:rPr lang="fr-FR" sz="1350" i="1">
                                <a:latin typeface="Cambria Math" panose="02040503050406030204" pitchFamily="18" charset="0"/>
                              </a:rPr>
                            </m:ctrlPr>
                          </m:sSupPr>
                          <m:e>
                            <m:r>
                              <a:rPr lang="fr-FR" sz="1350" i="1">
                                <a:latin typeface="Cambria Math" panose="02040503050406030204" pitchFamily="18" charset="0"/>
                              </a:rPr>
                              <m:t>𝑑</m:t>
                            </m:r>
                          </m:e>
                          <m:sup>
                            <m:r>
                              <a:rPr lang="fr-FR" sz="1350" i="1">
                                <a:latin typeface="Cambria Math" panose="02040503050406030204" pitchFamily="18" charset="0"/>
                              </a:rPr>
                              <m:t>′</m:t>
                            </m:r>
                          </m:sup>
                        </m:sSup>
                        <m:r>
                          <a:rPr lang="fr-FR" sz="1350" i="1">
                            <a:latin typeface="Cambria Math" panose="02040503050406030204" pitchFamily="18" charset="0"/>
                          </a:rPr>
                          <m:t>𝑎𝑟𝑏𝑟𝑒𝑠</m:t>
                        </m:r>
                        <m:r>
                          <a:rPr lang="fr-FR" sz="1350" i="1">
                            <a:latin typeface="Cambria Math" panose="02040503050406030204" pitchFamily="18" charset="0"/>
                          </a:rPr>
                          <m:t> : </m:t>
                        </m:r>
                        <m:d>
                          <m:dPr>
                            <m:begChr m:val="{"/>
                            <m:endChr m:val="}"/>
                            <m:ctrlPr>
                              <a:rPr lang="fr-FR" sz="1350" i="1">
                                <a:latin typeface="Cambria Math" panose="02040503050406030204" pitchFamily="18" charset="0"/>
                              </a:rPr>
                            </m:ctrlPr>
                          </m:dPr>
                          <m:e>
                            <m:r>
                              <a:rPr lang="fr-FR" sz="1350" i="1">
                                <a:latin typeface="Cambria Math" panose="02040503050406030204" pitchFamily="18" charset="0"/>
                              </a:rPr>
                              <m:t>100, 150, 200, 250</m:t>
                            </m:r>
                          </m:e>
                        </m:d>
                      </m:oMath>
                    </m:oMathPara>
                  </a14:m>
                  <a:endParaRPr lang="fr-FR" sz="1350" dirty="0"/>
                </a:p>
              </p:txBody>
            </p:sp>
          </mc:Choice>
          <mc:Fallback xmlns="">
            <p:sp>
              <p:nvSpPr>
                <p:cNvPr id="2" name="ZoneTexte 1">
                  <a:extLst>
                    <a:ext uri="{FF2B5EF4-FFF2-40B4-BE49-F238E27FC236}">
                      <a16:creationId xmlns:a16="http://schemas.microsoft.com/office/drawing/2014/main" id="{C7922033-B4B2-42AD-A597-8D6B6210F4CA}"/>
                    </a:ext>
                  </a:extLst>
                </p:cNvPr>
                <p:cNvSpPr txBox="1">
                  <a:spLocks noRot="1" noChangeAspect="1" noMove="1" noResize="1" noEditPoints="1" noAdjustHandles="1" noChangeArrowheads="1" noChangeShapeType="1" noTextEdit="1"/>
                </p:cNvSpPr>
                <p:nvPr/>
              </p:nvSpPr>
              <p:spPr>
                <a:xfrm>
                  <a:off x="2767053" y="5597607"/>
                  <a:ext cx="5375083" cy="400109"/>
                </a:xfrm>
                <a:prstGeom prst="rect">
                  <a:avLst/>
                </a:prstGeom>
                <a:blipFill>
                  <a:blip r:embed="rId2"/>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728BBDC4-F260-4A0F-BC06-F72B8F6BA1CD}"/>
                    </a:ext>
                  </a:extLst>
                </p:cNvPr>
                <p:cNvSpPr txBox="1"/>
                <p:nvPr/>
              </p:nvSpPr>
              <p:spPr>
                <a:xfrm>
                  <a:off x="3140765" y="5966939"/>
                  <a:ext cx="6170212" cy="4001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350" i="1">
                            <a:latin typeface="Cambria Math" panose="02040503050406030204" pitchFamily="18" charset="0"/>
                          </a:rPr>
                          <m:t>𝑛𝑜𝑚𝑏𝑟𝑒</m:t>
                        </m:r>
                        <m:r>
                          <a:rPr lang="fr-FR" sz="1350" i="1">
                            <a:latin typeface="Cambria Math" panose="02040503050406030204" pitchFamily="18" charset="0"/>
                          </a:rPr>
                          <m:t> </m:t>
                        </m:r>
                        <m:r>
                          <a:rPr lang="fr-FR" sz="1350" i="1">
                            <a:latin typeface="Cambria Math" panose="02040503050406030204" pitchFamily="18" charset="0"/>
                          </a:rPr>
                          <m:t>𝑑𝑒</m:t>
                        </m:r>
                        <m:r>
                          <a:rPr lang="fr-FR" sz="1350" i="1">
                            <a:latin typeface="Cambria Math" panose="02040503050406030204" pitchFamily="18" charset="0"/>
                          </a:rPr>
                          <m:t> </m:t>
                        </m:r>
                        <m:r>
                          <a:rPr lang="fr-FR" sz="1350" i="1">
                            <a:latin typeface="Cambria Math" panose="02040503050406030204" pitchFamily="18" charset="0"/>
                          </a:rPr>
                          <m:t>𝑣𝑎𝑟𝑖𝑎𝑏𝑙𝑒𝑠</m:t>
                        </m:r>
                        <m:r>
                          <a:rPr lang="fr-FR" sz="1350" i="1">
                            <a:latin typeface="Cambria Math" panose="02040503050406030204" pitchFamily="18" charset="0"/>
                          </a:rPr>
                          <m:t> </m:t>
                        </m:r>
                        <m:r>
                          <a:rPr lang="fr-FR" sz="1350" i="1">
                            <a:latin typeface="Cambria Math" panose="02040503050406030204" pitchFamily="18" charset="0"/>
                          </a:rPr>
                          <m:t>𝑠</m:t>
                        </m:r>
                        <m:r>
                          <a:rPr lang="fr-FR" sz="1350" i="1">
                            <a:latin typeface="Cambria Math" panose="02040503050406030204" pitchFamily="18" charset="0"/>
                          </a:rPr>
                          <m:t>é</m:t>
                        </m:r>
                        <m:r>
                          <a:rPr lang="fr-FR" sz="1350" i="1">
                            <a:latin typeface="Cambria Math" panose="02040503050406030204" pitchFamily="18" charset="0"/>
                          </a:rPr>
                          <m:t>𝑙𝑒𝑐𝑡𝑖𝑜𝑛𝑛</m:t>
                        </m:r>
                        <m:r>
                          <a:rPr lang="fr-FR" sz="1350" i="1">
                            <a:latin typeface="Cambria Math" panose="02040503050406030204" pitchFamily="18" charset="0"/>
                          </a:rPr>
                          <m:t>é</m:t>
                        </m:r>
                        <m:r>
                          <a:rPr lang="fr-FR" sz="1350" i="1">
                            <a:latin typeface="Cambria Math" panose="02040503050406030204" pitchFamily="18" charset="0"/>
                          </a:rPr>
                          <m:t>𝑒𝑠</m:t>
                        </m:r>
                        <m:r>
                          <a:rPr lang="fr-FR" sz="1350" i="1">
                            <a:latin typeface="Cambria Math" panose="02040503050406030204" pitchFamily="18" charset="0"/>
                          </a:rPr>
                          <m:t> : </m:t>
                        </m:r>
                        <m:d>
                          <m:dPr>
                            <m:begChr m:val="{"/>
                            <m:endChr m:val="}"/>
                            <m:ctrlPr>
                              <a:rPr lang="fr-FR" sz="1350" i="1">
                                <a:latin typeface="Cambria Math" panose="02040503050406030204" pitchFamily="18" charset="0"/>
                              </a:rPr>
                            </m:ctrlPr>
                          </m:dPr>
                          <m:e>
                            <m:r>
                              <a:rPr lang="fr-FR" sz="1350" i="1">
                                <a:latin typeface="Cambria Math" panose="02040503050406030204" pitchFamily="18" charset="0"/>
                              </a:rPr>
                              <m:t>8, 10, 12, 14, 16</m:t>
                            </m:r>
                          </m:e>
                        </m:d>
                      </m:oMath>
                    </m:oMathPara>
                  </a14:m>
                  <a:endParaRPr lang="fr-FR" sz="1350" dirty="0"/>
                </a:p>
              </p:txBody>
            </p:sp>
          </mc:Choice>
          <mc:Fallback xmlns="">
            <p:sp>
              <p:nvSpPr>
                <p:cNvPr id="7" name="ZoneTexte 6">
                  <a:extLst>
                    <a:ext uri="{FF2B5EF4-FFF2-40B4-BE49-F238E27FC236}">
                      <a16:creationId xmlns:a16="http://schemas.microsoft.com/office/drawing/2014/main" id="{728BBDC4-F260-4A0F-BC06-F72B8F6BA1CD}"/>
                    </a:ext>
                  </a:extLst>
                </p:cNvPr>
                <p:cNvSpPr txBox="1">
                  <a:spLocks noRot="1" noChangeAspect="1" noMove="1" noResize="1" noEditPoints="1" noAdjustHandles="1" noChangeArrowheads="1" noChangeShapeType="1" noTextEdit="1"/>
                </p:cNvSpPr>
                <p:nvPr/>
              </p:nvSpPr>
              <p:spPr>
                <a:xfrm>
                  <a:off x="3140765" y="5966939"/>
                  <a:ext cx="6170212" cy="400109"/>
                </a:xfrm>
                <a:prstGeom prst="rect">
                  <a:avLst/>
                </a:prstGeom>
                <a:blipFill>
                  <a:blip r:embed="rId3"/>
                  <a:stretch>
                    <a:fillRect/>
                  </a:stretch>
                </a:blipFill>
              </p:spPr>
              <p:txBody>
                <a:bodyPr/>
                <a:lstStyle/>
                <a:p>
                  <a:r>
                    <a:rPr lang="fr-FR">
                      <a:noFill/>
                    </a:rPr>
                    <a:t> </a:t>
                  </a:r>
                </a:p>
              </p:txBody>
            </p:sp>
          </mc:Fallback>
        </mc:AlternateContent>
      </p:grpSp>
    </p:spTree>
    <p:extLst>
      <p:ext uri="{BB962C8B-B14F-4D97-AF65-F5344CB8AC3E}">
        <p14:creationId xmlns:p14="http://schemas.microsoft.com/office/powerpoint/2010/main" val="276463651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161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hyper paramètre Grid Search</a:t>
            </a:r>
          </a:p>
        </p:txBody>
      </p:sp>
      <p:grpSp>
        <p:nvGrpSpPr>
          <p:cNvPr id="3" name="Groupe 2">
            <a:extLst>
              <a:ext uri="{FF2B5EF4-FFF2-40B4-BE49-F238E27FC236}">
                <a16:creationId xmlns:a16="http://schemas.microsoft.com/office/drawing/2014/main" id="{ED3033AC-5943-4772-BEDC-A53A12DE8526}"/>
              </a:ext>
            </a:extLst>
          </p:cNvPr>
          <p:cNvGrpSpPr/>
          <p:nvPr/>
        </p:nvGrpSpPr>
        <p:grpSpPr>
          <a:xfrm>
            <a:off x="1122128" y="1520601"/>
            <a:ext cx="4907943" cy="577081"/>
            <a:chOff x="2767053" y="5597607"/>
            <a:chExt cx="6543924" cy="769441"/>
          </a:xfrm>
        </p:grpSpPr>
        <mc:AlternateContent xmlns:mc="http://schemas.openxmlformats.org/markup-compatibility/2006" xmlns:a14="http://schemas.microsoft.com/office/drawing/2010/main">
          <mc:Choice Requires="a14">
            <p:sp>
              <p:nvSpPr>
                <p:cNvPr id="2" name="ZoneTexte 1">
                  <a:extLst>
                    <a:ext uri="{FF2B5EF4-FFF2-40B4-BE49-F238E27FC236}">
                      <a16:creationId xmlns:a16="http://schemas.microsoft.com/office/drawing/2014/main" id="{C7922033-B4B2-42AD-A597-8D6B6210F4CA}"/>
                    </a:ext>
                  </a:extLst>
                </p:cNvPr>
                <p:cNvSpPr txBox="1"/>
                <p:nvPr/>
              </p:nvSpPr>
              <p:spPr>
                <a:xfrm>
                  <a:off x="2767053" y="5597607"/>
                  <a:ext cx="5375083" cy="4001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350" i="1">
                            <a:latin typeface="Cambria Math" panose="02040503050406030204" pitchFamily="18" charset="0"/>
                          </a:rPr>
                          <m:t>𝑛𝑜𝑚𝑏𝑟𝑒</m:t>
                        </m:r>
                        <m:r>
                          <a:rPr lang="fr-FR" sz="1350" i="1">
                            <a:latin typeface="Cambria Math" panose="02040503050406030204" pitchFamily="18" charset="0"/>
                          </a:rPr>
                          <m:t> </m:t>
                        </m:r>
                        <m:sSup>
                          <m:sSupPr>
                            <m:ctrlPr>
                              <a:rPr lang="fr-FR" sz="1350" i="1">
                                <a:latin typeface="Cambria Math" panose="02040503050406030204" pitchFamily="18" charset="0"/>
                              </a:rPr>
                            </m:ctrlPr>
                          </m:sSupPr>
                          <m:e>
                            <m:r>
                              <a:rPr lang="fr-FR" sz="1350" i="1">
                                <a:latin typeface="Cambria Math" panose="02040503050406030204" pitchFamily="18" charset="0"/>
                              </a:rPr>
                              <m:t>𝑑</m:t>
                            </m:r>
                          </m:e>
                          <m:sup>
                            <m:r>
                              <a:rPr lang="fr-FR" sz="1350" i="1">
                                <a:latin typeface="Cambria Math" panose="02040503050406030204" pitchFamily="18" charset="0"/>
                              </a:rPr>
                              <m:t>′</m:t>
                            </m:r>
                          </m:sup>
                        </m:sSup>
                        <m:r>
                          <a:rPr lang="fr-FR" sz="1350" i="1">
                            <a:latin typeface="Cambria Math" panose="02040503050406030204" pitchFamily="18" charset="0"/>
                          </a:rPr>
                          <m:t>𝑎𝑟𝑏𝑟𝑒𝑠</m:t>
                        </m:r>
                        <m:r>
                          <a:rPr lang="fr-FR" sz="1350" i="1">
                            <a:latin typeface="Cambria Math" panose="02040503050406030204" pitchFamily="18" charset="0"/>
                          </a:rPr>
                          <m:t> : </m:t>
                        </m:r>
                        <m:d>
                          <m:dPr>
                            <m:begChr m:val="{"/>
                            <m:endChr m:val="}"/>
                            <m:ctrlPr>
                              <a:rPr lang="fr-FR" sz="1350" i="1">
                                <a:latin typeface="Cambria Math" panose="02040503050406030204" pitchFamily="18" charset="0"/>
                              </a:rPr>
                            </m:ctrlPr>
                          </m:dPr>
                          <m:e>
                            <m:r>
                              <a:rPr lang="fr-FR" sz="1350" i="1">
                                <a:latin typeface="Cambria Math" panose="02040503050406030204" pitchFamily="18" charset="0"/>
                              </a:rPr>
                              <m:t>100, 150, 200, 250</m:t>
                            </m:r>
                          </m:e>
                        </m:d>
                      </m:oMath>
                    </m:oMathPara>
                  </a14:m>
                  <a:endParaRPr lang="fr-FR" sz="1350" dirty="0"/>
                </a:p>
              </p:txBody>
            </p:sp>
          </mc:Choice>
          <mc:Fallback xmlns="">
            <p:sp>
              <p:nvSpPr>
                <p:cNvPr id="2" name="ZoneTexte 1">
                  <a:extLst>
                    <a:ext uri="{FF2B5EF4-FFF2-40B4-BE49-F238E27FC236}">
                      <a16:creationId xmlns:a16="http://schemas.microsoft.com/office/drawing/2014/main" id="{C7922033-B4B2-42AD-A597-8D6B6210F4CA}"/>
                    </a:ext>
                  </a:extLst>
                </p:cNvPr>
                <p:cNvSpPr txBox="1">
                  <a:spLocks noRot="1" noChangeAspect="1" noMove="1" noResize="1" noEditPoints="1" noAdjustHandles="1" noChangeArrowheads="1" noChangeShapeType="1" noTextEdit="1"/>
                </p:cNvSpPr>
                <p:nvPr/>
              </p:nvSpPr>
              <p:spPr>
                <a:xfrm>
                  <a:off x="2767053" y="5597607"/>
                  <a:ext cx="5375083" cy="400109"/>
                </a:xfrm>
                <a:prstGeom prst="rect">
                  <a:avLst/>
                </a:prstGeom>
                <a:blipFill>
                  <a:blip r:embed="rId2"/>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728BBDC4-F260-4A0F-BC06-F72B8F6BA1CD}"/>
                    </a:ext>
                  </a:extLst>
                </p:cNvPr>
                <p:cNvSpPr txBox="1"/>
                <p:nvPr/>
              </p:nvSpPr>
              <p:spPr>
                <a:xfrm>
                  <a:off x="3140765" y="5966939"/>
                  <a:ext cx="6170212" cy="4001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350" i="1">
                            <a:latin typeface="Cambria Math" panose="02040503050406030204" pitchFamily="18" charset="0"/>
                          </a:rPr>
                          <m:t>𝑛𝑜𝑚𝑏𝑟𝑒</m:t>
                        </m:r>
                        <m:r>
                          <a:rPr lang="fr-FR" sz="1350" i="1">
                            <a:latin typeface="Cambria Math" panose="02040503050406030204" pitchFamily="18" charset="0"/>
                          </a:rPr>
                          <m:t> </m:t>
                        </m:r>
                        <m:r>
                          <a:rPr lang="fr-FR" sz="1350" i="1">
                            <a:latin typeface="Cambria Math" panose="02040503050406030204" pitchFamily="18" charset="0"/>
                          </a:rPr>
                          <m:t>𝑑𝑒</m:t>
                        </m:r>
                        <m:r>
                          <a:rPr lang="fr-FR" sz="1350" i="1">
                            <a:latin typeface="Cambria Math" panose="02040503050406030204" pitchFamily="18" charset="0"/>
                          </a:rPr>
                          <m:t> </m:t>
                        </m:r>
                        <m:r>
                          <a:rPr lang="fr-FR" sz="1350" i="1">
                            <a:latin typeface="Cambria Math" panose="02040503050406030204" pitchFamily="18" charset="0"/>
                          </a:rPr>
                          <m:t>𝑣𝑎𝑟𝑖𝑎𝑏𝑙𝑒𝑠</m:t>
                        </m:r>
                        <m:r>
                          <a:rPr lang="fr-FR" sz="1350" i="1">
                            <a:latin typeface="Cambria Math" panose="02040503050406030204" pitchFamily="18" charset="0"/>
                          </a:rPr>
                          <m:t> </m:t>
                        </m:r>
                        <m:r>
                          <a:rPr lang="fr-FR" sz="1350" i="1">
                            <a:latin typeface="Cambria Math" panose="02040503050406030204" pitchFamily="18" charset="0"/>
                          </a:rPr>
                          <m:t>𝑠</m:t>
                        </m:r>
                        <m:r>
                          <a:rPr lang="fr-FR" sz="1350" i="1">
                            <a:latin typeface="Cambria Math" panose="02040503050406030204" pitchFamily="18" charset="0"/>
                          </a:rPr>
                          <m:t>é</m:t>
                        </m:r>
                        <m:r>
                          <a:rPr lang="fr-FR" sz="1350" i="1">
                            <a:latin typeface="Cambria Math" panose="02040503050406030204" pitchFamily="18" charset="0"/>
                          </a:rPr>
                          <m:t>𝑙𝑒𝑐𝑡𝑖𝑜𝑛𝑛</m:t>
                        </m:r>
                        <m:r>
                          <a:rPr lang="fr-FR" sz="1350" i="1">
                            <a:latin typeface="Cambria Math" panose="02040503050406030204" pitchFamily="18" charset="0"/>
                          </a:rPr>
                          <m:t>é</m:t>
                        </m:r>
                        <m:r>
                          <a:rPr lang="fr-FR" sz="1350" i="1">
                            <a:latin typeface="Cambria Math" panose="02040503050406030204" pitchFamily="18" charset="0"/>
                          </a:rPr>
                          <m:t>𝑒𝑠</m:t>
                        </m:r>
                        <m:r>
                          <a:rPr lang="fr-FR" sz="1350" i="1">
                            <a:latin typeface="Cambria Math" panose="02040503050406030204" pitchFamily="18" charset="0"/>
                          </a:rPr>
                          <m:t> : </m:t>
                        </m:r>
                        <m:d>
                          <m:dPr>
                            <m:begChr m:val="{"/>
                            <m:endChr m:val="}"/>
                            <m:ctrlPr>
                              <a:rPr lang="fr-FR" sz="1350" i="1">
                                <a:latin typeface="Cambria Math" panose="02040503050406030204" pitchFamily="18" charset="0"/>
                              </a:rPr>
                            </m:ctrlPr>
                          </m:dPr>
                          <m:e>
                            <m:r>
                              <a:rPr lang="fr-FR" sz="1350" i="1">
                                <a:latin typeface="Cambria Math" panose="02040503050406030204" pitchFamily="18" charset="0"/>
                              </a:rPr>
                              <m:t>8, 10, 12, 14, 16</m:t>
                            </m:r>
                          </m:e>
                        </m:d>
                      </m:oMath>
                    </m:oMathPara>
                  </a14:m>
                  <a:endParaRPr lang="fr-FR" sz="1350" dirty="0"/>
                </a:p>
              </p:txBody>
            </p:sp>
          </mc:Choice>
          <mc:Fallback xmlns="">
            <p:sp>
              <p:nvSpPr>
                <p:cNvPr id="7" name="ZoneTexte 6">
                  <a:extLst>
                    <a:ext uri="{FF2B5EF4-FFF2-40B4-BE49-F238E27FC236}">
                      <a16:creationId xmlns:a16="http://schemas.microsoft.com/office/drawing/2014/main" id="{728BBDC4-F260-4A0F-BC06-F72B8F6BA1CD}"/>
                    </a:ext>
                  </a:extLst>
                </p:cNvPr>
                <p:cNvSpPr txBox="1">
                  <a:spLocks noRot="1" noChangeAspect="1" noMove="1" noResize="1" noEditPoints="1" noAdjustHandles="1" noChangeArrowheads="1" noChangeShapeType="1" noTextEdit="1"/>
                </p:cNvSpPr>
                <p:nvPr/>
              </p:nvSpPr>
              <p:spPr>
                <a:xfrm>
                  <a:off x="3140765" y="5966939"/>
                  <a:ext cx="6170212" cy="400109"/>
                </a:xfrm>
                <a:prstGeom prst="rect">
                  <a:avLst/>
                </a:prstGeom>
                <a:blipFill>
                  <a:blip r:embed="rId3"/>
                  <a:stretch>
                    <a:fillRect/>
                  </a:stretch>
                </a:blipFill>
              </p:spPr>
              <p:txBody>
                <a:bodyPr/>
                <a:lstStyle/>
                <a:p>
                  <a:r>
                    <a:rPr lang="fr-FR">
                      <a:noFill/>
                    </a:rPr>
                    <a:t> </a:t>
                  </a:r>
                </a:p>
              </p:txBody>
            </p:sp>
          </mc:Fallback>
        </mc:AlternateContent>
      </p:grpSp>
      <p:grpSp>
        <p:nvGrpSpPr>
          <p:cNvPr id="97" name="Groupe 96">
            <a:extLst>
              <a:ext uri="{FF2B5EF4-FFF2-40B4-BE49-F238E27FC236}">
                <a16:creationId xmlns:a16="http://schemas.microsoft.com/office/drawing/2014/main" id="{14932C03-98C5-455F-9029-DF889ABCA569}"/>
              </a:ext>
            </a:extLst>
          </p:cNvPr>
          <p:cNvGrpSpPr/>
          <p:nvPr/>
        </p:nvGrpSpPr>
        <p:grpSpPr>
          <a:xfrm>
            <a:off x="2137350" y="2666298"/>
            <a:ext cx="3113327" cy="1934975"/>
            <a:chOff x="2849800" y="3555064"/>
            <a:chExt cx="4151102" cy="2579966"/>
          </a:xfrm>
        </p:grpSpPr>
        <p:grpSp>
          <p:nvGrpSpPr>
            <p:cNvPr id="85" name="Groupe 84">
              <a:extLst>
                <a:ext uri="{FF2B5EF4-FFF2-40B4-BE49-F238E27FC236}">
                  <a16:creationId xmlns:a16="http://schemas.microsoft.com/office/drawing/2014/main" id="{5351CC66-F387-4C42-951C-807594FE148D}"/>
                </a:ext>
              </a:extLst>
            </p:cNvPr>
            <p:cNvGrpSpPr/>
            <p:nvPr/>
          </p:nvGrpSpPr>
          <p:grpSpPr>
            <a:xfrm>
              <a:off x="3532461" y="4091866"/>
              <a:ext cx="3468441" cy="2043164"/>
              <a:chOff x="3532461" y="4091866"/>
              <a:chExt cx="3468441" cy="2043164"/>
            </a:xfrm>
          </p:grpSpPr>
          <p:grpSp>
            <p:nvGrpSpPr>
              <p:cNvPr id="9" name="Groupe 8">
                <a:extLst>
                  <a:ext uri="{FF2B5EF4-FFF2-40B4-BE49-F238E27FC236}">
                    <a16:creationId xmlns:a16="http://schemas.microsoft.com/office/drawing/2014/main" id="{11E2ECFF-0AE2-4F87-91AF-8B4C7B86DC2A}"/>
                  </a:ext>
                </a:extLst>
              </p:cNvPr>
              <p:cNvGrpSpPr/>
              <p:nvPr/>
            </p:nvGrpSpPr>
            <p:grpSpPr>
              <a:xfrm>
                <a:off x="3532461" y="4091866"/>
                <a:ext cx="3468441" cy="2043164"/>
                <a:chOff x="7570968" y="4142951"/>
                <a:chExt cx="3468441" cy="2043164"/>
              </a:xfrm>
            </p:grpSpPr>
            <p:sp>
              <p:nvSpPr>
                <p:cNvPr id="20" name="Rectangle 19">
                  <a:extLst>
                    <a:ext uri="{FF2B5EF4-FFF2-40B4-BE49-F238E27FC236}">
                      <a16:creationId xmlns:a16="http://schemas.microsoft.com/office/drawing/2014/main" id="{A91FA381-7DCC-486A-96DC-41881AFB8AF9}"/>
                    </a:ext>
                  </a:extLst>
                </p:cNvPr>
                <p:cNvSpPr/>
                <p:nvPr/>
              </p:nvSpPr>
              <p:spPr>
                <a:xfrm>
                  <a:off x="7570968" y="4142951"/>
                  <a:ext cx="3465442" cy="2043164"/>
                </a:xfrm>
                <a:prstGeom prst="rect">
                  <a:avLst/>
                </a:prstGeom>
                <a:noFill/>
                <a:ln w="12700">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22" name="Connecteur droit avec flèche 21">
                  <a:extLst>
                    <a:ext uri="{FF2B5EF4-FFF2-40B4-BE49-F238E27FC236}">
                      <a16:creationId xmlns:a16="http://schemas.microsoft.com/office/drawing/2014/main" id="{C5FFB63A-FCD2-4474-B9A4-C803DF47C79C}"/>
                    </a:ext>
                  </a:extLst>
                </p:cNvPr>
                <p:cNvCxnSpPr>
                  <a:cxnSpLocks/>
                </p:cNvCxnSpPr>
                <p:nvPr/>
              </p:nvCxnSpPr>
              <p:spPr>
                <a:xfrm flipV="1">
                  <a:off x="8128570"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B35B8292-489A-4810-9DC7-8234D7099681}"/>
                    </a:ext>
                  </a:extLst>
                </p:cNvPr>
                <p:cNvCxnSpPr>
                  <a:cxnSpLocks/>
                </p:cNvCxnSpPr>
                <p:nvPr/>
              </p:nvCxnSpPr>
              <p:spPr>
                <a:xfrm flipV="1">
                  <a:off x="8734194"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8C4966A0-F239-4D81-805B-1609748218FA}"/>
                    </a:ext>
                  </a:extLst>
                </p:cNvPr>
                <p:cNvCxnSpPr>
                  <a:cxnSpLocks/>
                </p:cNvCxnSpPr>
                <p:nvPr/>
              </p:nvCxnSpPr>
              <p:spPr>
                <a:xfrm flipV="1">
                  <a:off x="9306688"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BDD61E3D-4F10-49DE-A42F-875DAB9719F4}"/>
                    </a:ext>
                  </a:extLst>
                </p:cNvPr>
                <p:cNvCxnSpPr>
                  <a:cxnSpLocks/>
                </p:cNvCxnSpPr>
                <p:nvPr/>
              </p:nvCxnSpPr>
              <p:spPr>
                <a:xfrm flipV="1">
                  <a:off x="9879182"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04AC4402-FA1F-4C7F-BE1A-948898DC2914}"/>
                    </a:ext>
                  </a:extLst>
                </p:cNvPr>
                <p:cNvCxnSpPr>
                  <a:cxnSpLocks/>
                </p:cNvCxnSpPr>
                <p:nvPr/>
              </p:nvCxnSpPr>
              <p:spPr>
                <a:xfrm flipV="1">
                  <a:off x="10443725"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Connecteur droit avec flèche 49">
                  <a:extLst>
                    <a:ext uri="{FF2B5EF4-FFF2-40B4-BE49-F238E27FC236}">
                      <a16:creationId xmlns:a16="http://schemas.microsoft.com/office/drawing/2014/main" id="{599C31AA-81ED-46E4-BA9E-A27601C7A3D4}"/>
                    </a:ext>
                  </a:extLst>
                </p:cNvPr>
                <p:cNvCxnSpPr>
                  <a:cxnSpLocks/>
                </p:cNvCxnSpPr>
                <p:nvPr/>
              </p:nvCxnSpPr>
              <p:spPr>
                <a:xfrm>
                  <a:off x="7570968" y="4569510"/>
                  <a:ext cx="3465442" cy="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2A917253-8992-4AC3-9EC7-25F3D233C4A2}"/>
                    </a:ext>
                  </a:extLst>
                </p:cNvPr>
                <p:cNvCxnSpPr>
                  <a:cxnSpLocks/>
                </p:cNvCxnSpPr>
                <p:nvPr/>
              </p:nvCxnSpPr>
              <p:spPr>
                <a:xfrm>
                  <a:off x="7573967" y="4976351"/>
                  <a:ext cx="3465442" cy="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Connecteur droit avec flèche 51">
                  <a:extLst>
                    <a:ext uri="{FF2B5EF4-FFF2-40B4-BE49-F238E27FC236}">
                      <a16:creationId xmlns:a16="http://schemas.microsoft.com/office/drawing/2014/main" id="{035D6C3F-418A-4928-8815-99FB183E5448}"/>
                    </a:ext>
                  </a:extLst>
                </p:cNvPr>
                <p:cNvCxnSpPr>
                  <a:cxnSpLocks/>
                </p:cNvCxnSpPr>
                <p:nvPr/>
              </p:nvCxnSpPr>
              <p:spPr>
                <a:xfrm>
                  <a:off x="7573967" y="5373917"/>
                  <a:ext cx="3465442" cy="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Connecteur droit avec flèche 52">
                  <a:extLst>
                    <a:ext uri="{FF2B5EF4-FFF2-40B4-BE49-F238E27FC236}">
                      <a16:creationId xmlns:a16="http://schemas.microsoft.com/office/drawing/2014/main" id="{CF346233-A91B-49F9-8693-8FC1C85F0EA6}"/>
                    </a:ext>
                  </a:extLst>
                </p:cNvPr>
                <p:cNvCxnSpPr>
                  <a:cxnSpLocks/>
                </p:cNvCxnSpPr>
                <p:nvPr/>
              </p:nvCxnSpPr>
              <p:spPr>
                <a:xfrm>
                  <a:off x="7573967" y="5763531"/>
                  <a:ext cx="3465442" cy="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4" name="Organigramme : Connecteur 53">
                <a:extLst>
                  <a:ext uri="{FF2B5EF4-FFF2-40B4-BE49-F238E27FC236}">
                    <a16:creationId xmlns:a16="http://schemas.microsoft.com/office/drawing/2014/main" id="{032BFC98-7EB6-4263-8729-6F7347F79EC2}"/>
                  </a:ext>
                </a:extLst>
              </p:cNvPr>
              <p:cNvSpPr/>
              <p:nvPr/>
            </p:nvSpPr>
            <p:spPr>
              <a:xfrm>
                <a:off x="4028128" y="445713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5" name="Organigramme : Connecteur 54">
                <a:extLst>
                  <a:ext uri="{FF2B5EF4-FFF2-40B4-BE49-F238E27FC236}">
                    <a16:creationId xmlns:a16="http://schemas.microsoft.com/office/drawing/2014/main" id="{09C3CF02-9A1E-43DA-B2FA-7DB194A7D984}"/>
                  </a:ext>
                </a:extLst>
              </p:cNvPr>
              <p:cNvSpPr/>
              <p:nvPr/>
            </p:nvSpPr>
            <p:spPr>
              <a:xfrm>
                <a:off x="4021506" y="4856020"/>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7" name="Organigramme : Connecteur 66">
                <a:extLst>
                  <a:ext uri="{FF2B5EF4-FFF2-40B4-BE49-F238E27FC236}">
                    <a16:creationId xmlns:a16="http://schemas.microsoft.com/office/drawing/2014/main" id="{CC5D8E9E-0235-4E0E-81B6-25758AA25323}"/>
                  </a:ext>
                </a:extLst>
              </p:cNvPr>
              <p:cNvSpPr/>
              <p:nvPr/>
            </p:nvSpPr>
            <p:spPr>
              <a:xfrm>
                <a:off x="4029454" y="525358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8" name="Organigramme : Connecteur 67">
                <a:extLst>
                  <a:ext uri="{FF2B5EF4-FFF2-40B4-BE49-F238E27FC236}">
                    <a16:creationId xmlns:a16="http://schemas.microsoft.com/office/drawing/2014/main" id="{C98E932C-37D8-4E47-B987-A05019FD6C4D}"/>
                  </a:ext>
                </a:extLst>
              </p:cNvPr>
              <p:cNvSpPr/>
              <p:nvPr/>
            </p:nvSpPr>
            <p:spPr>
              <a:xfrm>
                <a:off x="4021503" y="5643199"/>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9" name="Organigramme : Connecteur 68">
                <a:extLst>
                  <a:ext uri="{FF2B5EF4-FFF2-40B4-BE49-F238E27FC236}">
                    <a16:creationId xmlns:a16="http://schemas.microsoft.com/office/drawing/2014/main" id="{2BC9D4E9-EBF3-42D8-A649-F15DD5EFDA6A}"/>
                  </a:ext>
                </a:extLst>
              </p:cNvPr>
              <p:cNvSpPr/>
              <p:nvPr/>
            </p:nvSpPr>
            <p:spPr>
              <a:xfrm>
                <a:off x="4633750" y="445846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0" name="Organigramme : Connecteur 69">
                <a:extLst>
                  <a:ext uri="{FF2B5EF4-FFF2-40B4-BE49-F238E27FC236}">
                    <a16:creationId xmlns:a16="http://schemas.microsoft.com/office/drawing/2014/main" id="{92933946-C4AC-4EF8-8997-D4F80EC5E76E}"/>
                  </a:ext>
                </a:extLst>
              </p:cNvPr>
              <p:cNvSpPr/>
              <p:nvPr/>
            </p:nvSpPr>
            <p:spPr>
              <a:xfrm>
                <a:off x="4641705" y="486397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1" name="Organigramme : Connecteur 70">
                <a:extLst>
                  <a:ext uri="{FF2B5EF4-FFF2-40B4-BE49-F238E27FC236}">
                    <a16:creationId xmlns:a16="http://schemas.microsoft.com/office/drawing/2014/main" id="{5D6B89F4-61EA-44D9-A293-9B8E31BC12D6}"/>
                  </a:ext>
                </a:extLst>
              </p:cNvPr>
              <p:cNvSpPr/>
              <p:nvPr/>
            </p:nvSpPr>
            <p:spPr>
              <a:xfrm>
                <a:off x="4633752" y="526949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2" name="Organigramme : Connecteur 71">
                <a:extLst>
                  <a:ext uri="{FF2B5EF4-FFF2-40B4-BE49-F238E27FC236}">
                    <a16:creationId xmlns:a16="http://schemas.microsoft.com/office/drawing/2014/main" id="{DC560A9E-23EC-4D01-9F2B-8D51C7BDA579}"/>
                  </a:ext>
                </a:extLst>
              </p:cNvPr>
              <p:cNvSpPr/>
              <p:nvPr/>
            </p:nvSpPr>
            <p:spPr>
              <a:xfrm>
                <a:off x="4633756" y="5651151"/>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3" name="Organigramme : Connecteur 72">
                <a:extLst>
                  <a:ext uri="{FF2B5EF4-FFF2-40B4-BE49-F238E27FC236}">
                    <a16:creationId xmlns:a16="http://schemas.microsoft.com/office/drawing/2014/main" id="{94633353-7742-4DD2-950F-CE3B6B7FCEAF}"/>
                  </a:ext>
                </a:extLst>
              </p:cNvPr>
              <p:cNvSpPr/>
              <p:nvPr/>
            </p:nvSpPr>
            <p:spPr>
              <a:xfrm>
                <a:off x="5206245" y="445846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4" name="Organigramme : Connecteur 73">
                <a:extLst>
                  <a:ext uri="{FF2B5EF4-FFF2-40B4-BE49-F238E27FC236}">
                    <a16:creationId xmlns:a16="http://schemas.microsoft.com/office/drawing/2014/main" id="{EC65876D-0BA9-47A1-91B7-632E9584DD7E}"/>
                  </a:ext>
                </a:extLst>
              </p:cNvPr>
              <p:cNvSpPr/>
              <p:nvPr/>
            </p:nvSpPr>
            <p:spPr>
              <a:xfrm>
                <a:off x="5206249" y="486397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5" name="Organigramme : Connecteur 74">
                <a:extLst>
                  <a:ext uri="{FF2B5EF4-FFF2-40B4-BE49-F238E27FC236}">
                    <a16:creationId xmlns:a16="http://schemas.microsoft.com/office/drawing/2014/main" id="{D1B2060F-BADE-4597-899A-9E7646ABD2CD}"/>
                  </a:ext>
                </a:extLst>
              </p:cNvPr>
              <p:cNvSpPr/>
              <p:nvPr/>
            </p:nvSpPr>
            <p:spPr>
              <a:xfrm>
                <a:off x="5206244" y="526154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6" name="Organigramme : Connecteur 75">
                <a:extLst>
                  <a:ext uri="{FF2B5EF4-FFF2-40B4-BE49-F238E27FC236}">
                    <a16:creationId xmlns:a16="http://schemas.microsoft.com/office/drawing/2014/main" id="{72CD0E9B-594F-451C-956C-5B2E5CBEC375}"/>
                  </a:ext>
                </a:extLst>
              </p:cNvPr>
              <p:cNvSpPr/>
              <p:nvPr/>
            </p:nvSpPr>
            <p:spPr>
              <a:xfrm>
                <a:off x="5206248" y="5651155"/>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7" name="Organigramme : Connecteur 76">
                <a:extLst>
                  <a:ext uri="{FF2B5EF4-FFF2-40B4-BE49-F238E27FC236}">
                    <a16:creationId xmlns:a16="http://schemas.microsoft.com/office/drawing/2014/main" id="{FA46C298-DDAA-4F9C-AAF6-D81E6BBFE84A}"/>
                  </a:ext>
                </a:extLst>
              </p:cNvPr>
              <p:cNvSpPr/>
              <p:nvPr/>
            </p:nvSpPr>
            <p:spPr>
              <a:xfrm>
                <a:off x="5778739" y="446641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8" name="Organigramme : Connecteur 77">
                <a:extLst>
                  <a:ext uri="{FF2B5EF4-FFF2-40B4-BE49-F238E27FC236}">
                    <a16:creationId xmlns:a16="http://schemas.microsoft.com/office/drawing/2014/main" id="{9B9A5F79-9EEE-4ED0-9194-2DC8F2E974DD}"/>
                  </a:ext>
                </a:extLst>
              </p:cNvPr>
              <p:cNvSpPr/>
              <p:nvPr/>
            </p:nvSpPr>
            <p:spPr>
              <a:xfrm>
                <a:off x="6343275" y="445846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9" name="Organigramme : Connecteur 78">
                <a:extLst>
                  <a:ext uri="{FF2B5EF4-FFF2-40B4-BE49-F238E27FC236}">
                    <a16:creationId xmlns:a16="http://schemas.microsoft.com/office/drawing/2014/main" id="{9EC8DF1E-319C-4B8A-AB34-C4FC06D2138D}"/>
                  </a:ext>
                </a:extLst>
              </p:cNvPr>
              <p:cNvSpPr/>
              <p:nvPr/>
            </p:nvSpPr>
            <p:spPr>
              <a:xfrm>
                <a:off x="5778739" y="4871925"/>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0" name="Organigramme : Connecteur 79">
                <a:extLst>
                  <a:ext uri="{FF2B5EF4-FFF2-40B4-BE49-F238E27FC236}">
                    <a16:creationId xmlns:a16="http://schemas.microsoft.com/office/drawing/2014/main" id="{832294F0-1347-4B1C-9DB1-0EB5D6849E47}"/>
                  </a:ext>
                </a:extLst>
              </p:cNvPr>
              <p:cNvSpPr/>
              <p:nvPr/>
            </p:nvSpPr>
            <p:spPr>
              <a:xfrm>
                <a:off x="6343286" y="4863977"/>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1" name="Organigramme : Connecteur 80">
                <a:extLst>
                  <a:ext uri="{FF2B5EF4-FFF2-40B4-BE49-F238E27FC236}">
                    <a16:creationId xmlns:a16="http://schemas.microsoft.com/office/drawing/2014/main" id="{7AE83F51-0C07-457A-A9B7-589EEB6D37BD}"/>
                  </a:ext>
                </a:extLst>
              </p:cNvPr>
              <p:cNvSpPr/>
              <p:nvPr/>
            </p:nvSpPr>
            <p:spPr>
              <a:xfrm>
                <a:off x="5778741" y="5261538"/>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2" name="Organigramme : Connecteur 81">
                <a:extLst>
                  <a:ext uri="{FF2B5EF4-FFF2-40B4-BE49-F238E27FC236}">
                    <a16:creationId xmlns:a16="http://schemas.microsoft.com/office/drawing/2014/main" id="{EB7913DE-F974-4E6A-8C50-4CA780694038}"/>
                  </a:ext>
                </a:extLst>
              </p:cNvPr>
              <p:cNvSpPr/>
              <p:nvPr/>
            </p:nvSpPr>
            <p:spPr>
              <a:xfrm>
                <a:off x="5778742" y="565115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3" name="Organigramme : Connecteur 82">
                <a:extLst>
                  <a:ext uri="{FF2B5EF4-FFF2-40B4-BE49-F238E27FC236}">
                    <a16:creationId xmlns:a16="http://schemas.microsoft.com/office/drawing/2014/main" id="{5698004E-ADC3-41D6-9425-0DDE408E8F94}"/>
                  </a:ext>
                </a:extLst>
              </p:cNvPr>
              <p:cNvSpPr/>
              <p:nvPr/>
            </p:nvSpPr>
            <p:spPr>
              <a:xfrm>
                <a:off x="6343284" y="5253587"/>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4" name="Organigramme : Connecteur 83">
                <a:extLst>
                  <a:ext uri="{FF2B5EF4-FFF2-40B4-BE49-F238E27FC236}">
                    <a16:creationId xmlns:a16="http://schemas.microsoft.com/office/drawing/2014/main" id="{89942E0A-7827-4A6D-B6C1-C280997011FC}"/>
                  </a:ext>
                </a:extLst>
              </p:cNvPr>
              <p:cNvSpPr/>
              <p:nvPr/>
            </p:nvSpPr>
            <p:spPr>
              <a:xfrm>
                <a:off x="6343282" y="5651157"/>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
          <p:nvSpPr>
            <p:cNvPr id="86" name="Rectangle 85">
              <a:extLst>
                <a:ext uri="{FF2B5EF4-FFF2-40B4-BE49-F238E27FC236}">
                  <a16:creationId xmlns:a16="http://schemas.microsoft.com/office/drawing/2014/main" id="{90046164-1F53-473A-95F2-13B7F9C0F803}"/>
                </a:ext>
              </a:extLst>
            </p:cNvPr>
            <p:cNvSpPr/>
            <p:nvPr/>
          </p:nvSpPr>
          <p:spPr>
            <a:xfrm>
              <a:off x="3056679" y="4417517"/>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100</a:t>
              </a:r>
            </a:p>
          </p:txBody>
        </p:sp>
        <p:sp>
          <p:nvSpPr>
            <p:cNvPr id="87" name="Rectangle 86">
              <a:extLst>
                <a:ext uri="{FF2B5EF4-FFF2-40B4-BE49-F238E27FC236}">
                  <a16:creationId xmlns:a16="http://schemas.microsoft.com/office/drawing/2014/main" id="{FF360644-0F1F-4F8E-9D2B-D3B43319A5F3}"/>
                </a:ext>
              </a:extLst>
            </p:cNvPr>
            <p:cNvSpPr/>
            <p:nvPr/>
          </p:nvSpPr>
          <p:spPr>
            <a:xfrm>
              <a:off x="4284054" y="3555064"/>
              <a:ext cx="1978225"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Paramètre 2</a:t>
              </a:r>
            </a:p>
          </p:txBody>
        </p:sp>
        <p:sp>
          <p:nvSpPr>
            <p:cNvPr id="88" name="Rectangle 87">
              <a:extLst>
                <a:ext uri="{FF2B5EF4-FFF2-40B4-BE49-F238E27FC236}">
                  <a16:creationId xmlns:a16="http://schemas.microsoft.com/office/drawing/2014/main" id="{6B038190-DDB9-4E69-B4FF-86364E63CF95}"/>
                </a:ext>
              </a:extLst>
            </p:cNvPr>
            <p:cNvSpPr/>
            <p:nvPr/>
          </p:nvSpPr>
          <p:spPr>
            <a:xfrm rot="16200000">
              <a:off x="1967630" y="4890213"/>
              <a:ext cx="1978225"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Paramètre 1</a:t>
              </a:r>
            </a:p>
          </p:txBody>
        </p:sp>
        <p:sp>
          <p:nvSpPr>
            <p:cNvPr id="89" name="Rectangle 88">
              <a:extLst>
                <a:ext uri="{FF2B5EF4-FFF2-40B4-BE49-F238E27FC236}">
                  <a16:creationId xmlns:a16="http://schemas.microsoft.com/office/drawing/2014/main" id="{E8752918-79A2-4F22-938D-23EC3F763BF4}"/>
                </a:ext>
              </a:extLst>
            </p:cNvPr>
            <p:cNvSpPr/>
            <p:nvPr/>
          </p:nvSpPr>
          <p:spPr>
            <a:xfrm>
              <a:off x="3050661" y="4815078"/>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150</a:t>
              </a:r>
            </a:p>
          </p:txBody>
        </p:sp>
        <p:sp>
          <p:nvSpPr>
            <p:cNvPr id="90" name="Rectangle 89">
              <a:extLst>
                <a:ext uri="{FF2B5EF4-FFF2-40B4-BE49-F238E27FC236}">
                  <a16:creationId xmlns:a16="http://schemas.microsoft.com/office/drawing/2014/main" id="{7063048E-4723-4042-A22D-FEDEC86439B7}"/>
                </a:ext>
              </a:extLst>
            </p:cNvPr>
            <p:cNvSpPr/>
            <p:nvPr/>
          </p:nvSpPr>
          <p:spPr>
            <a:xfrm>
              <a:off x="3056679" y="5196746"/>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200</a:t>
              </a:r>
            </a:p>
          </p:txBody>
        </p:sp>
        <p:sp>
          <p:nvSpPr>
            <p:cNvPr id="91" name="Rectangle 90">
              <a:extLst>
                <a:ext uri="{FF2B5EF4-FFF2-40B4-BE49-F238E27FC236}">
                  <a16:creationId xmlns:a16="http://schemas.microsoft.com/office/drawing/2014/main" id="{473B5B75-2100-46D4-8160-35628AB930E5}"/>
                </a:ext>
              </a:extLst>
            </p:cNvPr>
            <p:cNvSpPr/>
            <p:nvPr/>
          </p:nvSpPr>
          <p:spPr>
            <a:xfrm>
              <a:off x="3050157" y="5591507"/>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250</a:t>
              </a:r>
            </a:p>
          </p:txBody>
        </p:sp>
        <p:sp>
          <p:nvSpPr>
            <p:cNvPr id="92" name="Rectangle 91">
              <a:extLst>
                <a:ext uri="{FF2B5EF4-FFF2-40B4-BE49-F238E27FC236}">
                  <a16:creationId xmlns:a16="http://schemas.microsoft.com/office/drawing/2014/main" id="{5E176A9D-A0C5-426C-9931-9F1B9D349E60}"/>
                </a:ext>
              </a:extLst>
            </p:cNvPr>
            <p:cNvSpPr/>
            <p:nvPr/>
          </p:nvSpPr>
          <p:spPr>
            <a:xfrm>
              <a:off x="3854426" y="3796808"/>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8</a:t>
              </a:r>
            </a:p>
          </p:txBody>
        </p:sp>
        <p:sp>
          <p:nvSpPr>
            <p:cNvPr id="93" name="Rectangle 92">
              <a:extLst>
                <a:ext uri="{FF2B5EF4-FFF2-40B4-BE49-F238E27FC236}">
                  <a16:creationId xmlns:a16="http://schemas.microsoft.com/office/drawing/2014/main" id="{E9B65ECA-11D4-4C47-A53E-A5698AF13E3A}"/>
                </a:ext>
              </a:extLst>
            </p:cNvPr>
            <p:cNvSpPr/>
            <p:nvPr/>
          </p:nvSpPr>
          <p:spPr>
            <a:xfrm>
              <a:off x="4461687" y="3796808"/>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10</a:t>
              </a:r>
            </a:p>
          </p:txBody>
        </p:sp>
        <p:sp>
          <p:nvSpPr>
            <p:cNvPr id="94" name="Rectangle 93">
              <a:extLst>
                <a:ext uri="{FF2B5EF4-FFF2-40B4-BE49-F238E27FC236}">
                  <a16:creationId xmlns:a16="http://schemas.microsoft.com/office/drawing/2014/main" id="{DE9C1D54-D411-410F-8BC6-F08308C72401}"/>
                </a:ext>
              </a:extLst>
            </p:cNvPr>
            <p:cNvSpPr/>
            <p:nvPr/>
          </p:nvSpPr>
          <p:spPr>
            <a:xfrm>
              <a:off x="5040396" y="3806091"/>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12</a:t>
              </a:r>
            </a:p>
          </p:txBody>
        </p:sp>
        <p:sp>
          <p:nvSpPr>
            <p:cNvPr id="95" name="Rectangle 94">
              <a:extLst>
                <a:ext uri="{FF2B5EF4-FFF2-40B4-BE49-F238E27FC236}">
                  <a16:creationId xmlns:a16="http://schemas.microsoft.com/office/drawing/2014/main" id="{17375EB0-66C9-4092-8C97-4885E59C8AEF}"/>
                </a:ext>
              </a:extLst>
            </p:cNvPr>
            <p:cNvSpPr/>
            <p:nvPr/>
          </p:nvSpPr>
          <p:spPr>
            <a:xfrm>
              <a:off x="5619105" y="3796808"/>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14</a:t>
              </a:r>
            </a:p>
          </p:txBody>
        </p:sp>
        <p:sp>
          <p:nvSpPr>
            <p:cNvPr id="96" name="Rectangle 95">
              <a:extLst>
                <a:ext uri="{FF2B5EF4-FFF2-40B4-BE49-F238E27FC236}">
                  <a16:creationId xmlns:a16="http://schemas.microsoft.com/office/drawing/2014/main" id="{74CFD712-0839-447C-9F91-FDFDC70B40A3}"/>
                </a:ext>
              </a:extLst>
            </p:cNvPr>
            <p:cNvSpPr/>
            <p:nvPr/>
          </p:nvSpPr>
          <p:spPr>
            <a:xfrm>
              <a:off x="6197814" y="3806090"/>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16</a:t>
              </a:r>
            </a:p>
          </p:txBody>
        </p:sp>
      </p:grpSp>
    </p:spTree>
    <p:extLst>
      <p:ext uri="{BB962C8B-B14F-4D97-AF65-F5344CB8AC3E}">
        <p14:creationId xmlns:p14="http://schemas.microsoft.com/office/powerpoint/2010/main" val="396104918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092107"/>
          </a:xfrm>
        </p:spPr>
        <p:txBody>
          <a:bodyPr>
            <a:noAutofit/>
          </a:bodyPr>
          <a:lstStyle/>
          <a:p>
            <a:pPr algn="just">
              <a:lnSpc>
                <a:spcPct val="150000"/>
              </a:lnSpc>
              <a:buClr>
                <a:schemeClr val="accent2"/>
              </a:buClr>
            </a:pPr>
            <a:r>
              <a:rPr lang="fr-FR" sz="1350" dirty="0"/>
              <a:t>Une des options pour pallier la limitation de Grid Search, est d’utiliser la méthode Random Search. </a:t>
            </a:r>
          </a:p>
          <a:p>
            <a:pPr algn="just">
              <a:lnSpc>
                <a:spcPct val="150000"/>
              </a:lnSpc>
              <a:buClr>
                <a:schemeClr val="accent2"/>
              </a:buClr>
            </a:pPr>
            <a:r>
              <a:rPr lang="fr-FR" sz="1350" dirty="0"/>
              <a:t>On garde le « système de grille » mais on change notre façon de sélectionner les combinaisons de paramètres à chaque étape.</a:t>
            </a:r>
          </a:p>
          <a:p>
            <a:pPr algn="just">
              <a:lnSpc>
                <a:spcPct val="150000"/>
              </a:lnSpc>
              <a:buClr>
                <a:schemeClr val="accent2"/>
              </a:buClr>
            </a:pPr>
            <a:r>
              <a:rPr lang="fr-FR" sz="1350" dirty="0"/>
              <a:t>Cette fois, plutôt que de fixer un ensemble de valeurs prises par un hyper paramètre donné, on va fixer un intervalle de valeurs et on va associer à chaque hyper paramètre une distribution de probabilités. </a:t>
            </a:r>
          </a:p>
          <a:p>
            <a:pPr algn="just">
              <a:lnSpc>
                <a:spcPct val="150000"/>
              </a:lnSpc>
              <a:buClr>
                <a:schemeClr val="accent2"/>
              </a:buClr>
            </a:pPr>
            <a:r>
              <a:rPr lang="fr-FR" sz="1350" dirty="0"/>
              <a:t>Ensuite, à chaque itération, on entraîne le modèle et on garde les résultats de performances en mémoire.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162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hyper paramètre Random Search</a:t>
            </a:r>
          </a:p>
        </p:txBody>
      </p:sp>
    </p:spTree>
    <p:extLst>
      <p:ext uri="{BB962C8B-B14F-4D97-AF65-F5344CB8AC3E}">
        <p14:creationId xmlns:p14="http://schemas.microsoft.com/office/powerpoint/2010/main" val="98514138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163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hyper paramètre Random Search</a:t>
            </a:r>
          </a:p>
        </p:txBody>
      </p:sp>
      <p:grpSp>
        <p:nvGrpSpPr>
          <p:cNvPr id="7" name="Groupe 6">
            <a:extLst>
              <a:ext uri="{FF2B5EF4-FFF2-40B4-BE49-F238E27FC236}">
                <a16:creationId xmlns:a16="http://schemas.microsoft.com/office/drawing/2014/main" id="{95EC662B-78BA-4C57-96F2-C0E81341D539}"/>
              </a:ext>
            </a:extLst>
          </p:cNvPr>
          <p:cNvGrpSpPr/>
          <p:nvPr/>
        </p:nvGrpSpPr>
        <p:grpSpPr>
          <a:xfrm>
            <a:off x="1122127" y="1520601"/>
            <a:ext cx="5163379" cy="577081"/>
            <a:chOff x="2767053" y="5597607"/>
            <a:chExt cx="6543924" cy="769441"/>
          </a:xfrm>
        </p:grpSpPr>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99606E51-7746-40AF-9E90-206F15B47D46}"/>
                    </a:ext>
                  </a:extLst>
                </p:cNvPr>
                <p:cNvSpPr txBox="1"/>
                <p:nvPr/>
              </p:nvSpPr>
              <p:spPr>
                <a:xfrm>
                  <a:off x="2767053" y="5597607"/>
                  <a:ext cx="5375082" cy="4001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350" i="1">
                            <a:latin typeface="Cambria Math" panose="02040503050406030204" pitchFamily="18" charset="0"/>
                          </a:rPr>
                          <m:t>𝑛𝑜𝑚𝑏𝑟𝑒</m:t>
                        </m:r>
                        <m:r>
                          <a:rPr lang="fr-FR" sz="1350" i="1">
                            <a:latin typeface="Cambria Math" panose="02040503050406030204" pitchFamily="18" charset="0"/>
                          </a:rPr>
                          <m:t> </m:t>
                        </m:r>
                        <m:sSup>
                          <m:sSupPr>
                            <m:ctrlPr>
                              <a:rPr lang="fr-FR" sz="1350" i="1">
                                <a:latin typeface="Cambria Math" panose="02040503050406030204" pitchFamily="18" charset="0"/>
                              </a:rPr>
                            </m:ctrlPr>
                          </m:sSupPr>
                          <m:e>
                            <m:r>
                              <a:rPr lang="fr-FR" sz="1350" i="1">
                                <a:latin typeface="Cambria Math" panose="02040503050406030204" pitchFamily="18" charset="0"/>
                              </a:rPr>
                              <m:t>𝑑</m:t>
                            </m:r>
                          </m:e>
                          <m:sup>
                            <m:r>
                              <a:rPr lang="fr-FR" sz="1350" i="1">
                                <a:latin typeface="Cambria Math" panose="02040503050406030204" pitchFamily="18" charset="0"/>
                              </a:rPr>
                              <m:t>′</m:t>
                            </m:r>
                          </m:sup>
                        </m:sSup>
                        <m:r>
                          <a:rPr lang="fr-FR" sz="1350" i="1">
                            <a:latin typeface="Cambria Math" panose="02040503050406030204" pitchFamily="18" charset="0"/>
                          </a:rPr>
                          <m:t>𝑎𝑟𝑏𝑟𝑒𝑠</m:t>
                        </m:r>
                        <m:r>
                          <a:rPr lang="fr-FR" sz="1350" i="1">
                            <a:latin typeface="Cambria Math" panose="02040503050406030204" pitchFamily="18" charset="0"/>
                          </a:rPr>
                          <m:t>  </m:t>
                        </m:r>
                        <m:r>
                          <a:rPr lang="fr-FR" sz="1350" i="1">
                            <a:latin typeface="Cambria Math" panose="02040503050406030204" pitchFamily="18" charset="0"/>
                          </a:rPr>
                          <m:t>𝑎𝑙</m:t>
                        </m:r>
                        <m:r>
                          <a:rPr lang="fr-FR" sz="1350" i="1">
                            <a:latin typeface="Cambria Math" panose="02040503050406030204" pitchFamily="18" charset="0"/>
                          </a:rPr>
                          <m:t>é</m:t>
                        </m:r>
                        <m:r>
                          <a:rPr lang="fr-FR" sz="1350" i="1">
                            <a:latin typeface="Cambria Math" panose="02040503050406030204" pitchFamily="18" charset="0"/>
                          </a:rPr>
                          <m:t>𝑎𝑡𝑜𝑖𝑟𝑒𝑠</m:t>
                        </m:r>
                        <m:r>
                          <a:rPr lang="fr-FR" sz="1350" i="1">
                            <a:latin typeface="Cambria Math" panose="02040503050406030204" pitchFamily="18" charset="0"/>
                          </a:rPr>
                          <m:t> : </m:t>
                        </m:r>
                        <m:d>
                          <m:dPr>
                            <m:begChr m:val="{"/>
                            <m:endChr m:val="}"/>
                            <m:ctrlPr>
                              <a:rPr lang="fr-FR" sz="1350" i="1">
                                <a:latin typeface="Cambria Math" panose="02040503050406030204" pitchFamily="18" charset="0"/>
                              </a:rPr>
                            </m:ctrlPr>
                          </m:dPr>
                          <m:e>
                            <m:r>
                              <a:rPr lang="fr-FR" sz="1350" i="1">
                                <a:latin typeface="Cambria Math" panose="02040503050406030204" pitchFamily="18" charset="0"/>
                              </a:rPr>
                              <m:t>…</m:t>
                            </m:r>
                          </m:e>
                        </m:d>
                      </m:oMath>
                    </m:oMathPara>
                  </a14:m>
                  <a:endParaRPr lang="fr-FR" sz="1350" dirty="0"/>
                </a:p>
              </p:txBody>
            </p:sp>
          </mc:Choice>
          <mc:Fallback xmlns="">
            <p:sp>
              <p:nvSpPr>
                <p:cNvPr id="8" name="ZoneTexte 7">
                  <a:extLst>
                    <a:ext uri="{FF2B5EF4-FFF2-40B4-BE49-F238E27FC236}">
                      <a16:creationId xmlns:a16="http://schemas.microsoft.com/office/drawing/2014/main" id="{99606E51-7746-40AF-9E90-206F15B47D46}"/>
                    </a:ext>
                  </a:extLst>
                </p:cNvPr>
                <p:cNvSpPr txBox="1">
                  <a:spLocks noRot="1" noChangeAspect="1" noMove="1" noResize="1" noEditPoints="1" noAdjustHandles="1" noChangeArrowheads="1" noChangeShapeType="1" noTextEdit="1"/>
                </p:cNvSpPr>
                <p:nvPr/>
              </p:nvSpPr>
              <p:spPr>
                <a:xfrm>
                  <a:off x="2767053" y="5597607"/>
                  <a:ext cx="5375082" cy="400109"/>
                </a:xfrm>
                <a:prstGeom prst="rect">
                  <a:avLst/>
                </a:prstGeom>
                <a:blipFill>
                  <a:blip r:embed="rId2"/>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480E9F4E-2BA8-488B-B8DC-0265CA87B40E}"/>
                    </a:ext>
                  </a:extLst>
                </p:cNvPr>
                <p:cNvSpPr txBox="1"/>
                <p:nvPr/>
              </p:nvSpPr>
              <p:spPr>
                <a:xfrm>
                  <a:off x="3140766" y="5966939"/>
                  <a:ext cx="6170211" cy="4001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350" i="1">
                            <a:latin typeface="Cambria Math" panose="02040503050406030204" pitchFamily="18" charset="0"/>
                          </a:rPr>
                          <m:t>𝑛𝑜𝑚𝑏𝑟𝑒</m:t>
                        </m:r>
                        <m:r>
                          <a:rPr lang="fr-FR" sz="1350" i="1">
                            <a:latin typeface="Cambria Math" panose="02040503050406030204" pitchFamily="18" charset="0"/>
                          </a:rPr>
                          <m:t> </m:t>
                        </m:r>
                        <m:r>
                          <a:rPr lang="fr-FR" sz="1350" i="1">
                            <a:latin typeface="Cambria Math" panose="02040503050406030204" pitchFamily="18" charset="0"/>
                          </a:rPr>
                          <m:t>𝑑𝑒</m:t>
                        </m:r>
                        <m:r>
                          <a:rPr lang="fr-FR" sz="1350" i="1">
                            <a:latin typeface="Cambria Math" panose="02040503050406030204" pitchFamily="18" charset="0"/>
                          </a:rPr>
                          <m:t> </m:t>
                        </m:r>
                        <m:r>
                          <a:rPr lang="fr-FR" sz="1350" i="1">
                            <a:latin typeface="Cambria Math" panose="02040503050406030204" pitchFamily="18" charset="0"/>
                          </a:rPr>
                          <m:t>𝑣𝑎𝑟𝑖𝑎𝑏𝑙𝑒𝑠</m:t>
                        </m:r>
                        <m:r>
                          <a:rPr lang="fr-FR" sz="1350" i="1">
                            <a:latin typeface="Cambria Math" panose="02040503050406030204" pitchFamily="18" charset="0"/>
                          </a:rPr>
                          <m:t> </m:t>
                        </m:r>
                        <m:r>
                          <a:rPr lang="fr-FR" sz="1350" i="1">
                            <a:latin typeface="Cambria Math" panose="02040503050406030204" pitchFamily="18" charset="0"/>
                          </a:rPr>
                          <m:t>𝑠</m:t>
                        </m:r>
                        <m:r>
                          <a:rPr lang="fr-FR" sz="1350" i="1">
                            <a:latin typeface="Cambria Math" panose="02040503050406030204" pitchFamily="18" charset="0"/>
                          </a:rPr>
                          <m:t>é</m:t>
                        </m:r>
                        <m:r>
                          <a:rPr lang="fr-FR" sz="1350" i="1">
                            <a:latin typeface="Cambria Math" panose="02040503050406030204" pitchFamily="18" charset="0"/>
                          </a:rPr>
                          <m:t>𝑙𝑒𝑐𝑡𝑖𝑜𝑛𝑛</m:t>
                        </m:r>
                        <m:r>
                          <a:rPr lang="fr-FR" sz="1350" i="1">
                            <a:latin typeface="Cambria Math" panose="02040503050406030204" pitchFamily="18" charset="0"/>
                          </a:rPr>
                          <m:t>é</m:t>
                        </m:r>
                        <m:r>
                          <a:rPr lang="fr-FR" sz="1350" i="1">
                            <a:latin typeface="Cambria Math" panose="02040503050406030204" pitchFamily="18" charset="0"/>
                          </a:rPr>
                          <m:t>𝑒𝑠</m:t>
                        </m:r>
                        <m:r>
                          <a:rPr lang="fr-FR" sz="1350" i="1">
                            <a:latin typeface="Cambria Math" panose="02040503050406030204" pitchFamily="18" charset="0"/>
                          </a:rPr>
                          <m:t> </m:t>
                        </m:r>
                        <m:r>
                          <a:rPr lang="fr-FR" sz="1350" i="1">
                            <a:latin typeface="Cambria Math" panose="02040503050406030204" pitchFamily="18" charset="0"/>
                          </a:rPr>
                          <m:t>𝑑𝑒</m:t>
                        </m:r>
                        <m:r>
                          <a:rPr lang="fr-FR" sz="1350" i="1">
                            <a:latin typeface="Cambria Math" panose="02040503050406030204" pitchFamily="18" charset="0"/>
                          </a:rPr>
                          <m:t> </m:t>
                        </m:r>
                        <m:r>
                          <a:rPr lang="fr-FR" sz="1350" i="1">
                            <a:latin typeface="Cambria Math" panose="02040503050406030204" pitchFamily="18" charset="0"/>
                          </a:rPr>
                          <m:t>𝑓𝑎</m:t>
                        </m:r>
                        <m:r>
                          <a:rPr lang="fr-FR" sz="1350" i="1">
                            <a:latin typeface="Cambria Math" panose="02040503050406030204" pitchFamily="18" charset="0"/>
                          </a:rPr>
                          <m:t>ç</m:t>
                        </m:r>
                        <m:r>
                          <a:rPr lang="fr-FR" sz="1350" i="1">
                            <a:latin typeface="Cambria Math" panose="02040503050406030204" pitchFamily="18" charset="0"/>
                          </a:rPr>
                          <m:t>𝑜𝑛</m:t>
                        </m:r>
                        <m:r>
                          <a:rPr lang="fr-FR" sz="1350" i="1">
                            <a:latin typeface="Cambria Math" panose="02040503050406030204" pitchFamily="18" charset="0"/>
                          </a:rPr>
                          <m:t> </m:t>
                        </m:r>
                        <m:r>
                          <a:rPr lang="fr-FR" sz="1350" i="1">
                            <a:latin typeface="Cambria Math" panose="02040503050406030204" pitchFamily="18" charset="0"/>
                          </a:rPr>
                          <m:t>𝑎𝑙</m:t>
                        </m:r>
                        <m:r>
                          <a:rPr lang="fr-FR" sz="1350" i="1">
                            <a:latin typeface="Cambria Math" panose="02040503050406030204" pitchFamily="18" charset="0"/>
                          </a:rPr>
                          <m:t>é</m:t>
                        </m:r>
                        <m:r>
                          <a:rPr lang="fr-FR" sz="1350" i="1">
                            <a:latin typeface="Cambria Math" panose="02040503050406030204" pitchFamily="18" charset="0"/>
                          </a:rPr>
                          <m:t>𝑎𝑡𝑜𝑖𝑟𝑒</m:t>
                        </m:r>
                        <m:r>
                          <a:rPr lang="fr-FR" sz="1350" i="1">
                            <a:latin typeface="Cambria Math" panose="02040503050406030204" pitchFamily="18" charset="0"/>
                          </a:rPr>
                          <m:t> : </m:t>
                        </m:r>
                        <m:d>
                          <m:dPr>
                            <m:begChr m:val="{"/>
                            <m:endChr m:val="}"/>
                            <m:ctrlPr>
                              <a:rPr lang="fr-FR" sz="1350" i="1">
                                <a:latin typeface="Cambria Math" panose="02040503050406030204" pitchFamily="18" charset="0"/>
                              </a:rPr>
                            </m:ctrlPr>
                          </m:dPr>
                          <m:e>
                            <m:r>
                              <a:rPr lang="fr-FR" sz="1350" i="1">
                                <a:latin typeface="Cambria Math" panose="02040503050406030204" pitchFamily="18" charset="0"/>
                              </a:rPr>
                              <m:t>…</m:t>
                            </m:r>
                          </m:e>
                        </m:d>
                      </m:oMath>
                    </m:oMathPara>
                  </a14:m>
                  <a:endParaRPr lang="fr-FR" sz="1350" dirty="0"/>
                </a:p>
              </p:txBody>
            </p:sp>
          </mc:Choice>
          <mc:Fallback xmlns="">
            <p:sp>
              <p:nvSpPr>
                <p:cNvPr id="9" name="ZoneTexte 8">
                  <a:extLst>
                    <a:ext uri="{FF2B5EF4-FFF2-40B4-BE49-F238E27FC236}">
                      <a16:creationId xmlns:a16="http://schemas.microsoft.com/office/drawing/2014/main" id="{480E9F4E-2BA8-488B-B8DC-0265CA87B40E}"/>
                    </a:ext>
                  </a:extLst>
                </p:cNvPr>
                <p:cNvSpPr txBox="1">
                  <a:spLocks noRot="1" noChangeAspect="1" noMove="1" noResize="1" noEditPoints="1" noAdjustHandles="1" noChangeArrowheads="1" noChangeShapeType="1" noTextEdit="1"/>
                </p:cNvSpPr>
                <p:nvPr/>
              </p:nvSpPr>
              <p:spPr>
                <a:xfrm>
                  <a:off x="3140766" y="5966939"/>
                  <a:ext cx="6170211" cy="400109"/>
                </a:xfrm>
                <a:prstGeom prst="rect">
                  <a:avLst/>
                </a:prstGeom>
                <a:blipFill>
                  <a:blip r:embed="rId3"/>
                  <a:stretch>
                    <a:fillRect b="-10204"/>
                  </a:stretch>
                </a:blipFill>
              </p:spPr>
              <p:txBody>
                <a:bodyPr/>
                <a:lstStyle/>
                <a:p>
                  <a:r>
                    <a:rPr lang="fr-FR">
                      <a:noFill/>
                    </a:rPr>
                    <a:t> </a:t>
                  </a:r>
                </a:p>
              </p:txBody>
            </p:sp>
          </mc:Fallback>
        </mc:AlternateContent>
      </p:grpSp>
      <p:grpSp>
        <p:nvGrpSpPr>
          <p:cNvPr id="4" name="Groupe 3">
            <a:extLst>
              <a:ext uri="{FF2B5EF4-FFF2-40B4-BE49-F238E27FC236}">
                <a16:creationId xmlns:a16="http://schemas.microsoft.com/office/drawing/2014/main" id="{E5E5ED3E-CF43-423D-9A48-B091C3FFE2F6}"/>
              </a:ext>
            </a:extLst>
          </p:cNvPr>
          <p:cNvGrpSpPr/>
          <p:nvPr/>
        </p:nvGrpSpPr>
        <p:grpSpPr>
          <a:xfrm>
            <a:off x="2137350" y="2666298"/>
            <a:ext cx="3113327" cy="1934975"/>
            <a:chOff x="2849800" y="3555064"/>
            <a:chExt cx="4151102" cy="2579966"/>
          </a:xfrm>
        </p:grpSpPr>
        <p:grpSp>
          <p:nvGrpSpPr>
            <p:cNvPr id="10" name="Groupe 9">
              <a:extLst>
                <a:ext uri="{FF2B5EF4-FFF2-40B4-BE49-F238E27FC236}">
                  <a16:creationId xmlns:a16="http://schemas.microsoft.com/office/drawing/2014/main" id="{4F169494-0A07-468B-BFD2-DAEB833843D6}"/>
                </a:ext>
              </a:extLst>
            </p:cNvPr>
            <p:cNvGrpSpPr/>
            <p:nvPr/>
          </p:nvGrpSpPr>
          <p:grpSpPr>
            <a:xfrm>
              <a:off x="2849800" y="3555064"/>
              <a:ext cx="4151102" cy="2579966"/>
              <a:chOff x="2849800" y="3555064"/>
              <a:chExt cx="4151102" cy="2579966"/>
            </a:xfrm>
          </p:grpSpPr>
          <p:grpSp>
            <p:nvGrpSpPr>
              <p:cNvPr id="11" name="Groupe 10">
                <a:extLst>
                  <a:ext uri="{FF2B5EF4-FFF2-40B4-BE49-F238E27FC236}">
                    <a16:creationId xmlns:a16="http://schemas.microsoft.com/office/drawing/2014/main" id="{A644E5B8-C496-426D-BF20-95DD978AD291}"/>
                  </a:ext>
                </a:extLst>
              </p:cNvPr>
              <p:cNvGrpSpPr/>
              <p:nvPr/>
            </p:nvGrpSpPr>
            <p:grpSpPr>
              <a:xfrm>
                <a:off x="3532461" y="4091866"/>
                <a:ext cx="3468441" cy="2043164"/>
                <a:chOff x="3532461" y="4091866"/>
                <a:chExt cx="3468441" cy="2043164"/>
              </a:xfrm>
            </p:grpSpPr>
            <p:grpSp>
              <p:nvGrpSpPr>
                <p:cNvPr id="25" name="Groupe 24">
                  <a:extLst>
                    <a:ext uri="{FF2B5EF4-FFF2-40B4-BE49-F238E27FC236}">
                      <a16:creationId xmlns:a16="http://schemas.microsoft.com/office/drawing/2014/main" id="{8032A240-6F44-46A5-96D7-AA5719BE080B}"/>
                    </a:ext>
                  </a:extLst>
                </p:cNvPr>
                <p:cNvGrpSpPr/>
                <p:nvPr/>
              </p:nvGrpSpPr>
              <p:grpSpPr>
                <a:xfrm>
                  <a:off x="3532461" y="4091866"/>
                  <a:ext cx="3468441" cy="2043164"/>
                  <a:chOff x="7570968" y="4142951"/>
                  <a:chExt cx="3468441" cy="2043164"/>
                </a:xfrm>
              </p:grpSpPr>
              <p:sp>
                <p:nvSpPr>
                  <p:cNvPr id="47" name="Rectangle 46">
                    <a:extLst>
                      <a:ext uri="{FF2B5EF4-FFF2-40B4-BE49-F238E27FC236}">
                        <a16:creationId xmlns:a16="http://schemas.microsoft.com/office/drawing/2014/main" id="{5C8BD723-F34D-4F48-BEFB-D2FAC8127258}"/>
                      </a:ext>
                    </a:extLst>
                  </p:cNvPr>
                  <p:cNvSpPr/>
                  <p:nvPr/>
                </p:nvSpPr>
                <p:spPr>
                  <a:xfrm>
                    <a:off x="7570968" y="4142951"/>
                    <a:ext cx="3465442" cy="2043164"/>
                  </a:xfrm>
                  <a:prstGeom prst="rect">
                    <a:avLst/>
                  </a:prstGeom>
                  <a:noFill/>
                  <a:ln w="12700">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48" name="Connecteur droit avec flèche 47">
                    <a:extLst>
                      <a:ext uri="{FF2B5EF4-FFF2-40B4-BE49-F238E27FC236}">
                        <a16:creationId xmlns:a16="http://schemas.microsoft.com/office/drawing/2014/main" id="{75EA9C05-4AD1-4BD6-959F-89FA62884B6A}"/>
                      </a:ext>
                    </a:extLst>
                  </p:cNvPr>
                  <p:cNvCxnSpPr>
                    <a:cxnSpLocks/>
                  </p:cNvCxnSpPr>
                  <p:nvPr/>
                </p:nvCxnSpPr>
                <p:spPr>
                  <a:xfrm flipV="1">
                    <a:off x="8128570"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96CC5187-E992-49F5-9F37-1C26ED53AF0C}"/>
                      </a:ext>
                    </a:extLst>
                  </p:cNvPr>
                  <p:cNvCxnSpPr>
                    <a:cxnSpLocks/>
                  </p:cNvCxnSpPr>
                  <p:nvPr/>
                </p:nvCxnSpPr>
                <p:spPr>
                  <a:xfrm flipV="1">
                    <a:off x="8734194"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Connecteur droit avec flèche 49">
                    <a:extLst>
                      <a:ext uri="{FF2B5EF4-FFF2-40B4-BE49-F238E27FC236}">
                        <a16:creationId xmlns:a16="http://schemas.microsoft.com/office/drawing/2014/main" id="{F1326C8C-1DA2-4705-B7A5-EF0149C39988}"/>
                      </a:ext>
                    </a:extLst>
                  </p:cNvPr>
                  <p:cNvCxnSpPr>
                    <a:cxnSpLocks/>
                  </p:cNvCxnSpPr>
                  <p:nvPr/>
                </p:nvCxnSpPr>
                <p:spPr>
                  <a:xfrm flipV="1">
                    <a:off x="9306688"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E4400056-91F1-4B80-9E66-7656610882C8}"/>
                      </a:ext>
                    </a:extLst>
                  </p:cNvPr>
                  <p:cNvCxnSpPr>
                    <a:cxnSpLocks/>
                  </p:cNvCxnSpPr>
                  <p:nvPr/>
                </p:nvCxnSpPr>
                <p:spPr>
                  <a:xfrm flipV="1">
                    <a:off x="9879182"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Connecteur droit avec flèche 51">
                    <a:extLst>
                      <a:ext uri="{FF2B5EF4-FFF2-40B4-BE49-F238E27FC236}">
                        <a16:creationId xmlns:a16="http://schemas.microsoft.com/office/drawing/2014/main" id="{C951A780-DDFC-4141-B4F0-713020CEF97A}"/>
                      </a:ext>
                    </a:extLst>
                  </p:cNvPr>
                  <p:cNvCxnSpPr>
                    <a:cxnSpLocks/>
                  </p:cNvCxnSpPr>
                  <p:nvPr/>
                </p:nvCxnSpPr>
                <p:spPr>
                  <a:xfrm flipV="1">
                    <a:off x="10443725"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Connecteur droit avec flèche 52">
                    <a:extLst>
                      <a:ext uri="{FF2B5EF4-FFF2-40B4-BE49-F238E27FC236}">
                        <a16:creationId xmlns:a16="http://schemas.microsoft.com/office/drawing/2014/main" id="{90E798C1-2011-403D-B976-6945B5DF8C83}"/>
                      </a:ext>
                    </a:extLst>
                  </p:cNvPr>
                  <p:cNvCxnSpPr>
                    <a:cxnSpLocks/>
                  </p:cNvCxnSpPr>
                  <p:nvPr/>
                </p:nvCxnSpPr>
                <p:spPr>
                  <a:xfrm>
                    <a:off x="7570968" y="4569510"/>
                    <a:ext cx="3465442" cy="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Connecteur droit avec flèche 53">
                    <a:extLst>
                      <a:ext uri="{FF2B5EF4-FFF2-40B4-BE49-F238E27FC236}">
                        <a16:creationId xmlns:a16="http://schemas.microsoft.com/office/drawing/2014/main" id="{7C2BA8A5-4C4F-484E-957E-81DD107A6ABF}"/>
                      </a:ext>
                    </a:extLst>
                  </p:cNvPr>
                  <p:cNvCxnSpPr>
                    <a:cxnSpLocks/>
                  </p:cNvCxnSpPr>
                  <p:nvPr/>
                </p:nvCxnSpPr>
                <p:spPr>
                  <a:xfrm>
                    <a:off x="7573967" y="4976351"/>
                    <a:ext cx="3465442" cy="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Connecteur droit avec flèche 54">
                    <a:extLst>
                      <a:ext uri="{FF2B5EF4-FFF2-40B4-BE49-F238E27FC236}">
                        <a16:creationId xmlns:a16="http://schemas.microsoft.com/office/drawing/2014/main" id="{D79FEA62-4C01-4260-82F8-A30F0C5856DC}"/>
                      </a:ext>
                    </a:extLst>
                  </p:cNvPr>
                  <p:cNvCxnSpPr>
                    <a:cxnSpLocks/>
                  </p:cNvCxnSpPr>
                  <p:nvPr/>
                </p:nvCxnSpPr>
                <p:spPr>
                  <a:xfrm>
                    <a:off x="7573967" y="5373917"/>
                    <a:ext cx="3465442" cy="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Connecteur droit avec flèche 55">
                    <a:extLst>
                      <a:ext uri="{FF2B5EF4-FFF2-40B4-BE49-F238E27FC236}">
                        <a16:creationId xmlns:a16="http://schemas.microsoft.com/office/drawing/2014/main" id="{F8093C31-0E53-4CC3-9165-EB18A8755205}"/>
                      </a:ext>
                    </a:extLst>
                  </p:cNvPr>
                  <p:cNvCxnSpPr>
                    <a:cxnSpLocks/>
                  </p:cNvCxnSpPr>
                  <p:nvPr/>
                </p:nvCxnSpPr>
                <p:spPr>
                  <a:xfrm>
                    <a:off x="7573967" y="5763531"/>
                    <a:ext cx="3465442" cy="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6" name="Organigramme : Connecteur 25">
                  <a:extLst>
                    <a:ext uri="{FF2B5EF4-FFF2-40B4-BE49-F238E27FC236}">
                      <a16:creationId xmlns:a16="http://schemas.microsoft.com/office/drawing/2014/main" id="{55985572-1FC6-4AF4-81B6-7A916340DAB4}"/>
                    </a:ext>
                  </a:extLst>
                </p:cNvPr>
                <p:cNvSpPr/>
                <p:nvPr/>
              </p:nvSpPr>
              <p:spPr>
                <a:xfrm>
                  <a:off x="4028128" y="445713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7" name="Organigramme : Connecteur 26">
                  <a:extLst>
                    <a:ext uri="{FF2B5EF4-FFF2-40B4-BE49-F238E27FC236}">
                      <a16:creationId xmlns:a16="http://schemas.microsoft.com/office/drawing/2014/main" id="{E11B21A8-7705-4A24-A7D0-F059289E4AB4}"/>
                    </a:ext>
                  </a:extLst>
                </p:cNvPr>
                <p:cNvSpPr/>
                <p:nvPr/>
              </p:nvSpPr>
              <p:spPr>
                <a:xfrm>
                  <a:off x="4182827" y="496204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8" name="Organigramme : Connecteur 27">
                  <a:extLst>
                    <a:ext uri="{FF2B5EF4-FFF2-40B4-BE49-F238E27FC236}">
                      <a16:creationId xmlns:a16="http://schemas.microsoft.com/office/drawing/2014/main" id="{77BB3619-6D27-4DCC-AAE1-1F44D09DEAC0}"/>
                    </a:ext>
                  </a:extLst>
                </p:cNvPr>
                <p:cNvSpPr/>
                <p:nvPr/>
              </p:nvSpPr>
              <p:spPr>
                <a:xfrm>
                  <a:off x="4029454" y="525358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9" name="Organigramme : Connecteur 28">
                  <a:extLst>
                    <a:ext uri="{FF2B5EF4-FFF2-40B4-BE49-F238E27FC236}">
                      <a16:creationId xmlns:a16="http://schemas.microsoft.com/office/drawing/2014/main" id="{2A7F9330-E55D-474D-9039-B7BB302B9D0F}"/>
                    </a:ext>
                  </a:extLst>
                </p:cNvPr>
                <p:cNvSpPr/>
                <p:nvPr/>
              </p:nvSpPr>
              <p:spPr>
                <a:xfrm>
                  <a:off x="4021503" y="5643199"/>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0" name="Organigramme : Connecteur 29">
                  <a:extLst>
                    <a:ext uri="{FF2B5EF4-FFF2-40B4-BE49-F238E27FC236}">
                      <a16:creationId xmlns:a16="http://schemas.microsoft.com/office/drawing/2014/main" id="{06110ACC-E7C3-4FE5-8EE8-1F53218B9B3B}"/>
                    </a:ext>
                  </a:extLst>
                </p:cNvPr>
                <p:cNvSpPr/>
                <p:nvPr/>
              </p:nvSpPr>
              <p:spPr>
                <a:xfrm>
                  <a:off x="5374549" y="4767819"/>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1" name="Organigramme : Connecteur 30">
                  <a:extLst>
                    <a:ext uri="{FF2B5EF4-FFF2-40B4-BE49-F238E27FC236}">
                      <a16:creationId xmlns:a16="http://schemas.microsoft.com/office/drawing/2014/main" id="{77F2C2F6-CBB4-43E7-BD09-8BBC195C4BC1}"/>
                    </a:ext>
                  </a:extLst>
                </p:cNvPr>
                <p:cNvSpPr/>
                <p:nvPr/>
              </p:nvSpPr>
              <p:spPr>
                <a:xfrm>
                  <a:off x="4579715" y="4704940"/>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2" name="Organigramme : Connecteur 31">
                  <a:extLst>
                    <a:ext uri="{FF2B5EF4-FFF2-40B4-BE49-F238E27FC236}">
                      <a16:creationId xmlns:a16="http://schemas.microsoft.com/office/drawing/2014/main" id="{276B3ED0-6E62-4A7A-AA23-574FB4FEBEC3}"/>
                    </a:ext>
                  </a:extLst>
                </p:cNvPr>
                <p:cNvSpPr/>
                <p:nvPr/>
              </p:nvSpPr>
              <p:spPr>
                <a:xfrm>
                  <a:off x="4729167" y="5356955"/>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3" name="Organigramme : Connecteur 32">
                  <a:extLst>
                    <a:ext uri="{FF2B5EF4-FFF2-40B4-BE49-F238E27FC236}">
                      <a16:creationId xmlns:a16="http://schemas.microsoft.com/office/drawing/2014/main" id="{12AA7ECD-06AF-4CB3-801E-EC1FE11D79E9}"/>
                    </a:ext>
                  </a:extLst>
                </p:cNvPr>
                <p:cNvSpPr/>
                <p:nvPr/>
              </p:nvSpPr>
              <p:spPr>
                <a:xfrm>
                  <a:off x="4633756" y="5651151"/>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4" name="Organigramme : Connecteur 33">
                  <a:extLst>
                    <a:ext uri="{FF2B5EF4-FFF2-40B4-BE49-F238E27FC236}">
                      <a16:creationId xmlns:a16="http://schemas.microsoft.com/office/drawing/2014/main" id="{36CA944D-EEFA-4718-A168-43EBAD97C60D}"/>
                    </a:ext>
                  </a:extLst>
                </p:cNvPr>
                <p:cNvSpPr/>
                <p:nvPr/>
              </p:nvSpPr>
              <p:spPr>
                <a:xfrm>
                  <a:off x="5206245" y="445846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5" name="Organigramme : Connecteur 34">
                  <a:extLst>
                    <a:ext uri="{FF2B5EF4-FFF2-40B4-BE49-F238E27FC236}">
                      <a16:creationId xmlns:a16="http://schemas.microsoft.com/office/drawing/2014/main" id="{C3315354-F857-4CE5-BCF2-9E57D3F9FDFD}"/>
                    </a:ext>
                  </a:extLst>
                </p:cNvPr>
                <p:cNvSpPr/>
                <p:nvPr/>
              </p:nvSpPr>
              <p:spPr>
                <a:xfrm>
                  <a:off x="5206249" y="486397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6" name="Organigramme : Connecteur 35">
                  <a:extLst>
                    <a:ext uri="{FF2B5EF4-FFF2-40B4-BE49-F238E27FC236}">
                      <a16:creationId xmlns:a16="http://schemas.microsoft.com/office/drawing/2014/main" id="{0CD48B06-BB6F-42ED-B354-86FDB4F33A24}"/>
                    </a:ext>
                  </a:extLst>
                </p:cNvPr>
                <p:cNvSpPr/>
                <p:nvPr/>
              </p:nvSpPr>
              <p:spPr>
                <a:xfrm>
                  <a:off x="5206244" y="526154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7" name="Organigramme : Connecteur 36">
                  <a:extLst>
                    <a:ext uri="{FF2B5EF4-FFF2-40B4-BE49-F238E27FC236}">
                      <a16:creationId xmlns:a16="http://schemas.microsoft.com/office/drawing/2014/main" id="{21460812-D84D-45F2-A63E-9BE8CC330494}"/>
                    </a:ext>
                  </a:extLst>
                </p:cNvPr>
                <p:cNvSpPr/>
                <p:nvPr/>
              </p:nvSpPr>
              <p:spPr>
                <a:xfrm>
                  <a:off x="5206248" y="5651155"/>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8" name="Organigramme : Connecteur 37">
                  <a:extLst>
                    <a:ext uri="{FF2B5EF4-FFF2-40B4-BE49-F238E27FC236}">
                      <a16:creationId xmlns:a16="http://schemas.microsoft.com/office/drawing/2014/main" id="{AA53DCD1-F8B3-49FA-AB15-21FA80612B66}"/>
                    </a:ext>
                  </a:extLst>
                </p:cNvPr>
                <p:cNvSpPr/>
                <p:nvPr/>
              </p:nvSpPr>
              <p:spPr>
                <a:xfrm>
                  <a:off x="5778739" y="446641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0" name="Organigramme : Connecteur 39">
                  <a:extLst>
                    <a:ext uri="{FF2B5EF4-FFF2-40B4-BE49-F238E27FC236}">
                      <a16:creationId xmlns:a16="http://schemas.microsoft.com/office/drawing/2014/main" id="{3A8DFFD6-365E-4D0F-95FC-29DC6A9A3914}"/>
                    </a:ext>
                  </a:extLst>
                </p:cNvPr>
                <p:cNvSpPr/>
                <p:nvPr/>
              </p:nvSpPr>
              <p:spPr>
                <a:xfrm>
                  <a:off x="6343275" y="445846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1" name="Organigramme : Connecteur 40">
                  <a:extLst>
                    <a:ext uri="{FF2B5EF4-FFF2-40B4-BE49-F238E27FC236}">
                      <a16:creationId xmlns:a16="http://schemas.microsoft.com/office/drawing/2014/main" id="{44C8E35E-2C30-43ED-96A3-FF9298FA5FD8}"/>
                    </a:ext>
                  </a:extLst>
                </p:cNvPr>
                <p:cNvSpPr/>
                <p:nvPr/>
              </p:nvSpPr>
              <p:spPr>
                <a:xfrm>
                  <a:off x="5778739" y="4871925"/>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2" name="Organigramme : Connecteur 41">
                  <a:extLst>
                    <a:ext uri="{FF2B5EF4-FFF2-40B4-BE49-F238E27FC236}">
                      <a16:creationId xmlns:a16="http://schemas.microsoft.com/office/drawing/2014/main" id="{89151AEA-D917-49A0-BEA5-73574A7D854B}"/>
                    </a:ext>
                  </a:extLst>
                </p:cNvPr>
                <p:cNvSpPr/>
                <p:nvPr/>
              </p:nvSpPr>
              <p:spPr>
                <a:xfrm>
                  <a:off x="6343286" y="4863977"/>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3" name="Organigramme : Connecteur 42">
                  <a:extLst>
                    <a:ext uri="{FF2B5EF4-FFF2-40B4-BE49-F238E27FC236}">
                      <a16:creationId xmlns:a16="http://schemas.microsoft.com/office/drawing/2014/main" id="{4B265705-7D3B-4243-AB7E-1469CDFF37DA}"/>
                    </a:ext>
                  </a:extLst>
                </p:cNvPr>
                <p:cNvSpPr/>
                <p:nvPr/>
              </p:nvSpPr>
              <p:spPr>
                <a:xfrm>
                  <a:off x="5778741" y="5261538"/>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4" name="Organigramme : Connecteur 43">
                  <a:extLst>
                    <a:ext uri="{FF2B5EF4-FFF2-40B4-BE49-F238E27FC236}">
                      <a16:creationId xmlns:a16="http://schemas.microsoft.com/office/drawing/2014/main" id="{A716877B-6D51-4F91-AA82-567D2FD24187}"/>
                    </a:ext>
                  </a:extLst>
                </p:cNvPr>
                <p:cNvSpPr/>
                <p:nvPr/>
              </p:nvSpPr>
              <p:spPr>
                <a:xfrm>
                  <a:off x="5778742" y="565115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5" name="Organigramme : Connecteur 44">
                  <a:extLst>
                    <a:ext uri="{FF2B5EF4-FFF2-40B4-BE49-F238E27FC236}">
                      <a16:creationId xmlns:a16="http://schemas.microsoft.com/office/drawing/2014/main" id="{078FEF74-4B70-4FC8-A27B-344919DEC57C}"/>
                    </a:ext>
                  </a:extLst>
                </p:cNvPr>
                <p:cNvSpPr/>
                <p:nvPr/>
              </p:nvSpPr>
              <p:spPr>
                <a:xfrm>
                  <a:off x="6343284" y="5253587"/>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6" name="Organigramme : Connecteur 45">
                  <a:extLst>
                    <a:ext uri="{FF2B5EF4-FFF2-40B4-BE49-F238E27FC236}">
                      <a16:creationId xmlns:a16="http://schemas.microsoft.com/office/drawing/2014/main" id="{BFEF27DB-4145-4FAE-AFE0-98092B51829F}"/>
                    </a:ext>
                  </a:extLst>
                </p:cNvPr>
                <p:cNvSpPr/>
                <p:nvPr/>
              </p:nvSpPr>
              <p:spPr>
                <a:xfrm>
                  <a:off x="6343282" y="5651157"/>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
            <p:nvSpPr>
              <p:cNvPr id="12" name="Rectangle 11">
                <a:extLst>
                  <a:ext uri="{FF2B5EF4-FFF2-40B4-BE49-F238E27FC236}">
                    <a16:creationId xmlns:a16="http://schemas.microsoft.com/office/drawing/2014/main" id="{181A1135-9ABC-49F9-AB02-911F4B9F692C}"/>
                  </a:ext>
                </a:extLst>
              </p:cNvPr>
              <p:cNvSpPr/>
              <p:nvPr/>
            </p:nvSpPr>
            <p:spPr>
              <a:xfrm>
                <a:off x="3056679" y="4417517"/>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100</a:t>
                </a:r>
              </a:p>
            </p:txBody>
          </p:sp>
          <p:sp>
            <p:nvSpPr>
              <p:cNvPr id="13" name="Rectangle 12">
                <a:extLst>
                  <a:ext uri="{FF2B5EF4-FFF2-40B4-BE49-F238E27FC236}">
                    <a16:creationId xmlns:a16="http://schemas.microsoft.com/office/drawing/2014/main" id="{11458CB5-0C77-4110-AB0D-E714A5AC6321}"/>
                  </a:ext>
                </a:extLst>
              </p:cNvPr>
              <p:cNvSpPr/>
              <p:nvPr/>
            </p:nvSpPr>
            <p:spPr>
              <a:xfrm>
                <a:off x="4284054" y="3555064"/>
                <a:ext cx="1978225"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Paramètre 2</a:t>
                </a:r>
              </a:p>
            </p:txBody>
          </p:sp>
          <p:sp>
            <p:nvSpPr>
              <p:cNvPr id="15" name="Rectangle 14">
                <a:extLst>
                  <a:ext uri="{FF2B5EF4-FFF2-40B4-BE49-F238E27FC236}">
                    <a16:creationId xmlns:a16="http://schemas.microsoft.com/office/drawing/2014/main" id="{2BEFE31F-F9E3-4CFB-AE67-485BA121D9A3}"/>
                  </a:ext>
                </a:extLst>
              </p:cNvPr>
              <p:cNvSpPr/>
              <p:nvPr/>
            </p:nvSpPr>
            <p:spPr>
              <a:xfrm rot="16200000">
                <a:off x="1967630" y="4890213"/>
                <a:ext cx="1978225"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Paramètre 1</a:t>
                </a:r>
              </a:p>
            </p:txBody>
          </p:sp>
          <p:sp>
            <p:nvSpPr>
              <p:cNvPr id="16" name="Rectangle 15">
                <a:extLst>
                  <a:ext uri="{FF2B5EF4-FFF2-40B4-BE49-F238E27FC236}">
                    <a16:creationId xmlns:a16="http://schemas.microsoft.com/office/drawing/2014/main" id="{5006425C-AFCF-4D8F-B8D2-F48F33190A71}"/>
                  </a:ext>
                </a:extLst>
              </p:cNvPr>
              <p:cNvSpPr/>
              <p:nvPr/>
            </p:nvSpPr>
            <p:spPr>
              <a:xfrm>
                <a:off x="3050661" y="4815078"/>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a:t>
                </a:r>
              </a:p>
            </p:txBody>
          </p:sp>
          <p:sp>
            <p:nvSpPr>
              <p:cNvPr id="17" name="Rectangle 16">
                <a:extLst>
                  <a:ext uri="{FF2B5EF4-FFF2-40B4-BE49-F238E27FC236}">
                    <a16:creationId xmlns:a16="http://schemas.microsoft.com/office/drawing/2014/main" id="{13D31FC4-5E3E-4902-8AD7-4D3861B3A5C8}"/>
                  </a:ext>
                </a:extLst>
              </p:cNvPr>
              <p:cNvSpPr/>
              <p:nvPr/>
            </p:nvSpPr>
            <p:spPr>
              <a:xfrm>
                <a:off x="3056679" y="5196746"/>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200</a:t>
                </a:r>
              </a:p>
            </p:txBody>
          </p:sp>
          <p:sp>
            <p:nvSpPr>
              <p:cNvPr id="18" name="Rectangle 17">
                <a:extLst>
                  <a:ext uri="{FF2B5EF4-FFF2-40B4-BE49-F238E27FC236}">
                    <a16:creationId xmlns:a16="http://schemas.microsoft.com/office/drawing/2014/main" id="{35EB7099-23A8-45EF-9133-8C3C898B8AC7}"/>
                  </a:ext>
                </a:extLst>
              </p:cNvPr>
              <p:cNvSpPr/>
              <p:nvPr/>
            </p:nvSpPr>
            <p:spPr>
              <a:xfrm>
                <a:off x="3050157" y="5591507"/>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250</a:t>
                </a:r>
              </a:p>
            </p:txBody>
          </p:sp>
          <p:sp>
            <p:nvSpPr>
              <p:cNvPr id="19" name="Rectangle 18">
                <a:extLst>
                  <a:ext uri="{FF2B5EF4-FFF2-40B4-BE49-F238E27FC236}">
                    <a16:creationId xmlns:a16="http://schemas.microsoft.com/office/drawing/2014/main" id="{184E6E5B-2001-44CE-AA0B-3EABF26AFB2D}"/>
                  </a:ext>
                </a:extLst>
              </p:cNvPr>
              <p:cNvSpPr/>
              <p:nvPr/>
            </p:nvSpPr>
            <p:spPr>
              <a:xfrm>
                <a:off x="3854426" y="3796808"/>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8</a:t>
                </a:r>
              </a:p>
            </p:txBody>
          </p:sp>
          <p:sp>
            <p:nvSpPr>
              <p:cNvPr id="20" name="Rectangle 19">
                <a:extLst>
                  <a:ext uri="{FF2B5EF4-FFF2-40B4-BE49-F238E27FC236}">
                    <a16:creationId xmlns:a16="http://schemas.microsoft.com/office/drawing/2014/main" id="{3F8B1891-67C4-415C-917C-D4592AEA250B}"/>
                  </a:ext>
                </a:extLst>
              </p:cNvPr>
              <p:cNvSpPr/>
              <p:nvPr/>
            </p:nvSpPr>
            <p:spPr>
              <a:xfrm>
                <a:off x="4461687" y="3796808"/>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10</a:t>
                </a:r>
              </a:p>
            </p:txBody>
          </p:sp>
          <p:sp>
            <p:nvSpPr>
              <p:cNvPr id="22" name="Rectangle 21">
                <a:extLst>
                  <a:ext uri="{FF2B5EF4-FFF2-40B4-BE49-F238E27FC236}">
                    <a16:creationId xmlns:a16="http://schemas.microsoft.com/office/drawing/2014/main" id="{1D3276CF-7003-4FA8-A5ED-39911704AD6D}"/>
                  </a:ext>
                </a:extLst>
              </p:cNvPr>
              <p:cNvSpPr/>
              <p:nvPr/>
            </p:nvSpPr>
            <p:spPr>
              <a:xfrm>
                <a:off x="5040396" y="3806091"/>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a:t>
                </a:r>
              </a:p>
            </p:txBody>
          </p:sp>
          <p:sp>
            <p:nvSpPr>
              <p:cNvPr id="23" name="Rectangle 22">
                <a:extLst>
                  <a:ext uri="{FF2B5EF4-FFF2-40B4-BE49-F238E27FC236}">
                    <a16:creationId xmlns:a16="http://schemas.microsoft.com/office/drawing/2014/main" id="{211CAFF4-AA08-4EDA-A2BF-1C2EC407EAC1}"/>
                  </a:ext>
                </a:extLst>
              </p:cNvPr>
              <p:cNvSpPr/>
              <p:nvPr/>
            </p:nvSpPr>
            <p:spPr>
              <a:xfrm>
                <a:off x="5619105" y="3796808"/>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14</a:t>
                </a:r>
              </a:p>
            </p:txBody>
          </p:sp>
          <p:sp>
            <p:nvSpPr>
              <p:cNvPr id="24" name="Rectangle 23">
                <a:extLst>
                  <a:ext uri="{FF2B5EF4-FFF2-40B4-BE49-F238E27FC236}">
                    <a16:creationId xmlns:a16="http://schemas.microsoft.com/office/drawing/2014/main" id="{40F886AD-B38C-4910-83CB-120B6C08A199}"/>
                  </a:ext>
                </a:extLst>
              </p:cNvPr>
              <p:cNvSpPr/>
              <p:nvPr/>
            </p:nvSpPr>
            <p:spPr>
              <a:xfrm>
                <a:off x="6197814" y="3806090"/>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16</a:t>
                </a:r>
              </a:p>
            </p:txBody>
          </p:sp>
        </p:grpSp>
        <p:sp>
          <p:nvSpPr>
            <p:cNvPr id="58" name="Organigramme : Connecteur 57">
              <a:extLst>
                <a:ext uri="{FF2B5EF4-FFF2-40B4-BE49-F238E27FC236}">
                  <a16:creationId xmlns:a16="http://schemas.microsoft.com/office/drawing/2014/main" id="{3BA8306F-2F87-4B82-9714-0E941A49F9B3}"/>
                </a:ext>
              </a:extLst>
            </p:cNvPr>
            <p:cNvSpPr/>
            <p:nvPr/>
          </p:nvSpPr>
          <p:spPr>
            <a:xfrm>
              <a:off x="3883281" y="422804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9" name="Organigramme : Connecteur 58">
              <a:extLst>
                <a:ext uri="{FF2B5EF4-FFF2-40B4-BE49-F238E27FC236}">
                  <a16:creationId xmlns:a16="http://schemas.microsoft.com/office/drawing/2014/main" id="{E16DDCE0-2A4A-4272-A039-D91FC4E7E231}"/>
                </a:ext>
              </a:extLst>
            </p:cNvPr>
            <p:cNvSpPr/>
            <p:nvPr/>
          </p:nvSpPr>
          <p:spPr>
            <a:xfrm>
              <a:off x="3805096" y="4531519"/>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0" name="Organigramme : Connecteur 59">
              <a:extLst>
                <a:ext uri="{FF2B5EF4-FFF2-40B4-BE49-F238E27FC236}">
                  <a16:creationId xmlns:a16="http://schemas.microsoft.com/office/drawing/2014/main" id="{B4038AF2-2483-4304-A091-33F74F95051B}"/>
                </a:ext>
              </a:extLst>
            </p:cNvPr>
            <p:cNvSpPr/>
            <p:nvPr/>
          </p:nvSpPr>
          <p:spPr>
            <a:xfrm>
              <a:off x="3733504" y="5470095"/>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1" name="Organigramme : Connecteur 60">
              <a:extLst>
                <a:ext uri="{FF2B5EF4-FFF2-40B4-BE49-F238E27FC236}">
                  <a16:creationId xmlns:a16="http://schemas.microsoft.com/office/drawing/2014/main" id="{C3E3DE3D-613E-4842-B396-591981683758}"/>
                </a:ext>
              </a:extLst>
            </p:cNvPr>
            <p:cNvSpPr/>
            <p:nvPr/>
          </p:nvSpPr>
          <p:spPr>
            <a:xfrm>
              <a:off x="6665814" y="5844157"/>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2" name="Organigramme : Connecteur 61">
              <a:extLst>
                <a:ext uri="{FF2B5EF4-FFF2-40B4-BE49-F238E27FC236}">
                  <a16:creationId xmlns:a16="http://schemas.microsoft.com/office/drawing/2014/main" id="{64844042-60A6-4348-8B92-6932F3EFA290}"/>
                </a:ext>
              </a:extLst>
            </p:cNvPr>
            <p:cNvSpPr/>
            <p:nvPr/>
          </p:nvSpPr>
          <p:spPr>
            <a:xfrm>
              <a:off x="3956209" y="5783456"/>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3" name="Organigramme : Connecteur 62">
              <a:extLst>
                <a:ext uri="{FF2B5EF4-FFF2-40B4-BE49-F238E27FC236}">
                  <a16:creationId xmlns:a16="http://schemas.microsoft.com/office/drawing/2014/main" id="{50981F28-361E-4FC0-A8D7-0AE256146D1E}"/>
                </a:ext>
              </a:extLst>
            </p:cNvPr>
            <p:cNvSpPr/>
            <p:nvPr/>
          </p:nvSpPr>
          <p:spPr>
            <a:xfrm>
              <a:off x="5362619" y="4943078"/>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4" name="Organigramme : Connecteur 63">
              <a:extLst>
                <a:ext uri="{FF2B5EF4-FFF2-40B4-BE49-F238E27FC236}">
                  <a16:creationId xmlns:a16="http://schemas.microsoft.com/office/drawing/2014/main" id="{2332D5D5-C308-4E3D-B0EC-9E10C8E0EC4E}"/>
                </a:ext>
              </a:extLst>
            </p:cNvPr>
            <p:cNvSpPr/>
            <p:nvPr/>
          </p:nvSpPr>
          <p:spPr>
            <a:xfrm>
              <a:off x="4826526" y="4198059"/>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5" name="Organigramme : Connecteur 64">
              <a:extLst>
                <a:ext uri="{FF2B5EF4-FFF2-40B4-BE49-F238E27FC236}">
                  <a16:creationId xmlns:a16="http://schemas.microsoft.com/office/drawing/2014/main" id="{C855E994-B672-4262-91A8-7DBB2FC6F34A}"/>
                </a:ext>
              </a:extLst>
            </p:cNvPr>
            <p:cNvSpPr/>
            <p:nvPr/>
          </p:nvSpPr>
          <p:spPr>
            <a:xfrm>
              <a:off x="4641705" y="5843868"/>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6" name="Organigramme : Connecteur 65">
              <a:extLst>
                <a:ext uri="{FF2B5EF4-FFF2-40B4-BE49-F238E27FC236}">
                  <a16:creationId xmlns:a16="http://schemas.microsoft.com/office/drawing/2014/main" id="{989F5B8E-6B8E-4402-A743-D9AE2D4F1002}"/>
                </a:ext>
              </a:extLst>
            </p:cNvPr>
            <p:cNvSpPr/>
            <p:nvPr/>
          </p:nvSpPr>
          <p:spPr>
            <a:xfrm>
              <a:off x="4403604" y="507553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7" name="Organigramme : Connecteur 66">
              <a:extLst>
                <a:ext uri="{FF2B5EF4-FFF2-40B4-BE49-F238E27FC236}">
                  <a16:creationId xmlns:a16="http://schemas.microsoft.com/office/drawing/2014/main" id="{71C1A54E-D8F4-4CF0-A3BA-E4DD24169B4E}"/>
                </a:ext>
              </a:extLst>
            </p:cNvPr>
            <p:cNvSpPr/>
            <p:nvPr/>
          </p:nvSpPr>
          <p:spPr>
            <a:xfrm>
              <a:off x="5540638" y="467797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8" name="Organigramme : Connecteur 67">
              <a:extLst>
                <a:ext uri="{FF2B5EF4-FFF2-40B4-BE49-F238E27FC236}">
                  <a16:creationId xmlns:a16="http://schemas.microsoft.com/office/drawing/2014/main" id="{F64C8D34-75EA-489E-A71D-74B7CDA99A2C}"/>
                </a:ext>
              </a:extLst>
            </p:cNvPr>
            <p:cNvSpPr/>
            <p:nvPr/>
          </p:nvSpPr>
          <p:spPr>
            <a:xfrm>
              <a:off x="5540641" y="586271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9" name="Organigramme : Connecteur 68">
              <a:extLst>
                <a:ext uri="{FF2B5EF4-FFF2-40B4-BE49-F238E27FC236}">
                  <a16:creationId xmlns:a16="http://schemas.microsoft.com/office/drawing/2014/main" id="{35C8036F-65D1-45A4-86C7-A90A7F0B2DA6}"/>
                </a:ext>
              </a:extLst>
            </p:cNvPr>
            <p:cNvSpPr/>
            <p:nvPr/>
          </p:nvSpPr>
          <p:spPr>
            <a:xfrm>
              <a:off x="6105183" y="5465146"/>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0" name="Organigramme : Connecteur 69">
              <a:extLst>
                <a:ext uri="{FF2B5EF4-FFF2-40B4-BE49-F238E27FC236}">
                  <a16:creationId xmlns:a16="http://schemas.microsoft.com/office/drawing/2014/main" id="{C039BEE7-9C15-4557-84CE-2B840D7E7E21}"/>
                </a:ext>
              </a:extLst>
            </p:cNvPr>
            <p:cNvSpPr/>
            <p:nvPr/>
          </p:nvSpPr>
          <p:spPr>
            <a:xfrm rot="5171132">
              <a:off x="4942330" y="4576005"/>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1" name="Organigramme : Connecteur 70">
              <a:extLst>
                <a:ext uri="{FF2B5EF4-FFF2-40B4-BE49-F238E27FC236}">
                  <a16:creationId xmlns:a16="http://schemas.microsoft.com/office/drawing/2014/main" id="{7C0C4CE5-B89C-4FDA-B8FE-23C057BD3EE9}"/>
                </a:ext>
              </a:extLst>
            </p:cNvPr>
            <p:cNvSpPr/>
            <p:nvPr/>
          </p:nvSpPr>
          <p:spPr>
            <a:xfrm rot="5171132">
              <a:off x="6079364" y="417844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2" name="Organigramme : Connecteur 71">
              <a:extLst>
                <a:ext uri="{FF2B5EF4-FFF2-40B4-BE49-F238E27FC236}">
                  <a16:creationId xmlns:a16="http://schemas.microsoft.com/office/drawing/2014/main" id="{9CD57CC1-82BF-4876-B547-128BF14C52DB}"/>
                </a:ext>
              </a:extLst>
            </p:cNvPr>
            <p:cNvSpPr/>
            <p:nvPr/>
          </p:nvSpPr>
          <p:spPr>
            <a:xfrm rot="5171132">
              <a:off x="6079367" y="536318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3" name="Organigramme : Connecteur 72">
              <a:extLst>
                <a:ext uri="{FF2B5EF4-FFF2-40B4-BE49-F238E27FC236}">
                  <a16:creationId xmlns:a16="http://schemas.microsoft.com/office/drawing/2014/main" id="{372A2D56-9C44-4E2C-9081-1568DA6ED0FE}"/>
                </a:ext>
              </a:extLst>
            </p:cNvPr>
            <p:cNvSpPr/>
            <p:nvPr/>
          </p:nvSpPr>
          <p:spPr>
            <a:xfrm rot="5171132">
              <a:off x="6643909" y="4965618"/>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Tree>
    <p:extLst>
      <p:ext uri="{BB962C8B-B14F-4D97-AF65-F5344CB8AC3E}">
        <p14:creationId xmlns:p14="http://schemas.microsoft.com/office/powerpoint/2010/main" val="296742525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164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Gread Search vs Random Search</a:t>
            </a:r>
          </a:p>
        </p:txBody>
      </p:sp>
      <p:grpSp>
        <p:nvGrpSpPr>
          <p:cNvPr id="3" name="Groupe 2">
            <a:extLst>
              <a:ext uri="{FF2B5EF4-FFF2-40B4-BE49-F238E27FC236}">
                <a16:creationId xmlns:a16="http://schemas.microsoft.com/office/drawing/2014/main" id="{A61F1AAD-A082-422A-98FB-7F249885379B}"/>
              </a:ext>
            </a:extLst>
          </p:cNvPr>
          <p:cNvGrpSpPr/>
          <p:nvPr/>
        </p:nvGrpSpPr>
        <p:grpSpPr>
          <a:xfrm>
            <a:off x="698197" y="1657406"/>
            <a:ext cx="5798840" cy="2257150"/>
            <a:chOff x="930930" y="2209874"/>
            <a:chExt cx="7731786" cy="3009533"/>
          </a:xfrm>
        </p:grpSpPr>
        <p:grpSp>
          <p:nvGrpSpPr>
            <p:cNvPr id="2" name="Groupe 1">
              <a:extLst>
                <a:ext uri="{FF2B5EF4-FFF2-40B4-BE49-F238E27FC236}">
                  <a16:creationId xmlns:a16="http://schemas.microsoft.com/office/drawing/2014/main" id="{B4B57AAF-0BC7-4E0E-B8BE-A4E2F6DD798C}"/>
                </a:ext>
              </a:extLst>
            </p:cNvPr>
            <p:cNvGrpSpPr/>
            <p:nvPr/>
          </p:nvGrpSpPr>
          <p:grpSpPr>
            <a:xfrm>
              <a:off x="5194275" y="2209874"/>
              <a:ext cx="3468441" cy="2579966"/>
              <a:chOff x="3532461" y="3555064"/>
              <a:chExt cx="3468441" cy="2579966"/>
            </a:xfrm>
          </p:grpSpPr>
          <p:grpSp>
            <p:nvGrpSpPr>
              <p:cNvPr id="10" name="Groupe 9">
                <a:extLst>
                  <a:ext uri="{FF2B5EF4-FFF2-40B4-BE49-F238E27FC236}">
                    <a16:creationId xmlns:a16="http://schemas.microsoft.com/office/drawing/2014/main" id="{4F169494-0A07-468B-BFD2-DAEB833843D6}"/>
                  </a:ext>
                </a:extLst>
              </p:cNvPr>
              <p:cNvGrpSpPr/>
              <p:nvPr/>
            </p:nvGrpSpPr>
            <p:grpSpPr>
              <a:xfrm>
                <a:off x="3532461" y="3555064"/>
                <a:ext cx="3468441" cy="2579966"/>
                <a:chOff x="3532461" y="3555064"/>
                <a:chExt cx="3468441" cy="2579966"/>
              </a:xfrm>
            </p:grpSpPr>
            <p:grpSp>
              <p:nvGrpSpPr>
                <p:cNvPr id="11" name="Groupe 10">
                  <a:extLst>
                    <a:ext uri="{FF2B5EF4-FFF2-40B4-BE49-F238E27FC236}">
                      <a16:creationId xmlns:a16="http://schemas.microsoft.com/office/drawing/2014/main" id="{A644E5B8-C496-426D-BF20-95DD978AD291}"/>
                    </a:ext>
                  </a:extLst>
                </p:cNvPr>
                <p:cNvGrpSpPr/>
                <p:nvPr/>
              </p:nvGrpSpPr>
              <p:grpSpPr>
                <a:xfrm>
                  <a:off x="3532461" y="4091866"/>
                  <a:ext cx="3468441" cy="2043164"/>
                  <a:chOff x="3532461" y="4091866"/>
                  <a:chExt cx="3468441" cy="2043164"/>
                </a:xfrm>
              </p:grpSpPr>
              <p:grpSp>
                <p:nvGrpSpPr>
                  <p:cNvPr id="25" name="Groupe 24">
                    <a:extLst>
                      <a:ext uri="{FF2B5EF4-FFF2-40B4-BE49-F238E27FC236}">
                        <a16:creationId xmlns:a16="http://schemas.microsoft.com/office/drawing/2014/main" id="{8032A240-6F44-46A5-96D7-AA5719BE080B}"/>
                      </a:ext>
                    </a:extLst>
                  </p:cNvPr>
                  <p:cNvGrpSpPr/>
                  <p:nvPr/>
                </p:nvGrpSpPr>
                <p:grpSpPr>
                  <a:xfrm>
                    <a:off x="3532461" y="4091866"/>
                    <a:ext cx="3468441" cy="2043164"/>
                    <a:chOff x="7570968" y="4142951"/>
                    <a:chExt cx="3468441" cy="2043164"/>
                  </a:xfrm>
                </p:grpSpPr>
                <p:sp>
                  <p:nvSpPr>
                    <p:cNvPr id="47" name="Rectangle 46">
                      <a:extLst>
                        <a:ext uri="{FF2B5EF4-FFF2-40B4-BE49-F238E27FC236}">
                          <a16:creationId xmlns:a16="http://schemas.microsoft.com/office/drawing/2014/main" id="{5C8BD723-F34D-4F48-BEFB-D2FAC8127258}"/>
                        </a:ext>
                      </a:extLst>
                    </p:cNvPr>
                    <p:cNvSpPr/>
                    <p:nvPr/>
                  </p:nvSpPr>
                  <p:spPr>
                    <a:xfrm>
                      <a:off x="7570968" y="4142951"/>
                      <a:ext cx="3465442" cy="2043164"/>
                    </a:xfrm>
                    <a:prstGeom prst="rect">
                      <a:avLst/>
                    </a:prstGeom>
                    <a:noFill/>
                    <a:ln w="12700">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48" name="Connecteur droit avec flèche 47">
                      <a:extLst>
                        <a:ext uri="{FF2B5EF4-FFF2-40B4-BE49-F238E27FC236}">
                          <a16:creationId xmlns:a16="http://schemas.microsoft.com/office/drawing/2014/main" id="{75EA9C05-4AD1-4BD6-959F-89FA62884B6A}"/>
                        </a:ext>
                      </a:extLst>
                    </p:cNvPr>
                    <p:cNvCxnSpPr>
                      <a:cxnSpLocks/>
                    </p:cNvCxnSpPr>
                    <p:nvPr/>
                  </p:nvCxnSpPr>
                  <p:spPr>
                    <a:xfrm flipV="1">
                      <a:off x="8128570"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96CC5187-E992-49F5-9F37-1C26ED53AF0C}"/>
                        </a:ext>
                      </a:extLst>
                    </p:cNvPr>
                    <p:cNvCxnSpPr>
                      <a:cxnSpLocks/>
                    </p:cNvCxnSpPr>
                    <p:nvPr/>
                  </p:nvCxnSpPr>
                  <p:spPr>
                    <a:xfrm flipV="1">
                      <a:off x="8734194"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Connecteur droit avec flèche 49">
                      <a:extLst>
                        <a:ext uri="{FF2B5EF4-FFF2-40B4-BE49-F238E27FC236}">
                          <a16:creationId xmlns:a16="http://schemas.microsoft.com/office/drawing/2014/main" id="{F1326C8C-1DA2-4705-B7A5-EF0149C39988}"/>
                        </a:ext>
                      </a:extLst>
                    </p:cNvPr>
                    <p:cNvCxnSpPr>
                      <a:cxnSpLocks/>
                    </p:cNvCxnSpPr>
                    <p:nvPr/>
                  </p:nvCxnSpPr>
                  <p:spPr>
                    <a:xfrm flipV="1">
                      <a:off x="9306688"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E4400056-91F1-4B80-9E66-7656610882C8}"/>
                        </a:ext>
                      </a:extLst>
                    </p:cNvPr>
                    <p:cNvCxnSpPr>
                      <a:cxnSpLocks/>
                    </p:cNvCxnSpPr>
                    <p:nvPr/>
                  </p:nvCxnSpPr>
                  <p:spPr>
                    <a:xfrm flipV="1">
                      <a:off x="9879182"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Connecteur droit avec flèche 51">
                      <a:extLst>
                        <a:ext uri="{FF2B5EF4-FFF2-40B4-BE49-F238E27FC236}">
                          <a16:creationId xmlns:a16="http://schemas.microsoft.com/office/drawing/2014/main" id="{C951A780-DDFC-4141-B4F0-713020CEF97A}"/>
                        </a:ext>
                      </a:extLst>
                    </p:cNvPr>
                    <p:cNvCxnSpPr>
                      <a:cxnSpLocks/>
                    </p:cNvCxnSpPr>
                    <p:nvPr/>
                  </p:nvCxnSpPr>
                  <p:spPr>
                    <a:xfrm flipV="1">
                      <a:off x="10443725"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Connecteur droit avec flèche 52">
                      <a:extLst>
                        <a:ext uri="{FF2B5EF4-FFF2-40B4-BE49-F238E27FC236}">
                          <a16:creationId xmlns:a16="http://schemas.microsoft.com/office/drawing/2014/main" id="{90E798C1-2011-403D-B976-6945B5DF8C83}"/>
                        </a:ext>
                      </a:extLst>
                    </p:cNvPr>
                    <p:cNvCxnSpPr>
                      <a:cxnSpLocks/>
                    </p:cNvCxnSpPr>
                    <p:nvPr/>
                  </p:nvCxnSpPr>
                  <p:spPr>
                    <a:xfrm>
                      <a:off x="7570968" y="4569510"/>
                      <a:ext cx="3465442" cy="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Connecteur droit avec flèche 53">
                      <a:extLst>
                        <a:ext uri="{FF2B5EF4-FFF2-40B4-BE49-F238E27FC236}">
                          <a16:creationId xmlns:a16="http://schemas.microsoft.com/office/drawing/2014/main" id="{7C2BA8A5-4C4F-484E-957E-81DD107A6ABF}"/>
                        </a:ext>
                      </a:extLst>
                    </p:cNvPr>
                    <p:cNvCxnSpPr>
                      <a:cxnSpLocks/>
                    </p:cNvCxnSpPr>
                    <p:nvPr/>
                  </p:nvCxnSpPr>
                  <p:spPr>
                    <a:xfrm>
                      <a:off x="7573967" y="4976351"/>
                      <a:ext cx="3465442" cy="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Connecteur droit avec flèche 54">
                      <a:extLst>
                        <a:ext uri="{FF2B5EF4-FFF2-40B4-BE49-F238E27FC236}">
                          <a16:creationId xmlns:a16="http://schemas.microsoft.com/office/drawing/2014/main" id="{D79FEA62-4C01-4260-82F8-A30F0C5856DC}"/>
                        </a:ext>
                      </a:extLst>
                    </p:cNvPr>
                    <p:cNvCxnSpPr>
                      <a:cxnSpLocks/>
                    </p:cNvCxnSpPr>
                    <p:nvPr/>
                  </p:nvCxnSpPr>
                  <p:spPr>
                    <a:xfrm>
                      <a:off x="7573967" y="5373917"/>
                      <a:ext cx="3465442" cy="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Connecteur droit avec flèche 55">
                      <a:extLst>
                        <a:ext uri="{FF2B5EF4-FFF2-40B4-BE49-F238E27FC236}">
                          <a16:creationId xmlns:a16="http://schemas.microsoft.com/office/drawing/2014/main" id="{F8093C31-0E53-4CC3-9165-EB18A8755205}"/>
                        </a:ext>
                      </a:extLst>
                    </p:cNvPr>
                    <p:cNvCxnSpPr>
                      <a:cxnSpLocks/>
                    </p:cNvCxnSpPr>
                    <p:nvPr/>
                  </p:nvCxnSpPr>
                  <p:spPr>
                    <a:xfrm>
                      <a:off x="7573967" y="5763531"/>
                      <a:ext cx="3465442" cy="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6" name="Organigramme : Connecteur 25">
                    <a:extLst>
                      <a:ext uri="{FF2B5EF4-FFF2-40B4-BE49-F238E27FC236}">
                        <a16:creationId xmlns:a16="http://schemas.microsoft.com/office/drawing/2014/main" id="{55985572-1FC6-4AF4-81B6-7A916340DAB4}"/>
                      </a:ext>
                    </a:extLst>
                  </p:cNvPr>
                  <p:cNvSpPr/>
                  <p:nvPr/>
                </p:nvSpPr>
                <p:spPr>
                  <a:xfrm>
                    <a:off x="4028128" y="445713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7" name="Organigramme : Connecteur 26">
                    <a:extLst>
                      <a:ext uri="{FF2B5EF4-FFF2-40B4-BE49-F238E27FC236}">
                        <a16:creationId xmlns:a16="http://schemas.microsoft.com/office/drawing/2014/main" id="{E11B21A8-7705-4A24-A7D0-F059289E4AB4}"/>
                      </a:ext>
                    </a:extLst>
                  </p:cNvPr>
                  <p:cNvSpPr/>
                  <p:nvPr/>
                </p:nvSpPr>
                <p:spPr>
                  <a:xfrm>
                    <a:off x="4182827" y="496204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8" name="Organigramme : Connecteur 27">
                    <a:extLst>
                      <a:ext uri="{FF2B5EF4-FFF2-40B4-BE49-F238E27FC236}">
                        <a16:creationId xmlns:a16="http://schemas.microsoft.com/office/drawing/2014/main" id="{77BB3619-6D27-4DCC-AAE1-1F44D09DEAC0}"/>
                      </a:ext>
                    </a:extLst>
                  </p:cNvPr>
                  <p:cNvSpPr/>
                  <p:nvPr/>
                </p:nvSpPr>
                <p:spPr>
                  <a:xfrm>
                    <a:off x="4029454" y="525358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9" name="Organigramme : Connecteur 28">
                    <a:extLst>
                      <a:ext uri="{FF2B5EF4-FFF2-40B4-BE49-F238E27FC236}">
                        <a16:creationId xmlns:a16="http://schemas.microsoft.com/office/drawing/2014/main" id="{2A7F9330-E55D-474D-9039-B7BB302B9D0F}"/>
                      </a:ext>
                    </a:extLst>
                  </p:cNvPr>
                  <p:cNvSpPr/>
                  <p:nvPr/>
                </p:nvSpPr>
                <p:spPr>
                  <a:xfrm>
                    <a:off x="4021503" y="5643199"/>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0" name="Organigramme : Connecteur 29">
                    <a:extLst>
                      <a:ext uri="{FF2B5EF4-FFF2-40B4-BE49-F238E27FC236}">
                        <a16:creationId xmlns:a16="http://schemas.microsoft.com/office/drawing/2014/main" id="{06110ACC-E7C3-4FE5-8EE8-1F53218B9B3B}"/>
                      </a:ext>
                    </a:extLst>
                  </p:cNvPr>
                  <p:cNvSpPr/>
                  <p:nvPr/>
                </p:nvSpPr>
                <p:spPr>
                  <a:xfrm>
                    <a:off x="5374549" y="4767819"/>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1" name="Organigramme : Connecteur 30">
                    <a:extLst>
                      <a:ext uri="{FF2B5EF4-FFF2-40B4-BE49-F238E27FC236}">
                        <a16:creationId xmlns:a16="http://schemas.microsoft.com/office/drawing/2014/main" id="{77F2C2F6-CBB4-43E7-BD09-8BBC195C4BC1}"/>
                      </a:ext>
                    </a:extLst>
                  </p:cNvPr>
                  <p:cNvSpPr/>
                  <p:nvPr/>
                </p:nvSpPr>
                <p:spPr>
                  <a:xfrm>
                    <a:off x="4579715" y="4704940"/>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2" name="Organigramme : Connecteur 31">
                    <a:extLst>
                      <a:ext uri="{FF2B5EF4-FFF2-40B4-BE49-F238E27FC236}">
                        <a16:creationId xmlns:a16="http://schemas.microsoft.com/office/drawing/2014/main" id="{276B3ED0-6E62-4A7A-AA23-574FB4FEBEC3}"/>
                      </a:ext>
                    </a:extLst>
                  </p:cNvPr>
                  <p:cNvSpPr/>
                  <p:nvPr/>
                </p:nvSpPr>
                <p:spPr>
                  <a:xfrm>
                    <a:off x="4729167" y="5356955"/>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3" name="Organigramme : Connecteur 32">
                    <a:extLst>
                      <a:ext uri="{FF2B5EF4-FFF2-40B4-BE49-F238E27FC236}">
                        <a16:creationId xmlns:a16="http://schemas.microsoft.com/office/drawing/2014/main" id="{12AA7ECD-06AF-4CB3-801E-EC1FE11D79E9}"/>
                      </a:ext>
                    </a:extLst>
                  </p:cNvPr>
                  <p:cNvSpPr/>
                  <p:nvPr/>
                </p:nvSpPr>
                <p:spPr>
                  <a:xfrm>
                    <a:off x="4633756" y="5651151"/>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4" name="Organigramme : Connecteur 33">
                    <a:extLst>
                      <a:ext uri="{FF2B5EF4-FFF2-40B4-BE49-F238E27FC236}">
                        <a16:creationId xmlns:a16="http://schemas.microsoft.com/office/drawing/2014/main" id="{36CA944D-EEFA-4718-A168-43EBAD97C60D}"/>
                      </a:ext>
                    </a:extLst>
                  </p:cNvPr>
                  <p:cNvSpPr/>
                  <p:nvPr/>
                </p:nvSpPr>
                <p:spPr>
                  <a:xfrm>
                    <a:off x="5206245" y="445846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5" name="Organigramme : Connecteur 34">
                    <a:extLst>
                      <a:ext uri="{FF2B5EF4-FFF2-40B4-BE49-F238E27FC236}">
                        <a16:creationId xmlns:a16="http://schemas.microsoft.com/office/drawing/2014/main" id="{C3315354-F857-4CE5-BCF2-9E57D3F9FDFD}"/>
                      </a:ext>
                    </a:extLst>
                  </p:cNvPr>
                  <p:cNvSpPr/>
                  <p:nvPr/>
                </p:nvSpPr>
                <p:spPr>
                  <a:xfrm>
                    <a:off x="5206249" y="486397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6" name="Organigramme : Connecteur 35">
                    <a:extLst>
                      <a:ext uri="{FF2B5EF4-FFF2-40B4-BE49-F238E27FC236}">
                        <a16:creationId xmlns:a16="http://schemas.microsoft.com/office/drawing/2014/main" id="{0CD48B06-BB6F-42ED-B354-86FDB4F33A24}"/>
                      </a:ext>
                    </a:extLst>
                  </p:cNvPr>
                  <p:cNvSpPr/>
                  <p:nvPr/>
                </p:nvSpPr>
                <p:spPr>
                  <a:xfrm>
                    <a:off x="5206244" y="526154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7" name="Organigramme : Connecteur 36">
                    <a:extLst>
                      <a:ext uri="{FF2B5EF4-FFF2-40B4-BE49-F238E27FC236}">
                        <a16:creationId xmlns:a16="http://schemas.microsoft.com/office/drawing/2014/main" id="{21460812-D84D-45F2-A63E-9BE8CC330494}"/>
                      </a:ext>
                    </a:extLst>
                  </p:cNvPr>
                  <p:cNvSpPr/>
                  <p:nvPr/>
                </p:nvSpPr>
                <p:spPr>
                  <a:xfrm>
                    <a:off x="5206248" y="5651155"/>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8" name="Organigramme : Connecteur 37">
                    <a:extLst>
                      <a:ext uri="{FF2B5EF4-FFF2-40B4-BE49-F238E27FC236}">
                        <a16:creationId xmlns:a16="http://schemas.microsoft.com/office/drawing/2014/main" id="{AA53DCD1-F8B3-49FA-AB15-21FA80612B66}"/>
                      </a:ext>
                    </a:extLst>
                  </p:cNvPr>
                  <p:cNvSpPr/>
                  <p:nvPr/>
                </p:nvSpPr>
                <p:spPr>
                  <a:xfrm>
                    <a:off x="5778739" y="446641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0" name="Organigramme : Connecteur 39">
                    <a:extLst>
                      <a:ext uri="{FF2B5EF4-FFF2-40B4-BE49-F238E27FC236}">
                        <a16:creationId xmlns:a16="http://schemas.microsoft.com/office/drawing/2014/main" id="{3A8DFFD6-365E-4D0F-95FC-29DC6A9A3914}"/>
                      </a:ext>
                    </a:extLst>
                  </p:cNvPr>
                  <p:cNvSpPr/>
                  <p:nvPr/>
                </p:nvSpPr>
                <p:spPr>
                  <a:xfrm>
                    <a:off x="6343275" y="445846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1" name="Organigramme : Connecteur 40">
                    <a:extLst>
                      <a:ext uri="{FF2B5EF4-FFF2-40B4-BE49-F238E27FC236}">
                        <a16:creationId xmlns:a16="http://schemas.microsoft.com/office/drawing/2014/main" id="{44C8E35E-2C30-43ED-96A3-FF9298FA5FD8}"/>
                      </a:ext>
                    </a:extLst>
                  </p:cNvPr>
                  <p:cNvSpPr/>
                  <p:nvPr/>
                </p:nvSpPr>
                <p:spPr>
                  <a:xfrm>
                    <a:off x="5778739" y="4871925"/>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2" name="Organigramme : Connecteur 41">
                    <a:extLst>
                      <a:ext uri="{FF2B5EF4-FFF2-40B4-BE49-F238E27FC236}">
                        <a16:creationId xmlns:a16="http://schemas.microsoft.com/office/drawing/2014/main" id="{89151AEA-D917-49A0-BEA5-73574A7D854B}"/>
                      </a:ext>
                    </a:extLst>
                  </p:cNvPr>
                  <p:cNvSpPr/>
                  <p:nvPr/>
                </p:nvSpPr>
                <p:spPr>
                  <a:xfrm>
                    <a:off x="6343286" y="4863977"/>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3" name="Organigramme : Connecteur 42">
                    <a:extLst>
                      <a:ext uri="{FF2B5EF4-FFF2-40B4-BE49-F238E27FC236}">
                        <a16:creationId xmlns:a16="http://schemas.microsoft.com/office/drawing/2014/main" id="{4B265705-7D3B-4243-AB7E-1469CDFF37DA}"/>
                      </a:ext>
                    </a:extLst>
                  </p:cNvPr>
                  <p:cNvSpPr/>
                  <p:nvPr/>
                </p:nvSpPr>
                <p:spPr>
                  <a:xfrm>
                    <a:off x="5778741" y="5261538"/>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4" name="Organigramme : Connecteur 43">
                    <a:extLst>
                      <a:ext uri="{FF2B5EF4-FFF2-40B4-BE49-F238E27FC236}">
                        <a16:creationId xmlns:a16="http://schemas.microsoft.com/office/drawing/2014/main" id="{A716877B-6D51-4F91-AA82-567D2FD24187}"/>
                      </a:ext>
                    </a:extLst>
                  </p:cNvPr>
                  <p:cNvSpPr/>
                  <p:nvPr/>
                </p:nvSpPr>
                <p:spPr>
                  <a:xfrm>
                    <a:off x="5778742" y="565115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5" name="Organigramme : Connecteur 44">
                    <a:extLst>
                      <a:ext uri="{FF2B5EF4-FFF2-40B4-BE49-F238E27FC236}">
                        <a16:creationId xmlns:a16="http://schemas.microsoft.com/office/drawing/2014/main" id="{078FEF74-4B70-4FC8-A27B-344919DEC57C}"/>
                      </a:ext>
                    </a:extLst>
                  </p:cNvPr>
                  <p:cNvSpPr/>
                  <p:nvPr/>
                </p:nvSpPr>
                <p:spPr>
                  <a:xfrm>
                    <a:off x="6343284" y="5253587"/>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6" name="Organigramme : Connecteur 45">
                    <a:extLst>
                      <a:ext uri="{FF2B5EF4-FFF2-40B4-BE49-F238E27FC236}">
                        <a16:creationId xmlns:a16="http://schemas.microsoft.com/office/drawing/2014/main" id="{BFEF27DB-4145-4FAE-AFE0-98092B51829F}"/>
                      </a:ext>
                    </a:extLst>
                  </p:cNvPr>
                  <p:cNvSpPr/>
                  <p:nvPr/>
                </p:nvSpPr>
                <p:spPr>
                  <a:xfrm>
                    <a:off x="6343282" y="5651157"/>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
              <p:nvSpPr>
                <p:cNvPr id="13" name="Rectangle 12">
                  <a:extLst>
                    <a:ext uri="{FF2B5EF4-FFF2-40B4-BE49-F238E27FC236}">
                      <a16:creationId xmlns:a16="http://schemas.microsoft.com/office/drawing/2014/main" id="{11458CB5-0C77-4110-AB0D-E714A5AC6321}"/>
                    </a:ext>
                  </a:extLst>
                </p:cNvPr>
                <p:cNvSpPr/>
                <p:nvPr/>
              </p:nvSpPr>
              <p:spPr>
                <a:xfrm>
                  <a:off x="4284054" y="3555064"/>
                  <a:ext cx="1978225"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Paramètre 2</a:t>
                  </a:r>
                </a:p>
              </p:txBody>
            </p:sp>
            <p:sp>
              <p:nvSpPr>
                <p:cNvPr id="19" name="Rectangle 18">
                  <a:extLst>
                    <a:ext uri="{FF2B5EF4-FFF2-40B4-BE49-F238E27FC236}">
                      <a16:creationId xmlns:a16="http://schemas.microsoft.com/office/drawing/2014/main" id="{184E6E5B-2001-44CE-AA0B-3EABF26AFB2D}"/>
                    </a:ext>
                  </a:extLst>
                </p:cNvPr>
                <p:cNvSpPr/>
                <p:nvPr/>
              </p:nvSpPr>
              <p:spPr>
                <a:xfrm>
                  <a:off x="3854426" y="3796808"/>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8</a:t>
                  </a:r>
                </a:p>
              </p:txBody>
            </p:sp>
            <p:sp>
              <p:nvSpPr>
                <p:cNvPr id="20" name="Rectangle 19">
                  <a:extLst>
                    <a:ext uri="{FF2B5EF4-FFF2-40B4-BE49-F238E27FC236}">
                      <a16:creationId xmlns:a16="http://schemas.microsoft.com/office/drawing/2014/main" id="{3F8B1891-67C4-415C-917C-D4592AEA250B}"/>
                    </a:ext>
                  </a:extLst>
                </p:cNvPr>
                <p:cNvSpPr/>
                <p:nvPr/>
              </p:nvSpPr>
              <p:spPr>
                <a:xfrm>
                  <a:off x="4461687" y="3796808"/>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10</a:t>
                  </a:r>
                </a:p>
              </p:txBody>
            </p:sp>
            <p:sp>
              <p:nvSpPr>
                <p:cNvPr id="22" name="Rectangle 21">
                  <a:extLst>
                    <a:ext uri="{FF2B5EF4-FFF2-40B4-BE49-F238E27FC236}">
                      <a16:creationId xmlns:a16="http://schemas.microsoft.com/office/drawing/2014/main" id="{1D3276CF-7003-4FA8-A5ED-39911704AD6D}"/>
                    </a:ext>
                  </a:extLst>
                </p:cNvPr>
                <p:cNvSpPr/>
                <p:nvPr/>
              </p:nvSpPr>
              <p:spPr>
                <a:xfrm>
                  <a:off x="5040396" y="3806091"/>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a:t>
                  </a:r>
                </a:p>
              </p:txBody>
            </p:sp>
            <p:sp>
              <p:nvSpPr>
                <p:cNvPr id="23" name="Rectangle 22">
                  <a:extLst>
                    <a:ext uri="{FF2B5EF4-FFF2-40B4-BE49-F238E27FC236}">
                      <a16:creationId xmlns:a16="http://schemas.microsoft.com/office/drawing/2014/main" id="{211CAFF4-AA08-4EDA-A2BF-1C2EC407EAC1}"/>
                    </a:ext>
                  </a:extLst>
                </p:cNvPr>
                <p:cNvSpPr/>
                <p:nvPr/>
              </p:nvSpPr>
              <p:spPr>
                <a:xfrm>
                  <a:off x="5619105" y="3796808"/>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14</a:t>
                  </a:r>
                </a:p>
              </p:txBody>
            </p:sp>
            <p:sp>
              <p:nvSpPr>
                <p:cNvPr id="24" name="Rectangle 23">
                  <a:extLst>
                    <a:ext uri="{FF2B5EF4-FFF2-40B4-BE49-F238E27FC236}">
                      <a16:creationId xmlns:a16="http://schemas.microsoft.com/office/drawing/2014/main" id="{40F886AD-B38C-4910-83CB-120B6C08A199}"/>
                    </a:ext>
                  </a:extLst>
                </p:cNvPr>
                <p:cNvSpPr/>
                <p:nvPr/>
              </p:nvSpPr>
              <p:spPr>
                <a:xfrm>
                  <a:off x="6197814" y="3806090"/>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16</a:t>
                  </a:r>
                </a:p>
              </p:txBody>
            </p:sp>
          </p:grpSp>
          <p:sp>
            <p:nvSpPr>
              <p:cNvPr id="58" name="Organigramme : Connecteur 57">
                <a:extLst>
                  <a:ext uri="{FF2B5EF4-FFF2-40B4-BE49-F238E27FC236}">
                    <a16:creationId xmlns:a16="http://schemas.microsoft.com/office/drawing/2014/main" id="{3BA8306F-2F87-4B82-9714-0E941A49F9B3}"/>
                  </a:ext>
                </a:extLst>
              </p:cNvPr>
              <p:cNvSpPr/>
              <p:nvPr/>
            </p:nvSpPr>
            <p:spPr>
              <a:xfrm>
                <a:off x="3883281" y="422804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9" name="Organigramme : Connecteur 58">
                <a:extLst>
                  <a:ext uri="{FF2B5EF4-FFF2-40B4-BE49-F238E27FC236}">
                    <a16:creationId xmlns:a16="http://schemas.microsoft.com/office/drawing/2014/main" id="{E16DDCE0-2A4A-4272-A039-D91FC4E7E231}"/>
                  </a:ext>
                </a:extLst>
              </p:cNvPr>
              <p:cNvSpPr/>
              <p:nvPr/>
            </p:nvSpPr>
            <p:spPr>
              <a:xfrm>
                <a:off x="3805096" y="4531519"/>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0" name="Organigramme : Connecteur 59">
                <a:extLst>
                  <a:ext uri="{FF2B5EF4-FFF2-40B4-BE49-F238E27FC236}">
                    <a16:creationId xmlns:a16="http://schemas.microsoft.com/office/drawing/2014/main" id="{B4038AF2-2483-4304-A091-33F74F95051B}"/>
                  </a:ext>
                </a:extLst>
              </p:cNvPr>
              <p:cNvSpPr/>
              <p:nvPr/>
            </p:nvSpPr>
            <p:spPr>
              <a:xfrm>
                <a:off x="3733504" y="5470095"/>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1" name="Organigramme : Connecteur 60">
                <a:extLst>
                  <a:ext uri="{FF2B5EF4-FFF2-40B4-BE49-F238E27FC236}">
                    <a16:creationId xmlns:a16="http://schemas.microsoft.com/office/drawing/2014/main" id="{C3E3DE3D-613E-4842-B396-591981683758}"/>
                  </a:ext>
                </a:extLst>
              </p:cNvPr>
              <p:cNvSpPr/>
              <p:nvPr/>
            </p:nvSpPr>
            <p:spPr>
              <a:xfrm>
                <a:off x="6665814" y="5844157"/>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2" name="Organigramme : Connecteur 61">
                <a:extLst>
                  <a:ext uri="{FF2B5EF4-FFF2-40B4-BE49-F238E27FC236}">
                    <a16:creationId xmlns:a16="http://schemas.microsoft.com/office/drawing/2014/main" id="{64844042-60A6-4348-8B92-6932F3EFA290}"/>
                  </a:ext>
                </a:extLst>
              </p:cNvPr>
              <p:cNvSpPr/>
              <p:nvPr/>
            </p:nvSpPr>
            <p:spPr>
              <a:xfrm>
                <a:off x="3956209" y="5783456"/>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3" name="Organigramme : Connecteur 62">
                <a:extLst>
                  <a:ext uri="{FF2B5EF4-FFF2-40B4-BE49-F238E27FC236}">
                    <a16:creationId xmlns:a16="http://schemas.microsoft.com/office/drawing/2014/main" id="{50981F28-361E-4FC0-A8D7-0AE256146D1E}"/>
                  </a:ext>
                </a:extLst>
              </p:cNvPr>
              <p:cNvSpPr/>
              <p:nvPr/>
            </p:nvSpPr>
            <p:spPr>
              <a:xfrm>
                <a:off x="5362619" y="4943078"/>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4" name="Organigramme : Connecteur 63">
                <a:extLst>
                  <a:ext uri="{FF2B5EF4-FFF2-40B4-BE49-F238E27FC236}">
                    <a16:creationId xmlns:a16="http://schemas.microsoft.com/office/drawing/2014/main" id="{2332D5D5-C308-4E3D-B0EC-9E10C8E0EC4E}"/>
                  </a:ext>
                </a:extLst>
              </p:cNvPr>
              <p:cNvSpPr/>
              <p:nvPr/>
            </p:nvSpPr>
            <p:spPr>
              <a:xfrm>
                <a:off x="4826526" y="4198059"/>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5" name="Organigramme : Connecteur 64">
                <a:extLst>
                  <a:ext uri="{FF2B5EF4-FFF2-40B4-BE49-F238E27FC236}">
                    <a16:creationId xmlns:a16="http://schemas.microsoft.com/office/drawing/2014/main" id="{C855E994-B672-4262-91A8-7DBB2FC6F34A}"/>
                  </a:ext>
                </a:extLst>
              </p:cNvPr>
              <p:cNvSpPr/>
              <p:nvPr/>
            </p:nvSpPr>
            <p:spPr>
              <a:xfrm>
                <a:off x="4641705" y="5843868"/>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6" name="Organigramme : Connecteur 65">
                <a:extLst>
                  <a:ext uri="{FF2B5EF4-FFF2-40B4-BE49-F238E27FC236}">
                    <a16:creationId xmlns:a16="http://schemas.microsoft.com/office/drawing/2014/main" id="{989F5B8E-6B8E-4402-A743-D9AE2D4F1002}"/>
                  </a:ext>
                </a:extLst>
              </p:cNvPr>
              <p:cNvSpPr/>
              <p:nvPr/>
            </p:nvSpPr>
            <p:spPr>
              <a:xfrm>
                <a:off x="4403604" y="507553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7" name="Organigramme : Connecteur 66">
                <a:extLst>
                  <a:ext uri="{FF2B5EF4-FFF2-40B4-BE49-F238E27FC236}">
                    <a16:creationId xmlns:a16="http://schemas.microsoft.com/office/drawing/2014/main" id="{71C1A54E-D8F4-4CF0-A3BA-E4DD24169B4E}"/>
                  </a:ext>
                </a:extLst>
              </p:cNvPr>
              <p:cNvSpPr/>
              <p:nvPr/>
            </p:nvSpPr>
            <p:spPr>
              <a:xfrm>
                <a:off x="5540638" y="467797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8" name="Organigramme : Connecteur 67">
                <a:extLst>
                  <a:ext uri="{FF2B5EF4-FFF2-40B4-BE49-F238E27FC236}">
                    <a16:creationId xmlns:a16="http://schemas.microsoft.com/office/drawing/2014/main" id="{F64C8D34-75EA-489E-A71D-74B7CDA99A2C}"/>
                  </a:ext>
                </a:extLst>
              </p:cNvPr>
              <p:cNvSpPr/>
              <p:nvPr/>
            </p:nvSpPr>
            <p:spPr>
              <a:xfrm>
                <a:off x="5540641" y="586271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9" name="Organigramme : Connecteur 68">
                <a:extLst>
                  <a:ext uri="{FF2B5EF4-FFF2-40B4-BE49-F238E27FC236}">
                    <a16:creationId xmlns:a16="http://schemas.microsoft.com/office/drawing/2014/main" id="{35C8036F-65D1-45A4-86C7-A90A7F0B2DA6}"/>
                  </a:ext>
                </a:extLst>
              </p:cNvPr>
              <p:cNvSpPr/>
              <p:nvPr/>
            </p:nvSpPr>
            <p:spPr>
              <a:xfrm>
                <a:off x="6105183" y="5465146"/>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0" name="Organigramme : Connecteur 69">
                <a:extLst>
                  <a:ext uri="{FF2B5EF4-FFF2-40B4-BE49-F238E27FC236}">
                    <a16:creationId xmlns:a16="http://schemas.microsoft.com/office/drawing/2014/main" id="{C039BEE7-9C15-4557-84CE-2B840D7E7E21}"/>
                  </a:ext>
                </a:extLst>
              </p:cNvPr>
              <p:cNvSpPr/>
              <p:nvPr/>
            </p:nvSpPr>
            <p:spPr>
              <a:xfrm rot="5171132">
                <a:off x="4942330" y="4576005"/>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1" name="Organigramme : Connecteur 70">
                <a:extLst>
                  <a:ext uri="{FF2B5EF4-FFF2-40B4-BE49-F238E27FC236}">
                    <a16:creationId xmlns:a16="http://schemas.microsoft.com/office/drawing/2014/main" id="{7C0C4CE5-B89C-4FDA-B8FE-23C057BD3EE9}"/>
                  </a:ext>
                </a:extLst>
              </p:cNvPr>
              <p:cNvSpPr/>
              <p:nvPr/>
            </p:nvSpPr>
            <p:spPr>
              <a:xfrm rot="5171132">
                <a:off x="6079364" y="417844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2" name="Organigramme : Connecteur 71">
                <a:extLst>
                  <a:ext uri="{FF2B5EF4-FFF2-40B4-BE49-F238E27FC236}">
                    <a16:creationId xmlns:a16="http://schemas.microsoft.com/office/drawing/2014/main" id="{9CD57CC1-82BF-4876-B547-128BF14C52DB}"/>
                  </a:ext>
                </a:extLst>
              </p:cNvPr>
              <p:cNvSpPr/>
              <p:nvPr/>
            </p:nvSpPr>
            <p:spPr>
              <a:xfrm rot="5171132">
                <a:off x="6079367" y="536318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3" name="Organigramme : Connecteur 72">
                <a:extLst>
                  <a:ext uri="{FF2B5EF4-FFF2-40B4-BE49-F238E27FC236}">
                    <a16:creationId xmlns:a16="http://schemas.microsoft.com/office/drawing/2014/main" id="{372A2D56-9C44-4E2C-9081-1568DA6ED0FE}"/>
                  </a:ext>
                </a:extLst>
              </p:cNvPr>
              <p:cNvSpPr/>
              <p:nvPr/>
            </p:nvSpPr>
            <p:spPr>
              <a:xfrm rot="5171132">
                <a:off x="6643909" y="4965618"/>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grpSp>
          <p:nvGrpSpPr>
            <p:cNvPr id="74" name="Groupe 73">
              <a:extLst>
                <a:ext uri="{FF2B5EF4-FFF2-40B4-BE49-F238E27FC236}">
                  <a16:creationId xmlns:a16="http://schemas.microsoft.com/office/drawing/2014/main" id="{A7E23670-76CD-48AC-AED3-69093AA0977F}"/>
                </a:ext>
              </a:extLst>
            </p:cNvPr>
            <p:cNvGrpSpPr/>
            <p:nvPr/>
          </p:nvGrpSpPr>
          <p:grpSpPr>
            <a:xfrm>
              <a:off x="930930" y="2210903"/>
              <a:ext cx="4151102" cy="2579966"/>
              <a:chOff x="2849800" y="3555064"/>
              <a:chExt cx="4151102" cy="2579966"/>
            </a:xfrm>
          </p:grpSpPr>
          <p:grpSp>
            <p:nvGrpSpPr>
              <p:cNvPr id="75" name="Groupe 74">
                <a:extLst>
                  <a:ext uri="{FF2B5EF4-FFF2-40B4-BE49-F238E27FC236}">
                    <a16:creationId xmlns:a16="http://schemas.microsoft.com/office/drawing/2014/main" id="{C729A300-5841-42B6-A54D-878B7E274288}"/>
                  </a:ext>
                </a:extLst>
              </p:cNvPr>
              <p:cNvGrpSpPr/>
              <p:nvPr/>
            </p:nvGrpSpPr>
            <p:grpSpPr>
              <a:xfrm>
                <a:off x="3532461" y="4091866"/>
                <a:ext cx="3468441" cy="2043164"/>
                <a:chOff x="3532461" y="4091866"/>
                <a:chExt cx="3468441" cy="2043164"/>
              </a:xfrm>
            </p:grpSpPr>
            <p:grpSp>
              <p:nvGrpSpPr>
                <p:cNvPr id="87" name="Groupe 86">
                  <a:extLst>
                    <a:ext uri="{FF2B5EF4-FFF2-40B4-BE49-F238E27FC236}">
                      <a16:creationId xmlns:a16="http://schemas.microsoft.com/office/drawing/2014/main" id="{E67C1D75-C262-4B34-A545-9DFDBE28ED6B}"/>
                    </a:ext>
                  </a:extLst>
                </p:cNvPr>
                <p:cNvGrpSpPr/>
                <p:nvPr/>
              </p:nvGrpSpPr>
              <p:grpSpPr>
                <a:xfrm>
                  <a:off x="3532461" y="4091866"/>
                  <a:ext cx="3468441" cy="2043164"/>
                  <a:chOff x="7570968" y="4142951"/>
                  <a:chExt cx="3468441" cy="2043164"/>
                </a:xfrm>
              </p:grpSpPr>
              <p:sp>
                <p:nvSpPr>
                  <p:cNvPr id="108" name="Rectangle 107">
                    <a:extLst>
                      <a:ext uri="{FF2B5EF4-FFF2-40B4-BE49-F238E27FC236}">
                        <a16:creationId xmlns:a16="http://schemas.microsoft.com/office/drawing/2014/main" id="{8031C059-867D-41D2-91AC-E7B9D4610DB4}"/>
                      </a:ext>
                    </a:extLst>
                  </p:cNvPr>
                  <p:cNvSpPr/>
                  <p:nvPr/>
                </p:nvSpPr>
                <p:spPr>
                  <a:xfrm>
                    <a:off x="7570968" y="4142951"/>
                    <a:ext cx="3465442" cy="2043164"/>
                  </a:xfrm>
                  <a:prstGeom prst="rect">
                    <a:avLst/>
                  </a:prstGeom>
                  <a:noFill/>
                  <a:ln w="12700">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109" name="Connecteur droit avec flèche 108">
                    <a:extLst>
                      <a:ext uri="{FF2B5EF4-FFF2-40B4-BE49-F238E27FC236}">
                        <a16:creationId xmlns:a16="http://schemas.microsoft.com/office/drawing/2014/main" id="{DC4845A1-D227-4720-9FE9-BBDABBE2D0DB}"/>
                      </a:ext>
                    </a:extLst>
                  </p:cNvPr>
                  <p:cNvCxnSpPr>
                    <a:cxnSpLocks/>
                  </p:cNvCxnSpPr>
                  <p:nvPr/>
                </p:nvCxnSpPr>
                <p:spPr>
                  <a:xfrm flipV="1">
                    <a:off x="8128570"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Connecteur droit avec flèche 109">
                    <a:extLst>
                      <a:ext uri="{FF2B5EF4-FFF2-40B4-BE49-F238E27FC236}">
                        <a16:creationId xmlns:a16="http://schemas.microsoft.com/office/drawing/2014/main" id="{0A584EEC-3763-4277-BD78-9EDEA6563341}"/>
                      </a:ext>
                    </a:extLst>
                  </p:cNvPr>
                  <p:cNvCxnSpPr>
                    <a:cxnSpLocks/>
                  </p:cNvCxnSpPr>
                  <p:nvPr/>
                </p:nvCxnSpPr>
                <p:spPr>
                  <a:xfrm flipV="1">
                    <a:off x="8734194"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Connecteur droit avec flèche 110">
                    <a:extLst>
                      <a:ext uri="{FF2B5EF4-FFF2-40B4-BE49-F238E27FC236}">
                        <a16:creationId xmlns:a16="http://schemas.microsoft.com/office/drawing/2014/main" id="{6F620D3F-EBFB-4B15-BF7F-18FF07A88918}"/>
                      </a:ext>
                    </a:extLst>
                  </p:cNvPr>
                  <p:cNvCxnSpPr>
                    <a:cxnSpLocks/>
                  </p:cNvCxnSpPr>
                  <p:nvPr/>
                </p:nvCxnSpPr>
                <p:spPr>
                  <a:xfrm flipV="1">
                    <a:off x="9306688"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Connecteur droit avec flèche 111">
                    <a:extLst>
                      <a:ext uri="{FF2B5EF4-FFF2-40B4-BE49-F238E27FC236}">
                        <a16:creationId xmlns:a16="http://schemas.microsoft.com/office/drawing/2014/main" id="{676DB298-A49C-419D-B831-FD5EBBB098DC}"/>
                      </a:ext>
                    </a:extLst>
                  </p:cNvPr>
                  <p:cNvCxnSpPr>
                    <a:cxnSpLocks/>
                  </p:cNvCxnSpPr>
                  <p:nvPr/>
                </p:nvCxnSpPr>
                <p:spPr>
                  <a:xfrm flipV="1">
                    <a:off x="9879182"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Connecteur droit avec flèche 112">
                    <a:extLst>
                      <a:ext uri="{FF2B5EF4-FFF2-40B4-BE49-F238E27FC236}">
                        <a16:creationId xmlns:a16="http://schemas.microsoft.com/office/drawing/2014/main" id="{A9CC6F2A-75DB-49A0-8FF7-21DE952DFA85}"/>
                      </a:ext>
                    </a:extLst>
                  </p:cNvPr>
                  <p:cNvCxnSpPr>
                    <a:cxnSpLocks/>
                  </p:cNvCxnSpPr>
                  <p:nvPr/>
                </p:nvCxnSpPr>
                <p:spPr>
                  <a:xfrm flipV="1">
                    <a:off x="10443725" y="4142951"/>
                    <a:ext cx="0" cy="2043164"/>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Connecteur droit avec flèche 113">
                    <a:extLst>
                      <a:ext uri="{FF2B5EF4-FFF2-40B4-BE49-F238E27FC236}">
                        <a16:creationId xmlns:a16="http://schemas.microsoft.com/office/drawing/2014/main" id="{67A54270-5A59-4291-B235-A5182C79AD1B}"/>
                      </a:ext>
                    </a:extLst>
                  </p:cNvPr>
                  <p:cNvCxnSpPr>
                    <a:cxnSpLocks/>
                  </p:cNvCxnSpPr>
                  <p:nvPr/>
                </p:nvCxnSpPr>
                <p:spPr>
                  <a:xfrm>
                    <a:off x="7570968" y="4569510"/>
                    <a:ext cx="3465442" cy="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Connecteur droit avec flèche 114">
                    <a:extLst>
                      <a:ext uri="{FF2B5EF4-FFF2-40B4-BE49-F238E27FC236}">
                        <a16:creationId xmlns:a16="http://schemas.microsoft.com/office/drawing/2014/main" id="{15342151-4149-4002-87E1-2289C4A74A46}"/>
                      </a:ext>
                    </a:extLst>
                  </p:cNvPr>
                  <p:cNvCxnSpPr>
                    <a:cxnSpLocks/>
                  </p:cNvCxnSpPr>
                  <p:nvPr/>
                </p:nvCxnSpPr>
                <p:spPr>
                  <a:xfrm>
                    <a:off x="7573967" y="4976351"/>
                    <a:ext cx="3465442" cy="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Connecteur droit avec flèche 115">
                    <a:extLst>
                      <a:ext uri="{FF2B5EF4-FFF2-40B4-BE49-F238E27FC236}">
                        <a16:creationId xmlns:a16="http://schemas.microsoft.com/office/drawing/2014/main" id="{6E8EB131-A417-4A0E-AE9A-58DF11FEC786}"/>
                      </a:ext>
                    </a:extLst>
                  </p:cNvPr>
                  <p:cNvCxnSpPr>
                    <a:cxnSpLocks/>
                  </p:cNvCxnSpPr>
                  <p:nvPr/>
                </p:nvCxnSpPr>
                <p:spPr>
                  <a:xfrm>
                    <a:off x="7573967" y="5373917"/>
                    <a:ext cx="3465442" cy="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Connecteur droit avec flèche 116">
                    <a:extLst>
                      <a:ext uri="{FF2B5EF4-FFF2-40B4-BE49-F238E27FC236}">
                        <a16:creationId xmlns:a16="http://schemas.microsoft.com/office/drawing/2014/main" id="{0DDE3DA2-7A44-4AB0-9FE8-90294F848E01}"/>
                      </a:ext>
                    </a:extLst>
                  </p:cNvPr>
                  <p:cNvCxnSpPr>
                    <a:cxnSpLocks/>
                  </p:cNvCxnSpPr>
                  <p:nvPr/>
                </p:nvCxnSpPr>
                <p:spPr>
                  <a:xfrm>
                    <a:off x="7573967" y="5763531"/>
                    <a:ext cx="3465442" cy="0"/>
                  </a:xfrm>
                  <a:prstGeom prst="straightConnector1">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8" name="Organigramme : Connecteur 87">
                  <a:extLst>
                    <a:ext uri="{FF2B5EF4-FFF2-40B4-BE49-F238E27FC236}">
                      <a16:creationId xmlns:a16="http://schemas.microsoft.com/office/drawing/2014/main" id="{8762B746-D6D5-403B-875D-9928082BDCBD}"/>
                    </a:ext>
                  </a:extLst>
                </p:cNvPr>
                <p:cNvSpPr/>
                <p:nvPr/>
              </p:nvSpPr>
              <p:spPr>
                <a:xfrm>
                  <a:off x="4028128" y="445713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9" name="Organigramme : Connecteur 88">
                  <a:extLst>
                    <a:ext uri="{FF2B5EF4-FFF2-40B4-BE49-F238E27FC236}">
                      <a16:creationId xmlns:a16="http://schemas.microsoft.com/office/drawing/2014/main" id="{686242F1-5F7F-4599-A031-0C6C8353AC00}"/>
                    </a:ext>
                  </a:extLst>
                </p:cNvPr>
                <p:cNvSpPr/>
                <p:nvPr/>
              </p:nvSpPr>
              <p:spPr>
                <a:xfrm>
                  <a:off x="4021506" y="4856020"/>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0" name="Organigramme : Connecteur 89">
                  <a:extLst>
                    <a:ext uri="{FF2B5EF4-FFF2-40B4-BE49-F238E27FC236}">
                      <a16:creationId xmlns:a16="http://schemas.microsoft.com/office/drawing/2014/main" id="{6697B931-EE43-42A3-B35F-B17C5B200381}"/>
                    </a:ext>
                  </a:extLst>
                </p:cNvPr>
                <p:cNvSpPr/>
                <p:nvPr/>
              </p:nvSpPr>
              <p:spPr>
                <a:xfrm>
                  <a:off x="4029454" y="525358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1" name="Organigramme : Connecteur 90">
                  <a:extLst>
                    <a:ext uri="{FF2B5EF4-FFF2-40B4-BE49-F238E27FC236}">
                      <a16:creationId xmlns:a16="http://schemas.microsoft.com/office/drawing/2014/main" id="{3F6AFC67-A0ED-4C44-97AE-9656A2F482BD}"/>
                    </a:ext>
                  </a:extLst>
                </p:cNvPr>
                <p:cNvSpPr/>
                <p:nvPr/>
              </p:nvSpPr>
              <p:spPr>
                <a:xfrm>
                  <a:off x="4021503" y="5643199"/>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2" name="Organigramme : Connecteur 91">
                  <a:extLst>
                    <a:ext uri="{FF2B5EF4-FFF2-40B4-BE49-F238E27FC236}">
                      <a16:creationId xmlns:a16="http://schemas.microsoft.com/office/drawing/2014/main" id="{865754F7-25CE-4C28-AC8F-7A942B975A5D}"/>
                    </a:ext>
                  </a:extLst>
                </p:cNvPr>
                <p:cNvSpPr/>
                <p:nvPr/>
              </p:nvSpPr>
              <p:spPr>
                <a:xfrm>
                  <a:off x="4633750" y="445846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3" name="Organigramme : Connecteur 92">
                  <a:extLst>
                    <a:ext uri="{FF2B5EF4-FFF2-40B4-BE49-F238E27FC236}">
                      <a16:creationId xmlns:a16="http://schemas.microsoft.com/office/drawing/2014/main" id="{84087727-4082-4EE3-89C4-064E65461D74}"/>
                    </a:ext>
                  </a:extLst>
                </p:cNvPr>
                <p:cNvSpPr/>
                <p:nvPr/>
              </p:nvSpPr>
              <p:spPr>
                <a:xfrm>
                  <a:off x="4641705" y="486397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4" name="Organigramme : Connecteur 93">
                  <a:extLst>
                    <a:ext uri="{FF2B5EF4-FFF2-40B4-BE49-F238E27FC236}">
                      <a16:creationId xmlns:a16="http://schemas.microsoft.com/office/drawing/2014/main" id="{65860C31-81A4-4C28-B79D-F89EA54B9E4A}"/>
                    </a:ext>
                  </a:extLst>
                </p:cNvPr>
                <p:cNvSpPr/>
                <p:nvPr/>
              </p:nvSpPr>
              <p:spPr>
                <a:xfrm>
                  <a:off x="4633752" y="526949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5" name="Organigramme : Connecteur 94">
                  <a:extLst>
                    <a:ext uri="{FF2B5EF4-FFF2-40B4-BE49-F238E27FC236}">
                      <a16:creationId xmlns:a16="http://schemas.microsoft.com/office/drawing/2014/main" id="{AA90D924-77AB-4BDC-9A13-817FFA441616}"/>
                    </a:ext>
                  </a:extLst>
                </p:cNvPr>
                <p:cNvSpPr/>
                <p:nvPr/>
              </p:nvSpPr>
              <p:spPr>
                <a:xfrm>
                  <a:off x="4633756" y="5651151"/>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6" name="Organigramme : Connecteur 95">
                  <a:extLst>
                    <a:ext uri="{FF2B5EF4-FFF2-40B4-BE49-F238E27FC236}">
                      <a16:creationId xmlns:a16="http://schemas.microsoft.com/office/drawing/2014/main" id="{DD424127-ED28-43A0-9D31-8DD3F6076776}"/>
                    </a:ext>
                  </a:extLst>
                </p:cNvPr>
                <p:cNvSpPr/>
                <p:nvPr/>
              </p:nvSpPr>
              <p:spPr>
                <a:xfrm>
                  <a:off x="5206245" y="445846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7" name="Organigramme : Connecteur 96">
                  <a:extLst>
                    <a:ext uri="{FF2B5EF4-FFF2-40B4-BE49-F238E27FC236}">
                      <a16:creationId xmlns:a16="http://schemas.microsoft.com/office/drawing/2014/main" id="{687A0B13-B44D-4998-B9A5-25B64ADD969A}"/>
                    </a:ext>
                  </a:extLst>
                </p:cNvPr>
                <p:cNvSpPr/>
                <p:nvPr/>
              </p:nvSpPr>
              <p:spPr>
                <a:xfrm>
                  <a:off x="5206249" y="486397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8" name="Organigramme : Connecteur 97">
                  <a:extLst>
                    <a:ext uri="{FF2B5EF4-FFF2-40B4-BE49-F238E27FC236}">
                      <a16:creationId xmlns:a16="http://schemas.microsoft.com/office/drawing/2014/main" id="{AC372F7D-BC18-4137-A675-5334B7740FAC}"/>
                    </a:ext>
                  </a:extLst>
                </p:cNvPr>
                <p:cNvSpPr/>
                <p:nvPr/>
              </p:nvSpPr>
              <p:spPr>
                <a:xfrm>
                  <a:off x="5206244" y="5261544"/>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9" name="Organigramme : Connecteur 98">
                  <a:extLst>
                    <a:ext uri="{FF2B5EF4-FFF2-40B4-BE49-F238E27FC236}">
                      <a16:creationId xmlns:a16="http://schemas.microsoft.com/office/drawing/2014/main" id="{8E47B32B-0162-4DA0-AFA3-BF88E5D41650}"/>
                    </a:ext>
                  </a:extLst>
                </p:cNvPr>
                <p:cNvSpPr/>
                <p:nvPr/>
              </p:nvSpPr>
              <p:spPr>
                <a:xfrm>
                  <a:off x="5206248" y="5651155"/>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0" name="Organigramme : Connecteur 99">
                  <a:extLst>
                    <a:ext uri="{FF2B5EF4-FFF2-40B4-BE49-F238E27FC236}">
                      <a16:creationId xmlns:a16="http://schemas.microsoft.com/office/drawing/2014/main" id="{B84FA71E-783B-4C90-8849-1492E99C2F7F}"/>
                    </a:ext>
                  </a:extLst>
                </p:cNvPr>
                <p:cNvSpPr/>
                <p:nvPr/>
              </p:nvSpPr>
              <p:spPr>
                <a:xfrm>
                  <a:off x="5778739" y="446641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1" name="Organigramme : Connecteur 100">
                  <a:extLst>
                    <a:ext uri="{FF2B5EF4-FFF2-40B4-BE49-F238E27FC236}">
                      <a16:creationId xmlns:a16="http://schemas.microsoft.com/office/drawing/2014/main" id="{ABC33905-43C2-4194-BAC7-33B7A72CC73B}"/>
                    </a:ext>
                  </a:extLst>
                </p:cNvPr>
                <p:cNvSpPr/>
                <p:nvPr/>
              </p:nvSpPr>
              <p:spPr>
                <a:xfrm>
                  <a:off x="6343275" y="445846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2" name="Organigramme : Connecteur 101">
                  <a:extLst>
                    <a:ext uri="{FF2B5EF4-FFF2-40B4-BE49-F238E27FC236}">
                      <a16:creationId xmlns:a16="http://schemas.microsoft.com/office/drawing/2014/main" id="{CB352309-589F-4CB3-B996-CBB13EDCEC26}"/>
                    </a:ext>
                  </a:extLst>
                </p:cNvPr>
                <p:cNvSpPr/>
                <p:nvPr/>
              </p:nvSpPr>
              <p:spPr>
                <a:xfrm>
                  <a:off x="5778739" y="4871925"/>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3" name="Organigramme : Connecteur 102">
                  <a:extLst>
                    <a:ext uri="{FF2B5EF4-FFF2-40B4-BE49-F238E27FC236}">
                      <a16:creationId xmlns:a16="http://schemas.microsoft.com/office/drawing/2014/main" id="{6A174432-6078-4DBD-A15C-445E8540A31B}"/>
                    </a:ext>
                  </a:extLst>
                </p:cNvPr>
                <p:cNvSpPr/>
                <p:nvPr/>
              </p:nvSpPr>
              <p:spPr>
                <a:xfrm>
                  <a:off x="6343286" y="4863977"/>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4" name="Organigramme : Connecteur 103">
                  <a:extLst>
                    <a:ext uri="{FF2B5EF4-FFF2-40B4-BE49-F238E27FC236}">
                      <a16:creationId xmlns:a16="http://schemas.microsoft.com/office/drawing/2014/main" id="{35E7F3DE-136B-4F2A-A135-2C8FE1C00A10}"/>
                    </a:ext>
                  </a:extLst>
                </p:cNvPr>
                <p:cNvSpPr/>
                <p:nvPr/>
              </p:nvSpPr>
              <p:spPr>
                <a:xfrm>
                  <a:off x="5778741" y="5261538"/>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5" name="Organigramme : Connecteur 104">
                  <a:extLst>
                    <a:ext uri="{FF2B5EF4-FFF2-40B4-BE49-F238E27FC236}">
                      <a16:creationId xmlns:a16="http://schemas.microsoft.com/office/drawing/2014/main" id="{004FCE2B-4330-4A6A-885F-6916B1DF4228}"/>
                    </a:ext>
                  </a:extLst>
                </p:cNvPr>
                <p:cNvSpPr/>
                <p:nvPr/>
              </p:nvSpPr>
              <p:spPr>
                <a:xfrm>
                  <a:off x="5778742" y="565115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6" name="Organigramme : Connecteur 105">
                  <a:extLst>
                    <a:ext uri="{FF2B5EF4-FFF2-40B4-BE49-F238E27FC236}">
                      <a16:creationId xmlns:a16="http://schemas.microsoft.com/office/drawing/2014/main" id="{8BE1A32E-B4DC-4FE2-BB74-0ADA9FD56E98}"/>
                    </a:ext>
                  </a:extLst>
                </p:cNvPr>
                <p:cNvSpPr/>
                <p:nvPr/>
              </p:nvSpPr>
              <p:spPr>
                <a:xfrm>
                  <a:off x="6343284" y="5253587"/>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7" name="Organigramme : Connecteur 106">
                  <a:extLst>
                    <a:ext uri="{FF2B5EF4-FFF2-40B4-BE49-F238E27FC236}">
                      <a16:creationId xmlns:a16="http://schemas.microsoft.com/office/drawing/2014/main" id="{3BCC831C-6229-489E-9DAB-D7A5094B5784}"/>
                    </a:ext>
                  </a:extLst>
                </p:cNvPr>
                <p:cNvSpPr/>
                <p:nvPr/>
              </p:nvSpPr>
              <p:spPr>
                <a:xfrm>
                  <a:off x="6343282" y="5651157"/>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
            <p:nvSpPr>
              <p:cNvPr id="76" name="Rectangle 75">
                <a:extLst>
                  <a:ext uri="{FF2B5EF4-FFF2-40B4-BE49-F238E27FC236}">
                    <a16:creationId xmlns:a16="http://schemas.microsoft.com/office/drawing/2014/main" id="{E775B492-BF2D-4FD5-B4E9-C349917D33DA}"/>
                  </a:ext>
                </a:extLst>
              </p:cNvPr>
              <p:cNvSpPr/>
              <p:nvPr/>
            </p:nvSpPr>
            <p:spPr>
              <a:xfrm>
                <a:off x="3056679" y="4417517"/>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100</a:t>
                </a:r>
              </a:p>
            </p:txBody>
          </p:sp>
          <p:sp>
            <p:nvSpPr>
              <p:cNvPr id="77" name="Rectangle 76">
                <a:extLst>
                  <a:ext uri="{FF2B5EF4-FFF2-40B4-BE49-F238E27FC236}">
                    <a16:creationId xmlns:a16="http://schemas.microsoft.com/office/drawing/2014/main" id="{7193A52B-0F10-431F-8B0A-9633F5D7DF6F}"/>
                  </a:ext>
                </a:extLst>
              </p:cNvPr>
              <p:cNvSpPr/>
              <p:nvPr/>
            </p:nvSpPr>
            <p:spPr>
              <a:xfrm>
                <a:off x="4284054" y="3555064"/>
                <a:ext cx="1978225"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Paramètre 2</a:t>
                </a:r>
              </a:p>
            </p:txBody>
          </p:sp>
          <p:sp>
            <p:nvSpPr>
              <p:cNvPr id="78" name="Rectangle 77">
                <a:extLst>
                  <a:ext uri="{FF2B5EF4-FFF2-40B4-BE49-F238E27FC236}">
                    <a16:creationId xmlns:a16="http://schemas.microsoft.com/office/drawing/2014/main" id="{FCB75E4D-68AB-49EF-B982-C5D3D567302D}"/>
                  </a:ext>
                </a:extLst>
              </p:cNvPr>
              <p:cNvSpPr/>
              <p:nvPr/>
            </p:nvSpPr>
            <p:spPr>
              <a:xfrm rot="16200000">
                <a:off x="1967630" y="4890213"/>
                <a:ext cx="1978225"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Paramètre 1</a:t>
                </a:r>
              </a:p>
            </p:txBody>
          </p:sp>
          <p:sp>
            <p:nvSpPr>
              <p:cNvPr id="79" name="Rectangle 78">
                <a:extLst>
                  <a:ext uri="{FF2B5EF4-FFF2-40B4-BE49-F238E27FC236}">
                    <a16:creationId xmlns:a16="http://schemas.microsoft.com/office/drawing/2014/main" id="{CA1FB812-E22B-4893-B2E2-7957FC6D9711}"/>
                  </a:ext>
                </a:extLst>
              </p:cNvPr>
              <p:cNvSpPr/>
              <p:nvPr/>
            </p:nvSpPr>
            <p:spPr>
              <a:xfrm>
                <a:off x="3050661" y="4815078"/>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150</a:t>
                </a:r>
              </a:p>
            </p:txBody>
          </p:sp>
          <p:sp>
            <p:nvSpPr>
              <p:cNvPr id="80" name="Rectangle 79">
                <a:extLst>
                  <a:ext uri="{FF2B5EF4-FFF2-40B4-BE49-F238E27FC236}">
                    <a16:creationId xmlns:a16="http://schemas.microsoft.com/office/drawing/2014/main" id="{33C4F053-D5A7-4E0E-89DA-FA17F84ACFFF}"/>
                  </a:ext>
                </a:extLst>
              </p:cNvPr>
              <p:cNvSpPr/>
              <p:nvPr/>
            </p:nvSpPr>
            <p:spPr>
              <a:xfrm>
                <a:off x="3056679" y="5196746"/>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200</a:t>
                </a:r>
              </a:p>
            </p:txBody>
          </p:sp>
          <p:sp>
            <p:nvSpPr>
              <p:cNvPr id="81" name="Rectangle 80">
                <a:extLst>
                  <a:ext uri="{FF2B5EF4-FFF2-40B4-BE49-F238E27FC236}">
                    <a16:creationId xmlns:a16="http://schemas.microsoft.com/office/drawing/2014/main" id="{C2E974AA-2FFA-4F94-B93C-767B3240E926}"/>
                  </a:ext>
                </a:extLst>
              </p:cNvPr>
              <p:cNvSpPr/>
              <p:nvPr/>
            </p:nvSpPr>
            <p:spPr>
              <a:xfrm>
                <a:off x="3050157" y="5591507"/>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250</a:t>
                </a:r>
              </a:p>
            </p:txBody>
          </p:sp>
          <p:sp>
            <p:nvSpPr>
              <p:cNvPr id="82" name="Rectangle 81">
                <a:extLst>
                  <a:ext uri="{FF2B5EF4-FFF2-40B4-BE49-F238E27FC236}">
                    <a16:creationId xmlns:a16="http://schemas.microsoft.com/office/drawing/2014/main" id="{1DB0D137-8BFF-4DD7-B7BF-D854B1AFC4BE}"/>
                  </a:ext>
                </a:extLst>
              </p:cNvPr>
              <p:cNvSpPr/>
              <p:nvPr/>
            </p:nvSpPr>
            <p:spPr>
              <a:xfrm>
                <a:off x="3854426" y="3796808"/>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8</a:t>
                </a:r>
              </a:p>
            </p:txBody>
          </p:sp>
          <p:sp>
            <p:nvSpPr>
              <p:cNvPr id="83" name="Rectangle 82">
                <a:extLst>
                  <a:ext uri="{FF2B5EF4-FFF2-40B4-BE49-F238E27FC236}">
                    <a16:creationId xmlns:a16="http://schemas.microsoft.com/office/drawing/2014/main" id="{628B1E00-9E70-4D94-A4E7-1B0EA5885772}"/>
                  </a:ext>
                </a:extLst>
              </p:cNvPr>
              <p:cNvSpPr/>
              <p:nvPr/>
            </p:nvSpPr>
            <p:spPr>
              <a:xfrm>
                <a:off x="4461687" y="3796808"/>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10</a:t>
                </a:r>
              </a:p>
            </p:txBody>
          </p:sp>
          <p:sp>
            <p:nvSpPr>
              <p:cNvPr id="84" name="Rectangle 83">
                <a:extLst>
                  <a:ext uri="{FF2B5EF4-FFF2-40B4-BE49-F238E27FC236}">
                    <a16:creationId xmlns:a16="http://schemas.microsoft.com/office/drawing/2014/main" id="{77018F61-7D70-4EBF-9966-AAF4B1746F00}"/>
                  </a:ext>
                </a:extLst>
              </p:cNvPr>
              <p:cNvSpPr/>
              <p:nvPr/>
            </p:nvSpPr>
            <p:spPr>
              <a:xfrm>
                <a:off x="5040396" y="3806091"/>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12</a:t>
                </a:r>
              </a:p>
            </p:txBody>
          </p:sp>
          <p:sp>
            <p:nvSpPr>
              <p:cNvPr id="85" name="Rectangle 84">
                <a:extLst>
                  <a:ext uri="{FF2B5EF4-FFF2-40B4-BE49-F238E27FC236}">
                    <a16:creationId xmlns:a16="http://schemas.microsoft.com/office/drawing/2014/main" id="{ABB93398-4FE2-4EE5-9D65-6BB147CBFCBE}"/>
                  </a:ext>
                </a:extLst>
              </p:cNvPr>
              <p:cNvSpPr/>
              <p:nvPr/>
            </p:nvSpPr>
            <p:spPr>
              <a:xfrm>
                <a:off x="5619105" y="3796808"/>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14</a:t>
                </a:r>
              </a:p>
            </p:txBody>
          </p:sp>
          <p:sp>
            <p:nvSpPr>
              <p:cNvPr id="86" name="Rectangle 85">
                <a:extLst>
                  <a:ext uri="{FF2B5EF4-FFF2-40B4-BE49-F238E27FC236}">
                    <a16:creationId xmlns:a16="http://schemas.microsoft.com/office/drawing/2014/main" id="{26404299-40D0-4F59-9609-5078F828BCF7}"/>
                  </a:ext>
                </a:extLst>
              </p:cNvPr>
              <p:cNvSpPr/>
              <p:nvPr/>
            </p:nvSpPr>
            <p:spPr>
              <a:xfrm>
                <a:off x="6197814" y="3806090"/>
                <a:ext cx="468000"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16</a:t>
                </a:r>
              </a:p>
            </p:txBody>
          </p:sp>
        </p:grpSp>
        <p:sp>
          <p:nvSpPr>
            <p:cNvPr id="118" name="Rectangle 117">
              <a:extLst>
                <a:ext uri="{FF2B5EF4-FFF2-40B4-BE49-F238E27FC236}">
                  <a16:creationId xmlns:a16="http://schemas.microsoft.com/office/drawing/2014/main" id="{3F685F47-2756-4D68-8104-D81A0FBFD5DE}"/>
                </a:ext>
              </a:extLst>
            </p:cNvPr>
            <p:cNvSpPr/>
            <p:nvPr/>
          </p:nvSpPr>
          <p:spPr>
            <a:xfrm>
              <a:off x="2365184" y="5003543"/>
              <a:ext cx="1978225"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GREAD SEARCH</a:t>
              </a:r>
            </a:p>
          </p:txBody>
        </p:sp>
        <p:sp>
          <p:nvSpPr>
            <p:cNvPr id="119" name="Rectangle 118">
              <a:extLst>
                <a:ext uri="{FF2B5EF4-FFF2-40B4-BE49-F238E27FC236}">
                  <a16:creationId xmlns:a16="http://schemas.microsoft.com/office/drawing/2014/main" id="{E88C6E69-DC6A-4F96-9940-074279DC6349}"/>
                </a:ext>
              </a:extLst>
            </p:cNvPr>
            <p:cNvSpPr/>
            <p:nvPr/>
          </p:nvSpPr>
          <p:spPr>
            <a:xfrm>
              <a:off x="5978488" y="5005522"/>
              <a:ext cx="1978225"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RANDOM SEARCH</a:t>
              </a:r>
            </a:p>
          </p:txBody>
        </p:sp>
      </p:grpSp>
    </p:spTree>
    <p:extLst>
      <p:ext uri="{BB962C8B-B14F-4D97-AF65-F5344CB8AC3E}">
        <p14:creationId xmlns:p14="http://schemas.microsoft.com/office/powerpoint/2010/main" val="235894721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165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validation croisée</a:t>
            </a:r>
          </a:p>
        </p:txBody>
      </p:sp>
      <mc:AlternateContent xmlns:mc="http://schemas.openxmlformats.org/markup-compatibility/2006" xmlns:a14="http://schemas.microsoft.com/office/drawing/2010/main">
        <mc:Choice Requires="a14">
          <p:sp>
            <p:nvSpPr>
              <p:cNvPr id="120" name="Content Placeholder 15">
                <a:extLst>
                  <a:ext uri="{FF2B5EF4-FFF2-40B4-BE49-F238E27FC236}">
                    <a16:creationId xmlns:a16="http://schemas.microsoft.com/office/drawing/2014/main" id="{895ECD5D-D4BF-4E00-9323-7697741FC5E7}"/>
                  </a:ext>
                </a:extLst>
              </p:cNvPr>
              <p:cNvSpPr>
                <a:spLocks noGrp="1"/>
              </p:cNvSpPr>
              <p:nvPr>
                <p:ph sz="half" idx="13"/>
              </p:nvPr>
            </p:nvSpPr>
            <p:spPr>
              <a:xfrm>
                <a:off x="746911" y="1391969"/>
                <a:ext cx="5891400" cy="3569645"/>
              </a:xfrm>
            </p:spPr>
            <p:txBody>
              <a:bodyPr>
                <a:noAutofit/>
              </a:bodyPr>
              <a:lstStyle/>
              <a:p>
                <a:pPr algn="just">
                  <a:lnSpc>
                    <a:spcPct val="100000"/>
                  </a:lnSpc>
                  <a:buClr>
                    <a:schemeClr val="accent2"/>
                  </a:buClr>
                </a:pPr>
                <a:r>
                  <a:rPr lang="fr-FR" sz="1350" dirty="0"/>
                  <a:t>La validation croisée permet d'évaluer les performances des modèles d'apprentissage automatique.</a:t>
                </a:r>
              </a:p>
              <a:p>
                <a:pPr algn="just">
                  <a:lnSpc>
                    <a:spcPct val="100000"/>
                  </a:lnSpc>
                  <a:buClr>
                    <a:schemeClr val="accent2"/>
                  </a:buClr>
                </a:pPr>
                <a:r>
                  <a:rPr lang="fr-FR" sz="1350" dirty="0"/>
                  <a:t>Elle permet également d’éviter le phénomène de sur apprentissage (over fitting).</a:t>
                </a:r>
              </a:p>
              <a:p>
                <a:pPr algn="just">
                  <a:lnSpc>
                    <a:spcPct val="100000"/>
                  </a:lnSpc>
                  <a:buClr>
                    <a:schemeClr val="accent2"/>
                  </a:buClr>
                </a:pPr>
                <a:r>
                  <a:rPr lang="fr-FR" sz="1350" dirty="0"/>
                  <a:t>La validation croisée K-Fold est une méthode qui divise vos données en </a:t>
                </a:r>
                <a14:m>
                  <m:oMath xmlns:m="http://schemas.openxmlformats.org/officeDocument/2006/math">
                    <m:r>
                      <a:rPr lang="fr-FR" sz="1350" i="1" dirty="0">
                        <a:latin typeface="Cambria Math" panose="02040503050406030204" pitchFamily="18" charset="0"/>
                      </a:rPr>
                      <m:t>𝑘</m:t>
                    </m:r>
                  </m:oMath>
                </a14:m>
                <a:r>
                  <a:rPr lang="fr-FR" sz="1350" dirty="0"/>
                  <a:t> plis de taille égale.</a:t>
                </a:r>
              </a:p>
              <a:p>
                <a:pPr algn="just">
                  <a:lnSpc>
                    <a:spcPct val="100000"/>
                  </a:lnSpc>
                  <a:buClr>
                    <a:schemeClr val="accent2"/>
                  </a:buClr>
                </a:pPr>
                <a:r>
                  <a:rPr lang="fr-FR" sz="1350" dirty="0"/>
                  <a:t>Comprenez un « pli » comme étant un échantillon de vos données initiales.</a:t>
                </a:r>
              </a:p>
              <a:p>
                <a:pPr algn="just">
                  <a:lnSpc>
                    <a:spcPct val="100000"/>
                  </a:lnSpc>
                  <a:buClr>
                    <a:schemeClr val="accent2"/>
                  </a:buClr>
                </a:pPr>
                <a:r>
                  <a:rPr lang="fr-FR" sz="1350" dirty="0"/>
                  <a:t>Chaque pli est utilisé comme ensemble de test tout en utilisant les plis </a:t>
                </a:r>
                <a14:m>
                  <m:oMath xmlns:m="http://schemas.openxmlformats.org/officeDocument/2006/math">
                    <m:r>
                      <a:rPr lang="fr-FR" sz="1350" i="1" dirty="0">
                        <a:latin typeface="Cambria Math" panose="02040503050406030204" pitchFamily="18" charset="0"/>
                      </a:rPr>
                      <m:t>𝑘</m:t>
                    </m:r>
                    <m:r>
                      <a:rPr lang="fr-FR" sz="1350" i="1" dirty="0">
                        <a:latin typeface="Cambria Math" panose="02040503050406030204" pitchFamily="18" charset="0"/>
                      </a:rPr>
                      <m:t>−1</m:t>
                    </m:r>
                  </m:oMath>
                </a14:m>
                <a:r>
                  <a:rPr lang="fr-FR" sz="1350" dirty="0"/>
                  <a:t> restants comme ensemble d'entraînement. </a:t>
                </a:r>
              </a:p>
              <a:p>
                <a:pPr algn="just">
                  <a:lnSpc>
                    <a:spcPct val="100000"/>
                  </a:lnSpc>
                  <a:buClr>
                    <a:schemeClr val="accent2"/>
                  </a:buClr>
                </a:pPr>
                <a:r>
                  <a:rPr lang="fr-FR" sz="1350" dirty="0"/>
                  <a:t>Chaque modèle candidat est entrainé et évalué </a:t>
                </a:r>
                <a14:m>
                  <m:oMath xmlns:m="http://schemas.openxmlformats.org/officeDocument/2006/math">
                    <m:r>
                      <a:rPr lang="fr-FR" sz="1350" i="1" dirty="0">
                        <a:latin typeface="Cambria Math" panose="02040503050406030204" pitchFamily="18" charset="0"/>
                      </a:rPr>
                      <m:t>𝑘</m:t>
                    </m:r>
                  </m:oMath>
                </a14:m>
                <a:r>
                  <a:rPr lang="fr-FR" sz="1350" dirty="0"/>
                  <a:t> fois et on obtient une performance moyenne sur tous les plis. </a:t>
                </a:r>
              </a:p>
              <a:p>
                <a:pPr algn="just">
                  <a:lnSpc>
                    <a:spcPct val="100000"/>
                  </a:lnSpc>
                  <a:buClr>
                    <a:schemeClr val="accent2"/>
                  </a:buClr>
                </a:pPr>
                <a:r>
                  <a:rPr lang="fr-FR" sz="1350" dirty="0"/>
                  <a:t>Choisissez le modèle avec les meilleures performances moyennes.</a:t>
                </a:r>
              </a:p>
            </p:txBody>
          </p:sp>
        </mc:Choice>
        <mc:Fallback xmlns="">
          <p:sp>
            <p:nvSpPr>
              <p:cNvPr id="120" name="Content Placeholder 15">
                <a:extLst>
                  <a:ext uri="{FF2B5EF4-FFF2-40B4-BE49-F238E27FC236}">
                    <a16:creationId xmlns:a16="http://schemas.microsoft.com/office/drawing/2014/main" id="{895ECD5D-D4BF-4E00-9323-7697741FC5E7}"/>
                  </a:ext>
                </a:extLst>
              </p:cNvPr>
              <p:cNvSpPr>
                <a:spLocks noGrp="1" noRot="1" noChangeAspect="1" noMove="1" noResize="1" noEditPoints="1" noAdjustHandles="1" noChangeArrowheads="1" noChangeShapeType="1" noTextEdit="1"/>
              </p:cNvSpPr>
              <p:nvPr>
                <p:ph sz="half" idx="13"/>
              </p:nvPr>
            </p:nvSpPr>
            <p:spPr>
              <a:xfrm>
                <a:off x="746911" y="1391969"/>
                <a:ext cx="5891400" cy="3569645"/>
              </a:xfrm>
              <a:blipFill>
                <a:blip r:embed="rId2"/>
                <a:stretch>
                  <a:fillRect l="-1656" t="-1536" r="-1760"/>
                </a:stretch>
              </a:blipFill>
            </p:spPr>
            <p:txBody>
              <a:bodyPr/>
              <a:lstStyle/>
              <a:p>
                <a:r>
                  <a:rPr lang="fr-FR">
                    <a:noFill/>
                  </a:rPr>
                  <a:t> </a:t>
                </a:r>
              </a:p>
            </p:txBody>
          </p:sp>
        </mc:Fallback>
      </mc:AlternateContent>
    </p:spTree>
    <p:extLst>
      <p:ext uri="{BB962C8B-B14F-4D97-AF65-F5344CB8AC3E}">
        <p14:creationId xmlns:p14="http://schemas.microsoft.com/office/powerpoint/2010/main" val="66363905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166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validation croisée</a:t>
            </a:r>
          </a:p>
        </p:txBody>
      </p:sp>
      <p:sp>
        <p:nvSpPr>
          <p:cNvPr id="120" name="Content Placeholder 15">
            <a:extLst>
              <a:ext uri="{FF2B5EF4-FFF2-40B4-BE49-F238E27FC236}">
                <a16:creationId xmlns:a16="http://schemas.microsoft.com/office/drawing/2014/main" id="{895ECD5D-D4BF-4E00-9323-7697741FC5E7}"/>
              </a:ext>
            </a:extLst>
          </p:cNvPr>
          <p:cNvSpPr>
            <a:spLocks noGrp="1"/>
          </p:cNvSpPr>
          <p:nvPr>
            <p:ph sz="half" idx="13"/>
          </p:nvPr>
        </p:nvSpPr>
        <p:spPr>
          <a:xfrm>
            <a:off x="746911" y="3745065"/>
            <a:ext cx="5891400" cy="1216549"/>
          </a:xfrm>
        </p:spPr>
        <p:txBody>
          <a:bodyPr>
            <a:noAutofit/>
          </a:bodyPr>
          <a:lstStyle/>
          <a:p>
            <a:pPr algn="just">
              <a:lnSpc>
                <a:spcPct val="100000"/>
              </a:lnSpc>
              <a:buClr>
                <a:schemeClr val="accent2"/>
              </a:buClr>
            </a:pPr>
            <a:r>
              <a:rPr lang="fr-FR" sz="1500" dirty="0"/>
              <a:t>Data set initial</a:t>
            </a:r>
          </a:p>
          <a:p>
            <a:pPr algn="just">
              <a:lnSpc>
                <a:spcPct val="100000"/>
              </a:lnSpc>
              <a:buClr>
                <a:schemeClr val="accent2"/>
              </a:buClr>
            </a:pPr>
            <a:r>
              <a:rPr lang="fr-FR" sz="1500" dirty="0"/>
              <a:t>Objectif : le séparer en 80-20 (train, test)</a:t>
            </a:r>
          </a:p>
          <a:p>
            <a:pPr algn="just">
              <a:lnSpc>
                <a:spcPct val="100000"/>
              </a:lnSpc>
              <a:buClr>
                <a:schemeClr val="accent2"/>
              </a:buClr>
            </a:pPr>
            <a:r>
              <a:rPr lang="fr-FR" sz="1500" dirty="0"/>
              <a:t>Le problème c’est qu’avec ce procédé, on évalue le modèle qu’une seule fois.</a:t>
            </a:r>
          </a:p>
        </p:txBody>
      </p:sp>
      <p:grpSp>
        <p:nvGrpSpPr>
          <p:cNvPr id="4" name="Groupe 3">
            <a:extLst>
              <a:ext uri="{FF2B5EF4-FFF2-40B4-BE49-F238E27FC236}">
                <a16:creationId xmlns:a16="http://schemas.microsoft.com/office/drawing/2014/main" id="{92679442-5181-49D5-864C-0ACD012845E2}"/>
              </a:ext>
            </a:extLst>
          </p:cNvPr>
          <p:cNvGrpSpPr/>
          <p:nvPr/>
        </p:nvGrpSpPr>
        <p:grpSpPr>
          <a:xfrm>
            <a:off x="539227" y="1471359"/>
            <a:ext cx="6276008" cy="1926167"/>
            <a:chOff x="684181" y="1623858"/>
            <a:chExt cx="8368010" cy="2568222"/>
          </a:xfrm>
        </p:grpSpPr>
        <p:pic>
          <p:nvPicPr>
            <p:cNvPr id="3" name="Image 2">
              <a:extLst>
                <a:ext uri="{FF2B5EF4-FFF2-40B4-BE49-F238E27FC236}">
                  <a16:creationId xmlns:a16="http://schemas.microsoft.com/office/drawing/2014/main" id="{BCC0CFF1-4FC5-401D-8032-FB6BFBC60E15}"/>
                </a:ext>
              </a:extLst>
            </p:cNvPr>
            <p:cNvPicPr>
              <a:picLocks noChangeAspect="1"/>
            </p:cNvPicPr>
            <p:nvPr/>
          </p:nvPicPr>
          <p:blipFill>
            <a:blip r:embed="rId2">
              <a:duotone>
                <a:prstClr val="black"/>
                <a:schemeClr val="accent1">
                  <a:tint val="45000"/>
                  <a:satMod val="400000"/>
                </a:schemeClr>
              </a:duotone>
            </a:blip>
            <a:stretch>
              <a:fillRect/>
            </a:stretch>
          </p:blipFill>
          <p:spPr>
            <a:xfrm>
              <a:off x="684181" y="1623858"/>
              <a:ext cx="3731075" cy="2487384"/>
            </a:xfrm>
            <a:prstGeom prst="rect">
              <a:avLst/>
            </a:prstGeom>
          </p:spPr>
        </p:pic>
        <p:pic>
          <p:nvPicPr>
            <p:cNvPr id="13" name="Image 12">
              <a:extLst>
                <a:ext uri="{FF2B5EF4-FFF2-40B4-BE49-F238E27FC236}">
                  <a16:creationId xmlns:a16="http://schemas.microsoft.com/office/drawing/2014/main" id="{AF952699-CC90-4013-9045-238BEFEDB7E2}"/>
                </a:ext>
              </a:extLst>
            </p:cNvPr>
            <p:cNvPicPr>
              <a:picLocks noChangeAspect="1"/>
            </p:cNvPicPr>
            <p:nvPr/>
          </p:nvPicPr>
          <p:blipFill>
            <a:blip r:embed="rId2"/>
            <a:stretch>
              <a:fillRect/>
            </a:stretch>
          </p:blipFill>
          <p:spPr>
            <a:xfrm>
              <a:off x="5321116" y="1704696"/>
              <a:ext cx="3731075" cy="2487384"/>
            </a:xfrm>
            <a:prstGeom prst="rect">
              <a:avLst/>
            </a:prstGeom>
          </p:spPr>
        </p:pic>
        <p:sp>
          <p:nvSpPr>
            <p:cNvPr id="15" name="Flèche : droite 14">
              <a:extLst>
                <a:ext uri="{FF2B5EF4-FFF2-40B4-BE49-F238E27FC236}">
                  <a16:creationId xmlns:a16="http://schemas.microsoft.com/office/drawing/2014/main" id="{C6BCD5D5-14AF-408D-A929-47C441272DF2}"/>
                </a:ext>
              </a:extLst>
            </p:cNvPr>
            <p:cNvSpPr/>
            <p:nvPr/>
          </p:nvSpPr>
          <p:spPr>
            <a:xfrm>
              <a:off x="4685289" y="2741111"/>
              <a:ext cx="357809" cy="2528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6" name="Rectangle 15">
              <a:extLst>
                <a:ext uri="{FF2B5EF4-FFF2-40B4-BE49-F238E27FC236}">
                  <a16:creationId xmlns:a16="http://schemas.microsoft.com/office/drawing/2014/main" id="{39DE25CF-A50A-4369-87B6-0783B6390677}"/>
                </a:ext>
              </a:extLst>
            </p:cNvPr>
            <p:cNvSpPr/>
            <p:nvPr/>
          </p:nvSpPr>
          <p:spPr>
            <a:xfrm>
              <a:off x="1900849" y="1623858"/>
              <a:ext cx="1978225"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Dataset initial avant split</a:t>
              </a:r>
            </a:p>
          </p:txBody>
        </p:sp>
        <p:sp>
          <p:nvSpPr>
            <p:cNvPr id="17" name="Rectangle 16">
              <a:extLst>
                <a:ext uri="{FF2B5EF4-FFF2-40B4-BE49-F238E27FC236}">
                  <a16:creationId xmlns:a16="http://schemas.microsoft.com/office/drawing/2014/main" id="{39EE509A-BA36-49EB-9231-F7209272F19E}"/>
                </a:ext>
              </a:extLst>
            </p:cNvPr>
            <p:cNvSpPr/>
            <p:nvPr/>
          </p:nvSpPr>
          <p:spPr>
            <a:xfrm>
              <a:off x="6357394" y="1623858"/>
              <a:ext cx="1978225" cy="21388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Dataset initial après split 80-20</a:t>
              </a:r>
            </a:p>
          </p:txBody>
        </p:sp>
      </p:grpSp>
    </p:spTree>
    <p:extLst>
      <p:ext uri="{BB962C8B-B14F-4D97-AF65-F5344CB8AC3E}">
        <p14:creationId xmlns:p14="http://schemas.microsoft.com/office/powerpoint/2010/main" val="1542925530"/>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167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validation croisée</a:t>
            </a:r>
          </a:p>
        </p:txBody>
      </p:sp>
      <p:sp>
        <p:nvSpPr>
          <p:cNvPr id="120" name="Content Placeholder 15">
            <a:extLst>
              <a:ext uri="{FF2B5EF4-FFF2-40B4-BE49-F238E27FC236}">
                <a16:creationId xmlns:a16="http://schemas.microsoft.com/office/drawing/2014/main" id="{895ECD5D-D4BF-4E00-9323-7697741FC5E7}"/>
              </a:ext>
            </a:extLst>
          </p:cNvPr>
          <p:cNvSpPr>
            <a:spLocks noGrp="1"/>
          </p:cNvSpPr>
          <p:nvPr>
            <p:ph sz="half" idx="13"/>
          </p:nvPr>
        </p:nvSpPr>
        <p:spPr>
          <a:xfrm>
            <a:off x="746911" y="1276187"/>
            <a:ext cx="5891400" cy="598824"/>
          </a:xfrm>
        </p:spPr>
        <p:txBody>
          <a:bodyPr>
            <a:noAutofit/>
          </a:bodyPr>
          <a:lstStyle/>
          <a:p>
            <a:pPr algn="just">
              <a:lnSpc>
                <a:spcPct val="100000"/>
              </a:lnSpc>
              <a:buClr>
                <a:schemeClr val="accent2"/>
              </a:buClr>
            </a:pPr>
            <a:r>
              <a:rPr lang="fr-FR" sz="1500" dirty="0"/>
              <a:t>La validation croisée permet d’évaluer le modèle plusieurs fois.</a:t>
            </a:r>
          </a:p>
          <a:p>
            <a:pPr algn="just">
              <a:lnSpc>
                <a:spcPct val="100000"/>
              </a:lnSpc>
              <a:buClr>
                <a:schemeClr val="accent2"/>
              </a:buClr>
            </a:pPr>
            <a:r>
              <a:rPr lang="fr-FR" sz="1500" dirty="0"/>
              <a:t>Il présente donc au modèle la totalité de l’échantillon.</a:t>
            </a:r>
          </a:p>
        </p:txBody>
      </p:sp>
      <p:grpSp>
        <p:nvGrpSpPr>
          <p:cNvPr id="2" name="Groupe 1">
            <a:extLst>
              <a:ext uri="{FF2B5EF4-FFF2-40B4-BE49-F238E27FC236}">
                <a16:creationId xmlns:a16="http://schemas.microsoft.com/office/drawing/2014/main" id="{9AFB88B3-0F0B-419B-BD00-CDF732DB0379}"/>
              </a:ext>
            </a:extLst>
          </p:cNvPr>
          <p:cNvGrpSpPr/>
          <p:nvPr/>
        </p:nvGrpSpPr>
        <p:grpSpPr>
          <a:xfrm>
            <a:off x="1378734" y="3252689"/>
            <a:ext cx="4900383" cy="1658842"/>
            <a:chOff x="2092754" y="3429000"/>
            <a:chExt cx="6533844" cy="2211789"/>
          </a:xfrm>
        </p:grpSpPr>
        <mc:AlternateContent xmlns:mc="http://schemas.openxmlformats.org/markup-compatibility/2006" xmlns:a14="http://schemas.microsoft.com/office/drawing/2010/main">
          <mc:Choice Requires="a14">
            <p:sp>
              <p:nvSpPr>
                <p:cNvPr id="24" name="ZoneTexte 23">
                  <a:extLst>
                    <a:ext uri="{FF2B5EF4-FFF2-40B4-BE49-F238E27FC236}">
                      <a16:creationId xmlns:a16="http://schemas.microsoft.com/office/drawing/2014/main" id="{12FBE200-F5AF-4674-AD01-1851401829FF}"/>
                    </a:ext>
                  </a:extLst>
                </p:cNvPr>
                <p:cNvSpPr txBox="1"/>
                <p:nvPr/>
              </p:nvSpPr>
              <p:spPr>
                <a:xfrm>
                  <a:off x="2092754" y="4777505"/>
                  <a:ext cx="1022311" cy="2847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788" i="1">
                            <a:latin typeface="Cambria Math" panose="02040503050406030204" pitchFamily="18" charset="0"/>
                          </a:rPr>
                          <m:t>𝑖𝑡</m:t>
                        </m:r>
                        <m:r>
                          <a:rPr lang="fr-FR" sz="788" i="1">
                            <a:latin typeface="Cambria Math" panose="02040503050406030204" pitchFamily="18" charset="0"/>
                          </a:rPr>
                          <m:t>é</m:t>
                        </m:r>
                        <m:r>
                          <a:rPr lang="fr-FR" sz="788" i="1">
                            <a:latin typeface="Cambria Math" panose="02040503050406030204" pitchFamily="18" charset="0"/>
                          </a:rPr>
                          <m:t>𝑟𝑎𝑡𝑖𝑜𝑛</m:t>
                        </m:r>
                        <m:r>
                          <a:rPr lang="fr-FR" sz="788" i="1">
                            <a:latin typeface="Cambria Math" panose="02040503050406030204" pitchFamily="18" charset="0"/>
                          </a:rPr>
                          <m:t> 1</m:t>
                        </m:r>
                      </m:oMath>
                    </m:oMathPara>
                  </a14:m>
                  <a:endParaRPr lang="fr-FR" sz="788" dirty="0"/>
                </a:p>
              </p:txBody>
            </p:sp>
          </mc:Choice>
          <mc:Fallback xmlns="">
            <p:sp>
              <p:nvSpPr>
                <p:cNvPr id="24" name="ZoneTexte 23">
                  <a:extLst>
                    <a:ext uri="{FF2B5EF4-FFF2-40B4-BE49-F238E27FC236}">
                      <a16:creationId xmlns:a16="http://schemas.microsoft.com/office/drawing/2014/main" id="{12FBE200-F5AF-4674-AD01-1851401829FF}"/>
                    </a:ext>
                  </a:extLst>
                </p:cNvPr>
                <p:cNvSpPr txBox="1">
                  <a:spLocks noRot="1" noChangeAspect="1" noMove="1" noResize="1" noEditPoints="1" noAdjustHandles="1" noChangeArrowheads="1" noChangeShapeType="1" noTextEdit="1"/>
                </p:cNvSpPr>
                <p:nvPr/>
              </p:nvSpPr>
              <p:spPr>
                <a:xfrm>
                  <a:off x="2092754" y="4777505"/>
                  <a:ext cx="1022311" cy="284780"/>
                </a:xfrm>
                <a:prstGeom prst="rect">
                  <a:avLst/>
                </a:prstGeom>
                <a:blipFill>
                  <a:blip r:embed="rId2"/>
                  <a:stretch>
                    <a:fillRect/>
                  </a:stretch>
                </a:blipFill>
              </p:spPr>
              <p:txBody>
                <a:bodyPr/>
                <a:lstStyle/>
                <a:p>
                  <a:r>
                    <a:rPr lang="fr-FR">
                      <a:noFill/>
                    </a:rPr>
                    <a:t> </a:t>
                  </a:r>
                </a:p>
              </p:txBody>
            </p:sp>
          </mc:Fallback>
        </mc:AlternateContent>
        <p:grpSp>
          <p:nvGrpSpPr>
            <p:cNvPr id="34" name="Groupe 33">
              <a:extLst>
                <a:ext uri="{FF2B5EF4-FFF2-40B4-BE49-F238E27FC236}">
                  <a16:creationId xmlns:a16="http://schemas.microsoft.com/office/drawing/2014/main" id="{99A0EF26-2562-4155-A2DD-D630544E9D63}"/>
                </a:ext>
              </a:extLst>
            </p:cNvPr>
            <p:cNvGrpSpPr/>
            <p:nvPr/>
          </p:nvGrpSpPr>
          <p:grpSpPr>
            <a:xfrm>
              <a:off x="5216177" y="3429000"/>
              <a:ext cx="1454400" cy="551265"/>
              <a:chOff x="6095999" y="4162038"/>
              <a:chExt cx="1454400" cy="551265"/>
            </a:xfrm>
          </p:grpSpPr>
          <p:sp>
            <p:nvSpPr>
              <p:cNvPr id="36" name="Rectangle 35">
                <a:extLst>
                  <a:ext uri="{FF2B5EF4-FFF2-40B4-BE49-F238E27FC236}">
                    <a16:creationId xmlns:a16="http://schemas.microsoft.com/office/drawing/2014/main" id="{D7BBA677-4007-4E3C-AB00-626BC09242A4}"/>
                  </a:ext>
                </a:extLst>
              </p:cNvPr>
              <p:cNvSpPr/>
              <p:nvPr/>
            </p:nvSpPr>
            <p:spPr>
              <a:xfrm>
                <a:off x="6096000" y="4162038"/>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Dataset d’origine</a:t>
                </a:r>
                <a:endParaRPr lang="fr-FR" sz="825" dirty="0">
                  <a:solidFill>
                    <a:schemeClr val="tx1">
                      <a:lumMod val="50000"/>
                    </a:schemeClr>
                  </a:solidFill>
                </a:endParaRPr>
              </a:p>
            </p:txBody>
          </p:sp>
          <p:sp>
            <p:nvSpPr>
              <p:cNvPr id="37" name="Rectangle 36">
                <a:extLst>
                  <a:ext uri="{FF2B5EF4-FFF2-40B4-BE49-F238E27FC236}">
                    <a16:creationId xmlns:a16="http://schemas.microsoft.com/office/drawing/2014/main" id="{43FD1B9F-FFFE-4652-9651-97D76B31AC30}"/>
                  </a:ext>
                </a:extLst>
              </p:cNvPr>
              <p:cNvSpPr/>
              <p:nvPr/>
            </p:nvSpPr>
            <p:spPr>
              <a:xfrm>
                <a:off x="6095999" y="4497303"/>
                <a:ext cx="1454400"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00" dirty="0">
                    <a:solidFill>
                      <a:schemeClr val="tx1">
                        <a:lumMod val="50000"/>
                      </a:schemeClr>
                    </a:solidFill>
                  </a:rPr>
                  <a:t>100 lignes, 10 colonnes</a:t>
                </a:r>
              </a:p>
            </p:txBody>
          </p:sp>
        </p:grpSp>
        <p:sp>
          <p:nvSpPr>
            <p:cNvPr id="48" name="Rectangle 47">
              <a:extLst>
                <a:ext uri="{FF2B5EF4-FFF2-40B4-BE49-F238E27FC236}">
                  <a16:creationId xmlns:a16="http://schemas.microsoft.com/office/drawing/2014/main" id="{BCB5D9E4-239D-4558-B391-797B38E6E61E}"/>
                </a:ext>
              </a:extLst>
            </p:cNvPr>
            <p:cNvSpPr/>
            <p:nvPr/>
          </p:nvSpPr>
          <p:spPr>
            <a:xfrm>
              <a:off x="5216178" y="4401672"/>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Pli 2</a:t>
              </a:r>
              <a:endParaRPr lang="fr-FR" sz="825" dirty="0">
                <a:solidFill>
                  <a:schemeClr val="tx1">
                    <a:lumMod val="50000"/>
                  </a:schemeClr>
                </a:solidFill>
              </a:endParaRPr>
            </a:p>
          </p:txBody>
        </p:sp>
        <p:sp>
          <p:nvSpPr>
            <p:cNvPr id="49" name="Rectangle 48">
              <a:extLst>
                <a:ext uri="{FF2B5EF4-FFF2-40B4-BE49-F238E27FC236}">
                  <a16:creationId xmlns:a16="http://schemas.microsoft.com/office/drawing/2014/main" id="{4DAD99D8-0774-4D4B-9B84-69732F72CDAF}"/>
                </a:ext>
              </a:extLst>
            </p:cNvPr>
            <p:cNvSpPr/>
            <p:nvPr/>
          </p:nvSpPr>
          <p:spPr>
            <a:xfrm>
              <a:off x="5216177" y="4796463"/>
              <a:ext cx="1454400" cy="216000"/>
            </a:xfrm>
            <a:prstGeom prst="rect">
              <a:avLst/>
            </a:prstGeom>
            <a:solidFill>
              <a:srgbClr val="ED7862"/>
            </a:solidFill>
            <a:ln>
              <a:solidFill>
                <a:srgbClr val="ED786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TRAIN : 40 lignes</a:t>
              </a:r>
            </a:p>
          </p:txBody>
        </p:sp>
        <p:sp>
          <p:nvSpPr>
            <p:cNvPr id="51" name="Rectangle 50">
              <a:extLst>
                <a:ext uri="{FF2B5EF4-FFF2-40B4-BE49-F238E27FC236}">
                  <a16:creationId xmlns:a16="http://schemas.microsoft.com/office/drawing/2014/main" id="{90C803E7-C19B-4ED0-8AE2-77235FCF1C2A}"/>
                </a:ext>
              </a:extLst>
            </p:cNvPr>
            <p:cNvSpPr/>
            <p:nvPr/>
          </p:nvSpPr>
          <p:spPr>
            <a:xfrm>
              <a:off x="3260157" y="4397588"/>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Pli 1</a:t>
              </a:r>
              <a:endParaRPr lang="fr-FR" sz="825" dirty="0">
                <a:solidFill>
                  <a:schemeClr val="tx1">
                    <a:lumMod val="50000"/>
                  </a:schemeClr>
                </a:solidFill>
              </a:endParaRPr>
            </a:p>
          </p:txBody>
        </p:sp>
        <p:sp>
          <p:nvSpPr>
            <p:cNvPr id="52" name="Rectangle 51">
              <a:extLst>
                <a:ext uri="{FF2B5EF4-FFF2-40B4-BE49-F238E27FC236}">
                  <a16:creationId xmlns:a16="http://schemas.microsoft.com/office/drawing/2014/main" id="{CE1E9BA4-B224-4A18-A3C1-234606AC07BF}"/>
                </a:ext>
              </a:extLst>
            </p:cNvPr>
            <p:cNvSpPr/>
            <p:nvPr/>
          </p:nvSpPr>
          <p:spPr>
            <a:xfrm>
              <a:off x="3260156" y="4796463"/>
              <a:ext cx="1454400" cy="216000"/>
            </a:xfrm>
            <a:prstGeom prst="rect">
              <a:avLst/>
            </a:prstGeom>
            <a:solidFill>
              <a:srgbClr val="ED7862"/>
            </a:solidFill>
            <a:ln>
              <a:solidFill>
                <a:srgbClr val="ED786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TRAIN : 40 lignes</a:t>
              </a:r>
            </a:p>
          </p:txBody>
        </p:sp>
        <p:sp>
          <p:nvSpPr>
            <p:cNvPr id="54" name="Rectangle 53">
              <a:extLst>
                <a:ext uri="{FF2B5EF4-FFF2-40B4-BE49-F238E27FC236}">
                  <a16:creationId xmlns:a16="http://schemas.microsoft.com/office/drawing/2014/main" id="{C1630D10-7F74-4025-92DF-E06F824C2B44}"/>
                </a:ext>
              </a:extLst>
            </p:cNvPr>
            <p:cNvSpPr/>
            <p:nvPr/>
          </p:nvSpPr>
          <p:spPr>
            <a:xfrm>
              <a:off x="7172199" y="4389080"/>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Pli 3</a:t>
              </a:r>
              <a:endParaRPr lang="fr-FR" sz="825" dirty="0">
                <a:solidFill>
                  <a:schemeClr val="tx1">
                    <a:lumMod val="50000"/>
                  </a:schemeClr>
                </a:solidFill>
              </a:endParaRPr>
            </a:p>
          </p:txBody>
        </p:sp>
        <p:sp>
          <p:nvSpPr>
            <p:cNvPr id="55" name="Rectangle 54">
              <a:extLst>
                <a:ext uri="{FF2B5EF4-FFF2-40B4-BE49-F238E27FC236}">
                  <a16:creationId xmlns:a16="http://schemas.microsoft.com/office/drawing/2014/main" id="{1CAF4811-8D50-4D07-AC85-83F7E7934205}"/>
                </a:ext>
              </a:extLst>
            </p:cNvPr>
            <p:cNvSpPr/>
            <p:nvPr/>
          </p:nvSpPr>
          <p:spPr>
            <a:xfrm>
              <a:off x="7172198" y="4801897"/>
              <a:ext cx="1454400" cy="216000"/>
            </a:xfrm>
            <a:prstGeom prst="rect">
              <a:avLst/>
            </a:prstGeom>
            <a:solidFill>
              <a:srgbClr val="098F8D"/>
            </a:solidFill>
            <a:ln>
              <a:solidFill>
                <a:srgbClr val="098F8D"/>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TEST : 20 lignes</a:t>
              </a:r>
            </a:p>
          </p:txBody>
        </p:sp>
        <p:sp>
          <p:nvSpPr>
            <p:cNvPr id="56" name="Rectangle 55">
              <a:extLst>
                <a:ext uri="{FF2B5EF4-FFF2-40B4-BE49-F238E27FC236}">
                  <a16:creationId xmlns:a16="http://schemas.microsoft.com/office/drawing/2014/main" id="{07114963-630A-4FBE-BF38-658325224BC2}"/>
                </a:ext>
              </a:extLst>
            </p:cNvPr>
            <p:cNvSpPr/>
            <p:nvPr/>
          </p:nvSpPr>
          <p:spPr>
            <a:xfrm>
              <a:off x="5216177" y="5084797"/>
              <a:ext cx="1454400" cy="216000"/>
            </a:xfrm>
            <a:prstGeom prst="rect">
              <a:avLst/>
            </a:prstGeom>
            <a:solidFill>
              <a:srgbClr val="ED7862"/>
            </a:solidFill>
            <a:ln>
              <a:solidFill>
                <a:srgbClr val="ED786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TRAIN : 40 lignes</a:t>
              </a:r>
            </a:p>
          </p:txBody>
        </p:sp>
        <p:sp>
          <p:nvSpPr>
            <p:cNvPr id="57" name="Rectangle 56">
              <a:extLst>
                <a:ext uri="{FF2B5EF4-FFF2-40B4-BE49-F238E27FC236}">
                  <a16:creationId xmlns:a16="http://schemas.microsoft.com/office/drawing/2014/main" id="{D7C173EE-BECB-4023-8986-A2BEF1BBEA7E}"/>
                </a:ext>
              </a:extLst>
            </p:cNvPr>
            <p:cNvSpPr/>
            <p:nvPr/>
          </p:nvSpPr>
          <p:spPr>
            <a:xfrm>
              <a:off x="3260156" y="5084797"/>
              <a:ext cx="1454400" cy="216000"/>
            </a:xfrm>
            <a:prstGeom prst="rect">
              <a:avLst/>
            </a:prstGeom>
            <a:solidFill>
              <a:srgbClr val="098F8D"/>
            </a:solidFill>
            <a:ln>
              <a:solidFill>
                <a:srgbClr val="098F8D"/>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TEST : 20 lignes</a:t>
              </a:r>
            </a:p>
          </p:txBody>
        </p:sp>
        <p:sp>
          <p:nvSpPr>
            <p:cNvPr id="58" name="Rectangle 57">
              <a:extLst>
                <a:ext uri="{FF2B5EF4-FFF2-40B4-BE49-F238E27FC236}">
                  <a16:creationId xmlns:a16="http://schemas.microsoft.com/office/drawing/2014/main" id="{91EC8336-22F2-471A-84A3-F4C523034F1B}"/>
                </a:ext>
              </a:extLst>
            </p:cNvPr>
            <p:cNvSpPr/>
            <p:nvPr/>
          </p:nvSpPr>
          <p:spPr>
            <a:xfrm>
              <a:off x="7172198" y="5090231"/>
              <a:ext cx="1454400" cy="216000"/>
            </a:xfrm>
            <a:prstGeom prst="rect">
              <a:avLst/>
            </a:prstGeom>
            <a:solidFill>
              <a:srgbClr val="ED7862"/>
            </a:solidFill>
            <a:ln>
              <a:solidFill>
                <a:srgbClr val="ED786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TRAIN : 40 lignes</a:t>
              </a:r>
            </a:p>
          </p:txBody>
        </p:sp>
        <p:sp>
          <p:nvSpPr>
            <p:cNvPr id="59" name="Rectangle 58">
              <a:extLst>
                <a:ext uri="{FF2B5EF4-FFF2-40B4-BE49-F238E27FC236}">
                  <a16:creationId xmlns:a16="http://schemas.microsoft.com/office/drawing/2014/main" id="{2C780967-87AE-4330-AE34-076DC18E42DD}"/>
                </a:ext>
              </a:extLst>
            </p:cNvPr>
            <p:cNvSpPr/>
            <p:nvPr/>
          </p:nvSpPr>
          <p:spPr>
            <a:xfrm>
              <a:off x="5216177" y="5361428"/>
              <a:ext cx="1454400" cy="216000"/>
            </a:xfrm>
            <a:prstGeom prst="rect">
              <a:avLst/>
            </a:prstGeom>
            <a:solidFill>
              <a:srgbClr val="098F8D"/>
            </a:solidFill>
            <a:ln>
              <a:solidFill>
                <a:srgbClr val="098F8D"/>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TEST : 20 lignes</a:t>
              </a:r>
            </a:p>
          </p:txBody>
        </p:sp>
        <p:sp>
          <p:nvSpPr>
            <p:cNvPr id="60" name="Rectangle 59">
              <a:extLst>
                <a:ext uri="{FF2B5EF4-FFF2-40B4-BE49-F238E27FC236}">
                  <a16:creationId xmlns:a16="http://schemas.microsoft.com/office/drawing/2014/main" id="{3BFB2D99-A104-47DB-9480-BA8A3994B150}"/>
                </a:ext>
              </a:extLst>
            </p:cNvPr>
            <p:cNvSpPr/>
            <p:nvPr/>
          </p:nvSpPr>
          <p:spPr>
            <a:xfrm>
              <a:off x="3260156" y="5361428"/>
              <a:ext cx="1454400" cy="216000"/>
            </a:xfrm>
            <a:prstGeom prst="rect">
              <a:avLst/>
            </a:prstGeom>
            <a:solidFill>
              <a:srgbClr val="ED7862"/>
            </a:solidFill>
            <a:ln>
              <a:solidFill>
                <a:srgbClr val="ED786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TRAIN : 40 lignes</a:t>
              </a:r>
            </a:p>
          </p:txBody>
        </p:sp>
        <p:sp>
          <p:nvSpPr>
            <p:cNvPr id="61" name="Rectangle 60">
              <a:extLst>
                <a:ext uri="{FF2B5EF4-FFF2-40B4-BE49-F238E27FC236}">
                  <a16:creationId xmlns:a16="http://schemas.microsoft.com/office/drawing/2014/main" id="{C9A51616-882D-49BD-8FA7-53E8DDDA2752}"/>
                </a:ext>
              </a:extLst>
            </p:cNvPr>
            <p:cNvSpPr/>
            <p:nvPr/>
          </p:nvSpPr>
          <p:spPr>
            <a:xfrm>
              <a:off x="7172198" y="5366862"/>
              <a:ext cx="1454400" cy="216000"/>
            </a:xfrm>
            <a:prstGeom prst="rect">
              <a:avLst/>
            </a:prstGeom>
            <a:solidFill>
              <a:srgbClr val="ED7862"/>
            </a:solidFill>
            <a:ln>
              <a:solidFill>
                <a:srgbClr val="ED786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TRAIN : 40 lignes</a:t>
              </a:r>
            </a:p>
          </p:txBody>
        </p:sp>
        <mc:AlternateContent xmlns:mc="http://schemas.openxmlformats.org/markup-compatibility/2006" xmlns:a14="http://schemas.microsoft.com/office/drawing/2010/main">
          <mc:Choice Requires="a14">
            <p:sp>
              <p:nvSpPr>
                <p:cNvPr id="62" name="ZoneTexte 61">
                  <a:extLst>
                    <a:ext uri="{FF2B5EF4-FFF2-40B4-BE49-F238E27FC236}">
                      <a16:creationId xmlns:a16="http://schemas.microsoft.com/office/drawing/2014/main" id="{A9E6C613-4FB5-4471-A493-1A482617E7E7}"/>
                    </a:ext>
                  </a:extLst>
                </p:cNvPr>
                <p:cNvSpPr txBox="1"/>
                <p:nvPr/>
              </p:nvSpPr>
              <p:spPr>
                <a:xfrm>
                  <a:off x="2092754" y="5066757"/>
                  <a:ext cx="1022311" cy="2847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788" i="1">
                            <a:latin typeface="Cambria Math" panose="02040503050406030204" pitchFamily="18" charset="0"/>
                          </a:rPr>
                          <m:t>𝑖𝑡</m:t>
                        </m:r>
                        <m:r>
                          <a:rPr lang="fr-FR" sz="788" i="1">
                            <a:latin typeface="Cambria Math" panose="02040503050406030204" pitchFamily="18" charset="0"/>
                          </a:rPr>
                          <m:t>é</m:t>
                        </m:r>
                        <m:r>
                          <a:rPr lang="fr-FR" sz="788" i="1">
                            <a:latin typeface="Cambria Math" panose="02040503050406030204" pitchFamily="18" charset="0"/>
                          </a:rPr>
                          <m:t>𝑟𝑎𝑡𝑖𝑜𝑛</m:t>
                        </m:r>
                        <m:r>
                          <a:rPr lang="fr-FR" sz="788" i="1">
                            <a:latin typeface="Cambria Math" panose="02040503050406030204" pitchFamily="18" charset="0"/>
                          </a:rPr>
                          <m:t> 2</m:t>
                        </m:r>
                      </m:oMath>
                    </m:oMathPara>
                  </a14:m>
                  <a:endParaRPr lang="fr-FR" sz="788" dirty="0"/>
                </a:p>
              </p:txBody>
            </p:sp>
          </mc:Choice>
          <mc:Fallback xmlns="">
            <p:sp>
              <p:nvSpPr>
                <p:cNvPr id="62" name="ZoneTexte 61">
                  <a:extLst>
                    <a:ext uri="{FF2B5EF4-FFF2-40B4-BE49-F238E27FC236}">
                      <a16:creationId xmlns:a16="http://schemas.microsoft.com/office/drawing/2014/main" id="{A9E6C613-4FB5-4471-A493-1A482617E7E7}"/>
                    </a:ext>
                  </a:extLst>
                </p:cNvPr>
                <p:cNvSpPr txBox="1">
                  <a:spLocks noRot="1" noChangeAspect="1" noMove="1" noResize="1" noEditPoints="1" noAdjustHandles="1" noChangeArrowheads="1" noChangeShapeType="1" noTextEdit="1"/>
                </p:cNvSpPr>
                <p:nvPr/>
              </p:nvSpPr>
              <p:spPr>
                <a:xfrm>
                  <a:off x="2092754" y="5066757"/>
                  <a:ext cx="1022311" cy="284780"/>
                </a:xfrm>
                <a:prstGeom prst="rect">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3" name="ZoneTexte 62">
                  <a:extLst>
                    <a:ext uri="{FF2B5EF4-FFF2-40B4-BE49-F238E27FC236}">
                      <a16:creationId xmlns:a16="http://schemas.microsoft.com/office/drawing/2014/main" id="{1565E7BB-1168-442B-A807-E5B451A6D186}"/>
                    </a:ext>
                  </a:extLst>
                </p:cNvPr>
                <p:cNvSpPr txBox="1"/>
                <p:nvPr/>
              </p:nvSpPr>
              <p:spPr>
                <a:xfrm>
                  <a:off x="2190138" y="5356009"/>
                  <a:ext cx="1022311" cy="284780"/>
                </a:xfrm>
                <a:prstGeom prst="rect">
                  <a:avLst/>
                </a:prstGeom>
                <a:noFill/>
              </p:spPr>
              <p:txBody>
                <a:bodyPr wrap="square" rtlCol="0">
                  <a:spAutoFit/>
                </a:bodyPr>
                <a:lstStyle/>
                <a:p>
                  <a14:m>
                    <m:oMath xmlns:m="http://schemas.openxmlformats.org/officeDocument/2006/math">
                      <m:r>
                        <a:rPr lang="fr-FR" sz="788" i="1">
                          <a:latin typeface="Cambria Math" panose="02040503050406030204" pitchFamily="18" charset="0"/>
                        </a:rPr>
                        <m:t>𝑖𝑡</m:t>
                      </m:r>
                      <m:r>
                        <a:rPr lang="fr-FR" sz="788" i="1">
                          <a:latin typeface="Cambria Math" panose="02040503050406030204" pitchFamily="18" charset="0"/>
                        </a:rPr>
                        <m:t>é</m:t>
                      </m:r>
                      <m:r>
                        <a:rPr lang="fr-FR" sz="788" i="1">
                          <a:latin typeface="Cambria Math" panose="02040503050406030204" pitchFamily="18" charset="0"/>
                        </a:rPr>
                        <m:t>𝑟𝑎𝑡𝑖𝑜𝑛</m:t>
                      </m:r>
                      <m:r>
                        <a:rPr lang="fr-FR" sz="788" i="1">
                          <a:latin typeface="Cambria Math" panose="02040503050406030204" pitchFamily="18" charset="0"/>
                        </a:rPr>
                        <m:t> </m:t>
                      </m:r>
                    </m:oMath>
                  </a14:m>
                  <a:r>
                    <a:rPr lang="fr-FR" sz="788" dirty="0"/>
                    <a:t>3</a:t>
                  </a:r>
                </a:p>
              </p:txBody>
            </p:sp>
          </mc:Choice>
          <mc:Fallback xmlns="">
            <p:sp>
              <p:nvSpPr>
                <p:cNvPr id="63" name="ZoneTexte 62">
                  <a:extLst>
                    <a:ext uri="{FF2B5EF4-FFF2-40B4-BE49-F238E27FC236}">
                      <a16:creationId xmlns:a16="http://schemas.microsoft.com/office/drawing/2014/main" id="{1565E7BB-1168-442B-A807-E5B451A6D186}"/>
                    </a:ext>
                  </a:extLst>
                </p:cNvPr>
                <p:cNvSpPr txBox="1">
                  <a:spLocks noRot="1" noChangeAspect="1" noMove="1" noResize="1" noEditPoints="1" noAdjustHandles="1" noChangeArrowheads="1" noChangeShapeType="1" noTextEdit="1"/>
                </p:cNvSpPr>
                <p:nvPr/>
              </p:nvSpPr>
              <p:spPr>
                <a:xfrm>
                  <a:off x="2190138" y="5356009"/>
                  <a:ext cx="1022311" cy="284780"/>
                </a:xfrm>
                <a:prstGeom prst="rect">
                  <a:avLst/>
                </a:prstGeom>
                <a:blipFill>
                  <a:blip r:embed="rId4"/>
                  <a:stretch>
                    <a:fillRect b="-2857"/>
                  </a:stretch>
                </a:blipFill>
              </p:spPr>
              <p:txBody>
                <a:bodyPr/>
                <a:lstStyle/>
                <a:p>
                  <a:r>
                    <a:rPr lang="fr-FR">
                      <a:noFill/>
                    </a:rPr>
                    <a:t> </a:t>
                  </a:r>
                </a:p>
              </p:txBody>
            </p:sp>
          </mc:Fallback>
        </mc:AlternateContent>
        <p:sp>
          <p:nvSpPr>
            <p:cNvPr id="66" name="Flèche : droite 65">
              <a:extLst>
                <a:ext uri="{FF2B5EF4-FFF2-40B4-BE49-F238E27FC236}">
                  <a16:creationId xmlns:a16="http://schemas.microsoft.com/office/drawing/2014/main" id="{9C4231C7-1612-4977-9223-B64022D24A2A}"/>
                </a:ext>
              </a:extLst>
            </p:cNvPr>
            <p:cNvSpPr/>
            <p:nvPr/>
          </p:nvSpPr>
          <p:spPr>
            <a:xfrm rot="5400000">
              <a:off x="5855789" y="4067369"/>
              <a:ext cx="227740" cy="252681"/>
            </a:xfrm>
            <a:prstGeom prst="rightArrow">
              <a:avLst/>
            </a:prstGeom>
            <a:solidFill>
              <a:srgbClr val="C9C9C8"/>
            </a:solidFill>
            <a:ln>
              <a:solidFill>
                <a:srgbClr val="C9C9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
        <p:nvSpPr>
          <p:cNvPr id="68" name="Content Placeholder 15">
            <a:extLst>
              <a:ext uri="{FF2B5EF4-FFF2-40B4-BE49-F238E27FC236}">
                <a16:creationId xmlns:a16="http://schemas.microsoft.com/office/drawing/2014/main" id="{CBAF475B-ED73-4EEC-83CF-A7B5826CBCAD}"/>
              </a:ext>
            </a:extLst>
          </p:cNvPr>
          <p:cNvSpPr txBox="1">
            <a:spLocks/>
          </p:cNvSpPr>
          <p:nvPr/>
        </p:nvSpPr>
        <p:spPr>
          <a:xfrm>
            <a:off x="746911" y="2036457"/>
            <a:ext cx="5891400" cy="1124186"/>
          </a:xfrm>
          <a:prstGeom prst="rect">
            <a:avLst/>
          </a:prstGeom>
        </p:spPr>
        <p:txBody>
          <a:bodyPr>
            <a:noAutofit/>
          </a:bodyPr>
          <a:lstStyle>
            <a:lvl1pPr marL="228600" indent="-228600" algn="l" defTabSz="914400" rtl="0" eaLnBrk="1" latinLnBrk="0" hangingPunct="1">
              <a:lnSpc>
                <a:spcPct val="90000"/>
              </a:lnSpc>
              <a:spcBef>
                <a:spcPts val="1000"/>
              </a:spcBef>
              <a:buClr>
                <a:srgbClr val="2E7A40"/>
              </a:buClr>
              <a:buFont typeface="Arial" panose="020B0604020202020204" pitchFamily="34" charset="0"/>
              <a:buChar char="•"/>
              <a:defRPr lang="en-US" sz="2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2E7A40"/>
              </a:buClr>
              <a:buFont typeface="Arial" panose="020B0604020202020204" pitchFamily="34" charset="0"/>
              <a:buChar char="•"/>
              <a:defRPr lang="en-US" sz="20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2E7A40"/>
              </a:buClr>
              <a:buFont typeface="Arial" panose="020B0604020202020204" pitchFamily="34" charset="0"/>
              <a:buChar char="•"/>
              <a:defRPr lang="en-US" sz="18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2E7A40"/>
              </a:buClr>
              <a:buFont typeface="Arial" panose="020B0604020202020204" pitchFamily="34" charset="0"/>
              <a:buChar char="•"/>
              <a:defRPr lang="en-US" sz="160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2E7A40"/>
              </a:buClr>
              <a:buFont typeface="Arial" panose="020B0604020202020204" pitchFamily="34" charset="0"/>
              <a:buChar char="•"/>
              <a:defRPr lang="en-IN" sz="16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7175" indent="-257175" algn="just">
              <a:lnSpc>
                <a:spcPct val="100000"/>
              </a:lnSpc>
              <a:buClr>
                <a:schemeClr val="accent2"/>
              </a:buClr>
              <a:buFont typeface="+mj-lt"/>
              <a:buAutoNum type="arabicPeriod"/>
            </a:pPr>
            <a:r>
              <a:rPr lang="fr-FR" sz="1350" dirty="0"/>
              <a:t>A partir du dataset initial on définit 3 plis (folds). Ici 𝑘=3.</a:t>
            </a:r>
          </a:p>
          <a:p>
            <a:pPr marL="257175" indent="-257175" algn="just">
              <a:lnSpc>
                <a:spcPct val="100000"/>
              </a:lnSpc>
              <a:buClr>
                <a:schemeClr val="accent2"/>
              </a:buClr>
              <a:buFont typeface="+mj-lt"/>
              <a:buAutoNum type="arabicPeriod"/>
            </a:pPr>
            <a:r>
              <a:rPr lang="fr-FR" sz="1350" dirty="0"/>
              <a:t>Chaque pli contient un ensemble d’entrainement et un ensemble de test.</a:t>
            </a:r>
          </a:p>
          <a:p>
            <a:pPr marL="257175" indent="-257175" algn="just">
              <a:lnSpc>
                <a:spcPct val="100000"/>
              </a:lnSpc>
              <a:buClr>
                <a:schemeClr val="accent2"/>
              </a:buClr>
              <a:buFont typeface="+mj-lt"/>
              <a:buAutoNum type="arabicPeriod"/>
            </a:pPr>
            <a:r>
              <a:rPr lang="fr-FR" sz="1350" dirty="0"/>
              <a:t>3 plis impliquent donc 3 itérations et donc 3 modèles évalués.</a:t>
            </a:r>
          </a:p>
        </p:txBody>
      </p:sp>
    </p:spTree>
    <p:extLst>
      <p:ext uri="{BB962C8B-B14F-4D97-AF65-F5344CB8AC3E}">
        <p14:creationId xmlns:p14="http://schemas.microsoft.com/office/powerpoint/2010/main" val="93312374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168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validation croisée</a:t>
            </a:r>
          </a:p>
        </p:txBody>
      </p:sp>
      <p:grpSp>
        <p:nvGrpSpPr>
          <p:cNvPr id="28" name="Groupe 27">
            <a:extLst>
              <a:ext uri="{FF2B5EF4-FFF2-40B4-BE49-F238E27FC236}">
                <a16:creationId xmlns:a16="http://schemas.microsoft.com/office/drawing/2014/main" id="{6FA013C2-385A-429F-83AD-316D78EBB2BB}"/>
              </a:ext>
            </a:extLst>
          </p:cNvPr>
          <p:cNvGrpSpPr/>
          <p:nvPr/>
        </p:nvGrpSpPr>
        <p:grpSpPr>
          <a:xfrm>
            <a:off x="192739" y="3155501"/>
            <a:ext cx="2762255" cy="1816549"/>
            <a:chOff x="5889812" y="1874838"/>
            <a:chExt cx="5257800" cy="3009900"/>
          </a:xfrm>
        </p:grpSpPr>
        <p:pic>
          <p:nvPicPr>
            <p:cNvPr id="29" name="Image 28">
              <a:extLst>
                <a:ext uri="{FF2B5EF4-FFF2-40B4-BE49-F238E27FC236}">
                  <a16:creationId xmlns:a16="http://schemas.microsoft.com/office/drawing/2014/main" id="{2DB5657E-0BF1-4F02-A5F0-1B10D1DE8409}"/>
                </a:ext>
              </a:extLst>
            </p:cNvPr>
            <p:cNvPicPr>
              <a:picLocks noChangeAspect="1"/>
            </p:cNvPicPr>
            <p:nvPr/>
          </p:nvPicPr>
          <p:blipFill rotWithShape="1">
            <a:blip r:embed="rId2">
              <a:extLst>
                <a:ext uri="{28A0092B-C50C-407E-A947-70E740481C1C}">
                  <a14:useLocalDpi xmlns:a14="http://schemas.microsoft.com/office/drawing/2010/main" val="0"/>
                </a:ext>
              </a:extLst>
            </a:blip>
            <a:srcRect t="4143" r="16779" b="55611"/>
            <a:stretch/>
          </p:blipFill>
          <p:spPr>
            <a:xfrm>
              <a:off x="6096000" y="1874838"/>
              <a:ext cx="4724413" cy="3009900"/>
            </a:xfrm>
            <a:prstGeom prst="rect">
              <a:avLst/>
            </a:prstGeom>
          </p:spPr>
        </p:pic>
        <p:sp>
          <p:nvSpPr>
            <p:cNvPr id="30" name="Rectangle 29">
              <a:extLst>
                <a:ext uri="{FF2B5EF4-FFF2-40B4-BE49-F238E27FC236}">
                  <a16:creationId xmlns:a16="http://schemas.microsoft.com/office/drawing/2014/main" id="{223AE4BF-D200-4D27-931C-0E0291148209}"/>
                </a:ext>
              </a:extLst>
            </p:cNvPr>
            <p:cNvSpPr/>
            <p:nvPr/>
          </p:nvSpPr>
          <p:spPr>
            <a:xfrm>
              <a:off x="5889812" y="2197100"/>
              <a:ext cx="5257800" cy="812800"/>
            </a:xfrm>
            <a:prstGeom prst="rect">
              <a:avLst/>
            </a:prstGeom>
            <a:solidFill>
              <a:srgbClr val="ED7862">
                <a:alpha val="32000"/>
              </a:srgbClr>
            </a:solidFill>
            <a:ln>
              <a:solidFill>
                <a:srgbClr val="ED78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1" name="Rectangle 30">
              <a:extLst>
                <a:ext uri="{FF2B5EF4-FFF2-40B4-BE49-F238E27FC236}">
                  <a16:creationId xmlns:a16="http://schemas.microsoft.com/office/drawing/2014/main" id="{EEBC81E4-2EF7-4E12-BCA7-91045CA370EA}"/>
                </a:ext>
              </a:extLst>
            </p:cNvPr>
            <p:cNvSpPr/>
            <p:nvPr/>
          </p:nvSpPr>
          <p:spPr>
            <a:xfrm>
              <a:off x="5889812" y="4012119"/>
              <a:ext cx="5257800" cy="812800"/>
            </a:xfrm>
            <a:prstGeom prst="rect">
              <a:avLst/>
            </a:prstGeom>
            <a:solidFill>
              <a:srgbClr val="098F8D">
                <a:alpha val="32000"/>
              </a:srgbClr>
            </a:solidFill>
            <a:ln>
              <a:solidFill>
                <a:srgbClr val="098F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2" name="Rectangle 31">
              <a:extLst>
                <a:ext uri="{FF2B5EF4-FFF2-40B4-BE49-F238E27FC236}">
                  <a16:creationId xmlns:a16="http://schemas.microsoft.com/office/drawing/2014/main" id="{717972F9-99B1-4F78-9809-E2F7352E98BD}"/>
                </a:ext>
              </a:extLst>
            </p:cNvPr>
            <p:cNvSpPr/>
            <p:nvPr/>
          </p:nvSpPr>
          <p:spPr>
            <a:xfrm>
              <a:off x="5889812" y="3076012"/>
              <a:ext cx="5257800" cy="812800"/>
            </a:xfrm>
            <a:prstGeom prst="rect">
              <a:avLst/>
            </a:prstGeom>
            <a:solidFill>
              <a:srgbClr val="ED7862">
                <a:alpha val="32000"/>
              </a:srgbClr>
            </a:solidFill>
            <a:ln>
              <a:solidFill>
                <a:srgbClr val="ED78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grpSp>
        <p:nvGrpSpPr>
          <p:cNvPr id="33" name="Groupe 32">
            <a:extLst>
              <a:ext uri="{FF2B5EF4-FFF2-40B4-BE49-F238E27FC236}">
                <a16:creationId xmlns:a16="http://schemas.microsoft.com/office/drawing/2014/main" id="{FF4F7B0B-6612-454A-842B-CC7EE845DAD6}"/>
              </a:ext>
            </a:extLst>
          </p:cNvPr>
          <p:cNvGrpSpPr/>
          <p:nvPr/>
        </p:nvGrpSpPr>
        <p:grpSpPr>
          <a:xfrm>
            <a:off x="3063317" y="3144471"/>
            <a:ext cx="2762255" cy="1816549"/>
            <a:chOff x="5889812" y="1874838"/>
            <a:chExt cx="5257800" cy="3009900"/>
          </a:xfrm>
        </p:grpSpPr>
        <p:pic>
          <p:nvPicPr>
            <p:cNvPr id="35" name="Image 34">
              <a:extLst>
                <a:ext uri="{FF2B5EF4-FFF2-40B4-BE49-F238E27FC236}">
                  <a16:creationId xmlns:a16="http://schemas.microsoft.com/office/drawing/2014/main" id="{5AB44E04-C292-4295-88E3-0410AE14EBD3}"/>
                </a:ext>
              </a:extLst>
            </p:cNvPr>
            <p:cNvPicPr>
              <a:picLocks noChangeAspect="1"/>
            </p:cNvPicPr>
            <p:nvPr/>
          </p:nvPicPr>
          <p:blipFill rotWithShape="1">
            <a:blip r:embed="rId2">
              <a:extLst>
                <a:ext uri="{28A0092B-C50C-407E-A947-70E740481C1C}">
                  <a14:useLocalDpi xmlns:a14="http://schemas.microsoft.com/office/drawing/2010/main" val="0"/>
                </a:ext>
              </a:extLst>
            </a:blip>
            <a:srcRect t="4143" r="16779" b="55611"/>
            <a:stretch/>
          </p:blipFill>
          <p:spPr>
            <a:xfrm>
              <a:off x="6096000" y="1874838"/>
              <a:ext cx="4724413" cy="3009900"/>
            </a:xfrm>
            <a:prstGeom prst="rect">
              <a:avLst/>
            </a:prstGeom>
          </p:spPr>
        </p:pic>
        <p:sp>
          <p:nvSpPr>
            <p:cNvPr id="38" name="Rectangle 37">
              <a:extLst>
                <a:ext uri="{FF2B5EF4-FFF2-40B4-BE49-F238E27FC236}">
                  <a16:creationId xmlns:a16="http://schemas.microsoft.com/office/drawing/2014/main" id="{FFE040ED-4FD9-401B-855F-283B5A89399E}"/>
                </a:ext>
              </a:extLst>
            </p:cNvPr>
            <p:cNvSpPr/>
            <p:nvPr/>
          </p:nvSpPr>
          <p:spPr>
            <a:xfrm>
              <a:off x="5889812" y="4030395"/>
              <a:ext cx="5257800" cy="812800"/>
            </a:xfrm>
            <a:prstGeom prst="rect">
              <a:avLst/>
            </a:prstGeom>
            <a:solidFill>
              <a:srgbClr val="ED7862">
                <a:alpha val="32000"/>
              </a:srgbClr>
            </a:solidFill>
            <a:ln>
              <a:solidFill>
                <a:srgbClr val="ED78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9" name="Rectangle 38">
              <a:extLst>
                <a:ext uri="{FF2B5EF4-FFF2-40B4-BE49-F238E27FC236}">
                  <a16:creationId xmlns:a16="http://schemas.microsoft.com/office/drawing/2014/main" id="{CDAF92D9-05B9-4EB6-871F-850DEC068620}"/>
                </a:ext>
              </a:extLst>
            </p:cNvPr>
            <p:cNvSpPr/>
            <p:nvPr/>
          </p:nvSpPr>
          <p:spPr>
            <a:xfrm>
              <a:off x="5889812" y="2215376"/>
              <a:ext cx="5257800" cy="812800"/>
            </a:xfrm>
            <a:prstGeom prst="rect">
              <a:avLst/>
            </a:prstGeom>
            <a:solidFill>
              <a:srgbClr val="098F8D">
                <a:alpha val="32000"/>
              </a:srgbClr>
            </a:solidFill>
            <a:ln>
              <a:solidFill>
                <a:srgbClr val="098F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0" name="Rectangle 39">
              <a:extLst>
                <a:ext uri="{FF2B5EF4-FFF2-40B4-BE49-F238E27FC236}">
                  <a16:creationId xmlns:a16="http://schemas.microsoft.com/office/drawing/2014/main" id="{2011B72B-658B-40F0-9C41-0A8723F79FEF}"/>
                </a:ext>
              </a:extLst>
            </p:cNvPr>
            <p:cNvSpPr/>
            <p:nvPr/>
          </p:nvSpPr>
          <p:spPr>
            <a:xfrm>
              <a:off x="5889812" y="3126144"/>
              <a:ext cx="5257800" cy="812800"/>
            </a:xfrm>
            <a:prstGeom prst="rect">
              <a:avLst/>
            </a:prstGeom>
            <a:solidFill>
              <a:srgbClr val="ED7862">
                <a:alpha val="32000"/>
              </a:srgbClr>
            </a:solidFill>
            <a:ln>
              <a:solidFill>
                <a:srgbClr val="ED78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grpSp>
        <p:nvGrpSpPr>
          <p:cNvPr id="41" name="Groupe 40">
            <a:extLst>
              <a:ext uri="{FF2B5EF4-FFF2-40B4-BE49-F238E27FC236}">
                <a16:creationId xmlns:a16="http://schemas.microsoft.com/office/drawing/2014/main" id="{23617BB6-2784-40A2-8F37-4FAA53B5BFE7}"/>
              </a:ext>
            </a:extLst>
          </p:cNvPr>
          <p:cNvGrpSpPr/>
          <p:nvPr/>
        </p:nvGrpSpPr>
        <p:grpSpPr>
          <a:xfrm>
            <a:off x="5950389" y="3138624"/>
            <a:ext cx="2765929" cy="1816549"/>
            <a:chOff x="5921210" y="1874838"/>
            <a:chExt cx="5264795" cy="3009900"/>
          </a:xfrm>
        </p:grpSpPr>
        <p:pic>
          <p:nvPicPr>
            <p:cNvPr id="42" name="Image 41">
              <a:extLst>
                <a:ext uri="{FF2B5EF4-FFF2-40B4-BE49-F238E27FC236}">
                  <a16:creationId xmlns:a16="http://schemas.microsoft.com/office/drawing/2014/main" id="{9F7C4984-9DEB-408B-8724-6D718F6FF1E1}"/>
                </a:ext>
              </a:extLst>
            </p:cNvPr>
            <p:cNvPicPr>
              <a:picLocks noChangeAspect="1"/>
            </p:cNvPicPr>
            <p:nvPr/>
          </p:nvPicPr>
          <p:blipFill rotWithShape="1">
            <a:blip r:embed="rId2">
              <a:extLst>
                <a:ext uri="{28A0092B-C50C-407E-A947-70E740481C1C}">
                  <a14:useLocalDpi xmlns:a14="http://schemas.microsoft.com/office/drawing/2010/main" val="0"/>
                </a:ext>
              </a:extLst>
            </a:blip>
            <a:srcRect t="4143" r="16779" b="55611"/>
            <a:stretch/>
          </p:blipFill>
          <p:spPr>
            <a:xfrm>
              <a:off x="6096000" y="1874838"/>
              <a:ext cx="4724413" cy="3009900"/>
            </a:xfrm>
            <a:prstGeom prst="rect">
              <a:avLst/>
            </a:prstGeom>
          </p:spPr>
        </p:pic>
        <p:sp>
          <p:nvSpPr>
            <p:cNvPr id="43" name="Rectangle 42">
              <a:extLst>
                <a:ext uri="{FF2B5EF4-FFF2-40B4-BE49-F238E27FC236}">
                  <a16:creationId xmlns:a16="http://schemas.microsoft.com/office/drawing/2014/main" id="{E7EAE071-9F53-432C-BA9D-8A246B63435E}"/>
                </a:ext>
              </a:extLst>
            </p:cNvPr>
            <p:cNvSpPr/>
            <p:nvPr/>
          </p:nvSpPr>
          <p:spPr>
            <a:xfrm>
              <a:off x="5928206" y="2197100"/>
              <a:ext cx="5257799" cy="812800"/>
            </a:xfrm>
            <a:prstGeom prst="rect">
              <a:avLst/>
            </a:prstGeom>
            <a:solidFill>
              <a:srgbClr val="ED7862">
                <a:alpha val="32000"/>
              </a:srgbClr>
            </a:solidFill>
            <a:ln>
              <a:solidFill>
                <a:srgbClr val="ED78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4" name="Rectangle 43">
              <a:extLst>
                <a:ext uri="{FF2B5EF4-FFF2-40B4-BE49-F238E27FC236}">
                  <a16:creationId xmlns:a16="http://schemas.microsoft.com/office/drawing/2014/main" id="{0D100DCF-24D4-44E3-BEDC-9BBC7BECC6F2}"/>
                </a:ext>
              </a:extLst>
            </p:cNvPr>
            <p:cNvSpPr/>
            <p:nvPr/>
          </p:nvSpPr>
          <p:spPr>
            <a:xfrm>
              <a:off x="5921211" y="3118590"/>
              <a:ext cx="5257799" cy="812800"/>
            </a:xfrm>
            <a:prstGeom prst="rect">
              <a:avLst/>
            </a:prstGeom>
            <a:solidFill>
              <a:srgbClr val="098F8D">
                <a:alpha val="32000"/>
              </a:srgbClr>
            </a:solidFill>
            <a:ln>
              <a:solidFill>
                <a:srgbClr val="098F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5" name="Rectangle 44">
              <a:extLst>
                <a:ext uri="{FF2B5EF4-FFF2-40B4-BE49-F238E27FC236}">
                  <a16:creationId xmlns:a16="http://schemas.microsoft.com/office/drawing/2014/main" id="{315BFB27-BFEC-4F66-AF6C-E7A9ED48FA5F}"/>
                </a:ext>
              </a:extLst>
            </p:cNvPr>
            <p:cNvSpPr/>
            <p:nvPr/>
          </p:nvSpPr>
          <p:spPr>
            <a:xfrm>
              <a:off x="5921210" y="4040082"/>
              <a:ext cx="5257800" cy="812800"/>
            </a:xfrm>
            <a:prstGeom prst="rect">
              <a:avLst/>
            </a:prstGeom>
            <a:solidFill>
              <a:srgbClr val="ED7862">
                <a:alpha val="32000"/>
              </a:srgbClr>
            </a:solidFill>
            <a:ln>
              <a:solidFill>
                <a:srgbClr val="ED78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grpSp>
        <p:nvGrpSpPr>
          <p:cNvPr id="46" name="Groupe 45">
            <a:extLst>
              <a:ext uri="{FF2B5EF4-FFF2-40B4-BE49-F238E27FC236}">
                <a16:creationId xmlns:a16="http://schemas.microsoft.com/office/drawing/2014/main" id="{B1559637-9A24-4618-82D5-4C056FC4436C}"/>
              </a:ext>
            </a:extLst>
          </p:cNvPr>
          <p:cNvGrpSpPr/>
          <p:nvPr/>
        </p:nvGrpSpPr>
        <p:grpSpPr>
          <a:xfrm>
            <a:off x="1450296" y="1057493"/>
            <a:ext cx="4900383" cy="1658842"/>
            <a:chOff x="2092754" y="3429000"/>
            <a:chExt cx="6533844" cy="2211789"/>
          </a:xfrm>
        </p:grpSpPr>
        <mc:AlternateContent xmlns:mc="http://schemas.openxmlformats.org/markup-compatibility/2006" xmlns:a14="http://schemas.microsoft.com/office/drawing/2010/main">
          <mc:Choice Requires="a14">
            <p:sp>
              <p:nvSpPr>
                <p:cNvPr id="47" name="ZoneTexte 46">
                  <a:extLst>
                    <a:ext uri="{FF2B5EF4-FFF2-40B4-BE49-F238E27FC236}">
                      <a16:creationId xmlns:a16="http://schemas.microsoft.com/office/drawing/2014/main" id="{FC981EBB-2D8A-4875-B702-779FAB2178D1}"/>
                    </a:ext>
                  </a:extLst>
                </p:cNvPr>
                <p:cNvSpPr txBox="1"/>
                <p:nvPr/>
              </p:nvSpPr>
              <p:spPr>
                <a:xfrm>
                  <a:off x="2092754" y="4777505"/>
                  <a:ext cx="1022311" cy="2847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788" i="1">
                            <a:latin typeface="Cambria Math" panose="02040503050406030204" pitchFamily="18" charset="0"/>
                          </a:rPr>
                          <m:t>𝑖𝑡</m:t>
                        </m:r>
                        <m:r>
                          <a:rPr lang="fr-FR" sz="788" i="1">
                            <a:latin typeface="Cambria Math" panose="02040503050406030204" pitchFamily="18" charset="0"/>
                          </a:rPr>
                          <m:t>é</m:t>
                        </m:r>
                        <m:r>
                          <a:rPr lang="fr-FR" sz="788" i="1">
                            <a:latin typeface="Cambria Math" panose="02040503050406030204" pitchFamily="18" charset="0"/>
                          </a:rPr>
                          <m:t>𝑟𝑎𝑡𝑖𝑜𝑛</m:t>
                        </m:r>
                        <m:r>
                          <a:rPr lang="fr-FR" sz="788" i="1">
                            <a:latin typeface="Cambria Math" panose="02040503050406030204" pitchFamily="18" charset="0"/>
                          </a:rPr>
                          <m:t> 1</m:t>
                        </m:r>
                      </m:oMath>
                    </m:oMathPara>
                  </a14:m>
                  <a:endParaRPr lang="fr-FR" sz="788" dirty="0"/>
                </a:p>
              </p:txBody>
            </p:sp>
          </mc:Choice>
          <mc:Fallback xmlns="">
            <p:sp>
              <p:nvSpPr>
                <p:cNvPr id="47" name="ZoneTexte 46">
                  <a:extLst>
                    <a:ext uri="{FF2B5EF4-FFF2-40B4-BE49-F238E27FC236}">
                      <a16:creationId xmlns:a16="http://schemas.microsoft.com/office/drawing/2014/main" id="{FC981EBB-2D8A-4875-B702-779FAB2178D1}"/>
                    </a:ext>
                  </a:extLst>
                </p:cNvPr>
                <p:cNvSpPr txBox="1">
                  <a:spLocks noRot="1" noChangeAspect="1" noMove="1" noResize="1" noEditPoints="1" noAdjustHandles="1" noChangeArrowheads="1" noChangeShapeType="1" noTextEdit="1"/>
                </p:cNvSpPr>
                <p:nvPr/>
              </p:nvSpPr>
              <p:spPr>
                <a:xfrm>
                  <a:off x="2092754" y="4777505"/>
                  <a:ext cx="1022311" cy="284780"/>
                </a:xfrm>
                <a:prstGeom prst="rect">
                  <a:avLst/>
                </a:prstGeom>
                <a:blipFill>
                  <a:blip r:embed="rId3"/>
                  <a:stretch>
                    <a:fillRect/>
                  </a:stretch>
                </a:blipFill>
              </p:spPr>
              <p:txBody>
                <a:bodyPr/>
                <a:lstStyle/>
                <a:p>
                  <a:r>
                    <a:rPr lang="fr-FR">
                      <a:noFill/>
                    </a:rPr>
                    <a:t> </a:t>
                  </a:r>
                </a:p>
              </p:txBody>
            </p:sp>
          </mc:Fallback>
        </mc:AlternateContent>
        <p:grpSp>
          <p:nvGrpSpPr>
            <p:cNvPr id="50" name="Groupe 49">
              <a:extLst>
                <a:ext uri="{FF2B5EF4-FFF2-40B4-BE49-F238E27FC236}">
                  <a16:creationId xmlns:a16="http://schemas.microsoft.com/office/drawing/2014/main" id="{EBC76655-3F83-40B2-B52F-16DAA02BC987}"/>
                </a:ext>
              </a:extLst>
            </p:cNvPr>
            <p:cNvGrpSpPr/>
            <p:nvPr/>
          </p:nvGrpSpPr>
          <p:grpSpPr>
            <a:xfrm>
              <a:off x="5216177" y="3429000"/>
              <a:ext cx="1454400" cy="551265"/>
              <a:chOff x="6095999" y="4162038"/>
              <a:chExt cx="1454400" cy="551265"/>
            </a:xfrm>
          </p:grpSpPr>
          <p:sp>
            <p:nvSpPr>
              <p:cNvPr id="80" name="Rectangle 79">
                <a:extLst>
                  <a:ext uri="{FF2B5EF4-FFF2-40B4-BE49-F238E27FC236}">
                    <a16:creationId xmlns:a16="http://schemas.microsoft.com/office/drawing/2014/main" id="{15EB3008-31F0-4372-85DC-186BE0773966}"/>
                  </a:ext>
                </a:extLst>
              </p:cNvPr>
              <p:cNvSpPr/>
              <p:nvPr/>
            </p:nvSpPr>
            <p:spPr>
              <a:xfrm>
                <a:off x="6096000" y="4162038"/>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Dataset d’origine</a:t>
                </a:r>
                <a:endParaRPr lang="fr-FR" sz="825" dirty="0">
                  <a:solidFill>
                    <a:schemeClr val="tx1">
                      <a:lumMod val="50000"/>
                    </a:schemeClr>
                  </a:solidFill>
                </a:endParaRPr>
              </a:p>
            </p:txBody>
          </p:sp>
          <p:sp>
            <p:nvSpPr>
              <p:cNvPr id="81" name="Rectangle 80">
                <a:extLst>
                  <a:ext uri="{FF2B5EF4-FFF2-40B4-BE49-F238E27FC236}">
                    <a16:creationId xmlns:a16="http://schemas.microsoft.com/office/drawing/2014/main" id="{14BB4232-CF10-4A0B-ACBD-4C98D48D801D}"/>
                  </a:ext>
                </a:extLst>
              </p:cNvPr>
              <p:cNvSpPr/>
              <p:nvPr/>
            </p:nvSpPr>
            <p:spPr>
              <a:xfrm>
                <a:off x="6095999" y="4497303"/>
                <a:ext cx="1454400" cy="216000"/>
              </a:xfrm>
              <a:prstGeom prst="rect">
                <a:avLst/>
              </a:prstGeom>
              <a:solidFill>
                <a:srgbClr val="C9C9C8"/>
              </a:solidFill>
              <a:ln>
                <a:solidFill>
                  <a:schemeClr val="tx1">
                    <a:lumMod val="75000"/>
                  </a:schemeClr>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00" dirty="0">
                    <a:solidFill>
                      <a:schemeClr val="tx1">
                        <a:lumMod val="50000"/>
                      </a:schemeClr>
                    </a:solidFill>
                  </a:rPr>
                  <a:t>100 lignes, 10 colonnes</a:t>
                </a:r>
              </a:p>
            </p:txBody>
          </p:sp>
        </p:grpSp>
        <p:sp>
          <p:nvSpPr>
            <p:cNvPr id="53" name="Rectangle 52">
              <a:extLst>
                <a:ext uri="{FF2B5EF4-FFF2-40B4-BE49-F238E27FC236}">
                  <a16:creationId xmlns:a16="http://schemas.microsoft.com/office/drawing/2014/main" id="{4C77E066-AE15-43B1-95A7-6A8513219EAF}"/>
                </a:ext>
              </a:extLst>
            </p:cNvPr>
            <p:cNvSpPr/>
            <p:nvPr/>
          </p:nvSpPr>
          <p:spPr>
            <a:xfrm>
              <a:off x="5216178" y="4401672"/>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Pli 2</a:t>
              </a:r>
              <a:endParaRPr lang="fr-FR" sz="825" dirty="0">
                <a:solidFill>
                  <a:schemeClr val="tx1">
                    <a:lumMod val="50000"/>
                  </a:schemeClr>
                </a:solidFill>
              </a:endParaRPr>
            </a:p>
          </p:txBody>
        </p:sp>
        <p:sp>
          <p:nvSpPr>
            <p:cNvPr id="64" name="Rectangle 63">
              <a:extLst>
                <a:ext uri="{FF2B5EF4-FFF2-40B4-BE49-F238E27FC236}">
                  <a16:creationId xmlns:a16="http://schemas.microsoft.com/office/drawing/2014/main" id="{5834F1AD-8E85-4790-8054-CE19B418FE54}"/>
                </a:ext>
              </a:extLst>
            </p:cNvPr>
            <p:cNvSpPr/>
            <p:nvPr/>
          </p:nvSpPr>
          <p:spPr>
            <a:xfrm>
              <a:off x="5216177" y="4796463"/>
              <a:ext cx="1454400" cy="216000"/>
            </a:xfrm>
            <a:prstGeom prst="rect">
              <a:avLst/>
            </a:prstGeom>
            <a:solidFill>
              <a:srgbClr val="ED7862"/>
            </a:solidFill>
            <a:ln>
              <a:solidFill>
                <a:srgbClr val="ED786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TRAIN : 40 lignes</a:t>
              </a:r>
            </a:p>
          </p:txBody>
        </p:sp>
        <p:sp>
          <p:nvSpPr>
            <p:cNvPr id="65" name="Rectangle 64">
              <a:extLst>
                <a:ext uri="{FF2B5EF4-FFF2-40B4-BE49-F238E27FC236}">
                  <a16:creationId xmlns:a16="http://schemas.microsoft.com/office/drawing/2014/main" id="{9477736C-AEC9-405E-BE08-CD1AF171F7A1}"/>
                </a:ext>
              </a:extLst>
            </p:cNvPr>
            <p:cNvSpPr/>
            <p:nvPr/>
          </p:nvSpPr>
          <p:spPr>
            <a:xfrm>
              <a:off x="3260157" y="4397588"/>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Pli 1</a:t>
              </a:r>
              <a:endParaRPr lang="fr-FR" sz="825" dirty="0">
                <a:solidFill>
                  <a:schemeClr val="tx1">
                    <a:lumMod val="50000"/>
                  </a:schemeClr>
                </a:solidFill>
              </a:endParaRPr>
            </a:p>
          </p:txBody>
        </p:sp>
        <p:sp>
          <p:nvSpPr>
            <p:cNvPr id="67" name="Rectangle 66">
              <a:extLst>
                <a:ext uri="{FF2B5EF4-FFF2-40B4-BE49-F238E27FC236}">
                  <a16:creationId xmlns:a16="http://schemas.microsoft.com/office/drawing/2014/main" id="{0036768C-9136-4CEB-BF50-89EFBC148BF5}"/>
                </a:ext>
              </a:extLst>
            </p:cNvPr>
            <p:cNvSpPr/>
            <p:nvPr/>
          </p:nvSpPr>
          <p:spPr>
            <a:xfrm>
              <a:off x="3260156" y="4796463"/>
              <a:ext cx="1454400" cy="216000"/>
            </a:xfrm>
            <a:prstGeom prst="rect">
              <a:avLst/>
            </a:prstGeom>
            <a:solidFill>
              <a:srgbClr val="ED7862"/>
            </a:solidFill>
            <a:ln>
              <a:solidFill>
                <a:srgbClr val="ED786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TRAIN : 40 lignes</a:t>
              </a:r>
            </a:p>
          </p:txBody>
        </p:sp>
        <p:sp>
          <p:nvSpPr>
            <p:cNvPr id="69" name="Rectangle 68">
              <a:extLst>
                <a:ext uri="{FF2B5EF4-FFF2-40B4-BE49-F238E27FC236}">
                  <a16:creationId xmlns:a16="http://schemas.microsoft.com/office/drawing/2014/main" id="{40D49D9B-D849-4666-AB1C-43A827B90347}"/>
                </a:ext>
              </a:extLst>
            </p:cNvPr>
            <p:cNvSpPr/>
            <p:nvPr/>
          </p:nvSpPr>
          <p:spPr>
            <a:xfrm>
              <a:off x="7172199" y="4389080"/>
              <a:ext cx="1454399"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Pli 3</a:t>
              </a:r>
              <a:endParaRPr lang="fr-FR" sz="825" dirty="0">
                <a:solidFill>
                  <a:schemeClr val="tx1">
                    <a:lumMod val="50000"/>
                  </a:schemeClr>
                </a:solidFill>
              </a:endParaRPr>
            </a:p>
          </p:txBody>
        </p:sp>
        <p:sp>
          <p:nvSpPr>
            <p:cNvPr id="70" name="Rectangle 69">
              <a:extLst>
                <a:ext uri="{FF2B5EF4-FFF2-40B4-BE49-F238E27FC236}">
                  <a16:creationId xmlns:a16="http://schemas.microsoft.com/office/drawing/2014/main" id="{F4A3C65B-C3BA-41A2-9AAC-305855B6217C}"/>
                </a:ext>
              </a:extLst>
            </p:cNvPr>
            <p:cNvSpPr/>
            <p:nvPr/>
          </p:nvSpPr>
          <p:spPr>
            <a:xfrm>
              <a:off x="7172198" y="4801897"/>
              <a:ext cx="1454400" cy="216000"/>
            </a:xfrm>
            <a:prstGeom prst="rect">
              <a:avLst/>
            </a:prstGeom>
            <a:solidFill>
              <a:srgbClr val="098F8D"/>
            </a:solidFill>
            <a:ln>
              <a:solidFill>
                <a:srgbClr val="098F8D"/>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TEST : 20 lignes</a:t>
              </a:r>
            </a:p>
          </p:txBody>
        </p:sp>
        <p:sp>
          <p:nvSpPr>
            <p:cNvPr id="71" name="Rectangle 70">
              <a:extLst>
                <a:ext uri="{FF2B5EF4-FFF2-40B4-BE49-F238E27FC236}">
                  <a16:creationId xmlns:a16="http://schemas.microsoft.com/office/drawing/2014/main" id="{0E027238-9E14-419B-89B4-BFAB4C03DDCD}"/>
                </a:ext>
              </a:extLst>
            </p:cNvPr>
            <p:cNvSpPr/>
            <p:nvPr/>
          </p:nvSpPr>
          <p:spPr>
            <a:xfrm>
              <a:off x="5216177" y="5084797"/>
              <a:ext cx="1454400" cy="216000"/>
            </a:xfrm>
            <a:prstGeom prst="rect">
              <a:avLst/>
            </a:prstGeom>
            <a:solidFill>
              <a:srgbClr val="ED7862"/>
            </a:solidFill>
            <a:ln>
              <a:solidFill>
                <a:srgbClr val="ED786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TRAIN : 40 lignes</a:t>
              </a:r>
            </a:p>
          </p:txBody>
        </p:sp>
        <p:sp>
          <p:nvSpPr>
            <p:cNvPr id="72" name="Rectangle 71">
              <a:extLst>
                <a:ext uri="{FF2B5EF4-FFF2-40B4-BE49-F238E27FC236}">
                  <a16:creationId xmlns:a16="http://schemas.microsoft.com/office/drawing/2014/main" id="{EE36B90F-1332-4D97-B082-66B759FCF831}"/>
                </a:ext>
              </a:extLst>
            </p:cNvPr>
            <p:cNvSpPr/>
            <p:nvPr/>
          </p:nvSpPr>
          <p:spPr>
            <a:xfrm>
              <a:off x="3260156" y="5084797"/>
              <a:ext cx="1454400" cy="216000"/>
            </a:xfrm>
            <a:prstGeom prst="rect">
              <a:avLst/>
            </a:prstGeom>
            <a:solidFill>
              <a:srgbClr val="098F8D"/>
            </a:solidFill>
            <a:ln>
              <a:solidFill>
                <a:srgbClr val="098F8D"/>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TEST : 20 lignes</a:t>
              </a:r>
            </a:p>
          </p:txBody>
        </p:sp>
        <p:sp>
          <p:nvSpPr>
            <p:cNvPr id="73" name="Rectangle 72">
              <a:extLst>
                <a:ext uri="{FF2B5EF4-FFF2-40B4-BE49-F238E27FC236}">
                  <a16:creationId xmlns:a16="http://schemas.microsoft.com/office/drawing/2014/main" id="{C07E2046-63C6-4E25-A411-05342C8C73D2}"/>
                </a:ext>
              </a:extLst>
            </p:cNvPr>
            <p:cNvSpPr/>
            <p:nvPr/>
          </p:nvSpPr>
          <p:spPr>
            <a:xfrm>
              <a:off x="7172198" y="5090231"/>
              <a:ext cx="1454400" cy="216000"/>
            </a:xfrm>
            <a:prstGeom prst="rect">
              <a:avLst/>
            </a:prstGeom>
            <a:solidFill>
              <a:srgbClr val="ED7862"/>
            </a:solidFill>
            <a:ln>
              <a:solidFill>
                <a:srgbClr val="ED786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TRAIN : 40 lignes</a:t>
              </a:r>
            </a:p>
          </p:txBody>
        </p:sp>
        <p:sp>
          <p:nvSpPr>
            <p:cNvPr id="74" name="Rectangle 73">
              <a:extLst>
                <a:ext uri="{FF2B5EF4-FFF2-40B4-BE49-F238E27FC236}">
                  <a16:creationId xmlns:a16="http://schemas.microsoft.com/office/drawing/2014/main" id="{3CE3AC4A-C380-4701-9033-922972744307}"/>
                </a:ext>
              </a:extLst>
            </p:cNvPr>
            <p:cNvSpPr/>
            <p:nvPr/>
          </p:nvSpPr>
          <p:spPr>
            <a:xfrm>
              <a:off x="5216177" y="5361428"/>
              <a:ext cx="1454400" cy="216000"/>
            </a:xfrm>
            <a:prstGeom prst="rect">
              <a:avLst/>
            </a:prstGeom>
            <a:solidFill>
              <a:srgbClr val="098F8D"/>
            </a:solidFill>
            <a:ln>
              <a:solidFill>
                <a:srgbClr val="098F8D"/>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TEST : 20 lignes</a:t>
              </a:r>
            </a:p>
          </p:txBody>
        </p:sp>
        <p:sp>
          <p:nvSpPr>
            <p:cNvPr id="75" name="Rectangle 74">
              <a:extLst>
                <a:ext uri="{FF2B5EF4-FFF2-40B4-BE49-F238E27FC236}">
                  <a16:creationId xmlns:a16="http://schemas.microsoft.com/office/drawing/2014/main" id="{CA08ACE1-E6FB-427F-B4E8-4C6FDCA53318}"/>
                </a:ext>
              </a:extLst>
            </p:cNvPr>
            <p:cNvSpPr/>
            <p:nvPr/>
          </p:nvSpPr>
          <p:spPr>
            <a:xfrm>
              <a:off x="3260156" y="5361428"/>
              <a:ext cx="1454400" cy="216000"/>
            </a:xfrm>
            <a:prstGeom prst="rect">
              <a:avLst/>
            </a:prstGeom>
            <a:solidFill>
              <a:srgbClr val="ED7862"/>
            </a:solidFill>
            <a:ln>
              <a:solidFill>
                <a:srgbClr val="ED786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TRAIN : 40 lignes</a:t>
              </a:r>
            </a:p>
          </p:txBody>
        </p:sp>
        <p:sp>
          <p:nvSpPr>
            <p:cNvPr id="76" name="Rectangle 75">
              <a:extLst>
                <a:ext uri="{FF2B5EF4-FFF2-40B4-BE49-F238E27FC236}">
                  <a16:creationId xmlns:a16="http://schemas.microsoft.com/office/drawing/2014/main" id="{F34120A3-112E-40B5-891B-1D7E6B07431A}"/>
                </a:ext>
              </a:extLst>
            </p:cNvPr>
            <p:cNvSpPr/>
            <p:nvPr/>
          </p:nvSpPr>
          <p:spPr>
            <a:xfrm>
              <a:off x="7172198" y="5366862"/>
              <a:ext cx="1454400" cy="216000"/>
            </a:xfrm>
            <a:prstGeom prst="rect">
              <a:avLst/>
            </a:prstGeom>
            <a:solidFill>
              <a:srgbClr val="ED7862"/>
            </a:solidFill>
            <a:ln>
              <a:solidFill>
                <a:srgbClr val="ED786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750" dirty="0">
                  <a:solidFill>
                    <a:schemeClr val="tx1">
                      <a:lumMod val="50000"/>
                    </a:schemeClr>
                  </a:solidFill>
                </a:rPr>
                <a:t>TRAIN : 40 lignes</a:t>
              </a:r>
            </a:p>
          </p:txBody>
        </p:sp>
        <mc:AlternateContent xmlns:mc="http://schemas.openxmlformats.org/markup-compatibility/2006" xmlns:a14="http://schemas.microsoft.com/office/drawing/2010/main">
          <mc:Choice Requires="a14">
            <p:sp>
              <p:nvSpPr>
                <p:cNvPr id="77" name="ZoneTexte 76">
                  <a:extLst>
                    <a:ext uri="{FF2B5EF4-FFF2-40B4-BE49-F238E27FC236}">
                      <a16:creationId xmlns:a16="http://schemas.microsoft.com/office/drawing/2014/main" id="{47CFD663-9118-488B-A81B-0566A157F152}"/>
                    </a:ext>
                  </a:extLst>
                </p:cNvPr>
                <p:cNvSpPr txBox="1"/>
                <p:nvPr/>
              </p:nvSpPr>
              <p:spPr>
                <a:xfrm>
                  <a:off x="2092754" y="5066757"/>
                  <a:ext cx="1022311" cy="2847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788" i="1">
                            <a:latin typeface="Cambria Math" panose="02040503050406030204" pitchFamily="18" charset="0"/>
                          </a:rPr>
                          <m:t>𝑖𝑡</m:t>
                        </m:r>
                        <m:r>
                          <a:rPr lang="fr-FR" sz="788" i="1">
                            <a:latin typeface="Cambria Math" panose="02040503050406030204" pitchFamily="18" charset="0"/>
                          </a:rPr>
                          <m:t>é</m:t>
                        </m:r>
                        <m:r>
                          <a:rPr lang="fr-FR" sz="788" i="1">
                            <a:latin typeface="Cambria Math" panose="02040503050406030204" pitchFamily="18" charset="0"/>
                          </a:rPr>
                          <m:t>𝑟𝑎𝑡𝑖𝑜𝑛</m:t>
                        </m:r>
                        <m:r>
                          <a:rPr lang="fr-FR" sz="788" i="1">
                            <a:latin typeface="Cambria Math" panose="02040503050406030204" pitchFamily="18" charset="0"/>
                          </a:rPr>
                          <m:t> 2</m:t>
                        </m:r>
                      </m:oMath>
                    </m:oMathPara>
                  </a14:m>
                  <a:endParaRPr lang="fr-FR" sz="788" dirty="0"/>
                </a:p>
              </p:txBody>
            </p:sp>
          </mc:Choice>
          <mc:Fallback xmlns="">
            <p:sp>
              <p:nvSpPr>
                <p:cNvPr id="77" name="ZoneTexte 76">
                  <a:extLst>
                    <a:ext uri="{FF2B5EF4-FFF2-40B4-BE49-F238E27FC236}">
                      <a16:creationId xmlns:a16="http://schemas.microsoft.com/office/drawing/2014/main" id="{47CFD663-9118-488B-A81B-0566A157F152}"/>
                    </a:ext>
                  </a:extLst>
                </p:cNvPr>
                <p:cNvSpPr txBox="1">
                  <a:spLocks noRot="1" noChangeAspect="1" noMove="1" noResize="1" noEditPoints="1" noAdjustHandles="1" noChangeArrowheads="1" noChangeShapeType="1" noTextEdit="1"/>
                </p:cNvSpPr>
                <p:nvPr/>
              </p:nvSpPr>
              <p:spPr>
                <a:xfrm>
                  <a:off x="2092754" y="5066757"/>
                  <a:ext cx="1022311" cy="284780"/>
                </a:xfrm>
                <a:prstGeom prst="rect">
                  <a:avLst/>
                </a:prstGeom>
                <a:blipFill>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8" name="ZoneTexte 77">
                  <a:extLst>
                    <a:ext uri="{FF2B5EF4-FFF2-40B4-BE49-F238E27FC236}">
                      <a16:creationId xmlns:a16="http://schemas.microsoft.com/office/drawing/2014/main" id="{B98442B0-2CC6-4320-944B-9E1EE3E57116}"/>
                    </a:ext>
                  </a:extLst>
                </p:cNvPr>
                <p:cNvSpPr txBox="1"/>
                <p:nvPr/>
              </p:nvSpPr>
              <p:spPr>
                <a:xfrm>
                  <a:off x="2190138" y="5356009"/>
                  <a:ext cx="1022311" cy="284780"/>
                </a:xfrm>
                <a:prstGeom prst="rect">
                  <a:avLst/>
                </a:prstGeom>
                <a:noFill/>
              </p:spPr>
              <p:txBody>
                <a:bodyPr wrap="square" rtlCol="0">
                  <a:spAutoFit/>
                </a:bodyPr>
                <a:lstStyle/>
                <a:p>
                  <a14:m>
                    <m:oMath xmlns:m="http://schemas.openxmlformats.org/officeDocument/2006/math">
                      <m:r>
                        <a:rPr lang="fr-FR" sz="788" i="1">
                          <a:latin typeface="Cambria Math" panose="02040503050406030204" pitchFamily="18" charset="0"/>
                        </a:rPr>
                        <m:t>𝑖𝑡</m:t>
                      </m:r>
                      <m:r>
                        <a:rPr lang="fr-FR" sz="788" i="1">
                          <a:latin typeface="Cambria Math" panose="02040503050406030204" pitchFamily="18" charset="0"/>
                        </a:rPr>
                        <m:t>é</m:t>
                      </m:r>
                      <m:r>
                        <a:rPr lang="fr-FR" sz="788" i="1">
                          <a:latin typeface="Cambria Math" panose="02040503050406030204" pitchFamily="18" charset="0"/>
                        </a:rPr>
                        <m:t>𝑟𝑎𝑡𝑖𝑜𝑛</m:t>
                      </m:r>
                      <m:r>
                        <a:rPr lang="fr-FR" sz="788" i="1">
                          <a:latin typeface="Cambria Math" panose="02040503050406030204" pitchFamily="18" charset="0"/>
                        </a:rPr>
                        <m:t> </m:t>
                      </m:r>
                    </m:oMath>
                  </a14:m>
                  <a:r>
                    <a:rPr lang="fr-FR" sz="788" dirty="0"/>
                    <a:t>3</a:t>
                  </a:r>
                </a:p>
              </p:txBody>
            </p:sp>
          </mc:Choice>
          <mc:Fallback xmlns="">
            <p:sp>
              <p:nvSpPr>
                <p:cNvPr id="78" name="ZoneTexte 77">
                  <a:extLst>
                    <a:ext uri="{FF2B5EF4-FFF2-40B4-BE49-F238E27FC236}">
                      <a16:creationId xmlns:a16="http://schemas.microsoft.com/office/drawing/2014/main" id="{B98442B0-2CC6-4320-944B-9E1EE3E57116}"/>
                    </a:ext>
                  </a:extLst>
                </p:cNvPr>
                <p:cNvSpPr txBox="1">
                  <a:spLocks noRot="1" noChangeAspect="1" noMove="1" noResize="1" noEditPoints="1" noAdjustHandles="1" noChangeArrowheads="1" noChangeShapeType="1" noTextEdit="1"/>
                </p:cNvSpPr>
                <p:nvPr/>
              </p:nvSpPr>
              <p:spPr>
                <a:xfrm>
                  <a:off x="2190138" y="5356009"/>
                  <a:ext cx="1022311" cy="284780"/>
                </a:xfrm>
                <a:prstGeom prst="rect">
                  <a:avLst/>
                </a:prstGeom>
                <a:blipFill>
                  <a:blip r:embed="rId5"/>
                  <a:stretch>
                    <a:fillRect b="-2857"/>
                  </a:stretch>
                </a:blipFill>
              </p:spPr>
              <p:txBody>
                <a:bodyPr/>
                <a:lstStyle/>
                <a:p>
                  <a:r>
                    <a:rPr lang="fr-FR">
                      <a:noFill/>
                    </a:rPr>
                    <a:t> </a:t>
                  </a:r>
                </a:p>
              </p:txBody>
            </p:sp>
          </mc:Fallback>
        </mc:AlternateContent>
        <p:sp>
          <p:nvSpPr>
            <p:cNvPr id="79" name="Flèche : droite 78">
              <a:extLst>
                <a:ext uri="{FF2B5EF4-FFF2-40B4-BE49-F238E27FC236}">
                  <a16:creationId xmlns:a16="http://schemas.microsoft.com/office/drawing/2014/main" id="{858CE85C-4BF5-4194-B457-A91A3654C453}"/>
                </a:ext>
              </a:extLst>
            </p:cNvPr>
            <p:cNvSpPr/>
            <p:nvPr/>
          </p:nvSpPr>
          <p:spPr>
            <a:xfrm rot="5400000">
              <a:off x="5855789" y="4067369"/>
              <a:ext cx="227740" cy="252681"/>
            </a:xfrm>
            <a:prstGeom prst="rightArrow">
              <a:avLst/>
            </a:prstGeom>
            <a:solidFill>
              <a:srgbClr val="C9C9C8"/>
            </a:solidFill>
            <a:ln>
              <a:solidFill>
                <a:srgbClr val="C9C9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mc:AlternateContent xmlns:mc="http://schemas.openxmlformats.org/markup-compatibility/2006" xmlns:a14="http://schemas.microsoft.com/office/drawing/2010/main">
        <mc:Choice Requires="a14">
          <p:sp>
            <p:nvSpPr>
              <p:cNvPr id="82" name="ZoneTexte 81">
                <a:extLst>
                  <a:ext uri="{FF2B5EF4-FFF2-40B4-BE49-F238E27FC236}">
                    <a16:creationId xmlns:a16="http://schemas.microsoft.com/office/drawing/2014/main" id="{9F3C10BE-1A57-4F72-8F13-F105E1D22857}"/>
                  </a:ext>
                </a:extLst>
              </p:cNvPr>
              <p:cNvSpPr txBox="1"/>
              <p:nvPr/>
            </p:nvSpPr>
            <p:spPr>
              <a:xfrm>
                <a:off x="1158712" y="2961717"/>
                <a:ext cx="766733" cy="213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788" i="1">
                          <a:latin typeface="Cambria Math" panose="02040503050406030204" pitchFamily="18" charset="0"/>
                        </a:rPr>
                        <m:t>𝑖𝑡</m:t>
                      </m:r>
                      <m:r>
                        <a:rPr lang="fr-FR" sz="788" i="1">
                          <a:latin typeface="Cambria Math" panose="02040503050406030204" pitchFamily="18" charset="0"/>
                        </a:rPr>
                        <m:t>é</m:t>
                      </m:r>
                      <m:r>
                        <a:rPr lang="fr-FR" sz="788" i="1">
                          <a:latin typeface="Cambria Math" panose="02040503050406030204" pitchFamily="18" charset="0"/>
                        </a:rPr>
                        <m:t>𝑟𝑎𝑡𝑖𝑜𝑛</m:t>
                      </m:r>
                      <m:r>
                        <a:rPr lang="fr-FR" sz="788" i="1">
                          <a:latin typeface="Cambria Math" panose="02040503050406030204" pitchFamily="18" charset="0"/>
                        </a:rPr>
                        <m:t> 1</m:t>
                      </m:r>
                    </m:oMath>
                  </m:oMathPara>
                </a14:m>
                <a:endParaRPr lang="fr-FR" sz="788" dirty="0"/>
              </a:p>
            </p:txBody>
          </p:sp>
        </mc:Choice>
        <mc:Fallback xmlns="">
          <p:sp>
            <p:nvSpPr>
              <p:cNvPr id="82" name="ZoneTexte 81">
                <a:extLst>
                  <a:ext uri="{FF2B5EF4-FFF2-40B4-BE49-F238E27FC236}">
                    <a16:creationId xmlns:a16="http://schemas.microsoft.com/office/drawing/2014/main" id="{9F3C10BE-1A57-4F72-8F13-F105E1D22857}"/>
                  </a:ext>
                </a:extLst>
              </p:cNvPr>
              <p:cNvSpPr txBox="1">
                <a:spLocks noRot="1" noChangeAspect="1" noMove="1" noResize="1" noEditPoints="1" noAdjustHandles="1" noChangeArrowheads="1" noChangeShapeType="1" noTextEdit="1"/>
              </p:cNvSpPr>
              <p:nvPr/>
            </p:nvSpPr>
            <p:spPr>
              <a:xfrm>
                <a:off x="1158712" y="2961717"/>
                <a:ext cx="766733" cy="213585"/>
              </a:xfrm>
              <a:prstGeom prst="rect">
                <a:avLst/>
              </a:prstGeom>
              <a:blipFill>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3" name="ZoneTexte 82">
                <a:extLst>
                  <a:ext uri="{FF2B5EF4-FFF2-40B4-BE49-F238E27FC236}">
                    <a16:creationId xmlns:a16="http://schemas.microsoft.com/office/drawing/2014/main" id="{5E179C14-49AE-4B24-A19A-EA2FB517BF8E}"/>
                  </a:ext>
                </a:extLst>
              </p:cNvPr>
              <p:cNvSpPr txBox="1"/>
              <p:nvPr/>
            </p:nvSpPr>
            <p:spPr>
              <a:xfrm>
                <a:off x="4145362" y="2937140"/>
                <a:ext cx="766733" cy="213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788" i="1">
                          <a:latin typeface="Cambria Math" panose="02040503050406030204" pitchFamily="18" charset="0"/>
                        </a:rPr>
                        <m:t>𝑖𝑡</m:t>
                      </m:r>
                      <m:r>
                        <a:rPr lang="fr-FR" sz="788" i="1">
                          <a:latin typeface="Cambria Math" panose="02040503050406030204" pitchFamily="18" charset="0"/>
                        </a:rPr>
                        <m:t>é</m:t>
                      </m:r>
                      <m:r>
                        <a:rPr lang="fr-FR" sz="788" i="1">
                          <a:latin typeface="Cambria Math" panose="02040503050406030204" pitchFamily="18" charset="0"/>
                        </a:rPr>
                        <m:t>𝑟𝑎𝑡𝑖𝑜𝑛</m:t>
                      </m:r>
                      <m:r>
                        <a:rPr lang="fr-FR" sz="788" i="1">
                          <a:latin typeface="Cambria Math" panose="02040503050406030204" pitchFamily="18" charset="0"/>
                        </a:rPr>
                        <m:t> 2</m:t>
                      </m:r>
                    </m:oMath>
                  </m:oMathPara>
                </a14:m>
                <a:endParaRPr lang="fr-FR" sz="788" dirty="0"/>
              </a:p>
            </p:txBody>
          </p:sp>
        </mc:Choice>
        <mc:Fallback xmlns="">
          <p:sp>
            <p:nvSpPr>
              <p:cNvPr id="83" name="ZoneTexte 82">
                <a:extLst>
                  <a:ext uri="{FF2B5EF4-FFF2-40B4-BE49-F238E27FC236}">
                    <a16:creationId xmlns:a16="http://schemas.microsoft.com/office/drawing/2014/main" id="{5E179C14-49AE-4B24-A19A-EA2FB517BF8E}"/>
                  </a:ext>
                </a:extLst>
              </p:cNvPr>
              <p:cNvSpPr txBox="1">
                <a:spLocks noRot="1" noChangeAspect="1" noMove="1" noResize="1" noEditPoints="1" noAdjustHandles="1" noChangeArrowheads="1" noChangeShapeType="1" noTextEdit="1"/>
              </p:cNvSpPr>
              <p:nvPr/>
            </p:nvSpPr>
            <p:spPr>
              <a:xfrm>
                <a:off x="4145362" y="2937140"/>
                <a:ext cx="766733" cy="213585"/>
              </a:xfrm>
              <a:prstGeom prst="rect">
                <a:avLst/>
              </a:prstGeom>
              <a:blipFill>
                <a:blip r:embed="rId7"/>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4" name="ZoneTexte 83">
                <a:extLst>
                  <a:ext uri="{FF2B5EF4-FFF2-40B4-BE49-F238E27FC236}">
                    <a16:creationId xmlns:a16="http://schemas.microsoft.com/office/drawing/2014/main" id="{56C1C0A8-E6F4-49C5-A416-8495CD00F448}"/>
                  </a:ext>
                </a:extLst>
              </p:cNvPr>
              <p:cNvSpPr txBox="1"/>
              <p:nvPr/>
            </p:nvSpPr>
            <p:spPr>
              <a:xfrm>
                <a:off x="7106858" y="2962639"/>
                <a:ext cx="766733" cy="213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788" i="1">
                          <a:latin typeface="Cambria Math" panose="02040503050406030204" pitchFamily="18" charset="0"/>
                        </a:rPr>
                        <m:t>𝑖𝑡</m:t>
                      </m:r>
                      <m:r>
                        <a:rPr lang="fr-FR" sz="788" i="1">
                          <a:latin typeface="Cambria Math" panose="02040503050406030204" pitchFamily="18" charset="0"/>
                        </a:rPr>
                        <m:t>é</m:t>
                      </m:r>
                      <m:r>
                        <a:rPr lang="fr-FR" sz="788" i="1">
                          <a:latin typeface="Cambria Math" panose="02040503050406030204" pitchFamily="18" charset="0"/>
                        </a:rPr>
                        <m:t>𝑟𝑎𝑡𝑖𝑜𝑛</m:t>
                      </m:r>
                      <m:r>
                        <a:rPr lang="fr-FR" sz="788" i="1">
                          <a:latin typeface="Cambria Math" panose="02040503050406030204" pitchFamily="18" charset="0"/>
                        </a:rPr>
                        <m:t> 3</m:t>
                      </m:r>
                    </m:oMath>
                  </m:oMathPara>
                </a14:m>
                <a:endParaRPr lang="fr-FR" sz="788" dirty="0"/>
              </a:p>
            </p:txBody>
          </p:sp>
        </mc:Choice>
        <mc:Fallback xmlns="">
          <p:sp>
            <p:nvSpPr>
              <p:cNvPr id="84" name="ZoneTexte 83">
                <a:extLst>
                  <a:ext uri="{FF2B5EF4-FFF2-40B4-BE49-F238E27FC236}">
                    <a16:creationId xmlns:a16="http://schemas.microsoft.com/office/drawing/2014/main" id="{56C1C0A8-E6F4-49C5-A416-8495CD00F448}"/>
                  </a:ext>
                </a:extLst>
              </p:cNvPr>
              <p:cNvSpPr txBox="1">
                <a:spLocks noRot="1" noChangeAspect="1" noMove="1" noResize="1" noEditPoints="1" noAdjustHandles="1" noChangeArrowheads="1" noChangeShapeType="1" noTextEdit="1"/>
              </p:cNvSpPr>
              <p:nvPr/>
            </p:nvSpPr>
            <p:spPr>
              <a:xfrm>
                <a:off x="7106858" y="2962639"/>
                <a:ext cx="766733" cy="213585"/>
              </a:xfrm>
              <a:prstGeom prst="rect">
                <a:avLst/>
              </a:prstGeom>
              <a:blipFill>
                <a:blip r:embed="rId8"/>
                <a:stretch>
                  <a:fillRect/>
                </a:stretch>
              </a:blipFill>
            </p:spPr>
            <p:txBody>
              <a:bodyPr/>
              <a:lstStyle/>
              <a:p>
                <a:r>
                  <a:rPr lang="fr-FR">
                    <a:noFill/>
                  </a:rPr>
                  <a:t> </a:t>
                </a:r>
              </a:p>
            </p:txBody>
          </p:sp>
        </mc:Fallback>
      </mc:AlternateContent>
      <p:sp>
        <p:nvSpPr>
          <p:cNvPr id="86" name="Flèche : droite 85">
            <a:extLst>
              <a:ext uri="{FF2B5EF4-FFF2-40B4-BE49-F238E27FC236}">
                <a16:creationId xmlns:a16="http://schemas.microsoft.com/office/drawing/2014/main" id="{F5B90C55-F422-4F4E-9DEA-E6A447CC1364}"/>
              </a:ext>
            </a:extLst>
          </p:cNvPr>
          <p:cNvSpPr/>
          <p:nvPr/>
        </p:nvSpPr>
        <p:spPr>
          <a:xfrm rot="5400000">
            <a:off x="4272572" y="2728079"/>
            <a:ext cx="170805" cy="189511"/>
          </a:xfrm>
          <a:prstGeom prst="rightArrow">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Tree>
    <p:extLst>
      <p:ext uri="{BB962C8B-B14F-4D97-AF65-F5344CB8AC3E}">
        <p14:creationId xmlns:p14="http://schemas.microsoft.com/office/powerpoint/2010/main" val="326352742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169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validation croisée</a:t>
            </a:r>
          </a:p>
        </p:txBody>
      </p:sp>
      <p:grpSp>
        <p:nvGrpSpPr>
          <p:cNvPr id="5" name="Groupe 4">
            <a:extLst>
              <a:ext uri="{FF2B5EF4-FFF2-40B4-BE49-F238E27FC236}">
                <a16:creationId xmlns:a16="http://schemas.microsoft.com/office/drawing/2014/main" id="{284BA72A-6056-4DBB-ADDE-E3448B46B9CC}"/>
              </a:ext>
            </a:extLst>
          </p:cNvPr>
          <p:cNvGrpSpPr/>
          <p:nvPr/>
        </p:nvGrpSpPr>
        <p:grpSpPr>
          <a:xfrm>
            <a:off x="258271" y="1303206"/>
            <a:ext cx="7498075" cy="3550444"/>
            <a:chOff x="344361" y="1737608"/>
            <a:chExt cx="9997433" cy="4733925"/>
          </a:xfrm>
        </p:grpSpPr>
        <p:cxnSp>
          <p:nvCxnSpPr>
            <p:cNvPr id="51" name="Connecteur droit 50">
              <a:extLst>
                <a:ext uri="{FF2B5EF4-FFF2-40B4-BE49-F238E27FC236}">
                  <a16:creationId xmlns:a16="http://schemas.microsoft.com/office/drawing/2014/main" id="{7C116DA2-4296-4B20-9EAC-D7A1844C8826}"/>
                </a:ext>
              </a:extLst>
            </p:cNvPr>
            <p:cNvCxnSpPr/>
            <p:nvPr/>
          </p:nvCxnSpPr>
          <p:spPr>
            <a:xfrm flipH="1">
              <a:off x="5288730" y="1737608"/>
              <a:ext cx="19050" cy="4733925"/>
            </a:xfrm>
            <a:prstGeom prst="line">
              <a:avLst/>
            </a:prstGeom>
            <a:ln>
              <a:prstDash val="dash"/>
            </a:ln>
          </p:spPr>
          <p:style>
            <a:lnRef idx="3">
              <a:schemeClr val="dk1"/>
            </a:lnRef>
            <a:fillRef idx="0">
              <a:schemeClr val="dk1"/>
            </a:fillRef>
            <a:effectRef idx="2">
              <a:schemeClr val="dk1"/>
            </a:effectRef>
            <a:fontRef idx="minor">
              <a:schemeClr val="tx1"/>
            </a:fontRef>
          </p:style>
        </p:cxnSp>
        <p:grpSp>
          <p:nvGrpSpPr>
            <p:cNvPr id="52" name="Groupe 51">
              <a:extLst>
                <a:ext uri="{FF2B5EF4-FFF2-40B4-BE49-F238E27FC236}">
                  <a16:creationId xmlns:a16="http://schemas.microsoft.com/office/drawing/2014/main" id="{32E28D90-7381-4D41-832A-782A8DF910BC}"/>
                </a:ext>
              </a:extLst>
            </p:cNvPr>
            <p:cNvGrpSpPr/>
            <p:nvPr/>
          </p:nvGrpSpPr>
          <p:grpSpPr>
            <a:xfrm>
              <a:off x="1100905" y="2815242"/>
              <a:ext cx="3086100" cy="2483708"/>
              <a:chOff x="1060450" y="2306359"/>
              <a:chExt cx="3086100" cy="2483708"/>
            </a:xfrm>
          </p:grpSpPr>
          <p:pic>
            <p:nvPicPr>
              <p:cNvPr id="54" name="Image 53">
                <a:extLst>
                  <a:ext uri="{FF2B5EF4-FFF2-40B4-BE49-F238E27FC236}">
                    <a16:creationId xmlns:a16="http://schemas.microsoft.com/office/drawing/2014/main" id="{9982D289-4E4C-4BE9-BEDD-D2FFCA62021F}"/>
                  </a:ext>
                </a:extLst>
              </p:cNvPr>
              <p:cNvPicPr>
                <a:picLocks noChangeAspect="1"/>
              </p:cNvPicPr>
              <p:nvPr/>
            </p:nvPicPr>
            <p:blipFill>
              <a:blip r:embed="rId2"/>
              <a:stretch>
                <a:fillRect/>
              </a:stretch>
            </p:blipFill>
            <p:spPr>
              <a:xfrm>
                <a:off x="1060450" y="2401307"/>
                <a:ext cx="3086100" cy="2388760"/>
              </a:xfrm>
              <a:prstGeom prst="rect">
                <a:avLst/>
              </a:prstGeom>
            </p:spPr>
          </p:pic>
          <p:sp>
            <p:nvSpPr>
              <p:cNvPr id="55" name="Rectangle 10">
                <a:extLst>
                  <a:ext uri="{FF2B5EF4-FFF2-40B4-BE49-F238E27FC236}">
                    <a16:creationId xmlns:a16="http://schemas.microsoft.com/office/drawing/2014/main" id="{F5C6D57E-AEDB-4E4D-8477-A612F390B274}"/>
                  </a:ext>
                </a:extLst>
              </p:cNvPr>
              <p:cNvSpPr/>
              <p:nvPr/>
            </p:nvSpPr>
            <p:spPr>
              <a:xfrm>
                <a:off x="1060450" y="3084625"/>
                <a:ext cx="2035175" cy="1705442"/>
              </a:xfrm>
              <a:custGeom>
                <a:avLst/>
                <a:gdLst>
                  <a:gd name="connsiteX0" fmla="*/ 0 w 1987550"/>
                  <a:gd name="connsiteY0" fmla="*/ 0 h 1705442"/>
                  <a:gd name="connsiteX1" fmla="*/ 1987550 w 1987550"/>
                  <a:gd name="connsiteY1" fmla="*/ 0 h 1705442"/>
                  <a:gd name="connsiteX2" fmla="*/ 1987550 w 1987550"/>
                  <a:gd name="connsiteY2" fmla="*/ 1705442 h 1705442"/>
                  <a:gd name="connsiteX3" fmla="*/ 0 w 1987550"/>
                  <a:gd name="connsiteY3" fmla="*/ 1705442 h 1705442"/>
                  <a:gd name="connsiteX4" fmla="*/ 0 w 1987550"/>
                  <a:gd name="connsiteY4" fmla="*/ 0 h 1705442"/>
                  <a:gd name="connsiteX0" fmla="*/ 0 w 2035175"/>
                  <a:gd name="connsiteY0" fmla="*/ 0 h 1705442"/>
                  <a:gd name="connsiteX1" fmla="*/ 2035175 w 2035175"/>
                  <a:gd name="connsiteY1" fmla="*/ 180975 h 1705442"/>
                  <a:gd name="connsiteX2" fmla="*/ 1987550 w 2035175"/>
                  <a:gd name="connsiteY2" fmla="*/ 1705442 h 1705442"/>
                  <a:gd name="connsiteX3" fmla="*/ 0 w 2035175"/>
                  <a:gd name="connsiteY3" fmla="*/ 1705442 h 1705442"/>
                  <a:gd name="connsiteX4" fmla="*/ 0 w 2035175"/>
                  <a:gd name="connsiteY4" fmla="*/ 0 h 1705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5175" h="1705442">
                    <a:moveTo>
                      <a:pt x="0" y="0"/>
                    </a:moveTo>
                    <a:lnTo>
                      <a:pt x="2035175" y="180975"/>
                    </a:lnTo>
                    <a:lnTo>
                      <a:pt x="1987550" y="1705442"/>
                    </a:lnTo>
                    <a:lnTo>
                      <a:pt x="0" y="1705442"/>
                    </a:lnTo>
                    <a:lnTo>
                      <a:pt x="0" y="0"/>
                    </a:lnTo>
                    <a:close/>
                  </a:path>
                </a:pathLst>
              </a:custGeom>
              <a:noFill/>
              <a:ln w="28575">
                <a:solidFill>
                  <a:srgbClr val="FFCBCC"/>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fr-FR" sz="1350" dirty="0"/>
              </a:p>
            </p:txBody>
          </p:sp>
          <p:sp>
            <p:nvSpPr>
              <p:cNvPr id="56" name="Rectangle 11">
                <a:extLst>
                  <a:ext uri="{FF2B5EF4-FFF2-40B4-BE49-F238E27FC236}">
                    <a16:creationId xmlns:a16="http://schemas.microsoft.com/office/drawing/2014/main" id="{23170BC1-F7C5-492E-923A-2D3E5EAAD9AE}"/>
                  </a:ext>
                </a:extLst>
              </p:cNvPr>
              <p:cNvSpPr/>
              <p:nvPr/>
            </p:nvSpPr>
            <p:spPr>
              <a:xfrm>
                <a:off x="1935959" y="2306359"/>
                <a:ext cx="1987550" cy="1705442"/>
              </a:xfrm>
              <a:custGeom>
                <a:avLst/>
                <a:gdLst>
                  <a:gd name="connsiteX0" fmla="*/ 0 w 1987550"/>
                  <a:gd name="connsiteY0" fmla="*/ 0 h 1705442"/>
                  <a:gd name="connsiteX1" fmla="*/ 1987550 w 1987550"/>
                  <a:gd name="connsiteY1" fmla="*/ 0 h 1705442"/>
                  <a:gd name="connsiteX2" fmla="*/ 1987550 w 1987550"/>
                  <a:gd name="connsiteY2" fmla="*/ 1705442 h 1705442"/>
                  <a:gd name="connsiteX3" fmla="*/ 0 w 1987550"/>
                  <a:gd name="connsiteY3" fmla="*/ 1705442 h 1705442"/>
                  <a:gd name="connsiteX4" fmla="*/ 0 w 1987550"/>
                  <a:gd name="connsiteY4" fmla="*/ 0 h 1705442"/>
                  <a:gd name="connsiteX0" fmla="*/ 0 w 1987550"/>
                  <a:gd name="connsiteY0" fmla="*/ 0 h 1705442"/>
                  <a:gd name="connsiteX1" fmla="*/ 1987550 w 1987550"/>
                  <a:gd name="connsiteY1" fmla="*/ 0 h 1705442"/>
                  <a:gd name="connsiteX2" fmla="*/ 1987550 w 1987550"/>
                  <a:gd name="connsiteY2" fmla="*/ 1705442 h 1705442"/>
                  <a:gd name="connsiteX3" fmla="*/ 266700 w 1987550"/>
                  <a:gd name="connsiteY3" fmla="*/ 1400642 h 1705442"/>
                  <a:gd name="connsiteX4" fmla="*/ 0 w 1987550"/>
                  <a:gd name="connsiteY4" fmla="*/ 0 h 1705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7550" h="1705442">
                    <a:moveTo>
                      <a:pt x="0" y="0"/>
                    </a:moveTo>
                    <a:lnTo>
                      <a:pt x="1987550" y="0"/>
                    </a:lnTo>
                    <a:lnTo>
                      <a:pt x="1987550" y="1705442"/>
                    </a:lnTo>
                    <a:lnTo>
                      <a:pt x="266700" y="1400642"/>
                    </a:lnTo>
                    <a:lnTo>
                      <a:pt x="0" y="0"/>
                    </a:lnTo>
                    <a:close/>
                  </a:path>
                </a:pathLst>
              </a:custGeom>
              <a:noFill/>
              <a:ln w="28575">
                <a:solidFill>
                  <a:srgbClr val="018C8C"/>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fr-FR" sz="1350" dirty="0">
                  <a:solidFill>
                    <a:srgbClr val="018C8C"/>
                  </a:solidFill>
                </a:endParaRPr>
              </a:p>
            </p:txBody>
          </p:sp>
        </p:grpSp>
        <p:grpSp>
          <p:nvGrpSpPr>
            <p:cNvPr id="57" name="Groupe 56">
              <a:extLst>
                <a:ext uri="{FF2B5EF4-FFF2-40B4-BE49-F238E27FC236}">
                  <a16:creationId xmlns:a16="http://schemas.microsoft.com/office/drawing/2014/main" id="{5D2E51EA-1FBA-4E5E-9EF1-B18942F1F706}"/>
                </a:ext>
              </a:extLst>
            </p:cNvPr>
            <p:cNvGrpSpPr/>
            <p:nvPr/>
          </p:nvGrpSpPr>
          <p:grpSpPr>
            <a:xfrm rot="10800000">
              <a:off x="6911155" y="3043842"/>
              <a:ext cx="3086100" cy="2483708"/>
              <a:chOff x="1060450" y="2306359"/>
              <a:chExt cx="3086100" cy="2483708"/>
            </a:xfrm>
          </p:grpSpPr>
          <p:pic>
            <p:nvPicPr>
              <p:cNvPr id="58" name="Image 57">
                <a:extLst>
                  <a:ext uri="{FF2B5EF4-FFF2-40B4-BE49-F238E27FC236}">
                    <a16:creationId xmlns:a16="http://schemas.microsoft.com/office/drawing/2014/main" id="{0910C584-F77D-431C-93BD-5E35C8418548}"/>
                  </a:ext>
                </a:extLst>
              </p:cNvPr>
              <p:cNvPicPr>
                <a:picLocks noChangeAspect="1"/>
              </p:cNvPicPr>
              <p:nvPr/>
            </p:nvPicPr>
            <p:blipFill>
              <a:blip r:embed="rId2"/>
              <a:stretch>
                <a:fillRect/>
              </a:stretch>
            </p:blipFill>
            <p:spPr>
              <a:xfrm>
                <a:off x="1060450" y="2401307"/>
                <a:ext cx="3086100" cy="2388760"/>
              </a:xfrm>
              <a:prstGeom prst="rect">
                <a:avLst/>
              </a:prstGeom>
            </p:spPr>
          </p:pic>
          <p:sp>
            <p:nvSpPr>
              <p:cNvPr id="59" name="Rectangle 10">
                <a:extLst>
                  <a:ext uri="{FF2B5EF4-FFF2-40B4-BE49-F238E27FC236}">
                    <a16:creationId xmlns:a16="http://schemas.microsoft.com/office/drawing/2014/main" id="{00A8EA85-A5C6-491C-A584-A3500357060D}"/>
                  </a:ext>
                </a:extLst>
              </p:cNvPr>
              <p:cNvSpPr/>
              <p:nvPr/>
            </p:nvSpPr>
            <p:spPr>
              <a:xfrm>
                <a:off x="1060450" y="3084625"/>
                <a:ext cx="2035175" cy="1705442"/>
              </a:xfrm>
              <a:custGeom>
                <a:avLst/>
                <a:gdLst>
                  <a:gd name="connsiteX0" fmla="*/ 0 w 1987550"/>
                  <a:gd name="connsiteY0" fmla="*/ 0 h 1705442"/>
                  <a:gd name="connsiteX1" fmla="*/ 1987550 w 1987550"/>
                  <a:gd name="connsiteY1" fmla="*/ 0 h 1705442"/>
                  <a:gd name="connsiteX2" fmla="*/ 1987550 w 1987550"/>
                  <a:gd name="connsiteY2" fmla="*/ 1705442 h 1705442"/>
                  <a:gd name="connsiteX3" fmla="*/ 0 w 1987550"/>
                  <a:gd name="connsiteY3" fmla="*/ 1705442 h 1705442"/>
                  <a:gd name="connsiteX4" fmla="*/ 0 w 1987550"/>
                  <a:gd name="connsiteY4" fmla="*/ 0 h 1705442"/>
                  <a:gd name="connsiteX0" fmla="*/ 0 w 2035175"/>
                  <a:gd name="connsiteY0" fmla="*/ 0 h 1705442"/>
                  <a:gd name="connsiteX1" fmla="*/ 2035175 w 2035175"/>
                  <a:gd name="connsiteY1" fmla="*/ 180975 h 1705442"/>
                  <a:gd name="connsiteX2" fmla="*/ 1987550 w 2035175"/>
                  <a:gd name="connsiteY2" fmla="*/ 1705442 h 1705442"/>
                  <a:gd name="connsiteX3" fmla="*/ 0 w 2035175"/>
                  <a:gd name="connsiteY3" fmla="*/ 1705442 h 1705442"/>
                  <a:gd name="connsiteX4" fmla="*/ 0 w 2035175"/>
                  <a:gd name="connsiteY4" fmla="*/ 0 h 1705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5175" h="1705442">
                    <a:moveTo>
                      <a:pt x="0" y="0"/>
                    </a:moveTo>
                    <a:lnTo>
                      <a:pt x="2035175" y="180975"/>
                    </a:lnTo>
                    <a:lnTo>
                      <a:pt x="1987550" y="1705442"/>
                    </a:lnTo>
                    <a:lnTo>
                      <a:pt x="0" y="1705442"/>
                    </a:lnTo>
                    <a:lnTo>
                      <a:pt x="0" y="0"/>
                    </a:lnTo>
                    <a:close/>
                  </a:path>
                </a:pathLst>
              </a:custGeom>
              <a:noFill/>
              <a:ln w="28575">
                <a:solidFill>
                  <a:srgbClr val="FFCBCC"/>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fr-FR" sz="1350" dirty="0"/>
              </a:p>
            </p:txBody>
          </p:sp>
          <p:sp>
            <p:nvSpPr>
              <p:cNvPr id="60" name="Rectangle 11">
                <a:extLst>
                  <a:ext uri="{FF2B5EF4-FFF2-40B4-BE49-F238E27FC236}">
                    <a16:creationId xmlns:a16="http://schemas.microsoft.com/office/drawing/2014/main" id="{9FDFDB97-1A4D-437C-B458-7A054A631710}"/>
                  </a:ext>
                </a:extLst>
              </p:cNvPr>
              <p:cNvSpPr/>
              <p:nvPr/>
            </p:nvSpPr>
            <p:spPr>
              <a:xfrm>
                <a:off x="1935959" y="2306359"/>
                <a:ext cx="1987550" cy="1705442"/>
              </a:xfrm>
              <a:custGeom>
                <a:avLst/>
                <a:gdLst>
                  <a:gd name="connsiteX0" fmla="*/ 0 w 1987550"/>
                  <a:gd name="connsiteY0" fmla="*/ 0 h 1705442"/>
                  <a:gd name="connsiteX1" fmla="*/ 1987550 w 1987550"/>
                  <a:gd name="connsiteY1" fmla="*/ 0 h 1705442"/>
                  <a:gd name="connsiteX2" fmla="*/ 1987550 w 1987550"/>
                  <a:gd name="connsiteY2" fmla="*/ 1705442 h 1705442"/>
                  <a:gd name="connsiteX3" fmla="*/ 0 w 1987550"/>
                  <a:gd name="connsiteY3" fmla="*/ 1705442 h 1705442"/>
                  <a:gd name="connsiteX4" fmla="*/ 0 w 1987550"/>
                  <a:gd name="connsiteY4" fmla="*/ 0 h 1705442"/>
                  <a:gd name="connsiteX0" fmla="*/ 0 w 1987550"/>
                  <a:gd name="connsiteY0" fmla="*/ 0 h 1705442"/>
                  <a:gd name="connsiteX1" fmla="*/ 1987550 w 1987550"/>
                  <a:gd name="connsiteY1" fmla="*/ 0 h 1705442"/>
                  <a:gd name="connsiteX2" fmla="*/ 1987550 w 1987550"/>
                  <a:gd name="connsiteY2" fmla="*/ 1705442 h 1705442"/>
                  <a:gd name="connsiteX3" fmla="*/ 266700 w 1987550"/>
                  <a:gd name="connsiteY3" fmla="*/ 1400642 h 1705442"/>
                  <a:gd name="connsiteX4" fmla="*/ 0 w 1987550"/>
                  <a:gd name="connsiteY4" fmla="*/ 0 h 1705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7550" h="1705442">
                    <a:moveTo>
                      <a:pt x="0" y="0"/>
                    </a:moveTo>
                    <a:lnTo>
                      <a:pt x="1987550" y="0"/>
                    </a:lnTo>
                    <a:lnTo>
                      <a:pt x="1987550" y="1705442"/>
                    </a:lnTo>
                    <a:lnTo>
                      <a:pt x="266700" y="1400642"/>
                    </a:lnTo>
                    <a:lnTo>
                      <a:pt x="0" y="0"/>
                    </a:lnTo>
                    <a:close/>
                  </a:path>
                </a:pathLst>
              </a:custGeom>
              <a:noFill/>
              <a:ln w="28575">
                <a:solidFill>
                  <a:srgbClr val="018C8C"/>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fr-FR" sz="1350" dirty="0">
                  <a:solidFill>
                    <a:srgbClr val="018C8C"/>
                  </a:solidFill>
                </a:endParaRPr>
              </a:p>
            </p:txBody>
          </p:sp>
        </p:grpSp>
        <p:grpSp>
          <p:nvGrpSpPr>
            <p:cNvPr id="68" name="Groupe 67">
              <a:extLst>
                <a:ext uri="{FF2B5EF4-FFF2-40B4-BE49-F238E27FC236}">
                  <a16:creationId xmlns:a16="http://schemas.microsoft.com/office/drawing/2014/main" id="{2B42BD56-41FD-40F8-963D-61D28411C3E4}"/>
                </a:ext>
              </a:extLst>
            </p:cNvPr>
            <p:cNvGrpSpPr/>
            <p:nvPr/>
          </p:nvGrpSpPr>
          <p:grpSpPr>
            <a:xfrm>
              <a:off x="2345503" y="4042658"/>
              <a:ext cx="5021265" cy="1162050"/>
              <a:chOff x="2305048" y="3533775"/>
              <a:chExt cx="5021265" cy="1162050"/>
            </a:xfrm>
          </p:grpSpPr>
          <p:sp>
            <p:nvSpPr>
              <p:cNvPr id="85" name="Ellipse 84">
                <a:extLst>
                  <a:ext uri="{FF2B5EF4-FFF2-40B4-BE49-F238E27FC236}">
                    <a16:creationId xmlns:a16="http://schemas.microsoft.com/office/drawing/2014/main" id="{5B5D6736-C642-49B9-9ADE-BC474BBC2E94}"/>
                  </a:ext>
                </a:extLst>
              </p:cNvPr>
              <p:cNvSpPr/>
              <p:nvPr/>
            </p:nvSpPr>
            <p:spPr>
              <a:xfrm>
                <a:off x="2305048" y="4450958"/>
                <a:ext cx="279400" cy="244867"/>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87" name="Connecteur droit avec flèche 86">
                <a:extLst>
                  <a:ext uri="{FF2B5EF4-FFF2-40B4-BE49-F238E27FC236}">
                    <a16:creationId xmlns:a16="http://schemas.microsoft.com/office/drawing/2014/main" id="{B58CF8C4-C78C-4F16-B911-258828785175}"/>
                  </a:ext>
                </a:extLst>
              </p:cNvPr>
              <p:cNvCxnSpPr>
                <a:stCxn id="85" idx="6"/>
              </p:cNvCxnSpPr>
              <p:nvPr/>
            </p:nvCxnSpPr>
            <p:spPr>
              <a:xfrm flipV="1">
                <a:off x="2584448" y="3533775"/>
                <a:ext cx="4741865" cy="103961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8" name="Groupe 87">
              <a:extLst>
                <a:ext uri="{FF2B5EF4-FFF2-40B4-BE49-F238E27FC236}">
                  <a16:creationId xmlns:a16="http://schemas.microsoft.com/office/drawing/2014/main" id="{65260A18-F811-4C20-8727-10E9BC319DFA}"/>
                </a:ext>
              </a:extLst>
            </p:cNvPr>
            <p:cNvGrpSpPr/>
            <p:nvPr/>
          </p:nvGrpSpPr>
          <p:grpSpPr>
            <a:xfrm>
              <a:off x="2451863" y="3487611"/>
              <a:ext cx="6109735" cy="1377282"/>
              <a:chOff x="2411408" y="2978728"/>
              <a:chExt cx="6109735" cy="1377282"/>
            </a:xfrm>
          </p:grpSpPr>
          <p:grpSp>
            <p:nvGrpSpPr>
              <p:cNvPr id="89" name="Groupe 88">
                <a:extLst>
                  <a:ext uri="{FF2B5EF4-FFF2-40B4-BE49-F238E27FC236}">
                    <a16:creationId xmlns:a16="http://schemas.microsoft.com/office/drawing/2014/main" id="{D7BBA532-D278-4D1F-B604-EC7E12F4D3C5}"/>
                  </a:ext>
                </a:extLst>
              </p:cNvPr>
              <p:cNvGrpSpPr/>
              <p:nvPr/>
            </p:nvGrpSpPr>
            <p:grpSpPr>
              <a:xfrm>
                <a:off x="2411408" y="3145414"/>
                <a:ext cx="5818192" cy="1210596"/>
                <a:chOff x="2411408" y="3145414"/>
                <a:chExt cx="5818192" cy="1210596"/>
              </a:xfrm>
            </p:grpSpPr>
            <p:sp>
              <p:nvSpPr>
                <p:cNvPr id="91" name="Ellipse 90">
                  <a:extLst>
                    <a:ext uri="{FF2B5EF4-FFF2-40B4-BE49-F238E27FC236}">
                      <a16:creationId xmlns:a16="http://schemas.microsoft.com/office/drawing/2014/main" id="{C751796A-1AD3-45CC-9879-BD8D21CD0164}"/>
                    </a:ext>
                  </a:extLst>
                </p:cNvPr>
                <p:cNvSpPr/>
                <p:nvPr/>
              </p:nvSpPr>
              <p:spPr>
                <a:xfrm>
                  <a:off x="2411408" y="4022637"/>
                  <a:ext cx="377512" cy="333373"/>
                </a:xfrm>
                <a:prstGeom prst="ellipse">
                  <a:avLst/>
                </a:prstGeom>
                <a:noFill/>
                <a:ln>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92" name="Connecteur droit avec flèche 91">
                  <a:extLst>
                    <a:ext uri="{FF2B5EF4-FFF2-40B4-BE49-F238E27FC236}">
                      <a16:creationId xmlns:a16="http://schemas.microsoft.com/office/drawing/2014/main" id="{31FCDB6E-BA2C-413F-A77C-4B76DB03A222}"/>
                    </a:ext>
                  </a:extLst>
                </p:cNvPr>
                <p:cNvCxnSpPr>
                  <a:stCxn id="91" idx="6"/>
                </p:cNvCxnSpPr>
                <p:nvPr/>
              </p:nvCxnSpPr>
              <p:spPr>
                <a:xfrm flipV="1">
                  <a:off x="2788920" y="3145414"/>
                  <a:ext cx="5440680" cy="104391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sp>
            <p:nvSpPr>
              <p:cNvPr id="90" name="Ellipse 89">
                <a:extLst>
                  <a:ext uri="{FF2B5EF4-FFF2-40B4-BE49-F238E27FC236}">
                    <a16:creationId xmlns:a16="http://schemas.microsoft.com/office/drawing/2014/main" id="{7666EE55-484E-4D1C-8368-0F0959DC398B}"/>
                  </a:ext>
                </a:extLst>
              </p:cNvPr>
              <p:cNvSpPr/>
              <p:nvPr/>
            </p:nvSpPr>
            <p:spPr>
              <a:xfrm>
                <a:off x="8122998" y="2978728"/>
                <a:ext cx="398145" cy="384068"/>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pic>
          <p:nvPicPr>
            <p:cNvPr id="4" name="Image 3">
              <a:extLst>
                <a:ext uri="{FF2B5EF4-FFF2-40B4-BE49-F238E27FC236}">
                  <a16:creationId xmlns:a16="http://schemas.microsoft.com/office/drawing/2014/main" id="{3921795F-E045-452C-AD23-25D71E2B725C}"/>
                </a:ext>
              </a:extLst>
            </p:cNvPr>
            <p:cNvPicPr>
              <a:picLocks noChangeAspect="1"/>
            </p:cNvPicPr>
            <p:nvPr/>
          </p:nvPicPr>
          <p:blipFill rotWithShape="1">
            <a:blip r:embed="rId3"/>
            <a:srcRect b="51427"/>
            <a:stretch/>
          </p:blipFill>
          <p:spPr>
            <a:xfrm>
              <a:off x="344361" y="2163157"/>
              <a:ext cx="4759429" cy="245880"/>
            </a:xfrm>
            <a:prstGeom prst="rect">
              <a:avLst/>
            </a:prstGeom>
          </p:spPr>
        </p:pic>
        <p:pic>
          <p:nvPicPr>
            <p:cNvPr id="93" name="Image 92">
              <a:extLst>
                <a:ext uri="{FF2B5EF4-FFF2-40B4-BE49-F238E27FC236}">
                  <a16:creationId xmlns:a16="http://schemas.microsoft.com/office/drawing/2014/main" id="{CBA5DF81-AB1A-4B14-BB65-744C7F121496}"/>
                </a:ext>
              </a:extLst>
            </p:cNvPr>
            <p:cNvPicPr>
              <a:picLocks noChangeAspect="1"/>
            </p:cNvPicPr>
            <p:nvPr/>
          </p:nvPicPr>
          <p:blipFill rotWithShape="1">
            <a:blip r:embed="rId3"/>
            <a:srcRect t="48572" b="1896"/>
            <a:stretch/>
          </p:blipFill>
          <p:spPr>
            <a:xfrm>
              <a:off x="5582365" y="2163157"/>
              <a:ext cx="4759429" cy="250736"/>
            </a:xfrm>
            <a:prstGeom prst="rect">
              <a:avLst/>
            </a:prstGeom>
          </p:spPr>
        </p:pic>
        <p:sp>
          <p:nvSpPr>
            <p:cNvPr id="94" name="Légende : flèche courbée 93">
              <a:extLst>
                <a:ext uri="{FF2B5EF4-FFF2-40B4-BE49-F238E27FC236}">
                  <a16:creationId xmlns:a16="http://schemas.microsoft.com/office/drawing/2014/main" id="{AF9A9D21-873B-476A-BE74-7036C3389758}"/>
                </a:ext>
              </a:extLst>
            </p:cNvPr>
            <p:cNvSpPr/>
            <p:nvPr/>
          </p:nvSpPr>
          <p:spPr>
            <a:xfrm>
              <a:off x="931578" y="5581001"/>
              <a:ext cx="923308" cy="219102"/>
            </a:xfrm>
            <a:prstGeom prst="borderCallout2">
              <a:avLst>
                <a:gd name="adj1" fmla="val 29637"/>
                <a:gd name="adj2" fmla="val 106236"/>
                <a:gd name="adj3" fmla="val 29637"/>
                <a:gd name="adj4" fmla="val 116446"/>
                <a:gd name="adj5" fmla="val -188711"/>
                <a:gd name="adj6" fmla="val 12599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TRAIN</a:t>
              </a:r>
            </a:p>
          </p:txBody>
        </p:sp>
        <p:sp>
          <p:nvSpPr>
            <p:cNvPr id="95" name="Légende : flèche courbée 94">
              <a:extLst>
                <a:ext uri="{FF2B5EF4-FFF2-40B4-BE49-F238E27FC236}">
                  <a16:creationId xmlns:a16="http://schemas.microsoft.com/office/drawing/2014/main" id="{296DF019-401F-48D2-966A-D7513FBDD858}"/>
                </a:ext>
              </a:extLst>
            </p:cNvPr>
            <p:cNvSpPr/>
            <p:nvPr/>
          </p:nvSpPr>
          <p:spPr>
            <a:xfrm>
              <a:off x="778521" y="2643614"/>
              <a:ext cx="923308" cy="219102"/>
            </a:xfrm>
            <a:prstGeom prst="borderCallout2">
              <a:avLst>
                <a:gd name="adj1" fmla="val 29637"/>
                <a:gd name="adj2" fmla="val 106236"/>
                <a:gd name="adj3" fmla="val 29637"/>
                <a:gd name="adj4" fmla="val 116446"/>
                <a:gd name="adj5" fmla="val 188709"/>
                <a:gd name="adj6" fmla="val 174219"/>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TEST</a:t>
              </a:r>
            </a:p>
          </p:txBody>
        </p:sp>
        <p:sp>
          <p:nvSpPr>
            <p:cNvPr id="96" name="Légende : flèche courbée 95">
              <a:extLst>
                <a:ext uri="{FF2B5EF4-FFF2-40B4-BE49-F238E27FC236}">
                  <a16:creationId xmlns:a16="http://schemas.microsoft.com/office/drawing/2014/main" id="{871CF9EB-152A-4385-AF5D-028A6660B4BF}"/>
                </a:ext>
              </a:extLst>
            </p:cNvPr>
            <p:cNvSpPr/>
            <p:nvPr/>
          </p:nvSpPr>
          <p:spPr>
            <a:xfrm>
              <a:off x="6473048" y="5581001"/>
              <a:ext cx="923308" cy="219102"/>
            </a:xfrm>
            <a:prstGeom prst="borderCallout2">
              <a:avLst>
                <a:gd name="adj1" fmla="val 29637"/>
                <a:gd name="adj2" fmla="val 106236"/>
                <a:gd name="adj3" fmla="val 29637"/>
                <a:gd name="adj4" fmla="val 116446"/>
                <a:gd name="adj5" fmla="val -188711"/>
                <a:gd name="adj6" fmla="val 12599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TEST</a:t>
              </a:r>
            </a:p>
          </p:txBody>
        </p:sp>
        <p:sp>
          <p:nvSpPr>
            <p:cNvPr id="97" name="Légende : flèche courbée 96">
              <a:extLst>
                <a:ext uri="{FF2B5EF4-FFF2-40B4-BE49-F238E27FC236}">
                  <a16:creationId xmlns:a16="http://schemas.microsoft.com/office/drawing/2014/main" id="{EFDFB9D4-7810-4F5A-8327-288D8CDE1E82}"/>
                </a:ext>
              </a:extLst>
            </p:cNvPr>
            <p:cNvSpPr/>
            <p:nvPr/>
          </p:nvSpPr>
          <p:spPr>
            <a:xfrm>
              <a:off x="6319991" y="2643614"/>
              <a:ext cx="923308" cy="219102"/>
            </a:xfrm>
            <a:prstGeom prst="borderCallout2">
              <a:avLst>
                <a:gd name="adj1" fmla="val 29637"/>
                <a:gd name="adj2" fmla="val 106236"/>
                <a:gd name="adj3" fmla="val 29637"/>
                <a:gd name="adj4" fmla="val 116446"/>
                <a:gd name="adj5" fmla="val 188709"/>
                <a:gd name="adj6" fmla="val 174219"/>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TRAIN</a:t>
              </a:r>
            </a:p>
          </p:txBody>
        </p:sp>
      </p:grpSp>
    </p:spTree>
    <p:extLst>
      <p:ext uri="{BB962C8B-B14F-4D97-AF65-F5344CB8AC3E}">
        <p14:creationId xmlns:p14="http://schemas.microsoft.com/office/powerpoint/2010/main" val="259795173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170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Random Forest :</a:t>
            </a:r>
            <a:r>
              <a:rPr lang="fr-FR" sz="2100" b="0" dirty="0"/>
              <a:t> validation croisée</a:t>
            </a:r>
          </a:p>
        </p:txBody>
      </p:sp>
      <p:grpSp>
        <p:nvGrpSpPr>
          <p:cNvPr id="8" name="Groupe 7">
            <a:extLst>
              <a:ext uri="{FF2B5EF4-FFF2-40B4-BE49-F238E27FC236}">
                <a16:creationId xmlns:a16="http://schemas.microsoft.com/office/drawing/2014/main" id="{E5963E4C-F9AA-45FE-83C8-161FA1FA541E}"/>
              </a:ext>
            </a:extLst>
          </p:cNvPr>
          <p:cNvGrpSpPr/>
          <p:nvPr/>
        </p:nvGrpSpPr>
        <p:grpSpPr>
          <a:xfrm>
            <a:off x="1150802" y="1095310"/>
            <a:ext cx="6842396" cy="3945797"/>
            <a:chOff x="244016" y="1460412"/>
            <a:chExt cx="9123194" cy="5261063"/>
          </a:xfrm>
        </p:grpSpPr>
        <p:grpSp>
          <p:nvGrpSpPr>
            <p:cNvPr id="6" name="Groupe 5">
              <a:extLst>
                <a:ext uri="{FF2B5EF4-FFF2-40B4-BE49-F238E27FC236}">
                  <a16:creationId xmlns:a16="http://schemas.microsoft.com/office/drawing/2014/main" id="{FC4938E8-26EA-4606-BD1E-46F6678F0546}"/>
                </a:ext>
              </a:extLst>
            </p:cNvPr>
            <p:cNvGrpSpPr/>
            <p:nvPr/>
          </p:nvGrpSpPr>
          <p:grpSpPr>
            <a:xfrm>
              <a:off x="244016" y="1460412"/>
              <a:ext cx="8597607" cy="4250466"/>
              <a:chOff x="244016" y="1460412"/>
              <a:chExt cx="8597607" cy="4250466"/>
            </a:xfrm>
          </p:grpSpPr>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027691FB-4FCC-4F75-AE6F-89FD3674F458}"/>
                      </a:ext>
                    </a:extLst>
                  </p:cNvPr>
                  <p:cNvSpPr txBox="1"/>
                  <p:nvPr/>
                </p:nvSpPr>
                <p:spPr>
                  <a:xfrm>
                    <a:off x="244016" y="2257393"/>
                    <a:ext cx="1022311" cy="2847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788" i="1">
                              <a:latin typeface="Cambria Math" panose="02040503050406030204" pitchFamily="18" charset="0"/>
                            </a:rPr>
                            <m:t>𝑖𝑡</m:t>
                          </m:r>
                          <m:r>
                            <a:rPr lang="fr-FR" sz="788" i="1">
                              <a:latin typeface="Cambria Math" panose="02040503050406030204" pitchFamily="18" charset="0"/>
                            </a:rPr>
                            <m:t>é</m:t>
                          </m:r>
                          <m:r>
                            <a:rPr lang="fr-FR" sz="788" i="1">
                              <a:latin typeface="Cambria Math" panose="02040503050406030204" pitchFamily="18" charset="0"/>
                            </a:rPr>
                            <m:t>𝑟𝑎𝑡𝑖𝑜𝑛</m:t>
                          </m:r>
                          <m:r>
                            <a:rPr lang="fr-FR" sz="788" i="1">
                              <a:latin typeface="Cambria Math" panose="02040503050406030204" pitchFamily="18" charset="0"/>
                            </a:rPr>
                            <m:t> 1</m:t>
                          </m:r>
                        </m:oMath>
                      </m:oMathPara>
                    </a14:m>
                    <a:endParaRPr lang="fr-FR" sz="788" dirty="0"/>
                  </a:p>
                </p:txBody>
              </p:sp>
            </mc:Choice>
            <mc:Fallback xmlns="">
              <p:sp>
                <p:nvSpPr>
                  <p:cNvPr id="29" name="ZoneTexte 28">
                    <a:extLst>
                      <a:ext uri="{FF2B5EF4-FFF2-40B4-BE49-F238E27FC236}">
                        <a16:creationId xmlns:a16="http://schemas.microsoft.com/office/drawing/2014/main" id="{027691FB-4FCC-4F75-AE6F-89FD3674F458}"/>
                      </a:ext>
                    </a:extLst>
                  </p:cNvPr>
                  <p:cNvSpPr txBox="1">
                    <a:spLocks noRot="1" noChangeAspect="1" noMove="1" noResize="1" noEditPoints="1" noAdjustHandles="1" noChangeArrowheads="1" noChangeShapeType="1" noTextEdit="1"/>
                  </p:cNvSpPr>
                  <p:nvPr/>
                </p:nvSpPr>
                <p:spPr>
                  <a:xfrm>
                    <a:off x="244016" y="2257393"/>
                    <a:ext cx="1022311" cy="284780"/>
                  </a:xfrm>
                  <a:prstGeom prst="rect">
                    <a:avLst/>
                  </a:prstGeom>
                  <a:blipFill>
                    <a:blip r:embed="rId2"/>
                    <a:stretch>
                      <a:fillRect/>
                    </a:stretch>
                  </a:blipFill>
                </p:spPr>
                <p:txBody>
                  <a:bodyPr/>
                  <a:lstStyle/>
                  <a:p>
                    <a:r>
                      <a:rPr lang="fr-FR">
                        <a:noFill/>
                      </a:rPr>
                      <a:t> </a:t>
                    </a:r>
                  </a:p>
                </p:txBody>
              </p:sp>
            </mc:Fallback>
          </mc:AlternateContent>
          <p:sp>
            <p:nvSpPr>
              <p:cNvPr id="34" name="Rectangle 33">
                <a:extLst>
                  <a:ext uri="{FF2B5EF4-FFF2-40B4-BE49-F238E27FC236}">
                    <a16:creationId xmlns:a16="http://schemas.microsoft.com/office/drawing/2014/main" id="{2B0B1D29-EBDF-4A2F-B447-42DBC8C8F0E3}"/>
                  </a:ext>
                </a:extLst>
              </p:cNvPr>
              <p:cNvSpPr/>
              <p:nvPr/>
            </p:nvSpPr>
            <p:spPr>
              <a:xfrm>
                <a:off x="1411418" y="2276351"/>
                <a:ext cx="532616" cy="216000"/>
              </a:xfrm>
              <a:prstGeom prst="rect">
                <a:avLst/>
              </a:prstGeom>
              <a:solidFill>
                <a:srgbClr val="ED7862"/>
              </a:solidFill>
              <a:ln>
                <a:solidFill>
                  <a:srgbClr val="ED786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750" dirty="0">
                  <a:solidFill>
                    <a:schemeClr val="tx1">
                      <a:lumMod val="50000"/>
                    </a:schemeClr>
                  </a:solidFill>
                </a:endParaRPr>
              </a:p>
            </p:txBody>
          </p:sp>
          <p:sp>
            <p:nvSpPr>
              <p:cNvPr id="38" name="Rectangle 37">
                <a:extLst>
                  <a:ext uri="{FF2B5EF4-FFF2-40B4-BE49-F238E27FC236}">
                    <a16:creationId xmlns:a16="http://schemas.microsoft.com/office/drawing/2014/main" id="{52CD55E3-1040-4BB0-AC0C-2C98194623C3}"/>
                  </a:ext>
                </a:extLst>
              </p:cNvPr>
              <p:cNvSpPr/>
              <p:nvPr/>
            </p:nvSpPr>
            <p:spPr>
              <a:xfrm>
                <a:off x="1411418" y="3666044"/>
                <a:ext cx="532616" cy="216000"/>
              </a:xfrm>
              <a:prstGeom prst="rect">
                <a:avLst/>
              </a:prstGeom>
              <a:solidFill>
                <a:srgbClr val="098F8D"/>
              </a:solidFill>
              <a:ln>
                <a:solidFill>
                  <a:srgbClr val="098F8D"/>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750" dirty="0">
                  <a:solidFill>
                    <a:schemeClr val="tx1">
                      <a:lumMod val="50000"/>
                    </a:schemeClr>
                  </a:solidFill>
                </a:endParaRPr>
              </a:p>
            </p:txBody>
          </p:sp>
          <p:sp>
            <p:nvSpPr>
              <p:cNvPr id="41" name="Rectangle 40">
                <a:extLst>
                  <a:ext uri="{FF2B5EF4-FFF2-40B4-BE49-F238E27FC236}">
                    <a16:creationId xmlns:a16="http://schemas.microsoft.com/office/drawing/2014/main" id="{DCF19CEE-4B7A-4378-B835-C81080909264}"/>
                  </a:ext>
                </a:extLst>
              </p:cNvPr>
              <p:cNvSpPr/>
              <p:nvPr/>
            </p:nvSpPr>
            <p:spPr>
              <a:xfrm>
                <a:off x="1411418" y="5067887"/>
                <a:ext cx="532616" cy="216000"/>
              </a:xfrm>
              <a:prstGeom prst="rect">
                <a:avLst/>
              </a:prstGeom>
              <a:solidFill>
                <a:srgbClr val="ED7862"/>
              </a:solidFill>
              <a:ln>
                <a:solidFill>
                  <a:srgbClr val="ED786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750" dirty="0">
                  <a:solidFill>
                    <a:schemeClr val="tx1">
                      <a:lumMod val="50000"/>
                    </a:schemeClr>
                  </a:solidFill>
                </a:endParaRPr>
              </a:p>
            </p:txBody>
          </p:sp>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00C9968E-7E48-45F7-BBBF-D3DA8E91F10E}"/>
                      </a:ext>
                    </a:extLst>
                  </p:cNvPr>
                  <p:cNvSpPr txBox="1"/>
                  <p:nvPr/>
                </p:nvSpPr>
                <p:spPr>
                  <a:xfrm>
                    <a:off x="244016" y="3648004"/>
                    <a:ext cx="1022311" cy="2847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788" i="1">
                              <a:latin typeface="Cambria Math" panose="02040503050406030204" pitchFamily="18" charset="0"/>
                            </a:rPr>
                            <m:t>𝑖𝑡</m:t>
                          </m:r>
                          <m:r>
                            <a:rPr lang="fr-FR" sz="788" i="1">
                              <a:latin typeface="Cambria Math" panose="02040503050406030204" pitchFamily="18" charset="0"/>
                            </a:rPr>
                            <m:t>é</m:t>
                          </m:r>
                          <m:r>
                            <a:rPr lang="fr-FR" sz="788" i="1">
                              <a:latin typeface="Cambria Math" panose="02040503050406030204" pitchFamily="18" charset="0"/>
                            </a:rPr>
                            <m:t>𝑟𝑎𝑡𝑖𝑜𝑛</m:t>
                          </m:r>
                          <m:r>
                            <a:rPr lang="fr-FR" sz="788" i="1">
                              <a:latin typeface="Cambria Math" panose="02040503050406030204" pitchFamily="18" charset="0"/>
                            </a:rPr>
                            <m:t> 2</m:t>
                          </m:r>
                        </m:oMath>
                      </m:oMathPara>
                    </a14:m>
                    <a:endParaRPr lang="fr-FR" sz="788" dirty="0"/>
                  </a:p>
                </p:txBody>
              </p:sp>
            </mc:Choice>
            <mc:Fallback xmlns="">
              <p:sp>
                <p:nvSpPr>
                  <p:cNvPr id="43" name="ZoneTexte 42">
                    <a:extLst>
                      <a:ext uri="{FF2B5EF4-FFF2-40B4-BE49-F238E27FC236}">
                        <a16:creationId xmlns:a16="http://schemas.microsoft.com/office/drawing/2014/main" id="{00C9968E-7E48-45F7-BBBF-D3DA8E91F10E}"/>
                      </a:ext>
                    </a:extLst>
                  </p:cNvPr>
                  <p:cNvSpPr txBox="1">
                    <a:spLocks noRot="1" noChangeAspect="1" noMove="1" noResize="1" noEditPoints="1" noAdjustHandles="1" noChangeArrowheads="1" noChangeShapeType="1" noTextEdit="1"/>
                  </p:cNvSpPr>
                  <p:nvPr/>
                </p:nvSpPr>
                <p:spPr>
                  <a:xfrm>
                    <a:off x="244016" y="3648004"/>
                    <a:ext cx="1022311" cy="284780"/>
                  </a:xfrm>
                  <a:prstGeom prst="rect">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15EC29BB-DDE1-47D7-8056-B9E1BCBDF047}"/>
                      </a:ext>
                    </a:extLst>
                  </p:cNvPr>
                  <p:cNvSpPr txBox="1"/>
                  <p:nvPr/>
                </p:nvSpPr>
                <p:spPr>
                  <a:xfrm>
                    <a:off x="341400" y="5038615"/>
                    <a:ext cx="1022311" cy="284780"/>
                  </a:xfrm>
                  <a:prstGeom prst="rect">
                    <a:avLst/>
                  </a:prstGeom>
                  <a:noFill/>
                </p:spPr>
                <p:txBody>
                  <a:bodyPr wrap="square" rtlCol="0">
                    <a:spAutoFit/>
                  </a:bodyPr>
                  <a:lstStyle/>
                  <a:p>
                    <a14:m>
                      <m:oMath xmlns:m="http://schemas.openxmlformats.org/officeDocument/2006/math">
                        <m:r>
                          <a:rPr lang="fr-FR" sz="788" i="1">
                            <a:latin typeface="Cambria Math" panose="02040503050406030204" pitchFamily="18" charset="0"/>
                          </a:rPr>
                          <m:t>𝑖𝑡</m:t>
                        </m:r>
                        <m:r>
                          <a:rPr lang="fr-FR" sz="788" i="1">
                            <a:latin typeface="Cambria Math" panose="02040503050406030204" pitchFamily="18" charset="0"/>
                          </a:rPr>
                          <m:t>é</m:t>
                        </m:r>
                        <m:r>
                          <a:rPr lang="fr-FR" sz="788" i="1">
                            <a:latin typeface="Cambria Math" panose="02040503050406030204" pitchFamily="18" charset="0"/>
                          </a:rPr>
                          <m:t>𝑟𝑎𝑡𝑖𝑜𝑛</m:t>
                        </m:r>
                        <m:r>
                          <a:rPr lang="fr-FR" sz="788" i="1">
                            <a:latin typeface="Cambria Math" panose="02040503050406030204" pitchFamily="18" charset="0"/>
                          </a:rPr>
                          <m:t> </m:t>
                        </m:r>
                      </m:oMath>
                    </a14:m>
                    <a:r>
                      <a:rPr lang="fr-FR" sz="788" dirty="0"/>
                      <a:t>3</a:t>
                    </a:r>
                  </a:p>
                </p:txBody>
              </p:sp>
            </mc:Choice>
            <mc:Fallback xmlns="">
              <p:sp>
                <p:nvSpPr>
                  <p:cNvPr id="44" name="ZoneTexte 43">
                    <a:extLst>
                      <a:ext uri="{FF2B5EF4-FFF2-40B4-BE49-F238E27FC236}">
                        <a16:creationId xmlns:a16="http://schemas.microsoft.com/office/drawing/2014/main" id="{15EC29BB-DDE1-47D7-8056-B9E1BCBDF047}"/>
                      </a:ext>
                    </a:extLst>
                  </p:cNvPr>
                  <p:cNvSpPr txBox="1">
                    <a:spLocks noRot="1" noChangeAspect="1" noMove="1" noResize="1" noEditPoints="1" noAdjustHandles="1" noChangeArrowheads="1" noChangeShapeType="1" noTextEdit="1"/>
                  </p:cNvSpPr>
                  <p:nvPr/>
                </p:nvSpPr>
                <p:spPr>
                  <a:xfrm>
                    <a:off x="341400" y="5038615"/>
                    <a:ext cx="1022311" cy="284780"/>
                  </a:xfrm>
                  <a:prstGeom prst="rect">
                    <a:avLst/>
                  </a:prstGeom>
                  <a:blipFill>
                    <a:blip r:embed="rId4"/>
                    <a:stretch>
                      <a:fillRect b="-2857"/>
                    </a:stretch>
                  </a:blipFill>
                </p:spPr>
                <p:txBody>
                  <a:bodyPr/>
                  <a:lstStyle/>
                  <a:p>
                    <a:r>
                      <a:rPr lang="fr-FR">
                        <a:noFill/>
                      </a:rPr>
                      <a:t> </a:t>
                    </a:r>
                  </a:p>
                </p:txBody>
              </p:sp>
            </mc:Fallback>
          </mc:AlternateContent>
          <p:sp>
            <p:nvSpPr>
              <p:cNvPr id="48" name="Rectangle 47">
                <a:extLst>
                  <a:ext uri="{FF2B5EF4-FFF2-40B4-BE49-F238E27FC236}">
                    <a16:creationId xmlns:a16="http://schemas.microsoft.com/office/drawing/2014/main" id="{EB2BDB38-3487-435B-993E-A2B94EEBCE3A}"/>
                  </a:ext>
                </a:extLst>
              </p:cNvPr>
              <p:cNvSpPr/>
              <p:nvPr/>
            </p:nvSpPr>
            <p:spPr>
              <a:xfrm>
                <a:off x="2050574" y="2276351"/>
                <a:ext cx="532616" cy="216000"/>
              </a:xfrm>
              <a:prstGeom prst="rect">
                <a:avLst/>
              </a:prstGeom>
              <a:solidFill>
                <a:srgbClr val="ED7862"/>
              </a:solidFill>
              <a:ln>
                <a:solidFill>
                  <a:srgbClr val="ED786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750" dirty="0">
                  <a:solidFill>
                    <a:schemeClr val="tx1">
                      <a:lumMod val="50000"/>
                    </a:schemeClr>
                  </a:solidFill>
                </a:endParaRPr>
              </a:p>
            </p:txBody>
          </p:sp>
          <p:sp>
            <p:nvSpPr>
              <p:cNvPr id="49" name="Rectangle 48">
                <a:extLst>
                  <a:ext uri="{FF2B5EF4-FFF2-40B4-BE49-F238E27FC236}">
                    <a16:creationId xmlns:a16="http://schemas.microsoft.com/office/drawing/2014/main" id="{F7B759DA-DEE1-43D2-888C-BEF691E629E6}"/>
                  </a:ext>
                </a:extLst>
              </p:cNvPr>
              <p:cNvSpPr/>
              <p:nvPr/>
            </p:nvSpPr>
            <p:spPr>
              <a:xfrm>
                <a:off x="2689730" y="2276351"/>
                <a:ext cx="532616" cy="216000"/>
              </a:xfrm>
              <a:prstGeom prst="rect">
                <a:avLst/>
              </a:prstGeom>
              <a:solidFill>
                <a:srgbClr val="098F8D"/>
              </a:solidFill>
              <a:ln>
                <a:solidFill>
                  <a:srgbClr val="098F8D"/>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750" dirty="0">
                  <a:solidFill>
                    <a:schemeClr val="tx1">
                      <a:lumMod val="50000"/>
                    </a:schemeClr>
                  </a:solidFill>
                </a:endParaRPr>
              </a:p>
            </p:txBody>
          </p:sp>
          <p:sp>
            <p:nvSpPr>
              <p:cNvPr id="50" name="Rectangle 49">
                <a:extLst>
                  <a:ext uri="{FF2B5EF4-FFF2-40B4-BE49-F238E27FC236}">
                    <a16:creationId xmlns:a16="http://schemas.microsoft.com/office/drawing/2014/main" id="{8D585F07-5D3F-47D5-8352-D459BB8C889D}"/>
                  </a:ext>
                </a:extLst>
              </p:cNvPr>
              <p:cNvSpPr/>
              <p:nvPr/>
            </p:nvSpPr>
            <p:spPr>
              <a:xfrm>
                <a:off x="2689730" y="3674099"/>
                <a:ext cx="532616" cy="216000"/>
              </a:xfrm>
              <a:prstGeom prst="rect">
                <a:avLst/>
              </a:prstGeom>
              <a:solidFill>
                <a:srgbClr val="ED7862"/>
              </a:solidFill>
              <a:ln>
                <a:solidFill>
                  <a:srgbClr val="ED786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750" dirty="0">
                  <a:solidFill>
                    <a:schemeClr val="tx1">
                      <a:lumMod val="50000"/>
                    </a:schemeClr>
                  </a:solidFill>
                </a:endParaRPr>
              </a:p>
            </p:txBody>
          </p:sp>
          <p:sp>
            <p:nvSpPr>
              <p:cNvPr id="53" name="Rectangle 52">
                <a:extLst>
                  <a:ext uri="{FF2B5EF4-FFF2-40B4-BE49-F238E27FC236}">
                    <a16:creationId xmlns:a16="http://schemas.microsoft.com/office/drawing/2014/main" id="{2E1E9ED9-D363-422A-9EE0-C103DACB2624}"/>
                  </a:ext>
                </a:extLst>
              </p:cNvPr>
              <p:cNvSpPr/>
              <p:nvPr/>
            </p:nvSpPr>
            <p:spPr>
              <a:xfrm>
                <a:off x="2050574" y="3674099"/>
                <a:ext cx="532616" cy="216000"/>
              </a:xfrm>
              <a:prstGeom prst="rect">
                <a:avLst/>
              </a:prstGeom>
              <a:solidFill>
                <a:srgbClr val="ED7862"/>
              </a:solidFill>
              <a:ln>
                <a:solidFill>
                  <a:srgbClr val="ED786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750" dirty="0">
                  <a:solidFill>
                    <a:schemeClr val="tx1">
                      <a:lumMod val="50000"/>
                    </a:schemeClr>
                  </a:solidFill>
                </a:endParaRPr>
              </a:p>
            </p:txBody>
          </p:sp>
          <p:sp>
            <p:nvSpPr>
              <p:cNvPr id="61" name="Rectangle 60">
                <a:extLst>
                  <a:ext uri="{FF2B5EF4-FFF2-40B4-BE49-F238E27FC236}">
                    <a16:creationId xmlns:a16="http://schemas.microsoft.com/office/drawing/2014/main" id="{57F92EE0-D629-47BD-A902-FC98E490F8EA}"/>
                  </a:ext>
                </a:extLst>
              </p:cNvPr>
              <p:cNvSpPr/>
              <p:nvPr/>
            </p:nvSpPr>
            <p:spPr>
              <a:xfrm>
                <a:off x="2689730" y="5076531"/>
                <a:ext cx="532616" cy="216000"/>
              </a:xfrm>
              <a:prstGeom prst="rect">
                <a:avLst/>
              </a:prstGeom>
              <a:solidFill>
                <a:srgbClr val="ED7862"/>
              </a:solidFill>
              <a:ln>
                <a:solidFill>
                  <a:srgbClr val="ED7862"/>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750" dirty="0">
                  <a:solidFill>
                    <a:schemeClr val="tx1">
                      <a:lumMod val="50000"/>
                    </a:schemeClr>
                  </a:solidFill>
                </a:endParaRPr>
              </a:p>
            </p:txBody>
          </p:sp>
          <p:sp>
            <p:nvSpPr>
              <p:cNvPr id="62" name="Rectangle 61">
                <a:extLst>
                  <a:ext uri="{FF2B5EF4-FFF2-40B4-BE49-F238E27FC236}">
                    <a16:creationId xmlns:a16="http://schemas.microsoft.com/office/drawing/2014/main" id="{1FAE9D2F-0919-42E0-BB3F-E798812B6A35}"/>
                  </a:ext>
                </a:extLst>
              </p:cNvPr>
              <p:cNvSpPr/>
              <p:nvPr/>
            </p:nvSpPr>
            <p:spPr>
              <a:xfrm>
                <a:off x="2050574" y="5071848"/>
                <a:ext cx="532616" cy="216000"/>
              </a:xfrm>
              <a:prstGeom prst="rect">
                <a:avLst/>
              </a:prstGeom>
              <a:solidFill>
                <a:srgbClr val="098F8D"/>
              </a:solidFill>
              <a:ln>
                <a:solidFill>
                  <a:srgbClr val="098F8D"/>
                </a:solid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750" dirty="0">
                  <a:solidFill>
                    <a:schemeClr val="tx1">
                      <a:lumMod val="50000"/>
                    </a:schemeClr>
                  </a:solidFill>
                </a:endParaRPr>
              </a:p>
            </p:txBody>
          </p:sp>
          <p:sp>
            <p:nvSpPr>
              <p:cNvPr id="63" name="Rectangle : coins arrondis 62">
                <a:extLst>
                  <a:ext uri="{FF2B5EF4-FFF2-40B4-BE49-F238E27FC236}">
                    <a16:creationId xmlns:a16="http://schemas.microsoft.com/office/drawing/2014/main" id="{F505E386-673D-406F-AD0C-CB4AF49D17A4}"/>
                  </a:ext>
                </a:extLst>
              </p:cNvPr>
              <p:cNvSpPr/>
              <p:nvPr/>
            </p:nvSpPr>
            <p:spPr>
              <a:xfrm>
                <a:off x="5796955" y="1460412"/>
                <a:ext cx="923308" cy="219102"/>
              </a:xfrm>
              <a:prstGeom prst="round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1050" dirty="0"/>
                  <a:t>TEST</a:t>
                </a:r>
              </a:p>
            </p:txBody>
          </p:sp>
          <p:sp>
            <p:nvSpPr>
              <p:cNvPr id="64" name="Rectangle : coins arrondis 63">
                <a:extLst>
                  <a:ext uri="{FF2B5EF4-FFF2-40B4-BE49-F238E27FC236}">
                    <a16:creationId xmlns:a16="http://schemas.microsoft.com/office/drawing/2014/main" id="{C935390C-00EC-46F0-8743-68EEBCD3B6F1}"/>
                  </a:ext>
                </a:extLst>
              </p:cNvPr>
              <p:cNvSpPr/>
              <p:nvPr/>
            </p:nvSpPr>
            <p:spPr>
              <a:xfrm>
                <a:off x="4084287" y="1460412"/>
                <a:ext cx="923308" cy="21910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1050" dirty="0"/>
                  <a:t>TRAIN</a:t>
                </a:r>
              </a:p>
            </p:txBody>
          </p:sp>
          <p:pic>
            <p:nvPicPr>
              <p:cNvPr id="3" name="Image 2">
                <a:extLst>
                  <a:ext uri="{FF2B5EF4-FFF2-40B4-BE49-F238E27FC236}">
                    <a16:creationId xmlns:a16="http://schemas.microsoft.com/office/drawing/2014/main" id="{0A2711BD-F5A8-4C01-8281-8CFC4C33A928}"/>
                  </a:ext>
                </a:extLst>
              </p:cNvPr>
              <p:cNvPicPr>
                <a:picLocks noChangeAspect="1"/>
              </p:cNvPicPr>
              <p:nvPr/>
            </p:nvPicPr>
            <p:blipFill>
              <a:blip r:embed="rId5">
                <a:duotone>
                  <a:prstClr val="black"/>
                  <a:srgbClr val="ED7862">
                    <a:tint val="45000"/>
                    <a:satMod val="400000"/>
                  </a:srgbClr>
                </a:duotone>
              </a:blip>
              <a:stretch>
                <a:fillRect/>
              </a:stretch>
            </p:blipFill>
            <p:spPr>
              <a:xfrm>
                <a:off x="3528193" y="1625958"/>
                <a:ext cx="2035496" cy="1356998"/>
              </a:xfrm>
              <a:prstGeom prst="rect">
                <a:avLst/>
              </a:prstGeom>
            </p:spPr>
          </p:pic>
          <p:pic>
            <p:nvPicPr>
              <p:cNvPr id="65" name="Image 64">
                <a:extLst>
                  <a:ext uri="{FF2B5EF4-FFF2-40B4-BE49-F238E27FC236}">
                    <a16:creationId xmlns:a16="http://schemas.microsoft.com/office/drawing/2014/main" id="{13F51EAF-976F-4060-9807-295EE46BE568}"/>
                  </a:ext>
                </a:extLst>
              </p:cNvPr>
              <p:cNvPicPr>
                <a:picLocks noChangeAspect="1"/>
              </p:cNvPicPr>
              <p:nvPr/>
            </p:nvPicPr>
            <p:blipFill>
              <a:blip r:embed="rId5">
                <a:duotone>
                  <a:prstClr val="black"/>
                  <a:srgbClr val="098F8D">
                    <a:tint val="45000"/>
                    <a:satMod val="400000"/>
                  </a:srgbClr>
                </a:duotone>
              </a:blip>
              <a:stretch>
                <a:fillRect/>
              </a:stretch>
            </p:blipFill>
            <p:spPr>
              <a:xfrm>
                <a:off x="5112352" y="1623481"/>
                <a:ext cx="2035496" cy="1356998"/>
              </a:xfrm>
              <a:prstGeom prst="rect">
                <a:avLst/>
              </a:prstGeom>
            </p:spPr>
          </p:pic>
          <p:sp>
            <p:nvSpPr>
              <p:cNvPr id="66" name="Rectangle : coins arrondis 65">
                <a:extLst>
                  <a:ext uri="{FF2B5EF4-FFF2-40B4-BE49-F238E27FC236}">
                    <a16:creationId xmlns:a16="http://schemas.microsoft.com/office/drawing/2014/main" id="{43D4B658-9E4C-42DC-BC3C-377AD525995A}"/>
                  </a:ext>
                </a:extLst>
              </p:cNvPr>
              <p:cNvSpPr/>
              <p:nvPr/>
            </p:nvSpPr>
            <p:spPr>
              <a:xfrm>
                <a:off x="7509623" y="1475395"/>
                <a:ext cx="1332000" cy="219102"/>
              </a:xfrm>
              <a:prstGeom prst="round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800" dirty="0"/>
                  <a:t>PERFORMANCE</a:t>
                </a:r>
              </a:p>
            </p:txBody>
          </p:sp>
          <p:sp>
            <p:nvSpPr>
              <p:cNvPr id="67" name="Rectangle : coins arrondis 66">
                <a:extLst>
                  <a:ext uri="{FF2B5EF4-FFF2-40B4-BE49-F238E27FC236}">
                    <a16:creationId xmlns:a16="http://schemas.microsoft.com/office/drawing/2014/main" id="{12E7BD4A-CCD3-43E6-BE9C-8A35B618F35C}"/>
                  </a:ext>
                </a:extLst>
              </p:cNvPr>
              <p:cNvSpPr/>
              <p:nvPr/>
            </p:nvSpPr>
            <p:spPr>
              <a:xfrm>
                <a:off x="7825556" y="2025122"/>
                <a:ext cx="923308" cy="718457"/>
              </a:xfrm>
              <a:prstGeom prst="roundRect">
                <a:avLst/>
              </a:prstGeom>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1050" b="1" dirty="0">
                    <a:solidFill>
                      <a:schemeClr val="accent1"/>
                    </a:solidFill>
                  </a:rPr>
                  <a:t>77%</a:t>
                </a:r>
              </a:p>
            </p:txBody>
          </p:sp>
          <p:pic>
            <p:nvPicPr>
              <p:cNvPr id="69" name="Image 68">
                <a:extLst>
                  <a:ext uri="{FF2B5EF4-FFF2-40B4-BE49-F238E27FC236}">
                    <a16:creationId xmlns:a16="http://schemas.microsoft.com/office/drawing/2014/main" id="{EBAFA182-5977-4394-ADEE-65D2B0A30462}"/>
                  </a:ext>
                </a:extLst>
              </p:cNvPr>
              <p:cNvPicPr>
                <a:picLocks noChangeAspect="1"/>
              </p:cNvPicPr>
              <p:nvPr/>
            </p:nvPicPr>
            <p:blipFill>
              <a:blip r:embed="rId5">
                <a:duotone>
                  <a:prstClr val="black"/>
                  <a:srgbClr val="ED7862">
                    <a:tint val="45000"/>
                    <a:satMod val="400000"/>
                  </a:srgbClr>
                </a:duotone>
              </a:blip>
              <a:stretch>
                <a:fillRect/>
              </a:stretch>
            </p:blipFill>
            <p:spPr>
              <a:xfrm>
                <a:off x="3528193" y="3009898"/>
                <a:ext cx="2035496" cy="1356998"/>
              </a:xfrm>
              <a:prstGeom prst="rect">
                <a:avLst/>
              </a:prstGeom>
            </p:spPr>
          </p:pic>
          <p:pic>
            <p:nvPicPr>
              <p:cNvPr id="70" name="Image 69">
                <a:extLst>
                  <a:ext uri="{FF2B5EF4-FFF2-40B4-BE49-F238E27FC236}">
                    <a16:creationId xmlns:a16="http://schemas.microsoft.com/office/drawing/2014/main" id="{6BF34324-CC6E-498B-8386-0FFC15583CAF}"/>
                  </a:ext>
                </a:extLst>
              </p:cNvPr>
              <p:cNvPicPr>
                <a:picLocks noChangeAspect="1"/>
              </p:cNvPicPr>
              <p:nvPr/>
            </p:nvPicPr>
            <p:blipFill>
              <a:blip r:embed="rId5">
                <a:duotone>
                  <a:prstClr val="black"/>
                  <a:srgbClr val="098F8D">
                    <a:tint val="45000"/>
                    <a:satMod val="400000"/>
                  </a:srgbClr>
                </a:duotone>
              </a:blip>
              <a:stretch>
                <a:fillRect/>
              </a:stretch>
            </p:blipFill>
            <p:spPr>
              <a:xfrm>
                <a:off x="5112352" y="3007421"/>
                <a:ext cx="2035496" cy="1356998"/>
              </a:xfrm>
              <a:prstGeom prst="rect">
                <a:avLst/>
              </a:prstGeom>
            </p:spPr>
          </p:pic>
          <p:sp>
            <p:nvSpPr>
              <p:cNvPr id="71" name="Rectangle : coins arrondis 70">
                <a:extLst>
                  <a:ext uri="{FF2B5EF4-FFF2-40B4-BE49-F238E27FC236}">
                    <a16:creationId xmlns:a16="http://schemas.microsoft.com/office/drawing/2014/main" id="{FE7C2317-D2C7-41F9-B333-BB75ACE8744D}"/>
                  </a:ext>
                </a:extLst>
              </p:cNvPr>
              <p:cNvSpPr/>
              <p:nvPr/>
            </p:nvSpPr>
            <p:spPr>
              <a:xfrm>
                <a:off x="7825556" y="3409062"/>
                <a:ext cx="923308" cy="718457"/>
              </a:xfrm>
              <a:prstGeom prst="roundRect">
                <a:avLst/>
              </a:prstGeom>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1050" b="1" dirty="0">
                    <a:solidFill>
                      <a:schemeClr val="accent1"/>
                    </a:solidFill>
                  </a:rPr>
                  <a:t>92%</a:t>
                </a:r>
              </a:p>
            </p:txBody>
          </p:sp>
          <p:pic>
            <p:nvPicPr>
              <p:cNvPr id="72" name="Image 71">
                <a:extLst>
                  <a:ext uri="{FF2B5EF4-FFF2-40B4-BE49-F238E27FC236}">
                    <a16:creationId xmlns:a16="http://schemas.microsoft.com/office/drawing/2014/main" id="{410DA11D-A780-4056-9E4B-CB13E3536CBF}"/>
                  </a:ext>
                </a:extLst>
              </p:cNvPr>
              <p:cNvPicPr>
                <a:picLocks noChangeAspect="1"/>
              </p:cNvPicPr>
              <p:nvPr/>
            </p:nvPicPr>
            <p:blipFill>
              <a:blip r:embed="rId5">
                <a:duotone>
                  <a:prstClr val="black"/>
                  <a:srgbClr val="ED7862">
                    <a:tint val="45000"/>
                    <a:satMod val="400000"/>
                  </a:srgbClr>
                </a:duotone>
              </a:blip>
              <a:stretch>
                <a:fillRect/>
              </a:stretch>
            </p:blipFill>
            <p:spPr>
              <a:xfrm>
                <a:off x="3494093" y="4353880"/>
                <a:ext cx="2035496" cy="1356998"/>
              </a:xfrm>
              <a:prstGeom prst="rect">
                <a:avLst/>
              </a:prstGeom>
            </p:spPr>
          </p:pic>
          <p:pic>
            <p:nvPicPr>
              <p:cNvPr id="73" name="Image 72">
                <a:extLst>
                  <a:ext uri="{FF2B5EF4-FFF2-40B4-BE49-F238E27FC236}">
                    <a16:creationId xmlns:a16="http://schemas.microsoft.com/office/drawing/2014/main" id="{F00A835E-5C25-4395-81C1-FEF241A7A5C3}"/>
                  </a:ext>
                </a:extLst>
              </p:cNvPr>
              <p:cNvPicPr>
                <a:picLocks noChangeAspect="1"/>
              </p:cNvPicPr>
              <p:nvPr/>
            </p:nvPicPr>
            <p:blipFill>
              <a:blip r:embed="rId5">
                <a:duotone>
                  <a:prstClr val="black"/>
                  <a:srgbClr val="098F8D">
                    <a:tint val="45000"/>
                    <a:satMod val="400000"/>
                  </a:srgbClr>
                </a:duotone>
              </a:blip>
              <a:stretch>
                <a:fillRect/>
              </a:stretch>
            </p:blipFill>
            <p:spPr>
              <a:xfrm>
                <a:off x="5078252" y="4351403"/>
                <a:ext cx="2035496" cy="1356998"/>
              </a:xfrm>
              <a:prstGeom prst="rect">
                <a:avLst/>
              </a:prstGeom>
            </p:spPr>
          </p:pic>
          <p:sp>
            <p:nvSpPr>
              <p:cNvPr id="74" name="Rectangle : coins arrondis 73">
                <a:extLst>
                  <a:ext uri="{FF2B5EF4-FFF2-40B4-BE49-F238E27FC236}">
                    <a16:creationId xmlns:a16="http://schemas.microsoft.com/office/drawing/2014/main" id="{DD3F647B-E6AC-46DD-BAAF-8D335CC753BF}"/>
                  </a:ext>
                </a:extLst>
              </p:cNvPr>
              <p:cNvSpPr/>
              <p:nvPr/>
            </p:nvSpPr>
            <p:spPr>
              <a:xfrm>
                <a:off x="7791456" y="4753044"/>
                <a:ext cx="923308" cy="718457"/>
              </a:xfrm>
              <a:prstGeom prst="roundRect">
                <a:avLst/>
              </a:prstGeom>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1050" b="1" dirty="0">
                    <a:solidFill>
                      <a:schemeClr val="accent1"/>
                    </a:solidFill>
                  </a:rPr>
                  <a:t>95%</a:t>
                </a:r>
              </a:p>
            </p:txBody>
          </p:sp>
        </p:grpSp>
        <p:grpSp>
          <p:nvGrpSpPr>
            <p:cNvPr id="7" name="Groupe 6">
              <a:extLst>
                <a:ext uri="{FF2B5EF4-FFF2-40B4-BE49-F238E27FC236}">
                  <a16:creationId xmlns:a16="http://schemas.microsoft.com/office/drawing/2014/main" id="{A4FB78BC-2920-412B-895E-1A9C61DAF399}"/>
                </a:ext>
              </a:extLst>
            </p:cNvPr>
            <p:cNvGrpSpPr/>
            <p:nvPr/>
          </p:nvGrpSpPr>
          <p:grpSpPr>
            <a:xfrm>
              <a:off x="7207210" y="5987475"/>
              <a:ext cx="2160000" cy="734000"/>
              <a:chOff x="7207210" y="5987475"/>
              <a:chExt cx="2160000" cy="734000"/>
            </a:xfrm>
          </p:grpSpPr>
          <mc:AlternateContent xmlns:mc="http://schemas.openxmlformats.org/markup-compatibility/2006" xmlns:a14="http://schemas.microsoft.com/office/drawing/2010/main">
            <mc:Choice Requires="a14">
              <p:sp>
                <p:nvSpPr>
                  <p:cNvPr id="75" name="Rectangle : coins arrondis 74">
                    <a:extLst>
                      <a:ext uri="{FF2B5EF4-FFF2-40B4-BE49-F238E27FC236}">
                        <a16:creationId xmlns:a16="http://schemas.microsoft.com/office/drawing/2014/main" id="{271CEB83-16AE-475E-A864-3823254F7902}"/>
                      </a:ext>
                    </a:extLst>
                  </p:cNvPr>
                  <p:cNvSpPr/>
                  <p:nvPr/>
                </p:nvSpPr>
                <p:spPr>
                  <a:xfrm>
                    <a:off x="7509623" y="6208039"/>
                    <a:ext cx="1624676" cy="513436"/>
                  </a:xfrm>
                  <a:prstGeom prst="round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acc>
                            <m:accPr>
                              <m:chr m:val="̅"/>
                              <m:ctrlPr>
                                <a:rPr lang="fr-FR" sz="1050" b="1" i="1">
                                  <a:solidFill>
                                    <a:schemeClr val="accent1"/>
                                  </a:solidFill>
                                  <a:latin typeface="Cambria Math" panose="02040503050406030204" pitchFamily="18" charset="0"/>
                                </a:rPr>
                              </m:ctrlPr>
                            </m:accPr>
                            <m:e>
                              <m:r>
                                <a:rPr lang="fr-FR" sz="1050" b="1" i="1">
                                  <a:solidFill>
                                    <a:schemeClr val="accent1"/>
                                  </a:solidFill>
                                  <a:latin typeface="Cambria Math" panose="02040503050406030204" pitchFamily="18" charset="0"/>
                                </a:rPr>
                                <m:t>𝒚</m:t>
                              </m:r>
                            </m:e>
                          </m:acc>
                          <m:r>
                            <a:rPr lang="fr-FR" sz="1050" b="1" i="1">
                              <a:solidFill>
                                <a:schemeClr val="accent1"/>
                              </a:solidFill>
                              <a:latin typeface="Cambria Math" panose="02040503050406030204" pitchFamily="18" charset="0"/>
                            </a:rPr>
                            <m:t>=</m:t>
                          </m:r>
                          <m:r>
                            <a:rPr lang="fr-FR" sz="1050" b="1" i="1">
                              <a:solidFill>
                                <a:schemeClr val="accent1"/>
                              </a:solidFill>
                              <a:latin typeface="Cambria Math" panose="02040503050406030204" pitchFamily="18" charset="0"/>
                            </a:rPr>
                            <m:t>𝟖𝟖</m:t>
                          </m:r>
                          <m:r>
                            <a:rPr lang="fr-FR" sz="1050" b="1" i="1">
                              <a:solidFill>
                                <a:schemeClr val="accent1"/>
                              </a:solidFill>
                              <a:latin typeface="Cambria Math" panose="02040503050406030204" pitchFamily="18" charset="0"/>
                            </a:rPr>
                            <m:t>%</m:t>
                          </m:r>
                        </m:oMath>
                      </m:oMathPara>
                    </a14:m>
                    <a:endParaRPr lang="fr-FR" sz="1050" b="1" dirty="0">
                      <a:solidFill>
                        <a:schemeClr val="accent1"/>
                      </a:solidFill>
                    </a:endParaRPr>
                  </a:p>
                </p:txBody>
              </p:sp>
            </mc:Choice>
            <mc:Fallback xmlns="">
              <p:sp>
                <p:nvSpPr>
                  <p:cNvPr id="75" name="Rectangle : coins arrondis 74">
                    <a:extLst>
                      <a:ext uri="{FF2B5EF4-FFF2-40B4-BE49-F238E27FC236}">
                        <a16:creationId xmlns:a16="http://schemas.microsoft.com/office/drawing/2014/main" id="{271CEB83-16AE-475E-A864-3823254F7902}"/>
                      </a:ext>
                    </a:extLst>
                  </p:cNvPr>
                  <p:cNvSpPr>
                    <a:spLocks noRot="1" noChangeAspect="1" noMove="1" noResize="1" noEditPoints="1" noAdjustHandles="1" noChangeArrowheads="1" noChangeShapeType="1" noTextEdit="1"/>
                  </p:cNvSpPr>
                  <p:nvPr/>
                </p:nvSpPr>
                <p:spPr>
                  <a:xfrm>
                    <a:off x="7509623" y="6208039"/>
                    <a:ext cx="1624676" cy="513436"/>
                  </a:xfrm>
                  <a:prstGeom prst="roundRect">
                    <a:avLst/>
                  </a:prstGeom>
                  <a:blipFill>
                    <a:blip r:embed="rId8"/>
                    <a:stretch>
                      <a:fillRect/>
                    </a:stretch>
                  </a:blipFill>
                  <a:ln>
                    <a:noFill/>
                  </a:ln>
                </p:spPr>
                <p:txBody>
                  <a:bodyPr/>
                  <a:lstStyle/>
                  <a:p>
                    <a:r>
                      <a:rPr lang="fr-FR">
                        <a:noFill/>
                      </a:rPr>
                      <a:t> </a:t>
                    </a:r>
                  </a:p>
                </p:txBody>
              </p:sp>
            </mc:Fallback>
          </mc:AlternateContent>
          <p:sp>
            <p:nvSpPr>
              <p:cNvPr id="76" name="Rectangle : coins arrondis 75">
                <a:extLst>
                  <a:ext uri="{FF2B5EF4-FFF2-40B4-BE49-F238E27FC236}">
                    <a16:creationId xmlns:a16="http://schemas.microsoft.com/office/drawing/2014/main" id="{D5CC30BB-6515-4229-B293-830CE7064799}"/>
                  </a:ext>
                </a:extLst>
              </p:cNvPr>
              <p:cNvSpPr/>
              <p:nvPr/>
            </p:nvSpPr>
            <p:spPr>
              <a:xfrm>
                <a:off x="7207210" y="5987475"/>
                <a:ext cx="2160000" cy="219102"/>
              </a:xfrm>
              <a:prstGeom prst="round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fr-FR" sz="800" dirty="0"/>
                  <a:t>PERFORMANCE MOYENNE</a:t>
                </a:r>
              </a:p>
            </p:txBody>
          </p:sp>
        </p:grpSp>
        <p:sp>
          <p:nvSpPr>
            <p:cNvPr id="77" name="Flèche : droite 76">
              <a:extLst>
                <a:ext uri="{FF2B5EF4-FFF2-40B4-BE49-F238E27FC236}">
                  <a16:creationId xmlns:a16="http://schemas.microsoft.com/office/drawing/2014/main" id="{5DF49633-B898-4680-B40F-5A9D11757140}"/>
                </a:ext>
              </a:extLst>
            </p:cNvPr>
            <p:cNvSpPr/>
            <p:nvPr/>
          </p:nvSpPr>
          <p:spPr>
            <a:xfrm rot="5400000">
              <a:off x="8173339" y="5603148"/>
              <a:ext cx="227740" cy="252681"/>
            </a:xfrm>
            <a:prstGeom prst="rightArrow">
              <a:avLst/>
            </a:prstGeom>
            <a:solidFill>
              <a:srgbClr val="EAB200"/>
            </a:solidFill>
            <a:ln>
              <a:solidFill>
                <a:srgbClr val="EAB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8" name="Flèche : droite 77">
              <a:extLst>
                <a:ext uri="{FF2B5EF4-FFF2-40B4-BE49-F238E27FC236}">
                  <a16:creationId xmlns:a16="http://schemas.microsoft.com/office/drawing/2014/main" id="{ED3AE63C-8EAC-48E2-8EFA-06983C4EC76F}"/>
                </a:ext>
              </a:extLst>
            </p:cNvPr>
            <p:cNvSpPr/>
            <p:nvPr/>
          </p:nvSpPr>
          <p:spPr>
            <a:xfrm>
              <a:off x="7207210" y="2301980"/>
              <a:ext cx="227740" cy="252681"/>
            </a:xfrm>
            <a:prstGeom prst="rightArrow">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9" name="Flèche : droite 78">
              <a:extLst>
                <a:ext uri="{FF2B5EF4-FFF2-40B4-BE49-F238E27FC236}">
                  <a16:creationId xmlns:a16="http://schemas.microsoft.com/office/drawing/2014/main" id="{A47660DE-DE35-4EB7-BCF8-098799984E0A}"/>
                </a:ext>
              </a:extLst>
            </p:cNvPr>
            <p:cNvSpPr/>
            <p:nvPr/>
          </p:nvSpPr>
          <p:spPr>
            <a:xfrm>
              <a:off x="7207210" y="3637418"/>
              <a:ext cx="227740" cy="252681"/>
            </a:xfrm>
            <a:prstGeom prst="rightArrow">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0" name="Flèche : droite 79">
              <a:extLst>
                <a:ext uri="{FF2B5EF4-FFF2-40B4-BE49-F238E27FC236}">
                  <a16:creationId xmlns:a16="http://schemas.microsoft.com/office/drawing/2014/main" id="{A9620124-3ECC-46A5-BE9C-CA58BE79A549}"/>
                </a:ext>
              </a:extLst>
            </p:cNvPr>
            <p:cNvSpPr/>
            <p:nvPr/>
          </p:nvSpPr>
          <p:spPr>
            <a:xfrm>
              <a:off x="7207210" y="5062271"/>
              <a:ext cx="227740" cy="252681"/>
            </a:xfrm>
            <a:prstGeom prst="rightArrow">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Tree>
    <p:extLst>
      <p:ext uri="{BB962C8B-B14F-4D97-AF65-F5344CB8AC3E}">
        <p14:creationId xmlns:p14="http://schemas.microsoft.com/office/powerpoint/2010/main" val="183138223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XG Boost</a:t>
            </a:r>
          </a:p>
        </p:txBody>
      </p:sp>
    </p:spTree>
    <p:extLst>
      <p:ext uri="{BB962C8B-B14F-4D97-AF65-F5344CB8AC3E}">
        <p14:creationId xmlns:p14="http://schemas.microsoft.com/office/powerpoint/2010/main" val="311593327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172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XG Boost</a:t>
            </a:r>
            <a:endParaRPr lang="fr-FR" sz="2100" b="0" dirty="0"/>
          </a:p>
        </p:txBody>
      </p:sp>
      <p:sp>
        <p:nvSpPr>
          <p:cNvPr id="7" name="Freeform: Shape 32">
            <a:extLst>
              <a:ext uri="{FF2B5EF4-FFF2-40B4-BE49-F238E27FC236}">
                <a16:creationId xmlns:a16="http://schemas.microsoft.com/office/drawing/2014/main" id="{4167769A-1F14-4183-9EAE-68A343B2B3E3}"/>
              </a:ext>
            </a:extLst>
          </p:cNvPr>
          <p:cNvSpPr/>
          <p:nvPr/>
        </p:nvSpPr>
        <p:spPr>
          <a:xfrm>
            <a:off x="2481738" y="3153440"/>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3">
              <a:lumMod val="75000"/>
            </a:schemeClr>
          </a:solidFill>
          <a:ln w="12700">
            <a:miter lim="400000"/>
          </a:ln>
        </p:spPr>
        <p:txBody>
          <a:bodyPr wrap="square" lIns="720090" tIns="21431" rIns="21431" bIns="21431" anchor="ctr">
            <a:noAutofit/>
          </a:bodyPr>
          <a:lstStyle/>
          <a:p>
            <a:pPr>
              <a:lnSpc>
                <a:spcPts val="900"/>
              </a:lnSpc>
            </a:pPr>
            <a:r>
              <a:rPr lang="en-US" sz="788" noProof="1">
                <a:solidFill>
                  <a:srgbClr val="FFFFFF"/>
                </a:solidFill>
              </a:rPr>
              <a:t>Code Python</a:t>
            </a:r>
          </a:p>
        </p:txBody>
      </p:sp>
      <p:sp>
        <p:nvSpPr>
          <p:cNvPr id="8" name="Freeform: Shape 30">
            <a:extLst>
              <a:ext uri="{FF2B5EF4-FFF2-40B4-BE49-F238E27FC236}">
                <a16:creationId xmlns:a16="http://schemas.microsoft.com/office/drawing/2014/main" id="{AA6E9CB5-C6FB-49F5-AFFF-2E33C7E00DE0}"/>
              </a:ext>
            </a:extLst>
          </p:cNvPr>
          <p:cNvSpPr/>
          <p:nvPr/>
        </p:nvSpPr>
        <p:spPr>
          <a:xfrm>
            <a:off x="2481738" y="2814000"/>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5">
              <a:lumMod val="75000"/>
            </a:schemeClr>
          </a:solidFill>
          <a:ln w="12700">
            <a:miter lim="400000"/>
          </a:ln>
        </p:spPr>
        <p:txBody>
          <a:bodyPr wrap="square" lIns="874395" tIns="21431" rIns="21431" bIns="21431" anchor="ctr">
            <a:noAutofit/>
          </a:bodyPr>
          <a:lstStyle/>
          <a:p>
            <a:pPr>
              <a:lnSpc>
                <a:spcPts val="900"/>
              </a:lnSpc>
            </a:pPr>
            <a:r>
              <a:rPr lang="en-US" sz="788" noProof="1">
                <a:solidFill>
                  <a:srgbClr val="FFFFFF"/>
                </a:solidFill>
              </a:rPr>
              <a:t>Avantages et inconvénients</a:t>
            </a:r>
          </a:p>
        </p:txBody>
      </p:sp>
      <p:sp>
        <p:nvSpPr>
          <p:cNvPr id="9" name="Freeform: Shape 28">
            <a:extLst>
              <a:ext uri="{FF2B5EF4-FFF2-40B4-BE49-F238E27FC236}">
                <a16:creationId xmlns:a16="http://schemas.microsoft.com/office/drawing/2014/main" id="{485FA3A3-C2E1-4F1F-9B49-3D5FEF62C0DE}"/>
              </a:ext>
            </a:extLst>
          </p:cNvPr>
          <p:cNvSpPr/>
          <p:nvPr/>
        </p:nvSpPr>
        <p:spPr>
          <a:xfrm>
            <a:off x="2481738" y="2474559"/>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2">
              <a:lumMod val="75000"/>
            </a:schemeClr>
          </a:solidFill>
          <a:ln w="12700">
            <a:miter lim="400000"/>
          </a:ln>
        </p:spPr>
        <p:txBody>
          <a:bodyPr wrap="square" lIns="977265" tIns="21431" rIns="21431" bIns="21431" anchor="ctr">
            <a:noAutofit/>
          </a:bodyPr>
          <a:lstStyle/>
          <a:p>
            <a:pPr>
              <a:lnSpc>
                <a:spcPts val="900"/>
              </a:lnSpc>
            </a:pPr>
            <a:r>
              <a:rPr lang="en-US" sz="788" noProof="1">
                <a:solidFill>
                  <a:srgbClr val="FFFFFF"/>
                </a:solidFill>
              </a:rPr>
              <a:t>La descente du gradient</a:t>
            </a:r>
          </a:p>
        </p:txBody>
      </p:sp>
      <p:sp>
        <p:nvSpPr>
          <p:cNvPr id="10" name="Freeform: Shape 26">
            <a:extLst>
              <a:ext uri="{FF2B5EF4-FFF2-40B4-BE49-F238E27FC236}">
                <a16:creationId xmlns:a16="http://schemas.microsoft.com/office/drawing/2014/main" id="{3A144E09-C331-4727-9DF8-03EE0218A90E}"/>
              </a:ext>
            </a:extLst>
          </p:cNvPr>
          <p:cNvSpPr/>
          <p:nvPr/>
        </p:nvSpPr>
        <p:spPr>
          <a:xfrm>
            <a:off x="2481738" y="2135119"/>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6">
              <a:lumMod val="75000"/>
            </a:schemeClr>
          </a:solidFill>
          <a:ln w="12700">
            <a:miter lim="400000"/>
          </a:ln>
        </p:spPr>
        <p:txBody>
          <a:bodyPr wrap="square" lIns="874395" tIns="21431" rIns="21431" bIns="21431" anchor="ctr">
            <a:noAutofit/>
          </a:bodyPr>
          <a:lstStyle/>
          <a:p>
            <a:pPr>
              <a:lnSpc>
                <a:spcPts val="900"/>
              </a:lnSpc>
            </a:pPr>
            <a:r>
              <a:rPr lang="en-US" sz="788" noProof="1">
                <a:solidFill>
                  <a:srgbClr val="FFFFFF"/>
                </a:solidFill>
              </a:rPr>
              <a:t>Historique</a:t>
            </a:r>
          </a:p>
        </p:txBody>
      </p:sp>
      <p:sp>
        <p:nvSpPr>
          <p:cNvPr id="11" name="Freeform: Shape 24">
            <a:extLst>
              <a:ext uri="{FF2B5EF4-FFF2-40B4-BE49-F238E27FC236}">
                <a16:creationId xmlns:a16="http://schemas.microsoft.com/office/drawing/2014/main" id="{17247B7E-A71E-46F0-94D9-393254CD29FD}"/>
              </a:ext>
            </a:extLst>
          </p:cNvPr>
          <p:cNvSpPr/>
          <p:nvPr/>
        </p:nvSpPr>
        <p:spPr>
          <a:xfrm>
            <a:off x="2481738" y="1795678"/>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4">
              <a:lumMod val="75000"/>
            </a:schemeClr>
          </a:solidFill>
          <a:ln w="12700">
            <a:miter lim="400000"/>
          </a:ln>
        </p:spPr>
        <p:txBody>
          <a:bodyPr wrap="square" lIns="720090" tIns="21431" rIns="21431" bIns="21431" anchor="ctr">
            <a:noAutofit/>
          </a:bodyPr>
          <a:lstStyle/>
          <a:p>
            <a:pPr>
              <a:lnSpc>
                <a:spcPts val="900"/>
              </a:lnSpc>
            </a:pPr>
            <a:r>
              <a:rPr lang="en-US" sz="788" noProof="1">
                <a:solidFill>
                  <a:schemeClr val="bg1"/>
                </a:solidFill>
              </a:rPr>
              <a:t>Intuition</a:t>
            </a:r>
          </a:p>
        </p:txBody>
      </p:sp>
      <p:sp>
        <p:nvSpPr>
          <p:cNvPr id="12" name="Shape">
            <a:extLst>
              <a:ext uri="{FF2B5EF4-FFF2-40B4-BE49-F238E27FC236}">
                <a16:creationId xmlns:a16="http://schemas.microsoft.com/office/drawing/2014/main" id="{DEB5B3A9-900E-4309-A8DB-DBE33065D1CF}"/>
              </a:ext>
            </a:extLst>
          </p:cNvPr>
          <p:cNvSpPr/>
          <p:nvPr/>
        </p:nvSpPr>
        <p:spPr>
          <a:xfrm>
            <a:off x="2267940" y="3153440"/>
            <a:ext cx="837287"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16638" y="21600"/>
                </a:lnTo>
                <a:cubicBezTo>
                  <a:pt x="18614" y="15120"/>
                  <a:pt x="20298" y="7920"/>
                  <a:pt x="21600" y="0"/>
                </a:cubicBezTo>
                <a:lnTo>
                  <a:pt x="3705" y="0"/>
                </a:lnTo>
                <a:cubicBezTo>
                  <a:pt x="1662" y="0"/>
                  <a:pt x="0" y="4844"/>
                  <a:pt x="0" y="10800"/>
                </a:cubicBezTo>
                <a:close/>
              </a:path>
            </a:pathLst>
          </a:custGeom>
          <a:solidFill>
            <a:schemeClr val="accent3"/>
          </a:solidFill>
          <a:ln w="12700">
            <a:miter lim="400000"/>
          </a:ln>
        </p:spPr>
        <p:txBody>
          <a:bodyPr lIns="21431" tIns="21431" rIns="21431" bIns="21431" anchor="ctr"/>
          <a:lstStyle/>
          <a:p>
            <a:pPr>
              <a:defRPr sz="3000">
                <a:solidFill>
                  <a:srgbClr val="FFFFFF"/>
                </a:solidFill>
              </a:defRPr>
            </a:pPr>
            <a:endParaRPr sz="1688" dirty="0"/>
          </a:p>
        </p:txBody>
      </p:sp>
      <p:sp>
        <p:nvSpPr>
          <p:cNvPr id="13" name="Shape">
            <a:extLst>
              <a:ext uri="{FF2B5EF4-FFF2-40B4-BE49-F238E27FC236}">
                <a16:creationId xmlns:a16="http://schemas.microsoft.com/office/drawing/2014/main" id="{2E5C595A-608C-446F-8A38-7D3C6E0D4E83}"/>
              </a:ext>
            </a:extLst>
          </p:cNvPr>
          <p:cNvSpPr/>
          <p:nvPr/>
        </p:nvSpPr>
        <p:spPr>
          <a:xfrm>
            <a:off x="2267939" y="2814000"/>
            <a:ext cx="943470"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19707" y="21600"/>
                </a:lnTo>
                <a:cubicBezTo>
                  <a:pt x="20584" y="14793"/>
                  <a:pt x="21241" y="7527"/>
                  <a:pt x="21600" y="0"/>
                </a:cubicBezTo>
                <a:lnTo>
                  <a:pt x="3288" y="0"/>
                </a:lnTo>
                <a:cubicBezTo>
                  <a:pt x="1475" y="0"/>
                  <a:pt x="0" y="4844"/>
                  <a:pt x="0" y="10800"/>
                </a:cubicBezTo>
                <a:close/>
              </a:path>
            </a:pathLst>
          </a:custGeom>
          <a:solidFill>
            <a:schemeClr val="accent5"/>
          </a:solidFill>
          <a:ln w="12700">
            <a:miter lim="400000"/>
          </a:ln>
        </p:spPr>
        <p:txBody>
          <a:bodyPr lIns="21431" tIns="21431" rIns="21431" bIns="21431" anchor="ctr"/>
          <a:lstStyle/>
          <a:p>
            <a:pPr>
              <a:defRPr sz="3000">
                <a:solidFill>
                  <a:srgbClr val="FFFFFF"/>
                </a:solidFill>
              </a:defRPr>
            </a:pPr>
            <a:endParaRPr sz="1688" dirty="0"/>
          </a:p>
        </p:txBody>
      </p:sp>
      <p:sp>
        <p:nvSpPr>
          <p:cNvPr id="15" name="Shape">
            <a:extLst>
              <a:ext uri="{FF2B5EF4-FFF2-40B4-BE49-F238E27FC236}">
                <a16:creationId xmlns:a16="http://schemas.microsoft.com/office/drawing/2014/main" id="{637023A2-ADC5-4E69-A9FF-D0B06C7CF890}"/>
              </a:ext>
            </a:extLst>
          </p:cNvPr>
          <p:cNvSpPr/>
          <p:nvPr/>
        </p:nvSpPr>
        <p:spPr>
          <a:xfrm>
            <a:off x="2267939" y="2474559"/>
            <a:ext cx="960009"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49" y="21600"/>
                  <a:pt x="3231" y="21600"/>
                </a:cubicBezTo>
                <a:lnTo>
                  <a:pt x="21404" y="21600"/>
                </a:lnTo>
                <a:cubicBezTo>
                  <a:pt x="21522" y="18065"/>
                  <a:pt x="21600" y="14465"/>
                  <a:pt x="21600" y="10800"/>
                </a:cubicBezTo>
                <a:cubicBezTo>
                  <a:pt x="21600" y="7135"/>
                  <a:pt x="21541" y="3535"/>
                  <a:pt x="21404" y="0"/>
                </a:cubicBezTo>
                <a:lnTo>
                  <a:pt x="3231" y="0"/>
                </a:lnTo>
                <a:cubicBezTo>
                  <a:pt x="1449" y="0"/>
                  <a:pt x="0" y="4844"/>
                  <a:pt x="0" y="10800"/>
                </a:cubicBezTo>
                <a:close/>
              </a:path>
            </a:pathLst>
          </a:custGeom>
          <a:solidFill>
            <a:schemeClr val="accent2"/>
          </a:solidFill>
          <a:ln w="12700">
            <a:miter lim="400000"/>
          </a:ln>
        </p:spPr>
        <p:txBody>
          <a:bodyPr lIns="21431" tIns="21431" rIns="21431" bIns="21431" anchor="ctr"/>
          <a:lstStyle/>
          <a:p>
            <a:pPr>
              <a:defRPr sz="3000">
                <a:solidFill>
                  <a:srgbClr val="FFFFFF"/>
                </a:solidFill>
              </a:defRPr>
            </a:pPr>
            <a:endParaRPr sz="1688" dirty="0"/>
          </a:p>
        </p:txBody>
      </p:sp>
      <p:sp>
        <p:nvSpPr>
          <p:cNvPr id="16" name="Shape">
            <a:extLst>
              <a:ext uri="{FF2B5EF4-FFF2-40B4-BE49-F238E27FC236}">
                <a16:creationId xmlns:a16="http://schemas.microsoft.com/office/drawing/2014/main" id="{5E68311E-004A-462C-9B22-50A1CC6D90BB}"/>
              </a:ext>
            </a:extLst>
          </p:cNvPr>
          <p:cNvSpPr/>
          <p:nvPr/>
        </p:nvSpPr>
        <p:spPr>
          <a:xfrm>
            <a:off x="2267939" y="2135119"/>
            <a:ext cx="943470"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21600" y="21600"/>
                </a:lnTo>
                <a:cubicBezTo>
                  <a:pt x="21241" y="14073"/>
                  <a:pt x="20584" y="6807"/>
                  <a:pt x="19707" y="0"/>
                </a:cubicBezTo>
                <a:lnTo>
                  <a:pt x="3288" y="0"/>
                </a:lnTo>
                <a:cubicBezTo>
                  <a:pt x="1475" y="0"/>
                  <a:pt x="0" y="4844"/>
                  <a:pt x="0" y="10800"/>
                </a:cubicBezTo>
                <a:close/>
              </a:path>
            </a:pathLst>
          </a:custGeom>
          <a:solidFill>
            <a:schemeClr val="accent6"/>
          </a:solidFill>
          <a:ln w="12700">
            <a:miter lim="400000"/>
          </a:ln>
        </p:spPr>
        <p:txBody>
          <a:bodyPr lIns="21431" tIns="21431" rIns="21431" bIns="21431" anchor="ctr"/>
          <a:lstStyle/>
          <a:p>
            <a:pPr>
              <a:defRPr sz="3000">
                <a:solidFill>
                  <a:srgbClr val="FFFFFF"/>
                </a:solidFill>
              </a:defRPr>
            </a:pPr>
            <a:endParaRPr sz="1688" dirty="0"/>
          </a:p>
        </p:txBody>
      </p:sp>
      <p:sp>
        <p:nvSpPr>
          <p:cNvPr id="17" name="Shape">
            <a:extLst>
              <a:ext uri="{FF2B5EF4-FFF2-40B4-BE49-F238E27FC236}">
                <a16:creationId xmlns:a16="http://schemas.microsoft.com/office/drawing/2014/main" id="{4950ACF1-9D8F-4A72-9A4F-220C78F19851}"/>
              </a:ext>
            </a:extLst>
          </p:cNvPr>
          <p:cNvSpPr/>
          <p:nvPr/>
        </p:nvSpPr>
        <p:spPr>
          <a:xfrm>
            <a:off x="2267940" y="1795678"/>
            <a:ext cx="837287"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21600" y="21600"/>
                </a:lnTo>
                <a:cubicBezTo>
                  <a:pt x="20298" y="13745"/>
                  <a:pt x="18614" y="6480"/>
                  <a:pt x="16638" y="0"/>
                </a:cubicBezTo>
                <a:lnTo>
                  <a:pt x="3705" y="0"/>
                </a:lnTo>
                <a:cubicBezTo>
                  <a:pt x="1662" y="65"/>
                  <a:pt x="0" y="4844"/>
                  <a:pt x="0" y="10800"/>
                </a:cubicBezTo>
                <a:close/>
              </a:path>
            </a:pathLst>
          </a:custGeom>
          <a:solidFill>
            <a:schemeClr val="accent4"/>
          </a:solidFill>
          <a:ln w="12700">
            <a:miter lim="400000"/>
          </a:ln>
        </p:spPr>
        <p:txBody>
          <a:bodyPr lIns="21431" tIns="21431" rIns="21431" bIns="21431" anchor="ctr"/>
          <a:lstStyle/>
          <a:p>
            <a:pPr>
              <a:defRPr sz="3000">
                <a:solidFill>
                  <a:srgbClr val="FFFFFF"/>
                </a:solidFill>
              </a:defRPr>
            </a:pPr>
            <a:endParaRPr sz="1688" dirty="0"/>
          </a:p>
        </p:txBody>
      </p:sp>
      <p:pic>
        <p:nvPicPr>
          <p:cNvPr id="18" name="Graphic 14" descr="Livres">
            <a:extLst>
              <a:ext uri="{FF2B5EF4-FFF2-40B4-BE49-F238E27FC236}">
                <a16:creationId xmlns:a16="http://schemas.microsoft.com/office/drawing/2014/main" id="{5A885402-1A77-445B-A5B9-2B9F2E41F5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1813174"/>
            <a:ext cx="252228" cy="252228"/>
          </a:xfrm>
          <a:prstGeom prst="rect">
            <a:avLst/>
          </a:prstGeom>
        </p:spPr>
      </p:pic>
      <p:pic>
        <p:nvPicPr>
          <p:cNvPr id="19" name="Graphic 16" descr="Livres">
            <a:extLst>
              <a:ext uri="{FF2B5EF4-FFF2-40B4-BE49-F238E27FC236}">
                <a16:creationId xmlns:a16="http://schemas.microsoft.com/office/drawing/2014/main" id="{68C90C5A-04AA-4EB5-BA99-34A95AAE429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3170936"/>
            <a:ext cx="252228" cy="252228"/>
          </a:xfrm>
          <a:prstGeom prst="rect">
            <a:avLst/>
          </a:prstGeom>
        </p:spPr>
      </p:pic>
      <p:pic>
        <p:nvPicPr>
          <p:cNvPr id="20" name="Graphic 18" descr="Livres">
            <a:extLst>
              <a:ext uri="{FF2B5EF4-FFF2-40B4-BE49-F238E27FC236}">
                <a16:creationId xmlns:a16="http://schemas.microsoft.com/office/drawing/2014/main" id="{1220CC40-FDE3-4AFC-A2B0-91BB0B82EC0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2152615"/>
            <a:ext cx="252228" cy="252228"/>
          </a:xfrm>
          <a:prstGeom prst="rect">
            <a:avLst/>
          </a:prstGeom>
        </p:spPr>
      </p:pic>
      <p:pic>
        <p:nvPicPr>
          <p:cNvPr id="22" name="Graphic 20" descr="Livres">
            <a:extLst>
              <a:ext uri="{FF2B5EF4-FFF2-40B4-BE49-F238E27FC236}">
                <a16:creationId xmlns:a16="http://schemas.microsoft.com/office/drawing/2014/main" id="{3685117E-29B2-4321-B59E-ADACF23037C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2492055"/>
            <a:ext cx="252228" cy="252228"/>
          </a:xfrm>
          <a:prstGeom prst="rect">
            <a:avLst/>
          </a:prstGeom>
        </p:spPr>
      </p:pic>
      <p:pic>
        <p:nvPicPr>
          <p:cNvPr id="23" name="Graphic 22" descr="Livres">
            <a:extLst>
              <a:ext uri="{FF2B5EF4-FFF2-40B4-BE49-F238E27FC236}">
                <a16:creationId xmlns:a16="http://schemas.microsoft.com/office/drawing/2014/main" id="{5A0A718C-A04C-4998-9BB4-520CF669C49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2831495"/>
            <a:ext cx="252228" cy="252228"/>
          </a:xfrm>
          <a:prstGeom prst="rect">
            <a:avLst/>
          </a:prstGeom>
        </p:spPr>
      </p:pic>
    </p:spTree>
    <p:extLst>
      <p:ext uri="{BB962C8B-B14F-4D97-AF65-F5344CB8AC3E}">
        <p14:creationId xmlns:p14="http://schemas.microsoft.com/office/powerpoint/2010/main" val="350764326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092107"/>
          </a:xfrm>
        </p:spPr>
        <p:txBody>
          <a:bodyPr>
            <a:normAutofit/>
          </a:bodyPr>
          <a:lstStyle/>
          <a:p>
            <a:pPr lvl="1" algn="just">
              <a:lnSpc>
                <a:spcPct val="150000"/>
              </a:lnSpc>
              <a:buClr>
                <a:schemeClr val="accent2"/>
              </a:buClr>
            </a:pPr>
            <a:r>
              <a:rPr lang="fr-FR" sz="1350" dirty="0"/>
              <a:t>Extreme Gradient Boosting est un algorithme d’apprentissage automatique basé sur le gradient boosting.</a:t>
            </a:r>
          </a:p>
          <a:p>
            <a:pPr lvl="1" algn="just">
              <a:lnSpc>
                <a:spcPct val="150000"/>
              </a:lnSpc>
              <a:buClr>
                <a:schemeClr val="accent2"/>
              </a:buClr>
            </a:pPr>
            <a:r>
              <a:rPr lang="fr-FR" sz="1350" dirty="0"/>
              <a:t>XG Boost peut être utilisé pour résoudre des problèmes de régression et de classification.</a:t>
            </a:r>
          </a:p>
          <a:p>
            <a:pPr lvl="1" algn="just">
              <a:lnSpc>
                <a:spcPct val="150000"/>
              </a:lnSpc>
              <a:buClr>
                <a:schemeClr val="accent2"/>
              </a:buClr>
            </a:pPr>
            <a:r>
              <a:rPr lang="fr-FR" sz="1350" dirty="0"/>
              <a:t>Avant d’aller plus loin, faisons un tour d’horizon sur les différentes évolutions des algorithmes basés sur les arbres, afin de mieux comprendre XG Boost et les raisons de son succès.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173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XG Boost :</a:t>
            </a:r>
            <a:r>
              <a:rPr lang="fr-FR" sz="2100" b="0" dirty="0"/>
              <a:t> intuition</a:t>
            </a:r>
          </a:p>
        </p:txBody>
      </p:sp>
    </p:spTree>
    <p:extLst>
      <p:ext uri="{BB962C8B-B14F-4D97-AF65-F5344CB8AC3E}">
        <p14:creationId xmlns:p14="http://schemas.microsoft.com/office/powerpoint/2010/main" val="304404943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092107"/>
          </a:xfrm>
        </p:spPr>
        <p:txBody>
          <a:bodyPr>
            <a:normAutofit/>
          </a:bodyPr>
          <a:lstStyle/>
          <a:p>
            <a:pPr marL="600075" lvl="1" indent="-257175" algn="just">
              <a:lnSpc>
                <a:spcPct val="150000"/>
              </a:lnSpc>
              <a:buClr>
                <a:schemeClr val="accent2"/>
              </a:buClr>
              <a:buFont typeface="+mj-lt"/>
              <a:buAutoNum type="arabicPeriod"/>
            </a:pPr>
            <a:r>
              <a:rPr lang="fr-FR" sz="1350" b="1" dirty="0"/>
              <a:t>Arbres de décision :</a:t>
            </a:r>
            <a:r>
              <a:rPr lang="fr-FR" sz="1350" dirty="0"/>
              <a:t> </a:t>
            </a:r>
          </a:p>
          <a:p>
            <a:pPr lvl="2" algn="just">
              <a:lnSpc>
                <a:spcPct val="150000"/>
              </a:lnSpc>
              <a:buClr>
                <a:schemeClr val="accent2"/>
              </a:buClr>
            </a:pPr>
            <a:r>
              <a:rPr lang="fr-FR" sz="1200" dirty="0"/>
              <a:t>Au départ ils avaient le vent en poupe. On pouvait ainsi représenter graphiquement plusieurs solutions possibles basées sur un certain nombre de conditions.</a:t>
            </a:r>
          </a:p>
          <a:p>
            <a:pPr lvl="2" algn="just">
              <a:lnSpc>
                <a:spcPct val="150000"/>
              </a:lnSpc>
              <a:buClr>
                <a:schemeClr val="accent2"/>
              </a:buClr>
            </a:pPr>
            <a:r>
              <a:rPr lang="fr-FR" sz="1200" dirty="0"/>
              <a:t>Par exemple, un responsable de recrutement choisira ses meilleurs candidats en fonction d’un certain nombre de critères (niveau d’éducation, années d’expérience, performances pendant l’entretien…).</a:t>
            </a:r>
          </a:p>
          <a:p>
            <a:pPr marL="342900" lvl="1" indent="0" algn="just">
              <a:lnSpc>
                <a:spcPct val="150000"/>
              </a:lnSpc>
              <a:buClr>
                <a:schemeClr val="accent2"/>
              </a:buClr>
              <a:buNone/>
            </a:pPr>
            <a:r>
              <a:rPr lang="fr-FR" sz="1350" dirty="0"/>
              <a:t> </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174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XG Boost :</a:t>
            </a:r>
            <a:r>
              <a:rPr lang="fr-FR" sz="2100" b="0" dirty="0"/>
              <a:t> historique</a:t>
            </a:r>
          </a:p>
        </p:txBody>
      </p:sp>
    </p:spTree>
    <p:extLst>
      <p:ext uri="{BB962C8B-B14F-4D97-AF65-F5344CB8AC3E}">
        <p14:creationId xmlns:p14="http://schemas.microsoft.com/office/powerpoint/2010/main" val="91955498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092107"/>
          </a:xfrm>
        </p:spPr>
        <p:txBody>
          <a:bodyPr>
            <a:normAutofit fontScale="92500"/>
          </a:bodyPr>
          <a:lstStyle/>
          <a:p>
            <a:pPr marL="600075" lvl="1" indent="-257175" algn="just">
              <a:lnSpc>
                <a:spcPct val="150000"/>
              </a:lnSpc>
              <a:buClr>
                <a:schemeClr val="accent2"/>
              </a:buClr>
              <a:buFont typeface="+mj-lt"/>
              <a:buAutoNum type="arabicPeriod" startAt="2"/>
            </a:pPr>
            <a:r>
              <a:rPr lang="fr-FR" sz="1350" b="1" dirty="0"/>
              <a:t>Bagging :</a:t>
            </a:r>
            <a:r>
              <a:rPr lang="fr-FR" sz="1350" dirty="0"/>
              <a:t> </a:t>
            </a:r>
          </a:p>
          <a:p>
            <a:pPr lvl="2" algn="just">
              <a:lnSpc>
                <a:spcPct val="150000"/>
              </a:lnSpc>
              <a:buClr>
                <a:schemeClr val="accent2"/>
              </a:buClr>
            </a:pPr>
            <a:r>
              <a:rPr lang="fr-FR" sz="1200" dirty="0"/>
              <a:t>Ensuite il y a eu le Bagging ou Bootstrap aggregating.</a:t>
            </a:r>
          </a:p>
          <a:p>
            <a:pPr lvl="2" algn="just">
              <a:lnSpc>
                <a:spcPct val="150000"/>
              </a:lnSpc>
              <a:buClr>
                <a:schemeClr val="accent2"/>
              </a:buClr>
            </a:pPr>
            <a:r>
              <a:rPr lang="fr-FR" sz="1200" dirty="0"/>
              <a:t>C’est une technique d’apprentissage ensembliste qui permet d’améliorer la classification des arbres de décision (stabilité et précision).</a:t>
            </a:r>
          </a:p>
          <a:p>
            <a:pPr lvl="2" algn="just">
              <a:lnSpc>
                <a:spcPct val="150000"/>
              </a:lnSpc>
              <a:buClr>
                <a:schemeClr val="accent2"/>
              </a:buClr>
            </a:pPr>
            <a:r>
              <a:rPr lang="fr-FR" sz="1200" dirty="0"/>
              <a:t>Le résultat final est trouvé par un mécanisme de vote de la classe majoritaire, à l’issue d’une confrontation de plusieurs modèles d’arbres de décision.</a:t>
            </a:r>
          </a:p>
          <a:p>
            <a:pPr lvl="2" algn="just">
              <a:lnSpc>
                <a:spcPct val="150000"/>
              </a:lnSpc>
              <a:buClr>
                <a:schemeClr val="accent2"/>
              </a:buClr>
            </a:pPr>
            <a:r>
              <a:rPr lang="fr-FR" sz="1200" dirty="0"/>
              <a:t>Il réduit la variance et permet donc d’éviter le surapprentissage.</a:t>
            </a:r>
          </a:p>
          <a:p>
            <a:pPr lvl="2" algn="just">
              <a:lnSpc>
                <a:spcPct val="150000"/>
              </a:lnSpc>
              <a:buClr>
                <a:schemeClr val="accent2"/>
              </a:buClr>
            </a:pPr>
            <a:r>
              <a:rPr lang="fr-FR" sz="1200" dirty="0"/>
              <a:t>Son fonctionnement fait penser à un mécanisme de vote aux urnes, par analogie au processus de vote dans les pays démocratiques.</a:t>
            </a:r>
            <a:endParaRPr lang="fr-FR" sz="1350" dirty="0"/>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175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XG Boost :</a:t>
            </a:r>
            <a:r>
              <a:rPr lang="fr-FR" sz="2100" b="0" dirty="0"/>
              <a:t> historique</a:t>
            </a:r>
          </a:p>
        </p:txBody>
      </p:sp>
    </p:spTree>
    <p:extLst>
      <p:ext uri="{BB962C8B-B14F-4D97-AF65-F5344CB8AC3E}">
        <p14:creationId xmlns:p14="http://schemas.microsoft.com/office/powerpoint/2010/main" val="362926181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092107"/>
          </a:xfrm>
        </p:spPr>
        <p:txBody>
          <a:bodyPr>
            <a:normAutofit/>
          </a:bodyPr>
          <a:lstStyle/>
          <a:p>
            <a:pPr marL="600075" lvl="1" indent="-257175" algn="just">
              <a:lnSpc>
                <a:spcPct val="150000"/>
              </a:lnSpc>
              <a:buClr>
                <a:schemeClr val="accent2"/>
              </a:buClr>
              <a:buFont typeface="+mj-lt"/>
              <a:buAutoNum type="arabicPeriod" startAt="3"/>
            </a:pPr>
            <a:r>
              <a:rPr lang="fr-FR" sz="1350" b="1" dirty="0"/>
              <a:t>Random Forest :</a:t>
            </a:r>
            <a:r>
              <a:rPr lang="fr-FR" sz="1350" dirty="0"/>
              <a:t> </a:t>
            </a:r>
          </a:p>
          <a:p>
            <a:pPr lvl="2" algn="just">
              <a:lnSpc>
                <a:spcPct val="150000"/>
              </a:lnSpc>
              <a:buClr>
                <a:schemeClr val="accent2"/>
              </a:buClr>
            </a:pPr>
            <a:r>
              <a:rPr lang="fr-FR" sz="1200" dirty="0"/>
              <a:t>Il s'agit d'un algorithme basé sur le bagging avec une différence clé dans laquelle seul un sous-ensemble de features est sélectionné au hasard. </a:t>
            </a:r>
          </a:p>
          <a:p>
            <a:pPr lvl="2" algn="just">
              <a:lnSpc>
                <a:spcPct val="150000"/>
              </a:lnSpc>
              <a:buClr>
                <a:schemeClr val="accent2"/>
              </a:buClr>
            </a:pPr>
            <a:r>
              <a:rPr lang="fr-FR" sz="1200" dirty="0"/>
              <a:t>Par exemple, un entretien technique pour tester les compétences en programmation et un entretien comportemental pour évaluer les compétences non techniques des candidats.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176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XG Boost :</a:t>
            </a:r>
            <a:r>
              <a:rPr lang="fr-FR" sz="2100" b="0" dirty="0"/>
              <a:t> historique</a:t>
            </a:r>
          </a:p>
        </p:txBody>
      </p:sp>
    </p:spTree>
    <p:extLst>
      <p:ext uri="{BB962C8B-B14F-4D97-AF65-F5344CB8AC3E}">
        <p14:creationId xmlns:p14="http://schemas.microsoft.com/office/powerpoint/2010/main" val="219794297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092107"/>
          </a:xfrm>
        </p:spPr>
        <p:txBody>
          <a:bodyPr>
            <a:normAutofit lnSpcReduction="10000"/>
          </a:bodyPr>
          <a:lstStyle/>
          <a:p>
            <a:pPr marL="600075" lvl="1" indent="-257175" algn="just">
              <a:lnSpc>
                <a:spcPct val="150000"/>
              </a:lnSpc>
              <a:buClr>
                <a:schemeClr val="accent2"/>
              </a:buClr>
              <a:buFont typeface="+mj-lt"/>
              <a:buAutoNum type="arabicPeriod" startAt="4"/>
            </a:pPr>
            <a:r>
              <a:rPr lang="fr-FR" sz="1350" b="1" dirty="0"/>
              <a:t>Boosting :</a:t>
            </a:r>
            <a:r>
              <a:rPr lang="fr-FR" sz="1350" dirty="0"/>
              <a:t> </a:t>
            </a:r>
          </a:p>
          <a:p>
            <a:pPr lvl="2" algn="just">
              <a:lnSpc>
                <a:spcPct val="150000"/>
              </a:lnSpc>
              <a:buClr>
                <a:schemeClr val="accent2"/>
              </a:buClr>
            </a:pPr>
            <a:r>
              <a:rPr lang="fr-FR" sz="1200" dirty="0"/>
              <a:t>Contrairement aux arbres de décisions qui construisent des modèles parallèles, les modèles de Boosting sont construits de façon séquentielle.</a:t>
            </a:r>
          </a:p>
          <a:p>
            <a:pPr lvl="2" algn="just">
              <a:lnSpc>
                <a:spcPct val="150000"/>
              </a:lnSpc>
              <a:buClr>
                <a:schemeClr val="accent2"/>
              </a:buClr>
            </a:pPr>
            <a:r>
              <a:rPr lang="fr-FR" sz="1200" dirty="0"/>
              <a:t>L’avantage des modèles construits de façon séquentielle est qu’ils permettent de minimiser les erreurs, car chaque modèle tente de compenser les faiblesses de son prédécesseur.</a:t>
            </a:r>
          </a:p>
          <a:p>
            <a:pPr lvl="2" algn="just">
              <a:lnSpc>
                <a:spcPct val="150000"/>
              </a:lnSpc>
              <a:buClr>
                <a:schemeClr val="accent2"/>
              </a:buClr>
            </a:pPr>
            <a:r>
              <a:rPr lang="fr-FR" sz="1200" dirty="0"/>
              <a:t>Cela fait penser au postulant qui questionne ses concurrents à la sortie de l’entretien d’embauche, afin de compenser son manque d’assurance et d’être mieux préparé aux questions. Cela a pour effet de booster son efficacité lors du processus de recrutement.</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177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XG Boost :</a:t>
            </a:r>
            <a:r>
              <a:rPr lang="fr-FR" sz="2100" b="0" dirty="0"/>
              <a:t> historique</a:t>
            </a:r>
          </a:p>
        </p:txBody>
      </p:sp>
    </p:spTree>
    <p:extLst>
      <p:ext uri="{BB962C8B-B14F-4D97-AF65-F5344CB8AC3E}">
        <p14:creationId xmlns:p14="http://schemas.microsoft.com/office/powerpoint/2010/main" val="178891998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69"/>
            <a:ext cx="5891400" cy="3551754"/>
          </a:xfrm>
        </p:spPr>
        <p:txBody>
          <a:bodyPr>
            <a:normAutofit lnSpcReduction="10000"/>
          </a:bodyPr>
          <a:lstStyle/>
          <a:p>
            <a:pPr marL="600075" lvl="1" indent="-257175" algn="just">
              <a:lnSpc>
                <a:spcPct val="150000"/>
              </a:lnSpc>
              <a:buClr>
                <a:schemeClr val="accent2"/>
              </a:buClr>
              <a:buFont typeface="+mj-lt"/>
              <a:buAutoNum type="arabicPeriod" startAt="5"/>
            </a:pPr>
            <a:r>
              <a:rPr lang="fr-FR" sz="1350" b="1" dirty="0"/>
              <a:t>Gradient boosting :</a:t>
            </a:r>
            <a:r>
              <a:rPr lang="fr-FR" sz="1350" dirty="0"/>
              <a:t> </a:t>
            </a:r>
          </a:p>
          <a:p>
            <a:pPr lvl="2" algn="just">
              <a:lnSpc>
                <a:spcPct val="150000"/>
              </a:lnSpc>
              <a:buClr>
                <a:schemeClr val="accent2"/>
              </a:buClr>
            </a:pPr>
            <a:r>
              <a:rPr lang="fr-FR" sz="1200" dirty="0"/>
              <a:t>Le Gradient boosting utilise l’algorithme de descente du gradient pour minimiser les erreurs dans les modèles séquentiels.</a:t>
            </a:r>
          </a:p>
          <a:p>
            <a:pPr lvl="2" algn="just">
              <a:lnSpc>
                <a:spcPct val="150000"/>
              </a:lnSpc>
              <a:buClr>
                <a:schemeClr val="accent2"/>
              </a:buClr>
            </a:pPr>
            <a:r>
              <a:rPr lang="fr-FR" sz="1200" dirty="0"/>
              <a:t>La descente de gradient est un algorithme d’optimisation qui permet de trouver le minimum de n’importe quelle fonction convexe en convergeant progressivement vers celui-ci.</a:t>
            </a:r>
          </a:p>
          <a:p>
            <a:pPr lvl="2" algn="just">
              <a:lnSpc>
                <a:spcPct val="150000"/>
              </a:lnSpc>
              <a:buClr>
                <a:schemeClr val="accent2"/>
              </a:buClr>
            </a:pPr>
            <a:r>
              <a:rPr lang="fr-FR" sz="1200" dirty="0"/>
              <a:t>En Machine Learning, on l’utilise dans les problèmes d’apprentissage supervisé pour minimiser la fonction coût (convexe).</a:t>
            </a:r>
          </a:p>
          <a:p>
            <a:pPr lvl="2" algn="just">
              <a:lnSpc>
                <a:spcPct val="150000"/>
              </a:lnSpc>
              <a:buClr>
                <a:schemeClr val="accent2"/>
              </a:buClr>
            </a:pPr>
            <a:r>
              <a:rPr lang="fr-FR" sz="1200" dirty="0"/>
              <a:t>C’est grâce à cet algorithme que la machine apprend, c’est-à-dire trouve le meilleur modèle.</a:t>
            </a:r>
          </a:p>
          <a:p>
            <a:pPr lvl="2" algn="just">
              <a:lnSpc>
                <a:spcPct val="150000"/>
              </a:lnSpc>
              <a:buClr>
                <a:schemeClr val="accent2"/>
              </a:buClr>
            </a:pPr>
            <a:r>
              <a:rPr lang="fr-FR" sz="1200" dirty="0"/>
              <a:t>Par analogie, les cabinets de conseil tirent parti en utilisant des entretiens de cas pour éliminer les candidats les moins qualifiés.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178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XG Boost :</a:t>
            </a:r>
            <a:r>
              <a:rPr lang="fr-FR" sz="2100" b="0" dirty="0"/>
              <a:t> historique</a:t>
            </a:r>
          </a:p>
        </p:txBody>
      </p:sp>
    </p:spTree>
    <p:extLst>
      <p:ext uri="{BB962C8B-B14F-4D97-AF65-F5344CB8AC3E}">
        <p14:creationId xmlns:p14="http://schemas.microsoft.com/office/powerpoint/2010/main" val="13031880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2549890"/>
          </a:xfrm>
        </p:spPr>
        <p:txBody>
          <a:bodyPr>
            <a:normAutofit/>
          </a:bodyPr>
          <a:lstStyle/>
          <a:p>
            <a:pPr marL="600075" lvl="1" indent="-257175" algn="just">
              <a:lnSpc>
                <a:spcPct val="150000"/>
              </a:lnSpc>
              <a:buClr>
                <a:schemeClr val="accent2"/>
              </a:buClr>
              <a:buFont typeface="+mj-lt"/>
              <a:buAutoNum type="arabicPeriod" startAt="6"/>
            </a:pPr>
            <a:r>
              <a:rPr lang="fr-FR" sz="1350" b="1" dirty="0"/>
              <a:t>XG Boost :</a:t>
            </a:r>
            <a:r>
              <a:rPr lang="fr-FR" sz="1350" dirty="0"/>
              <a:t> </a:t>
            </a:r>
          </a:p>
          <a:p>
            <a:pPr lvl="2" algn="just">
              <a:lnSpc>
                <a:spcPct val="150000"/>
              </a:lnSpc>
              <a:buClr>
                <a:schemeClr val="accent2"/>
              </a:buClr>
            </a:pPr>
            <a:r>
              <a:rPr lang="fr-FR" sz="1200" dirty="0"/>
              <a:t>Enfin XG Boost est arrivé !</a:t>
            </a:r>
          </a:p>
          <a:p>
            <a:pPr lvl="2" algn="just">
              <a:lnSpc>
                <a:spcPct val="150000"/>
              </a:lnSpc>
              <a:buClr>
                <a:schemeClr val="accent2"/>
              </a:buClr>
            </a:pPr>
            <a:r>
              <a:rPr lang="fr-FR" sz="1200" dirty="0"/>
              <a:t>Il s’agit d’un algorithme de Gradient Boosting super optimisé qui fonctionne de façon séquentielle.</a:t>
            </a:r>
          </a:p>
          <a:p>
            <a:pPr lvl="2" algn="just">
              <a:lnSpc>
                <a:spcPct val="150000"/>
              </a:lnSpc>
              <a:buClr>
                <a:schemeClr val="accent2"/>
              </a:buClr>
            </a:pPr>
            <a:r>
              <a:rPr lang="fr-FR" sz="1200" dirty="0"/>
              <a:t>Il est utilisé pour résoudre des problèmes de classification ou de régression.</a:t>
            </a:r>
          </a:p>
          <a:p>
            <a:pPr lvl="2" algn="just">
              <a:lnSpc>
                <a:spcPct val="150000"/>
              </a:lnSpc>
              <a:buClr>
                <a:schemeClr val="accent2"/>
              </a:buClr>
            </a:pPr>
            <a:r>
              <a:rPr lang="fr-FR" sz="1200" dirty="0"/>
              <a:t>Il élague ses arbres, prend en compte les données manquantes et utilise la régularisation pour éviter des biais ou le surapprentissage.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179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XG Boost :</a:t>
            </a:r>
            <a:r>
              <a:rPr lang="fr-FR" sz="2100" b="0" dirty="0"/>
              <a:t> historique</a:t>
            </a:r>
          </a:p>
        </p:txBody>
      </p:sp>
    </p:spTree>
    <p:extLst>
      <p:ext uri="{BB962C8B-B14F-4D97-AF65-F5344CB8AC3E}">
        <p14:creationId xmlns:p14="http://schemas.microsoft.com/office/powerpoint/2010/main" val="1675029859"/>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69"/>
            <a:ext cx="5891400" cy="3551754"/>
          </a:xfrm>
        </p:spPr>
        <p:txBody>
          <a:bodyPr>
            <a:normAutofit/>
          </a:bodyPr>
          <a:lstStyle/>
          <a:p>
            <a:pPr algn="just">
              <a:lnSpc>
                <a:spcPct val="100000"/>
              </a:lnSpc>
              <a:buClr>
                <a:schemeClr val="accent2"/>
              </a:buClr>
            </a:pPr>
            <a:r>
              <a:rPr lang="fr-FR" sz="1500" dirty="0"/>
              <a:t>La descente de gradient  est un  algorithme d'optimisation utilisé pour entraîner   des modèles d'apprentissage automatique et des réseaux neuronaux.  </a:t>
            </a:r>
          </a:p>
          <a:p>
            <a:pPr algn="just">
              <a:lnSpc>
                <a:spcPct val="100000"/>
              </a:lnSpc>
              <a:buClr>
                <a:schemeClr val="accent2"/>
              </a:buClr>
            </a:pPr>
            <a:r>
              <a:rPr lang="fr-FR" sz="1500" dirty="0"/>
              <a:t>Les données d'entraînement aident ces modèles à apprendre au fil du temps, et la fonction de coût dans la descente de gradient agit spécifiquement comme un baromètre, évaluant sa précision à chaque itération des mises à jour des paramètres. </a:t>
            </a:r>
          </a:p>
          <a:p>
            <a:pPr algn="just">
              <a:lnSpc>
                <a:spcPct val="100000"/>
              </a:lnSpc>
              <a:buClr>
                <a:schemeClr val="accent2"/>
              </a:buClr>
            </a:pPr>
            <a:r>
              <a:rPr lang="fr-FR" sz="1500" dirty="0"/>
              <a:t>Jusqu'à ce que la fonction soit proche de zéro ou égale à zéro, le modèle continue à ajuster ses paramètres pour obtenir l'erreur la plus faible possible.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180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XG Boost :</a:t>
            </a:r>
            <a:r>
              <a:rPr lang="fr-FR" sz="2100" b="0" dirty="0"/>
              <a:t> la descente de gradient</a:t>
            </a:r>
          </a:p>
        </p:txBody>
      </p:sp>
    </p:spTree>
    <p:extLst>
      <p:ext uri="{BB962C8B-B14F-4D97-AF65-F5344CB8AC3E}">
        <p14:creationId xmlns:p14="http://schemas.microsoft.com/office/powerpoint/2010/main" val="174940866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69"/>
                <a:ext cx="5891400" cy="2198045"/>
              </a:xfrm>
            </p:spPr>
            <p:txBody>
              <a:bodyPr>
                <a:normAutofit lnSpcReduction="10000"/>
              </a:bodyPr>
              <a:lstStyle/>
              <a:p>
                <a:pPr algn="just">
                  <a:lnSpc>
                    <a:spcPct val="100000"/>
                  </a:lnSpc>
                  <a:buClr>
                    <a:schemeClr val="accent2"/>
                  </a:buClr>
                </a:pPr>
                <a:r>
                  <a:rPr lang="fr-FR" sz="1425" dirty="0"/>
                  <a:t>En régression linéaire, souvenez-vous de la formule suivante pour la pente d'une ligne, soit </a:t>
                </a:r>
                <a14:m>
                  <m:oMath xmlns:m="http://schemas.openxmlformats.org/officeDocument/2006/math">
                    <m:r>
                      <a:rPr lang="fr-FR" sz="1425" i="1" dirty="0">
                        <a:latin typeface="Cambria Math" panose="02040503050406030204" pitchFamily="18" charset="0"/>
                      </a:rPr>
                      <m:t>𝑦</m:t>
                    </m:r>
                    <m:r>
                      <a:rPr lang="fr-FR" sz="1425" i="1" dirty="0">
                        <a:latin typeface="Cambria Math" panose="02040503050406030204" pitchFamily="18" charset="0"/>
                      </a:rPr>
                      <m:t> = </m:t>
                    </m:r>
                    <m:r>
                      <a:rPr lang="fr-FR" sz="1425" i="1" dirty="0">
                        <a:latin typeface="Cambria Math" panose="02040503050406030204" pitchFamily="18" charset="0"/>
                      </a:rPr>
                      <m:t>𝑚𝑥</m:t>
                    </m:r>
                    <m:r>
                      <a:rPr lang="fr-FR" sz="1425" i="1" dirty="0">
                        <a:latin typeface="Cambria Math" panose="02040503050406030204" pitchFamily="18" charset="0"/>
                      </a:rPr>
                      <m:t> + </m:t>
                    </m:r>
                    <m:r>
                      <a:rPr lang="fr-FR" sz="1425" i="1" dirty="0">
                        <a:latin typeface="Cambria Math" panose="02040503050406030204" pitchFamily="18" charset="0"/>
                      </a:rPr>
                      <m:t>𝑏</m:t>
                    </m:r>
                  </m:oMath>
                </a14:m>
                <a:r>
                  <a:rPr lang="fr-FR" sz="1425" dirty="0"/>
                  <a:t>, où  </a:t>
                </a:r>
                <a14:m>
                  <m:oMath xmlns:m="http://schemas.openxmlformats.org/officeDocument/2006/math">
                    <m:r>
                      <a:rPr lang="fr-FR" sz="1425" i="1" dirty="0">
                        <a:latin typeface="Cambria Math" panose="02040503050406030204" pitchFamily="18" charset="0"/>
                      </a:rPr>
                      <m:t>𝑚</m:t>
                    </m:r>
                  </m:oMath>
                </a14:m>
                <a:r>
                  <a:rPr lang="fr-FR" sz="1425" dirty="0"/>
                  <a:t>  représente la pente et  </a:t>
                </a:r>
                <a14:m>
                  <m:oMath xmlns:m="http://schemas.openxmlformats.org/officeDocument/2006/math">
                    <m:r>
                      <a:rPr lang="fr-FR" sz="1425" i="1" dirty="0">
                        <a:latin typeface="Cambria Math" panose="02040503050406030204" pitchFamily="18" charset="0"/>
                      </a:rPr>
                      <m:t>𝑏</m:t>
                    </m:r>
                  </m:oMath>
                </a14:m>
                <a:r>
                  <a:rPr lang="fr-FR" sz="1425" dirty="0"/>
                  <a:t>   l'ordonnée à l'origine sur l'axe des </a:t>
                </a:r>
                <a14:m>
                  <m:oMath xmlns:m="http://schemas.openxmlformats.org/officeDocument/2006/math">
                    <m:r>
                      <a:rPr lang="fr-FR" sz="1425" i="1" dirty="0">
                        <a:latin typeface="Cambria Math" panose="02040503050406030204" pitchFamily="18" charset="0"/>
                      </a:rPr>
                      <m:t>𝑦</m:t>
                    </m:r>
                  </m:oMath>
                </a14:m>
                <a:r>
                  <a:rPr lang="fr-FR" sz="1425" dirty="0"/>
                  <a:t>.</a:t>
                </a:r>
              </a:p>
              <a:p>
                <a:pPr algn="just">
                  <a:lnSpc>
                    <a:spcPct val="100000"/>
                  </a:lnSpc>
                  <a:buClr>
                    <a:schemeClr val="accent2"/>
                  </a:buClr>
                </a:pPr>
                <a:r>
                  <a:rPr lang="fr-FR" sz="1425" dirty="0"/>
                  <a:t>Souvenez-vous aussi du nuage de points et de la ligne qui trouve le meilleur ajustement, ce qui nécessitait de calculer l'erreur entre le résultat réel et le résultat prédit à l'aide de la formule de l'erreur quadratique moyenne. </a:t>
                </a:r>
              </a:p>
              <a:p>
                <a:pPr algn="just">
                  <a:lnSpc>
                    <a:spcPct val="100000"/>
                  </a:lnSpc>
                  <a:buClr>
                    <a:schemeClr val="accent2"/>
                  </a:buClr>
                </a:pPr>
                <a:r>
                  <a:rPr lang="fr-FR" sz="1425" dirty="0"/>
                  <a:t>L'algorithme de descente de gradient se comporte de manière similaire, mais il est basé sur une fonction convexe.</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69"/>
                <a:ext cx="5891400" cy="2198045"/>
              </a:xfrm>
              <a:blipFill>
                <a:blip r:embed="rId2"/>
                <a:stretch>
                  <a:fillRect l="-1760" t="-3601" r="-186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181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XG Boost :</a:t>
            </a:r>
            <a:r>
              <a:rPr lang="fr-FR" sz="2100" b="0" dirty="0"/>
              <a:t> la descente de gradient</a:t>
            </a:r>
          </a:p>
        </p:txBody>
      </p:sp>
    </p:spTree>
    <p:extLst>
      <p:ext uri="{BB962C8B-B14F-4D97-AF65-F5344CB8AC3E}">
        <p14:creationId xmlns:p14="http://schemas.microsoft.com/office/powerpoint/2010/main" val="325760682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69"/>
            <a:ext cx="5891400" cy="3146238"/>
          </a:xfrm>
        </p:spPr>
        <p:txBody>
          <a:bodyPr>
            <a:normAutofit/>
          </a:bodyPr>
          <a:lstStyle/>
          <a:p>
            <a:pPr algn="just">
              <a:lnSpc>
                <a:spcPct val="100000"/>
              </a:lnSpc>
              <a:buClr>
                <a:schemeClr val="accent2"/>
              </a:buClr>
            </a:pPr>
            <a:r>
              <a:rPr lang="fr-FR" sz="1425" dirty="0"/>
              <a:t>Le point de départ est juste un point arbitraire qui nous permet d'évaluer la performance. </a:t>
            </a:r>
          </a:p>
          <a:p>
            <a:pPr algn="just">
              <a:lnSpc>
                <a:spcPct val="100000"/>
              </a:lnSpc>
              <a:buClr>
                <a:schemeClr val="accent2"/>
              </a:buClr>
            </a:pPr>
            <a:r>
              <a:rPr lang="fr-FR" sz="1425" dirty="0"/>
              <a:t>À partir de ce point de départ, nous trouverons la dérivée (ou la pente) et, à partir de là, nous pourrons utiliser une ligne tangente pour observer la raideur de la pente. </a:t>
            </a:r>
          </a:p>
          <a:p>
            <a:pPr algn="just">
              <a:lnSpc>
                <a:spcPct val="100000"/>
              </a:lnSpc>
              <a:buClr>
                <a:schemeClr val="accent2"/>
              </a:buClr>
            </a:pPr>
            <a:r>
              <a:rPr lang="fr-FR" sz="1425" dirty="0"/>
              <a:t>La pente informera les mises à jour des paramètres, c'est-à-dire les pondérations et le biais. </a:t>
            </a:r>
          </a:p>
          <a:p>
            <a:pPr algn="just">
              <a:lnSpc>
                <a:spcPct val="100000"/>
              </a:lnSpc>
              <a:buClr>
                <a:schemeClr val="accent2"/>
              </a:buClr>
            </a:pPr>
            <a:r>
              <a:rPr lang="fr-FR" sz="1425" dirty="0"/>
              <a:t>La pente au point de départ sera plus forte, mais au fur et à mesure que de nouveaux paramètres sont générés, la pente devrait progressivement diminuer jusqu'à atteindre le point le plus bas de la courbe, appelé point de convergence.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182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XG Boost :</a:t>
            </a:r>
            <a:r>
              <a:rPr lang="fr-FR" sz="2100" b="0" dirty="0"/>
              <a:t> la descente de gradient</a:t>
            </a:r>
          </a:p>
        </p:txBody>
      </p:sp>
    </p:spTree>
    <p:extLst>
      <p:ext uri="{BB962C8B-B14F-4D97-AF65-F5344CB8AC3E}">
        <p14:creationId xmlns:p14="http://schemas.microsoft.com/office/powerpoint/2010/main" val="256904580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183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XG Boost :</a:t>
            </a:r>
            <a:r>
              <a:rPr lang="fr-FR" sz="2100" b="0" dirty="0"/>
              <a:t> la descente de gradient</a:t>
            </a:r>
          </a:p>
        </p:txBody>
      </p:sp>
      <p:grpSp>
        <p:nvGrpSpPr>
          <p:cNvPr id="66" name="Groupe 65">
            <a:extLst>
              <a:ext uri="{FF2B5EF4-FFF2-40B4-BE49-F238E27FC236}">
                <a16:creationId xmlns:a16="http://schemas.microsoft.com/office/drawing/2014/main" id="{9E22A6F9-D97F-4A1B-B402-654D936FD32C}"/>
              </a:ext>
            </a:extLst>
          </p:cNvPr>
          <p:cNvGrpSpPr/>
          <p:nvPr/>
        </p:nvGrpSpPr>
        <p:grpSpPr>
          <a:xfrm>
            <a:off x="2295167" y="1618136"/>
            <a:ext cx="3367446" cy="2965400"/>
            <a:chOff x="3060222" y="2157514"/>
            <a:chExt cx="4489928" cy="3953867"/>
          </a:xfrm>
        </p:grpSpPr>
        <p:sp>
          <p:nvSpPr>
            <p:cNvPr id="6" name="Forme libre : forme 5">
              <a:extLst>
                <a:ext uri="{FF2B5EF4-FFF2-40B4-BE49-F238E27FC236}">
                  <a16:creationId xmlns:a16="http://schemas.microsoft.com/office/drawing/2014/main" id="{C892668B-08A6-4B77-8931-CC8B171A29E6}"/>
                </a:ext>
              </a:extLst>
            </p:cNvPr>
            <p:cNvSpPr/>
            <p:nvPr/>
          </p:nvSpPr>
          <p:spPr>
            <a:xfrm>
              <a:off x="3546282" y="2417197"/>
              <a:ext cx="3204375" cy="2648721"/>
            </a:xfrm>
            <a:custGeom>
              <a:avLst/>
              <a:gdLst>
                <a:gd name="connsiteX0" fmla="*/ 0 w 3204375"/>
                <a:gd name="connsiteY0" fmla="*/ 0 h 2648721"/>
                <a:gd name="connsiteX1" fmla="*/ 246490 w 3204375"/>
                <a:gd name="connsiteY1" fmla="*/ 143123 h 2648721"/>
                <a:gd name="connsiteX2" fmla="*/ 588396 w 3204375"/>
                <a:gd name="connsiteY2" fmla="*/ 850789 h 2648721"/>
                <a:gd name="connsiteX3" fmla="*/ 1288111 w 3204375"/>
                <a:gd name="connsiteY3" fmla="*/ 2361537 h 2648721"/>
                <a:gd name="connsiteX4" fmla="*/ 1630017 w 3204375"/>
                <a:gd name="connsiteY4" fmla="*/ 2631881 h 2648721"/>
                <a:gd name="connsiteX5" fmla="*/ 2051436 w 3204375"/>
                <a:gd name="connsiteY5" fmla="*/ 2115046 h 2648721"/>
                <a:gd name="connsiteX6" fmla="*/ 2862469 w 3204375"/>
                <a:gd name="connsiteY6" fmla="*/ 389613 h 2648721"/>
                <a:gd name="connsiteX7" fmla="*/ 3204375 w 3204375"/>
                <a:gd name="connsiteY7" fmla="*/ 119269 h 2648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04375" h="2648721">
                  <a:moveTo>
                    <a:pt x="0" y="0"/>
                  </a:moveTo>
                  <a:cubicBezTo>
                    <a:pt x="74212" y="662"/>
                    <a:pt x="148424" y="1325"/>
                    <a:pt x="246490" y="143123"/>
                  </a:cubicBezTo>
                  <a:cubicBezTo>
                    <a:pt x="344556" y="284921"/>
                    <a:pt x="414793" y="481053"/>
                    <a:pt x="588396" y="850789"/>
                  </a:cubicBezTo>
                  <a:cubicBezTo>
                    <a:pt x="761999" y="1220525"/>
                    <a:pt x="1114508" y="2064688"/>
                    <a:pt x="1288111" y="2361537"/>
                  </a:cubicBezTo>
                  <a:cubicBezTo>
                    <a:pt x="1461714" y="2658386"/>
                    <a:pt x="1502796" y="2672963"/>
                    <a:pt x="1630017" y="2631881"/>
                  </a:cubicBezTo>
                  <a:cubicBezTo>
                    <a:pt x="1757238" y="2590799"/>
                    <a:pt x="1846027" y="2488757"/>
                    <a:pt x="2051436" y="2115046"/>
                  </a:cubicBezTo>
                  <a:cubicBezTo>
                    <a:pt x="2256845" y="1741335"/>
                    <a:pt x="2670313" y="722243"/>
                    <a:pt x="2862469" y="389613"/>
                  </a:cubicBezTo>
                  <a:cubicBezTo>
                    <a:pt x="3054626" y="56984"/>
                    <a:pt x="3138114" y="166977"/>
                    <a:pt x="3204375" y="119269"/>
                  </a:cubicBezTo>
                </a:path>
              </a:pathLst>
            </a:custGeom>
            <a:noFill/>
            <a:ln>
              <a:solidFill>
                <a:srgbClr val="1F6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 name="Organigramme : Connecteur 6">
              <a:extLst>
                <a:ext uri="{FF2B5EF4-FFF2-40B4-BE49-F238E27FC236}">
                  <a16:creationId xmlns:a16="http://schemas.microsoft.com/office/drawing/2014/main" id="{5F18D99B-1DF6-4D4F-9518-1B721510049B}"/>
                </a:ext>
              </a:extLst>
            </p:cNvPr>
            <p:cNvSpPr/>
            <p:nvPr/>
          </p:nvSpPr>
          <p:spPr>
            <a:xfrm>
              <a:off x="3713259" y="2496710"/>
              <a:ext cx="103366" cy="103367"/>
            </a:xfrm>
            <a:prstGeom prst="flowChartConnector">
              <a:avLst/>
            </a:prstGeom>
            <a:solidFill>
              <a:schemeClr val="bg1"/>
            </a:solid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 name="Organigramme : Connecteur 9">
              <a:extLst>
                <a:ext uri="{FF2B5EF4-FFF2-40B4-BE49-F238E27FC236}">
                  <a16:creationId xmlns:a16="http://schemas.microsoft.com/office/drawing/2014/main" id="{4BE13386-EFFD-4B13-AE3D-D94F9060A430}"/>
                </a:ext>
              </a:extLst>
            </p:cNvPr>
            <p:cNvSpPr/>
            <p:nvPr/>
          </p:nvSpPr>
          <p:spPr>
            <a:xfrm>
              <a:off x="4024687" y="3062579"/>
              <a:ext cx="103366" cy="103367"/>
            </a:xfrm>
            <a:prstGeom prst="flowChartConnector">
              <a:avLst/>
            </a:prstGeom>
            <a:solidFill>
              <a:schemeClr val="bg1"/>
            </a:solid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 name="Organigramme : Connecteur 10">
              <a:extLst>
                <a:ext uri="{FF2B5EF4-FFF2-40B4-BE49-F238E27FC236}">
                  <a16:creationId xmlns:a16="http://schemas.microsoft.com/office/drawing/2014/main" id="{3D5EC431-16DD-4B3E-9DB3-45B2EAB07711}"/>
                </a:ext>
              </a:extLst>
            </p:cNvPr>
            <p:cNvSpPr/>
            <p:nvPr/>
          </p:nvSpPr>
          <p:spPr>
            <a:xfrm>
              <a:off x="4399723" y="3986254"/>
              <a:ext cx="103366" cy="103367"/>
            </a:xfrm>
            <a:prstGeom prst="flowChartConnector">
              <a:avLst/>
            </a:prstGeom>
            <a:solidFill>
              <a:schemeClr val="bg1"/>
            </a:solid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 name="Organigramme : Connecteur 11">
              <a:extLst>
                <a:ext uri="{FF2B5EF4-FFF2-40B4-BE49-F238E27FC236}">
                  <a16:creationId xmlns:a16="http://schemas.microsoft.com/office/drawing/2014/main" id="{0BBFD034-E012-47C0-91A1-DCB0D9CEEE99}"/>
                </a:ext>
              </a:extLst>
            </p:cNvPr>
            <p:cNvSpPr/>
            <p:nvPr/>
          </p:nvSpPr>
          <p:spPr>
            <a:xfrm>
              <a:off x="4655492" y="4512364"/>
              <a:ext cx="103366" cy="103367"/>
            </a:xfrm>
            <a:prstGeom prst="flowChartConnector">
              <a:avLst/>
            </a:prstGeom>
            <a:solidFill>
              <a:schemeClr val="bg1"/>
            </a:solid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3" name="Organigramme : Connecteur 12">
              <a:extLst>
                <a:ext uri="{FF2B5EF4-FFF2-40B4-BE49-F238E27FC236}">
                  <a16:creationId xmlns:a16="http://schemas.microsoft.com/office/drawing/2014/main" id="{25E60033-1715-4FEA-98BF-D8E6C1D58AA2}"/>
                </a:ext>
              </a:extLst>
            </p:cNvPr>
            <p:cNvSpPr/>
            <p:nvPr/>
          </p:nvSpPr>
          <p:spPr>
            <a:xfrm>
              <a:off x="4776088" y="4712470"/>
              <a:ext cx="103366" cy="103367"/>
            </a:xfrm>
            <a:prstGeom prst="flowChartConnector">
              <a:avLst/>
            </a:prstGeom>
            <a:solidFill>
              <a:schemeClr val="bg1"/>
            </a:solid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5" name="Organigramme : Connecteur 14">
              <a:extLst>
                <a:ext uri="{FF2B5EF4-FFF2-40B4-BE49-F238E27FC236}">
                  <a16:creationId xmlns:a16="http://schemas.microsoft.com/office/drawing/2014/main" id="{61E31EFE-31ED-4293-AAF6-85D543999F05}"/>
                </a:ext>
              </a:extLst>
            </p:cNvPr>
            <p:cNvSpPr/>
            <p:nvPr/>
          </p:nvSpPr>
          <p:spPr>
            <a:xfrm>
              <a:off x="4904635" y="4880772"/>
              <a:ext cx="103366" cy="103367"/>
            </a:xfrm>
            <a:prstGeom prst="flowChartConnector">
              <a:avLst/>
            </a:prstGeom>
            <a:solidFill>
              <a:schemeClr val="bg1"/>
            </a:solid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6" name="Organigramme : Connecteur 15">
              <a:extLst>
                <a:ext uri="{FF2B5EF4-FFF2-40B4-BE49-F238E27FC236}">
                  <a16:creationId xmlns:a16="http://schemas.microsoft.com/office/drawing/2014/main" id="{3FC4CF64-1A25-48CE-AA32-C59B9C3D44AE}"/>
                </a:ext>
              </a:extLst>
            </p:cNvPr>
            <p:cNvSpPr/>
            <p:nvPr/>
          </p:nvSpPr>
          <p:spPr>
            <a:xfrm>
              <a:off x="5104741" y="4993417"/>
              <a:ext cx="103366" cy="103367"/>
            </a:xfrm>
            <a:prstGeom prst="flowChartConnector">
              <a:avLst/>
            </a:prstGeom>
            <a:solidFill>
              <a:schemeClr val="bg1"/>
            </a:solid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7" name="Forme libre : forme 46">
              <a:extLst>
                <a:ext uri="{FF2B5EF4-FFF2-40B4-BE49-F238E27FC236}">
                  <a16:creationId xmlns:a16="http://schemas.microsoft.com/office/drawing/2014/main" id="{76B24685-A354-4095-896B-09CFBF5CE649}"/>
                </a:ext>
              </a:extLst>
            </p:cNvPr>
            <p:cNvSpPr/>
            <p:nvPr/>
          </p:nvSpPr>
          <p:spPr>
            <a:xfrm>
              <a:off x="4750594" y="4564856"/>
              <a:ext cx="102585" cy="147638"/>
            </a:xfrm>
            <a:custGeom>
              <a:avLst/>
              <a:gdLst>
                <a:gd name="connsiteX0" fmla="*/ 0 w 102585"/>
                <a:gd name="connsiteY0" fmla="*/ 0 h 147638"/>
                <a:gd name="connsiteX1" fmla="*/ 78581 w 102585"/>
                <a:gd name="connsiteY1" fmla="*/ 42863 h 147638"/>
                <a:gd name="connsiteX2" fmla="*/ 102394 w 102585"/>
                <a:gd name="connsiteY2" fmla="*/ 147638 h 147638"/>
              </a:gdLst>
              <a:ahLst/>
              <a:cxnLst>
                <a:cxn ang="0">
                  <a:pos x="connsiteX0" y="connsiteY0"/>
                </a:cxn>
                <a:cxn ang="0">
                  <a:pos x="connsiteX1" y="connsiteY1"/>
                </a:cxn>
                <a:cxn ang="0">
                  <a:pos x="connsiteX2" y="connsiteY2"/>
                </a:cxn>
              </a:cxnLst>
              <a:rect l="l" t="t" r="r" b="b"/>
              <a:pathLst>
                <a:path w="102585" h="147638">
                  <a:moveTo>
                    <a:pt x="0" y="0"/>
                  </a:moveTo>
                  <a:cubicBezTo>
                    <a:pt x="30757" y="9128"/>
                    <a:pt x="61515" y="18257"/>
                    <a:pt x="78581" y="42863"/>
                  </a:cubicBezTo>
                  <a:cubicBezTo>
                    <a:pt x="95647" y="67469"/>
                    <a:pt x="103982" y="109538"/>
                    <a:pt x="102394" y="147638"/>
                  </a:cubicBezTo>
                </a:path>
              </a:pathLst>
            </a:custGeom>
            <a:noFill/>
            <a:ln w="3175">
              <a:solidFill>
                <a:schemeClr val="accent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dirty="0"/>
            </a:p>
          </p:txBody>
        </p:sp>
        <p:sp>
          <p:nvSpPr>
            <p:cNvPr id="50" name="Forme libre : forme 49">
              <a:extLst>
                <a:ext uri="{FF2B5EF4-FFF2-40B4-BE49-F238E27FC236}">
                  <a16:creationId xmlns:a16="http://schemas.microsoft.com/office/drawing/2014/main" id="{E6003836-C684-4225-B9AE-9E310B9CCE3A}"/>
                </a:ext>
              </a:extLst>
            </p:cNvPr>
            <p:cNvSpPr/>
            <p:nvPr/>
          </p:nvSpPr>
          <p:spPr>
            <a:xfrm>
              <a:off x="4883944" y="4762500"/>
              <a:ext cx="102394" cy="133350"/>
            </a:xfrm>
            <a:custGeom>
              <a:avLst/>
              <a:gdLst>
                <a:gd name="connsiteX0" fmla="*/ 0 w 102394"/>
                <a:gd name="connsiteY0" fmla="*/ 0 h 133350"/>
                <a:gd name="connsiteX1" fmla="*/ 83344 w 102394"/>
                <a:gd name="connsiteY1" fmla="*/ 47625 h 133350"/>
                <a:gd name="connsiteX2" fmla="*/ 102394 w 102394"/>
                <a:gd name="connsiteY2" fmla="*/ 133350 h 133350"/>
              </a:gdLst>
              <a:ahLst/>
              <a:cxnLst>
                <a:cxn ang="0">
                  <a:pos x="connsiteX0" y="connsiteY0"/>
                </a:cxn>
                <a:cxn ang="0">
                  <a:pos x="connsiteX1" y="connsiteY1"/>
                </a:cxn>
                <a:cxn ang="0">
                  <a:pos x="connsiteX2" y="connsiteY2"/>
                </a:cxn>
              </a:cxnLst>
              <a:rect l="l" t="t" r="r" b="b"/>
              <a:pathLst>
                <a:path w="102394" h="133350">
                  <a:moveTo>
                    <a:pt x="0" y="0"/>
                  </a:moveTo>
                  <a:cubicBezTo>
                    <a:pt x="33139" y="12700"/>
                    <a:pt x="66278" y="25400"/>
                    <a:pt x="83344" y="47625"/>
                  </a:cubicBezTo>
                  <a:cubicBezTo>
                    <a:pt x="100410" y="69850"/>
                    <a:pt x="101402" y="101600"/>
                    <a:pt x="102394" y="133350"/>
                  </a:cubicBezTo>
                </a:path>
              </a:pathLst>
            </a:custGeom>
            <a:noFill/>
            <a:ln w="3175">
              <a:solidFill>
                <a:schemeClr val="accent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dirty="0"/>
            </a:p>
          </p:txBody>
        </p:sp>
        <p:sp>
          <p:nvSpPr>
            <p:cNvPr id="51" name="Forme libre : forme 50">
              <a:extLst>
                <a:ext uri="{FF2B5EF4-FFF2-40B4-BE49-F238E27FC236}">
                  <a16:creationId xmlns:a16="http://schemas.microsoft.com/office/drawing/2014/main" id="{C2D61D5B-4244-4C72-9913-47BF09C29A50}"/>
                </a:ext>
              </a:extLst>
            </p:cNvPr>
            <p:cNvSpPr/>
            <p:nvPr/>
          </p:nvSpPr>
          <p:spPr>
            <a:xfrm>
              <a:off x="5007769" y="4930568"/>
              <a:ext cx="152400" cy="59476"/>
            </a:xfrm>
            <a:custGeom>
              <a:avLst/>
              <a:gdLst>
                <a:gd name="connsiteX0" fmla="*/ 0 w 152400"/>
                <a:gd name="connsiteY0" fmla="*/ 10526 h 59476"/>
                <a:gd name="connsiteX1" fmla="*/ 102394 w 152400"/>
                <a:gd name="connsiteY1" fmla="*/ 3382 h 59476"/>
                <a:gd name="connsiteX2" fmla="*/ 152400 w 152400"/>
                <a:gd name="connsiteY2" fmla="*/ 58151 h 59476"/>
              </a:gdLst>
              <a:ahLst/>
              <a:cxnLst>
                <a:cxn ang="0">
                  <a:pos x="connsiteX0" y="connsiteY0"/>
                </a:cxn>
                <a:cxn ang="0">
                  <a:pos x="connsiteX1" y="connsiteY1"/>
                </a:cxn>
                <a:cxn ang="0">
                  <a:pos x="connsiteX2" y="connsiteY2"/>
                </a:cxn>
              </a:cxnLst>
              <a:rect l="l" t="t" r="r" b="b"/>
              <a:pathLst>
                <a:path w="152400" h="59476">
                  <a:moveTo>
                    <a:pt x="0" y="10526"/>
                  </a:moveTo>
                  <a:cubicBezTo>
                    <a:pt x="38497" y="2985"/>
                    <a:pt x="76994" y="-4555"/>
                    <a:pt x="102394" y="3382"/>
                  </a:cubicBezTo>
                  <a:cubicBezTo>
                    <a:pt x="127794" y="11319"/>
                    <a:pt x="132160" y="68867"/>
                    <a:pt x="152400" y="58151"/>
                  </a:cubicBezTo>
                </a:path>
              </a:pathLst>
            </a:custGeom>
            <a:noFill/>
            <a:ln w="3175">
              <a:solidFill>
                <a:schemeClr val="accent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dirty="0"/>
            </a:p>
          </p:txBody>
        </p:sp>
        <p:sp>
          <p:nvSpPr>
            <p:cNvPr id="53" name="Forme libre : forme 52">
              <a:extLst>
                <a:ext uri="{FF2B5EF4-FFF2-40B4-BE49-F238E27FC236}">
                  <a16:creationId xmlns:a16="http://schemas.microsoft.com/office/drawing/2014/main" id="{3EAC10DF-3C0B-4470-83EC-3A3811270DF8}"/>
                </a:ext>
              </a:extLst>
            </p:cNvPr>
            <p:cNvSpPr/>
            <p:nvPr/>
          </p:nvSpPr>
          <p:spPr>
            <a:xfrm>
              <a:off x="3821906" y="2514600"/>
              <a:ext cx="275394" cy="552450"/>
            </a:xfrm>
            <a:custGeom>
              <a:avLst/>
              <a:gdLst>
                <a:gd name="connsiteX0" fmla="*/ 0 w 275394"/>
                <a:gd name="connsiteY0" fmla="*/ 0 h 552450"/>
                <a:gd name="connsiteX1" fmla="*/ 121444 w 275394"/>
                <a:gd name="connsiteY1" fmla="*/ 35719 h 552450"/>
                <a:gd name="connsiteX2" fmla="*/ 223838 w 275394"/>
                <a:gd name="connsiteY2" fmla="*/ 176213 h 552450"/>
                <a:gd name="connsiteX3" fmla="*/ 273844 w 275394"/>
                <a:gd name="connsiteY3" fmla="*/ 400050 h 552450"/>
                <a:gd name="connsiteX4" fmla="*/ 273844 w 275394"/>
                <a:gd name="connsiteY4" fmla="*/ 552450 h 55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394" h="552450">
                  <a:moveTo>
                    <a:pt x="0" y="0"/>
                  </a:moveTo>
                  <a:cubicBezTo>
                    <a:pt x="42069" y="3175"/>
                    <a:pt x="84138" y="6350"/>
                    <a:pt x="121444" y="35719"/>
                  </a:cubicBezTo>
                  <a:cubicBezTo>
                    <a:pt x="158750" y="65088"/>
                    <a:pt x="198438" y="115491"/>
                    <a:pt x="223838" y="176213"/>
                  </a:cubicBezTo>
                  <a:cubicBezTo>
                    <a:pt x="249238" y="236935"/>
                    <a:pt x="265510" y="337344"/>
                    <a:pt x="273844" y="400050"/>
                  </a:cubicBezTo>
                  <a:cubicBezTo>
                    <a:pt x="282178" y="462756"/>
                    <a:pt x="253206" y="542528"/>
                    <a:pt x="273844" y="552450"/>
                  </a:cubicBezTo>
                </a:path>
              </a:pathLst>
            </a:custGeom>
            <a:noFill/>
            <a:ln w="3175">
              <a:solidFill>
                <a:schemeClr val="accent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4" name="Forme libre : forme 53">
              <a:extLst>
                <a:ext uri="{FF2B5EF4-FFF2-40B4-BE49-F238E27FC236}">
                  <a16:creationId xmlns:a16="http://schemas.microsoft.com/office/drawing/2014/main" id="{258E1AFC-009B-4173-B6E3-D032BE7DC21A}"/>
                </a:ext>
              </a:extLst>
            </p:cNvPr>
            <p:cNvSpPr/>
            <p:nvPr/>
          </p:nvSpPr>
          <p:spPr>
            <a:xfrm>
              <a:off x="4129088" y="3098006"/>
              <a:ext cx="346346" cy="885825"/>
            </a:xfrm>
            <a:custGeom>
              <a:avLst/>
              <a:gdLst>
                <a:gd name="connsiteX0" fmla="*/ 0 w 346346"/>
                <a:gd name="connsiteY0" fmla="*/ 0 h 885825"/>
                <a:gd name="connsiteX1" fmla="*/ 107156 w 346346"/>
                <a:gd name="connsiteY1" fmla="*/ 50007 h 885825"/>
                <a:gd name="connsiteX2" fmla="*/ 230981 w 346346"/>
                <a:gd name="connsiteY2" fmla="*/ 228600 h 885825"/>
                <a:gd name="connsiteX3" fmla="*/ 316706 w 346346"/>
                <a:gd name="connsiteY3" fmla="*/ 497682 h 885825"/>
                <a:gd name="connsiteX4" fmla="*/ 342900 w 346346"/>
                <a:gd name="connsiteY4" fmla="*/ 666750 h 885825"/>
                <a:gd name="connsiteX5" fmla="*/ 345281 w 346346"/>
                <a:gd name="connsiteY5" fmla="*/ 885825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6346" h="885825">
                  <a:moveTo>
                    <a:pt x="0" y="0"/>
                  </a:moveTo>
                  <a:cubicBezTo>
                    <a:pt x="34329" y="5953"/>
                    <a:pt x="68659" y="11907"/>
                    <a:pt x="107156" y="50007"/>
                  </a:cubicBezTo>
                  <a:cubicBezTo>
                    <a:pt x="145653" y="88107"/>
                    <a:pt x="196056" y="153988"/>
                    <a:pt x="230981" y="228600"/>
                  </a:cubicBezTo>
                  <a:cubicBezTo>
                    <a:pt x="265906" y="303212"/>
                    <a:pt x="298053" y="424657"/>
                    <a:pt x="316706" y="497682"/>
                  </a:cubicBezTo>
                  <a:cubicBezTo>
                    <a:pt x="335359" y="570707"/>
                    <a:pt x="338138" y="602060"/>
                    <a:pt x="342900" y="666750"/>
                  </a:cubicBezTo>
                  <a:cubicBezTo>
                    <a:pt x="347663" y="731441"/>
                    <a:pt x="346472" y="808633"/>
                    <a:pt x="345281" y="885825"/>
                  </a:cubicBezTo>
                </a:path>
              </a:pathLst>
            </a:custGeom>
            <a:noFill/>
            <a:ln w="3175">
              <a:solidFill>
                <a:schemeClr val="accent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dirty="0"/>
            </a:p>
          </p:txBody>
        </p:sp>
        <p:sp>
          <p:nvSpPr>
            <p:cNvPr id="56" name="Forme libre : forme 55">
              <a:extLst>
                <a:ext uri="{FF2B5EF4-FFF2-40B4-BE49-F238E27FC236}">
                  <a16:creationId xmlns:a16="http://schemas.microsoft.com/office/drawing/2014/main" id="{642802FE-D133-4BA0-B8D4-4B6132D3CF2C}"/>
                </a:ext>
              </a:extLst>
            </p:cNvPr>
            <p:cNvSpPr/>
            <p:nvPr/>
          </p:nvSpPr>
          <p:spPr>
            <a:xfrm>
              <a:off x="4507706" y="4024313"/>
              <a:ext cx="225900" cy="490537"/>
            </a:xfrm>
            <a:custGeom>
              <a:avLst/>
              <a:gdLst>
                <a:gd name="connsiteX0" fmla="*/ 0 w 225900"/>
                <a:gd name="connsiteY0" fmla="*/ 0 h 490537"/>
                <a:gd name="connsiteX1" fmla="*/ 76200 w 225900"/>
                <a:gd name="connsiteY1" fmla="*/ 33337 h 490537"/>
                <a:gd name="connsiteX2" fmla="*/ 133350 w 225900"/>
                <a:gd name="connsiteY2" fmla="*/ 107156 h 490537"/>
                <a:gd name="connsiteX3" fmla="*/ 202407 w 225900"/>
                <a:gd name="connsiteY3" fmla="*/ 273843 h 490537"/>
                <a:gd name="connsiteX4" fmla="*/ 223838 w 225900"/>
                <a:gd name="connsiteY4" fmla="*/ 442912 h 490537"/>
                <a:gd name="connsiteX5" fmla="*/ 223838 w 225900"/>
                <a:gd name="connsiteY5" fmla="*/ 490537 h 49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900" h="490537">
                  <a:moveTo>
                    <a:pt x="0" y="0"/>
                  </a:moveTo>
                  <a:cubicBezTo>
                    <a:pt x="26987" y="7739"/>
                    <a:pt x="53975" y="15478"/>
                    <a:pt x="76200" y="33337"/>
                  </a:cubicBezTo>
                  <a:cubicBezTo>
                    <a:pt x="98425" y="51196"/>
                    <a:pt x="112316" y="67072"/>
                    <a:pt x="133350" y="107156"/>
                  </a:cubicBezTo>
                  <a:cubicBezTo>
                    <a:pt x="154385" y="147240"/>
                    <a:pt x="187326" y="217884"/>
                    <a:pt x="202407" y="273843"/>
                  </a:cubicBezTo>
                  <a:cubicBezTo>
                    <a:pt x="217488" y="329802"/>
                    <a:pt x="220266" y="406796"/>
                    <a:pt x="223838" y="442912"/>
                  </a:cubicBezTo>
                  <a:cubicBezTo>
                    <a:pt x="227410" y="479028"/>
                    <a:pt x="225624" y="484782"/>
                    <a:pt x="223838" y="490537"/>
                  </a:cubicBezTo>
                </a:path>
              </a:pathLst>
            </a:custGeom>
            <a:noFill/>
            <a:ln w="3175">
              <a:solidFill>
                <a:schemeClr val="accent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dirty="0"/>
            </a:p>
          </p:txBody>
        </p:sp>
        <p:cxnSp>
          <p:nvCxnSpPr>
            <p:cNvPr id="57" name="Connecteur droit avec flèche 56">
              <a:extLst>
                <a:ext uri="{FF2B5EF4-FFF2-40B4-BE49-F238E27FC236}">
                  <a16:creationId xmlns:a16="http://schemas.microsoft.com/office/drawing/2014/main" id="{0A191D7A-DFF6-490D-BAD0-7AD9389CB915}"/>
                </a:ext>
              </a:extLst>
            </p:cNvPr>
            <p:cNvCxnSpPr>
              <a:cxnSpLocks/>
            </p:cNvCxnSpPr>
            <p:nvPr/>
          </p:nvCxnSpPr>
          <p:spPr>
            <a:xfrm flipV="1">
              <a:off x="3543905" y="2185667"/>
              <a:ext cx="0" cy="3024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13F2E8C0-5D09-4FC1-9793-019FF28702C2}"/>
                </a:ext>
              </a:extLst>
            </p:cNvPr>
            <p:cNvCxnSpPr>
              <a:cxnSpLocks/>
            </p:cNvCxnSpPr>
            <p:nvPr/>
          </p:nvCxnSpPr>
          <p:spPr>
            <a:xfrm>
              <a:off x="3479873" y="5147080"/>
              <a:ext cx="35457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ZoneTexte 60">
              <a:extLst>
                <a:ext uri="{FF2B5EF4-FFF2-40B4-BE49-F238E27FC236}">
                  <a16:creationId xmlns:a16="http://schemas.microsoft.com/office/drawing/2014/main" id="{0FE603AE-FE05-4B1F-A1D9-941F10C9D78B}"/>
                </a:ext>
              </a:extLst>
            </p:cNvPr>
            <p:cNvSpPr txBox="1"/>
            <p:nvPr/>
          </p:nvSpPr>
          <p:spPr>
            <a:xfrm>
              <a:off x="6114554" y="5158948"/>
              <a:ext cx="1024807" cy="246221"/>
            </a:xfrm>
            <a:prstGeom prst="rect">
              <a:avLst/>
            </a:prstGeom>
            <a:noFill/>
          </p:spPr>
          <p:txBody>
            <a:bodyPr wrap="square" rtlCol="0">
              <a:spAutoFit/>
            </a:bodyPr>
            <a:lstStyle/>
            <a:p>
              <a:r>
                <a:rPr lang="fr-FR" sz="600" dirty="0"/>
                <a:t>Valeur des poids</a:t>
              </a:r>
            </a:p>
          </p:txBody>
        </p:sp>
        <p:sp>
          <p:nvSpPr>
            <p:cNvPr id="62" name="ZoneTexte 61">
              <a:extLst>
                <a:ext uri="{FF2B5EF4-FFF2-40B4-BE49-F238E27FC236}">
                  <a16:creationId xmlns:a16="http://schemas.microsoft.com/office/drawing/2014/main" id="{D47D921F-0A38-427F-83E8-33F78A532B15}"/>
                </a:ext>
              </a:extLst>
            </p:cNvPr>
            <p:cNvSpPr txBox="1"/>
            <p:nvPr/>
          </p:nvSpPr>
          <p:spPr>
            <a:xfrm>
              <a:off x="3060222" y="2261199"/>
              <a:ext cx="478403" cy="246221"/>
            </a:xfrm>
            <a:prstGeom prst="rect">
              <a:avLst/>
            </a:prstGeom>
            <a:noFill/>
          </p:spPr>
          <p:txBody>
            <a:bodyPr wrap="square" rtlCol="0">
              <a:spAutoFit/>
            </a:bodyPr>
            <a:lstStyle/>
            <a:p>
              <a:r>
                <a:rPr lang="fr-FR" sz="600" dirty="0"/>
                <a:t>Coût</a:t>
              </a:r>
              <a:endParaRPr lang="fr-FR" sz="675" dirty="0"/>
            </a:p>
          </p:txBody>
        </p:sp>
        <p:sp>
          <p:nvSpPr>
            <p:cNvPr id="64" name="Légende : flèche courbée 63">
              <a:extLst>
                <a:ext uri="{FF2B5EF4-FFF2-40B4-BE49-F238E27FC236}">
                  <a16:creationId xmlns:a16="http://schemas.microsoft.com/office/drawing/2014/main" id="{38E446B1-329A-43A9-8091-16DC942948BB}"/>
                </a:ext>
              </a:extLst>
            </p:cNvPr>
            <p:cNvSpPr/>
            <p:nvPr/>
          </p:nvSpPr>
          <p:spPr>
            <a:xfrm>
              <a:off x="4451406" y="2157514"/>
              <a:ext cx="1101665" cy="219102"/>
            </a:xfrm>
            <a:prstGeom prst="borderCallout2">
              <a:avLst>
                <a:gd name="adj1" fmla="val 32535"/>
                <a:gd name="adj2" fmla="val -5297"/>
                <a:gd name="adj3" fmla="val 32535"/>
                <a:gd name="adj4" fmla="val -10938"/>
                <a:gd name="adj5" fmla="val 146685"/>
                <a:gd name="adj6" fmla="val -57494"/>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700" dirty="0"/>
                <a:t>Point de départ</a:t>
              </a:r>
            </a:p>
          </p:txBody>
        </p:sp>
        <p:sp>
          <p:nvSpPr>
            <p:cNvPr id="65" name="Légende : flèche courbée 64">
              <a:extLst>
                <a:ext uri="{FF2B5EF4-FFF2-40B4-BE49-F238E27FC236}">
                  <a16:creationId xmlns:a16="http://schemas.microsoft.com/office/drawing/2014/main" id="{62651422-0135-468A-AEC2-C9292F699CA0}"/>
                </a:ext>
              </a:extLst>
            </p:cNvPr>
            <p:cNvSpPr/>
            <p:nvPr/>
          </p:nvSpPr>
          <p:spPr>
            <a:xfrm>
              <a:off x="5736214" y="5609729"/>
              <a:ext cx="1813936" cy="501652"/>
            </a:xfrm>
            <a:prstGeom prst="borderCallout2">
              <a:avLst>
                <a:gd name="adj1" fmla="val 32535"/>
                <a:gd name="adj2" fmla="val -5297"/>
                <a:gd name="adj3" fmla="val 32535"/>
                <a:gd name="adj4" fmla="val -10938"/>
                <a:gd name="adj5" fmla="val -109966"/>
                <a:gd name="adj6" fmla="val -31430"/>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825" dirty="0"/>
                <a:t>Point de convergence, i.e. où la fonction de coût est à son minimum</a:t>
              </a:r>
            </a:p>
          </p:txBody>
        </p:sp>
      </p:grpSp>
    </p:spTree>
    <p:extLst>
      <p:ext uri="{BB962C8B-B14F-4D97-AF65-F5344CB8AC3E}">
        <p14:creationId xmlns:p14="http://schemas.microsoft.com/office/powerpoint/2010/main" val="224028690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69"/>
            <a:ext cx="5891400" cy="3146238"/>
          </a:xfrm>
        </p:spPr>
        <p:txBody>
          <a:bodyPr>
            <a:normAutofit/>
          </a:bodyPr>
          <a:lstStyle/>
          <a:p>
            <a:pPr algn="just">
              <a:lnSpc>
                <a:spcPct val="100000"/>
              </a:lnSpc>
              <a:buClr>
                <a:schemeClr val="accent2"/>
              </a:buClr>
            </a:pPr>
            <a:r>
              <a:rPr lang="fr-FR" sz="1425" dirty="0"/>
              <a:t>Comme pour la recherche de la ligne de meilleur ajustement dans la régression linéaire, l'objectif de la descente de gradient est de minimiser la fonction de coût, ou l'erreur entre la prédiction et le y réel. </a:t>
            </a:r>
          </a:p>
          <a:p>
            <a:pPr algn="just">
              <a:lnSpc>
                <a:spcPct val="100000"/>
              </a:lnSpc>
              <a:buClr>
                <a:schemeClr val="accent2"/>
              </a:buClr>
            </a:pPr>
            <a:r>
              <a:rPr lang="fr-FR" sz="1425" dirty="0"/>
              <a:t>Pour ce faire, elle a besoin de deux points de données : </a:t>
            </a:r>
            <a:r>
              <a:rPr lang="fr-FR" sz="1425" b="1" dirty="0"/>
              <a:t>une direction </a:t>
            </a:r>
            <a:r>
              <a:rPr lang="fr-FR" sz="1425" dirty="0"/>
              <a:t>et un </a:t>
            </a:r>
            <a:r>
              <a:rPr lang="fr-FR" sz="1425" b="1" dirty="0"/>
              <a:t>taux d'apprentissage</a:t>
            </a:r>
            <a:r>
              <a:rPr lang="fr-FR" sz="1425" dirty="0"/>
              <a:t>. </a:t>
            </a:r>
          </a:p>
          <a:p>
            <a:pPr algn="just">
              <a:lnSpc>
                <a:spcPct val="100000"/>
              </a:lnSpc>
              <a:buClr>
                <a:schemeClr val="accent2"/>
              </a:buClr>
            </a:pPr>
            <a:r>
              <a:rPr lang="fr-FR" sz="1425" dirty="0"/>
              <a:t>Ces facteurs déterminent les calculs de dérivée partielle des itérations futures, ce qui lui permet d'arriver progressivement au minimum local ou global (c'est-à-dire au point de convergence).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184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XG Boost :</a:t>
            </a:r>
            <a:r>
              <a:rPr lang="fr-FR" sz="2100" b="0" dirty="0"/>
              <a:t> la descente de gradient</a:t>
            </a:r>
          </a:p>
        </p:txBody>
      </p:sp>
    </p:spTree>
    <p:extLst>
      <p:ext uri="{BB962C8B-B14F-4D97-AF65-F5344CB8AC3E}">
        <p14:creationId xmlns:p14="http://schemas.microsoft.com/office/powerpoint/2010/main" val="4209192334"/>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69"/>
            <a:ext cx="5891400" cy="3146238"/>
          </a:xfrm>
        </p:spPr>
        <p:txBody>
          <a:bodyPr>
            <a:normAutofit/>
          </a:bodyPr>
          <a:lstStyle/>
          <a:p>
            <a:pPr algn="just">
              <a:lnSpc>
                <a:spcPct val="100000"/>
              </a:lnSpc>
              <a:buClr>
                <a:schemeClr val="accent2"/>
              </a:buClr>
            </a:pPr>
            <a:r>
              <a:rPr lang="fr-FR" sz="1425" dirty="0"/>
              <a:t>Également appelé taille d'étapes ou alpha c’est la taille des étapes choisies pour atteindre le minimum. </a:t>
            </a:r>
          </a:p>
          <a:p>
            <a:pPr algn="just">
              <a:lnSpc>
                <a:spcPct val="100000"/>
              </a:lnSpc>
              <a:buClr>
                <a:schemeClr val="accent2"/>
              </a:buClr>
            </a:pPr>
            <a:r>
              <a:rPr lang="fr-FR" sz="1425" dirty="0"/>
              <a:t>Il s'agit généralement d'une petite valeur, qui est évaluée et mise à jour en fonction du comportement de la fonction de coût. </a:t>
            </a:r>
          </a:p>
          <a:p>
            <a:pPr algn="just">
              <a:lnSpc>
                <a:spcPct val="100000"/>
              </a:lnSpc>
              <a:buClr>
                <a:schemeClr val="accent2"/>
              </a:buClr>
            </a:pPr>
            <a:r>
              <a:rPr lang="fr-FR" sz="1425" dirty="0"/>
              <a:t>Un taux d'apprentissage élevé se traduit par des étapes plus grandes, qui risquent de dépasser le minimum. </a:t>
            </a:r>
          </a:p>
          <a:p>
            <a:pPr algn="just">
              <a:lnSpc>
                <a:spcPct val="100000"/>
              </a:lnSpc>
              <a:buClr>
                <a:schemeClr val="accent2"/>
              </a:buClr>
            </a:pPr>
            <a:r>
              <a:rPr lang="fr-FR" sz="1425" dirty="0"/>
              <a:t>À l'inverse, un taux d'apprentissage faible a des étapes de petite taille. S'il présente l'avantage d'une plus grande précision, le nombre d'itérations compromet l'efficacité globale, car il faut plus de temps et de calculs pour atteindre le minimum.</a:t>
            </a:r>
          </a:p>
          <a:p>
            <a:pPr algn="just">
              <a:lnSpc>
                <a:spcPct val="100000"/>
              </a:lnSpc>
              <a:buClr>
                <a:schemeClr val="accent2"/>
              </a:buClr>
            </a:pPr>
            <a:r>
              <a:rPr lang="fr-FR" sz="1425" dirty="0"/>
              <a:t>Il n’existe pas d’astuces pour trouver le taux d’apprentissage optimal. On tâtonne en modifiant les hyperparamètres.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185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XG Boost :</a:t>
            </a:r>
            <a:r>
              <a:rPr lang="fr-FR" sz="2100" b="0" dirty="0"/>
              <a:t> le taux d’apprentissage (learning rate)</a:t>
            </a:r>
          </a:p>
        </p:txBody>
      </p:sp>
    </p:spTree>
    <p:extLst>
      <p:ext uri="{BB962C8B-B14F-4D97-AF65-F5344CB8AC3E}">
        <p14:creationId xmlns:p14="http://schemas.microsoft.com/office/powerpoint/2010/main" val="4701435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69"/>
                <a:ext cx="5891400" cy="3146238"/>
              </a:xfrm>
            </p:spPr>
            <p:txBody>
              <a:bodyPr>
                <a:normAutofit/>
              </a:bodyPr>
              <a:lstStyle/>
              <a:p>
                <a:pPr algn="just">
                  <a:lnSpc>
                    <a:spcPct val="100000"/>
                  </a:lnSpc>
                  <a:buClr>
                    <a:schemeClr val="accent2"/>
                  </a:buClr>
                </a:pPr>
                <a:r>
                  <a:rPr lang="fr-FR" sz="1425" dirty="0"/>
                  <a:t>La fonction de coût mesure la différence, ou l'erreur, entre le </a:t>
                </a:r>
                <a14:m>
                  <m:oMath xmlns:m="http://schemas.openxmlformats.org/officeDocument/2006/math">
                    <m:r>
                      <a:rPr lang="fr-FR" sz="1425" i="1" dirty="0">
                        <a:latin typeface="Cambria Math" panose="02040503050406030204" pitchFamily="18" charset="0"/>
                      </a:rPr>
                      <m:t>𝑦</m:t>
                    </m:r>
                    <m:r>
                      <a:rPr lang="fr-FR" sz="1425" i="1" dirty="0">
                        <a:latin typeface="Cambria Math" panose="02040503050406030204" pitchFamily="18" charset="0"/>
                      </a:rPr>
                      <m:t> </m:t>
                    </m:r>
                    <m:r>
                      <a:rPr lang="fr-FR" sz="1425" i="1" dirty="0">
                        <a:latin typeface="Cambria Math" panose="02040503050406030204" pitchFamily="18" charset="0"/>
                      </a:rPr>
                      <m:t>𝑟</m:t>
                    </m:r>
                    <m:r>
                      <a:rPr lang="fr-FR" sz="1425" i="1" dirty="0">
                        <a:latin typeface="Cambria Math" panose="02040503050406030204" pitchFamily="18" charset="0"/>
                      </a:rPr>
                      <m:t>é</m:t>
                    </m:r>
                    <m:r>
                      <a:rPr lang="fr-FR" sz="1425" i="1" dirty="0">
                        <a:latin typeface="Cambria Math" panose="02040503050406030204" pitchFamily="18" charset="0"/>
                      </a:rPr>
                      <m:t>𝑒𝑙</m:t>
                    </m:r>
                    <m:r>
                      <a:rPr lang="fr-FR" sz="1425" i="1" dirty="0">
                        <a:latin typeface="Cambria Math" panose="02040503050406030204" pitchFamily="18" charset="0"/>
                      </a:rPr>
                      <m:t> </m:t>
                    </m:r>
                  </m:oMath>
                </a14:m>
                <a:r>
                  <a:rPr lang="fr-FR" sz="1425" dirty="0"/>
                  <a:t>et le </a:t>
                </a:r>
                <a14:m>
                  <m:oMath xmlns:m="http://schemas.openxmlformats.org/officeDocument/2006/math">
                    <m:r>
                      <a:rPr lang="fr-FR" sz="1425" i="1" dirty="0">
                        <a:latin typeface="Cambria Math" panose="02040503050406030204" pitchFamily="18" charset="0"/>
                      </a:rPr>
                      <m:t>𝑦</m:t>
                    </m:r>
                    <m:r>
                      <a:rPr lang="fr-FR" sz="1425" i="1" dirty="0">
                        <a:latin typeface="Cambria Math" panose="02040503050406030204" pitchFamily="18" charset="0"/>
                      </a:rPr>
                      <m:t> </m:t>
                    </m:r>
                    <m:r>
                      <a:rPr lang="fr-FR" sz="1425" i="1" dirty="0">
                        <a:latin typeface="Cambria Math" panose="02040503050406030204" pitchFamily="18" charset="0"/>
                      </a:rPr>
                      <m:t>𝑝𝑟</m:t>
                    </m:r>
                    <m:r>
                      <a:rPr lang="fr-FR" sz="1425" i="1" dirty="0">
                        <a:latin typeface="Cambria Math" panose="02040503050406030204" pitchFamily="18" charset="0"/>
                      </a:rPr>
                      <m:t>é</m:t>
                    </m:r>
                    <m:r>
                      <a:rPr lang="fr-FR" sz="1425" i="1" dirty="0">
                        <a:latin typeface="Cambria Math" panose="02040503050406030204" pitchFamily="18" charset="0"/>
                      </a:rPr>
                      <m:t>𝑑𝑖𝑡</m:t>
                    </m:r>
                  </m:oMath>
                </a14:m>
                <a:r>
                  <a:rPr lang="fr-FR" sz="1425" dirty="0"/>
                  <a:t> à sa position actuelle. </a:t>
                </a:r>
              </a:p>
              <a:p>
                <a:pPr algn="just">
                  <a:lnSpc>
                    <a:spcPct val="100000"/>
                  </a:lnSpc>
                  <a:buClr>
                    <a:schemeClr val="accent2"/>
                  </a:buClr>
                </a:pPr>
                <a:r>
                  <a:rPr lang="fr-FR" sz="1425" dirty="0"/>
                  <a:t>Elle améliore l'efficacité du modèle d'apprentissage automatique  en fournissant un retour d'information au modèle afin qu'il puisse ajuster les paramètres pour minimiser l'erreur et trouver le minimum local ou global. </a:t>
                </a:r>
              </a:p>
              <a:p>
                <a:pPr algn="just">
                  <a:lnSpc>
                    <a:spcPct val="100000"/>
                  </a:lnSpc>
                  <a:buClr>
                    <a:schemeClr val="accent2"/>
                  </a:buClr>
                </a:pPr>
                <a:r>
                  <a:rPr lang="fr-FR" sz="1425" dirty="0"/>
                  <a:t>Il itère continuellement, en se déplaçant dans la direction de la descente la plus raide (ou du gradient négatif) jusqu'à ce que la fonction de coût soit proche de zéro ou égale à zéro. </a:t>
                </a:r>
              </a:p>
              <a:p>
                <a:pPr algn="just">
                  <a:lnSpc>
                    <a:spcPct val="100000"/>
                  </a:lnSpc>
                  <a:buClr>
                    <a:schemeClr val="accent2"/>
                  </a:buClr>
                </a:pPr>
                <a:r>
                  <a:rPr lang="fr-FR" sz="1425" dirty="0"/>
                  <a:t>Le modèle cesse d'apprendre lorsque la fonction de coût est proche de zéro ou égale à zéro.</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69"/>
                <a:ext cx="5891400" cy="3146238"/>
              </a:xfrm>
              <a:blipFill>
                <a:blip r:embed="rId2"/>
                <a:stretch>
                  <a:fillRect l="-1760" t="-1744" r="-186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186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XG Boost :</a:t>
            </a:r>
            <a:r>
              <a:rPr lang="fr-FR" sz="2100" b="0" dirty="0"/>
              <a:t> la fonction de coût</a:t>
            </a:r>
          </a:p>
        </p:txBody>
      </p:sp>
    </p:spTree>
    <p:extLst>
      <p:ext uri="{BB962C8B-B14F-4D97-AF65-F5344CB8AC3E}">
        <p14:creationId xmlns:p14="http://schemas.microsoft.com/office/powerpoint/2010/main" val="424644188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69"/>
            <a:ext cx="5891400" cy="3146238"/>
          </a:xfrm>
        </p:spPr>
        <p:txBody>
          <a:bodyPr>
            <a:normAutofit/>
          </a:bodyPr>
          <a:lstStyle/>
          <a:p>
            <a:pPr algn="just">
              <a:lnSpc>
                <a:spcPct val="100000"/>
              </a:lnSpc>
              <a:buClr>
                <a:schemeClr val="accent2"/>
              </a:buClr>
            </a:pPr>
            <a:r>
              <a:rPr lang="fr-FR" sz="1500" dirty="0"/>
              <a:t>Avantages : </a:t>
            </a:r>
          </a:p>
          <a:p>
            <a:pPr lvl="1" algn="just">
              <a:lnSpc>
                <a:spcPct val="100000"/>
              </a:lnSpc>
              <a:buClr>
                <a:schemeClr val="accent2"/>
              </a:buClr>
            </a:pPr>
            <a:r>
              <a:rPr lang="fr-FR" sz="1200" dirty="0"/>
              <a:t>Traite aussi bien la régression que la classification</a:t>
            </a:r>
          </a:p>
          <a:p>
            <a:pPr lvl="1" algn="just">
              <a:lnSpc>
                <a:spcPct val="100000"/>
              </a:lnSpc>
              <a:buClr>
                <a:schemeClr val="accent2"/>
              </a:buClr>
            </a:pPr>
            <a:r>
              <a:rPr lang="fr-FR" sz="1200" dirty="0"/>
              <a:t>Gère les valeurs manquantes et la régularisation</a:t>
            </a:r>
          </a:p>
          <a:p>
            <a:pPr lvl="1" algn="just">
              <a:lnSpc>
                <a:spcPct val="100000"/>
              </a:lnSpc>
              <a:buClr>
                <a:schemeClr val="accent2"/>
              </a:buClr>
            </a:pPr>
            <a:r>
              <a:rPr lang="fr-FR" sz="1200" dirty="0"/>
              <a:t>Rapide et précis du fait de son fonctionnement</a:t>
            </a:r>
          </a:p>
          <a:p>
            <a:pPr lvl="1" algn="just">
              <a:lnSpc>
                <a:spcPct val="100000"/>
              </a:lnSpc>
              <a:buClr>
                <a:schemeClr val="accent2"/>
              </a:buClr>
            </a:pPr>
            <a:r>
              <a:rPr lang="fr-FR" sz="1200" dirty="0"/>
              <a:t>Facilement interprétable et industrialisable</a:t>
            </a:r>
          </a:p>
          <a:p>
            <a:pPr marL="0" indent="0" algn="just">
              <a:lnSpc>
                <a:spcPct val="100000"/>
              </a:lnSpc>
              <a:buClr>
                <a:schemeClr val="accent2"/>
              </a:buClr>
              <a:buNone/>
            </a:pPr>
            <a:endParaRPr lang="fr-FR" sz="1500" b="1" dirty="0"/>
          </a:p>
          <a:p>
            <a:pPr algn="just">
              <a:lnSpc>
                <a:spcPct val="100000"/>
              </a:lnSpc>
              <a:buClr>
                <a:schemeClr val="accent2"/>
              </a:buClr>
            </a:pPr>
            <a:r>
              <a:rPr lang="fr-FR" sz="1500" dirty="0"/>
              <a:t>Inconvénients : </a:t>
            </a:r>
          </a:p>
          <a:p>
            <a:pPr lvl="1" algn="just">
              <a:lnSpc>
                <a:spcPct val="100000"/>
              </a:lnSpc>
              <a:buClr>
                <a:schemeClr val="accent2"/>
              </a:buClr>
            </a:pPr>
            <a:r>
              <a:rPr lang="fr-FR" sz="1200" dirty="0"/>
              <a:t>Peut se montrer peu efficace dans un contexte de Big Data</a:t>
            </a:r>
          </a:p>
          <a:p>
            <a:pPr lvl="1" algn="just">
              <a:lnSpc>
                <a:spcPct val="100000"/>
              </a:lnSpc>
              <a:buClr>
                <a:schemeClr val="accent2"/>
              </a:buClr>
            </a:pPr>
            <a:r>
              <a:rPr lang="fr-FR" sz="1200" dirty="0"/>
              <a:t>Peu efficace lorsque le nombre de colonnes est supérieur au nombre de lignes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187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XG Boost :</a:t>
            </a:r>
            <a:r>
              <a:rPr lang="fr-FR" sz="2100" b="0" dirty="0"/>
              <a:t> avantages et inconvénients</a:t>
            </a:r>
          </a:p>
        </p:txBody>
      </p:sp>
    </p:spTree>
    <p:extLst>
      <p:ext uri="{BB962C8B-B14F-4D97-AF65-F5344CB8AC3E}">
        <p14:creationId xmlns:p14="http://schemas.microsoft.com/office/powerpoint/2010/main" val="308298401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K Nearest Neighbors</a:t>
            </a:r>
          </a:p>
        </p:txBody>
      </p:sp>
    </p:spTree>
    <p:extLst>
      <p:ext uri="{BB962C8B-B14F-4D97-AF65-F5344CB8AC3E}">
        <p14:creationId xmlns:p14="http://schemas.microsoft.com/office/powerpoint/2010/main" val="414550979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189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a:t>
            </a:r>
            <a:endParaRPr lang="fr-FR" sz="2100" b="0" dirty="0"/>
          </a:p>
        </p:txBody>
      </p:sp>
      <p:sp>
        <p:nvSpPr>
          <p:cNvPr id="7" name="Freeform: Shape 32">
            <a:extLst>
              <a:ext uri="{FF2B5EF4-FFF2-40B4-BE49-F238E27FC236}">
                <a16:creationId xmlns:a16="http://schemas.microsoft.com/office/drawing/2014/main" id="{0882A790-BCFF-4C9F-890B-3C1B1EB503B3}"/>
              </a:ext>
            </a:extLst>
          </p:cNvPr>
          <p:cNvSpPr/>
          <p:nvPr/>
        </p:nvSpPr>
        <p:spPr>
          <a:xfrm>
            <a:off x="2481738" y="3153440"/>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3">
              <a:lumMod val="75000"/>
            </a:schemeClr>
          </a:solidFill>
          <a:ln w="12700">
            <a:miter lim="400000"/>
          </a:ln>
        </p:spPr>
        <p:txBody>
          <a:bodyPr wrap="square" lIns="720090" tIns="21431" rIns="21431" bIns="21431" anchor="ctr">
            <a:noAutofit/>
          </a:bodyPr>
          <a:lstStyle/>
          <a:p>
            <a:pPr>
              <a:lnSpc>
                <a:spcPts val="900"/>
              </a:lnSpc>
            </a:pPr>
            <a:r>
              <a:rPr lang="en-US" sz="788" noProof="1">
                <a:solidFill>
                  <a:srgbClr val="FFFFFF"/>
                </a:solidFill>
              </a:rPr>
              <a:t>Code Python</a:t>
            </a:r>
          </a:p>
        </p:txBody>
      </p:sp>
      <p:sp>
        <p:nvSpPr>
          <p:cNvPr id="8" name="Freeform: Shape 30">
            <a:extLst>
              <a:ext uri="{FF2B5EF4-FFF2-40B4-BE49-F238E27FC236}">
                <a16:creationId xmlns:a16="http://schemas.microsoft.com/office/drawing/2014/main" id="{823FCD04-55C2-422A-82D3-A7C5463DD877}"/>
              </a:ext>
            </a:extLst>
          </p:cNvPr>
          <p:cNvSpPr/>
          <p:nvPr/>
        </p:nvSpPr>
        <p:spPr>
          <a:xfrm>
            <a:off x="2481738" y="2814000"/>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5">
              <a:lumMod val="75000"/>
            </a:schemeClr>
          </a:solidFill>
          <a:ln w="12700">
            <a:miter lim="400000"/>
          </a:ln>
        </p:spPr>
        <p:txBody>
          <a:bodyPr wrap="square" lIns="874395" tIns="21431" rIns="21431" bIns="21431" anchor="ctr">
            <a:noAutofit/>
          </a:bodyPr>
          <a:lstStyle/>
          <a:p>
            <a:pPr>
              <a:lnSpc>
                <a:spcPts val="900"/>
              </a:lnSpc>
            </a:pPr>
            <a:r>
              <a:rPr lang="en-US" sz="788" noProof="1">
                <a:solidFill>
                  <a:srgbClr val="FFFFFF"/>
                </a:solidFill>
              </a:rPr>
              <a:t>Avantages et inconvénients</a:t>
            </a:r>
          </a:p>
        </p:txBody>
      </p:sp>
      <p:sp>
        <p:nvSpPr>
          <p:cNvPr id="9" name="Freeform: Shape 28">
            <a:extLst>
              <a:ext uri="{FF2B5EF4-FFF2-40B4-BE49-F238E27FC236}">
                <a16:creationId xmlns:a16="http://schemas.microsoft.com/office/drawing/2014/main" id="{FC76BCC6-7E48-423D-AFD7-9F38BB779B24}"/>
              </a:ext>
            </a:extLst>
          </p:cNvPr>
          <p:cNvSpPr/>
          <p:nvPr/>
        </p:nvSpPr>
        <p:spPr>
          <a:xfrm>
            <a:off x="2481738" y="2474559"/>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2">
              <a:lumMod val="75000"/>
            </a:schemeClr>
          </a:solidFill>
          <a:ln w="12700">
            <a:miter lim="400000"/>
          </a:ln>
        </p:spPr>
        <p:txBody>
          <a:bodyPr wrap="square" lIns="977265" tIns="21431" rIns="21431" bIns="21431" anchor="ctr">
            <a:noAutofit/>
          </a:bodyPr>
          <a:lstStyle/>
          <a:p>
            <a:pPr>
              <a:lnSpc>
                <a:spcPts val="900"/>
              </a:lnSpc>
            </a:pPr>
            <a:r>
              <a:rPr lang="en-US" sz="788" noProof="1">
                <a:solidFill>
                  <a:srgbClr val="FFFFFF"/>
                </a:solidFill>
              </a:rPr>
              <a:t>Représentation graphique</a:t>
            </a:r>
          </a:p>
        </p:txBody>
      </p:sp>
      <p:sp>
        <p:nvSpPr>
          <p:cNvPr id="10" name="Freeform: Shape 26">
            <a:extLst>
              <a:ext uri="{FF2B5EF4-FFF2-40B4-BE49-F238E27FC236}">
                <a16:creationId xmlns:a16="http://schemas.microsoft.com/office/drawing/2014/main" id="{3EDFB430-70A9-4C84-B4C3-962992B01C45}"/>
              </a:ext>
            </a:extLst>
          </p:cNvPr>
          <p:cNvSpPr/>
          <p:nvPr/>
        </p:nvSpPr>
        <p:spPr>
          <a:xfrm>
            <a:off x="2481738" y="2135119"/>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6">
              <a:lumMod val="75000"/>
            </a:schemeClr>
          </a:solidFill>
          <a:ln w="12700">
            <a:miter lim="400000"/>
          </a:ln>
        </p:spPr>
        <p:txBody>
          <a:bodyPr wrap="square" lIns="874395" tIns="21431" rIns="21431" bIns="21431" anchor="ctr">
            <a:noAutofit/>
          </a:bodyPr>
          <a:lstStyle/>
          <a:p>
            <a:pPr>
              <a:lnSpc>
                <a:spcPts val="900"/>
              </a:lnSpc>
            </a:pPr>
            <a:r>
              <a:rPr lang="en-US" sz="788" noProof="1">
                <a:solidFill>
                  <a:srgbClr val="FFFFFF"/>
                </a:solidFill>
              </a:rPr>
              <a:t>Fonctionnement</a:t>
            </a:r>
          </a:p>
        </p:txBody>
      </p:sp>
      <p:sp>
        <p:nvSpPr>
          <p:cNvPr id="11" name="Freeform: Shape 24">
            <a:extLst>
              <a:ext uri="{FF2B5EF4-FFF2-40B4-BE49-F238E27FC236}">
                <a16:creationId xmlns:a16="http://schemas.microsoft.com/office/drawing/2014/main" id="{EE009590-ABD2-41CD-A8CD-14A4B6E5C322}"/>
              </a:ext>
            </a:extLst>
          </p:cNvPr>
          <p:cNvSpPr/>
          <p:nvPr/>
        </p:nvSpPr>
        <p:spPr>
          <a:xfrm>
            <a:off x="2481738" y="1795678"/>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4">
              <a:lumMod val="75000"/>
            </a:schemeClr>
          </a:solidFill>
          <a:ln w="12700">
            <a:miter lim="400000"/>
          </a:ln>
        </p:spPr>
        <p:txBody>
          <a:bodyPr wrap="square" lIns="720090" tIns="21431" rIns="21431" bIns="21431" anchor="ctr">
            <a:noAutofit/>
          </a:bodyPr>
          <a:lstStyle/>
          <a:p>
            <a:pPr>
              <a:lnSpc>
                <a:spcPts val="900"/>
              </a:lnSpc>
            </a:pPr>
            <a:r>
              <a:rPr lang="en-US" sz="788" noProof="1">
                <a:solidFill>
                  <a:schemeClr val="bg1"/>
                </a:solidFill>
              </a:rPr>
              <a:t>Intuition</a:t>
            </a:r>
          </a:p>
        </p:txBody>
      </p:sp>
      <p:sp>
        <p:nvSpPr>
          <p:cNvPr id="12" name="Shape">
            <a:extLst>
              <a:ext uri="{FF2B5EF4-FFF2-40B4-BE49-F238E27FC236}">
                <a16:creationId xmlns:a16="http://schemas.microsoft.com/office/drawing/2014/main" id="{FFF51277-9D43-4A9F-9F47-96378BB6331A}"/>
              </a:ext>
            </a:extLst>
          </p:cNvPr>
          <p:cNvSpPr/>
          <p:nvPr/>
        </p:nvSpPr>
        <p:spPr>
          <a:xfrm>
            <a:off x="2267940" y="3153440"/>
            <a:ext cx="837287"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16638" y="21600"/>
                </a:lnTo>
                <a:cubicBezTo>
                  <a:pt x="18614" y="15120"/>
                  <a:pt x="20298" y="7920"/>
                  <a:pt x="21600" y="0"/>
                </a:cubicBezTo>
                <a:lnTo>
                  <a:pt x="3705" y="0"/>
                </a:lnTo>
                <a:cubicBezTo>
                  <a:pt x="1662" y="0"/>
                  <a:pt x="0" y="4844"/>
                  <a:pt x="0" y="10800"/>
                </a:cubicBezTo>
                <a:close/>
              </a:path>
            </a:pathLst>
          </a:custGeom>
          <a:solidFill>
            <a:schemeClr val="accent3"/>
          </a:solidFill>
          <a:ln w="12700">
            <a:miter lim="400000"/>
          </a:ln>
        </p:spPr>
        <p:txBody>
          <a:bodyPr lIns="21431" tIns="21431" rIns="21431" bIns="21431" anchor="ctr"/>
          <a:lstStyle/>
          <a:p>
            <a:pPr>
              <a:defRPr sz="3000">
                <a:solidFill>
                  <a:srgbClr val="FFFFFF"/>
                </a:solidFill>
              </a:defRPr>
            </a:pPr>
            <a:endParaRPr sz="1688" dirty="0"/>
          </a:p>
        </p:txBody>
      </p:sp>
      <p:sp>
        <p:nvSpPr>
          <p:cNvPr id="13" name="Shape">
            <a:extLst>
              <a:ext uri="{FF2B5EF4-FFF2-40B4-BE49-F238E27FC236}">
                <a16:creationId xmlns:a16="http://schemas.microsoft.com/office/drawing/2014/main" id="{6F93E100-912A-4DF3-88F4-E99DB0494ECA}"/>
              </a:ext>
            </a:extLst>
          </p:cNvPr>
          <p:cNvSpPr/>
          <p:nvPr/>
        </p:nvSpPr>
        <p:spPr>
          <a:xfrm>
            <a:off x="2267939" y="2814000"/>
            <a:ext cx="943470"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19707" y="21600"/>
                </a:lnTo>
                <a:cubicBezTo>
                  <a:pt x="20584" y="14793"/>
                  <a:pt x="21241" y="7527"/>
                  <a:pt x="21600" y="0"/>
                </a:cubicBezTo>
                <a:lnTo>
                  <a:pt x="3288" y="0"/>
                </a:lnTo>
                <a:cubicBezTo>
                  <a:pt x="1475" y="0"/>
                  <a:pt x="0" y="4844"/>
                  <a:pt x="0" y="10800"/>
                </a:cubicBezTo>
                <a:close/>
              </a:path>
            </a:pathLst>
          </a:custGeom>
          <a:solidFill>
            <a:schemeClr val="accent5"/>
          </a:solidFill>
          <a:ln w="12700">
            <a:miter lim="400000"/>
          </a:ln>
        </p:spPr>
        <p:txBody>
          <a:bodyPr lIns="21431" tIns="21431" rIns="21431" bIns="21431" anchor="ctr"/>
          <a:lstStyle/>
          <a:p>
            <a:pPr>
              <a:defRPr sz="3000">
                <a:solidFill>
                  <a:srgbClr val="FFFFFF"/>
                </a:solidFill>
              </a:defRPr>
            </a:pPr>
            <a:endParaRPr sz="1688" dirty="0"/>
          </a:p>
        </p:txBody>
      </p:sp>
      <p:sp>
        <p:nvSpPr>
          <p:cNvPr id="15" name="Shape">
            <a:extLst>
              <a:ext uri="{FF2B5EF4-FFF2-40B4-BE49-F238E27FC236}">
                <a16:creationId xmlns:a16="http://schemas.microsoft.com/office/drawing/2014/main" id="{1B4F40DF-C6F2-4CA2-9CB3-A26674183404}"/>
              </a:ext>
            </a:extLst>
          </p:cNvPr>
          <p:cNvSpPr/>
          <p:nvPr/>
        </p:nvSpPr>
        <p:spPr>
          <a:xfrm>
            <a:off x="2267939" y="2474559"/>
            <a:ext cx="960009"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49" y="21600"/>
                  <a:pt x="3231" y="21600"/>
                </a:cubicBezTo>
                <a:lnTo>
                  <a:pt x="21404" y="21600"/>
                </a:lnTo>
                <a:cubicBezTo>
                  <a:pt x="21522" y="18065"/>
                  <a:pt x="21600" y="14465"/>
                  <a:pt x="21600" y="10800"/>
                </a:cubicBezTo>
                <a:cubicBezTo>
                  <a:pt x="21600" y="7135"/>
                  <a:pt x="21541" y="3535"/>
                  <a:pt x="21404" y="0"/>
                </a:cubicBezTo>
                <a:lnTo>
                  <a:pt x="3231" y="0"/>
                </a:lnTo>
                <a:cubicBezTo>
                  <a:pt x="1449" y="0"/>
                  <a:pt x="0" y="4844"/>
                  <a:pt x="0" y="10800"/>
                </a:cubicBezTo>
                <a:close/>
              </a:path>
            </a:pathLst>
          </a:custGeom>
          <a:solidFill>
            <a:schemeClr val="accent2"/>
          </a:solidFill>
          <a:ln w="12700">
            <a:miter lim="400000"/>
          </a:ln>
        </p:spPr>
        <p:txBody>
          <a:bodyPr lIns="21431" tIns="21431" rIns="21431" bIns="21431" anchor="ctr"/>
          <a:lstStyle/>
          <a:p>
            <a:pPr>
              <a:defRPr sz="3000">
                <a:solidFill>
                  <a:srgbClr val="FFFFFF"/>
                </a:solidFill>
              </a:defRPr>
            </a:pPr>
            <a:endParaRPr sz="1688" dirty="0"/>
          </a:p>
        </p:txBody>
      </p:sp>
      <p:sp>
        <p:nvSpPr>
          <p:cNvPr id="16" name="Shape">
            <a:extLst>
              <a:ext uri="{FF2B5EF4-FFF2-40B4-BE49-F238E27FC236}">
                <a16:creationId xmlns:a16="http://schemas.microsoft.com/office/drawing/2014/main" id="{6828C7EC-EE40-4721-A825-20FC041948D1}"/>
              </a:ext>
            </a:extLst>
          </p:cNvPr>
          <p:cNvSpPr/>
          <p:nvPr/>
        </p:nvSpPr>
        <p:spPr>
          <a:xfrm>
            <a:off x="2267939" y="2135119"/>
            <a:ext cx="943470"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21600" y="21600"/>
                </a:lnTo>
                <a:cubicBezTo>
                  <a:pt x="21241" y="14073"/>
                  <a:pt x="20584" y="6807"/>
                  <a:pt x="19707" y="0"/>
                </a:cubicBezTo>
                <a:lnTo>
                  <a:pt x="3288" y="0"/>
                </a:lnTo>
                <a:cubicBezTo>
                  <a:pt x="1475" y="0"/>
                  <a:pt x="0" y="4844"/>
                  <a:pt x="0" y="10800"/>
                </a:cubicBezTo>
                <a:close/>
              </a:path>
            </a:pathLst>
          </a:custGeom>
          <a:solidFill>
            <a:schemeClr val="accent6"/>
          </a:solidFill>
          <a:ln w="12700">
            <a:miter lim="400000"/>
          </a:ln>
        </p:spPr>
        <p:txBody>
          <a:bodyPr lIns="21431" tIns="21431" rIns="21431" bIns="21431" anchor="ctr"/>
          <a:lstStyle/>
          <a:p>
            <a:pPr>
              <a:defRPr sz="3000">
                <a:solidFill>
                  <a:srgbClr val="FFFFFF"/>
                </a:solidFill>
              </a:defRPr>
            </a:pPr>
            <a:endParaRPr sz="1688" dirty="0"/>
          </a:p>
        </p:txBody>
      </p:sp>
      <p:sp>
        <p:nvSpPr>
          <p:cNvPr id="17" name="Shape">
            <a:extLst>
              <a:ext uri="{FF2B5EF4-FFF2-40B4-BE49-F238E27FC236}">
                <a16:creationId xmlns:a16="http://schemas.microsoft.com/office/drawing/2014/main" id="{37B32AB6-0945-4F2E-B0AA-ED1E50D034F0}"/>
              </a:ext>
            </a:extLst>
          </p:cNvPr>
          <p:cNvSpPr/>
          <p:nvPr/>
        </p:nvSpPr>
        <p:spPr>
          <a:xfrm>
            <a:off x="2267940" y="1795678"/>
            <a:ext cx="837287"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21600" y="21600"/>
                </a:lnTo>
                <a:cubicBezTo>
                  <a:pt x="20298" y="13745"/>
                  <a:pt x="18614" y="6480"/>
                  <a:pt x="16638" y="0"/>
                </a:cubicBezTo>
                <a:lnTo>
                  <a:pt x="3705" y="0"/>
                </a:lnTo>
                <a:cubicBezTo>
                  <a:pt x="1662" y="65"/>
                  <a:pt x="0" y="4844"/>
                  <a:pt x="0" y="10800"/>
                </a:cubicBezTo>
                <a:close/>
              </a:path>
            </a:pathLst>
          </a:custGeom>
          <a:solidFill>
            <a:schemeClr val="accent4"/>
          </a:solidFill>
          <a:ln w="12700">
            <a:miter lim="400000"/>
          </a:ln>
        </p:spPr>
        <p:txBody>
          <a:bodyPr lIns="21431" tIns="21431" rIns="21431" bIns="21431" anchor="ctr"/>
          <a:lstStyle/>
          <a:p>
            <a:pPr>
              <a:defRPr sz="3000">
                <a:solidFill>
                  <a:srgbClr val="FFFFFF"/>
                </a:solidFill>
              </a:defRPr>
            </a:pPr>
            <a:endParaRPr sz="1688" dirty="0"/>
          </a:p>
        </p:txBody>
      </p:sp>
      <p:pic>
        <p:nvPicPr>
          <p:cNvPr id="18" name="Graphic 14" descr="Livres">
            <a:extLst>
              <a:ext uri="{FF2B5EF4-FFF2-40B4-BE49-F238E27FC236}">
                <a16:creationId xmlns:a16="http://schemas.microsoft.com/office/drawing/2014/main" id="{027CF536-E5F0-4EB9-9BCC-4B45CBE665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1813174"/>
            <a:ext cx="252228" cy="252228"/>
          </a:xfrm>
          <a:prstGeom prst="rect">
            <a:avLst/>
          </a:prstGeom>
        </p:spPr>
      </p:pic>
      <p:pic>
        <p:nvPicPr>
          <p:cNvPr id="19" name="Graphic 16" descr="Livres">
            <a:extLst>
              <a:ext uri="{FF2B5EF4-FFF2-40B4-BE49-F238E27FC236}">
                <a16:creationId xmlns:a16="http://schemas.microsoft.com/office/drawing/2014/main" id="{1D38A1A3-0753-410B-927D-0CF0459F1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3170936"/>
            <a:ext cx="252228" cy="252228"/>
          </a:xfrm>
          <a:prstGeom prst="rect">
            <a:avLst/>
          </a:prstGeom>
        </p:spPr>
      </p:pic>
      <p:pic>
        <p:nvPicPr>
          <p:cNvPr id="20" name="Graphic 18" descr="Livres">
            <a:extLst>
              <a:ext uri="{FF2B5EF4-FFF2-40B4-BE49-F238E27FC236}">
                <a16:creationId xmlns:a16="http://schemas.microsoft.com/office/drawing/2014/main" id="{894C9D70-9189-4214-8401-1BD60E5E2EE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2152615"/>
            <a:ext cx="252228" cy="252228"/>
          </a:xfrm>
          <a:prstGeom prst="rect">
            <a:avLst/>
          </a:prstGeom>
        </p:spPr>
      </p:pic>
      <p:pic>
        <p:nvPicPr>
          <p:cNvPr id="22" name="Graphic 20" descr="Livres">
            <a:extLst>
              <a:ext uri="{FF2B5EF4-FFF2-40B4-BE49-F238E27FC236}">
                <a16:creationId xmlns:a16="http://schemas.microsoft.com/office/drawing/2014/main" id="{F2C9A921-8C53-41CB-B287-137F9E22A3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2492055"/>
            <a:ext cx="252228" cy="252228"/>
          </a:xfrm>
          <a:prstGeom prst="rect">
            <a:avLst/>
          </a:prstGeom>
        </p:spPr>
      </p:pic>
      <p:pic>
        <p:nvPicPr>
          <p:cNvPr id="23" name="Graphic 22" descr="Livres">
            <a:extLst>
              <a:ext uri="{FF2B5EF4-FFF2-40B4-BE49-F238E27FC236}">
                <a16:creationId xmlns:a16="http://schemas.microsoft.com/office/drawing/2014/main" id="{96B77787-2E94-4CA8-8ECD-D7E54E89EE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2831495"/>
            <a:ext cx="252228" cy="252228"/>
          </a:xfrm>
          <a:prstGeom prst="rect">
            <a:avLst/>
          </a:prstGeom>
        </p:spPr>
      </p:pic>
    </p:spTree>
    <p:extLst>
      <p:ext uri="{BB962C8B-B14F-4D97-AF65-F5344CB8AC3E}">
        <p14:creationId xmlns:p14="http://schemas.microsoft.com/office/powerpoint/2010/main" val="371256993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algn="just">
                  <a:lnSpc>
                    <a:spcPct val="150000"/>
                  </a:lnSpc>
                  <a:buClr>
                    <a:schemeClr val="accent2"/>
                  </a:buClr>
                </a:pPr>
                <a:r>
                  <a:rPr lang="fr-FR" sz="1425" dirty="0"/>
                  <a:t>k-nearest neighbors ou k-plus proches voisins (KNN) est un type d’algorithme d'apprentissage supervisé non paramétrique, dans lequel un objet est classé sur la base du vote majoritaire de ses </a:t>
                </a:r>
                <a14:m>
                  <m:oMath xmlns:m="http://schemas.openxmlformats.org/officeDocument/2006/math">
                    <m:r>
                      <a:rPr lang="fr-FR" sz="1425" i="1" dirty="0">
                        <a:latin typeface="Cambria Math" panose="02040503050406030204" pitchFamily="18" charset="0"/>
                      </a:rPr>
                      <m:t>𝑘</m:t>
                    </m:r>
                  </m:oMath>
                </a14:m>
                <a:r>
                  <a:rPr lang="fr-FR" sz="1425" dirty="0"/>
                  <a:t> plus proches voisins parmi l'ensemble d'apprentissage, où</a:t>
                </a:r>
                <a14:m>
                  <m:oMath xmlns:m="http://schemas.openxmlformats.org/officeDocument/2006/math">
                    <m:r>
                      <a:rPr lang="fr-FR" sz="1425" i="1" dirty="0">
                        <a:latin typeface="Cambria Math" panose="02040503050406030204" pitchFamily="18" charset="0"/>
                      </a:rPr>
                      <m:t> </m:t>
                    </m:r>
                    <m:r>
                      <a:rPr lang="fr-FR" sz="1425" i="1" dirty="0">
                        <a:latin typeface="Cambria Math" panose="02040503050406030204" pitchFamily="18" charset="0"/>
                      </a:rPr>
                      <m:t>𝑘</m:t>
                    </m:r>
                    <m:r>
                      <a:rPr lang="fr-FR" sz="1425" i="1" dirty="0">
                        <a:latin typeface="Cambria Math" panose="02040503050406030204" pitchFamily="18" charset="0"/>
                      </a:rPr>
                      <m:t> </m:t>
                    </m:r>
                  </m:oMath>
                </a14:m>
                <a:r>
                  <a:rPr lang="fr-FR" sz="1425" dirty="0"/>
                  <a:t>est un entier positif .</a:t>
                </a:r>
              </a:p>
              <a:p>
                <a:pPr algn="just">
                  <a:lnSpc>
                    <a:spcPct val="150000"/>
                  </a:lnSpc>
                  <a:buClr>
                    <a:schemeClr val="accent2"/>
                  </a:buClr>
                </a:pPr>
                <a:endParaRPr lang="fr-FR" sz="1425" dirty="0"/>
              </a:p>
              <a:p>
                <a:pPr algn="just">
                  <a:lnSpc>
                    <a:spcPct val="150000"/>
                  </a:lnSpc>
                  <a:buClr>
                    <a:schemeClr val="accent2"/>
                  </a:buClr>
                </a:pPr>
                <a:r>
                  <a:rPr lang="fr-FR" sz="1425" dirty="0"/>
                  <a:t>En cas de problème de régression, il peut renvoyer la moyenne des </a:t>
                </a:r>
                <a14:m>
                  <m:oMath xmlns:m="http://schemas.openxmlformats.org/officeDocument/2006/math">
                    <m:r>
                      <a:rPr lang="fr-FR" sz="1425" i="1" dirty="0">
                        <a:latin typeface="Cambria Math" panose="02040503050406030204" pitchFamily="18" charset="0"/>
                      </a:rPr>
                      <m:t>𝑘</m:t>
                    </m:r>
                    <m:r>
                      <a:rPr lang="fr-FR" sz="1425" i="1" dirty="0">
                        <a:latin typeface="Cambria Math" panose="02040503050406030204" pitchFamily="18" charset="0"/>
                      </a:rPr>
                      <m:t> </m:t>
                    </m:r>
                  </m:oMath>
                </a14:m>
                <a:r>
                  <a:rPr lang="fr-FR" sz="1425" dirty="0"/>
                  <a:t>voisins les plus proches ou la moyenne pondérée avec le poids comme distance.</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1400" cy="3539258"/>
              </a:xfrm>
              <a:blipFill>
                <a:blip r:embed="rId2"/>
                <a:stretch>
                  <a:fillRect l="-1760" r="-186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190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 :</a:t>
            </a:r>
            <a:r>
              <a:rPr lang="fr-FR" sz="2100" b="0" dirty="0"/>
              <a:t> intuition</a:t>
            </a:r>
          </a:p>
        </p:txBody>
      </p:sp>
    </p:spTree>
    <p:extLst>
      <p:ext uri="{BB962C8B-B14F-4D97-AF65-F5344CB8AC3E}">
        <p14:creationId xmlns:p14="http://schemas.microsoft.com/office/powerpoint/2010/main" val="50086258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algn="just">
                  <a:lnSpc>
                    <a:spcPct val="150000"/>
                  </a:lnSpc>
                  <a:buClr>
                    <a:schemeClr val="accent2"/>
                  </a:buClr>
                </a:pPr>
                <a:r>
                  <a:rPr lang="fr-FR" sz="1425" dirty="0"/>
                  <a:t>Il est important de noter que l'algorithme KNN est un algorithme paresseux, ce qui signifie qu'il n'apprend pas un modèle pour faire des prédictions. </a:t>
                </a:r>
              </a:p>
              <a:p>
                <a:pPr algn="just">
                  <a:lnSpc>
                    <a:spcPct val="150000"/>
                  </a:lnSpc>
                  <a:buClr>
                    <a:schemeClr val="accent2"/>
                  </a:buClr>
                </a:pPr>
                <a:r>
                  <a:rPr lang="fr-FR" sz="1425" dirty="0"/>
                  <a:t>L'idée clé derrière KNN est que des points similaires ont tendance à avoir des étiquettes similaires. L'algorithme KNN est souvent utilisé dans les problèmes de classification et de régression.</a:t>
                </a:r>
              </a:p>
              <a:p>
                <a:pPr algn="just">
                  <a:lnSpc>
                    <a:spcPct val="150000"/>
                  </a:lnSpc>
                  <a:buClr>
                    <a:schemeClr val="accent2"/>
                  </a:buClr>
                </a:pPr>
                <a:r>
                  <a:rPr lang="fr-FR" sz="1425" dirty="0"/>
                  <a:t>KNN pour la régression calcule la moyenne de la variable réponse (</a:t>
                </a:r>
                <a14:m>
                  <m:oMath xmlns:m="http://schemas.openxmlformats.org/officeDocument/2006/math">
                    <m:acc>
                      <m:accPr>
                        <m:chr m:val="̅"/>
                        <m:ctrlPr>
                          <a:rPr lang="fr-FR" sz="1425" i="1">
                            <a:latin typeface="Cambria Math" panose="02040503050406030204" pitchFamily="18" charset="0"/>
                          </a:rPr>
                        </m:ctrlPr>
                      </m:accPr>
                      <m:e>
                        <m:r>
                          <a:rPr lang="fr-FR" sz="1425" i="1">
                            <a:latin typeface="Cambria Math" panose="02040503050406030204" pitchFamily="18" charset="0"/>
                          </a:rPr>
                          <m:t>𝑦</m:t>
                        </m:r>
                      </m:e>
                    </m:acc>
                  </m:oMath>
                </a14:m>
                <a:r>
                  <a:rPr lang="fr-FR" sz="1425" dirty="0"/>
                  <a:t>) pour les </a:t>
                </a:r>
                <a14:m>
                  <m:oMath xmlns:m="http://schemas.openxmlformats.org/officeDocument/2006/math">
                    <m:r>
                      <a:rPr lang="fr-FR" sz="1425" i="1" dirty="0">
                        <a:latin typeface="Cambria Math" panose="02040503050406030204" pitchFamily="18" charset="0"/>
                      </a:rPr>
                      <m:t>𝑘</m:t>
                    </m:r>
                  </m:oMath>
                </a14:m>
                <a:r>
                  <a:rPr lang="fr-FR" sz="1425" dirty="0"/>
                  <a:t> plus proches voisins. Le principe est le même pour les problèmes de classification, mais l’algorithme est légèrement modifié en raison du type de valeurs catégorielles.</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1400" cy="3539258"/>
              </a:xfrm>
              <a:blipFill>
                <a:blip r:embed="rId2"/>
                <a:stretch>
                  <a:fillRect l="-1760" r="-3520" b="-1377"/>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191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 :</a:t>
            </a:r>
            <a:r>
              <a:rPr lang="fr-FR" sz="2100" b="0" dirty="0"/>
              <a:t> intuition</a:t>
            </a:r>
          </a:p>
        </p:txBody>
      </p:sp>
    </p:spTree>
    <p:extLst>
      <p:ext uri="{BB962C8B-B14F-4D97-AF65-F5344CB8AC3E}">
        <p14:creationId xmlns:p14="http://schemas.microsoft.com/office/powerpoint/2010/main" val="150789355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192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 :</a:t>
            </a:r>
            <a:r>
              <a:rPr lang="fr-FR" sz="2100" b="0" dirty="0"/>
              <a:t> fonctionnement</a:t>
            </a:r>
          </a:p>
        </p:txBody>
      </p:sp>
      <p:graphicFrame>
        <p:nvGraphicFramePr>
          <p:cNvPr id="4" name="Espace réservé du contenu 3">
            <a:extLst>
              <a:ext uri="{FF2B5EF4-FFF2-40B4-BE49-F238E27FC236}">
                <a16:creationId xmlns:a16="http://schemas.microsoft.com/office/drawing/2014/main" id="{D29E517A-9481-477B-991D-761E27AA0227}"/>
              </a:ext>
            </a:extLst>
          </p:cNvPr>
          <p:cNvGraphicFramePr>
            <a:graphicFrameLocks noGrp="1"/>
          </p:cNvGraphicFramePr>
          <p:nvPr>
            <p:ph sz="half" idx="13"/>
            <p:extLst/>
          </p:nvPr>
        </p:nvGraphicFramePr>
        <p:xfrm>
          <a:off x="1016691" y="3437566"/>
          <a:ext cx="3372430" cy="1466618"/>
        </p:xfrm>
        <a:graphic>
          <a:graphicData uri="http://schemas.openxmlformats.org/drawingml/2006/table">
            <a:tbl>
              <a:tblPr firstRow="1" bandRow="1">
                <a:tableStyleId>{5C22544A-7EE6-4342-B048-85BDC9FD1C3A}</a:tableStyleId>
              </a:tblPr>
              <a:tblGrid>
                <a:gridCol w="1732473">
                  <a:extLst>
                    <a:ext uri="{9D8B030D-6E8A-4147-A177-3AD203B41FA5}">
                      <a16:colId xmlns:a16="http://schemas.microsoft.com/office/drawing/2014/main" val="2986665876"/>
                    </a:ext>
                  </a:extLst>
                </a:gridCol>
                <a:gridCol w="572494">
                  <a:extLst>
                    <a:ext uri="{9D8B030D-6E8A-4147-A177-3AD203B41FA5}">
                      <a16:colId xmlns:a16="http://schemas.microsoft.com/office/drawing/2014/main" val="3339985376"/>
                    </a:ext>
                  </a:extLst>
                </a:gridCol>
                <a:gridCol w="542677">
                  <a:extLst>
                    <a:ext uri="{9D8B030D-6E8A-4147-A177-3AD203B41FA5}">
                      <a16:colId xmlns:a16="http://schemas.microsoft.com/office/drawing/2014/main" val="421219365"/>
                    </a:ext>
                  </a:extLst>
                </a:gridCol>
                <a:gridCol w="524786">
                  <a:extLst>
                    <a:ext uri="{9D8B030D-6E8A-4147-A177-3AD203B41FA5}">
                      <a16:colId xmlns:a16="http://schemas.microsoft.com/office/drawing/2014/main" val="1796812882"/>
                    </a:ext>
                  </a:extLst>
                </a:gridCol>
              </a:tblGrid>
              <a:tr h="211119">
                <a:tc>
                  <a:txBody>
                    <a:bodyPr/>
                    <a:lstStyle/>
                    <a:p>
                      <a:r>
                        <a:rPr lang="fr-FR" sz="900" dirty="0"/>
                        <a:t>Marque</a:t>
                      </a:r>
                    </a:p>
                  </a:txBody>
                  <a:tcPr marL="68580" marR="68580" marT="34290" marB="34290"/>
                </a:tc>
                <a:tc>
                  <a:txBody>
                    <a:bodyPr/>
                    <a:lstStyle/>
                    <a:p>
                      <a:r>
                        <a:rPr lang="fr-FR" sz="900" dirty="0"/>
                        <a:t>Mpg</a:t>
                      </a:r>
                    </a:p>
                  </a:txBody>
                  <a:tcPr marL="68580" marR="68580" marT="34290" marB="34290"/>
                </a:tc>
                <a:tc>
                  <a:txBody>
                    <a:bodyPr/>
                    <a:lstStyle/>
                    <a:p>
                      <a:r>
                        <a:rPr lang="fr-FR" sz="900" dirty="0"/>
                        <a:t>Cyl</a:t>
                      </a:r>
                    </a:p>
                  </a:txBody>
                  <a:tcPr marL="68580" marR="68580" marT="34290" marB="34290"/>
                </a:tc>
                <a:tc>
                  <a:txBody>
                    <a:bodyPr/>
                    <a:lstStyle/>
                    <a:p>
                      <a:r>
                        <a:rPr lang="fr-FR" sz="900" dirty="0"/>
                        <a:t>Disp</a:t>
                      </a:r>
                    </a:p>
                  </a:txBody>
                  <a:tcPr marL="68580" marR="68580" marT="34290" marB="34290"/>
                </a:tc>
                <a:extLst>
                  <a:ext uri="{0D108BD9-81ED-4DB2-BD59-A6C34878D82A}">
                    <a16:rowId xmlns:a16="http://schemas.microsoft.com/office/drawing/2014/main" val="1547968494"/>
                  </a:ext>
                </a:extLst>
              </a:tr>
              <a:tr h="205740">
                <a:tc>
                  <a:txBody>
                    <a:bodyPr/>
                    <a:lstStyle/>
                    <a:p>
                      <a:r>
                        <a:rPr lang="fr-FR" sz="900" dirty="0"/>
                        <a:t>Mazda RX4</a:t>
                      </a:r>
                    </a:p>
                  </a:txBody>
                  <a:tcPr marL="68580" marR="68580" marT="34290" marB="34290"/>
                </a:tc>
                <a:tc>
                  <a:txBody>
                    <a:bodyPr/>
                    <a:lstStyle/>
                    <a:p>
                      <a:r>
                        <a:rPr lang="fr-FR" sz="900" dirty="0"/>
                        <a:t>21</a:t>
                      </a:r>
                    </a:p>
                  </a:txBody>
                  <a:tcPr marL="68580" marR="68580" marT="34290" marB="34290"/>
                </a:tc>
                <a:tc>
                  <a:txBody>
                    <a:bodyPr/>
                    <a:lstStyle/>
                    <a:p>
                      <a:r>
                        <a:rPr lang="fr-FR" sz="900" dirty="0"/>
                        <a:t>6</a:t>
                      </a:r>
                    </a:p>
                  </a:txBody>
                  <a:tcPr marL="68580" marR="68580" marT="34290" marB="34290"/>
                </a:tc>
                <a:tc>
                  <a:txBody>
                    <a:bodyPr/>
                    <a:lstStyle/>
                    <a:p>
                      <a:r>
                        <a:rPr lang="fr-FR" sz="900" dirty="0"/>
                        <a:t>160</a:t>
                      </a:r>
                    </a:p>
                  </a:txBody>
                  <a:tcPr marL="68580" marR="68580" marT="34290" marB="34290"/>
                </a:tc>
                <a:extLst>
                  <a:ext uri="{0D108BD9-81ED-4DB2-BD59-A6C34878D82A}">
                    <a16:rowId xmlns:a16="http://schemas.microsoft.com/office/drawing/2014/main" val="2667085033"/>
                  </a:ext>
                </a:extLst>
              </a:tr>
              <a:tr h="211890">
                <a:tc>
                  <a:txBody>
                    <a:bodyPr/>
                    <a:lstStyle/>
                    <a:p>
                      <a:r>
                        <a:rPr lang="fr-FR" sz="900" dirty="0"/>
                        <a:t>Mazda RX4 Wag</a:t>
                      </a:r>
                    </a:p>
                  </a:txBody>
                  <a:tcPr marL="68580" marR="68580" marT="34290" marB="34290"/>
                </a:tc>
                <a:tc>
                  <a:txBody>
                    <a:bodyPr/>
                    <a:lstStyle/>
                    <a:p>
                      <a:r>
                        <a:rPr lang="fr-FR" sz="900" dirty="0"/>
                        <a:t>21</a:t>
                      </a:r>
                    </a:p>
                  </a:txBody>
                  <a:tcPr marL="68580" marR="68580" marT="34290" marB="34290"/>
                </a:tc>
                <a:tc>
                  <a:txBody>
                    <a:bodyPr/>
                    <a:lstStyle/>
                    <a:p>
                      <a:r>
                        <a:rPr lang="fr-FR" sz="900" dirty="0"/>
                        <a:t>6</a:t>
                      </a:r>
                    </a:p>
                  </a:txBody>
                  <a:tcPr marL="68580" marR="68580" marT="34290" marB="34290"/>
                </a:tc>
                <a:tc>
                  <a:txBody>
                    <a:bodyPr/>
                    <a:lstStyle/>
                    <a:p>
                      <a:r>
                        <a:rPr lang="fr-FR" sz="900" dirty="0"/>
                        <a:t>160</a:t>
                      </a:r>
                    </a:p>
                  </a:txBody>
                  <a:tcPr marL="68580" marR="68580" marT="34290" marB="34290"/>
                </a:tc>
                <a:extLst>
                  <a:ext uri="{0D108BD9-81ED-4DB2-BD59-A6C34878D82A}">
                    <a16:rowId xmlns:a16="http://schemas.microsoft.com/office/drawing/2014/main" val="2556952926"/>
                  </a:ext>
                </a:extLst>
              </a:tr>
              <a:tr h="205740">
                <a:tc>
                  <a:txBody>
                    <a:bodyPr/>
                    <a:lstStyle/>
                    <a:p>
                      <a:r>
                        <a:rPr lang="fr-FR" sz="900" dirty="0"/>
                        <a:t>Datsun 710</a:t>
                      </a:r>
                    </a:p>
                  </a:txBody>
                  <a:tcPr marL="68580" marR="68580" marT="34290" marB="34290"/>
                </a:tc>
                <a:tc>
                  <a:txBody>
                    <a:bodyPr/>
                    <a:lstStyle/>
                    <a:p>
                      <a:r>
                        <a:rPr lang="fr-FR" sz="900" dirty="0"/>
                        <a:t>22.8</a:t>
                      </a:r>
                    </a:p>
                  </a:txBody>
                  <a:tcPr marL="68580" marR="68580" marT="34290" marB="34290"/>
                </a:tc>
                <a:tc>
                  <a:txBody>
                    <a:bodyPr/>
                    <a:lstStyle/>
                    <a:p>
                      <a:r>
                        <a:rPr lang="fr-FR" sz="900" dirty="0"/>
                        <a:t>4</a:t>
                      </a:r>
                    </a:p>
                  </a:txBody>
                  <a:tcPr marL="68580" marR="68580" marT="34290" marB="34290"/>
                </a:tc>
                <a:tc>
                  <a:txBody>
                    <a:bodyPr/>
                    <a:lstStyle/>
                    <a:p>
                      <a:r>
                        <a:rPr lang="fr-FR" sz="900" dirty="0"/>
                        <a:t>108</a:t>
                      </a:r>
                    </a:p>
                  </a:txBody>
                  <a:tcPr marL="68580" marR="68580" marT="34290" marB="34290"/>
                </a:tc>
                <a:extLst>
                  <a:ext uri="{0D108BD9-81ED-4DB2-BD59-A6C34878D82A}">
                    <a16:rowId xmlns:a16="http://schemas.microsoft.com/office/drawing/2014/main" val="534901214"/>
                  </a:ext>
                </a:extLst>
              </a:tr>
              <a:tr h="205740">
                <a:tc>
                  <a:txBody>
                    <a:bodyPr/>
                    <a:lstStyle/>
                    <a:p>
                      <a:r>
                        <a:rPr lang="fr-FR" sz="900" dirty="0"/>
                        <a:t>Hornet 4 Drive</a:t>
                      </a:r>
                    </a:p>
                  </a:txBody>
                  <a:tcPr marL="68580" marR="68580" marT="34290" marB="34290"/>
                </a:tc>
                <a:tc>
                  <a:txBody>
                    <a:bodyPr/>
                    <a:lstStyle/>
                    <a:p>
                      <a:r>
                        <a:rPr lang="fr-FR" sz="900" dirty="0"/>
                        <a:t>21.4</a:t>
                      </a:r>
                    </a:p>
                  </a:txBody>
                  <a:tcPr marL="68580" marR="68580" marT="34290" marB="34290"/>
                </a:tc>
                <a:tc>
                  <a:txBody>
                    <a:bodyPr/>
                    <a:lstStyle/>
                    <a:p>
                      <a:r>
                        <a:rPr lang="fr-FR" sz="900" dirty="0"/>
                        <a:t>6</a:t>
                      </a:r>
                    </a:p>
                  </a:txBody>
                  <a:tcPr marL="68580" marR="68580" marT="34290" marB="34290"/>
                </a:tc>
                <a:tc>
                  <a:txBody>
                    <a:bodyPr/>
                    <a:lstStyle/>
                    <a:p>
                      <a:r>
                        <a:rPr lang="fr-FR" sz="900" dirty="0"/>
                        <a:t>258</a:t>
                      </a:r>
                    </a:p>
                  </a:txBody>
                  <a:tcPr marL="68580" marR="68580" marT="34290" marB="34290"/>
                </a:tc>
                <a:extLst>
                  <a:ext uri="{0D108BD9-81ED-4DB2-BD59-A6C34878D82A}">
                    <a16:rowId xmlns:a16="http://schemas.microsoft.com/office/drawing/2014/main" val="4083386537"/>
                  </a:ext>
                </a:extLst>
              </a:tr>
              <a:tr h="220649">
                <a:tc>
                  <a:txBody>
                    <a:bodyPr/>
                    <a:lstStyle/>
                    <a:p>
                      <a:r>
                        <a:rPr lang="fr-FR" sz="900" dirty="0"/>
                        <a:t>Hornet Sportabout</a:t>
                      </a:r>
                    </a:p>
                  </a:txBody>
                  <a:tcPr marL="68580" marR="68580" marT="34290" marB="34290"/>
                </a:tc>
                <a:tc>
                  <a:txBody>
                    <a:bodyPr/>
                    <a:lstStyle/>
                    <a:p>
                      <a:r>
                        <a:rPr lang="fr-FR" sz="900" dirty="0"/>
                        <a:t>18.7</a:t>
                      </a:r>
                    </a:p>
                  </a:txBody>
                  <a:tcPr marL="68580" marR="68580" marT="34290" marB="34290"/>
                </a:tc>
                <a:tc>
                  <a:txBody>
                    <a:bodyPr/>
                    <a:lstStyle/>
                    <a:p>
                      <a:r>
                        <a:rPr lang="fr-FR" sz="900" dirty="0"/>
                        <a:t>8</a:t>
                      </a:r>
                    </a:p>
                  </a:txBody>
                  <a:tcPr marL="68580" marR="68580" marT="34290" marB="34290"/>
                </a:tc>
                <a:tc>
                  <a:txBody>
                    <a:bodyPr/>
                    <a:lstStyle/>
                    <a:p>
                      <a:r>
                        <a:rPr lang="fr-FR" sz="900" dirty="0"/>
                        <a:t>360</a:t>
                      </a:r>
                    </a:p>
                  </a:txBody>
                  <a:tcPr marL="68580" marR="68580" marT="34290" marB="34290"/>
                </a:tc>
                <a:extLst>
                  <a:ext uri="{0D108BD9-81ED-4DB2-BD59-A6C34878D82A}">
                    <a16:rowId xmlns:a16="http://schemas.microsoft.com/office/drawing/2014/main" val="3521600553"/>
                  </a:ext>
                </a:extLst>
              </a:tr>
              <a:tr h="205740">
                <a:tc>
                  <a:txBody>
                    <a:bodyPr/>
                    <a:lstStyle/>
                    <a:p>
                      <a:r>
                        <a:rPr lang="fr-FR" sz="900" dirty="0"/>
                        <a:t>Valiant</a:t>
                      </a:r>
                    </a:p>
                  </a:txBody>
                  <a:tcPr marL="68580" marR="68580" marT="34290" marB="34290"/>
                </a:tc>
                <a:tc>
                  <a:txBody>
                    <a:bodyPr/>
                    <a:lstStyle/>
                    <a:p>
                      <a:r>
                        <a:rPr lang="fr-FR" sz="900" dirty="0"/>
                        <a:t>18.1</a:t>
                      </a:r>
                    </a:p>
                  </a:txBody>
                  <a:tcPr marL="68580" marR="68580" marT="34290" marB="34290"/>
                </a:tc>
                <a:tc>
                  <a:txBody>
                    <a:bodyPr/>
                    <a:lstStyle/>
                    <a:p>
                      <a:r>
                        <a:rPr lang="fr-FR" sz="900" dirty="0"/>
                        <a:t>6</a:t>
                      </a:r>
                    </a:p>
                  </a:txBody>
                  <a:tcPr marL="68580" marR="68580" marT="34290" marB="34290"/>
                </a:tc>
                <a:tc>
                  <a:txBody>
                    <a:bodyPr/>
                    <a:lstStyle/>
                    <a:p>
                      <a:r>
                        <a:rPr lang="fr-FR" sz="900" dirty="0"/>
                        <a:t>225</a:t>
                      </a:r>
                    </a:p>
                  </a:txBody>
                  <a:tcPr marL="68580" marR="68580" marT="34290" marB="34290"/>
                </a:tc>
                <a:extLst>
                  <a:ext uri="{0D108BD9-81ED-4DB2-BD59-A6C34878D82A}">
                    <a16:rowId xmlns:a16="http://schemas.microsoft.com/office/drawing/2014/main" val="2894248445"/>
                  </a:ext>
                </a:extLst>
              </a:tr>
            </a:tbl>
          </a:graphicData>
        </a:graphic>
      </p:graphicFrame>
      <mc:AlternateContent xmlns:mc="http://schemas.openxmlformats.org/markup-compatibility/2006" xmlns:a14="http://schemas.microsoft.com/office/drawing/2010/main">
        <mc:Choice Requires="a14">
          <p:sp>
            <p:nvSpPr>
              <p:cNvPr id="8" name="Content Placeholder 15">
                <a:extLst>
                  <a:ext uri="{FF2B5EF4-FFF2-40B4-BE49-F238E27FC236}">
                    <a16:creationId xmlns:a16="http://schemas.microsoft.com/office/drawing/2014/main" id="{24462727-E0A6-4EC6-B763-388B00CC0707}"/>
                  </a:ext>
                </a:extLst>
              </p:cNvPr>
              <p:cNvSpPr txBox="1">
                <a:spLocks/>
              </p:cNvSpPr>
              <p:nvPr/>
            </p:nvSpPr>
            <p:spPr>
              <a:xfrm>
                <a:off x="746911" y="1391970"/>
                <a:ext cx="5891400" cy="1917761"/>
              </a:xfrm>
              <a:prstGeom prst="rect">
                <a:avLst/>
              </a:prstGeom>
            </p:spPr>
            <p:txBody>
              <a:bodyPr>
                <a:noAutofit/>
              </a:bodyPr>
              <a:lstStyle>
                <a:lvl1pPr marL="228600" indent="-228600" algn="l" defTabSz="914400" rtl="0" eaLnBrk="1" latinLnBrk="0" hangingPunct="1">
                  <a:lnSpc>
                    <a:spcPct val="90000"/>
                  </a:lnSpc>
                  <a:spcBef>
                    <a:spcPts val="1000"/>
                  </a:spcBef>
                  <a:buClr>
                    <a:srgbClr val="2E7A40"/>
                  </a:buClr>
                  <a:buFont typeface="Arial" panose="020B0604020202020204" pitchFamily="34" charset="0"/>
                  <a:buChar char="•"/>
                  <a:defRPr lang="en-US" sz="2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2E7A40"/>
                  </a:buClr>
                  <a:buFont typeface="Arial" panose="020B0604020202020204" pitchFamily="34" charset="0"/>
                  <a:buChar char="•"/>
                  <a:defRPr lang="en-US" sz="20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2E7A40"/>
                  </a:buClr>
                  <a:buFont typeface="Arial" panose="020B0604020202020204" pitchFamily="34" charset="0"/>
                  <a:buChar char="•"/>
                  <a:defRPr lang="en-US" sz="18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2E7A40"/>
                  </a:buClr>
                  <a:buFont typeface="Arial" panose="020B0604020202020204" pitchFamily="34" charset="0"/>
                  <a:buChar char="•"/>
                  <a:defRPr lang="en-US" sz="160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2E7A40"/>
                  </a:buClr>
                  <a:buFont typeface="Arial" panose="020B0604020202020204" pitchFamily="34" charset="0"/>
                  <a:buChar char="•"/>
                  <a:defRPr lang="en-IN" sz="16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Clr>
                    <a:schemeClr val="accent2"/>
                  </a:buClr>
                </a:pPr>
                <a:r>
                  <a:rPr lang="fr-FR" sz="1425" dirty="0"/>
                  <a:t>Nous disposons de caractéristiques techniques d’un liste de véhicules automobiles.</a:t>
                </a:r>
              </a:p>
              <a:p>
                <a:pPr algn="just">
                  <a:lnSpc>
                    <a:spcPct val="100000"/>
                  </a:lnSpc>
                  <a:buClr>
                    <a:schemeClr val="accent2"/>
                  </a:buClr>
                </a:pPr>
                <a:r>
                  <a:rPr lang="fr-FR" sz="1425" dirty="0"/>
                  <a:t>Nous souhaitons trouver les </a:t>
                </a:r>
                <a14:m>
                  <m:oMath xmlns:m="http://schemas.openxmlformats.org/officeDocument/2006/math">
                    <m:r>
                      <a:rPr lang="fr-FR" sz="1425" i="1" dirty="0">
                        <a:latin typeface="Cambria Math" panose="02040503050406030204" pitchFamily="18" charset="0"/>
                      </a:rPr>
                      <m:t>𝑘</m:t>
                    </m:r>
                  </m:oMath>
                </a14:m>
                <a:r>
                  <a:rPr lang="fr-FR" sz="1425" dirty="0"/>
                  <a:t> plus proches voisins, i.e. les voitures qui ont des caractéristiques très proches (similaires).</a:t>
                </a:r>
              </a:p>
              <a:p>
                <a:pPr algn="just">
                  <a:lnSpc>
                    <a:spcPct val="100000"/>
                  </a:lnSpc>
                  <a:buClr>
                    <a:schemeClr val="accent2"/>
                  </a:buClr>
                </a:pPr>
                <a:r>
                  <a:rPr lang="fr-FR" sz="1425" dirty="0"/>
                  <a:t>Il faudra calculer la distance euclidienne entre toutes les caractéristiques.</a:t>
                </a:r>
              </a:p>
            </p:txBody>
          </p:sp>
        </mc:Choice>
        <mc:Fallback xmlns="">
          <p:sp>
            <p:nvSpPr>
              <p:cNvPr id="8" name="Content Placeholder 15">
                <a:extLst>
                  <a:ext uri="{FF2B5EF4-FFF2-40B4-BE49-F238E27FC236}">
                    <a16:creationId xmlns:a16="http://schemas.microsoft.com/office/drawing/2014/main" id="{24462727-E0A6-4EC6-B763-388B00CC0707}"/>
                  </a:ext>
                </a:extLst>
              </p:cNvPr>
              <p:cNvSpPr txBox="1">
                <a:spLocks noRot="1" noChangeAspect="1" noMove="1" noResize="1" noEditPoints="1" noAdjustHandles="1" noChangeArrowheads="1" noChangeShapeType="1" noTextEdit="1"/>
              </p:cNvSpPr>
              <p:nvPr/>
            </p:nvSpPr>
            <p:spPr>
              <a:xfrm>
                <a:off x="746911" y="1391970"/>
                <a:ext cx="5891400" cy="1917761"/>
              </a:xfrm>
              <a:prstGeom prst="rect">
                <a:avLst/>
              </a:prstGeom>
              <a:blipFill>
                <a:blip r:embed="rId2"/>
                <a:stretch>
                  <a:fillRect l="-207" t="-635" r="-311"/>
                </a:stretch>
              </a:blipFill>
            </p:spPr>
            <p:txBody>
              <a:bodyPr/>
              <a:lstStyle/>
              <a:p>
                <a:r>
                  <a:rPr lang="fr-FR">
                    <a:noFill/>
                  </a:rPr>
                  <a:t> </a:t>
                </a:r>
              </a:p>
            </p:txBody>
          </p:sp>
        </mc:Fallback>
      </mc:AlternateContent>
      <p:grpSp>
        <p:nvGrpSpPr>
          <p:cNvPr id="5" name="Groupe 4">
            <a:extLst>
              <a:ext uri="{FF2B5EF4-FFF2-40B4-BE49-F238E27FC236}">
                <a16:creationId xmlns:a16="http://schemas.microsoft.com/office/drawing/2014/main" id="{17C43934-BCE5-4A64-AC68-1C436CB0DBD1}"/>
              </a:ext>
            </a:extLst>
          </p:cNvPr>
          <p:cNvGrpSpPr/>
          <p:nvPr/>
        </p:nvGrpSpPr>
        <p:grpSpPr>
          <a:xfrm>
            <a:off x="4459975" y="3449434"/>
            <a:ext cx="2464325" cy="1450106"/>
            <a:chOff x="5946633" y="4599246"/>
            <a:chExt cx="3285767" cy="1933474"/>
          </a:xfrm>
        </p:grpSpPr>
        <p:sp>
          <p:nvSpPr>
            <p:cNvPr id="53" name="Organigramme : Connecteur 52">
              <a:extLst>
                <a:ext uri="{FF2B5EF4-FFF2-40B4-BE49-F238E27FC236}">
                  <a16:creationId xmlns:a16="http://schemas.microsoft.com/office/drawing/2014/main" id="{D716BCD2-D325-41D6-837E-0D3B41010291}"/>
                </a:ext>
              </a:extLst>
            </p:cNvPr>
            <p:cNvSpPr/>
            <p:nvPr/>
          </p:nvSpPr>
          <p:spPr>
            <a:xfrm>
              <a:off x="7584535" y="5442257"/>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4" name="Organigramme : Connecteur 53">
              <a:extLst>
                <a:ext uri="{FF2B5EF4-FFF2-40B4-BE49-F238E27FC236}">
                  <a16:creationId xmlns:a16="http://schemas.microsoft.com/office/drawing/2014/main" id="{8C793E03-6E48-4FBF-9ABA-DF57CA3A887D}"/>
                </a:ext>
              </a:extLst>
            </p:cNvPr>
            <p:cNvSpPr/>
            <p:nvPr/>
          </p:nvSpPr>
          <p:spPr>
            <a:xfrm>
              <a:off x="7584534" y="563322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nvGrpSpPr>
            <p:cNvPr id="55" name="Groupe 54">
              <a:extLst>
                <a:ext uri="{FF2B5EF4-FFF2-40B4-BE49-F238E27FC236}">
                  <a16:creationId xmlns:a16="http://schemas.microsoft.com/office/drawing/2014/main" id="{96373570-EAC2-4AEF-8170-DA9759D23926}"/>
                </a:ext>
              </a:extLst>
            </p:cNvPr>
            <p:cNvGrpSpPr/>
            <p:nvPr/>
          </p:nvGrpSpPr>
          <p:grpSpPr>
            <a:xfrm>
              <a:off x="5946633" y="4599246"/>
              <a:ext cx="3285767" cy="1933474"/>
              <a:chOff x="2121833" y="2346570"/>
              <a:chExt cx="4942895" cy="2995722"/>
            </a:xfrm>
          </p:grpSpPr>
          <p:cxnSp>
            <p:nvCxnSpPr>
              <p:cNvPr id="56" name="Connecteur droit avec flèche 55">
                <a:extLst>
                  <a:ext uri="{FF2B5EF4-FFF2-40B4-BE49-F238E27FC236}">
                    <a16:creationId xmlns:a16="http://schemas.microsoft.com/office/drawing/2014/main" id="{4B85F930-BF74-4D0F-B2AE-2B685A95DB81}"/>
                  </a:ext>
                </a:extLst>
              </p:cNvPr>
              <p:cNvCxnSpPr/>
              <p:nvPr/>
            </p:nvCxnSpPr>
            <p:spPr>
              <a:xfrm>
                <a:off x="2623930" y="5041128"/>
                <a:ext cx="44407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Connecteur droit avec flèche 56">
                <a:extLst>
                  <a:ext uri="{FF2B5EF4-FFF2-40B4-BE49-F238E27FC236}">
                    <a16:creationId xmlns:a16="http://schemas.microsoft.com/office/drawing/2014/main" id="{14A5AC70-D738-47D6-B731-4A39FB456BCB}"/>
                  </a:ext>
                </a:extLst>
              </p:cNvPr>
              <p:cNvCxnSpPr>
                <a:cxnSpLocks/>
              </p:cNvCxnSpPr>
              <p:nvPr/>
            </p:nvCxnSpPr>
            <p:spPr>
              <a:xfrm flipV="1">
                <a:off x="2776330" y="2409245"/>
                <a:ext cx="0" cy="2784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783DACC2-D8C7-4B3F-A956-C339F1AFBC60}"/>
                  </a:ext>
                </a:extLst>
              </p:cNvPr>
              <p:cNvSpPr/>
              <p:nvPr/>
            </p:nvSpPr>
            <p:spPr>
              <a:xfrm>
                <a:off x="5658018" y="5128487"/>
                <a:ext cx="813510" cy="21380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disp</a:t>
                </a:r>
              </a:p>
            </p:txBody>
          </p:sp>
          <p:sp>
            <p:nvSpPr>
              <p:cNvPr id="59" name="Rectangle 58">
                <a:extLst>
                  <a:ext uri="{FF2B5EF4-FFF2-40B4-BE49-F238E27FC236}">
                    <a16:creationId xmlns:a16="http://schemas.microsoft.com/office/drawing/2014/main" id="{837C67C3-6802-4DAA-BBCD-86E2F6A30189}"/>
                  </a:ext>
                </a:extLst>
              </p:cNvPr>
              <p:cNvSpPr/>
              <p:nvPr/>
            </p:nvSpPr>
            <p:spPr>
              <a:xfrm>
                <a:off x="2121833" y="2346570"/>
                <a:ext cx="569022" cy="30230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cyl</a:t>
                </a:r>
              </a:p>
            </p:txBody>
          </p:sp>
        </p:grpSp>
        <p:sp>
          <p:nvSpPr>
            <p:cNvPr id="66" name="Organigramme : Connecteur 65">
              <a:extLst>
                <a:ext uri="{FF2B5EF4-FFF2-40B4-BE49-F238E27FC236}">
                  <a16:creationId xmlns:a16="http://schemas.microsoft.com/office/drawing/2014/main" id="{A19A8C3E-F904-4628-BE20-EBB1275109A7}"/>
                </a:ext>
              </a:extLst>
            </p:cNvPr>
            <p:cNvSpPr/>
            <p:nvPr/>
          </p:nvSpPr>
          <p:spPr>
            <a:xfrm>
              <a:off x="6815876" y="484649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7" name="Organigramme : Connecteur 66">
              <a:extLst>
                <a:ext uri="{FF2B5EF4-FFF2-40B4-BE49-F238E27FC236}">
                  <a16:creationId xmlns:a16="http://schemas.microsoft.com/office/drawing/2014/main" id="{7FFA2836-1030-4252-9124-65422F01A524}"/>
                </a:ext>
              </a:extLst>
            </p:cNvPr>
            <p:cNvSpPr/>
            <p:nvPr/>
          </p:nvSpPr>
          <p:spPr>
            <a:xfrm>
              <a:off x="7055511" y="500559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8" name="Organigramme : Connecteur 67">
              <a:extLst>
                <a:ext uri="{FF2B5EF4-FFF2-40B4-BE49-F238E27FC236}">
                  <a16:creationId xmlns:a16="http://schemas.microsoft.com/office/drawing/2014/main" id="{20A742F8-4E3C-4BC8-9F3F-7D88C1C528DB}"/>
                </a:ext>
              </a:extLst>
            </p:cNvPr>
            <p:cNvSpPr/>
            <p:nvPr/>
          </p:nvSpPr>
          <p:spPr>
            <a:xfrm>
              <a:off x="7189358" y="511780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9" name="Organigramme : Connecteur 68">
              <a:extLst>
                <a:ext uri="{FF2B5EF4-FFF2-40B4-BE49-F238E27FC236}">
                  <a16:creationId xmlns:a16="http://schemas.microsoft.com/office/drawing/2014/main" id="{6F4301F9-E281-47B6-9E97-DDD168BB2350}"/>
                </a:ext>
              </a:extLst>
            </p:cNvPr>
            <p:cNvSpPr/>
            <p:nvPr/>
          </p:nvSpPr>
          <p:spPr>
            <a:xfrm>
              <a:off x="8106558" y="581973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0" name="Organigramme : Connecteur 69">
              <a:extLst>
                <a:ext uri="{FF2B5EF4-FFF2-40B4-BE49-F238E27FC236}">
                  <a16:creationId xmlns:a16="http://schemas.microsoft.com/office/drawing/2014/main" id="{6906A041-15A9-4330-82E6-814F50C7A8F3}"/>
                </a:ext>
              </a:extLst>
            </p:cNvPr>
            <p:cNvSpPr/>
            <p:nvPr/>
          </p:nvSpPr>
          <p:spPr>
            <a:xfrm>
              <a:off x="8197925" y="558852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1" name="Organigramme : Connecteur 70">
              <a:extLst>
                <a:ext uri="{FF2B5EF4-FFF2-40B4-BE49-F238E27FC236}">
                  <a16:creationId xmlns:a16="http://schemas.microsoft.com/office/drawing/2014/main" id="{96FB2318-4AC6-44CD-B877-7F5422833F90}"/>
                </a:ext>
              </a:extLst>
            </p:cNvPr>
            <p:cNvSpPr/>
            <p:nvPr/>
          </p:nvSpPr>
          <p:spPr>
            <a:xfrm>
              <a:off x="8452629" y="550558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2" name="Organigramme : Connecteur 71">
              <a:extLst>
                <a:ext uri="{FF2B5EF4-FFF2-40B4-BE49-F238E27FC236}">
                  <a16:creationId xmlns:a16="http://schemas.microsoft.com/office/drawing/2014/main" id="{C22D5485-0BFC-443D-862F-3623C9360A47}"/>
                </a:ext>
              </a:extLst>
            </p:cNvPr>
            <p:cNvSpPr/>
            <p:nvPr/>
          </p:nvSpPr>
          <p:spPr>
            <a:xfrm>
              <a:off x="6766577" y="5914348"/>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3" name="Organigramme : Connecteur 72">
              <a:extLst>
                <a:ext uri="{FF2B5EF4-FFF2-40B4-BE49-F238E27FC236}">
                  <a16:creationId xmlns:a16="http://schemas.microsoft.com/office/drawing/2014/main" id="{E624FA34-3EFC-41B2-A791-FD22AEDFFD28}"/>
                </a:ext>
              </a:extLst>
            </p:cNvPr>
            <p:cNvSpPr/>
            <p:nvPr/>
          </p:nvSpPr>
          <p:spPr>
            <a:xfrm>
              <a:off x="7383764" y="5749165"/>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
        <p:nvSpPr>
          <p:cNvPr id="76" name="Title 13">
            <a:extLst>
              <a:ext uri="{FF2B5EF4-FFF2-40B4-BE49-F238E27FC236}">
                <a16:creationId xmlns:a16="http://schemas.microsoft.com/office/drawing/2014/main" id="{3F0B5280-38E0-450A-8995-E1A2E1F20F42}"/>
              </a:ext>
            </a:extLst>
          </p:cNvPr>
          <p:cNvSpPr txBox="1">
            <a:spLocks/>
          </p:cNvSpPr>
          <p:nvPr/>
        </p:nvSpPr>
        <p:spPr>
          <a:xfrm>
            <a:off x="378638" y="959489"/>
            <a:ext cx="6249917" cy="24011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KNN pour la régression</a:t>
            </a:r>
          </a:p>
        </p:txBody>
      </p:sp>
    </p:spTree>
    <p:extLst>
      <p:ext uri="{BB962C8B-B14F-4D97-AF65-F5344CB8AC3E}">
        <p14:creationId xmlns:p14="http://schemas.microsoft.com/office/powerpoint/2010/main" val="2715960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193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 :</a:t>
            </a:r>
            <a:r>
              <a:rPr lang="fr-FR" sz="2100" b="0" dirty="0"/>
              <a:t> fonctionnement</a:t>
            </a:r>
          </a:p>
        </p:txBody>
      </p:sp>
      <p:graphicFrame>
        <p:nvGraphicFramePr>
          <p:cNvPr id="4" name="Espace réservé du contenu 3">
            <a:extLst>
              <a:ext uri="{FF2B5EF4-FFF2-40B4-BE49-F238E27FC236}">
                <a16:creationId xmlns:a16="http://schemas.microsoft.com/office/drawing/2014/main" id="{D29E517A-9481-477B-991D-761E27AA0227}"/>
              </a:ext>
            </a:extLst>
          </p:cNvPr>
          <p:cNvGraphicFramePr>
            <a:graphicFrameLocks noGrp="1"/>
          </p:cNvGraphicFramePr>
          <p:nvPr>
            <p:ph sz="half" idx="13"/>
            <p:extLst>
              <p:ext uri="{D42A27DB-BD31-4B8C-83A1-F6EECF244321}">
                <p14:modId xmlns:p14="http://schemas.microsoft.com/office/powerpoint/2010/main" val="581415837"/>
              </p:ext>
            </p:extLst>
          </p:nvPr>
        </p:nvGraphicFramePr>
        <p:xfrm>
          <a:off x="1040915" y="3516288"/>
          <a:ext cx="3372430" cy="1466618"/>
        </p:xfrm>
        <a:graphic>
          <a:graphicData uri="http://schemas.openxmlformats.org/drawingml/2006/table">
            <a:tbl>
              <a:tblPr firstRow="1" bandRow="1">
                <a:tableStyleId>{5C22544A-7EE6-4342-B048-85BDC9FD1C3A}</a:tableStyleId>
              </a:tblPr>
              <a:tblGrid>
                <a:gridCol w="1732473">
                  <a:extLst>
                    <a:ext uri="{9D8B030D-6E8A-4147-A177-3AD203B41FA5}">
                      <a16:colId xmlns:a16="http://schemas.microsoft.com/office/drawing/2014/main" val="2986665876"/>
                    </a:ext>
                  </a:extLst>
                </a:gridCol>
                <a:gridCol w="572494">
                  <a:extLst>
                    <a:ext uri="{9D8B030D-6E8A-4147-A177-3AD203B41FA5}">
                      <a16:colId xmlns:a16="http://schemas.microsoft.com/office/drawing/2014/main" val="3339985376"/>
                    </a:ext>
                  </a:extLst>
                </a:gridCol>
                <a:gridCol w="542677">
                  <a:extLst>
                    <a:ext uri="{9D8B030D-6E8A-4147-A177-3AD203B41FA5}">
                      <a16:colId xmlns:a16="http://schemas.microsoft.com/office/drawing/2014/main" val="421219365"/>
                    </a:ext>
                  </a:extLst>
                </a:gridCol>
                <a:gridCol w="524786">
                  <a:extLst>
                    <a:ext uri="{9D8B030D-6E8A-4147-A177-3AD203B41FA5}">
                      <a16:colId xmlns:a16="http://schemas.microsoft.com/office/drawing/2014/main" val="1796812882"/>
                    </a:ext>
                  </a:extLst>
                </a:gridCol>
              </a:tblGrid>
              <a:tr h="211119">
                <a:tc>
                  <a:txBody>
                    <a:bodyPr/>
                    <a:lstStyle/>
                    <a:p>
                      <a:r>
                        <a:rPr lang="fr-FR" sz="900" dirty="0"/>
                        <a:t>Marque</a:t>
                      </a:r>
                    </a:p>
                  </a:txBody>
                  <a:tcPr marL="68580" marR="68580" marT="34290" marB="34290"/>
                </a:tc>
                <a:tc>
                  <a:txBody>
                    <a:bodyPr/>
                    <a:lstStyle/>
                    <a:p>
                      <a:r>
                        <a:rPr lang="fr-FR" sz="900" dirty="0"/>
                        <a:t>Mpg</a:t>
                      </a:r>
                    </a:p>
                  </a:txBody>
                  <a:tcPr marL="68580" marR="68580" marT="34290" marB="34290">
                    <a:solidFill>
                      <a:srgbClr val="ED7862"/>
                    </a:solidFill>
                  </a:tcPr>
                </a:tc>
                <a:tc>
                  <a:txBody>
                    <a:bodyPr/>
                    <a:lstStyle/>
                    <a:p>
                      <a:r>
                        <a:rPr lang="fr-FR" sz="900" dirty="0"/>
                        <a:t>Cyl</a:t>
                      </a:r>
                    </a:p>
                  </a:txBody>
                  <a:tcPr marL="68580" marR="68580" marT="34290" marB="34290"/>
                </a:tc>
                <a:tc>
                  <a:txBody>
                    <a:bodyPr/>
                    <a:lstStyle/>
                    <a:p>
                      <a:r>
                        <a:rPr lang="fr-FR" sz="900" dirty="0"/>
                        <a:t>Disp</a:t>
                      </a:r>
                    </a:p>
                  </a:txBody>
                  <a:tcPr marL="68580" marR="68580" marT="34290" marB="34290"/>
                </a:tc>
                <a:extLst>
                  <a:ext uri="{0D108BD9-81ED-4DB2-BD59-A6C34878D82A}">
                    <a16:rowId xmlns:a16="http://schemas.microsoft.com/office/drawing/2014/main" val="1547968494"/>
                  </a:ext>
                </a:extLst>
              </a:tr>
              <a:tr h="205740">
                <a:tc>
                  <a:txBody>
                    <a:bodyPr/>
                    <a:lstStyle/>
                    <a:p>
                      <a:r>
                        <a:rPr lang="fr-FR" sz="900" b="1" dirty="0"/>
                        <a:t>Valiant</a:t>
                      </a:r>
                    </a:p>
                  </a:txBody>
                  <a:tcPr marL="68580" marR="68580" marT="34290" marB="34290"/>
                </a:tc>
                <a:tc>
                  <a:txBody>
                    <a:bodyPr/>
                    <a:lstStyle/>
                    <a:p>
                      <a:r>
                        <a:rPr lang="fr-FR" sz="900" b="1" dirty="0"/>
                        <a:t>18.1</a:t>
                      </a:r>
                    </a:p>
                  </a:txBody>
                  <a:tcPr marL="68580" marR="68580" marT="34290" marB="34290">
                    <a:solidFill>
                      <a:srgbClr val="ED7862"/>
                    </a:solidFill>
                  </a:tcPr>
                </a:tc>
                <a:tc>
                  <a:txBody>
                    <a:bodyPr/>
                    <a:lstStyle/>
                    <a:p>
                      <a:r>
                        <a:rPr lang="fr-FR" sz="900" b="1" dirty="0"/>
                        <a:t>6</a:t>
                      </a:r>
                    </a:p>
                  </a:txBody>
                  <a:tcPr marL="68580" marR="68580" marT="34290" marB="34290"/>
                </a:tc>
                <a:tc>
                  <a:txBody>
                    <a:bodyPr/>
                    <a:lstStyle/>
                    <a:p>
                      <a:r>
                        <a:rPr lang="fr-FR" sz="900" b="1" dirty="0"/>
                        <a:t>225</a:t>
                      </a:r>
                    </a:p>
                  </a:txBody>
                  <a:tcPr marL="68580" marR="68580" marT="34290" marB="34290"/>
                </a:tc>
                <a:extLst>
                  <a:ext uri="{0D108BD9-81ED-4DB2-BD59-A6C34878D82A}">
                    <a16:rowId xmlns:a16="http://schemas.microsoft.com/office/drawing/2014/main" val="2667085033"/>
                  </a:ext>
                </a:extLst>
              </a:tr>
              <a:tr h="211890">
                <a:tc>
                  <a:txBody>
                    <a:bodyPr/>
                    <a:lstStyle/>
                    <a:p>
                      <a:r>
                        <a:rPr lang="fr-FR" sz="900" dirty="0"/>
                        <a:t>Mazda RX4 Wag</a:t>
                      </a:r>
                    </a:p>
                  </a:txBody>
                  <a:tcPr marL="68580" marR="68580" marT="34290" marB="34290"/>
                </a:tc>
                <a:tc>
                  <a:txBody>
                    <a:bodyPr/>
                    <a:lstStyle/>
                    <a:p>
                      <a:r>
                        <a:rPr lang="fr-FR" sz="900" dirty="0"/>
                        <a:t>21</a:t>
                      </a:r>
                    </a:p>
                  </a:txBody>
                  <a:tcPr marL="68580" marR="68580" marT="34290" marB="34290">
                    <a:solidFill>
                      <a:srgbClr val="ED7862"/>
                    </a:solidFill>
                  </a:tcPr>
                </a:tc>
                <a:tc>
                  <a:txBody>
                    <a:bodyPr/>
                    <a:lstStyle/>
                    <a:p>
                      <a:r>
                        <a:rPr lang="fr-FR" sz="900" dirty="0"/>
                        <a:t>6</a:t>
                      </a:r>
                    </a:p>
                  </a:txBody>
                  <a:tcPr marL="68580" marR="68580" marT="34290" marB="34290"/>
                </a:tc>
                <a:tc>
                  <a:txBody>
                    <a:bodyPr/>
                    <a:lstStyle/>
                    <a:p>
                      <a:r>
                        <a:rPr lang="fr-FR" sz="900" dirty="0"/>
                        <a:t>160</a:t>
                      </a:r>
                    </a:p>
                  </a:txBody>
                  <a:tcPr marL="68580" marR="68580" marT="34290" marB="34290"/>
                </a:tc>
                <a:extLst>
                  <a:ext uri="{0D108BD9-81ED-4DB2-BD59-A6C34878D82A}">
                    <a16:rowId xmlns:a16="http://schemas.microsoft.com/office/drawing/2014/main" val="2556952926"/>
                  </a:ext>
                </a:extLst>
              </a:tr>
              <a:tr h="205740">
                <a:tc>
                  <a:txBody>
                    <a:bodyPr/>
                    <a:lstStyle/>
                    <a:p>
                      <a:r>
                        <a:rPr lang="fr-FR" sz="900" dirty="0"/>
                        <a:t>Datsun 710</a:t>
                      </a:r>
                    </a:p>
                  </a:txBody>
                  <a:tcPr marL="68580" marR="68580" marT="34290" marB="34290"/>
                </a:tc>
                <a:tc>
                  <a:txBody>
                    <a:bodyPr/>
                    <a:lstStyle/>
                    <a:p>
                      <a:r>
                        <a:rPr lang="fr-FR" sz="900" dirty="0"/>
                        <a:t>22.8</a:t>
                      </a:r>
                    </a:p>
                  </a:txBody>
                  <a:tcPr marL="68580" marR="68580" marT="34290" marB="34290">
                    <a:solidFill>
                      <a:srgbClr val="ED7862"/>
                    </a:solidFill>
                  </a:tcPr>
                </a:tc>
                <a:tc>
                  <a:txBody>
                    <a:bodyPr/>
                    <a:lstStyle/>
                    <a:p>
                      <a:r>
                        <a:rPr lang="fr-FR" sz="900" dirty="0"/>
                        <a:t>4</a:t>
                      </a:r>
                    </a:p>
                  </a:txBody>
                  <a:tcPr marL="68580" marR="68580" marT="34290" marB="34290"/>
                </a:tc>
                <a:tc>
                  <a:txBody>
                    <a:bodyPr/>
                    <a:lstStyle/>
                    <a:p>
                      <a:r>
                        <a:rPr lang="fr-FR" sz="900" dirty="0"/>
                        <a:t>108</a:t>
                      </a:r>
                    </a:p>
                  </a:txBody>
                  <a:tcPr marL="68580" marR="68580" marT="34290" marB="34290"/>
                </a:tc>
                <a:extLst>
                  <a:ext uri="{0D108BD9-81ED-4DB2-BD59-A6C34878D82A}">
                    <a16:rowId xmlns:a16="http://schemas.microsoft.com/office/drawing/2014/main" val="534901214"/>
                  </a:ext>
                </a:extLst>
              </a:tr>
              <a:tr h="205740">
                <a:tc>
                  <a:txBody>
                    <a:bodyPr/>
                    <a:lstStyle/>
                    <a:p>
                      <a:r>
                        <a:rPr lang="fr-FR" sz="900" dirty="0"/>
                        <a:t>Hornet 4 Drive</a:t>
                      </a:r>
                    </a:p>
                  </a:txBody>
                  <a:tcPr marL="68580" marR="68580" marT="34290" marB="34290"/>
                </a:tc>
                <a:tc>
                  <a:txBody>
                    <a:bodyPr/>
                    <a:lstStyle/>
                    <a:p>
                      <a:r>
                        <a:rPr lang="fr-FR" sz="900" dirty="0"/>
                        <a:t>21.4</a:t>
                      </a:r>
                    </a:p>
                  </a:txBody>
                  <a:tcPr marL="68580" marR="68580" marT="34290" marB="34290">
                    <a:solidFill>
                      <a:srgbClr val="ED7862"/>
                    </a:solidFill>
                  </a:tcPr>
                </a:tc>
                <a:tc>
                  <a:txBody>
                    <a:bodyPr/>
                    <a:lstStyle/>
                    <a:p>
                      <a:r>
                        <a:rPr lang="fr-FR" sz="900" dirty="0"/>
                        <a:t>6</a:t>
                      </a:r>
                    </a:p>
                  </a:txBody>
                  <a:tcPr marL="68580" marR="68580" marT="34290" marB="34290"/>
                </a:tc>
                <a:tc>
                  <a:txBody>
                    <a:bodyPr/>
                    <a:lstStyle/>
                    <a:p>
                      <a:r>
                        <a:rPr lang="fr-FR" sz="900" dirty="0"/>
                        <a:t>258</a:t>
                      </a:r>
                    </a:p>
                  </a:txBody>
                  <a:tcPr marL="68580" marR="68580" marT="34290" marB="34290"/>
                </a:tc>
                <a:extLst>
                  <a:ext uri="{0D108BD9-81ED-4DB2-BD59-A6C34878D82A}">
                    <a16:rowId xmlns:a16="http://schemas.microsoft.com/office/drawing/2014/main" val="4083386537"/>
                  </a:ext>
                </a:extLst>
              </a:tr>
              <a:tr h="220649">
                <a:tc>
                  <a:txBody>
                    <a:bodyPr/>
                    <a:lstStyle/>
                    <a:p>
                      <a:r>
                        <a:rPr lang="fr-FR" sz="900" dirty="0"/>
                        <a:t>Hornet Sportabout</a:t>
                      </a:r>
                    </a:p>
                  </a:txBody>
                  <a:tcPr marL="68580" marR="68580" marT="34290" marB="34290"/>
                </a:tc>
                <a:tc>
                  <a:txBody>
                    <a:bodyPr/>
                    <a:lstStyle/>
                    <a:p>
                      <a:r>
                        <a:rPr lang="fr-FR" sz="900" dirty="0"/>
                        <a:t>18.7</a:t>
                      </a:r>
                    </a:p>
                  </a:txBody>
                  <a:tcPr marL="68580" marR="68580" marT="34290" marB="34290">
                    <a:solidFill>
                      <a:srgbClr val="ED7862"/>
                    </a:solidFill>
                  </a:tcPr>
                </a:tc>
                <a:tc>
                  <a:txBody>
                    <a:bodyPr/>
                    <a:lstStyle/>
                    <a:p>
                      <a:r>
                        <a:rPr lang="fr-FR" sz="900" dirty="0"/>
                        <a:t>8</a:t>
                      </a:r>
                    </a:p>
                  </a:txBody>
                  <a:tcPr marL="68580" marR="68580" marT="34290" marB="34290"/>
                </a:tc>
                <a:tc>
                  <a:txBody>
                    <a:bodyPr/>
                    <a:lstStyle/>
                    <a:p>
                      <a:r>
                        <a:rPr lang="fr-FR" sz="900" dirty="0"/>
                        <a:t>360</a:t>
                      </a:r>
                    </a:p>
                  </a:txBody>
                  <a:tcPr marL="68580" marR="68580" marT="34290" marB="34290"/>
                </a:tc>
                <a:extLst>
                  <a:ext uri="{0D108BD9-81ED-4DB2-BD59-A6C34878D82A}">
                    <a16:rowId xmlns:a16="http://schemas.microsoft.com/office/drawing/2014/main" val="3521600553"/>
                  </a:ext>
                </a:extLst>
              </a:tr>
              <a:tr h="205740">
                <a:tc>
                  <a:txBody>
                    <a:bodyPr/>
                    <a:lstStyle/>
                    <a:p>
                      <a:r>
                        <a:rPr lang="fr-FR" sz="900" dirty="0"/>
                        <a:t>Mazda RX4</a:t>
                      </a:r>
                    </a:p>
                  </a:txBody>
                  <a:tcPr marL="68580" marR="68580" marT="34290" marB="34290"/>
                </a:tc>
                <a:tc>
                  <a:txBody>
                    <a:bodyPr/>
                    <a:lstStyle/>
                    <a:p>
                      <a:r>
                        <a:rPr lang="fr-FR" sz="900" dirty="0"/>
                        <a:t>21</a:t>
                      </a:r>
                    </a:p>
                  </a:txBody>
                  <a:tcPr marL="68580" marR="68580" marT="34290" marB="34290">
                    <a:solidFill>
                      <a:srgbClr val="ED7862"/>
                    </a:solidFill>
                  </a:tcPr>
                </a:tc>
                <a:tc>
                  <a:txBody>
                    <a:bodyPr/>
                    <a:lstStyle/>
                    <a:p>
                      <a:r>
                        <a:rPr lang="fr-FR" sz="900" dirty="0"/>
                        <a:t>6</a:t>
                      </a:r>
                    </a:p>
                  </a:txBody>
                  <a:tcPr marL="68580" marR="68580" marT="34290" marB="34290"/>
                </a:tc>
                <a:tc>
                  <a:txBody>
                    <a:bodyPr/>
                    <a:lstStyle/>
                    <a:p>
                      <a:r>
                        <a:rPr lang="fr-FR" sz="900" dirty="0"/>
                        <a:t>160</a:t>
                      </a:r>
                    </a:p>
                  </a:txBody>
                  <a:tcPr marL="68580" marR="68580" marT="34290" marB="34290"/>
                </a:tc>
                <a:extLst>
                  <a:ext uri="{0D108BD9-81ED-4DB2-BD59-A6C34878D82A}">
                    <a16:rowId xmlns:a16="http://schemas.microsoft.com/office/drawing/2014/main" val="1332872226"/>
                  </a:ext>
                </a:extLst>
              </a:tr>
            </a:tbl>
          </a:graphicData>
        </a:graphic>
      </p:graphicFrame>
      <mc:AlternateContent xmlns:mc="http://schemas.openxmlformats.org/markup-compatibility/2006" xmlns:a14="http://schemas.microsoft.com/office/drawing/2010/main">
        <mc:Choice Requires="a14">
          <p:sp>
            <p:nvSpPr>
              <p:cNvPr id="8" name="Content Placeholder 15">
                <a:extLst>
                  <a:ext uri="{FF2B5EF4-FFF2-40B4-BE49-F238E27FC236}">
                    <a16:creationId xmlns:a16="http://schemas.microsoft.com/office/drawing/2014/main" id="{24462727-E0A6-4EC6-B763-388B00CC0707}"/>
                  </a:ext>
                </a:extLst>
              </p:cNvPr>
              <p:cNvSpPr txBox="1">
                <a:spLocks/>
              </p:cNvSpPr>
              <p:nvPr/>
            </p:nvSpPr>
            <p:spPr>
              <a:xfrm>
                <a:off x="746911" y="1391970"/>
                <a:ext cx="5891400" cy="1917761"/>
              </a:xfrm>
              <a:prstGeom prst="rect">
                <a:avLst/>
              </a:prstGeom>
            </p:spPr>
            <p:txBody>
              <a:bodyPr>
                <a:noAutofit/>
              </a:bodyPr>
              <a:lstStyle>
                <a:lvl1pPr marL="228600" indent="-228600" algn="l" defTabSz="914400" rtl="0" eaLnBrk="1" latinLnBrk="0" hangingPunct="1">
                  <a:lnSpc>
                    <a:spcPct val="90000"/>
                  </a:lnSpc>
                  <a:spcBef>
                    <a:spcPts val="1000"/>
                  </a:spcBef>
                  <a:buClr>
                    <a:srgbClr val="2E7A40"/>
                  </a:buClr>
                  <a:buFont typeface="Arial" panose="020B0604020202020204" pitchFamily="34" charset="0"/>
                  <a:buChar char="•"/>
                  <a:defRPr lang="en-US" sz="2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2E7A40"/>
                  </a:buClr>
                  <a:buFont typeface="Arial" panose="020B0604020202020204" pitchFamily="34" charset="0"/>
                  <a:buChar char="•"/>
                  <a:defRPr lang="en-US" sz="20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2E7A40"/>
                  </a:buClr>
                  <a:buFont typeface="Arial" panose="020B0604020202020204" pitchFamily="34" charset="0"/>
                  <a:buChar char="•"/>
                  <a:defRPr lang="en-US" sz="18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2E7A40"/>
                  </a:buClr>
                  <a:buFont typeface="Arial" panose="020B0604020202020204" pitchFamily="34" charset="0"/>
                  <a:buChar char="•"/>
                  <a:defRPr lang="en-US" sz="160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2E7A40"/>
                  </a:buClr>
                  <a:buFont typeface="Arial" panose="020B0604020202020204" pitchFamily="34" charset="0"/>
                  <a:buChar char="•"/>
                  <a:defRPr lang="en-IN" sz="16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Clr>
                    <a:schemeClr val="accent2"/>
                  </a:buClr>
                </a:pPr>
                <a:r>
                  <a:rPr lang="fr-FR" sz="1350" dirty="0"/>
                  <a:t>La distance euclidienne est donnée par la formule :</a:t>
                </a:r>
              </a:p>
              <a:p>
                <a:pPr marL="342900" lvl="1" indent="0" algn="just">
                  <a:lnSpc>
                    <a:spcPct val="100000"/>
                  </a:lnSpc>
                  <a:buClr>
                    <a:schemeClr val="accent2"/>
                  </a:buClr>
                  <a:buNone/>
                </a:pPr>
                <a14:m>
                  <m:oMath xmlns:m="http://schemas.openxmlformats.org/officeDocument/2006/math">
                    <m:r>
                      <a:rPr lang="fr-FR" sz="1050" i="1">
                        <a:latin typeface="Cambria Math" panose="02040503050406030204" pitchFamily="18" charset="0"/>
                      </a:rPr>
                      <m:t>𝑑</m:t>
                    </m:r>
                    <m:r>
                      <a:rPr lang="fr-FR" sz="1050" i="1">
                        <a:latin typeface="Cambria Math" panose="02040503050406030204" pitchFamily="18" charset="0"/>
                      </a:rPr>
                      <m:t>= </m:t>
                    </m:r>
                    <m:rad>
                      <m:radPr>
                        <m:degHide m:val="on"/>
                        <m:ctrlPr>
                          <a:rPr lang="fr-FR" sz="1050" i="1">
                            <a:latin typeface="Cambria Math" panose="02040503050406030204" pitchFamily="18" charset="0"/>
                          </a:rPr>
                        </m:ctrlPr>
                      </m:radPr>
                      <m:deg/>
                      <m:e>
                        <m:sSubSup>
                          <m:sSubSupPr>
                            <m:ctrlPr>
                              <a:rPr lang="fr-FR" sz="1050" i="1">
                                <a:latin typeface="Cambria Math" panose="02040503050406030204" pitchFamily="18" charset="0"/>
                              </a:rPr>
                            </m:ctrlPr>
                          </m:sSubSupPr>
                          <m:e>
                            <m:r>
                              <a:rPr lang="fr-FR" sz="1050" i="1">
                                <a:latin typeface="Cambria Math" panose="02040503050406030204" pitchFamily="18" charset="0"/>
                              </a:rPr>
                              <m:t>𝑐𝑜𝑙𝑜𝑛𝑛𝑒</m:t>
                            </m:r>
                          </m:e>
                          <m:sub>
                            <m:r>
                              <a:rPr lang="fr-FR" sz="1050" i="1">
                                <a:latin typeface="Cambria Math" panose="02040503050406030204" pitchFamily="18" charset="0"/>
                              </a:rPr>
                              <m:t>1</m:t>
                            </m:r>
                          </m:sub>
                          <m:sup>
                            <m:r>
                              <a:rPr lang="fr-FR" sz="1050" i="1">
                                <a:latin typeface="Cambria Math" panose="02040503050406030204" pitchFamily="18" charset="0"/>
                              </a:rPr>
                              <m:t>2</m:t>
                            </m:r>
                          </m:sup>
                        </m:sSubSup>
                        <m:r>
                          <a:rPr lang="fr-FR" sz="1050" i="1">
                            <a:latin typeface="Cambria Math" panose="02040503050406030204" pitchFamily="18" charset="0"/>
                          </a:rPr>
                          <m:t>+</m:t>
                        </m:r>
                        <m:sSubSup>
                          <m:sSubSupPr>
                            <m:ctrlPr>
                              <a:rPr lang="fr-FR" sz="1050" i="1">
                                <a:latin typeface="Cambria Math" panose="02040503050406030204" pitchFamily="18" charset="0"/>
                              </a:rPr>
                            </m:ctrlPr>
                          </m:sSubSupPr>
                          <m:e>
                            <m:r>
                              <a:rPr lang="fr-FR" sz="1050" i="1">
                                <a:latin typeface="Cambria Math" panose="02040503050406030204" pitchFamily="18" charset="0"/>
                              </a:rPr>
                              <m:t>𝑐𝑜𝑙𝑜𝑛𝑛𝑒</m:t>
                            </m:r>
                          </m:e>
                          <m:sub>
                            <m:r>
                              <a:rPr lang="fr-FR" sz="1050" i="1">
                                <a:latin typeface="Cambria Math" panose="02040503050406030204" pitchFamily="18" charset="0"/>
                              </a:rPr>
                              <m:t>2</m:t>
                            </m:r>
                          </m:sub>
                          <m:sup>
                            <m:r>
                              <a:rPr lang="fr-FR" sz="1050" i="1">
                                <a:latin typeface="Cambria Math" panose="02040503050406030204" pitchFamily="18" charset="0"/>
                              </a:rPr>
                              <m:t>2</m:t>
                            </m:r>
                          </m:sup>
                        </m:sSubSup>
                        <m:r>
                          <a:rPr lang="fr-FR" sz="1050" i="1">
                            <a:latin typeface="Cambria Math" panose="02040503050406030204" pitchFamily="18" charset="0"/>
                          </a:rPr>
                          <m:t>+</m:t>
                        </m:r>
                        <m:sSubSup>
                          <m:sSubSupPr>
                            <m:ctrlPr>
                              <a:rPr lang="fr-FR" sz="1050" i="1">
                                <a:latin typeface="Cambria Math" panose="02040503050406030204" pitchFamily="18" charset="0"/>
                              </a:rPr>
                            </m:ctrlPr>
                          </m:sSubSupPr>
                          <m:e>
                            <m:r>
                              <a:rPr lang="fr-FR" sz="1050" i="1">
                                <a:latin typeface="Cambria Math" panose="02040503050406030204" pitchFamily="18" charset="0"/>
                              </a:rPr>
                              <m:t>𝑐𝑜𝑙𝑜𝑛𝑛𝑒</m:t>
                            </m:r>
                          </m:e>
                          <m:sub>
                            <m:r>
                              <a:rPr lang="fr-FR" sz="1050" i="1">
                                <a:latin typeface="Cambria Math" panose="02040503050406030204" pitchFamily="18" charset="0"/>
                              </a:rPr>
                              <m:t>3</m:t>
                            </m:r>
                          </m:sub>
                          <m:sup>
                            <m:r>
                              <a:rPr lang="fr-FR" sz="1050" i="1">
                                <a:latin typeface="Cambria Math" panose="02040503050406030204" pitchFamily="18" charset="0"/>
                              </a:rPr>
                              <m:t>2</m:t>
                            </m:r>
                          </m:sup>
                        </m:sSubSup>
                        <m:r>
                          <a:rPr lang="fr-FR" sz="1050" i="1">
                            <a:latin typeface="Cambria Math" panose="02040503050406030204" pitchFamily="18" charset="0"/>
                          </a:rPr>
                          <m:t>…+</m:t>
                        </m:r>
                        <m:sSubSup>
                          <m:sSubSupPr>
                            <m:ctrlPr>
                              <a:rPr lang="fr-FR" sz="1050" i="1">
                                <a:latin typeface="Cambria Math" panose="02040503050406030204" pitchFamily="18" charset="0"/>
                              </a:rPr>
                            </m:ctrlPr>
                          </m:sSubSupPr>
                          <m:e>
                            <m:r>
                              <a:rPr lang="fr-FR" sz="1050" i="1">
                                <a:latin typeface="Cambria Math" panose="02040503050406030204" pitchFamily="18" charset="0"/>
                              </a:rPr>
                              <m:t>𝑐𝑜𝑙𝑜𝑛𝑛𝑒</m:t>
                            </m:r>
                          </m:e>
                          <m:sub>
                            <m:r>
                              <a:rPr lang="fr-FR" sz="1050" i="1">
                                <a:latin typeface="Cambria Math" panose="02040503050406030204" pitchFamily="18" charset="0"/>
                              </a:rPr>
                              <m:t>𝑝</m:t>
                            </m:r>
                          </m:sub>
                          <m:sup>
                            <m:r>
                              <a:rPr lang="fr-FR" sz="1050" i="1">
                                <a:latin typeface="Cambria Math" panose="02040503050406030204" pitchFamily="18" charset="0"/>
                              </a:rPr>
                              <m:t>2</m:t>
                            </m:r>
                          </m:sup>
                        </m:sSubSup>
                      </m:e>
                    </m:rad>
                  </m:oMath>
                </a14:m>
                <a:r>
                  <a:rPr lang="fr-FR" sz="1050" dirty="0"/>
                  <a:t> , soit </a:t>
                </a:r>
                <a14:m>
                  <m:oMath xmlns:m="http://schemas.openxmlformats.org/officeDocument/2006/math">
                    <m:r>
                      <a:rPr lang="fr-FR" sz="1050" i="1">
                        <a:latin typeface="Cambria Math" panose="02040503050406030204" pitchFamily="18" charset="0"/>
                      </a:rPr>
                      <m:t>𝑑</m:t>
                    </m:r>
                    <m:r>
                      <a:rPr lang="fr-FR" sz="1050" i="1">
                        <a:latin typeface="Cambria Math" panose="02040503050406030204" pitchFamily="18" charset="0"/>
                      </a:rPr>
                      <m:t>= </m:t>
                    </m:r>
                    <m:rad>
                      <m:radPr>
                        <m:degHide m:val="on"/>
                        <m:ctrlPr>
                          <a:rPr lang="fr-FR" sz="1050" i="1">
                            <a:latin typeface="Cambria Math" panose="02040503050406030204" pitchFamily="18" charset="0"/>
                          </a:rPr>
                        </m:ctrlPr>
                      </m:radPr>
                      <m:deg/>
                      <m:e>
                        <m:sSup>
                          <m:sSupPr>
                            <m:ctrlPr>
                              <a:rPr lang="fr-FR" sz="1050" i="1">
                                <a:latin typeface="Cambria Math" panose="02040503050406030204" pitchFamily="18" charset="0"/>
                              </a:rPr>
                            </m:ctrlPr>
                          </m:sSupPr>
                          <m:e>
                            <m:d>
                              <m:dPr>
                                <m:ctrlPr>
                                  <a:rPr lang="fr-FR" sz="1050" i="1">
                                    <a:latin typeface="Cambria Math" panose="02040503050406030204" pitchFamily="18" charset="0"/>
                                  </a:rPr>
                                </m:ctrlPr>
                              </m:dPr>
                              <m:e>
                                <m:sSub>
                                  <m:sSubPr>
                                    <m:ctrlPr>
                                      <a:rPr lang="fr-FR" sz="1050" i="1">
                                        <a:latin typeface="Cambria Math" panose="02040503050406030204" pitchFamily="18" charset="0"/>
                                      </a:rPr>
                                    </m:ctrlPr>
                                  </m:sSubPr>
                                  <m:e>
                                    <m:r>
                                      <a:rPr lang="fr-FR" sz="1050" i="1">
                                        <a:latin typeface="Cambria Math" panose="02040503050406030204" pitchFamily="18" charset="0"/>
                                      </a:rPr>
                                      <m:t>𝑥</m:t>
                                    </m:r>
                                  </m:e>
                                  <m:sub>
                                    <m:r>
                                      <a:rPr lang="fr-FR" sz="1050" i="1">
                                        <a:latin typeface="Cambria Math" panose="02040503050406030204" pitchFamily="18" charset="0"/>
                                      </a:rPr>
                                      <m:t>2</m:t>
                                    </m:r>
                                  </m:sub>
                                </m:sSub>
                                <m:r>
                                  <a:rPr lang="fr-FR" sz="1050" i="1">
                                    <a:latin typeface="Cambria Math" panose="02040503050406030204" pitchFamily="18" charset="0"/>
                                  </a:rPr>
                                  <m:t>−</m:t>
                                </m:r>
                                <m:sSub>
                                  <m:sSubPr>
                                    <m:ctrlPr>
                                      <a:rPr lang="fr-FR" sz="1050" i="1">
                                        <a:latin typeface="Cambria Math" panose="02040503050406030204" pitchFamily="18" charset="0"/>
                                      </a:rPr>
                                    </m:ctrlPr>
                                  </m:sSubPr>
                                  <m:e>
                                    <m:r>
                                      <a:rPr lang="fr-FR" sz="1050" i="1">
                                        <a:latin typeface="Cambria Math" panose="02040503050406030204" pitchFamily="18" charset="0"/>
                                      </a:rPr>
                                      <m:t>𝑥</m:t>
                                    </m:r>
                                  </m:e>
                                  <m:sub>
                                    <m:r>
                                      <a:rPr lang="fr-FR" sz="1050" i="1">
                                        <a:latin typeface="Cambria Math" panose="02040503050406030204" pitchFamily="18" charset="0"/>
                                      </a:rPr>
                                      <m:t>1</m:t>
                                    </m:r>
                                  </m:sub>
                                </m:sSub>
                              </m:e>
                            </m:d>
                          </m:e>
                          <m:sup>
                            <m:r>
                              <a:rPr lang="fr-FR" sz="1050" i="1">
                                <a:latin typeface="Cambria Math" panose="02040503050406030204" pitchFamily="18" charset="0"/>
                              </a:rPr>
                              <m:t>2</m:t>
                            </m:r>
                          </m:sup>
                        </m:sSup>
                        <m:r>
                          <a:rPr lang="fr-FR" sz="1050" i="1">
                            <a:latin typeface="Cambria Math" panose="02040503050406030204" pitchFamily="18" charset="0"/>
                          </a:rPr>
                          <m:t>+</m:t>
                        </m:r>
                        <m:sSup>
                          <m:sSupPr>
                            <m:ctrlPr>
                              <a:rPr lang="fr-FR" sz="1050" i="1">
                                <a:latin typeface="Cambria Math" panose="02040503050406030204" pitchFamily="18" charset="0"/>
                              </a:rPr>
                            </m:ctrlPr>
                          </m:sSupPr>
                          <m:e>
                            <m:d>
                              <m:dPr>
                                <m:ctrlPr>
                                  <a:rPr lang="fr-FR" sz="1050" i="1">
                                    <a:latin typeface="Cambria Math" panose="02040503050406030204" pitchFamily="18" charset="0"/>
                                  </a:rPr>
                                </m:ctrlPr>
                              </m:dPr>
                              <m:e>
                                <m:sSub>
                                  <m:sSubPr>
                                    <m:ctrlPr>
                                      <a:rPr lang="fr-FR" sz="1050" i="1">
                                        <a:latin typeface="Cambria Math" panose="02040503050406030204" pitchFamily="18" charset="0"/>
                                      </a:rPr>
                                    </m:ctrlPr>
                                  </m:sSubPr>
                                  <m:e>
                                    <m:r>
                                      <a:rPr lang="fr-FR" sz="1050" i="1">
                                        <a:latin typeface="Cambria Math" panose="02040503050406030204" pitchFamily="18" charset="0"/>
                                      </a:rPr>
                                      <m:t>𝑦</m:t>
                                    </m:r>
                                  </m:e>
                                  <m:sub>
                                    <m:r>
                                      <a:rPr lang="fr-FR" sz="1050" i="1">
                                        <a:latin typeface="Cambria Math" panose="02040503050406030204" pitchFamily="18" charset="0"/>
                                      </a:rPr>
                                      <m:t>2</m:t>
                                    </m:r>
                                  </m:sub>
                                </m:sSub>
                                <m:r>
                                  <a:rPr lang="fr-FR" sz="1050" i="1">
                                    <a:latin typeface="Cambria Math" panose="02040503050406030204" pitchFamily="18" charset="0"/>
                                  </a:rPr>
                                  <m:t>−</m:t>
                                </m:r>
                                <m:sSub>
                                  <m:sSubPr>
                                    <m:ctrlPr>
                                      <a:rPr lang="fr-FR" sz="1050" i="1">
                                        <a:latin typeface="Cambria Math" panose="02040503050406030204" pitchFamily="18" charset="0"/>
                                      </a:rPr>
                                    </m:ctrlPr>
                                  </m:sSubPr>
                                  <m:e>
                                    <m:r>
                                      <a:rPr lang="fr-FR" sz="1050" i="1">
                                        <a:latin typeface="Cambria Math" panose="02040503050406030204" pitchFamily="18" charset="0"/>
                                      </a:rPr>
                                      <m:t>𝑦</m:t>
                                    </m:r>
                                  </m:e>
                                  <m:sub>
                                    <m:r>
                                      <a:rPr lang="fr-FR" sz="1050" i="1">
                                        <a:latin typeface="Cambria Math" panose="02040503050406030204" pitchFamily="18" charset="0"/>
                                      </a:rPr>
                                      <m:t>1</m:t>
                                    </m:r>
                                  </m:sub>
                                </m:sSub>
                              </m:e>
                            </m:d>
                          </m:e>
                          <m:sup>
                            <m:r>
                              <a:rPr lang="fr-FR" sz="1050" i="1">
                                <a:latin typeface="Cambria Math" panose="02040503050406030204" pitchFamily="18" charset="0"/>
                              </a:rPr>
                              <m:t>2</m:t>
                            </m:r>
                          </m:sup>
                        </m:sSup>
                      </m:e>
                    </m:rad>
                  </m:oMath>
                </a14:m>
                <a:endParaRPr lang="fr-FR" sz="1050" dirty="0"/>
              </a:p>
              <a:p>
                <a:pPr algn="just">
                  <a:lnSpc>
                    <a:spcPct val="100000"/>
                  </a:lnSpc>
                  <a:buClr>
                    <a:schemeClr val="accent2"/>
                  </a:buClr>
                </a:pPr>
                <a:r>
                  <a:rPr lang="fr-FR" sz="1350" dirty="0"/>
                  <a:t>On choisit par exemple la voiture Valiant (il faut bien commencer quelque part).</a:t>
                </a:r>
              </a:p>
              <a:p>
                <a:pPr algn="just">
                  <a:lnSpc>
                    <a:spcPct val="100000"/>
                  </a:lnSpc>
                  <a:buClr>
                    <a:schemeClr val="accent2"/>
                  </a:buClr>
                </a:pPr>
                <a:r>
                  <a:rPr lang="fr-FR" sz="1350" dirty="0"/>
                  <a:t>On retire </a:t>
                </a:r>
                <a14:m>
                  <m:oMath xmlns:m="http://schemas.openxmlformats.org/officeDocument/2006/math">
                    <m:r>
                      <a:rPr lang="fr-FR" sz="1350" i="1" dirty="0">
                        <a:latin typeface="Cambria Math" panose="02040503050406030204" pitchFamily="18" charset="0"/>
                      </a:rPr>
                      <m:t>𝑦</m:t>
                    </m:r>
                  </m:oMath>
                </a14:m>
                <a:r>
                  <a:rPr lang="fr-FR" sz="1350" dirty="0"/>
                  <a:t> qui ne doit surtout pas entrer en compte pendant le calcul de la distance euclidienne.</a:t>
                </a:r>
              </a:p>
              <a:p>
                <a:pPr algn="just">
                  <a:lnSpc>
                    <a:spcPct val="100000"/>
                  </a:lnSpc>
                  <a:buClr>
                    <a:schemeClr val="accent2"/>
                  </a:buClr>
                </a:pPr>
                <a:r>
                  <a:rPr lang="fr-FR" sz="1350" dirty="0"/>
                  <a:t>Il nous restera donc comme features : </a:t>
                </a: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1</m:t>
                        </m:r>
                      </m:sub>
                    </m:sSub>
                  </m:oMath>
                </a14:m>
                <a:r>
                  <a:rPr lang="fr-FR" sz="1350" dirty="0"/>
                  <a:t> et </a:t>
                </a: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2</m:t>
                        </m:r>
                      </m:sub>
                    </m:sSub>
                  </m:oMath>
                </a14:m>
                <a:endParaRPr lang="fr-FR" sz="1350" dirty="0"/>
              </a:p>
            </p:txBody>
          </p:sp>
        </mc:Choice>
        <mc:Fallback xmlns="">
          <p:sp>
            <p:nvSpPr>
              <p:cNvPr id="8" name="Content Placeholder 15">
                <a:extLst>
                  <a:ext uri="{FF2B5EF4-FFF2-40B4-BE49-F238E27FC236}">
                    <a16:creationId xmlns:a16="http://schemas.microsoft.com/office/drawing/2014/main" id="{24462727-E0A6-4EC6-B763-388B00CC0707}"/>
                  </a:ext>
                </a:extLst>
              </p:cNvPr>
              <p:cNvSpPr txBox="1">
                <a:spLocks noRot="1" noChangeAspect="1" noMove="1" noResize="1" noEditPoints="1" noAdjustHandles="1" noChangeArrowheads="1" noChangeShapeType="1" noTextEdit="1"/>
              </p:cNvSpPr>
              <p:nvPr/>
            </p:nvSpPr>
            <p:spPr>
              <a:xfrm>
                <a:off x="746911" y="1391970"/>
                <a:ext cx="5891400" cy="1917761"/>
              </a:xfrm>
              <a:prstGeom prst="rect">
                <a:avLst/>
              </a:prstGeom>
              <a:blipFill>
                <a:blip r:embed="rId2"/>
                <a:stretch>
                  <a:fillRect l="-104" t="-317" r="-207" b="-12381"/>
                </a:stretch>
              </a:blipFill>
            </p:spPr>
            <p:txBody>
              <a:bodyPr/>
              <a:lstStyle/>
              <a:p>
                <a:r>
                  <a:rPr lang="fr-FR">
                    <a:noFill/>
                  </a:rPr>
                  <a:t> </a:t>
                </a:r>
              </a:p>
            </p:txBody>
          </p:sp>
        </mc:Fallback>
      </mc:AlternateContent>
      <p:grpSp>
        <p:nvGrpSpPr>
          <p:cNvPr id="2" name="Groupe 1">
            <a:extLst>
              <a:ext uri="{FF2B5EF4-FFF2-40B4-BE49-F238E27FC236}">
                <a16:creationId xmlns:a16="http://schemas.microsoft.com/office/drawing/2014/main" id="{82B89D65-4CB1-486F-9E36-D29B77BFBAEE}"/>
              </a:ext>
            </a:extLst>
          </p:cNvPr>
          <p:cNvGrpSpPr/>
          <p:nvPr/>
        </p:nvGrpSpPr>
        <p:grpSpPr>
          <a:xfrm>
            <a:off x="4908055" y="3532800"/>
            <a:ext cx="2537031" cy="1450106"/>
            <a:chOff x="5849692" y="4599246"/>
            <a:chExt cx="3382708" cy="1933474"/>
          </a:xfrm>
        </p:grpSpPr>
        <p:sp>
          <p:nvSpPr>
            <p:cNvPr id="6" name="Organigramme : Connecteur 5">
              <a:extLst>
                <a:ext uri="{FF2B5EF4-FFF2-40B4-BE49-F238E27FC236}">
                  <a16:creationId xmlns:a16="http://schemas.microsoft.com/office/drawing/2014/main" id="{A7B1176F-9B68-4781-99FD-6FA1B505C89C}"/>
                </a:ext>
              </a:extLst>
            </p:cNvPr>
            <p:cNvSpPr/>
            <p:nvPr/>
          </p:nvSpPr>
          <p:spPr>
            <a:xfrm>
              <a:off x="7584535" y="5442257"/>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 name="Organigramme : Connecteur 6">
              <a:extLst>
                <a:ext uri="{FF2B5EF4-FFF2-40B4-BE49-F238E27FC236}">
                  <a16:creationId xmlns:a16="http://schemas.microsoft.com/office/drawing/2014/main" id="{E4F610F1-CEBA-46EA-B828-E71486EF447E}"/>
                </a:ext>
              </a:extLst>
            </p:cNvPr>
            <p:cNvSpPr/>
            <p:nvPr/>
          </p:nvSpPr>
          <p:spPr>
            <a:xfrm>
              <a:off x="7584534" y="5633222"/>
              <a:ext cx="133847" cy="141136"/>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nvGrpSpPr>
            <p:cNvPr id="9" name="Groupe 8">
              <a:extLst>
                <a:ext uri="{FF2B5EF4-FFF2-40B4-BE49-F238E27FC236}">
                  <a16:creationId xmlns:a16="http://schemas.microsoft.com/office/drawing/2014/main" id="{55FE53F1-07EB-4120-8A25-CEF5CB280E64}"/>
                </a:ext>
              </a:extLst>
            </p:cNvPr>
            <p:cNvGrpSpPr/>
            <p:nvPr/>
          </p:nvGrpSpPr>
          <p:grpSpPr>
            <a:xfrm>
              <a:off x="5946633" y="4599246"/>
              <a:ext cx="3285767" cy="1933474"/>
              <a:chOff x="2121833" y="2346570"/>
              <a:chExt cx="4942895" cy="2995722"/>
            </a:xfrm>
          </p:grpSpPr>
          <p:cxnSp>
            <p:nvCxnSpPr>
              <p:cNvPr id="10" name="Connecteur droit avec flèche 9">
                <a:extLst>
                  <a:ext uri="{FF2B5EF4-FFF2-40B4-BE49-F238E27FC236}">
                    <a16:creationId xmlns:a16="http://schemas.microsoft.com/office/drawing/2014/main" id="{E2E63C7B-E81D-4360-853C-3A2A5FC38E74}"/>
                  </a:ext>
                </a:extLst>
              </p:cNvPr>
              <p:cNvCxnSpPr/>
              <p:nvPr/>
            </p:nvCxnSpPr>
            <p:spPr>
              <a:xfrm>
                <a:off x="2623930" y="5041128"/>
                <a:ext cx="44407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a:extLst>
                  <a:ext uri="{FF2B5EF4-FFF2-40B4-BE49-F238E27FC236}">
                    <a16:creationId xmlns:a16="http://schemas.microsoft.com/office/drawing/2014/main" id="{26B4FF96-8B0D-409F-BC54-99BD2D929C36}"/>
                  </a:ext>
                </a:extLst>
              </p:cNvPr>
              <p:cNvCxnSpPr>
                <a:cxnSpLocks/>
              </p:cNvCxnSpPr>
              <p:nvPr/>
            </p:nvCxnSpPr>
            <p:spPr>
              <a:xfrm flipV="1">
                <a:off x="2776330" y="2409245"/>
                <a:ext cx="0" cy="2784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85508BC1-9B02-4A5E-B94C-D3AED31396DA}"/>
                  </a:ext>
                </a:extLst>
              </p:cNvPr>
              <p:cNvSpPr/>
              <p:nvPr/>
            </p:nvSpPr>
            <p:spPr>
              <a:xfrm>
                <a:off x="5658018" y="5128487"/>
                <a:ext cx="813510" cy="21380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disp</a:t>
                </a:r>
              </a:p>
            </p:txBody>
          </p:sp>
          <p:sp>
            <p:nvSpPr>
              <p:cNvPr id="13" name="Rectangle 12">
                <a:extLst>
                  <a:ext uri="{FF2B5EF4-FFF2-40B4-BE49-F238E27FC236}">
                    <a16:creationId xmlns:a16="http://schemas.microsoft.com/office/drawing/2014/main" id="{FA96DAAE-0B14-40B4-A7B9-AB46AAF84468}"/>
                  </a:ext>
                </a:extLst>
              </p:cNvPr>
              <p:cNvSpPr/>
              <p:nvPr/>
            </p:nvSpPr>
            <p:spPr>
              <a:xfrm>
                <a:off x="2121833" y="2346570"/>
                <a:ext cx="569022" cy="30230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600" dirty="0"/>
                  <a:t>cyl</a:t>
                </a:r>
                <a:endParaRPr lang="fr-FR" sz="825" dirty="0"/>
              </a:p>
            </p:txBody>
          </p:sp>
        </p:grpSp>
        <p:cxnSp>
          <p:nvCxnSpPr>
            <p:cNvPr id="15" name="Connecteur droit avec flèche 14">
              <a:extLst>
                <a:ext uri="{FF2B5EF4-FFF2-40B4-BE49-F238E27FC236}">
                  <a16:creationId xmlns:a16="http://schemas.microsoft.com/office/drawing/2014/main" id="{85EC0FF1-0E2C-40B5-BE92-22D2808DE65A}"/>
                </a:ext>
              </a:extLst>
            </p:cNvPr>
            <p:cNvCxnSpPr>
              <a:cxnSpLocks/>
            </p:cNvCxnSpPr>
            <p:nvPr/>
          </p:nvCxnSpPr>
          <p:spPr>
            <a:xfrm flipH="1" flipV="1">
              <a:off x="7651458" y="5489027"/>
              <a:ext cx="1" cy="835640"/>
            </a:xfrm>
            <a:prstGeom prst="straightConnector1">
              <a:avLst/>
            </a:prstGeom>
            <a:ln>
              <a:prstDash val="dash"/>
              <a:headEnd type="oval"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4700A83A-9715-4780-962E-5C1EFFE07A5A}"/>
                    </a:ext>
                  </a:extLst>
                </p:cNvPr>
                <p:cNvSpPr/>
                <p:nvPr/>
              </p:nvSpPr>
              <p:spPr>
                <a:xfrm>
                  <a:off x="7239115" y="6377858"/>
                  <a:ext cx="828000" cy="138044"/>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 xmlns:m="http://schemas.openxmlformats.org/officeDocument/2006/math">
                      <m:sSub>
                        <m:sSubPr>
                          <m:ctrlPr>
                            <a:rPr lang="fr-FR" sz="825" i="1">
                              <a:latin typeface="Cambria Math" panose="02040503050406030204" pitchFamily="18" charset="0"/>
                            </a:rPr>
                          </m:ctrlPr>
                        </m:sSubPr>
                        <m:e>
                          <m:r>
                            <a:rPr lang="fr-FR" sz="825" i="1">
                              <a:latin typeface="Cambria Math" panose="02040503050406030204" pitchFamily="18" charset="0"/>
                            </a:rPr>
                            <m:t>𝑥</m:t>
                          </m:r>
                        </m:e>
                        <m:sub>
                          <m:r>
                            <a:rPr lang="fr-FR" sz="825" i="1">
                              <a:latin typeface="Cambria Math" panose="02040503050406030204" pitchFamily="18" charset="0"/>
                            </a:rPr>
                            <m:t>1</m:t>
                          </m:r>
                        </m:sub>
                      </m:sSub>
                    </m:oMath>
                  </a14:m>
                  <a:r>
                    <a:rPr lang="fr-FR" sz="825" dirty="0"/>
                    <a:t>, </a:t>
                  </a:r>
                  <a14:m>
                    <m:oMath xmlns:m="http://schemas.openxmlformats.org/officeDocument/2006/math">
                      <m:sSub>
                        <m:sSubPr>
                          <m:ctrlPr>
                            <a:rPr lang="fr-FR" sz="825" i="1">
                              <a:latin typeface="Cambria Math" panose="02040503050406030204" pitchFamily="18" charset="0"/>
                            </a:rPr>
                          </m:ctrlPr>
                        </m:sSubPr>
                        <m:e>
                          <m:r>
                            <a:rPr lang="fr-FR" sz="825" i="1">
                              <a:latin typeface="Cambria Math" panose="02040503050406030204" pitchFamily="18" charset="0"/>
                            </a:rPr>
                            <m:t>𝑥</m:t>
                          </m:r>
                        </m:e>
                        <m:sub>
                          <m:r>
                            <a:rPr lang="fr-FR" sz="825" i="1">
                              <a:latin typeface="Cambria Math" panose="02040503050406030204" pitchFamily="18" charset="0"/>
                            </a:rPr>
                            <m:t>2</m:t>
                          </m:r>
                        </m:sub>
                      </m:sSub>
                    </m:oMath>
                  </a14:m>
                  <a:endParaRPr lang="fr-FR" sz="825" dirty="0"/>
                </a:p>
              </p:txBody>
            </p:sp>
          </mc:Choice>
          <mc:Fallback xmlns="">
            <p:sp>
              <p:nvSpPr>
                <p:cNvPr id="16" name="Rectangle 15">
                  <a:extLst>
                    <a:ext uri="{FF2B5EF4-FFF2-40B4-BE49-F238E27FC236}">
                      <a16:creationId xmlns:a16="http://schemas.microsoft.com/office/drawing/2014/main" id="{4700A83A-9715-4780-962E-5C1EFFE07A5A}"/>
                    </a:ext>
                  </a:extLst>
                </p:cNvPr>
                <p:cNvSpPr>
                  <a:spLocks noRot="1" noChangeAspect="1" noMove="1" noResize="1" noEditPoints="1" noAdjustHandles="1" noChangeArrowheads="1" noChangeShapeType="1" noTextEdit="1"/>
                </p:cNvSpPr>
                <p:nvPr/>
              </p:nvSpPr>
              <p:spPr>
                <a:xfrm>
                  <a:off x="7239115" y="6377858"/>
                  <a:ext cx="828000" cy="138044"/>
                </a:xfrm>
                <a:prstGeom prst="rect">
                  <a:avLst/>
                </a:prstGeom>
                <a:blipFill>
                  <a:blip r:embed="rId5"/>
                  <a:stretch>
                    <a:fillRect t="-43478" b="-73913"/>
                  </a:stretch>
                </a:blipFill>
                <a:ln w="9525" cap="flat" cmpd="sng" algn="ctr">
                  <a:noFill/>
                  <a:prstDash val="solid"/>
                  <a:round/>
                  <a:headEnd type="none" w="med" len="med"/>
                  <a:tailEnd type="none" w="med" len="med"/>
                </a:ln>
              </p:spPr>
              <p:txBody>
                <a:bodyPr/>
                <a:lstStyle/>
                <a:p>
                  <a:r>
                    <a:rPr lang="fr-FR">
                      <a:noFill/>
                    </a:rPr>
                    <a:t> </a:t>
                  </a:r>
                </a:p>
              </p:txBody>
            </p:sp>
          </mc:Fallback>
        </mc:AlternateContent>
        <p:cxnSp>
          <p:nvCxnSpPr>
            <p:cNvPr id="17" name="Connecteur droit avec flèche 16">
              <a:extLst>
                <a:ext uri="{FF2B5EF4-FFF2-40B4-BE49-F238E27FC236}">
                  <a16:creationId xmlns:a16="http://schemas.microsoft.com/office/drawing/2014/main" id="{20C91F43-C121-4A2C-B63D-DF84184221BB}"/>
                </a:ext>
              </a:extLst>
            </p:cNvPr>
            <p:cNvCxnSpPr>
              <a:cxnSpLocks/>
            </p:cNvCxnSpPr>
            <p:nvPr/>
          </p:nvCxnSpPr>
          <p:spPr>
            <a:xfrm>
              <a:off x="6381708" y="5703419"/>
              <a:ext cx="1269750" cy="0"/>
            </a:xfrm>
            <a:prstGeom prst="straightConnector1">
              <a:avLst/>
            </a:prstGeom>
            <a:ln>
              <a:prstDash val="dash"/>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Connecteur droit avec flèche 17">
              <a:extLst>
                <a:ext uri="{FF2B5EF4-FFF2-40B4-BE49-F238E27FC236}">
                  <a16:creationId xmlns:a16="http://schemas.microsoft.com/office/drawing/2014/main" id="{93E0EE87-F957-4D90-AF20-6019A8071D9F}"/>
                </a:ext>
              </a:extLst>
            </p:cNvPr>
            <p:cNvCxnSpPr>
              <a:cxnSpLocks/>
            </p:cNvCxnSpPr>
            <p:nvPr/>
          </p:nvCxnSpPr>
          <p:spPr>
            <a:xfrm>
              <a:off x="6381708" y="5499095"/>
              <a:ext cx="1269750" cy="0"/>
            </a:xfrm>
            <a:prstGeom prst="straightConnector1">
              <a:avLst/>
            </a:prstGeom>
            <a:ln>
              <a:prstDash val="dash"/>
              <a:headEnd type="oval"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ACC5E3C5-08BC-4C22-A7F0-E985398E5546}"/>
                    </a:ext>
                  </a:extLst>
                </p:cNvPr>
                <p:cNvSpPr/>
                <p:nvPr/>
              </p:nvSpPr>
              <p:spPr>
                <a:xfrm>
                  <a:off x="5849692" y="5659033"/>
                  <a:ext cx="516441" cy="11358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fr-FR" sz="825" i="1">
                                <a:latin typeface="Cambria Math" panose="02040503050406030204" pitchFamily="18" charset="0"/>
                              </a:rPr>
                            </m:ctrlPr>
                          </m:sSubPr>
                          <m:e>
                            <m:r>
                              <a:rPr lang="fr-FR" sz="825" i="1">
                                <a:latin typeface="Cambria Math" panose="02040503050406030204" pitchFamily="18" charset="0"/>
                              </a:rPr>
                              <m:t>𝑦</m:t>
                            </m:r>
                          </m:e>
                          <m:sub>
                            <m:r>
                              <a:rPr lang="fr-FR" sz="825" i="1">
                                <a:latin typeface="Cambria Math" panose="02040503050406030204" pitchFamily="18" charset="0"/>
                              </a:rPr>
                              <m:t>1</m:t>
                            </m:r>
                          </m:sub>
                        </m:sSub>
                      </m:oMath>
                    </m:oMathPara>
                  </a14:m>
                  <a:endParaRPr lang="fr-FR" sz="825" dirty="0"/>
                </a:p>
              </p:txBody>
            </p:sp>
          </mc:Choice>
          <mc:Fallback xmlns="">
            <p:sp>
              <p:nvSpPr>
                <p:cNvPr id="19" name="Rectangle 18">
                  <a:extLst>
                    <a:ext uri="{FF2B5EF4-FFF2-40B4-BE49-F238E27FC236}">
                      <a16:creationId xmlns:a16="http://schemas.microsoft.com/office/drawing/2014/main" id="{ACC5E3C5-08BC-4C22-A7F0-E985398E5546}"/>
                    </a:ext>
                  </a:extLst>
                </p:cNvPr>
                <p:cNvSpPr>
                  <a:spLocks noRot="1" noChangeAspect="1" noMove="1" noResize="1" noEditPoints="1" noAdjustHandles="1" noChangeArrowheads="1" noChangeShapeType="1" noTextEdit="1"/>
                </p:cNvSpPr>
                <p:nvPr/>
              </p:nvSpPr>
              <p:spPr>
                <a:xfrm>
                  <a:off x="5849692" y="5659033"/>
                  <a:ext cx="516441" cy="113589"/>
                </a:xfrm>
                <a:prstGeom prst="rect">
                  <a:avLst/>
                </a:prstGeom>
                <a:blipFill>
                  <a:blip r:embed="rId6"/>
                  <a:stretch>
                    <a:fillRect b="-63158"/>
                  </a:stretch>
                </a:blipFill>
                <a:ln w="9525" cap="flat" cmpd="sng" algn="ctr">
                  <a:noFill/>
                  <a:prstDash val="solid"/>
                  <a:round/>
                  <a:headEnd type="none" w="med" len="med"/>
                  <a:tailEnd type="none" w="med" len="me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D9AEBCA4-B623-4AF9-A9A7-AC1F2CE1E115}"/>
                    </a:ext>
                  </a:extLst>
                </p:cNvPr>
                <p:cNvSpPr/>
                <p:nvPr/>
              </p:nvSpPr>
              <p:spPr>
                <a:xfrm>
                  <a:off x="5876021" y="5374416"/>
                  <a:ext cx="450460" cy="233440"/>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fr-FR" sz="825" i="1">
                                <a:latin typeface="Cambria Math" panose="02040503050406030204" pitchFamily="18" charset="0"/>
                              </a:rPr>
                            </m:ctrlPr>
                          </m:sSubPr>
                          <m:e>
                            <m:r>
                              <a:rPr lang="fr-FR" sz="825" i="1">
                                <a:latin typeface="Cambria Math" panose="02040503050406030204" pitchFamily="18" charset="0"/>
                              </a:rPr>
                              <m:t>𝑦</m:t>
                            </m:r>
                          </m:e>
                          <m:sub>
                            <m:r>
                              <a:rPr lang="fr-FR" sz="825" i="1">
                                <a:latin typeface="Cambria Math" panose="02040503050406030204" pitchFamily="18" charset="0"/>
                              </a:rPr>
                              <m:t>2</m:t>
                            </m:r>
                          </m:sub>
                        </m:sSub>
                      </m:oMath>
                    </m:oMathPara>
                  </a14:m>
                  <a:endParaRPr lang="fr-FR" sz="825" dirty="0"/>
                </a:p>
              </p:txBody>
            </p:sp>
          </mc:Choice>
          <mc:Fallback xmlns="">
            <p:sp>
              <p:nvSpPr>
                <p:cNvPr id="20" name="Rectangle 19">
                  <a:extLst>
                    <a:ext uri="{FF2B5EF4-FFF2-40B4-BE49-F238E27FC236}">
                      <a16:creationId xmlns:a16="http://schemas.microsoft.com/office/drawing/2014/main" id="{D9AEBCA4-B623-4AF9-A9A7-AC1F2CE1E115}"/>
                    </a:ext>
                  </a:extLst>
                </p:cNvPr>
                <p:cNvSpPr>
                  <a:spLocks noRot="1" noChangeAspect="1" noMove="1" noResize="1" noEditPoints="1" noAdjustHandles="1" noChangeArrowheads="1" noChangeShapeType="1" noTextEdit="1"/>
                </p:cNvSpPr>
                <p:nvPr/>
              </p:nvSpPr>
              <p:spPr>
                <a:xfrm>
                  <a:off x="5876021" y="5374416"/>
                  <a:ext cx="450460" cy="233440"/>
                </a:xfrm>
                <a:prstGeom prst="rect">
                  <a:avLst/>
                </a:prstGeom>
                <a:blipFill>
                  <a:blip r:embed="rId7"/>
                  <a:stretch>
                    <a:fillRect b="-7895"/>
                  </a:stretch>
                </a:blipFill>
                <a:ln w="9525" cap="flat" cmpd="sng" algn="ctr">
                  <a:noFill/>
                  <a:prstDash val="solid"/>
                  <a:round/>
                  <a:headEnd type="none" w="med" len="med"/>
                  <a:tailEnd type="none" w="med" len="med"/>
                </a:ln>
              </p:spPr>
              <p:txBody>
                <a:bodyPr/>
                <a:lstStyle/>
                <a:p>
                  <a:r>
                    <a:rPr lang="fr-FR">
                      <a:noFill/>
                    </a:rPr>
                    <a:t> </a:t>
                  </a:r>
                </a:p>
              </p:txBody>
            </p:sp>
          </mc:Fallback>
        </mc:AlternateContent>
        <p:sp>
          <p:nvSpPr>
            <p:cNvPr id="22" name="Organigramme : Connecteur 21">
              <a:extLst>
                <a:ext uri="{FF2B5EF4-FFF2-40B4-BE49-F238E27FC236}">
                  <a16:creationId xmlns:a16="http://schemas.microsoft.com/office/drawing/2014/main" id="{978626C9-CF83-4E77-90A0-0AD4427D1C38}"/>
                </a:ext>
              </a:extLst>
            </p:cNvPr>
            <p:cNvSpPr/>
            <p:nvPr/>
          </p:nvSpPr>
          <p:spPr>
            <a:xfrm>
              <a:off x="6815876" y="484649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3" name="Organigramme : Connecteur 22">
              <a:extLst>
                <a:ext uri="{FF2B5EF4-FFF2-40B4-BE49-F238E27FC236}">
                  <a16:creationId xmlns:a16="http://schemas.microsoft.com/office/drawing/2014/main" id="{73D0030C-99F7-47A0-A099-FE317554C16E}"/>
                </a:ext>
              </a:extLst>
            </p:cNvPr>
            <p:cNvSpPr/>
            <p:nvPr/>
          </p:nvSpPr>
          <p:spPr>
            <a:xfrm>
              <a:off x="7055511" y="500559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4" name="Organigramme : Connecteur 23">
              <a:extLst>
                <a:ext uri="{FF2B5EF4-FFF2-40B4-BE49-F238E27FC236}">
                  <a16:creationId xmlns:a16="http://schemas.microsoft.com/office/drawing/2014/main" id="{4DE086A9-DA3E-49A2-B6F2-CF5E74128364}"/>
                </a:ext>
              </a:extLst>
            </p:cNvPr>
            <p:cNvSpPr/>
            <p:nvPr/>
          </p:nvSpPr>
          <p:spPr>
            <a:xfrm>
              <a:off x="7189358" y="511780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5" name="Organigramme : Connecteur 24">
              <a:extLst>
                <a:ext uri="{FF2B5EF4-FFF2-40B4-BE49-F238E27FC236}">
                  <a16:creationId xmlns:a16="http://schemas.microsoft.com/office/drawing/2014/main" id="{953D629A-6B17-4AFF-93C2-F76F09357491}"/>
                </a:ext>
              </a:extLst>
            </p:cNvPr>
            <p:cNvSpPr/>
            <p:nvPr/>
          </p:nvSpPr>
          <p:spPr>
            <a:xfrm>
              <a:off x="8106558" y="581973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6" name="Organigramme : Connecteur 25">
              <a:extLst>
                <a:ext uri="{FF2B5EF4-FFF2-40B4-BE49-F238E27FC236}">
                  <a16:creationId xmlns:a16="http://schemas.microsoft.com/office/drawing/2014/main" id="{540DF022-DF4A-406C-8554-F7B9F64723B4}"/>
                </a:ext>
              </a:extLst>
            </p:cNvPr>
            <p:cNvSpPr/>
            <p:nvPr/>
          </p:nvSpPr>
          <p:spPr>
            <a:xfrm>
              <a:off x="8197925" y="558852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7" name="Organigramme : Connecteur 26">
              <a:extLst>
                <a:ext uri="{FF2B5EF4-FFF2-40B4-BE49-F238E27FC236}">
                  <a16:creationId xmlns:a16="http://schemas.microsoft.com/office/drawing/2014/main" id="{6FAB3A84-FBDA-4654-847F-D51BB904B4AC}"/>
                </a:ext>
              </a:extLst>
            </p:cNvPr>
            <p:cNvSpPr/>
            <p:nvPr/>
          </p:nvSpPr>
          <p:spPr>
            <a:xfrm>
              <a:off x="8452629" y="550558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8" name="Organigramme : Connecteur 27">
              <a:extLst>
                <a:ext uri="{FF2B5EF4-FFF2-40B4-BE49-F238E27FC236}">
                  <a16:creationId xmlns:a16="http://schemas.microsoft.com/office/drawing/2014/main" id="{D5736952-C9F2-4A82-9949-7FB3B9678D39}"/>
                </a:ext>
              </a:extLst>
            </p:cNvPr>
            <p:cNvSpPr/>
            <p:nvPr/>
          </p:nvSpPr>
          <p:spPr>
            <a:xfrm>
              <a:off x="6766577" y="5914348"/>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9" name="Organigramme : Connecteur 28">
              <a:extLst>
                <a:ext uri="{FF2B5EF4-FFF2-40B4-BE49-F238E27FC236}">
                  <a16:creationId xmlns:a16="http://schemas.microsoft.com/office/drawing/2014/main" id="{95F8B4FD-F6EE-4B13-B8C5-E4FE5E1A3803}"/>
                </a:ext>
              </a:extLst>
            </p:cNvPr>
            <p:cNvSpPr/>
            <p:nvPr/>
          </p:nvSpPr>
          <p:spPr>
            <a:xfrm>
              <a:off x="7383764" y="5749165"/>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2" name="Légende : flèche courbée 31">
              <a:extLst>
                <a:ext uri="{FF2B5EF4-FFF2-40B4-BE49-F238E27FC236}">
                  <a16:creationId xmlns:a16="http://schemas.microsoft.com/office/drawing/2014/main" id="{0CE6879F-2DFC-4AE9-8924-C47E4C1721C9}"/>
                </a:ext>
              </a:extLst>
            </p:cNvPr>
            <p:cNvSpPr/>
            <p:nvPr/>
          </p:nvSpPr>
          <p:spPr>
            <a:xfrm>
              <a:off x="8393182" y="5156557"/>
              <a:ext cx="684000" cy="219102"/>
            </a:xfrm>
            <a:prstGeom prst="borderCallout2">
              <a:avLst>
                <a:gd name="adj1" fmla="val 36070"/>
                <a:gd name="adj2" fmla="val -5468"/>
                <a:gd name="adj3" fmla="val 38154"/>
                <a:gd name="adj4" fmla="val -27343"/>
                <a:gd name="adj5" fmla="val 221286"/>
                <a:gd name="adj6" fmla="val -93072"/>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825" dirty="0"/>
                <a:t>Valiant</a:t>
              </a:r>
            </a:p>
          </p:txBody>
        </p:sp>
      </p:grpSp>
      <p:sp>
        <p:nvSpPr>
          <p:cNvPr id="33" name="Title 13">
            <a:extLst>
              <a:ext uri="{FF2B5EF4-FFF2-40B4-BE49-F238E27FC236}">
                <a16:creationId xmlns:a16="http://schemas.microsoft.com/office/drawing/2014/main" id="{BD743E76-978E-424A-BE10-DDA7F8301EDB}"/>
              </a:ext>
            </a:extLst>
          </p:cNvPr>
          <p:cNvSpPr txBox="1">
            <a:spLocks/>
          </p:cNvSpPr>
          <p:nvPr/>
        </p:nvSpPr>
        <p:spPr>
          <a:xfrm>
            <a:off x="378638" y="959489"/>
            <a:ext cx="6249917" cy="24011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KNN pour la régression</a:t>
            </a:r>
          </a:p>
        </p:txBody>
      </p:sp>
    </p:spTree>
    <p:extLst>
      <p:ext uri="{BB962C8B-B14F-4D97-AF65-F5344CB8AC3E}">
        <p14:creationId xmlns:p14="http://schemas.microsoft.com/office/powerpoint/2010/main" val="67271619"/>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194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 :</a:t>
            </a:r>
            <a:r>
              <a:rPr lang="fr-FR" sz="2100" b="0" dirty="0"/>
              <a:t> fonctionnement</a:t>
            </a:r>
          </a:p>
        </p:txBody>
      </p:sp>
      <mc:AlternateContent xmlns:mc="http://schemas.openxmlformats.org/markup-compatibility/2006" xmlns:a14="http://schemas.microsoft.com/office/drawing/2010/main">
        <mc:Choice Requires="a14">
          <p:graphicFrame>
            <p:nvGraphicFramePr>
              <p:cNvPr id="4" name="Espace réservé du contenu 3">
                <a:extLst>
                  <a:ext uri="{FF2B5EF4-FFF2-40B4-BE49-F238E27FC236}">
                    <a16:creationId xmlns:a16="http://schemas.microsoft.com/office/drawing/2014/main" id="{D29E517A-9481-477B-991D-761E27AA0227}"/>
                  </a:ext>
                </a:extLst>
              </p:cNvPr>
              <p:cNvGraphicFramePr>
                <a:graphicFrameLocks noGrp="1"/>
              </p:cNvGraphicFramePr>
              <p:nvPr>
                <p:ph sz="half" idx="13"/>
                <p:extLst>
                  <p:ext uri="{D42A27DB-BD31-4B8C-83A1-F6EECF244321}">
                    <p14:modId xmlns:p14="http://schemas.microsoft.com/office/powerpoint/2010/main" val="2513630174"/>
                  </p:ext>
                </p:extLst>
              </p:nvPr>
            </p:nvGraphicFramePr>
            <p:xfrm>
              <a:off x="1016690" y="3159001"/>
              <a:ext cx="3507400" cy="1725283"/>
            </p:xfrm>
            <a:graphic>
              <a:graphicData uri="http://schemas.openxmlformats.org/drawingml/2006/table">
                <a:tbl>
                  <a:tblPr firstRow="1" bandRow="1">
                    <a:tableStyleId>{5C22544A-7EE6-4342-B048-85BDC9FD1C3A}</a:tableStyleId>
                  </a:tblPr>
                  <a:tblGrid>
                    <a:gridCol w="1559183">
                      <a:extLst>
                        <a:ext uri="{9D8B030D-6E8A-4147-A177-3AD203B41FA5}">
                          <a16:colId xmlns:a16="http://schemas.microsoft.com/office/drawing/2014/main" val="2986665876"/>
                        </a:ext>
                      </a:extLst>
                    </a:gridCol>
                    <a:gridCol w="515231">
                      <a:extLst>
                        <a:ext uri="{9D8B030D-6E8A-4147-A177-3AD203B41FA5}">
                          <a16:colId xmlns:a16="http://schemas.microsoft.com/office/drawing/2014/main" val="3339985376"/>
                        </a:ext>
                      </a:extLst>
                    </a:gridCol>
                    <a:gridCol w="488396">
                      <a:extLst>
                        <a:ext uri="{9D8B030D-6E8A-4147-A177-3AD203B41FA5}">
                          <a16:colId xmlns:a16="http://schemas.microsoft.com/office/drawing/2014/main" val="421219365"/>
                        </a:ext>
                      </a:extLst>
                    </a:gridCol>
                    <a:gridCol w="472295">
                      <a:extLst>
                        <a:ext uri="{9D8B030D-6E8A-4147-A177-3AD203B41FA5}">
                          <a16:colId xmlns:a16="http://schemas.microsoft.com/office/drawing/2014/main" val="1796812882"/>
                        </a:ext>
                      </a:extLst>
                    </a:gridCol>
                    <a:gridCol w="472295">
                      <a:extLst>
                        <a:ext uri="{9D8B030D-6E8A-4147-A177-3AD203B41FA5}">
                          <a16:colId xmlns:a16="http://schemas.microsoft.com/office/drawing/2014/main" val="1919379843"/>
                        </a:ext>
                      </a:extLst>
                    </a:gridCol>
                  </a:tblGrid>
                  <a:tr h="195530">
                    <a:tc>
                      <a:txBody>
                        <a:bodyPr/>
                        <a:lstStyle/>
                        <a:p>
                          <a:r>
                            <a:rPr lang="fr-FR" sz="900" dirty="0"/>
                            <a:t>Marque</a:t>
                          </a:r>
                        </a:p>
                      </a:txBody>
                      <a:tcPr marL="68580" marR="68580" marT="34290" marB="34290"/>
                    </a:tc>
                    <a:tc>
                      <a:txBody>
                        <a:bodyPr/>
                        <a:lstStyle/>
                        <a:p>
                          <a:r>
                            <a:rPr lang="fr-FR" sz="900" dirty="0"/>
                            <a:t>Mpg</a:t>
                          </a:r>
                        </a:p>
                      </a:txBody>
                      <a:tcPr marL="68580" marR="68580" marT="34290" marB="34290">
                        <a:solidFill>
                          <a:srgbClr val="ED7862"/>
                        </a:solidFill>
                      </a:tcPr>
                    </a:tc>
                    <a:tc>
                      <a:txBody>
                        <a:bodyPr/>
                        <a:lstStyle/>
                        <a:p>
                          <a:r>
                            <a:rPr lang="fr-FR" sz="900" dirty="0"/>
                            <a:t>Cyl</a:t>
                          </a:r>
                        </a:p>
                      </a:txBody>
                      <a:tcPr marL="68580" marR="68580" marT="34290" marB="34290"/>
                    </a:tc>
                    <a:tc>
                      <a:txBody>
                        <a:bodyPr/>
                        <a:lstStyle/>
                        <a:p>
                          <a:r>
                            <a:rPr lang="fr-FR" sz="900" dirty="0"/>
                            <a:t>Disp</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fr-FR" sz="900" i="1" dirty="0" smtClean="0">
                                    <a:latin typeface="Cambria Math" panose="02040503050406030204" pitchFamily="18" charset="0"/>
                                  </a:rPr>
                                  <m:t>𝑑</m:t>
                                </m:r>
                              </m:oMath>
                            </m:oMathPara>
                          </a14:m>
                          <a:endParaRPr lang="fr-FR" sz="900" dirty="0"/>
                        </a:p>
                      </a:txBody>
                      <a:tcPr marL="68580" marR="68580" marT="34290" marB="34290">
                        <a:solidFill>
                          <a:srgbClr val="EAB200"/>
                        </a:solidFill>
                      </a:tcPr>
                    </a:tc>
                    <a:extLst>
                      <a:ext uri="{0D108BD9-81ED-4DB2-BD59-A6C34878D82A}">
                        <a16:rowId xmlns:a16="http://schemas.microsoft.com/office/drawing/2014/main" val="1547968494"/>
                      </a:ext>
                    </a:extLst>
                  </a:tr>
                  <a:tr h="247390">
                    <a:tc>
                      <a:txBody>
                        <a:bodyPr/>
                        <a:lstStyle/>
                        <a:p>
                          <a:r>
                            <a:rPr lang="fr-FR" sz="900" b="1" dirty="0"/>
                            <a:t>Valiant</a:t>
                          </a:r>
                        </a:p>
                      </a:txBody>
                      <a:tcPr marL="68580" marR="68580" marT="34290" marB="34290"/>
                    </a:tc>
                    <a:tc>
                      <a:txBody>
                        <a:bodyPr/>
                        <a:lstStyle/>
                        <a:p>
                          <a:r>
                            <a:rPr lang="fr-FR" sz="900" b="1" dirty="0"/>
                            <a:t>18.1</a:t>
                          </a:r>
                        </a:p>
                      </a:txBody>
                      <a:tcPr marL="68580" marR="68580" marT="34290" marB="34290">
                        <a:solidFill>
                          <a:srgbClr val="ED7862"/>
                        </a:solidFill>
                      </a:tcPr>
                    </a:tc>
                    <a:tc>
                      <a:txBody>
                        <a:bodyPr/>
                        <a:lstStyle/>
                        <a:p>
                          <a:r>
                            <a:rPr lang="fr-FR" sz="900" b="1" dirty="0"/>
                            <a:t>6</a:t>
                          </a:r>
                        </a:p>
                      </a:txBody>
                      <a:tcPr marL="68580" marR="68580" marT="34290" marB="34290"/>
                    </a:tc>
                    <a:tc>
                      <a:txBody>
                        <a:bodyPr/>
                        <a:lstStyle/>
                        <a:p>
                          <a:r>
                            <a:rPr lang="fr-FR" sz="900" b="1" dirty="0"/>
                            <a:t>225</a:t>
                          </a:r>
                        </a:p>
                      </a:txBody>
                      <a:tcPr marL="68580" marR="68580" marT="34290" marB="34290"/>
                    </a:tc>
                    <a:tc>
                      <a:txBody>
                        <a:bodyPr/>
                        <a:lstStyle/>
                        <a:p>
                          <a:r>
                            <a:rPr lang="fr-FR" sz="900" b="1" dirty="0"/>
                            <a:t>0.00</a:t>
                          </a:r>
                        </a:p>
                      </a:txBody>
                      <a:tcPr marL="68580" marR="68580" marT="34290" marB="34290">
                        <a:solidFill>
                          <a:srgbClr val="EAB200"/>
                        </a:solidFill>
                      </a:tcPr>
                    </a:tc>
                    <a:extLst>
                      <a:ext uri="{0D108BD9-81ED-4DB2-BD59-A6C34878D82A}">
                        <a16:rowId xmlns:a16="http://schemas.microsoft.com/office/drawing/2014/main" val="2667085033"/>
                      </a:ext>
                    </a:extLst>
                  </a:tr>
                  <a:tr h="226398">
                    <a:tc>
                      <a:txBody>
                        <a:bodyPr/>
                        <a:lstStyle/>
                        <a:p>
                          <a:r>
                            <a:rPr lang="fr-FR" sz="900" dirty="0"/>
                            <a:t>Hornet 4 Drive</a:t>
                          </a:r>
                        </a:p>
                      </a:txBody>
                      <a:tcPr marL="68580" marR="68580" marT="34290" marB="34290"/>
                    </a:tc>
                    <a:tc>
                      <a:txBody>
                        <a:bodyPr/>
                        <a:lstStyle/>
                        <a:p>
                          <a:r>
                            <a:rPr lang="fr-FR" sz="900" dirty="0"/>
                            <a:t>21.4</a:t>
                          </a:r>
                        </a:p>
                      </a:txBody>
                      <a:tcPr marL="68580" marR="68580" marT="34290" marB="34290">
                        <a:solidFill>
                          <a:srgbClr val="ED7862"/>
                        </a:solidFill>
                      </a:tcPr>
                    </a:tc>
                    <a:tc>
                      <a:txBody>
                        <a:bodyPr/>
                        <a:lstStyle/>
                        <a:p>
                          <a:r>
                            <a:rPr lang="fr-FR" sz="900" dirty="0"/>
                            <a:t>6</a:t>
                          </a:r>
                        </a:p>
                      </a:txBody>
                      <a:tcPr marL="68580" marR="68580" marT="34290" marB="34290"/>
                    </a:tc>
                    <a:tc>
                      <a:txBody>
                        <a:bodyPr/>
                        <a:lstStyle/>
                        <a:p>
                          <a:r>
                            <a:rPr lang="fr-FR" sz="900" dirty="0"/>
                            <a:t>258</a:t>
                          </a:r>
                        </a:p>
                      </a:txBody>
                      <a:tcPr marL="68580" marR="68580" marT="34290" marB="34290"/>
                    </a:tc>
                    <a:tc>
                      <a:txBody>
                        <a:bodyPr/>
                        <a:lstStyle/>
                        <a:p>
                          <a:r>
                            <a:rPr lang="fr-FR" sz="900" dirty="0"/>
                            <a:t>33.00</a:t>
                          </a:r>
                        </a:p>
                      </a:txBody>
                      <a:tcPr marL="68580" marR="68580" marT="34290" marB="34290">
                        <a:solidFill>
                          <a:srgbClr val="EAB200"/>
                        </a:solidFill>
                      </a:tcPr>
                    </a:tc>
                    <a:extLst>
                      <a:ext uri="{0D108BD9-81ED-4DB2-BD59-A6C34878D82A}">
                        <a16:rowId xmlns:a16="http://schemas.microsoft.com/office/drawing/2014/main" val="2556952926"/>
                      </a:ext>
                    </a:extLst>
                  </a:tr>
                  <a:tr h="190549">
                    <a:tc>
                      <a:txBody>
                        <a:bodyPr/>
                        <a:lstStyle/>
                        <a:p>
                          <a:r>
                            <a:rPr lang="fr-FR" sz="900" dirty="0"/>
                            <a:t>Mazda RX4</a:t>
                          </a:r>
                        </a:p>
                      </a:txBody>
                      <a:tcPr marL="68580" marR="68580" marT="34290" marB="34290"/>
                    </a:tc>
                    <a:tc>
                      <a:txBody>
                        <a:bodyPr/>
                        <a:lstStyle/>
                        <a:p>
                          <a:r>
                            <a:rPr lang="fr-FR" sz="900" dirty="0"/>
                            <a:t>21</a:t>
                          </a:r>
                        </a:p>
                      </a:txBody>
                      <a:tcPr marL="68580" marR="68580" marT="34290" marB="34290">
                        <a:solidFill>
                          <a:srgbClr val="ED7862"/>
                        </a:solidFill>
                      </a:tcPr>
                    </a:tc>
                    <a:tc>
                      <a:txBody>
                        <a:bodyPr/>
                        <a:lstStyle/>
                        <a:p>
                          <a:r>
                            <a:rPr lang="fr-FR" sz="900" dirty="0"/>
                            <a:t>6</a:t>
                          </a:r>
                        </a:p>
                      </a:txBody>
                      <a:tcPr marL="68580" marR="68580" marT="34290" marB="34290"/>
                    </a:tc>
                    <a:tc>
                      <a:txBody>
                        <a:bodyPr/>
                        <a:lstStyle/>
                        <a:p>
                          <a:r>
                            <a:rPr lang="fr-FR" sz="900" dirty="0"/>
                            <a:t>160</a:t>
                          </a:r>
                        </a:p>
                      </a:txBody>
                      <a:tcPr marL="68580" marR="68580" marT="34290" marB="34290"/>
                    </a:tc>
                    <a:tc>
                      <a:txBody>
                        <a:bodyPr/>
                        <a:lstStyle/>
                        <a:p>
                          <a:r>
                            <a:rPr lang="fr-FR" sz="900" dirty="0"/>
                            <a:t>65.00</a:t>
                          </a:r>
                        </a:p>
                      </a:txBody>
                      <a:tcPr marL="68580" marR="68580" marT="34290" marB="34290">
                        <a:solidFill>
                          <a:srgbClr val="EAB200"/>
                        </a:solidFill>
                      </a:tcPr>
                    </a:tc>
                    <a:extLst>
                      <a:ext uri="{0D108BD9-81ED-4DB2-BD59-A6C34878D82A}">
                        <a16:rowId xmlns:a16="http://schemas.microsoft.com/office/drawing/2014/main" val="534901214"/>
                      </a:ext>
                    </a:extLst>
                  </a:tr>
                  <a:tr h="259955">
                    <a:tc>
                      <a:txBody>
                        <a:bodyPr/>
                        <a:lstStyle/>
                        <a:p>
                          <a:r>
                            <a:rPr lang="fr-FR" sz="900" dirty="0"/>
                            <a:t>Mazda RX4 Wag</a:t>
                          </a:r>
                        </a:p>
                      </a:txBody>
                      <a:tcPr marL="68580" marR="68580" marT="34290" marB="34290"/>
                    </a:tc>
                    <a:tc>
                      <a:txBody>
                        <a:bodyPr/>
                        <a:lstStyle/>
                        <a:p>
                          <a:r>
                            <a:rPr lang="fr-FR" sz="900" dirty="0"/>
                            <a:t>21</a:t>
                          </a:r>
                        </a:p>
                      </a:txBody>
                      <a:tcPr marL="68580" marR="68580" marT="34290" marB="34290">
                        <a:solidFill>
                          <a:srgbClr val="ED7862"/>
                        </a:solidFill>
                      </a:tcPr>
                    </a:tc>
                    <a:tc>
                      <a:txBody>
                        <a:bodyPr/>
                        <a:lstStyle/>
                        <a:p>
                          <a:r>
                            <a:rPr lang="fr-FR" sz="900" dirty="0"/>
                            <a:t>6</a:t>
                          </a:r>
                        </a:p>
                      </a:txBody>
                      <a:tcPr marL="68580" marR="68580" marT="34290" marB="34290"/>
                    </a:tc>
                    <a:tc>
                      <a:txBody>
                        <a:bodyPr/>
                        <a:lstStyle/>
                        <a:p>
                          <a:r>
                            <a:rPr lang="fr-FR" sz="900" dirty="0"/>
                            <a:t>160</a:t>
                          </a:r>
                        </a:p>
                      </a:txBody>
                      <a:tcPr marL="68580" marR="68580" marT="34290" marB="34290"/>
                    </a:tc>
                    <a:tc>
                      <a:txBody>
                        <a:bodyPr/>
                        <a:lstStyle/>
                        <a:p>
                          <a:r>
                            <a:rPr lang="fr-FR" sz="900" dirty="0"/>
                            <a:t>65.00</a:t>
                          </a:r>
                        </a:p>
                      </a:txBody>
                      <a:tcPr marL="68580" marR="68580" marT="34290" marB="34290">
                        <a:solidFill>
                          <a:srgbClr val="EAB200"/>
                        </a:solidFill>
                      </a:tcPr>
                    </a:tc>
                    <a:extLst>
                      <a:ext uri="{0D108BD9-81ED-4DB2-BD59-A6C34878D82A}">
                        <a16:rowId xmlns:a16="http://schemas.microsoft.com/office/drawing/2014/main" val="4083386537"/>
                      </a:ext>
                    </a:extLst>
                  </a:tr>
                  <a:tr h="262479">
                    <a:tc>
                      <a:txBody>
                        <a:bodyPr/>
                        <a:lstStyle/>
                        <a:p>
                          <a:r>
                            <a:rPr lang="fr-FR" sz="900" dirty="0"/>
                            <a:t>Datsun 710</a:t>
                          </a:r>
                        </a:p>
                      </a:txBody>
                      <a:tcPr marL="68580" marR="68580" marT="34290" marB="34290"/>
                    </a:tc>
                    <a:tc>
                      <a:txBody>
                        <a:bodyPr/>
                        <a:lstStyle/>
                        <a:p>
                          <a:r>
                            <a:rPr lang="fr-FR" sz="900" dirty="0"/>
                            <a:t>22.8</a:t>
                          </a:r>
                        </a:p>
                      </a:txBody>
                      <a:tcPr marL="68580" marR="68580" marT="34290" marB="34290">
                        <a:solidFill>
                          <a:srgbClr val="ED7862"/>
                        </a:solidFill>
                      </a:tcPr>
                    </a:tc>
                    <a:tc>
                      <a:txBody>
                        <a:bodyPr/>
                        <a:lstStyle/>
                        <a:p>
                          <a:r>
                            <a:rPr lang="fr-FR" sz="900" dirty="0"/>
                            <a:t>4</a:t>
                          </a:r>
                        </a:p>
                      </a:txBody>
                      <a:tcPr marL="68580" marR="68580" marT="34290" marB="34290"/>
                    </a:tc>
                    <a:tc>
                      <a:txBody>
                        <a:bodyPr/>
                        <a:lstStyle/>
                        <a:p>
                          <a:r>
                            <a:rPr lang="fr-FR" sz="900" dirty="0"/>
                            <a:t>108</a:t>
                          </a:r>
                        </a:p>
                      </a:txBody>
                      <a:tcPr marL="68580" marR="68580" marT="34290" marB="34290"/>
                    </a:tc>
                    <a:tc>
                      <a:txBody>
                        <a:bodyPr/>
                        <a:lstStyle/>
                        <a:p>
                          <a:r>
                            <a:rPr lang="fr-FR" sz="800" dirty="0"/>
                            <a:t>117.01</a:t>
                          </a:r>
                        </a:p>
                      </a:txBody>
                      <a:tcPr marL="68580" marR="68580" marT="34290" marB="34290">
                        <a:solidFill>
                          <a:srgbClr val="EAB200"/>
                        </a:solidFill>
                      </a:tcPr>
                    </a:tc>
                    <a:extLst>
                      <a:ext uri="{0D108BD9-81ED-4DB2-BD59-A6C34878D82A}">
                        <a16:rowId xmlns:a16="http://schemas.microsoft.com/office/drawing/2014/main" val="3521600553"/>
                      </a:ext>
                    </a:extLst>
                  </a:tr>
                  <a:tr h="317581">
                    <a:tc>
                      <a:txBody>
                        <a:bodyPr/>
                        <a:lstStyle/>
                        <a:p>
                          <a:r>
                            <a:rPr lang="fr-FR" sz="900" dirty="0"/>
                            <a:t>Hornet Sportabout</a:t>
                          </a:r>
                        </a:p>
                      </a:txBody>
                      <a:tcPr marL="68580" marR="68580" marT="34290" marB="34290"/>
                    </a:tc>
                    <a:tc>
                      <a:txBody>
                        <a:bodyPr/>
                        <a:lstStyle/>
                        <a:p>
                          <a:r>
                            <a:rPr lang="fr-FR" sz="900" dirty="0"/>
                            <a:t>18.7</a:t>
                          </a:r>
                        </a:p>
                      </a:txBody>
                      <a:tcPr marL="68580" marR="68580" marT="34290" marB="34290">
                        <a:solidFill>
                          <a:srgbClr val="ED7862"/>
                        </a:solidFill>
                      </a:tcPr>
                    </a:tc>
                    <a:tc>
                      <a:txBody>
                        <a:bodyPr/>
                        <a:lstStyle/>
                        <a:p>
                          <a:r>
                            <a:rPr lang="fr-FR" sz="900" dirty="0"/>
                            <a:t>8</a:t>
                          </a:r>
                        </a:p>
                      </a:txBody>
                      <a:tcPr marL="68580" marR="68580" marT="34290" marB="34290"/>
                    </a:tc>
                    <a:tc>
                      <a:txBody>
                        <a:bodyPr/>
                        <a:lstStyle/>
                        <a:p>
                          <a:r>
                            <a:rPr lang="fr-FR" sz="900" dirty="0"/>
                            <a:t>360</a:t>
                          </a:r>
                        </a:p>
                      </a:txBody>
                      <a:tcPr marL="68580" marR="68580" marT="34290" marB="34290"/>
                    </a:tc>
                    <a:tc>
                      <a:txBody>
                        <a:bodyPr/>
                        <a:lstStyle/>
                        <a:p>
                          <a:r>
                            <a:rPr lang="fr-FR" sz="800" dirty="0"/>
                            <a:t>135.01</a:t>
                          </a:r>
                        </a:p>
                      </a:txBody>
                      <a:tcPr marL="68580" marR="68580" marT="34290" marB="34290">
                        <a:solidFill>
                          <a:srgbClr val="EAB200"/>
                        </a:solidFill>
                      </a:tcPr>
                    </a:tc>
                    <a:extLst>
                      <a:ext uri="{0D108BD9-81ED-4DB2-BD59-A6C34878D82A}">
                        <a16:rowId xmlns:a16="http://schemas.microsoft.com/office/drawing/2014/main" val="1332872226"/>
                      </a:ext>
                    </a:extLst>
                  </a:tr>
                </a:tbl>
              </a:graphicData>
            </a:graphic>
          </p:graphicFrame>
        </mc:Choice>
        <mc:Fallback xmlns="">
          <p:graphicFrame>
            <p:nvGraphicFramePr>
              <p:cNvPr id="4" name="Espace réservé du contenu 3">
                <a:extLst>
                  <a:ext uri="{FF2B5EF4-FFF2-40B4-BE49-F238E27FC236}">
                    <a16:creationId xmlns:a16="http://schemas.microsoft.com/office/drawing/2014/main" id="{D29E517A-9481-477B-991D-761E27AA0227}"/>
                  </a:ext>
                </a:extLst>
              </p:cNvPr>
              <p:cNvGraphicFramePr>
                <a:graphicFrameLocks noGrp="1"/>
              </p:cNvGraphicFramePr>
              <p:nvPr>
                <p:ph sz="half" idx="13"/>
                <p:extLst>
                  <p:ext uri="{D42A27DB-BD31-4B8C-83A1-F6EECF244321}">
                    <p14:modId xmlns:p14="http://schemas.microsoft.com/office/powerpoint/2010/main" val="2513630174"/>
                  </p:ext>
                </p:extLst>
              </p:nvPr>
            </p:nvGraphicFramePr>
            <p:xfrm>
              <a:off x="1016690" y="3159001"/>
              <a:ext cx="3507400" cy="1725283"/>
            </p:xfrm>
            <a:graphic>
              <a:graphicData uri="http://schemas.openxmlformats.org/drawingml/2006/table">
                <a:tbl>
                  <a:tblPr firstRow="1" bandRow="1">
                    <a:tableStyleId>{5C22544A-7EE6-4342-B048-85BDC9FD1C3A}</a:tableStyleId>
                  </a:tblPr>
                  <a:tblGrid>
                    <a:gridCol w="1559183">
                      <a:extLst>
                        <a:ext uri="{9D8B030D-6E8A-4147-A177-3AD203B41FA5}">
                          <a16:colId xmlns:a16="http://schemas.microsoft.com/office/drawing/2014/main" val="2986665876"/>
                        </a:ext>
                      </a:extLst>
                    </a:gridCol>
                    <a:gridCol w="515231">
                      <a:extLst>
                        <a:ext uri="{9D8B030D-6E8A-4147-A177-3AD203B41FA5}">
                          <a16:colId xmlns:a16="http://schemas.microsoft.com/office/drawing/2014/main" val="3339985376"/>
                        </a:ext>
                      </a:extLst>
                    </a:gridCol>
                    <a:gridCol w="488396">
                      <a:extLst>
                        <a:ext uri="{9D8B030D-6E8A-4147-A177-3AD203B41FA5}">
                          <a16:colId xmlns:a16="http://schemas.microsoft.com/office/drawing/2014/main" val="421219365"/>
                        </a:ext>
                      </a:extLst>
                    </a:gridCol>
                    <a:gridCol w="472295">
                      <a:extLst>
                        <a:ext uri="{9D8B030D-6E8A-4147-A177-3AD203B41FA5}">
                          <a16:colId xmlns:a16="http://schemas.microsoft.com/office/drawing/2014/main" val="1796812882"/>
                        </a:ext>
                      </a:extLst>
                    </a:gridCol>
                    <a:gridCol w="472295">
                      <a:extLst>
                        <a:ext uri="{9D8B030D-6E8A-4147-A177-3AD203B41FA5}">
                          <a16:colId xmlns:a16="http://schemas.microsoft.com/office/drawing/2014/main" val="1919379843"/>
                        </a:ext>
                      </a:extLst>
                    </a:gridCol>
                  </a:tblGrid>
                  <a:tr h="205740">
                    <a:tc>
                      <a:txBody>
                        <a:bodyPr/>
                        <a:lstStyle/>
                        <a:p>
                          <a:r>
                            <a:rPr lang="fr-FR" sz="900" dirty="0"/>
                            <a:t>Marque</a:t>
                          </a:r>
                        </a:p>
                      </a:txBody>
                      <a:tcPr marL="68580" marR="68580" marT="34290" marB="34290"/>
                    </a:tc>
                    <a:tc>
                      <a:txBody>
                        <a:bodyPr/>
                        <a:lstStyle/>
                        <a:p>
                          <a:r>
                            <a:rPr lang="fr-FR" sz="900" dirty="0" err="1"/>
                            <a:t>Mpg</a:t>
                          </a:r>
                          <a:endParaRPr lang="fr-FR" sz="900" dirty="0"/>
                        </a:p>
                      </a:txBody>
                      <a:tcPr marL="68580" marR="68580" marT="34290" marB="34290">
                        <a:solidFill>
                          <a:srgbClr val="ED7862"/>
                        </a:solidFill>
                      </a:tcPr>
                    </a:tc>
                    <a:tc>
                      <a:txBody>
                        <a:bodyPr/>
                        <a:lstStyle/>
                        <a:p>
                          <a:r>
                            <a:rPr lang="fr-FR" sz="900" dirty="0" err="1"/>
                            <a:t>Cyl</a:t>
                          </a:r>
                          <a:endParaRPr lang="fr-FR" sz="900" dirty="0"/>
                        </a:p>
                      </a:txBody>
                      <a:tcPr marL="68580" marR="68580" marT="34290" marB="34290"/>
                    </a:tc>
                    <a:tc>
                      <a:txBody>
                        <a:bodyPr/>
                        <a:lstStyle/>
                        <a:p>
                          <a:r>
                            <a:rPr lang="fr-FR" sz="900" dirty="0" err="1"/>
                            <a:t>Disp</a:t>
                          </a:r>
                          <a:endParaRPr lang="fr-FR" sz="900" dirty="0"/>
                        </a:p>
                      </a:txBody>
                      <a:tcPr marL="68580" marR="68580" marT="34290" marB="34290"/>
                    </a:tc>
                    <a:tc>
                      <a:txBody>
                        <a:bodyPr/>
                        <a:lstStyle/>
                        <a:p>
                          <a:endParaRPr lang="fr-FR"/>
                        </a:p>
                      </a:txBody>
                      <a:tcPr marL="68580" marR="68580" marT="34290" marB="34290">
                        <a:blipFill>
                          <a:blip r:embed="rId2"/>
                          <a:stretch>
                            <a:fillRect l="-641026" t="-2941" r="-5128" b="-741176"/>
                          </a:stretch>
                        </a:blipFill>
                      </a:tcPr>
                    </a:tc>
                    <a:extLst>
                      <a:ext uri="{0D108BD9-81ED-4DB2-BD59-A6C34878D82A}">
                        <a16:rowId xmlns:a16="http://schemas.microsoft.com/office/drawing/2014/main" val="1547968494"/>
                      </a:ext>
                    </a:extLst>
                  </a:tr>
                  <a:tr h="247390">
                    <a:tc>
                      <a:txBody>
                        <a:bodyPr/>
                        <a:lstStyle/>
                        <a:p>
                          <a:r>
                            <a:rPr lang="fr-FR" sz="900" b="1" dirty="0" err="1"/>
                            <a:t>Valiant</a:t>
                          </a:r>
                          <a:endParaRPr lang="fr-FR" sz="900" b="1" dirty="0"/>
                        </a:p>
                      </a:txBody>
                      <a:tcPr marL="68580" marR="68580" marT="34290" marB="34290"/>
                    </a:tc>
                    <a:tc>
                      <a:txBody>
                        <a:bodyPr/>
                        <a:lstStyle/>
                        <a:p>
                          <a:r>
                            <a:rPr lang="fr-FR" sz="900" b="1" dirty="0"/>
                            <a:t>18.1</a:t>
                          </a:r>
                        </a:p>
                      </a:txBody>
                      <a:tcPr marL="68580" marR="68580" marT="34290" marB="34290">
                        <a:solidFill>
                          <a:srgbClr val="ED7862"/>
                        </a:solidFill>
                      </a:tcPr>
                    </a:tc>
                    <a:tc>
                      <a:txBody>
                        <a:bodyPr/>
                        <a:lstStyle/>
                        <a:p>
                          <a:r>
                            <a:rPr lang="fr-FR" sz="900" b="1" dirty="0"/>
                            <a:t>6</a:t>
                          </a:r>
                        </a:p>
                      </a:txBody>
                      <a:tcPr marL="68580" marR="68580" marT="34290" marB="34290"/>
                    </a:tc>
                    <a:tc>
                      <a:txBody>
                        <a:bodyPr/>
                        <a:lstStyle/>
                        <a:p>
                          <a:r>
                            <a:rPr lang="fr-FR" sz="900" b="1" dirty="0"/>
                            <a:t>225</a:t>
                          </a:r>
                        </a:p>
                      </a:txBody>
                      <a:tcPr marL="68580" marR="68580" marT="34290" marB="34290"/>
                    </a:tc>
                    <a:tc>
                      <a:txBody>
                        <a:bodyPr/>
                        <a:lstStyle/>
                        <a:p>
                          <a:r>
                            <a:rPr lang="fr-FR" sz="900" b="1" dirty="0"/>
                            <a:t>0.00</a:t>
                          </a:r>
                        </a:p>
                      </a:txBody>
                      <a:tcPr marL="68580" marR="68580" marT="34290" marB="34290">
                        <a:solidFill>
                          <a:srgbClr val="EAB200"/>
                        </a:solidFill>
                      </a:tcPr>
                    </a:tc>
                    <a:extLst>
                      <a:ext uri="{0D108BD9-81ED-4DB2-BD59-A6C34878D82A}">
                        <a16:rowId xmlns:a16="http://schemas.microsoft.com/office/drawing/2014/main" val="2667085033"/>
                      </a:ext>
                    </a:extLst>
                  </a:tr>
                  <a:tr h="226398">
                    <a:tc>
                      <a:txBody>
                        <a:bodyPr/>
                        <a:lstStyle/>
                        <a:p>
                          <a:r>
                            <a:rPr lang="fr-FR" sz="900" dirty="0" err="1"/>
                            <a:t>Hornet</a:t>
                          </a:r>
                          <a:r>
                            <a:rPr lang="fr-FR" sz="900" dirty="0"/>
                            <a:t> 4 Drive</a:t>
                          </a:r>
                        </a:p>
                      </a:txBody>
                      <a:tcPr marL="68580" marR="68580" marT="34290" marB="34290"/>
                    </a:tc>
                    <a:tc>
                      <a:txBody>
                        <a:bodyPr/>
                        <a:lstStyle/>
                        <a:p>
                          <a:r>
                            <a:rPr lang="fr-FR" sz="900" dirty="0"/>
                            <a:t>21.4</a:t>
                          </a:r>
                        </a:p>
                      </a:txBody>
                      <a:tcPr marL="68580" marR="68580" marT="34290" marB="34290">
                        <a:solidFill>
                          <a:srgbClr val="ED7862"/>
                        </a:solidFill>
                      </a:tcPr>
                    </a:tc>
                    <a:tc>
                      <a:txBody>
                        <a:bodyPr/>
                        <a:lstStyle/>
                        <a:p>
                          <a:r>
                            <a:rPr lang="fr-FR" sz="900" dirty="0"/>
                            <a:t>6</a:t>
                          </a:r>
                        </a:p>
                      </a:txBody>
                      <a:tcPr marL="68580" marR="68580" marT="34290" marB="34290"/>
                    </a:tc>
                    <a:tc>
                      <a:txBody>
                        <a:bodyPr/>
                        <a:lstStyle/>
                        <a:p>
                          <a:r>
                            <a:rPr lang="fr-FR" sz="900" dirty="0"/>
                            <a:t>258</a:t>
                          </a:r>
                        </a:p>
                      </a:txBody>
                      <a:tcPr marL="68580" marR="68580" marT="34290" marB="34290"/>
                    </a:tc>
                    <a:tc>
                      <a:txBody>
                        <a:bodyPr/>
                        <a:lstStyle/>
                        <a:p>
                          <a:r>
                            <a:rPr lang="fr-FR" sz="900" dirty="0"/>
                            <a:t>33.00</a:t>
                          </a:r>
                        </a:p>
                      </a:txBody>
                      <a:tcPr marL="68580" marR="68580" marT="34290" marB="34290">
                        <a:solidFill>
                          <a:srgbClr val="EAB200"/>
                        </a:solidFill>
                      </a:tcPr>
                    </a:tc>
                    <a:extLst>
                      <a:ext uri="{0D108BD9-81ED-4DB2-BD59-A6C34878D82A}">
                        <a16:rowId xmlns:a16="http://schemas.microsoft.com/office/drawing/2014/main" val="2556952926"/>
                      </a:ext>
                    </a:extLst>
                  </a:tr>
                  <a:tr h="205740">
                    <a:tc>
                      <a:txBody>
                        <a:bodyPr/>
                        <a:lstStyle/>
                        <a:p>
                          <a:r>
                            <a:rPr lang="fr-FR" sz="900" dirty="0"/>
                            <a:t>Mazda RX4</a:t>
                          </a:r>
                        </a:p>
                      </a:txBody>
                      <a:tcPr marL="68580" marR="68580" marT="34290" marB="34290"/>
                    </a:tc>
                    <a:tc>
                      <a:txBody>
                        <a:bodyPr/>
                        <a:lstStyle/>
                        <a:p>
                          <a:r>
                            <a:rPr lang="fr-FR" sz="900" dirty="0"/>
                            <a:t>21</a:t>
                          </a:r>
                        </a:p>
                      </a:txBody>
                      <a:tcPr marL="68580" marR="68580" marT="34290" marB="34290">
                        <a:solidFill>
                          <a:srgbClr val="ED7862"/>
                        </a:solidFill>
                      </a:tcPr>
                    </a:tc>
                    <a:tc>
                      <a:txBody>
                        <a:bodyPr/>
                        <a:lstStyle/>
                        <a:p>
                          <a:r>
                            <a:rPr lang="fr-FR" sz="900" dirty="0"/>
                            <a:t>6</a:t>
                          </a:r>
                        </a:p>
                      </a:txBody>
                      <a:tcPr marL="68580" marR="68580" marT="34290" marB="34290"/>
                    </a:tc>
                    <a:tc>
                      <a:txBody>
                        <a:bodyPr/>
                        <a:lstStyle/>
                        <a:p>
                          <a:r>
                            <a:rPr lang="fr-FR" sz="900" dirty="0"/>
                            <a:t>160</a:t>
                          </a:r>
                        </a:p>
                      </a:txBody>
                      <a:tcPr marL="68580" marR="68580" marT="34290" marB="34290"/>
                    </a:tc>
                    <a:tc>
                      <a:txBody>
                        <a:bodyPr/>
                        <a:lstStyle/>
                        <a:p>
                          <a:r>
                            <a:rPr lang="fr-FR" sz="900" dirty="0"/>
                            <a:t>65.00</a:t>
                          </a:r>
                        </a:p>
                      </a:txBody>
                      <a:tcPr marL="68580" marR="68580" marT="34290" marB="34290">
                        <a:solidFill>
                          <a:srgbClr val="EAB200"/>
                        </a:solidFill>
                      </a:tcPr>
                    </a:tc>
                    <a:extLst>
                      <a:ext uri="{0D108BD9-81ED-4DB2-BD59-A6C34878D82A}">
                        <a16:rowId xmlns:a16="http://schemas.microsoft.com/office/drawing/2014/main" val="534901214"/>
                      </a:ext>
                    </a:extLst>
                  </a:tr>
                  <a:tr h="259955">
                    <a:tc>
                      <a:txBody>
                        <a:bodyPr/>
                        <a:lstStyle/>
                        <a:p>
                          <a:r>
                            <a:rPr lang="fr-FR" sz="900" dirty="0"/>
                            <a:t>Mazda RX4 </a:t>
                          </a:r>
                          <a:r>
                            <a:rPr lang="fr-FR" sz="900" dirty="0" err="1"/>
                            <a:t>Wag</a:t>
                          </a:r>
                          <a:endParaRPr lang="fr-FR" sz="900" dirty="0"/>
                        </a:p>
                      </a:txBody>
                      <a:tcPr marL="68580" marR="68580" marT="34290" marB="34290"/>
                    </a:tc>
                    <a:tc>
                      <a:txBody>
                        <a:bodyPr/>
                        <a:lstStyle/>
                        <a:p>
                          <a:r>
                            <a:rPr lang="fr-FR" sz="900" dirty="0"/>
                            <a:t>21</a:t>
                          </a:r>
                        </a:p>
                      </a:txBody>
                      <a:tcPr marL="68580" marR="68580" marT="34290" marB="34290">
                        <a:solidFill>
                          <a:srgbClr val="ED7862"/>
                        </a:solidFill>
                      </a:tcPr>
                    </a:tc>
                    <a:tc>
                      <a:txBody>
                        <a:bodyPr/>
                        <a:lstStyle/>
                        <a:p>
                          <a:r>
                            <a:rPr lang="fr-FR" sz="900" dirty="0"/>
                            <a:t>6</a:t>
                          </a:r>
                        </a:p>
                      </a:txBody>
                      <a:tcPr marL="68580" marR="68580" marT="34290" marB="34290"/>
                    </a:tc>
                    <a:tc>
                      <a:txBody>
                        <a:bodyPr/>
                        <a:lstStyle/>
                        <a:p>
                          <a:r>
                            <a:rPr lang="fr-FR" sz="900" dirty="0"/>
                            <a:t>160</a:t>
                          </a:r>
                        </a:p>
                      </a:txBody>
                      <a:tcPr marL="68580" marR="68580" marT="34290" marB="34290"/>
                    </a:tc>
                    <a:tc>
                      <a:txBody>
                        <a:bodyPr/>
                        <a:lstStyle/>
                        <a:p>
                          <a:r>
                            <a:rPr lang="fr-FR" sz="900" dirty="0"/>
                            <a:t>65.00</a:t>
                          </a:r>
                        </a:p>
                      </a:txBody>
                      <a:tcPr marL="68580" marR="68580" marT="34290" marB="34290">
                        <a:solidFill>
                          <a:srgbClr val="EAB200"/>
                        </a:solidFill>
                      </a:tcPr>
                    </a:tc>
                    <a:extLst>
                      <a:ext uri="{0D108BD9-81ED-4DB2-BD59-A6C34878D82A}">
                        <a16:rowId xmlns:a16="http://schemas.microsoft.com/office/drawing/2014/main" val="4083386537"/>
                      </a:ext>
                    </a:extLst>
                  </a:tr>
                  <a:tr h="262479">
                    <a:tc>
                      <a:txBody>
                        <a:bodyPr/>
                        <a:lstStyle/>
                        <a:p>
                          <a:r>
                            <a:rPr lang="fr-FR" sz="900" dirty="0"/>
                            <a:t>Datsun 710</a:t>
                          </a:r>
                        </a:p>
                      </a:txBody>
                      <a:tcPr marL="68580" marR="68580" marT="34290" marB="34290"/>
                    </a:tc>
                    <a:tc>
                      <a:txBody>
                        <a:bodyPr/>
                        <a:lstStyle/>
                        <a:p>
                          <a:r>
                            <a:rPr lang="fr-FR" sz="900" dirty="0"/>
                            <a:t>22.8</a:t>
                          </a:r>
                        </a:p>
                      </a:txBody>
                      <a:tcPr marL="68580" marR="68580" marT="34290" marB="34290">
                        <a:solidFill>
                          <a:srgbClr val="ED7862"/>
                        </a:solidFill>
                      </a:tcPr>
                    </a:tc>
                    <a:tc>
                      <a:txBody>
                        <a:bodyPr/>
                        <a:lstStyle/>
                        <a:p>
                          <a:r>
                            <a:rPr lang="fr-FR" sz="900" dirty="0"/>
                            <a:t>4</a:t>
                          </a:r>
                        </a:p>
                      </a:txBody>
                      <a:tcPr marL="68580" marR="68580" marT="34290" marB="34290"/>
                    </a:tc>
                    <a:tc>
                      <a:txBody>
                        <a:bodyPr/>
                        <a:lstStyle/>
                        <a:p>
                          <a:r>
                            <a:rPr lang="fr-FR" sz="900" dirty="0"/>
                            <a:t>108</a:t>
                          </a:r>
                        </a:p>
                      </a:txBody>
                      <a:tcPr marL="68580" marR="68580" marT="34290" marB="34290"/>
                    </a:tc>
                    <a:tc>
                      <a:txBody>
                        <a:bodyPr/>
                        <a:lstStyle/>
                        <a:p>
                          <a:r>
                            <a:rPr lang="fr-FR" sz="800" dirty="0"/>
                            <a:t>117.01</a:t>
                          </a:r>
                        </a:p>
                      </a:txBody>
                      <a:tcPr marL="68580" marR="68580" marT="34290" marB="34290">
                        <a:solidFill>
                          <a:srgbClr val="EAB200"/>
                        </a:solidFill>
                      </a:tcPr>
                    </a:tc>
                    <a:extLst>
                      <a:ext uri="{0D108BD9-81ED-4DB2-BD59-A6C34878D82A}">
                        <a16:rowId xmlns:a16="http://schemas.microsoft.com/office/drawing/2014/main" val="3521600553"/>
                      </a:ext>
                    </a:extLst>
                  </a:tr>
                  <a:tr h="317581">
                    <a:tc>
                      <a:txBody>
                        <a:bodyPr/>
                        <a:lstStyle/>
                        <a:p>
                          <a:r>
                            <a:rPr lang="fr-FR" sz="900" dirty="0" err="1"/>
                            <a:t>Hornet</a:t>
                          </a:r>
                          <a:r>
                            <a:rPr lang="fr-FR" sz="900" dirty="0"/>
                            <a:t> </a:t>
                          </a:r>
                          <a:r>
                            <a:rPr lang="fr-FR" sz="900" dirty="0" err="1"/>
                            <a:t>Sportabout</a:t>
                          </a:r>
                          <a:endParaRPr lang="fr-FR" sz="900" dirty="0"/>
                        </a:p>
                      </a:txBody>
                      <a:tcPr marL="68580" marR="68580" marT="34290" marB="34290"/>
                    </a:tc>
                    <a:tc>
                      <a:txBody>
                        <a:bodyPr/>
                        <a:lstStyle/>
                        <a:p>
                          <a:r>
                            <a:rPr lang="fr-FR" sz="900" dirty="0"/>
                            <a:t>18.7</a:t>
                          </a:r>
                        </a:p>
                      </a:txBody>
                      <a:tcPr marL="68580" marR="68580" marT="34290" marB="34290">
                        <a:solidFill>
                          <a:srgbClr val="ED7862"/>
                        </a:solidFill>
                      </a:tcPr>
                    </a:tc>
                    <a:tc>
                      <a:txBody>
                        <a:bodyPr/>
                        <a:lstStyle/>
                        <a:p>
                          <a:r>
                            <a:rPr lang="fr-FR" sz="900" dirty="0"/>
                            <a:t>8</a:t>
                          </a:r>
                        </a:p>
                      </a:txBody>
                      <a:tcPr marL="68580" marR="68580" marT="34290" marB="34290"/>
                    </a:tc>
                    <a:tc>
                      <a:txBody>
                        <a:bodyPr/>
                        <a:lstStyle/>
                        <a:p>
                          <a:r>
                            <a:rPr lang="fr-FR" sz="900" dirty="0"/>
                            <a:t>360</a:t>
                          </a:r>
                        </a:p>
                      </a:txBody>
                      <a:tcPr marL="68580" marR="68580" marT="34290" marB="34290"/>
                    </a:tc>
                    <a:tc>
                      <a:txBody>
                        <a:bodyPr/>
                        <a:lstStyle/>
                        <a:p>
                          <a:r>
                            <a:rPr lang="fr-FR" sz="800" dirty="0"/>
                            <a:t>135.01</a:t>
                          </a:r>
                        </a:p>
                      </a:txBody>
                      <a:tcPr marL="68580" marR="68580" marT="34290" marB="34290">
                        <a:solidFill>
                          <a:srgbClr val="EAB200"/>
                        </a:solidFill>
                      </a:tcPr>
                    </a:tc>
                    <a:extLst>
                      <a:ext uri="{0D108BD9-81ED-4DB2-BD59-A6C34878D82A}">
                        <a16:rowId xmlns:a16="http://schemas.microsoft.com/office/drawing/2014/main" val="1332872226"/>
                      </a:ext>
                    </a:extLst>
                  </a:tr>
                </a:tbl>
              </a:graphicData>
            </a:graphic>
          </p:graphicFrame>
        </mc:Fallback>
      </mc:AlternateContent>
      <mc:AlternateContent xmlns:mc="http://schemas.openxmlformats.org/markup-compatibility/2006" xmlns:a14="http://schemas.microsoft.com/office/drawing/2010/main">
        <mc:Choice Requires="a14">
          <p:sp>
            <p:nvSpPr>
              <p:cNvPr id="8" name="Content Placeholder 15">
                <a:extLst>
                  <a:ext uri="{FF2B5EF4-FFF2-40B4-BE49-F238E27FC236}">
                    <a16:creationId xmlns:a16="http://schemas.microsoft.com/office/drawing/2014/main" id="{24462727-E0A6-4EC6-B763-388B00CC0707}"/>
                  </a:ext>
                </a:extLst>
              </p:cNvPr>
              <p:cNvSpPr txBox="1">
                <a:spLocks/>
              </p:cNvSpPr>
              <p:nvPr/>
            </p:nvSpPr>
            <p:spPr>
              <a:xfrm>
                <a:off x="746910" y="1391970"/>
                <a:ext cx="6057418" cy="1917761"/>
              </a:xfrm>
              <a:prstGeom prst="rect">
                <a:avLst/>
              </a:prstGeom>
            </p:spPr>
            <p:txBody>
              <a:bodyPr>
                <a:noAutofit/>
              </a:bodyPr>
              <a:lstStyle>
                <a:lvl1pPr marL="228600" indent="-228600" algn="l" defTabSz="914400" rtl="0" eaLnBrk="1" latinLnBrk="0" hangingPunct="1">
                  <a:lnSpc>
                    <a:spcPct val="90000"/>
                  </a:lnSpc>
                  <a:spcBef>
                    <a:spcPts val="1000"/>
                  </a:spcBef>
                  <a:buClr>
                    <a:srgbClr val="2E7A40"/>
                  </a:buClr>
                  <a:buFont typeface="Arial" panose="020B0604020202020204" pitchFamily="34" charset="0"/>
                  <a:buChar char="•"/>
                  <a:defRPr lang="en-US" sz="2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2E7A40"/>
                  </a:buClr>
                  <a:buFont typeface="Arial" panose="020B0604020202020204" pitchFamily="34" charset="0"/>
                  <a:buChar char="•"/>
                  <a:defRPr lang="en-US" sz="20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2E7A40"/>
                  </a:buClr>
                  <a:buFont typeface="Arial" panose="020B0604020202020204" pitchFamily="34" charset="0"/>
                  <a:buChar char="•"/>
                  <a:defRPr lang="en-US" sz="18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2E7A40"/>
                  </a:buClr>
                  <a:buFont typeface="Arial" panose="020B0604020202020204" pitchFamily="34" charset="0"/>
                  <a:buChar char="•"/>
                  <a:defRPr lang="en-US" sz="160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2E7A40"/>
                  </a:buClr>
                  <a:buFont typeface="Arial" panose="020B0604020202020204" pitchFamily="34" charset="0"/>
                  <a:buChar char="•"/>
                  <a:defRPr lang="en-IN" sz="16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Clr>
                    <a:schemeClr val="accent2"/>
                  </a:buClr>
                </a:pPr>
                <a:r>
                  <a:rPr lang="fr-FR" sz="1350" dirty="0"/>
                  <a:t>La distance entre Valiant et lui-même est nulle :</a:t>
                </a:r>
              </a:p>
              <a:p>
                <a:pPr marL="0" indent="0" algn="just">
                  <a:lnSpc>
                    <a:spcPct val="100000"/>
                  </a:lnSpc>
                  <a:buClr>
                    <a:schemeClr val="accent2"/>
                  </a:buClr>
                  <a:buNone/>
                </a:pPr>
                <a14:m>
                  <m:oMathPara xmlns:m="http://schemas.openxmlformats.org/officeDocument/2006/math">
                    <m:oMathParaPr>
                      <m:jc m:val="centerGroup"/>
                    </m:oMathParaPr>
                    <m:oMath xmlns:m="http://schemas.openxmlformats.org/officeDocument/2006/math">
                      <m:r>
                        <a:rPr lang="fr-FR" sz="1050" i="1">
                          <a:latin typeface="Cambria Math" panose="02040503050406030204" pitchFamily="18" charset="0"/>
                        </a:rPr>
                        <m:t>𝑑</m:t>
                      </m:r>
                      <m:r>
                        <a:rPr lang="fr-FR" sz="1050" i="1">
                          <a:latin typeface="Cambria Math" panose="02040503050406030204" pitchFamily="18" charset="0"/>
                        </a:rPr>
                        <m:t>= </m:t>
                      </m:r>
                      <m:rad>
                        <m:radPr>
                          <m:degHide m:val="on"/>
                          <m:ctrlPr>
                            <a:rPr lang="fr-FR" sz="1050" i="1">
                              <a:latin typeface="Cambria Math" panose="02040503050406030204" pitchFamily="18" charset="0"/>
                            </a:rPr>
                          </m:ctrlPr>
                        </m:radPr>
                        <m:deg/>
                        <m:e>
                          <m:sSup>
                            <m:sSupPr>
                              <m:ctrlPr>
                                <a:rPr lang="fr-FR" sz="1050" i="1">
                                  <a:latin typeface="Cambria Math" panose="02040503050406030204" pitchFamily="18" charset="0"/>
                                </a:rPr>
                              </m:ctrlPr>
                            </m:sSupPr>
                            <m:e>
                              <m:d>
                                <m:dPr>
                                  <m:ctrlPr>
                                    <a:rPr lang="fr-FR" sz="1050" i="1">
                                      <a:latin typeface="Cambria Math" panose="02040503050406030204" pitchFamily="18" charset="0"/>
                                    </a:rPr>
                                  </m:ctrlPr>
                                </m:dPr>
                                <m:e>
                                  <m:r>
                                    <a:rPr lang="fr-FR" sz="1050" i="1">
                                      <a:latin typeface="Cambria Math" panose="02040503050406030204" pitchFamily="18" charset="0"/>
                                    </a:rPr>
                                    <m:t>6−6</m:t>
                                  </m:r>
                                </m:e>
                              </m:d>
                            </m:e>
                            <m:sup>
                              <m:r>
                                <a:rPr lang="fr-FR" sz="1050" i="1">
                                  <a:latin typeface="Cambria Math" panose="02040503050406030204" pitchFamily="18" charset="0"/>
                                </a:rPr>
                                <m:t>2</m:t>
                              </m:r>
                            </m:sup>
                          </m:sSup>
                          <m:r>
                            <a:rPr lang="fr-FR" sz="1050" i="1">
                              <a:latin typeface="Cambria Math" panose="02040503050406030204" pitchFamily="18" charset="0"/>
                            </a:rPr>
                            <m:t>+</m:t>
                          </m:r>
                          <m:sSup>
                            <m:sSupPr>
                              <m:ctrlPr>
                                <a:rPr lang="fr-FR" sz="1050" i="1">
                                  <a:latin typeface="Cambria Math" panose="02040503050406030204" pitchFamily="18" charset="0"/>
                                </a:rPr>
                              </m:ctrlPr>
                            </m:sSupPr>
                            <m:e>
                              <m:d>
                                <m:dPr>
                                  <m:ctrlPr>
                                    <a:rPr lang="fr-FR" sz="1050" i="1">
                                      <a:latin typeface="Cambria Math" panose="02040503050406030204" pitchFamily="18" charset="0"/>
                                    </a:rPr>
                                  </m:ctrlPr>
                                </m:dPr>
                                <m:e>
                                  <m:r>
                                    <a:rPr lang="fr-FR" sz="1050" i="1">
                                      <a:latin typeface="Cambria Math" panose="02040503050406030204" pitchFamily="18" charset="0"/>
                                    </a:rPr>
                                    <m:t>225−225</m:t>
                                  </m:r>
                                </m:e>
                              </m:d>
                            </m:e>
                            <m:sup>
                              <m:r>
                                <a:rPr lang="fr-FR" sz="1050" i="1">
                                  <a:latin typeface="Cambria Math" panose="02040503050406030204" pitchFamily="18" charset="0"/>
                                </a:rPr>
                                <m:t>2</m:t>
                              </m:r>
                            </m:sup>
                          </m:sSup>
                        </m:e>
                      </m:rad>
                      <m:r>
                        <a:rPr lang="fr-FR" sz="1050" i="1">
                          <a:latin typeface="Cambria Math" panose="02040503050406030204" pitchFamily="18" charset="0"/>
                        </a:rPr>
                        <m:t>=0.00</m:t>
                      </m:r>
                    </m:oMath>
                  </m:oMathPara>
                </a14:m>
                <a:endParaRPr lang="fr-FR" sz="1350" dirty="0"/>
              </a:p>
              <a:p>
                <a:pPr algn="just">
                  <a:lnSpc>
                    <a:spcPct val="100000"/>
                  </a:lnSpc>
                  <a:buClr>
                    <a:schemeClr val="accent2"/>
                  </a:buClr>
                </a:pPr>
                <a:r>
                  <a:rPr lang="fr-FR" sz="1350" dirty="0"/>
                  <a:t>La distance entre valiant et Hornet 4 Drive :</a:t>
                </a:r>
              </a:p>
              <a:p>
                <a:pPr marL="342900" lvl="1" indent="0" algn="just">
                  <a:lnSpc>
                    <a:spcPct val="100000"/>
                  </a:lnSpc>
                  <a:buClr>
                    <a:schemeClr val="accent2"/>
                  </a:buClr>
                  <a:buNone/>
                </a:pPr>
                <a14:m>
                  <m:oMathPara xmlns:m="http://schemas.openxmlformats.org/officeDocument/2006/math">
                    <m:oMathParaPr>
                      <m:jc m:val="centerGroup"/>
                    </m:oMathParaPr>
                    <m:oMath xmlns:m="http://schemas.openxmlformats.org/officeDocument/2006/math">
                      <m:r>
                        <a:rPr lang="fr-FR" sz="1050" i="1">
                          <a:latin typeface="Cambria Math" panose="02040503050406030204" pitchFamily="18" charset="0"/>
                        </a:rPr>
                        <m:t>𝑑</m:t>
                      </m:r>
                      <m:r>
                        <a:rPr lang="fr-FR" sz="1050" i="1">
                          <a:latin typeface="Cambria Math" panose="02040503050406030204" pitchFamily="18" charset="0"/>
                        </a:rPr>
                        <m:t>= </m:t>
                      </m:r>
                      <m:rad>
                        <m:radPr>
                          <m:degHide m:val="on"/>
                          <m:ctrlPr>
                            <a:rPr lang="fr-FR" sz="1050" i="1">
                              <a:latin typeface="Cambria Math" panose="02040503050406030204" pitchFamily="18" charset="0"/>
                            </a:rPr>
                          </m:ctrlPr>
                        </m:radPr>
                        <m:deg/>
                        <m:e>
                          <m:sSup>
                            <m:sSupPr>
                              <m:ctrlPr>
                                <a:rPr lang="fr-FR" sz="1050" i="1">
                                  <a:latin typeface="Cambria Math" panose="02040503050406030204" pitchFamily="18" charset="0"/>
                                </a:rPr>
                              </m:ctrlPr>
                            </m:sSupPr>
                            <m:e>
                              <m:d>
                                <m:dPr>
                                  <m:ctrlPr>
                                    <a:rPr lang="fr-FR" sz="1050" i="1">
                                      <a:latin typeface="Cambria Math" panose="02040503050406030204" pitchFamily="18" charset="0"/>
                                    </a:rPr>
                                  </m:ctrlPr>
                                </m:dPr>
                                <m:e>
                                  <m:r>
                                    <a:rPr lang="fr-FR" sz="1050" i="1">
                                      <a:latin typeface="Cambria Math" panose="02040503050406030204" pitchFamily="18" charset="0"/>
                                    </a:rPr>
                                    <m:t>6−6</m:t>
                                  </m:r>
                                </m:e>
                              </m:d>
                            </m:e>
                            <m:sup>
                              <m:r>
                                <a:rPr lang="fr-FR" sz="1050" i="1">
                                  <a:latin typeface="Cambria Math" panose="02040503050406030204" pitchFamily="18" charset="0"/>
                                </a:rPr>
                                <m:t>2</m:t>
                              </m:r>
                            </m:sup>
                          </m:sSup>
                          <m:r>
                            <a:rPr lang="fr-FR" sz="1050" i="1">
                              <a:latin typeface="Cambria Math" panose="02040503050406030204" pitchFamily="18" charset="0"/>
                            </a:rPr>
                            <m:t>+</m:t>
                          </m:r>
                          <m:sSup>
                            <m:sSupPr>
                              <m:ctrlPr>
                                <a:rPr lang="fr-FR" sz="1050" i="1">
                                  <a:latin typeface="Cambria Math" panose="02040503050406030204" pitchFamily="18" charset="0"/>
                                </a:rPr>
                              </m:ctrlPr>
                            </m:sSupPr>
                            <m:e>
                              <m:d>
                                <m:dPr>
                                  <m:ctrlPr>
                                    <a:rPr lang="fr-FR" sz="1050" i="1">
                                      <a:latin typeface="Cambria Math" panose="02040503050406030204" pitchFamily="18" charset="0"/>
                                    </a:rPr>
                                  </m:ctrlPr>
                                </m:dPr>
                                <m:e>
                                  <m:r>
                                    <a:rPr lang="fr-FR" sz="1050" i="1">
                                      <a:latin typeface="Cambria Math" panose="02040503050406030204" pitchFamily="18" charset="0"/>
                                    </a:rPr>
                                    <m:t>258−225</m:t>
                                  </m:r>
                                </m:e>
                              </m:d>
                            </m:e>
                            <m:sup>
                              <m:r>
                                <a:rPr lang="fr-FR" sz="1050" i="1">
                                  <a:latin typeface="Cambria Math" panose="02040503050406030204" pitchFamily="18" charset="0"/>
                                </a:rPr>
                                <m:t>2</m:t>
                              </m:r>
                            </m:sup>
                          </m:sSup>
                        </m:e>
                      </m:rad>
                      <m:r>
                        <a:rPr lang="fr-FR" sz="1050" i="1">
                          <a:latin typeface="Cambria Math" panose="02040503050406030204" pitchFamily="18" charset="0"/>
                        </a:rPr>
                        <m:t>=33.00</m:t>
                      </m:r>
                    </m:oMath>
                  </m:oMathPara>
                </a14:m>
                <a:endParaRPr lang="fr-FR" sz="1050" dirty="0"/>
              </a:p>
              <a:p>
                <a:pPr algn="just">
                  <a:lnSpc>
                    <a:spcPct val="100000"/>
                  </a:lnSpc>
                  <a:buClr>
                    <a:schemeClr val="accent2"/>
                  </a:buClr>
                </a:pPr>
                <a:r>
                  <a:rPr lang="fr-FR" sz="1350" dirty="0"/>
                  <a:t>Après calcul de la distance euclidienne, triez le tableau dans l’ordre croissant de </a:t>
                </a:r>
                <a14:m>
                  <m:oMath xmlns:m="http://schemas.openxmlformats.org/officeDocument/2006/math">
                    <m:r>
                      <a:rPr lang="fr-FR" sz="1350" i="1" dirty="0">
                        <a:latin typeface="Cambria Math" panose="02040503050406030204" pitchFamily="18" charset="0"/>
                      </a:rPr>
                      <m:t>𝑑</m:t>
                    </m:r>
                  </m:oMath>
                </a14:m>
                <a:r>
                  <a:rPr lang="fr-FR" sz="1350" dirty="0"/>
                  <a:t>.</a:t>
                </a:r>
              </a:p>
            </p:txBody>
          </p:sp>
        </mc:Choice>
        <mc:Fallback xmlns="">
          <p:sp>
            <p:nvSpPr>
              <p:cNvPr id="8" name="Content Placeholder 15">
                <a:extLst>
                  <a:ext uri="{FF2B5EF4-FFF2-40B4-BE49-F238E27FC236}">
                    <a16:creationId xmlns:a16="http://schemas.microsoft.com/office/drawing/2014/main" id="{24462727-E0A6-4EC6-B763-388B00CC0707}"/>
                  </a:ext>
                </a:extLst>
              </p:cNvPr>
              <p:cNvSpPr txBox="1">
                <a:spLocks noRot="1" noChangeAspect="1" noMove="1" noResize="1" noEditPoints="1" noAdjustHandles="1" noChangeArrowheads="1" noChangeShapeType="1" noTextEdit="1"/>
              </p:cNvSpPr>
              <p:nvPr/>
            </p:nvSpPr>
            <p:spPr>
              <a:xfrm>
                <a:off x="746910" y="1391970"/>
                <a:ext cx="6057418" cy="1917761"/>
              </a:xfrm>
              <a:prstGeom prst="rect">
                <a:avLst/>
              </a:prstGeom>
              <a:blipFill>
                <a:blip r:embed="rId3"/>
                <a:stretch>
                  <a:fillRect l="-101" t="-317" r="-302"/>
                </a:stretch>
              </a:blipFill>
            </p:spPr>
            <p:txBody>
              <a:bodyPr/>
              <a:lstStyle/>
              <a:p>
                <a:r>
                  <a:rPr lang="fr-FR">
                    <a:noFill/>
                  </a:rPr>
                  <a:t> </a:t>
                </a:r>
              </a:p>
            </p:txBody>
          </p:sp>
        </mc:Fallback>
      </mc:AlternateContent>
      <p:grpSp>
        <p:nvGrpSpPr>
          <p:cNvPr id="5" name="Groupe 4">
            <a:extLst>
              <a:ext uri="{FF2B5EF4-FFF2-40B4-BE49-F238E27FC236}">
                <a16:creationId xmlns:a16="http://schemas.microsoft.com/office/drawing/2014/main" id="{BF7BED82-DFE5-4E16-8A99-4BDEC1254E9A}"/>
              </a:ext>
            </a:extLst>
          </p:cNvPr>
          <p:cNvGrpSpPr/>
          <p:nvPr/>
        </p:nvGrpSpPr>
        <p:grpSpPr>
          <a:xfrm>
            <a:off x="4792996" y="3295497"/>
            <a:ext cx="2537031" cy="1453036"/>
            <a:chOff x="5849692" y="4595339"/>
            <a:chExt cx="3382708" cy="1937381"/>
          </a:xfrm>
        </p:grpSpPr>
        <p:sp>
          <p:nvSpPr>
            <p:cNvPr id="22" name="Organigramme : Connecteur 21">
              <a:extLst>
                <a:ext uri="{FF2B5EF4-FFF2-40B4-BE49-F238E27FC236}">
                  <a16:creationId xmlns:a16="http://schemas.microsoft.com/office/drawing/2014/main" id="{D202B76D-EE55-4FD6-BDFE-188C0C325A9C}"/>
                </a:ext>
              </a:extLst>
            </p:cNvPr>
            <p:cNvSpPr/>
            <p:nvPr/>
          </p:nvSpPr>
          <p:spPr>
            <a:xfrm>
              <a:off x="7584535" y="5442257"/>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3" name="Organigramme : Connecteur 22">
              <a:extLst>
                <a:ext uri="{FF2B5EF4-FFF2-40B4-BE49-F238E27FC236}">
                  <a16:creationId xmlns:a16="http://schemas.microsoft.com/office/drawing/2014/main" id="{F0D242EA-236D-4645-9C81-5C84DA3CBCC1}"/>
                </a:ext>
              </a:extLst>
            </p:cNvPr>
            <p:cNvSpPr/>
            <p:nvPr/>
          </p:nvSpPr>
          <p:spPr>
            <a:xfrm>
              <a:off x="7584534" y="5633222"/>
              <a:ext cx="133847" cy="141136"/>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nvGrpSpPr>
            <p:cNvPr id="6" name="Groupe 5">
              <a:extLst>
                <a:ext uri="{FF2B5EF4-FFF2-40B4-BE49-F238E27FC236}">
                  <a16:creationId xmlns:a16="http://schemas.microsoft.com/office/drawing/2014/main" id="{CC6872C0-BDDF-47CE-98B0-643BBEEA642D}"/>
                </a:ext>
              </a:extLst>
            </p:cNvPr>
            <p:cNvGrpSpPr/>
            <p:nvPr/>
          </p:nvGrpSpPr>
          <p:grpSpPr>
            <a:xfrm>
              <a:off x="5946633" y="4599246"/>
              <a:ext cx="3285767" cy="1933474"/>
              <a:chOff x="2121833" y="2346570"/>
              <a:chExt cx="4942895" cy="2995722"/>
            </a:xfrm>
          </p:grpSpPr>
          <p:cxnSp>
            <p:nvCxnSpPr>
              <p:cNvPr id="7" name="Connecteur droit avec flèche 6">
                <a:extLst>
                  <a:ext uri="{FF2B5EF4-FFF2-40B4-BE49-F238E27FC236}">
                    <a16:creationId xmlns:a16="http://schemas.microsoft.com/office/drawing/2014/main" id="{6EF43983-C059-43B3-A2C4-98AE5EDAE504}"/>
                  </a:ext>
                </a:extLst>
              </p:cNvPr>
              <p:cNvCxnSpPr/>
              <p:nvPr/>
            </p:nvCxnSpPr>
            <p:spPr>
              <a:xfrm>
                <a:off x="2623930" y="5041128"/>
                <a:ext cx="44407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9012D059-1AE2-4C1A-A602-E85163DDB14B}"/>
                  </a:ext>
                </a:extLst>
              </p:cNvPr>
              <p:cNvCxnSpPr>
                <a:cxnSpLocks/>
              </p:cNvCxnSpPr>
              <p:nvPr/>
            </p:nvCxnSpPr>
            <p:spPr>
              <a:xfrm flipV="1">
                <a:off x="2776330" y="2409245"/>
                <a:ext cx="0" cy="2784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C01923D2-18AB-4511-9B9D-B23ABD33603F}"/>
                  </a:ext>
                </a:extLst>
              </p:cNvPr>
              <p:cNvSpPr/>
              <p:nvPr/>
            </p:nvSpPr>
            <p:spPr>
              <a:xfrm>
                <a:off x="5658018" y="5128487"/>
                <a:ext cx="813510" cy="21380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disp</a:t>
                </a:r>
              </a:p>
            </p:txBody>
          </p:sp>
          <p:sp>
            <p:nvSpPr>
              <p:cNvPr id="11" name="Rectangle 10">
                <a:extLst>
                  <a:ext uri="{FF2B5EF4-FFF2-40B4-BE49-F238E27FC236}">
                    <a16:creationId xmlns:a16="http://schemas.microsoft.com/office/drawing/2014/main" id="{867B970F-46F3-458A-8976-823383AE4F3E}"/>
                  </a:ext>
                </a:extLst>
              </p:cNvPr>
              <p:cNvSpPr/>
              <p:nvPr/>
            </p:nvSpPr>
            <p:spPr>
              <a:xfrm>
                <a:off x="2121833" y="2346570"/>
                <a:ext cx="569022" cy="30230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600" dirty="0"/>
                  <a:t>cyl</a:t>
                </a:r>
              </a:p>
            </p:txBody>
          </p:sp>
        </p:grpSp>
        <p:cxnSp>
          <p:nvCxnSpPr>
            <p:cNvPr id="15" name="Connecteur droit avec flèche 14">
              <a:extLst>
                <a:ext uri="{FF2B5EF4-FFF2-40B4-BE49-F238E27FC236}">
                  <a16:creationId xmlns:a16="http://schemas.microsoft.com/office/drawing/2014/main" id="{7D89D3FD-0A4E-40D3-9430-4E1B2A6E53C3}"/>
                </a:ext>
              </a:extLst>
            </p:cNvPr>
            <p:cNvCxnSpPr>
              <a:cxnSpLocks/>
            </p:cNvCxnSpPr>
            <p:nvPr/>
          </p:nvCxnSpPr>
          <p:spPr>
            <a:xfrm flipH="1" flipV="1">
              <a:off x="7651458" y="5489027"/>
              <a:ext cx="1" cy="835640"/>
            </a:xfrm>
            <a:prstGeom prst="straightConnector1">
              <a:avLst/>
            </a:prstGeom>
            <a:ln>
              <a:prstDash val="dash"/>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6F92D2E2-052A-4485-80CD-A2E85D4C91BA}"/>
                </a:ext>
              </a:extLst>
            </p:cNvPr>
            <p:cNvSpPr/>
            <p:nvPr/>
          </p:nvSpPr>
          <p:spPr>
            <a:xfrm>
              <a:off x="7604877" y="6354005"/>
              <a:ext cx="93163" cy="138044"/>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6</a:t>
              </a:r>
            </a:p>
          </p:txBody>
        </p:sp>
        <p:cxnSp>
          <p:nvCxnSpPr>
            <p:cNvPr id="17" name="Connecteur droit avec flèche 16">
              <a:extLst>
                <a:ext uri="{FF2B5EF4-FFF2-40B4-BE49-F238E27FC236}">
                  <a16:creationId xmlns:a16="http://schemas.microsoft.com/office/drawing/2014/main" id="{83E77F3F-B04E-4D5C-8297-CEB30EBF4073}"/>
                </a:ext>
              </a:extLst>
            </p:cNvPr>
            <p:cNvCxnSpPr>
              <a:cxnSpLocks/>
            </p:cNvCxnSpPr>
            <p:nvPr/>
          </p:nvCxnSpPr>
          <p:spPr>
            <a:xfrm>
              <a:off x="6381708" y="5703419"/>
              <a:ext cx="1269750" cy="0"/>
            </a:xfrm>
            <a:prstGeom prst="straightConnector1">
              <a:avLst/>
            </a:prstGeom>
            <a:ln>
              <a:prstDash val="dash"/>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Connecteur droit avec flèche 17">
              <a:extLst>
                <a:ext uri="{FF2B5EF4-FFF2-40B4-BE49-F238E27FC236}">
                  <a16:creationId xmlns:a16="http://schemas.microsoft.com/office/drawing/2014/main" id="{A7C2CCE2-24DD-47D6-97AB-F4EA84E38202}"/>
                </a:ext>
              </a:extLst>
            </p:cNvPr>
            <p:cNvCxnSpPr>
              <a:cxnSpLocks/>
            </p:cNvCxnSpPr>
            <p:nvPr/>
          </p:nvCxnSpPr>
          <p:spPr>
            <a:xfrm>
              <a:off x="6381708" y="5499095"/>
              <a:ext cx="1269750" cy="0"/>
            </a:xfrm>
            <a:prstGeom prst="straightConnector1">
              <a:avLst/>
            </a:prstGeom>
            <a:ln>
              <a:prstDash val="dash"/>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CC40D98E-1594-4ABD-83E7-63982EE1858E}"/>
                </a:ext>
              </a:extLst>
            </p:cNvPr>
            <p:cNvSpPr/>
            <p:nvPr/>
          </p:nvSpPr>
          <p:spPr>
            <a:xfrm>
              <a:off x="5849692" y="5659033"/>
              <a:ext cx="516441" cy="11358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225</a:t>
              </a:r>
            </a:p>
          </p:txBody>
        </p:sp>
        <p:sp>
          <p:nvSpPr>
            <p:cNvPr id="20" name="Rectangle 19">
              <a:extLst>
                <a:ext uri="{FF2B5EF4-FFF2-40B4-BE49-F238E27FC236}">
                  <a16:creationId xmlns:a16="http://schemas.microsoft.com/office/drawing/2014/main" id="{CBA925B9-2E90-4A24-8311-E19DA85E61FD}"/>
                </a:ext>
              </a:extLst>
            </p:cNvPr>
            <p:cNvSpPr/>
            <p:nvPr/>
          </p:nvSpPr>
          <p:spPr>
            <a:xfrm>
              <a:off x="5876021" y="5374416"/>
              <a:ext cx="450460" cy="233440"/>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700" dirty="0"/>
                <a:t>258</a:t>
              </a:r>
            </a:p>
          </p:txBody>
        </p:sp>
        <p:sp>
          <p:nvSpPr>
            <p:cNvPr id="24" name="Organigramme : Connecteur 23">
              <a:extLst>
                <a:ext uri="{FF2B5EF4-FFF2-40B4-BE49-F238E27FC236}">
                  <a16:creationId xmlns:a16="http://schemas.microsoft.com/office/drawing/2014/main" id="{1C0A0B40-61E9-4132-8459-54C8173B5986}"/>
                </a:ext>
              </a:extLst>
            </p:cNvPr>
            <p:cNvSpPr/>
            <p:nvPr/>
          </p:nvSpPr>
          <p:spPr>
            <a:xfrm>
              <a:off x="6815876" y="484649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5" name="Organigramme : Connecteur 24">
              <a:extLst>
                <a:ext uri="{FF2B5EF4-FFF2-40B4-BE49-F238E27FC236}">
                  <a16:creationId xmlns:a16="http://schemas.microsoft.com/office/drawing/2014/main" id="{243314D5-317F-4467-9337-B1AAFD371CFE}"/>
                </a:ext>
              </a:extLst>
            </p:cNvPr>
            <p:cNvSpPr/>
            <p:nvPr/>
          </p:nvSpPr>
          <p:spPr>
            <a:xfrm>
              <a:off x="7055511" y="500559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6" name="Organigramme : Connecteur 25">
              <a:extLst>
                <a:ext uri="{FF2B5EF4-FFF2-40B4-BE49-F238E27FC236}">
                  <a16:creationId xmlns:a16="http://schemas.microsoft.com/office/drawing/2014/main" id="{A6B7D21F-26E2-49D7-A31E-9E503F212734}"/>
                </a:ext>
              </a:extLst>
            </p:cNvPr>
            <p:cNvSpPr/>
            <p:nvPr/>
          </p:nvSpPr>
          <p:spPr>
            <a:xfrm>
              <a:off x="7189358" y="511780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7" name="Organigramme : Connecteur 26">
              <a:extLst>
                <a:ext uri="{FF2B5EF4-FFF2-40B4-BE49-F238E27FC236}">
                  <a16:creationId xmlns:a16="http://schemas.microsoft.com/office/drawing/2014/main" id="{E555FBFB-9015-4B2F-90A0-0EE3D555E8DB}"/>
                </a:ext>
              </a:extLst>
            </p:cNvPr>
            <p:cNvSpPr/>
            <p:nvPr/>
          </p:nvSpPr>
          <p:spPr>
            <a:xfrm>
              <a:off x="8106558" y="581973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8" name="Organigramme : Connecteur 27">
              <a:extLst>
                <a:ext uri="{FF2B5EF4-FFF2-40B4-BE49-F238E27FC236}">
                  <a16:creationId xmlns:a16="http://schemas.microsoft.com/office/drawing/2014/main" id="{0945E1A7-3047-483C-B2D3-1A7A3D540917}"/>
                </a:ext>
              </a:extLst>
            </p:cNvPr>
            <p:cNvSpPr/>
            <p:nvPr/>
          </p:nvSpPr>
          <p:spPr>
            <a:xfrm>
              <a:off x="8197925" y="558852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9" name="Organigramme : Connecteur 28">
              <a:extLst>
                <a:ext uri="{FF2B5EF4-FFF2-40B4-BE49-F238E27FC236}">
                  <a16:creationId xmlns:a16="http://schemas.microsoft.com/office/drawing/2014/main" id="{3E08D61F-8092-4092-A81F-AD65BFA7901B}"/>
                </a:ext>
              </a:extLst>
            </p:cNvPr>
            <p:cNvSpPr/>
            <p:nvPr/>
          </p:nvSpPr>
          <p:spPr>
            <a:xfrm>
              <a:off x="8452629" y="550558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0" name="Organigramme : Connecteur 29">
              <a:extLst>
                <a:ext uri="{FF2B5EF4-FFF2-40B4-BE49-F238E27FC236}">
                  <a16:creationId xmlns:a16="http://schemas.microsoft.com/office/drawing/2014/main" id="{14AECA3F-CE29-4AEA-B7A9-835B9B417DF7}"/>
                </a:ext>
              </a:extLst>
            </p:cNvPr>
            <p:cNvSpPr/>
            <p:nvPr/>
          </p:nvSpPr>
          <p:spPr>
            <a:xfrm>
              <a:off x="6766577" y="5914348"/>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1" name="Organigramme : Connecteur 30">
              <a:extLst>
                <a:ext uri="{FF2B5EF4-FFF2-40B4-BE49-F238E27FC236}">
                  <a16:creationId xmlns:a16="http://schemas.microsoft.com/office/drawing/2014/main" id="{80CA9F03-94A5-4622-A6DB-707764ECD015}"/>
                </a:ext>
              </a:extLst>
            </p:cNvPr>
            <p:cNvSpPr/>
            <p:nvPr/>
          </p:nvSpPr>
          <p:spPr>
            <a:xfrm>
              <a:off x="7383764" y="5749165"/>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 name="Ellipse 2">
              <a:extLst>
                <a:ext uri="{FF2B5EF4-FFF2-40B4-BE49-F238E27FC236}">
                  <a16:creationId xmlns:a16="http://schemas.microsoft.com/office/drawing/2014/main" id="{80436DF8-D2F0-406A-9FB5-2B0DFE35BD8A}"/>
                </a:ext>
              </a:extLst>
            </p:cNvPr>
            <p:cNvSpPr>
              <a:spLocks noChangeAspect="1"/>
            </p:cNvSpPr>
            <p:nvPr/>
          </p:nvSpPr>
          <p:spPr>
            <a:xfrm>
              <a:off x="7251454" y="5290052"/>
              <a:ext cx="731438" cy="756000"/>
            </a:xfrm>
            <a:prstGeom prst="ellipse">
              <a:avLst/>
            </a:prstGeom>
            <a:noFill/>
            <a:ln w="31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solidFill>
                  <a:schemeClr val="tx1"/>
                </a:solidFill>
              </a:endParaRPr>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EB0AB2FC-B738-4294-9F3F-72ED01FF99C4}"/>
                    </a:ext>
                  </a:extLst>
                </p:cNvPr>
                <p:cNvSpPr/>
                <p:nvPr/>
              </p:nvSpPr>
              <p:spPr>
                <a:xfrm>
                  <a:off x="7514421" y="4595339"/>
                  <a:ext cx="782872" cy="195111"/>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825" i="1">
                            <a:latin typeface="Cambria Math" panose="02040503050406030204" pitchFamily="18" charset="0"/>
                          </a:rPr>
                          <m:t>𝑘</m:t>
                        </m:r>
                        <m:r>
                          <a:rPr lang="fr-FR" sz="825" i="1">
                            <a:latin typeface="Cambria Math" panose="02040503050406030204" pitchFamily="18" charset="0"/>
                          </a:rPr>
                          <m:t>=3</m:t>
                        </m:r>
                      </m:oMath>
                    </m:oMathPara>
                  </a14:m>
                  <a:endParaRPr lang="fr-FR" sz="825" dirty="0"/>
                </a:p>
              </p:txBody>
            </p:sp>
          </mc:Choice>
          <mc:Fallback xmlns="">
            <p:sp>
              <p:nvSpPr>
                <p:cNvPr id="32" name="Rectangle 31">
                  <a:extLst>
                    <a:ext uri="{FF2B5EF4-FFF2-40B4-BE49-F238E27FC236}">
                      <a16:creationId xmlns:a16="http://schemas.microsoft.com/office/drawing/2014/main" id="{EB0AB2FC-B738-4294-9F3F-72ED01FF99C4}"/>
                    </a:ext>
                  </a:extLst>
                </p:cNvPr>
                <p:cNvSpPr>
                  <a:spLocks noRot="1" noChangeAspect="1" noMove="1" noResize="1" noEditPoints="1" noAdjustHandles="1" noChangeArrowheads="1" noChangeShapeType="1" noTextEdit="1"/>
                </p:cNvSpPr>
                <p:nvPr/>
              </p:nvSpPr>
              <p:spPr>
                <a:xfrm>
                  <a:off x="7514421" y="4595339"/>
                  <a:ext cx="782872" cy="195111"/>
                </a:xfrm>
                <a:prstGeom prst="rect">
                  <a:avLst/>
                </a:prstGeom>
                <a:blipFill>
                  <a:blip r:embed="rId6"/>
                  <a:stretch>
                    <a:fillRect b="-3125"/>
                  </a:stretch>
                </a:blipFill>
                <a:ln w="9525" cap="flat" cmpd="sng" algn="ctr">
                  <a:noFill/>
                  <a:prstDash val="solid"/>
                  <a:round/>
                  <a:headEnd type="none" w="med" len="med"/>
                  <a:tailEnd type="none" w="med" len="med"/>
                </a:ln>
              </p:spPr>
              <p:txBody>
                <a:bodyPr/>
                <a:lstStyle/>
                <a:p>
                  <a:r>
                    <a:rPr lang="fr-FR">
                      <a:noFill/>
                    </a:rPr>
                    <a:t> </a:t>
                  </a:r>
                </a:p>
              </p:txBody>
            </p:sp>
          </mc:Fallback>
        </mc:AlternateContent>
        <p:sp>
          <p:nvSpPr>
            <p:cNvPr id="33" name="Légende : flèche courbée 32">
              <a:extLst>
                <a:ext uri="{FF2B5EF4-FFF2-40B4-BE49-F238E27FC236}">
                  <a16:creationId xmlns:a16="http://schemas.microsoft.com/office/drawing/2014/main" id="{714E9FB3-9A90-4FD5-88DF-C914E1F8F4F4}"/>
                </a:ext>
              </a:extLst>
            </p:cNvPr>
            <p:cNvSpPr/>
            <p:nvPr/>
          </p:nvSpPr>
          <p:spPr>
            <a:xfrm>
              <a:off x="8393182" y="5156557"/>
              <a:ext cx="684000" cy="219102"/>
            </a:xfrm>
            <a:prstGeom prst="borderCallout2">
              <a:avLst>
                <a:gd name="adj1" fmla="val 36070"/>
                <a:gd name="adj2" fmla="val -5468"/>
                <a:gd name="adj3" fmla="val 38154"/>
                <a:gd name="adj4" fmla="val -27343"/>
                <a:gd name="adj5" fmla="val 221286"/>
                <a:gd name="adj6" fmla="val -93072"/>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825" dirty="0"/>
                <a:t>Valiant</a:t>
              </a:r>
            </a:p>
          </p:txBody>
        </p:sp>
        <p:sp>
          <p:nvSpPr>
            <p:cNvPr id="34" name="Légende : flèche courbée 33">
              <a:extLst>
                <a:ext uri="{FF2B5EF4-FFF2-40B4-BE49-F238E27FC236}">
                  <a16:creationId xmlns:a16="http://schemas.microsoft.com/office/drawing/2014/main" id="{7DBFD945-E9AB-4796-865C-5B06880826F7}"/>
                </a:ext>
              </a:extLst>
            </p:cNvPr>
            <p:cNvSpPr/>
            <p:nvPr/>
          </p:nvSpPr>
          <p:spPr>
            <a:xfrm>
              <a:off x="8393182" y="4878211"/>
              <a:ext cx="684000" cy="219102"/>
            </a:xfrm>
            <a:prstGeom prst="borderCallout2">
              <a:avLst>
                <a:gd name="adj1" fmla="val 36070"/>
                <a:gd name="adj2" fmla="val -5468"/>
                <a:gd name="adj3" fmla="val 38154"/>
                <a:gd name="adj4" fmla="val -27343"/>
                <a:gd name="adj5" fmla="val 253947"/>
                <a:gd name="adj6" fmla="val -93072"/>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825" dirty="0"/>
                <a:t>Hornet</a:t>
              </a:r>
            </a:p>
          </p:txBody>
        </p:sp>
      </p:grpSp>
      <p:sp>
        <p:nvSpPr>
          <p:cNvPr id="35" name="Title 13">
            <a:extLst>
              <a:ext uri="{FF2B5EF4-FFF2-40B4-BE49-F238E27FC236}">
                <a16:creationId xmlns:a16="http://schemas.microsoft.com/office/drawing/2014/main" id="{E78DEF54-C69D-401D-9252-4CB4400F6E04}"/>
              </a:ext>
            </a:extLst>
          </p:cNvPr>
          <p:cNvSpPr txBox="1">
            <a:spLocks/>
          </p:cNvSpPr>
          <p:nvPr/>
        </p:nvSpPr>
        <p:spPr>
          <a:xfrm>
            <a:off x="378638" y="959489"/>
            <a:ext cx="6249917" cy="24011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KNN pour la régression</a:t>
            </a:r>
          </a:p>
        </p:txBody>
      </p:sp>
    </p:spTree>
    <p:extLst>
      <p:ext uri="{BB962C8B-B14F-4D97-AF65-F5344CB8AC3E}">
        <p14:creationId xmlns:p14="http://schemas.microsoft.com/office/powerpoint/2010/main" val="3758101964"/>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algn="just">
                  <a:lnSpc>
                    <a:spcPct val="150000"/>
                  </a:lnSpc>
                  <a:buClr>
                    <a:schemeClr val="accent2"/>
                  </a:buClr>
                </a:pPr>
                <a:r>
                  <a:rPr lang="fr-FR" sz="1425" dirty="0"/>
                  <a:t>Déterminer la valeur </a:t>
                </a:r>
                <a14:m>
                  <m:oMath xmlns:m="http://schemas.openxmlformats.org/officeDocument/2006/math">
                    <m:r>
                      <a:rPr lang="fr-FR" sz="1425" i="1" dirty="0">
                        <a:latin typeface="Cambria Math" panose="02040503050406030204" pitchFamily="18" charset="0"/>
                      </a:rPr>
                      <m:t>𝑘</m:t>
                    </m:r>
                  </m:oMath>
                </a14:m>
                <a:r>
                  <a:rPr lang="fr-FR" sz="1425" dirty="0"/>
                  <a:t>, qui est le nombre de voisins les plus proches à considérer.</a:t>
                </a:r>
              </a:p>
              <a:p>
                <a:pPr algn="just">
                  <a:lnSpc>
                    <a:spcPct val="150000"/>
                  </a:lnSpc>
                  <a:buClr>
                    <a:schemeClr val="accent2"/>
                  </a:buClr>
                </a:pPr>
                <a:r>
                  <a:rPr lang="fr-FR" sz="1425" dirty="0"/>
                  <a:t>Trouver les </a:t>
                </a:r>
                <a14:m>
                  <m:oMath xmlns:m="http://schemas.openxmlformats.org/officeDocument/2006/math">
                    <m:r>
                      <a:rPr lang="fr-FR" sz="1425" i="1" dirty="0">
                        <a:latin typeface="Cambria Math" panose="02040503050406030204" pitchFamily="18" charset="0"/>
                      </a:rPr>
                      <m:t>𝑘</m:t>
                    </m:r>
                  </m:oMath>
                </a14:m>
                <a:r>
                  <a:rPr lang="fr-FR" sz="1425" dirty="0"/>
                  <a:t> voisins les plus proches du nouveau point de données dans l'espace des caractéristiques.</a:t>
                </a:r>
              </a:p>
              <a:p>
                <a:pPr algn="just">
                  <a:lnSpc>
                    <a:spcPct val="150000"/>
                  </a:lnSpc>
                  <a:buClr>
                    <a:schemeClr val="accent2"/>
                  </a:buClr>
                </a:pPr>
                <a:r>
                  <a:rPr lang="fr-FR" sz="1425" dirty="0"/>
                  <a:t>Déterminer la classe majoritaire parmi les </a:t>
                </a:r>
                <a14:m>
                  <m:oMath xmlns:m="http://schemas.openxmlformats.org/officeDocument/2006/math">
                    <m:r>
                      <a:rPr lang="fr-FR" sz="1425" i="1" dirty="0">
                        <a:latin typeface="Cambria Math" panose="02040503050406030204" pitchFamily="18" charset="0"/>
                      </a:rPr>
                      <m:t>𝑘</m:t>
                    </m:r>
                  </m:oMath>
                </a14:m>
                <a:r>
                  <a:rPr lang="fr-FR" sz="1425" dirty="0"/>
                  <a:t> plus proches voisins.</a:t>
                </a:r>
              </a:p>
              <a:p>
                <a:pPr algn="just">
                  <a:lnSpc>
                    <a:spcPct val="150000"/>
                  </a:lnSpc>
                  <a:buClr>
                    <a:schemeClr val="accent2"/>
                  </a:buClr>
                </a:pPr>
                <a:r>
                  <a:rPr lang="fr-FR" sz="1425" dirty="0"/>
                  <a:t> Attribuer le nouveau point de données à la classe majoritaire.</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1400" cy="3539258"/>
              </a:xfrm>
              <a:blipFill>
                <a:blip r:embed="rId2"/>
                <a:stretch>
                  <a:fillRect l="-1760" r="-186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195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 :</a:t>
            </a:r>
            <a:r>
              <a:rPr lang="fr-FR" sz="2100" b="0" dirty="0"/>
              <a:t> fonctionnement</a:t>
            </a:r>
          </a:p>
        </p:txBody>
      </p:sp>
      <p:sp>
        <p:nvSpPr>
          <p:cNvPr id="5" name="Title 13">
            <a:extLst>
              <a:ext uri="{FF2B5EF4-FFF2-40B4-BE49-F238E27FC236}">
                <a16:creationId xmlns:a16="http://schemas.microsoft.com/office/drawing/2014/main" id="{617E70C1-239D-41CD-BB6B-BBF3E52DFD08}"/>
              </a:ext>
            </a:extLst>
          </p:cNvPr>
          <p:cNvSpPr txBox="1">
            <a:spLocks/>
          </p:cNvSpPr>
          <p:nvPr/>
        </p:nvSpPr>
        <p:spPr>
          <a:xfrm>
            <a:off x="378638" y="959489"/>
            <a:ext cx="6249917" cy="24011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KNN pour la régression</a:t>
            </a:r>
          </a:p>
        </p:txBody>
      </p:sp>
    </p:spTree>
    <p:extLst>
      <p:ext uri="{BB962C8B-B14F-4D97-AF65-F5344CB8AC3E}">
        <p14:creationId xmlns:p14="http://schemas.microsoft.com/office/powerpoint/2010/main" val="427332802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196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 :</a:t>
            </a:r>
            <a:r>
              <a:rPr lang="fr-FR" sz="2100" b="0" dirty="0"/>
              <a:t> fonctionnement</a:t>
            </a:r>
          </a:p>
        </p:txBody>
      </p:sp>
      <p:grpSp>
        <p:nvGrpSpPr>
          <p:cNvPr id="5" name="Groupe 4">
            <a:extLst>
              <a:ext uri="{FF2B5EF4-FFF2-40B4-BE49-F238E27FC236}">
                <a16:creationId xmlns:a16="http://schemas.microsoft.com/office/drawing/2014/main" id="{EC88C705-6B4C-4605-9B91-28E4AA00985A}"/>
              </a:ext>
            </a:extLst>
          </p:cNvPr>
          <p:cNvGrpSpPr/>
          <p:nvPr/>
        </p:nvGrpSpPr>
        <p:grpSpPr>
          <a:xfrm>
            <a:off x="797866" y="1914277"/>
            <a:ext cx="3443897" cy="2048998"/>
            <a:chOff x="5849692" y="4595339"/>
            <a:chExt cx="3130033" cy="1937381"/>
          </a:xfrm>
        </p:grpSpPr>
        <p:sp>
          <p:nvSpPr>
            <p:cNvPr id="6" name="Organigramme : Connecteur 5">
              <a:extLst>
                <a:ext uri="{FF2B5EF4-FFF2-40B4-BE49-F238E27FC236}">
                  <a16:creationId xmlns:a16="http://schemas.microsoft.com/office/drawing/2014/main" id="{79EB1909-B52D-4A9A-9236-606356279F1D}"/>
                </a:ext>
              </a:extLst>
            </p:cNvPr>
            <p:cNvSpPr/>
            <p:nvPr/>
          </p:nvSpPr>
          <p:spPr>
            <a:xfrm>
              <a:off x="7584535" y="5442257"/>
              <a:ext cx="133847" cy="141136"/>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 name="Organigramme : Connecteur 6">
              <a:extLst>
                <a:ext uri="{FF2B5EF4-FFF2-40B4-BE49-F238E27FC236}">
                  <a16:creationId xmlns:a16="http://schemas.microsoft.com/office/drawing/2014/main" id="{0E6B6AFD-CBEE-439D-96FA-DD38F536309F}"/>
                </a:ext>
              </a:extLst>
            </p:cNvPr>
            <p:cNvSpPr/>
            <p:nvPr/>
          </p:nvSpPr>
          <p:spPr>
            <a:xfrm>
              <a:off x="7584534" y="5633222"/>
              <a:ext cx="133847" cy="141136"/>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nvGrpSpPr>
            <p:cNvPr id="8" name="Groupe 7">
              <a:extLst>
                <a:ext uri="{FF2B5EF4-FFF2-40B4-BE49-F238E27FC236}">
                  <a16:creationId xmlns:a16="http://schemas.microsoft.com/office/drawing/2014/main" id="{25F2F9FD-5519-46AA-A11E-F1AAF5EDD355}"/>
                </a:ext>
              </a:extLst>
            </p:cNvPr>
            <p:cNvGrpSpPr/>
            <p:nvPr/>
          </p:nvGrpSpPr>
          <p:grpSpPr>
            <a:xfrm>
              <a:off x="5946633" y="4599246"/>
              <a:ext cx="3033092" cy="1933474"/>
              <a:chOff x="2121833" y="2346570"/>
              <a:chExt cx="4562786" cy="2995722"/>
            </a:xfrm>
          </p:grpSpPr>
          <p:cxnSp>
            <p:nvCxnSpPr>
              <p:cNvPr id="29" name="Connecteur droit avec flèche 28">
                <a:extLst>
                  <a:ext uri="{FF2B5EF4-FFF2-40B4-BE49-F238E27FC236}">
                    <a16:creationId xmlns:a16="http://schemas.microsoft.com/office/drawing/2014/main" id="{A2B95C7C-2BBD-4F20-A1EF-D4F7C890AB2F}"/>
                  </a:ext>
                </a:extLst>
              </p:cNvPr>
              <p:cNvCxnSpPr/>
              <p:nvPr/>
            </p:nvCxnSpPr>
            <p:spPr>
              <a:xfrm>
                <a:off x="2623930" y="5041127"/>
                <a:ext cx="40606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855D260A-4312-483F-AF0A-060D1FCAF6D5}"/>
                  </a:ext>
                </a:extLst>
              </p:cNvPr>
              <p:cNvCxnSpPr>
                <a:cxnSpLocks/>
              </p:cNvCxnSpPr>
              <p:nvPr/>
            </p:nvCxnSpPr>
            <p:spPr>
              <a:xfrm flipV="1">
                <a:off x="2776330" y="2409245"/>
                <a:ext cx="0" cy="2784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FEF1DDF2-0F71-4C6C-BF9C-4D518F42667D}"/>
                  </a:ext>
                </a:extLst>
              </p:cNvPr>
              <p:cNvSpPr/>
              <p:nvPr/>
            </p:nvSpPr>
            <p:spPr>
              <a:xfrm>
                <a:off x="5658018" y="5128487"/>
                <a:ext cx="813510" cy="21380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disp</a:t>
                </a:r>
              </a:p>
            </p:txBody>
          </p:sp>
          <p:sp>
            <p:nvSpPr>
              <p:cNvPr id="32" name="Rectangle 31">
                <a:extLst>
                  <a:ext uri="{FF2B5EF4-FFF2-40B4-BE49-F238E27FC236}">
                    <a16:creationId xmlns:a16="http://schemas.microsoft.com/office/drawing/2014/main" id="{0771C37A-F414-4F92-BB22-72494A8C05AB}"/>
                  </a:ext>
                </a:extLst>
              </p:cNvPr>
              <p:cNvSpPr/>
              <p:nvPr/>
            </p:nvSpPr>
            <p:spPr>
              <a:xfrm>
                <a:off x="2121833" y="2346570"/>
                <a:ext cx="569022" cy="30230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cyl</a:t>
                </a:r>
              </a:p>
            </p:txBody>
          </p:sp>
        </p:grpSp>
        <p:cxnSp>
          <p:nvCxnSpPr>
            <p:cNvPr id="9" name="Connecteur droit avec flèche 8">
              <a:extLst>
                <a:ext uri="{FF2B5EF4-FFF2-40B4-BE49-F238E27FC236}">
                  <a16:creationId xmlns:a16="http://schemas.microsoft.com/office/drawing/2014/main" id="{D7BA73A9-927D-4C93-A880-505B8A498898}"/>
                </a:ext>
              </a:extLst>
            </p:cNvPr>
            <p:cNvCxnSpPr>
              <a:cxnSpLocks/>
            </p:cNvCxnSpPr>
            <p:nvPr/>
          </p:nvCxnSpPr>
          <p:spPr>
            <a:xfrm flipH="1" flipV="1">
              <a:off x="7651458" y="5489027"/>
              <a:ext cx="1" cy="835640"/>
            </a:xfrm>
            <a:prstGeom prst="straightConnector1">
              <a:avLst/>
            </a:prstGeom>
            <a:ln>
              <a:prstDash val="dash"/>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785660E-51F0-43D7-8B62-BA99C7A790DC}"/>
                </a:ext>
              </a:extLst>
            </p:cNvPr>
            <p:cNvSpPr/>
            <p:nvPr/>
          </p:nvSpPr>
          <p:spPr>
            <a:xfrm>
              <a:off x="7604877" y="6354005"/>
              <a:ext cx="93163" cy="138044"/>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6</a:t>
              </a:r>
            </a:p>
          </p:txBody>
        </p:sp>
        <p:cxnSp>
          <p:nvCxnSpPr>
            <p:cNvPr id="11" name="Connecteur droit avec flèche 10">
              <a:extLst>
                <a:ext uri="{FF2B5EF4-FFF2-40B4-BE49-F238E27FC236}">
                  <a16:creationId xmlns:a16="http://schemas.microsoft.com/office/drawing/2014/main" id="{D7A43781-F34C-4CD6-93C1-BC978665D293}"/>
                </a:ext>
              </a:extLst>
            </p:cNvPr>
            <p:cNvCxnSpPr>
              <a:cxnSpLocks/>
            </p:cNvCxnSpPr>
            <p:nvPr/>
          </p:nvCxnSpPr>
          <p:spPr>
            <a:xfrm>
              <a:off x="6381708" y="5703419"/>
              <a:ext cx="1269750" cy="0"/>
            </a:xfrm>
            <a:prstGeom prst="straightConnector1">
              <a:avLst/>
            </a:prstGeom>
            <a:ln>
              <a:prstDash val="dash"/>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E0E3422A-E291-44F4-9366-23D7970EE43D}"/>
                </a:ext>
              </a:extLst>
            </p:cNvPr>
            <p:cNvCxnSpPr>
              <a:cxnSpLocks/>
            </p:cNvCxnSpPr>
            <p:nvPr/>
          </p:nvCxnSpPr>
          <p:spPr>
            <a:xfrm>
              <a:off x="6381708" y="5499095"/>
              <a:ext cx="1269750" cy="0"/>
            </a:xfrm>
            <a:prstGeom prst="straightConnector1">
              <a:avLst/>
            </a:prstGeom>
            <a:ln>
              <a:prstDash val="dash"/>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D798367E-D593-465C-9922-39BBD9E2011C}"/>
                </a:ext>
              </a:extLst>
            </p:cNvPr>
            <p:cNvSpPr/>
            <p:nvPr/>
          </p:nvSpPr>
          <p:spPr>
            <a:xfrm>
              <a:off x="5849692" y="5659033"/>
              <a:ext cx="516441" cy="11358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225</a:t>
              </a:r>
            </a:p>
          </p:txBody>
        </p:sp>
        <p:sp>
          <p:nvSpPr>
            <p:cNvPr id="15" name="Rectangle 14">
              <a:extLst>
                <a:ext uri="{FF2B5EF4-FFF2-40B4-BE49-F238E27FC236}">
                  <a16:creationId xmlns:a16="http://schemas.microsoft.com/office/drawing/2014/main" id="{A4DADA4C-431F-4C60-AD23-82AA2C7AA528}"/>
                </a:ext>
              </a:extLst>
            </p:cNvPr>
            <p:cNvSpPr/>
            <p:nvPr/>
          </p:nvSpPr>
          <p:spPr>
            <a:xfrm>
              <a:off x="5876021" y="5374416"/>
              <a:ext cx="450460" cy="233440"/>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258</a:t>
              </a:r>
            </a:p>
          </p:txBody>
        </p:sp>
        <p:sp>
          <p:nvSpPr>
            <p:cNvPr id="16" name="Organigramme : Connecteur 15">
              <a:extLst>
                <a:ext uri="{FF2B5EF4-FFF2-40B4-BE49-F238E27FC236}">
                  <a16:creationId xmlns:a16="http://schemas.microsoft.com/office/drawing/2014/main" id="{2DBD2FAA-7CE8-4BCC-A8F4-D135F9CB9FF0}"/>
                </a:ext>
              </a:extLst>
            </p:cNvPr>
            <p:cNvSpPr/>
            <p:nvPr/>
          </p:nvSpPr>
          <p:spPr>
            <a:xfrm>
              <a:off x="6815876" y="484649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7" name="Organigramme : Connecteur 16">
              <a:extLst>
                <a:ext uri="{FF2B5EF4-FFF2-40B4-BE49-F238E27FC236}">
                  <a16:creationId xmlns:a16="http://schemas.microsoft.com/office/drawing/2014/main" id="{79DA0B9C-335E-42EF-BC94-1F0702947A82}"/>
                </a:ext>
              </a:extLst>
            </p:cNvPr>
            <p:cNvSpPr/>
            <p:nvPr/>
          </p:nvSpPr>
          <p:spPr>
            <a:xfrm>
              <a:off x="7055511" y="500559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8" name="Organigramme : Connecteur 17">
              <a:extLst>
                <a:ext uri="{FF2B5EF4-FFF2-40B4-BE49-F238E27FC236}">
                  <a16:creationId xmlns:a16="http://schemas.microsoft.com/office/drawing/2014/main" id="{FCE41B07-A3CC-4814-84A7-769F21B84CEC}"/>
                </a:ext>
              </a:extLst>
            </p:cNvPr>
            <p:cNvSpPr/>
            <p:nvPr/>
          </p:nvSpPr>
          <p:spPr>
            <a:xfrm>
              <a:off x="7189358" y="511780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9" name="Organigramme : Connecteur 18">
              <a:extLst>
                <a:ext uri="{FF2B5EF4-FFF2-40B4-BE49-F238E27FC236}">
                  <a16:creationId xmlns:a16="http://schemas.microsoft.com/office/drawing/2014/main" id="{897ED151-22C6-4F37-9283-EC845C61E34F}"/>
                </a:ext>
              </a:extLst>
            </p:cNvPr>
            <p:cNvSpPr/>
            <p:nvPr/>
          </p:nvSpPr>
          <p:spPr>
            <a:xfrm>
              <a:off x="8106558" y="581973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0" name="Organigramme : Connecteur 19">
              <a:extLst>
                <a:ext uri="{FF2B5EF4-FFF2-40B4-BE49-F238E27FC236}">
                  <a16:creationId xmlns:a16="http://schemas.microsoft.com/office/drawing/2014/main" id="{8D9223E5-1978-4B8E-B5EA-DBB202FA5DA2}"/>
                </a:ext>
              </a:extLst>
            </p:cNvPr>
            <p:cNvSpPr/>
            <p:nvPr/>
          </p:nvSpPr>
          <p:spPr>
            <a:xfrm>
              <a:off x="8197925" y="558852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2" name="Organigramme : Connecteur 21">
              <a:extLst>
                <a:ext uri="{FF2B5EF4-FFF2-40B4-BE49-F238E27FC236}">
                  <a16:creationId xmlns:a16="http://schemas.microsoft.com/office/drawing/2014/main" id="{AA508868-EE7E-4369-9700-290C5100F164}"/>
                </a:ext>
              </a:extLst>
            </p:cNvPr>
            <p:cNvSpPr/>
            <p:nvPr/>
          </p:nvSpPr>
          <p:spPr>
            <a:xfrm>
              <a:off x="8452629" y="550558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3" name="Organigramme : Connecteur 22">
              <a:extLst>
                <a:ext uri="{FF2B5EF4-FFF2-40B4-BE49-F238E27FC236}">
                  <a16:creationId xmlns:a16="http://schemas.microsoft.com/office/drawing/2014/main" id="{4B8DCCB8-632C-482F-85CD-AE5D62F42313}"/>
                </a:ext>
              </a:extLst>
            </p:cNvPr>
            <p:cNvSpPr/>
            <p:nvPr/>
          </p:nvSpPr>
          <p:spPr>
            <a:xfrm>
              <a:off x="6766577" y="5914348"/>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4" name="Organigramme : Connecteur 23">
              <a:extLst>
                <a:ext uri="{FF2B5EF4-FFF2-40B4-BE49-F238E27FC236}">
                  <a16:creationId xmlns:a16="http://schemas.microsoft.com/office/drawing/2014/main" id="{F728026C-F1D5-4302-B50D-043DE5A18EBA}"/>
                </a:ext>
              </a:extLst>
            </p:cNvPr>
            <p:cNvSpPr/>
            <p:nvPr/>
          </p:nvSpPr>
          <p:spPr>
            <a:xfrm>
              <a:off x="7383764" y="5749165"/>
              <a:ext cx="133847" cy="141136"/>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5" name="Ellipse 24">
              <a:extLst>
                <a:ext uri="{FF2B5EF4-FFF2-40B4-BE49-F238E27FC236}">
                  <a16:creationId xmlns:a16="http://schemas.microsoft.com/office/drawing/2014/main" id="{DC02541B-55E2-474A-AE77-89B294AB7DC8}"/>
                </a:ext>
              </a:extLst>
            </p:cNvPr>
            <p:cNvSpPr>
              <a:spLocks noChangeAspect="1"/>
            </p:cNvSpPr>
            <p:nvPr/>
          </p:nvSpPr>
          <p:spPr>
            <a:xfrm>
              <a:off x="7251454" y="5290052"/>
              <a:ext cx="731438" cy="756000"/>
            </a:xfrm>
            <a:prstGeom prst="ellipse">
              <a:avLst/>
            </a:prstGeom>
            <a:noFill/>
            <a:ln w="31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solidFill>
                  <a:schemeClr val="tx1"/>
                </a:solidFill>
              </a:endParaRPr>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A2C56996-BF81-4402-A0B8-67BA851D16D4}"/>
                    </a:ext>
                  </a:extLst>
                </p:cNvPr>
                <p:cNvSpPr/>
                <p:nvPr/>
              </p:nvSpPr>
              <p:spPr>
                <a:xfrm>
                  <a:off x="7514421" y="4595339"/>
                  <a:ext cx="782872" cy="195111"/>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825" i="1">
                            <a:latin typeface="Cambria Math" panose="02040503050406030204" pitchFamily="18" charset="0"/>
                          </a:rPr>
                          <m:t>𝑘</m:t>
                        </m:r>
                        <m:r>
                          <a:rPr lang="fr-FR" sz="825" i="1">
                            <a:latin typeface="Cambria Math" panose="02040503050406030204" pitchFamily="18" charset="0"/>
                          </a:rPr>
                          <m:t>=3</m:t>
                        </m:r>
                      </m:oMath>
                    </m:oMathPara>
                  </a14:m>
                  <a:endParaRPr lang="fr-FR" sz="825" dirty="0"/>
                </a:p>
              </p:txBody>
            </p:sp>
          </mc:Choice>
          <mc:Fallback xmlns="">
            <p:sp>
              <p:nvSpPr>
                <p:cNvPr id="26" name="Rectangle 25">
                  <a:extLst>
                    <a:ext uri="{FF2B5EF4-FFF2-40B4-BE49-F238E27FC236}">
                      <a16:creationId xmlns:a16="http://schemas.microsoft.com/office/drawing/2014/main" id="{A2C56996-BF81-4402-A0B8-67BA851D16D4}"/>
                    </a:ext>
                  </a:extLst>
                </p:cNvPr>
                <p:cNvSpPr>
                  <a:spLocks noRot="1" noChangeAspect="1" noMove="1" noResize="1" noEditPoints="1" noAdjustHandles="1" noChangeArrowheads="1" noChangeShapeType="1" noTextEdit="1"/>
                </p:cNvSpPr>
                <p:nvPr/>
              </p:nvSpPr>
              <p:spPr>
                <a:xfrm>
                  <a:off x="7514421" y="4595339"/>
                  <a:ext cx="782872" cy="195111"/>
                </a:xfrm>
                <a:prstGeom prst="rect">
                  <a:avLst/>
                </a:prstGeom>
                <a:blipFill>
                  <a:blip r:embed="rId4"/>
                  <a:stretch>
                    <a:fillRect/>
                  </a:stretch>
                </a:blipFill>
                <a:ln w="9525" cap="flat" cmpd="sng" algn="ctr">
                  <a:noFill/>
                  <a:prstDash val="solid"/>
                  <a:round/>
                  <a:headEnd type="none" w="med" len="med"/>
                  <a:tailEnd type="none" w="med" len="med"/>
                </a:ln>
              </p:spPr>
              <p:txBody>
                <a:bodyPr/>
                <a:lstStyle/>
                <a:p>
                  <a:r>
                    <a:rPr lang="fr-FR">
                      <a:noFill/>
                    </a:rPr>
                    <a:t> </a:t>
                  </a:r>
                </a:p>
              </p:txBody>
            </p:sp>
          </mc:Fallback>
        </mc:AlternateContent>
      </p:grpSp>
      <p:grpSp>
        <p:nvGrpSpPr>
          <p:cNvPr id="59" name="Groupe 58">
            <a:extLst>
              <a:ext uri="{FF2B5EF4-FFF2-40B4-BE49-F238E27FC236}">
                <a16:creationId xmlns:a16="http://schemas.microsoft.com/office/drawing/2014/main" id="{FE672E97-602C-40FA-A317-D463BF00B0F3}"/>
              </a:ext>
            </a:extLst>
          </p:cNvPr>
          <p:cNvGrpSpPr/>
          <p:nvPr/>
        </p:nvGrpSpPr>
        <p:grpSpPr>
          <a:xfrm>
            <a:off x="4167537" y="1914277"/>
            <a:ext cx="3443897" cy="2048998"/>
            <a:chOff x="5849692" y="4595339"/>
            <a:chExt cx="3130030" cy="1937381"/>
          </a:xfrm>
        </p:grpSpPr>
        <p:sp>
          <p:nvSpPr>
            <p:cNvPr id="60" name="Organigramme : Connecteur 59">
              <a:extLst>
                <a:ext uri="{FF2B5EF4-FFF2-40B4-BE49-F238E27FC236}">
                  <a16:creationId xmlns:a16="http://schemas.microsoft.com/office/drawing/2014/main" id="{954105F4-3E9F-4472-B0F9-BF1D3D63086D}"/>
                </a:ext>
              </a:extLst>
            </p:cNvPr>
            <p:cNvSpPr/>
            <p:nvPr/>
          </p:nvSpPr>
          <p:spPr>
            <a:xfrm>
              <a:off x="7584535" y="5442257"/>
              <a:ext cx="133847" cy="141136"/>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1" name="Organigramme : Connecteur 60">
              <a:extLst>
                <a:ext uri="{FF2B5EF4-FFF2-40B4-BE49-F238E27FC236}">
                  <a16:creationId xmlns:a16="http://schemas.microsoft.com/office/drawing/2014/main" id="{2D6AC1DB-04AA-423F-9C90-D9DD48B4CFD3}"/>
                </a:ext>
              </a:extLst>
            </p:cNvPr>
            <p:cNvSpPr/>
            <p:nvPr/>
          </p:nvSpPr>
          <p:spPr>
            <a:xfrm>
              <a:off x="7584534" y="5633222"/>
              <a:ext cx="133847" cy="141136"/>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nvGrpSpPr>
            <p:cNvPr id="62" name="Groupe 61">
              <a:extLst>
                <a:ext uri="{FF2B5EF4-FFF2-40B4-BE49-F238E27FC236}">
                  <a16:creationId xmlns:a16="http://schemas.microsoft.com/office/drawing/2014/main" id="{40268A90-0D87-460A-A486-3886FAFA7AAE}"/>
                </a:ext>
              </a:extLst>
            </p:cNvPr>
            <p:cNvGrpSpPr/>
            <p:nvPr/>
          </p:nvGrpSpPr>
          <p:grpSpPr>
            <a:xfrm>
              <a:off x="5946633" y="4599246"/>
              <a:ext cx="3033089" cy="1933474"/>
              <a:chOff x="2121833" y="2346570"/>
              <a:chExt cx="4562783" cy="2995722"/>
            </a:xfrm>
          </p:grpSpPr>
          <p:cxnSp>
            <p:nvCxnSpPr>
              <p:cNvPr id="81" name="Connecteur droit avec flèche 80">
                <a:extLst>
                  <a:ext uri="{FF2B5EF4-FFF2-40B4-BE49-F238E27FC236}">
                    <a16:creationId xmlns:a16="http://schemas.microsoft.com/office/drawing/2014/main" id="{F9A947E5-0AD2-4C30-A4FE-1000A1FCDDD1}"/>
                  </a:ext>
                </a:extLst>
              </p:cNvPr>
              <p:cNvCxnSpPr/>
              <p:nvPr/>
            </p:nvCxnSpPr>
            <p:spPr>
              <a:xfrm>
                <a:off x="2623930" y="5041127"/>
                <a:ext cx="40606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017350AB-24AE-4883-9585-8F88296ADE61}"/>
                  </a:ext>
                </a:extLst>
              </p:cNvPr>
              <p:cNvCxnSpPr>
                <a:cxnSpLocks/>
              </p:cNvCxnSpPr>
              <p:nvPr/>
            </p:nvCxnSpPr>
            <p:spPr>
              <a:xfrm flipV="1">
                <a:off x="2776330" y="2409245"/>
                <a:ext cx="0" cy="2784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Rectangle 82">
                <a:extLst>
                  <a:ext uri="{FF2B5EF4-FFF2-40B4-BE49-F238E27FC236}">
                    <a16:creationId xmlns:a16="http://schemas.microsoft.com/office/drawing/2014/main" id="{84197C5A-CDF6-4EA2-964B-CC39161734B6}"/>
                  </a:ext>
                </a:extLst>
              </p:cNvPr>
              <p:cNvSpPr/>
              <p:nvPr/>
            </p:nvSpPr>
            <p:spPr>
              <a:xfrm>
                <a:off x="5658018" y="5128487"/>
                <a:ext cx="813510" cy="21380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disp</a:t>
                </a:r>
              </a:p>
            </p:txBody>
          </p:sp>
          <p:sp>
            <p:nvSpPr>
              <p:cNvPr id="84" name="Rectangle 83">
                <a:extLst>
                  <a:ext uri="{FF2B5EF4-FFF2-40B4-BE49-F238E27FC236}">
                    <a16:creationId xmlns:a16="http://schemas.microsoft.com/office/drawing/2014/main" id="{380FB913-50E7-47C9-BAD5-30CE07EDB2A3}"/>
                  </a:ext>
                </a:extLst>
              </p:cNvPr>
              <p:cNvSpPr/>
              <p:nvPr/>
            </p:nvSpPr>
            <p:spPr>
              <a:xfrm>
                <a:off x="2121833" y="2346570"/>
                <a:ext cx="569022" cy="30230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cyl</a:t>
                </a:r>
              </a:p>
            </p:txBody>
          </p:sp>
        </p:grpSp>
        <p:cxnSp>
          <p:nvCxnSpPr>
            <p:cNvPr id="63" name="Connecteur droit avec flèche 62">
              <a:extLst>
                <a:ext uri="{FF2B5EF4-FFF2-40B4-BE49-F238E27FC236}">
                  <a16:creationId xmlns:a16="http://schemas.microsoft.com/office/drawing/2014/main" id="{1318FCBB-6874-4704-87BE-1F7A0E8B9C25}"/>
                </a:ext>
              </a:extLst>
            </p:cNvPr>
            <p:cNvCxnSpPr>
              <a:cxnSpLocks/>
            </p:cNvCxnSpPr>
            <p:nvPr/>
          </p:nvCxnSpPr>
          <p:spPr>
            <a:xfrm flipH="1" flipV="1">
              <a:off x="7651458" y="5489027"/>
              <a:ext cx="1" cy="835640"/>
            </a:xfrm>
            <a:prstGeom prst="straightConnector1">
              <a:avLst/>
            </a:prstGeom>
            <a:ln>
              <a:prstDash val="dash"/>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C28710A2-BF56-4F7D-8D82-B3F1B5CFEFDC}"/>
                </a:ext>
              </a:extLst>
            </p:cNvPr>
            <p:cNvSpPr/>
            <p:nvPr/>
          </p:nvSpPr>
          <p:spPr>
            <a:xfrm>
              <a:off x="7604877" y="6354005"/>
              <a:ext cx="93163" cy="138044"/>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6</a:t>
              </a:r>
            </a:p>
          </p:txBody>
        </p:sp>
        <p:cxnSp>
          <p:nvCxnSpPr>
            <p:cNvPr id="65" name="Connecteur droit avec flèche 64">
              <a:extLst>
                <a:ext uri="{FF2B5EF4-FFF2-40B4-BE49-F238E27FC236}">
                  <a16:creationId xmlns:a16="http://schemas.microsoft.com/office/drawing/2014/main" id="{1F973CC6-A971-420F-A964-8D91226348E3}"/>
                </a:ext>
              </a:extLst>
            </p:cNvPr>
            <p:cNvCxnSpPr>
              <a:cxnSpLocks/>
            </p:cNvCxnSpPr>
            <p:nvPr/>
          </p:nvCxnSpPr>
          <p:spPr>
            <a:xfrm>
              <a:off x="6381708" y="5703419"/>
              <a:ext cx="1269750" cy="0"/>
            </a:xfrm>
            <a:prstGeom prst="straightConnector1">
              <a:avLst/>
            </a:prstGeom>
            <a:ln>
              <a:prstDash val="dash"/>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Connecteur droit avec flèche 65">
              <a:extLst>
                <a:ext uri="{FF2B5EF4-FFF2-40B4-BE49-F238E27FC236}">
                  <a16:creationId xmlns:a16="http://schemas.microsoft.com/office/drawing/2014/main" id="{8752AAE4-D7A4-4553-8A0C-8B1ED420625A}"/>
                </a:ext>
              </a:extLst>
            </p:cNvPr>
            <p:cNvCxnSpPr>
              <a:cxnSpLocks/>
            </p:cNvCxnSpPr>
            <p:nvPr/>
          </p:nvCxnSpPr>
          <p:spPr>
            <a:xfrm>
              <a:off x="6381708" y="5499095"/>
              <a:ext cx="1269750" cy="0"/>
            </a:xfrm>
            <a:prstGeom prst="straightConnector1">
              <a:avLst/>
            </a:prstGeom>
            <a:ln>
              <a:prstDash val="dash"/>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94EE3422-4EA8-4563-8203-86BC7B62F93C}"/>
                </a:ext>
              </a:extLst>
            </p:cNvPr>
            <p:cNvSpPr/>
            <p:nvPr/>
          </p:nvSpPr>
          <p:spPr>
            <a:xfrm>
              <a:off x="5849692" y="5659033"/>
              <a:ext cx="516441" cy="11358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225</a:t>
              </a:r>
            </a:p>
          </p:txBody>
        </p:sp>
        <p:sp>
          <p:nvSpPr>
            <p:cNvPr id="68" name="Rectangle 67">
              <a:extLst>
                <a:ext uri="{FF2B5EF4-FFF2-40B4-BE49-F238E27FC236}">
                  <a16:creationId xmlns:a16="http://schemas.microsoft.com/office/drawing/2014/main" id="{70FEC14A-85F6-45BE-9F77-7AE652BADD43}"/>
                </a:ext>
              </a:extLst>
            </p:cNvPr>
            <p:cNvSpPr/>
            <p:nvPr/>
          </p:nvSpPr>
          <p:spPr>
            <a:xfrm>
              <a:off x="5876021" y="5374416"/>
              <a:ext cx="450460" cy="233440"/>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825" dirty="0"/>
                <a:t>258</a:t>
              </a:r>
            </a:p>
          </p:txBody>
        </p:sp>
        <p:sp>
          <p:nvSpPr>
            <p:cNvPr id="69" name="Organigramme : Connecteur 68">
              <a:extLst>
                <a:ext uri="{FF2B5EF4-FFF2-40B4-BE49-F238E27FC236}">
                  <a16:creationId xmlns:a16="http://schemas.microsoft.com/office/drawing/2014/main" id="{F074799C-FB49-4810-97F1-86B515E04300}"/>
                </a:ext>
              </a:extLst>
            </p:cNvPr>
            <p:cNvSpPr/>
            <p:nvPr/>
          </p:nvSpPr>
          <p:spPr>
            <a:xfrm>
              <a:off x="6815876" y="484649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0" name="Organigramme : Connecteur 69">
              <a:extLst>
                <a:ext uri="{FF2B5EF4-FFF2-40B4-BE49-F238E27FC236}">
                  <a16:creationId xmlns:a16="http://schemas.microsoft.com/office/drawing/2014/main" id="{0418A0EC-3FC9-4333-891D-2443F6F403FE}"/>
                </a:ext>
              </a:extLst>
            </p:cNvPr>
            <p:cNvSpPr/>
            <p:nvPr/>
          </p:nvSpPr>
          <p:spPr>
            <a:xfrm>
              <a:off x="7055511" y="5005593"/>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1" name="Organigramme : Connecteur 70">
              <a:extLst>
                <a:ext uri="{FF2B5EF4-FFF2-40B4-BE49-F238E27FC236}">
                  <a16:creationId xmlns:a16="http://schemas.microsoft.com/office/drawing/2014/main" id="{67A03DC5-A429-490E-A6AB-8A80EE3763B0}"/>
                </a:ext>
              </a:extLst>
            </p:cNvPr>
            <p:cNvSpPr/>
            <p:nvPr/>
          </p:nvSpPr>
          <p:spPr>
            <a:xfrm>
              <a:off x="7189358" y="511780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2" name="Organigramme : Connecteur 71">
              <a:extLst>
                <a:ext uri="{FF2B5EF4-FFF2-40B4-BE49-F238E27FC236}">
                  <a16:creationId xmlns:a16="http://schemas.microsoft.com/office/drawing/2014/main" id="{4B6E2270-9437-4870-BAE8-17D18E858E5B}"/>
                </a:ext>
              </a:extLst>
            </p:cNvPr>
            <p:cNvSpPr/>
            <p:nvPr/>
          </p:nvSpPr>
          <p:spPr>
            <a:xfrm>
              <a:off x="8106558" y="5819733"/>
              <a:ext cx="133847" cy="141136"/>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3" name="Organigramme : Connecteur 72">
              <a:extLst>
                <a:ext uri="{FF2B5EF4-FFF2-40B4-BE49-F238E27FC236}">
                  <a16:creationId xmlns:a16="http://schemas.microsoft.com/office/drawing/2014/main" id="{825277D8-648B-44DE-B8AD-06BC1BA4D05A}"/>
                </a:ext>
              </a:extLst>
            </p:cNvPr>
            <p:cNvSpPr/>
            <p:nvPr/>
          </p:nvSpPr>
          <p:spPr>
            <a:xfrm>
              <a:off x="8197925" y="5588523"/>
              <a:ext cx="133847" cy="141136"/>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4" name="Organigramme : Connecteur 73">
              <a:extLst>
                <a:ext uri="{FF2B5EF4-FFF2-40B4-BE49-F238E27FC236}">
                  <a16:creationId xmlns:a16="http://schemas.microsoft.com/office/drawing/2014/main" id="{CCF5E5A1-244D-48D6-873D-BFF58FFA288E}"/>
                </a:ext>
              </a:extLst>
            </p:cNvPr>
            <p:cNvSpPr/>
            <p:nvPr/>
          </p:nvSpPr>
          <p:spPr>
            <a:xfrm>
              <a:off x="8452629" y="5505582"/>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5" name="Organigramme : Connecteur 74">
              <a:extLst>
                <a:ext uri="{FF2B5EF4-FFF2-40B4-BE49-F238E27FC236}">
                  <a16:creationId xmlns:a16="http://schemas.microsoft.com/office/drawing/2014/main" id="{C45391B3-D027-4A17-98A5-B72BDC95D07D}"/>
                </a:ext>
              </a:extLst>
            </p:cNvPr>
            <p:cNvSpPr/>
            <p:nvPr/>
          </p:nvSpPr>
          <p:spPr>
            <a:xfrm>
              <a:off x="6766577" y="5914348"/>
              <a:ext cx="133847" cy="14113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6" name="Organigramme : Connecteur 75">
              <a:extLst>
                <a:ext uri="{FF2B5EF4-FFF2-40B4-BE49-F238E27FC236}">
                  <a16:creationId xmlns:a16="http://schemas.microsoft.com/office/drawing/2014/main" id="{06486D33-A772-4CF0-8540-EBFBC14AF005}"/>
                </a:ext>
              </a:extLst>
            </p:cNvPr>
            <p:cNvSpPr/>
            <p:nvPr/>
          </p:nvSpPr>
          <p:spPr>
            <a:xfrm>
              <a:off x="7383764" y="5749165"/>
              <a:ext cx="133847" cy="141136"/>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7" name="Ellipse 76">
              <a:extLst>
                <a:ext uri="{FF2B5EF4-FFF2-40B4-BE49-F238E27FC236}">
                  <a16:creationId xmlns:a16="http://schemas.microsoft.com/office/drawing/2014/main" id="{1E3760AF-6967-48CF-94DE-D1CEFEA3F6B8}"/>
                </a:ext>
              </a:extLst>
            </p:cNvPr>
            <p:cNvSpPr>
              <a:spLocks noChangeAspect="1"/>
            </p:cNvSpPr>
            <p:nvPr/>
          </p:nvSpPr>
          <p:spPr>
            <a:xfrm>
              <a:off x="7090278" y="5041555"/>
              <a:ext cx="1234984" cy="1276460"/>
            </a:xfrm>
            <a:prstGeom prst="ellipse">
              <a:avLst/>
            </a:prstGeom>
            <a:noFill/>
            <a:ln w="31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solidFill>
                  <a:schemeClr val="tx1"/>
                </a:solidFill>
              </a:endParaRPr>
            </a:p>
          </p:txBody>
        </p:sp>
        <mc:AlternateContent xmlns:mc="http://schemas.openxmlformats.org/markup-compatibility/2006" xmlns:a14="http://schemas.microsoft.com/office/drawing/2010/main">
          <mc:Choice Requires="a14">
            <p:sp>
              <p:nvSpPr>
                <p:cNvPr id="78" name="Rectangle 77">
                  <a:extLst>
                    <a:ext uri="{FF2B5EF4-FFF2-40B4-BE49-F238E27FC236}">
                      <a16:creationId xmlns:a16="http://schemas.microsoft.com/office/drawing/2014/main" id="{9267B6DF-4D00-493A-B6DA-D40C478094E8}"/>
                    </a:ext>
                  </a:extLst>
                </p:cNvPr>
                <p:cNvSpPr/>
                <p:nvPr/>
              </p:nvSpPr>
              <p:spPr>
                <a:xfrm>
                  <a:off x="7514421" y="4595339"/>
                  <a:ext cx="782872" cy="195111"/>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825" i="1">
                            <a:latin typeface="Cambria Math" panose="02040503050406030204" pitchFamily="18" charset="0"/>
                          </a:rPr>
                          <m:t>𝑘</m:t>
                        </m:r>
                        <m:r>
                          <a:rPr lang="fr-FR" sz="825" i="1">
                            <a:latin typeface="Cambria Math" panose="02040503050406030204" pitchFamily="18" charset="0"/>
                          </a:rPr>
                          <m:t>=5</m:t>
                        </m:r>
                      </m:oMath>
                    </m:oMathPara>
                  </a14:m>
                  <a:endParaRPr lang="fr-FR" sz="825" dirty="0"/>
                </a:p>
              </p:txBody>
            </p:sp>
          </mc:Choice>
          <mc:Fallback xmlns="">
            <p:sp>
              <p:nvSpPr>
                <p:cNvPr id="78" name="Rectangle 77">
                  <a:extLst>
                    <a:ext uri="{FF2B5EF4-FFF2-40B4-BE49-F238E27FC236}">
                      <a16:creationId xmlns:a16="http://schemas.microsoft.com/office/drawing/2014/main" id="{9267B6DF-4D00-493A-B6DA-D40C478094E8}"/>
                    </a:ext>
                  </a:extLst>
                </p:cNvPr>
                <p:cNvSpPr>
                  <a:spLocks noRot="1" noChangeAspect="1" noMove="1" noResize="1" noEditPoints="1" noAdjustHandles="1" noChangeArrowheads="1" noChangeShapeType="1" noTextEdit="1"/>
                </p:cNvSpPr>
                <p:nvPr/>
              </p:nvSpPr>
              <p:spPr>
                <a:xfrm>
                  <a:off x="7514421" y="4595339"/>
                  <a:ext cx="782872" cy="195111"/>
                </a:xfrm>
                <a:prstGeom prst="rect">
                  <a:avLst/>
                </a:prstGeom>
                <a:blipFill>
                  <a:blip r:embed="rId5"/>
                  <a:stretch>
                    <a:fillRect/>
                  </a:stretch>
                </a:blipFill>
                <a:ln w="9525" cap="flat" cmpd="sng" algn="ctr">
                  <a:noFill/>
                  <a:prstDash val="solid"/>
                  <a:round/>
                  <a:headEnd type="none" w="med" len="med"/>
                  <a:tailEnd type="none" w="med" len="med"/>
                </a:ln>
              </p:spPr>
              <p:txBody>
                <a:bodyPr/>
                <a:lstStyle/>
                <a:p>
                  <a:r>
                    <a:rPr lang="fr-FR">
                      <a:noFill/>
                    </a:rPr>
                    <a:t> </a:t>
                  </a:r>
                </a:p>
              </p:txBody>
            </p:sp>
          </mc:Fallback>
        </mc:AlternateContent>
      </p:grpSp>
      <p:sp>
        <p:nvSpPr>
          <p:cNvPr id="85" name="Title 13">
            <a:extLst>
              <a:ext uri="{FF2B5EF4-FFF2-40B4-BE49-F238E27FC236}">
                <a16:creationId xmlns:a16="http://schemas.microsoft.com/office/drawing/2014/main" id="{DD7D3C9A-2328-4AB5-96A6-8C65A0642079}"/>
              </a:ext>
            </a:extLst>
          </p:cNvPr>
          <p:cNvSpPr txBox="1">
            <a:spLocks/>
          </p:cNvSpPr>
          <p:nvPr/>
        </p:nvSpPr>
        <p:spPr>
          <a:xfrm>
            <a:off x="378638" y="959489"/>
            <a:ext cx="6249917" cy="24011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KNN pour la régression</a:t>
            </a:r>
          </a:p>
        </p:txBody>
      </p:sp>
    </p:spTree>
    <p:extLst>
      <p:ext uri="{BB962C8B-B14F-4D97-AF65-F5344CB8AC3E}">
        <p14:creationId xmlns:p14="http://schemas.microsoft.com/office/powerpoint/2010/main" val="3138912194"/>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marL="342900" lvl="1" indent="0" algn="just">
                  <a:lnSpc>
                    <a:spcPct val="150000"/>
                  </a:lnSpc>
                  <a:buClr>
                    <a:schemeClr val="accent2"/>
                  </a:buClr>
                  <a:buNone/>
                </a:pPr>
                <a:r>
                  <a:rPr lang="fr-FR" sz="1200" dirty="0"/>
                  <a:t>Il existe différentes méthodes pour déterminer la distance entre deux points dans l'espace :</a:t>
                </a:r>
              </a:p>
              <a:p>
                <a:pPr marL="342900" lvl="1" indent="0" algn="just">
                  <a:lnSpc>
                    <a:spcPct val="150000"/>
                  </a:lnSpc>
                  <a:buClr>
                    <a:schemeClr val="accent2"/>
                  </a:buClr>
                  <a:buNone/>
                </a:pPr>
                <a:endParaRPr lang="fr-FR" sz="1200" dirty="0"/>
              </a:p>
              <a:p>
                <a:pPr lvl="1" algn="just">
                  <a:lnSpc>
                    <a:spcPct val="150000"/>
                  </a:lnSpc>
                  <a:buClr>
                    <a:schemeClr val="accent2"/>
                  </a:buClr>
                </a:pPr>
                <a:r>
                  <a:rPr lang="fr-FR" sz="1200" b="1" dirty="0"/>
                  <a:t>Distance euclidienne : </a:t>
                </a:r>
                <a:r>
                  <a:rPr lang="fr-FR" sz="1200" dirty="0"/>
                  <a:t>Il s'agit de la mesure de distance la plus couramment utilisée et elle est définie comme la racine carrée de la somme des carrés des différences entre les coordonnées de deux points.  En d'autres termes, c'est la distance en ligne droite entre deux points de l'espace euclidien.</a:t>
                </a:r>
              </a:p>
              <a:p>
                <a:pPr marL="342900" lvl="1" indent="0" algn="just">
                  <a:lnSpc>
                    <a:spcPct val="150000"/>
                  </a:lnSpc>
                  <a:buClr>
                    <a:schemeClr val="accent2"/>
                  </a:buClr>
                  <a:buNone/>
                </a:pPr>
                <a:endParaRPr lang="fr-FR" sz="1200" dirty="0"/>
              </a:p>
              <a:p>
                <a:pPr marL="342900" lvl="1" indent="0" algn="just">
                  <a:lnSpc>
                    <a:spcPct val="150000"/>
                  </a:lnSpc>
                  <a:buClr>
                    <a:schemeClr val="accent2"/>
                  </a:buClr>
                  <a:buNone/>
                </a:pPr>
                <a14:m>
                  <m:oMathPara xmlns:m="http://schemas.openxmlformats.org/officeDocument/2006/math">
                    <m:oMathParaPr>
                      <m:jc m:val="centerGroup"/>
                    </m:oMathParaPr>
                    <m:oMath xmlns:m="http://schemas.openxmlformats.org/officeDocument/2006/math">
                      <m:r>
                        <a:rPr lang="fr-FR" sz="1200" i="1" dirty="0">
                          <a:latin typeface="Cambria Math" panose="02040503050406030204" pitchFamily="18" charset="0"/>
                        </a:rPr>
                        <m:t>𝑑</m:t>
                      </m:r>
                      <m:r>
                        <a:rPr lang="fr-FR" sz="1200" i="1" dirty="0">
                          <a:latin typeface="Cambria Math" panose="02040503050406030204" pitchFamily="18" charset="0"/>
                        </a:rPr>
                        <m:t>(</m:t>
                      </m:r>
                      <m:r>
                        <a:rPr lang="fr-FR" sz="1200" i="1" dirty="0">
                          <a:latin typeface="Cambria Math" panose="02040503050406030204" pitchFamily="18" charset="0"/>
                        </a:rPr>
                        <m:t>𝑥</m:t>
                      </m:r>
                      <m:r>
                        <a:rPr lang="fr-FR" sz="1200" i="1" dirty="0">
                          <a:latin typeface="Cambria Math" panose="02040503050406030204" pitchFamily="18" charset="0"/>
                        </a:rPr>
                        <m:t>, </m:t>
                      </m:r>
                      <m:r>
                        <a:rPr lang="fr-FR" sz="1200" i="1" dirty="0">
                          <a:latin typeface="Cambria Math" panose="02040503050406030204" pitchFamily="18" charset="0"/>
                        </a:rPr>
                        <m:t>𝑦</m:t>
                      </m:r>
                      <m:r>
                        <a:rPr lang="fr-FR" sz="1200" i="1" dirty="0">
                          <a:latin typeface="Cambria Math" panose="02040503050406030204" pitchFamily="18" charset="0"/>
                        </a:rPr>
                        <m:t>) = </m:t>
                      </m:r>
                      <m:rad>
                        <m:radPr>
                          <m:degHide m:val="on"/>
                          <m:ctrlPr>
                            <a:rPr lang="fr-FR" sz="1200" i="1" dirty="0">
                              <a:latin typeface="Cambria Math" panose="02040503050406030204" pitchFamily="18" charset="0"/>
                            </a:rPr>
                          </m:ctrlPr>
                        </m:radPr>
                        <m:deg/>
                        <m:e>
                          <m:r>
                            <a:rPr lang="fr-FR" sz="1200" i="1" dirty="0">
                              <a:latin typeface="Cambria Math" panose="02040503050406030204" pitchFamily="18" charset="0"/>
                            </a:rPr>
                            <m:t>(</m:t>
                          </m:r>
                          <m:r>
                            <a:rPr lang="fr-FR" sz="1200" i="1" dirty="0">
                              <a:latin typeface="Cambria Math" panose="02040503050406030204" pitchFamily="18" charset="0"/>
                            </a:rPr>
                            <m:t>𝑥</m:t>
                          </m:r>
                          <m:r>
                            <a:rPr lang="fr-FR" sz="1200" i="1" dirty="0">
                              <a:latin typeface="Cambria Math" panose="02040503050406030204" pitchFamily="18" charset="0"/>
                            </a:rPr>
                            <m:t>2−</m:t>
                          </m:r>
                          <m:r>
                            <a:rPr lang="fr-FR" sz="1200" i="1" dirty="0">
                              <a:latin typeface="Cambria Math" panose="02040503050406030204" pitchFamily="18" charset="0"/>
                            </a:rPr>
                            <m:t>𝑥</m:t>
                          </m:r>
                          <m:r>
                            <a:rPr lang="fr-FR" sz="1200" i="1" dirty="0">
                              <a:latin typeface="Cambria Math" panose="02040503050406030204" pitchFamily="18" charset="0"/>
                            </a:rPr>
                            <m:t>1)² + (</m:t>
                          </m:r>
                          <m:r>
                            <a:rPr lang="fr-FR" sz="1200" i="1" dirty="0">
                              <a:latin typeface="Cambria Math" panose="02040503050406030204" pitchFamily="18" charset="0"/>
                            </a:rPr>
                            <m:t>𝑦</m:t>
                          </m:r>
                          <m:r>
                            <a:rPr lang="fr-FR" sz="1200" i="1" dirty="0">
                              <a:latin typeface="Cambria Math" panose="02040503050406030204" pitchFamily="18" charset="0"/>
                            </a:rPr>
                            <m:t>2−</m:t>
                          </m:r>
                          <m:r>
                            <a:rPr lang="fr-FR" sz="1200" i="1" dirty="0">
                              <a:latin typeface="Cambria Math" panose="02040503050406030204" pitchFamily="18" charset="0"/>
                            </a:rPr>
                            <m:t>𝑦</m:t>
                          </m:r>
                          <m:r>
                            <a:rPr lang="fr-FR" sz="1200" i="1" dirty="0">
                              <a:latin typeface="Cambria Math" panose="02040503050406030204" pitchFamily="18" charset="0"/>
                            </a:rPr>
                            <m:t>1)²</m:t>
                          </m:r>
                        </m:e>
                      </m:rad>
                    </m:oMath>
                  </m:oMathPara>
                </a14:m>
                <a:endParaRPr lang="fr-FR" sz="1200" dirty="0"/>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1400" cy="3539258"/>
              </a:xfrm>
              <a:blipFill>
                <a:blip r:embed="rId2"/>
                <a:stretch>
                  <a:fillRect r="-155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197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 :</a:t>
            </a:r>
            <a:r>
              <a:rPr lang="fr-FR" sz="2100" b="0" dirty="0"/>
              <a:t> fonctionnement</a:t>
            </a:r>
          </a:p>
        </p:txBody>
      </p:sp>
      <p:sp>
        <p:nvSpPr>
          <p:cNvPr id="5" name="Title 13">
            <a:extLst>
              <a:ext uri="{FF2B5EF4-FFF2-40B4-BE49-F238E27FC236}">
                <a16:creationId xmlns:a16="http://schemas.microsoft.com/office/drawing/2014/main" id="{79420168-B4F6-4F91-BDF3-850D25C536B7}"/>
              </a:ext>
            </a:extLst>
          </p:cNvPr>
          <p:cNvSpPr txBox="1">
            <a:spLocks/>
          </p:cNvSpPr>
          <p:nvPr/>
        </p:nvSpPr>
        <p:spPr>
          <a:xfrm>
            <a:off x="378638" y="959489"/>
            <a:ext cx="6249917" cy="24011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KNN pour la régression</a:t>
            </a:r>
          </a:p>
        </p:txBody>
      </p:sp>
    </p:spTree>
    <p:extLst>
      <p:ext uri="{BB962C8B-B14F-4D97-AF65-F5344CB8AC3E}">
        <p14:creationId xmlns:p14="http://schemas.microsoft.com/office/powerpoint/2010/main" val="339559698"/>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lvl="1" algn="just">
                  <a:lnSpc>
                    <a:spcPct val="150000"/>
                  </a:lnSpc>
                  <a:buClr>
                    <a:schemeClr val="accent2"/>
                  </a:buClr>
                </a:pPr>
                <a:r>
                  <a:rPr lang="fr-FR" sz="1200" b="1" dirty="0"/>
                  <a:t>Distance de Manhattan : </a:t>
                </a:r>
                <a:r>
                  <a:rPr lang="fr-FR" sz="1200" dirty="0"/>
                  <a:t>Cette mesure de distance est également connue sous le nom de distance de « taxi », car il s'agit de la distance qu'un taxi devrait parcourir pour se rendre d'un point à l'autre s'il ne peut se déplacer que le long des lignes de quadrillage d'une ville. Elle est définie comme la somme des différences absolues entre les coordonnées de deux points.</a:t>
                </a:r>
              </a:p>
              <a:p>
                <a:pPr marL="342900" lvl="1" indent="0" algn="just">
                  <a:lnSpc>
                    <a:spcPct val="150000"/>
                  </a:lnSpc>
                  <a:buClr>
                    <a:schemeClr val="accent2"/>
                  </a:buClr>
                  <a:buNone/>
                </a:pPr>
                <a:endParaRPr lang="fr-FR" sz="1200" dirty="0"/>
              </a:p>
              <a:p>
                <a:pPr marL="342900" lvl="1" indent="0" algn="just">
                  <a:lnSpc>
                    <a:spcPct val="150000"/>
                  </a:lnSpc>
                  <a:buClr>
                    <a:schemeClr val="accent2"/>
                  </a:buClr>
                  <a:buNone/>
                </a:pPr>
                <a14:m>
                  <m:oMathPara xmlns:m="http://schemas.openxmlformats.org/officeDocument/2006/math">
                    <m:oMathParaPr>
                      <m:jc m:val="centerGroup"/>
                    </m:oMathParaPr>
                    <m:oMath xmlns:m="http://schemas.openxmlformats.org/officeDocument/2006/math">
                      <m:r>
                        <a:rPr lang="fr-FR" sz="1200" i="1" dirty="0">
                          <a:latin typeface="Cambria Math" panose="02040503050406030204" pitchFamily="18" charset="0"/>
                        </a:rPr>
                        <m:t>𝑑</m:t>
                      </m:r>
                      <m:r>
                        <a:rPr lang="fr-FR" sz="1200" i="1" dirty="0">
                          <a:latin typeface="Cambria Math" panose="02040503050406030204" pitchFamily="18" charset="0"/>
                        </a:rPr>
                        <m:t>(</m:t>
                      </m:r>
                      <m:r>
                        <a:rPr lang="fr-FR" sz="1200" i="1" dirty="0">
                          <a:latin typeface="Cambria Math" panose="02040503050406030204" pitchFamily="18" charset="0"/>
                        </a:rPr>
                        <m:t>𝑥</m:t>
                      </m:r>
                      <m:r>
                        <a:rPr lang="fr-FR" sz="1200" i="1" dirty="0">
                          <a:latin typeface="Cambria Math" panose="02040503050406030204" pitchFamily="18" charset="0"/>
                        </a:rPr>
                        <m:t>, </m:t>
                      </m:r>
                      <m:r>
                        <a:rPr lang="fr-FR" sz="1200" i="1" dirty="0">
                          <a:latin typeface="Cambria Math" panose="02040503050406030204" pitchFamily="18" charset="0"/>
                        </a:rPr>
                        <m:t>𝑦</m:t>
                      </m:r>
                      <m:r>
                        <a:rPr lang="fr-FR" sz="1200" i="1" dirty="0">
                          <a:latin typeface="Cambria Math" panose="02040503050406030204" pitchFamily="18" charset="0"/>
                        </a:rPr>
                        <m:t>) = |</m:t>
                      </m:r>
                      <m:sSub>
                        <m:sSubPr>
                          <m:ctrlPr>
                            <a:rPr lang="fr-FR" sz="1200" i="1" dirty="0">
                              <a:latin typeface="Cambria Math" panose="02040503050406030204" pitchFamily="18" charset="0"/>
                            </a:rPr>
                          </m:ctrlPr>
                        </m:sSubPr>
                        <m:e>
                          <m:r>
                            <a:rPr lang="fr-FR" sz="1200" i="1" dirty="0">
                              <a:latin typeface="Cambria Math" panose="02040503050406030204" pitchFamily="18" charset="0"/>
                            </a:rPr>
                            <m:t>𝑥</m:t>
                          </m:r>
                        </m:e>
                        <m:sub>
                          <m:r>
                            <a:rPr lang="fr-FR" sz="1200" i="1" dirty="0">
                              <a:latin typeface="Cambria Math" panose="02040503050406030204" pitchFamily="18" charset="0"/>
                            </a:rPr>
                            <m:t>1</m:t>
                          </m:r>
                        </m:sub>
                      </m:sSub>
                      <m:r>
                        <a:rPr lang="fr-FR" sz="1200" i="1" dirty="0">
                          <a:latin typeface="Cambria Math" panose="02040503050406030204" pitchFamily="18" charset="0"/>
                        </a:rPr>
                        <m:t>−</m:t>
                      </m:r>
                      <m:sSub>
                        <m:sSubPr>
                          <m:ctrlPr>
                            <a:rPr lang="fr-FR" sz="1200" i="1" dirty="0">
                              <a:latin typeface="Cambria Math" panose="02040503050406030204" pitchFamily="18" charset="0"/>
                            </a:rPr>
                          </m:ctrlPr>
                        </m:sSubPr>
                        <m:e>
                          <m:r>
                            <a:rPr lang="fr-FR" sz="1200" i="1" dirty="0">
                              <a:latin typeface="Cambria Math" panose="02040503050406030204" pitchFamily="18" charset="0"/>
                            </a:rPr>
                            <m:t>𝑦</m:t>
                          </m:r>
                        </m:e>
                        <m:sub>
                          <m:r>
                            <a:rPr lang="fr-FR" sz="1200" i="1" dirty="0">
                              <a:latin typeface="Cambria Math" panose="02040503050406030204" pitchFamily="18" charset="0"/>
                            </a:rPr>
                            <m:t>1</m:t>
                          </m:r>
                        </m:sub>
                      </m:sSub>
                      <m:r>
                        <a:rPr lang="fr-FR" sz="1200" i="1" dirty="0">
                          <a:latin typeface="Cambria Math" panose="02040503050406030204" pitchFamily="18" charset="0"/>
                        </a:rPr>
                        <m:t>| + |</m:t>
                      </m:r>
                      <m:sSub>
                        <m:sSubPr>
                          <m:ctrlPr>
                            <a:rPr lang="fr-FR" sz="1200" i="1" dirty="0">
                              <a:latin typeface="Cambria Math" panose="02040503050406030204" pitchFamily="18" charset="0"/>
                            </a:rPr>
                          </m:ctrlPr>
                        </m:sSubPr>
                        <m:e>
                          <m:r>
                            <a:rPr lang="fr-FR" sz="1200" i="1" dirty="0">
                              <a:latin typeface="Cambria Math" panose="02040503050406030204" pitchFamily="18" charset="0"/>
                            </a:rPr>
                            <m:t>𝑥</m:t>
                          </m:r>
                        </m:e>
                        <m:sub>
                          <m:r>
                            <a:rPr lang="fr-FR" sz="1200" i="1" dirty="0">
                              <a:latin typeface="Cambria Math" panose="02040503050406030204" pitchFamily="18" charset="0"/>
                            </a:rPr>
                            <m:t>2</m:t>
                          </m:r>
                        </m:sub>
                      </m:sSub>
                      <m:r>
                        <a:rPr lang="fr-FR" sz="1200" i="1" dirty="0">
                          <a:latin typeface="Cambria Math" panose="02040503050406030204" pitchFamily="18" charset="0"/>
                        </a:rPr>
                        <m:t>−</m:t>
                      </m:r>
                      <m:sSub>
                        <m:sSubPr>
                          <m:ctrlPr>
                            <a:rPr lang="fr-FR" sz="1200" i="1" dirty="0">
                              <a:latin typeface="Cambria Math" panose="02040503050406030204" pitchFamily="18" charset="0"/>
                            </a:rPr>
                          </m:ctrlPr>
                        </m:sSubPr>
                        <m:e>
                          <m:r>
                            <a:rPr lang="fr-FR" sz="1200" i="1" dirty="0">
                              <a:latin typeface="Cambria Math" panose="02040503050406030204" pitchFamily="18" charset="0"/>
                            </a:rPr>
                            <m:t>𝑦</m:t>
                          </m:r>
                        </m:e>
                        <m:sub>
                          <m:r>
                            <a:rPr lang="fr-FR" sz="1200" i="1" dirty="0">
                              <a:latin typeface="Cambria Math" panose="02040503050406030204" pitchFamily="18" charset="0"/>
                            </a:rPr>
                            <m:t>2</m:t>
                          </m:r>
                        </m:sub>
                      </m:sSub>
                      <m:r>
                        <a:rPr lang="fr-FR" sz="1200" i="1" dirty="0">
                          <a:latin typeface="Cambria Math" panose="02040503050406030204" pitchFamily="18" charset="0"/>
                        </a:rPr>
                        <m:t>| + … + |</m:t>
                      </m:r>
                      <m:sSub>
                        <m:sSubPr>
                          <m:ctrlPr>
                            <a:rPr lang="fr-FR" sz="1200" i="1" dirty="0">
                              <a:latin typeface="Cambria Math" panose="02040503050406030204" pitchFamily="18" charset="0"/>
                            </a:rPr>
                          </m:ctrlPr>
                        </m:sSubPr>
                        <m:e>
                          <m:r>
                            <a:rPr lang="fr-FR" sz="1200" i="1" dirty="0">
                              <a:latin typeface="Cambria Math" panose="02040503050406030204" pitchFamily="18" charset="0"/>
                            </a:rPr>
                            <m:t>𝑥</m:t>
                          </m:r>
                        </m:e>
                        <m:sub>
                          <m:r>
                            <a:rPr lang="fr-FR" sz="1200" i="1" dirty="0">
                              <a:latin typeface="Cambria Math" panose="02040503050406030204" pitchFamily="18" charset="0"/>
                            </a:rPr>
                            <m:t>𝑛</m:t>
                          </m:r>
                        </m:sub>
                      </m:sSub>
                      <m:r>
                        <a:rPr lang="fr-FR" sz="1200" i="1" dirty="0">
                          <a:latin typeface="Cambria Math" panose="02040503050406030204" pitchFamily="18" charset="0"/>
                        </a:rPr>
                        <m:t> — </m:t>
                      </m:r>
                      <m:sSub>
                        <m:sSubPr>
                          <m:ctrlPr>
                            <a:rPr lang="fr-FR" sz="1200" i="1" dirty="0">
                              <a:latin typeface="Cambria Math" panose="02040503050406030204" pitchFamily="18" charset="0"/>
                            </a:rPr>
                          </m:ctrlPr>
                        </m:sSubPr>
                        <m:e>
                          <m:r>
                            <a:rPr lang="fr-FR" sz="1200" i="1" dirty="0">
                              <a:latin typeface="Cambria Math" panose="02040503050406030204" pitchFamily="18" charset="0"/>
                            </a:rPr>
                            <m:t>𝑦</m:t>
                          </m:r>
                        </m:e>
                        <m:sub>
                          <m:r>
                            <a:rPr lang="fr-FR" sz="1200" i="1" dirty="0">
                              <a:latin typeface="Cambria Math" panose="02040503050406030204" pitchFamily="18" charset="0"/>
                            </a:rPr>
                            <m:t>𝑛</m:t>
                          </m:r>
                        </m:sub>
                      </m:sSub>
                      <m:r>
                        <a:rPr lang="fr-FR" sz="1200" i="1" dirty="0">
                          <a:latin typeface="Cambria Math" panose="02040503050406030204" pitchFamily="18" charset="0"/>
                        </a:rPr>
                        <m:t>|</m:t>
                      </m:r>
                    </m:oMath>
                  </m:oMathPara>
                </a14:m>
                <a:endParaRPr lang="fr-FR" sz="1200" dirty="0"/>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1400" cy="3539258"/>
              </a:xfrm>
              <a:blipFill>
                <a:blip r:embed="rId2"/>
                <a:stretch>
                  <a:fillRect r="-155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198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 :</a:t>
            </a:r>
            <a:r>
              <a:rPr lang="fr-FR" sz="2100" b="0" dirty="0"/>
              <a:t> fonctionnement</a:t>
            </a:r>
          </a:p>
        </p:txBody>
      </p:sp>
      <p:sp>
        <p:nvSpPr>
          <p:cNvPr id="5" name="Title 13">
            <a:extLst>
              <a:ext uri="{FF2B5EF4-FFF2-40B4-BE49-F238E27FC236}">
                <a16:creationId xmlns:a16="http://schemas.microsoft.com/office/drawing/2014/main" id="{1D814DB2-BADF-4B2F-96EB-94729849875D}"/>
              </a:ext>
            </a:extLst>
          </p:cNvPr>
          <p:cNvSpPr txBox="1">
            <a:spLocks/>
          </p:cNvSpPr>
          <p:nvPr/>
        </p:nvSpPr>
        <p:spPr>
          <a:xfrm>
            <a:off x="378638" y="959489"/>
            <a:ext cx="6249917" cy="24011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KNN pour la régression</a:t>
            </a:r>
          </a:p>
        </p:txBody>
      </p:sp>
    </p:spTree>
    <p:extLst>
      <p:ext uri="{BB962C8B-B14F-4D97-AF65-F5344CB8AC3E}">
        <p14:creationId xmlns:p14="http://schemas.microsoft.com/office/powerpoint/2010/main" val="145849987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lvl="1" algn="just">
                  <a:lnSpc>
                    <a:spcPct val="150000"/>
                  </a:lnSpc>
                  <a:buClr>
                    <a:schemeClr val="accent2"/>
                  </a:buClr>
                </a:pPr>
                <a:r>
                  <a:rPr lang="fr-FR" sz="1200" b="1" dirty="0"/>
                  <a:t>Similitude du cosinus : </a:t>
                </a:r>
                <a:r>
                  <a:rPr lang="fr-FR" sz="1200" dirty="0"/>
                  <a:t>Cette métrique de distance est utilisée pour mesurer la similarité entre deux vecteurs non nuls d'un espace de produit intérieur qui mesure le cosinus de l'angle entre eux. </a:t>
                </a:r>
              </a:p>
              <a:p>
                <a:pPr marL="342900" lvl="1" indent="0" algn="just">
                  <a:lnSpc>
                    <a:spcPct val="150000"/>
                  </a:lnSpc>
                  <a:buClr>
                    <a:schemeClr val="accent2"/>
                  </a:buClr>
                  <a:buNone/>
                </a:pPr>
                <a14:m>
                  <m:oMathPara xmlns:m="http://schemas.openxmlformats.org/officeDocument/2006/math">
                    <m:oMathParaPr>
                      <m:jc m:val="center"/>
                    </m:oMathParaPr>
                    <m:oMath xmlns:m="http://schemas.openxmlformats.org/officeDocument/2006/math">
                      <m:r>
                        <m:rPr>
                          <m:sty m:val="p"/>
                        </m:rPr>
                        <a:rPr lang="fr-FR" sz="1200" i="1" dirty="0">
                          <a:latin typeface="Cambria Math" panose="02040503050406030204" pitchFamily="18" charset="0"/>
                        </a:rPr>
                        <m:t>cos</m:t>
                      </m:r>
                      <m:r>
                        <a:rPr lang="fr-FR" sz="1200" i="1" dirty="0">
                          <a:latin typeface="Cambria Math" panose="02040503050406030204" pitchFamily="18" charset="0"/>
                        </a:rPr>
                        <m:t>⁡(</m:t>
                      </m:r>
                      <m:r>
                        <a:rPr lang="fr-FR" sz="1200" i="1" dirty="0">
                          <a:latin typeface="Cambria Math" panose="02040503050406030204" pitchFamily="18" charset="0"/>
                        </a:rPr>
                        <m:t>𝑥</m:t>
                      </m:r>
                      <m:r>
                        <a:rPr lang="fr-FR" sz="1200" i="1" dirty="0">
                          <a:latin typeface="Cambria Math" panose="02040503050406030204" pitchFamily="18" charset="0"/>
                        </a:rPr>
                        <m:t>, </m:t>
                      </m:r>
                      <m:r>
                        <a:rPr lang="fr-FR" sz="1200" i="1" dirty="0">
                          <a:latin typeface="Cambria Math" panose="02040503050406030204" pitchFamily="18" charset="0"/>
                        </a:rPr>
                        <m:t>𝑦</m:t>
                      </m:r>
                      <m:r>
                        <a:rPr lang="fr-FR" sz="1200" i="1" dirty="0">
                          <a:latin typeface="Cambria Math" panose="02040503050406030204" pitchFamily="18" charset="0"/>
                        </a:rPr>
                        <m:t>) = </m:t>
                      </m:r>
                      <m:f>
                        <m:fPr>
                          <m:ctrlPr>
                            <a:rPr lang="fr-FR" sz="1200" i="1" dirty="0">
                              <a:latin typeface="Cambria Math" panose="02040503050406030204" pitchFamily="18" charset="0"/>
                            </a:rPr>
                          </m:ctrlPr>
                        </m:fPr>
                        <m:num>
                          <m:r>
                            <a:rPr lang="fr-FR" sz="1200" i="1" dirty="0">
                              <a:latin typeface="Cambria Math" panose="02040503050406030204" pitchFamily="18" charset="0"/>
                            </a:rPr>
                            <m:t>(</m:t>
                          </m:r>
                          <m:r>
                            <a:rPr lang="fr-FR" sz="1200" i="1" dirty="0" err="1">
                              <a:latin typeface="Cambria Math" panose="02040503050406030204" pitchFamily="18" charset="0"/>
                            </a:rPr>
                            <m:t>𝑥</m:t>
                          </m:r>
                          <m:r>
                            <a:rPr lang="fr-FR" sz="1200" i="1" dirty="0" err="1">
                              <a:latin typeface="Cambria Math" panose="02040503050406030204" pitchFamily="18" charset="0"/>
                            </a:rPr>
                            <m:t>.</m:t>
                          </m:r>
                          <m:r>
                            <a:rPr lang="fr-FR" sz="1200" i="1" dirty="0" err="1">
                              <a:latin typeface="Cambria Math" panose="02040503050406030204" pitchFamily="18" charset="0"/>
                            </a:rPr>
                            <m:t>𝑦</m:t>
                          </m:r>
                          <m:r>
                            <a:rPr lang="fr-FR" sz="1200" i="1" dirty="0">
                              <a:latin typeface="Cambria Math" panose="02040503050406030204" pitchFamily="18" charset="0"/>
                            </a:rPr>
                            <m:t>)</m:t>
                          </m:r>
                        </m:num>
                        <m:den>
                          <m:r>
                            <a:rPr lang="fr-FR" sz="1200" i="1" dirty="0">
                              <a:latin typeface="Cambria Math" panose="02040503050406030204" pitchFamily="18" charset="0"/>
                            </a:rPr>
                            <m:t>(||</m:t>
                          </m:r>
                          <m:r>
                            <a:rPr lang="fr-FR" sz="1200" i="1" dirty="0">
                              <a:latin typeface="Cambria Math" panose="02040503050406030204" pitchFamily="18" charset="0"/>
                            </a:rPr>
                            <m:t>𝑥</m:t>
                          </m:r>
                          <m:r>
                            <a:rPr lang="fr-FR" sz="1200" i="1" dirty="0">
                              <a:latin typeface="Cambria Math" panose="02040503050406030204" pitchFamily="18" charset="0"/>
                            </a:rPr>
                            <m:t>||.||</m:t>
                          </m:r>
                          <m:r>
                            <a:rPr lang="fr-FR" sz="1200" i="1" dirty="0">
                              <a:latin typeface="Cambria Math" panose="02040503050406030204" pitchFamily="18" charset="0"/>
                            </a:rPr>
                            <m:t>𝑦</m:t>
                          </m:r>
                          <m:r>
                            <a:rPr lang="fr-FR" sz="1200" i="1" dirty="0">
                              <a:latin typeface="Cambria Math" panose="02040503050406030204" pitchFamily="18" charset="0"/>
                            </a:rPr>
                            <m:t>||)</m:t>
                          </m:r>
                        </m:den>
                      </m:f>
                    </m:oMath>
                  </m:oMathPara>
                </a14:m>
                <a:endParaRPr lang="fr-FR" sz="1200" dirty="0"/>
              </a:p>
              <a:p>
                <a:pPr marL="342900" lvl="1" indent="0" algn="just">
                  <a:lnSpc>
                    <a:spcPct val="150000"/>
                  </a:lnSpc>
                  <a:buClr>
                    <a:schemeClr val="accent2"/>
                  </a:buClr>
                  <a:buNone/>
                </a:pPr>
                <a:endParaRPr lang="fr-FR" sz="1200" dirty="0"/>
              </a:p>
              <a:p>
                <a:pPr lvl="1" algn="just">
                  <a:lnSpc>
                    <a:spcPct val="150000"/>
                  </a:lnSpc>
                  <a:buClr>
                    <a:schemeClr val="accent2"/>
                  </a:buClr>
                </a:pPr>
                <a:r>
                  <a:rPr lang="fr-FR" sz="1200" b="1" dirty="0"/>
                  <a:t>Distance de Minkowsky :</a:t>
                </a:r>
                <a:r>
                  <a:rPr lang="fr-FR" sz="1200" dirty="0"/>
                  <a:t> Cette métrique de distance est une généralisation de la distance euclidienne et de Manhattan.</a:t>
                </a:r>
              </a:p>
              <a:p>
                <a:pPr marL="342900" lvl="1" indent="0" algn="just">
                  <a:lnSpc>
                    <a:spcPct val="150000"/>
                  </a:lnSpc>
                  <a:buClr>
                    <a:schemeClr val="accent2"/>
                  </a:buClr>
                  <a:buNone/>
                </a:pPr>
                <a14:m>
                  <m:oMathPara xmlns:m="http://schemas.openxmlformats.org/officeDocument/2006/math">
                    <m:oMathParaPr>
                      <m:jc m:val="centerGroup"/>
                    </m:oMathParaPr>
                    <m:oMath xmlns:m="http://schemas.openxmlformats.org/officeDocument/2006/math">
                      <m:r>
                        <a:rPr lang="fr-FR" sz="1200" i="1" dirty="0">
                          <a:latin typeface="Cambria Math" panose="02040503050406030204" pitchFamily="18" charset="0"/>
                        </a:rPr>
                        <m:t>𝑑</m:t>
                      </m:r>
                      <m:r>
                        <a:rPr lang="fr-FR" sz="1200" i="1" dirty="0">
                          <a:latin typeface="Cambria Math" panose="02040503050406030204" pitchFamily="18" charset="0"/>
                        </a:rPr>
                        <m:t>(</m:t>
                      </m:r>
                      <m:r>
                        <a:rPr lang="fr-FR" sz="1200" i="1" dirty="0">
                          <a:latin typeface="Cambria Math" panose="02040503050406030204" pitchFamily="18" charset="0"/>
                        </a:rPr>
                        <m:t>𝑥</m:t>
                      </m:r>
                      <m:r>
                        <a:rPr lang="fr-FR" sz="1200" i="1" dirty="0">
                          <a:latin typeface="Cambria Math" panose="02040503050406030204" pitchFamily="18" charset="0"/>
                        </a:rPr>
                        <m:t>, </m:t>
                      </m:r>
                      <m:r>
                        <a:rPr lang="fr-FR" sz="1200" i="1" dirty="0">
                          <a:latin typeface="Cambria Math" panose="02040503050406030204" pitchFamily="18" charset="0"/>
                        </a:rPr>
                        <m:t>𝑦</m:t>
                      </m:r>
                      <m:r>
                        <a:rPr lang="fr-FR" sz="1200" i="1" dirty="0">
                          <a:latin typeface="Cambria Math" panose="02040503050406030204" pitchFamily="18" charset="0"/>
                        </a:rPr>
                        <m:t>)=</m:t>
                      </m:r>
                      <m:sSup>
                        <m:sSupPr>
                          <m:ctrlPr>
                            <a:rPr lang="fr-FR" sz="1200" i="1" dirty="0">
                              <a:latin typeface="Cambria Math" panose="02040503050406030204" pitchFamily="18" charset="0"/>
                            </a:rPr>
                          </m:ctrlPr>
                        </m:sSupPr>
                        <m:e>
                          <m:r>
                            <a:rPr lang="fr-FR" sz="1200" i="1" dirty="0">
                              <a:latin typeface="Cambria Math" panose="02040503050406030204" pitchFamily="18" charset="0"/>
                            </a:rPr>
                            <m:t>((</m:t>
                          </m:r>
                          <m:sSup>
                            <m:sSupPr>
                              <m:ctrlPr>
                                <a:rPr lang="fr-FR" sz="1200" i="1" dirty="0">
                                  <a:latin typeface="Cambria Math" panose="02040503050406030204" pitchFamily="18" charset="0"/>
                                </a:rPr>
                              </m:ctrlPr>
                            </m:sSupPr>
                            <m:e>
                              <m:r>
                                <a:rPr lang="fr-FR" sz="1200" i="1" dirty="0">
                                  <a:latin typeface="Cambria Math" panose="02040503050406030204" pitchFamily="18" charset="0"/>
                                </a:rPr>
                                <m:t>|</m:t>
                              </m:r>
                              <m:sSub>
                                <m:sSubPr>
                                  <m:ctrlPr>
                                    <a:rPr lang="fr-FR" sz="1200" i="1" dirty="0">
                                      <a:latin typeface="Cambria Math" panose="02040503050406030204" pitchFamily="18" charset="0"/>
                                    </a:rPr>
                                  </m:ctrlPr>
                                </m:sSubPr>
                                <m:e>
                                  <m:r>
                                    <a:rPr lang="fr-FR" sz="1200" i="1" dirty="0">
                                      <a:latin typeface="Cambria Math" panose="02040503050406030204" pitchFamily="18" charset="0"/>
                                    </a:rPr>
                                    <m:t>𝑥</m:t>
                                  </m:r>
                                </m:e>
                                <m:sub>
                                  <m:r>
                                    <a:rPr lang="fr-FR" sz="1200" i="1" dirty="0">
                                      <a:latin typeface="Cambria Math" panose="02040503050406030204" pitchFamily="18" charset="0"/>
                                    </a:rPr>
                                    <m:t>1</m:t>
                                  </m:r>
                                </m:sub>
                              </m:sSub>
                              <m:r>
                                <a:rPr lang="fr-FR" sz="1200" i="1" dirty="0">
                                  <a:latin typeface="Cambria Math" panose="02040503050406030204" pitchFamily="18" charset="0"/>
                                </a:rPr>
                                <m:t>−</m:t>
                              </m:r>
                              <m:sSub>
                                <m:sSubPr>
                                  <m:ctrlPr>
                                    <a:rPr lang="fr-FR" sz="1200" i="1" dirty="0">
                                      <a:latin typeface="Cambria Math" panose="02040503050406030204" pitchFamily="18" charset="0"/>
                                    </a:rPr>
                                  </m:ctrlPr>
                                </m:sSubPr>
                                <m:e>
                                  <m:r>
                                    <a:rPr lang="fr-FR" sz="1200" i="1" dirty="0">
                                      <a:latin typeface="Cambria Math" panose="02040503050406030204" pitchFamily="18" charset="0"/>
                                    </a:rPr>
                                    <m:t>𝑦</m:t>
                                  </m:r>
                                </m:e>
                                <m:sub>
                                  <m:r>
                                    <a:rPr lang="fr-FR" sz="1200" i="1" dirty="0">
                                      <a:latin typeface="Cambria Math" panose="02040503050406030204" pitchFamily="18" charset="0"/>
                                    </a:rPr>
                                    <m:t>1</m:t>
                                  </m:r>
                                </m:sub>
                              </m:sSub>
                              <m:r>
                                <a:rPr lang="fr-FR" sz="1200" i="1" dirty="0">
                                  <a:latin typeface="Cambria Math" panose="02040503050406030204" pitchFamily="18" charset="0"/>
                                </a:rPr>
                                <m:t>|</m:t>
                              </m:r>
                            </m:e>
                            <m:sup>
                              <m:r>
                                <a:rPr lang="fr-FR" sz="1200" i="1" dirty="0">
                                  <a:latin typeface="Cambria Math" panose="02040503050406030204" pitchFamily="18" charset="0"/>
                                </a:rPr>
                                <m:t>𝑝</m:t>
                              </m:r>
                            </m:sup>
                          </m:sSup>
                          <m:r>
                            <a:rPr lang="fr-FR" sz="1200" i="1" dirty="0">
                              <a:latin typeface="Cambria Math" panose="02040503050406030204" pitchFamily="18" charset="0"/>
                            </a:rPr>
                            <m:t>)+(</m:t>
                          </m:r>
                          <m:sSup>
                            <m:sSupPr>
                              <m:ctrlPr>
                                <a:rPr lang="fr-FR" sz="1200" i="1" dirty="0">
                                  <a:latin typeface="Cambria Math" panose="02040503050406030204" pitchFamily="18" charset="0"/>
                                </a:rPr>
                              </m:ctrlPr>
                            </m:sSupPr>
                            <m:e>
                              <m:r>
                                <a:rPr lang="fr-FR" sz="1200" i="1" dirty="0">
                                  <a:latin typeface="Cambria Math" panose="02040503050406030204" pitchFamily="18" charset="0"/>
                                </a:rPr>
                                <m:t>|</m:t>
                              </m:r>
                              <m:sSub>
                                <m:sSubPr>
                                  <m:ctrlPr>
                                    <a:rPr lang="fr-FR" sz="1200" i="1" dirty="0">
                                      <a:latin typeface="Cambria Math" panose="02040503050406030204" pitchFamily="18" charset="0"/>
                                    </a:rPr>
                                  </m:ctrlPr>
                                </m:sSubPr>
                                <m:e>
                                  <m:r>
                                    <a:rPr lang="fr-FR" sz="1200" i="1" dirty="0">
                                      <a:latin typeface="Cambria Math" panose="02040503050406030204" pitchFamily="18" charset="0"/>
                                    </a:rPr>
                                    <m:t>𝑥</m:t>
                                  </m:r>
                                </m:e>
                                <m:sub>
                                  <m:r>
                                    <a:rPr lang="fr-FR" sz="1200" i="1" dirty="0">
                                      <a:latin typeface="Cambria Math" panose="02040503050406030204" pitchFamily="18" charset="0"/>
                                    </a:rPr>
                                    <m:t>2</m:t>
                                  </m:r>
                                </m:sub>
                              </m:sSub>
                              <m:r>
                                <a:rPr lang="fr-FR" sz="1200" i="1" dirty="0">
                                  <a:latin typeface="Cambria Math" panose="02040503050406030204" pitchFamily="18" charset="0"/>
                                </a:rPr>
                                <m:t>−</m:t>
                              </m:r>
                              <m:sSub>
                                <m:sSubPr>
                                  <m:ctrlPr>
                                    <a:rPr lang="fr-FR" sz="1200" i="1" dirty="0">
                                      <a:latin typeface="Cambria Math" panose="02040503050406030204" pitchFamily="18" charset="0"/>
                                    </a:rPr>
                                  </m:ctrlPr>
                                </m:sSubPr>
                                <m:e>
                                  <m:r>
                                    <a:rPr lang="fr-FR" sz="1200" i="1" dirty="0">
                                      <a:latin typeface="Cambria Math" panose="02040503050406030204" pitchFamily="18" charset="0"/>
                                    </a:rPr>
                                    <m:t>𝑦</m:t>
                                  </m:r>
                                </m:e>
                                <m:sub>
                                  <m:r>
                                    <a:rPr lang="fr-FR" sz="1200" i="1" dirty="0">
                                      <a:latin typeface="Cambria Math" panose="02040503050406030204" pitchFamily="18" charset="0"/>
                                    </a:rPr>
                                    <m:t>2</m:t>
                                  </m:r>
                                </m:sub>
                              </m:sSub>
                              <m:r>
                                <a:rPr lang="fr-FR" sz="1200" i="1" dirty="0">
                                  <a:latin typeface="Cambria Math" panose="02040503050406030204" pitchFamily="18" charset="0"/>
                                </a:rPr>
                                <m:t>|</m:t>
                              </m:r>
                            </m:e>
                            <m:sup>
                              <m:r>
                                <a:rPr lang="fr-FR" sz="1200" i="1" dirty="0">
                                  <a:latin typeface="Cambria Math" panose="02040503050406030204" pitchFamily="18" charset="0"/>
                                </a:rPr>
                                <m:t>𝑝</m:t>
                              </m:r>
                            </m:sup>
                          </m:sSup>
                          <m:r>
                            <a:rPr lang="fr-FR" sz="1200" i="1" dirty="0">
                              <a:latin typeface="Cambria Math" panose="02040503050406030204" pitchFamily="18" charset="0"/>
                            </a:rPr>
                            <m:t>)+…+(</m:t>
                          </m:r>
                          <m:sSup>
                            <m:sSupPr>
                              <m:ctrlPr>
                                <a:rPr lang="fr-FR" sz="1200" i="1" dirty="0">
                                  <a:latin typeface="Cambria Math" panose="02040503050406030204" pitchFamily="18" charset="0"/>
                                </a:rPr>
                              </m:ctrlPr>
                            </m:sSupPr>
                            <m:e>
                              <m:r>
                                <a:rPr lang="fr-FR" sz="1200" i="1" dirty="0">
                                  <a:latin typeface="Cambria Math" panose="02040503050406030204" pitchFamily="18" charset="0"/>
                                </a:rPr>
                                <m:t>|</m:t>
                              </m:r>
                              <m:sSub>
                                <m:sSubPr>
                                  <m:ctrlPr>
                                    <a:rPr lang="fr-FR" sz="1200" i="1" dirty="0">
                                      <a:latin typeface="Cambria Math" panose="02040503050406030204" pitchFamily="18" charset="0"/>
                                    </a:rPr>
                                  </m:ctrlPr>
                                </m:sSubPr>
                                <m:e>
                                  <m:r>
                                    <a:rPr lang="fr-FR" sz="1200" i="1" dirty="0">
                                      <a:latin typeface="Cambria Math" panose="02040503050406030204" pitchFamily="18" charset="0"/>
                                    </a:rPr>
                                    <m:t>𝑥</m:t>
                                  </m:r>
                                </m:e>
                                <m:sub>
                                  <m:r>
                                    <a:rPr lang="fr-FR" sz="1200" i="1" dirty="0">
                                      <a:latin typeface="Cambria Math" panose="02040503050406030204" pitchFamily="18" charset="0"/>
                                    </a:rPr>
                                    <m:t>𝑛</m:t>
                                  </m:r>
                                </m:sub>
                              </m:sSub>
                              <m:r>
                                <a:rPr lang="fr-FR" sz="1200" i="1" dirty="0">
                                  <a:latin typeface="Cambria Math" panose="02040503050406030204" pitchFamily="18" charset="0"/>
                                </a:rPr>
                                <m:t>−</m:t>
                              </m:r>
                              <m:sSub>
                                <m:sSubPr>
                                  <m:ctrlPr>
                                    <a:rPr lang="fr-FR" sz="1200" i="1" dirty="0">
                                      <a:latin typeface="Cambria Math" panose="02040503050406030204" pitchFamily="18" charset="0"/>
                                    </a:rPr>
                                  </m:ctrlPr>
                                </m:sSubPr>
                                <m:e>
                                  <m:r>
                                    <a:rPr lang="fr-FR" sz="1200" i="1" dirty="0">
                                      <a:latin typeface="Cambria Math" panose="02040503050406030204" pitchFamily="18" charset="0"/>
                                    </a:rPr>
                                    <m:t>𝑦</m:t>
                                  </m:r>
                                </m:e>
                                <m:sub>
                                  <m:r>
                                    <a:rPr lang="fr-FR" sz="1200" i="1" dirty="0">
                                      <a:latin typeface="Cambria Math" panose="02040503050406030204" pitchFamily="18" charset="0"/>
                                    </a:rPr>
                                    <m:t>𝑛</m:t>
                                  </m:r>
                                </m:sub>
                              </m:sSub>
                              <m:r>
                                <a:rPr lang="fr-FR" sz="1200" i="1" dirty="0">
                                  <a:latin typeface="Cambria Math" panose="02040503050406030204" pitchFamily="18" charset="0"/>
                                </a:rPr>
                                <m:t>|</m:t>
                              </m:r>
                            </m:e>
                            <m:sup>
                              <m:r>
                                <a:rPr lang="fr-FR" sz="1200" i="1" dirty="0">
                                  <a:latin typeface="Cambria Math" panose="02040503050406030204" pitchFamily="18" charset="0"/>
                                </a:rPr>
                                <m:t>𝑝</m:t>
                              </m:r>
                            </m:sup>
                          </m:sSup>
                          <m:r>
                            <a:rPr lang="fr-FR" sz="1200" i="1" dirty="0">
                              <a:latin typeface="Cambria Math" panose="02040503050406030204" pitchFamily="18" charset="0"/>
                            </a:rPr>
                            <m:t>))</m:t>
                          </m:r>
                        </m:e>
                        <m:sup>
                          <m:r>
                            <a:rPr lang="fr-FR" sz="1200" i="1" dirty="0">
                              <a:latin typeface="Cambria Math" panose="02040503050406030204" pitchFamily="18" charset="0"/>
                            </a:rPr>
                            <m:t>1/</m:t>
                          </m:r>
                          <m:r>
                            <a:rPr lang="fr-FR" sz="1200" i="1" dirty="0">
                              <a:latin typeface="Cambria Math" panose="02040503050406030204" pitchFamily="18" charset="0"/>
                            </a:rPr>
                            <m:t>𝑝</m:t>
                          </m:r>
                        </m:sup>
                      </m:sSup>
                    </m:oMath>
                  </m:oMathPara>
                </a14:m>
                <a:endParaRPr lang="fr-FR" sz="1200" dirty="0"/>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1400" cy="3539258"/>
              </a:xfrm>
              <a:blipFill>
                <a:blip r:embed="rId2"/>
                <a:stretch>
                  <a:fillRect r="-155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199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 :</a:t>
            </a:r>
            <a:r>
              <a:rPr lang="fr-FR" sz="2100" b="0" dirty="0"/>
              <a:t> fonctionnement</a:t>
            </a:r>
          </a:p>
        </p:txBody>
      </p:sp>
      <p:sp>
        <p:nvSpPr>
          <p:cNvPr id="5" name="Title 13">
            <a:extLst>
              <a:ext uri="{FF2B5EF4-FFF2-40B4-BE49-F238E27FC236}">
                <a16:creationId xmlns:a16="http://schemas.microsoft.com/office/drawing/2014/main" id="{F3B1271F-0B5A-4E71-BAF2-12B26411932B}"/>
              </a:ext>
            </a:extLst>
          </p:cNvPr>
          <p:cNvSpPr txBox="1">
            <a:spLocks/>
          </p:cNvSpPr>
          <p:nvPr/>
        </p:nvSpPr>
        <p:spPr>
          <a:xfrm>
            <a:off x="378638" y="959489"/>
            <a:ext cx="6249917" cy="24011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KNN pour la régression</a:t>
            </a:r>
          </a:p>
        </p:txBody>
      </p:sp>
    </p:spTree>
    <p:extLst>
      <p:ext uri="{BB962C8B-B14F-4D97-AF65-F5344CB8AC3E}">
        <p14:creationId xmlns:p14="http://schemas.microsoft.com/office/powerpoint/2010/main" val="4070030536"/>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lvl="1" algn="just">
              <a:lnSpc>
                <a:spcPct val="150000"/>
              </a:lnSpc>
              <a:buClr>
                <a:schemeClr val="accent2"/>
              </a:buClr>
            </a:pPr>
            <a:r>
              <a:rPr lang="fr-FR" sz="1350" dirty="0"/>
              <a:t>La classification consiste à trouver la classe d’appartenance d’un individu à l’aide de ses caractéristiques.</a:t>
            </a:r>
          </a:p>
          <a:p>
            <a:pPr lvl="1" algn="just">
              <a:lnSpc>
                <a:spcPct val="150000"/>
              </a:lnSpc>
              <a:buClr>
                <a:schemeClr val="accent2"/>
              </a:buClr>
            </a:pPr>
            <a:r>
              <a:rPr lang="fr-FR" sz="1350" dirty="0"/>
              <a:t>Par exemple, on peut classer un courrier électronique comme « spams » ou « e-mail », en fonction de son contenu (objet, expéditeur, mots, pièces jointes…</a:t>
            </a:r>
          </a:p>
          <a:p>
            <a:pPr lvl="1" algn="just">
              <a:lnSpc>
                <a:spcPct val="150000"/>
              </a:lnSpc>
              <a:buClr>
                <a:schemeClr val="accent2"/>
              </a:buClr>
            </a:pPr>
            <a:r>
              <a:rPr lang="fr-FR" sz="1350" dirty="0"/>
              <a:t>On peut aussi classer un patient comme « sain » ou « malade » en fonction de son âge, son genre, ses analyses sanguines et urinaires, son poids, sa tension artérielle…</a:t>
            </a:r>
          </a:p>
          <a:p>
            <a:pPr lvl="1" algn="just">
              <a:lnSpc>
                <a:spcPct val="150000"/>
              </a:lnSpc>
              <a:buClr>
                <a:schemeClr val="accent2"/>
              </a:buClr>
            </a:pPr>
            <a:r>
              <a:rPr lang="fr-FR" sz="1350" dirty="0"/>
              <a:t>KNN pour la classification utilise la distance de Minkowsky, qui est une généralisation de la distance euclidienne et de Manhattan que vous avons vu avec KNN pour la régression.</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200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 :</a:t>
            </a:r>
            <a:r>
              <a:rPr lang="fr-FR" sz="2100" b="0" dirty="0"/>
              <a:t> fonctionnement</a:t>
            </a:r>
          </a:p>
        </p:txBody>
      </p:sp>
      <p:sp>
        <p:nvSpPr>
          <p:cNvPr id="5" name="Title 13">
            <a:extLst>
              <a:ext uri="{FF2B5EF4-FFF2-40B4-BE49-F238E27FC236}">
                <a16:creationId xmlns:a16="http://schemas.microsoft.com/office/drawing/2014/main" id="{F3B1271F-0B5A-4E71-BAF2-12B26411932B}"/>
              </a:ext>
            </a:extLst>
          </p:cNvPr>
          <p:cNvSpPr txBox="1">
            <a:spLocks/>
          </p:cNvSpPr>
          <p:nvPr/>
        </p:nvSpPr>
        <p:spPr>
          <a:xfrm>
            <a:off x="378638" y="959489"/>
            <a:ext cx="6249917" cy="24011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KNN pour la classification</a:t>
            </a:r>
          </a:p>
        </p:txBody>
      </p:sp>
    </p:spTree>
    <p:extLst>
      <p:ext uri="{BB962C8B-B14F-4D97-AF65-F5344CB8AC3E}">
        <p14:creationId xmlns:p14="http://schemas.microsoft.com/office/powerpoint/2010/main" val="3221155058"/>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lvl="1" algn="just">
                  <a:lnSpc>
                    <a:spcPct val="150000"/>
                  </a:lnSpc>
                  <a:buClr>
                    <a:schemeClr val="accent2"/>
                  </a:buClr>
                </a:pPr>
                <a:r>
                  <a:rPr lang="fr-FR" sz="1200" b="1" dirty="0"/>
                  <a:t>Distance de Minkowsky :</a:t>
                </a:r>
                <a:r>
                  <a:rPr lang="fr-FR" sz="1200" dirty="0"/>
                  <a:t> Cette métrique de distance est une généralisation de la distance euclidienne et de Manhattan.</a:t>
                </a:r>
              </a:p>
              <a:p>
                <a:pPr marL="342900" lvl="1" indent="0" algn="just">
                  <a:lnSpc>
                    <a:spcPct val="150000"/>
                  </a:lnSpc>
                  <a:buClr>
                    <a:schemeClr val="accent2"/>
                  </a:buClr>
                  <a:buNone/>
                </a:pPr>
                <a14:m>
                  <m:oMathPara xmlns:m="http://schemas.openxmlformats.org/officeDocument/2006/math">
                    <m:oMathParaPr>
                      <m:jc m:val="centerGroup"/>
                    </m:oMathParaPr>
                    <m:oMath xmlns:m="http://schemas.openxmlformats.org/officeDocument/2006/math">
                      <m:r>
                        <a:rPr lang="fr-FR" sz="1200" i="1" dirty="0">
                          <a:latin typeface="Cambria Math" panose="02040503050406030204" pitchFamily="18" charset="0"/>
                        </a:rPr>
                        <m:t>𝑑</m:t>
                      </m:r>
                      <m:r>
                        <a:rPr lang="fr-FR" sz="1200" i="1" dirty="0">
                          <a:latin typeface="Cambria Math" panose="02040503050406030204" pitchFamily="18" charset="0"/>
                        </a:rPr>
                        <m:t>(</m:t>
                      </m:r>
                      <m:r>
                        <a:rPr lang="fr-FR" sz="1200" i="1" dirty="0">
                          <a:latin typeface="Cambria Math" panose="02040503050406030204" pitchFamily="18" charset="0"/>
                        </a:rPr>
                        <m:t>𝑥</m:t>
                      </m:r>
                      <m:r>
                        <a:rPr lang="fr-FR" sz="1200" i="1" dirty="0">
                          <a:latin typeface="Cambria Math" panose="02040503050406030204" pitchFamily="18" charset="0"/>
                        </a:rPr>
                        <m:t>, </m:t>
                      </m:r>
                      <m:r>
                        <a:rPr lang="fr-FR" sz="1200" i="1" dirty="0">
                          <a:latin typeface="Cambria Math" panose="02040503050406030204" pitchFamily="18" charset="0"/>
                        </a:rPr>
                        <m:t>𝑦</m:t>
                      </m:r>
                      <m:r>
                        <a:rPr lang="fr-FR" sz="1200" i="1" dirty="0">
                          <a:latin typeface="Cambria Math" panose="02040503050406030204" pitchFamily="18" charset="0"/>
                        </a:rPr>
                        <m:t>)=</m:t>
                      </m:r>
                      <m:sSup>
                        <m:sSupPr>
                          <m:ctrlPr>
                            <a:rPr lang="fr-FR" sz="1200" i="1" dirty="0">
                              <a:latin typeface="Cambria Math" panose="02040503050406030204" pitchFamily="18" charset="0"/>
                            </a:rPr>
                          </m:ctrlPr>
                        </m:sSupPr>
                        <m:e>
                          <m:r>
                            <a:rPr lang="fr-FR" sz="1200" i="1" dirty="0">
                              <a:latin typeface="Cambria Math" panose="02040503050406030204" pitchFamily="18" charset="0"/>
                            </a:rPr>
                            <m:t>((</m:t>
                          </m:r>
                          <m:sSup>
                            <m:sSupPr>
                              <m:ctrlPr>
                                <a:rPr lang="fr-FR" sz="1200" i="1" dirty="0">
                                  <a:latin typeface="Cambria Math" panose="02040503050406030204" pitchFamily="18" charset="0"/>
                                </a:rPr>
                              </m:ctrlPr>
                            </m:sSupPr>
                            <m:e>
                              <m:r>
                                <a:rPr lang="fr-FR" sz="1200" i="1" dirty="0">
                                  <a:latin typeface="Cambria Math" panose="02040503050406030204" pitchFamily="18" charset="0"/>
                                </a:rPr>
                                <m:t>|</m:t>
                              </m:r>
                              <m:sSub>
                                <m:sSubPr>
                                  <m:ctrlPr>
                                    <a:rPr lang="fr-FR" sz="1200" i="1" dirty="0">
                                      <a:latin typeface="Cambria Math" panose="02040503050406030204" pitchFamily="18" charset="0"/>
                                    </a:rPr>
                                  </m:ctrlPr>
                                </m:sSubPr>
                                <m:e>
                                  <m:r>
                                    <a:rPr lang="fr-FR" sz="1200" i="1" dirty="0">
                                      <a:latin typeface="Cambria Math" panose="02040503050406030204" pitchFamily="18" charset="0"/>
                                    </a:rPr>
                                    <m:t>𝑥</m:t>
                                  </m:r>
                                </m:e>
                                <m:sub>
                                  <m:r>
                                    <a:rPr lang="fr-FR" sz="1200" i="1" dirty="0">
                                      <a:latin typeface="Cambria Math" panose="02040503050406030204" pitchFamily="18" charset="0"/>
                                    </a:rPr>
                                    <m:t>1</m:t>
                                  </m:r>
                                </m:sub>
                              </m:sSub>
                              <m:r>
                                <a:rPr lang="fr-FR" sz="1200" i="1" dirty="0">
                                  <a:latin typeface="Cambria Math" panose="02040503050406030204" pitchFamily="18" charset="0"/>
                                </a:rPr>
                                <m:t>−</m:t>
                              </m:r>
                              <m:sSub>
                                <m:sSubPr>
                                  <m:ctrlPr>
                                    <a:rPr lang="fr-FR" sz="1200" i="1" dirty="0">
                                      <a:latin typeface="Cambria Math" panose="02040503050406030204" pitchFamily="18" charset="0"/>
                                    </a:rPr>
                                  </m:ctrlPr>
                                </m:sSubPr>
                                <m:e>
                                  <m:r>
                                    <a:rPr lang="fr-FR" sz="1200" i="1" dirty="0">
                                      <a:latin typeface="Cambria Math" panose="02040503050406030204" pitchFamily="18" charset="0"/>
                                    </a:rPr>
                                    <m:t>𝑦</m:t>
                                  </m:r>
                                </m:e>
                                <m:sub>
                                  <m:r>
                                    <a:rPr lang="fr-FR" sz="1200" i="1" dirty="0">
                                      <a:latin typeface="Cambria Math" panose="02040503050406030204" pitchFamily="18" charset="0"/>
                                    </a:rPr>
                                    <m:t>1</m:t>
                                  </m:r>
                                </m:sub>
                              </m:sSub>
                              <m:r>
                                <a:rPr lang="fr-FR" sz="1200" i="1" dirty="0">
                                  <a:latin typeface="Cambria Math" panose="02040503050406030204" pitchFamily="18" charset="0"/>
                                </a:rPr>
                                <m:t>|</m:t>
                              </m:r>
                            </m:e>
                            <m:sup>
                              <m:r>
                                <a:rPr lang="fr-FR" sz="1200" i="1" dirty="0">
                                  <a:latin typeface="Cambria Math" panose="02040503050406030204" pitchFamily="18" charset="0"/>
                                </a:rPr>
                                <m:t>𝑝</m:t>
                              </m:r>
                            </m:sup>
                          </m:sSup>
                          <m:r>
                            <a:rPr lang="fr-FR" sz="1200" i="1" dirty="0">
                              <a:latin typeface="Cambria Math" panose="02040503050406030204" pitchFamily="18" charset="0"/>
                            </a:rPr>
                            <m:t>)+(</m:t>
                          </m:r>
                          <m:sSup>
                            <m:sSupPr>
                              <m:ctrlPr>
                                <a:rPr lang="fr-FR" sz="1200" i="1" dirty="0">
                                  <a:latin typeface="Cambria Math" panose="02040503050406030204" pitchFamily="18" charset="0"/>
                                </a:rPr>
                              </m:ctrlPr>
                            </m:sSupPr>
                            <m:e>
                              <m:r>
                                <a:rPr lang="fr-FR" sz="1200" i="1" dirty="0">
                                  <a:latin typeface="Cambria Math" panose="02040503050406030204" pitchFamily="18" charset="0"/>
                                </a:rPr>
                                <m:t>|</m:t>
                              </m:r>
                              <m:sSub>
                                <m:sSubPr>
                                  <m:ctrlPr>
                                    <a:rPr lang="fr-FR" sz="1200" i="1" dirty="0">
                                      <a:latin typeface="Cambria Math" panose="02040503050406030204" pitchFamily="18" charset="0"/>
                                    </a:rPr>
                                  </m:ctrlPr>
                                </m:sSubPr>
                                <m:e>
                                  <m:r>
                                    <a:rPr lang="fr-FR" sz="1200" i="1" dirty="0">
                                      <a:latin typeface="Cambria Math" panose="02040503050406030204" pitchFamily="18" charset="0"/>
                                    </a:rPr>
                                    <m:t>𝑥</m:t>
                                  </m:r>
                                </m:e>
                                <m:sub>
                                  <m:r>
                                    <a:rPr lang="fr-FR" sz="1200" i="1" dirty="0">
                                      <a:latin typeface="Cambria Math" panose="02040503050406030204" pitchFamily="18" charset="0"/>
                                    </a:rPr>
                                    <m:t>2</m:t>
                                  </m:r>
                                </m:sub>
                              </m:sSub>
                              <m:r>
                                <a:rPr lang="fr-FR" sz="1200" i="1" dirty="0">
                                  <a:latin typeface="Cambria Math" panose="02040503050406030204" pitchFamily="18" charset="0"/>
                                </a:rPr>
                                <m:t>−</m:t>
                              </m:r>
                              <m:sSub>
                                <m:sSubPr>
                                  <m:ctrlPr>
                                    <a:rPr lang="fr-FR" sz="1200" i="1" dirty="0">
                                      <a:latin typeface="Cambria Math" panose="02040503050406030204" pitchFamily="18" charset="0"/>
                                    </a:rPr>
                                  </m:ctrlPr>
                                </m:sSubPr>
                                <m:e>
                                  <m:r>
                                    <a:rPr lang="fr-FR" sz="1200" i="1" dirty="0">
                                      <a:latin typeface="Cambria Math" panose="02040503050406030204" pitchFamily="18" charset="0"/>
                                    </a:rPr>
                                    <m:t>𝑦</m:t>
                                  </m:r>
                                </m:e>
                                <m:sub>
                                  <m:r>
                                    <a:rPr lang="fr-FR" sz="1200" i="1" dirty="0">
                                      <a:latin typeface="Cambria Math" panose="02040503050406030204" pitchFamily="18" charset="0"/>
                                    </a:rPr>
                                    <m:t>2</m:t>
                                  </m:r>
                                </m:sub>
                              </m:sSub>
                              <m:r>
                                <a:rPr lang="fr-FR" sz="1200" i="1" dirty="0">
                                  <a:latin typeface="Cambria Math" panose="02040503050406030204" pitchFamily="18" charset="0"/>
                                </a:rPr>
                                <m:t>|</m:t>
                              </m:r>
                            </m:e>
                            <m:sup>
                              <m:r>
                                <a:rPr lang="fr-FR" sz="1200" i="1" dirty="0">
                                  <a:latin typeface="Cambria Math" panose="02040503050406030204" pitchFamily="18" charset="0"/>
                                </a:rPr>
                                <m:t>𝑝</m:t>
                              </m:r>
                            </m:sup>
                          </m:sSup>
                          <m:r>
                            <a:rPr lang="fr-FR" sz="1200" i="1" dirty="0">
                              <a:latin typeface="Cambria Math" panose="02040503050406030204" pitchFamily="18" charset="0"/>
                            </a:rPr>
                            <m:t>)+…+(</m:t>
                          </m:r>
                          <m:sSup>
                            <m:sSupPr>
                              <m:ctrlPr>
                                <a:rPr lang="fr-FR" sz="1200" i="1" dirty="0">
                                  <a:latin typeface="Cambria Math" panose="02040503050406030204" pitchFamily="18" charset="0"/>
                                </a:rPr>
                              </m:ctrlPr>
                            </m:sSupPr>
                            <m:e>
                              <m:r>
                                <a:rPr lang="fr-FR" sz="1200" i="1" dirty="0">
                                  <a:latin typeface="Cambria Math" panose="02040503050406030204" pitchFamily="18" charset="0"/>
                                </a:rPr>
                                <m:t>|</m:t>
                              </m:r>
                              <m:sSub>
                                <m:sSubPr>
                                  <m:ctrlPr>
                                    <a:rPr lang="fr-FR" sz="1200" i="1" dirty="0">
                                      <a:latin typeface="Cambria Math" panose="02040503050406030204" pitchFamily="18" charset="0"/>
                                    </a:rPr>
                                  </m:ctrlPr>
                                </m:sSubPr>
                                <m:e>
                                  <m:r>
                                    <a:rPr lang="fr-FR" sz="1200" i="1" dirty="0">
                                      <a:latin typeface="Cambria Math" panose="02040503050406030204" pitchFamily="18" charset="0"/>
                                    </a:rPr>
                                    <m:t>𝑥</m:t>
                                  </m:r>
                                </m:e>
                                <m:sub>
                                  <m:r>
                                    <a:rPr lang="fr-FR" sz="1200" i="1" dirty="0">
                                      <a:latin typeface="Cambria Math" panose="02040503050406030204" pitchFamily="18" charset="0"/>
                                    </a:rPr>
                                    <m:t>𝑛</m:t>
                                  </m:r>
                                </m:sub>
                              </m:sSub>
                              <m:r>
                                <a:rPr lang="fr-FR" sz="1200" i="1" dirty="0">
                                  <a:latin typeface="Cambria Math" panose="02040503050406030204" pitchFamily="18" charset="0"/>
                                </a:rPr>
                                <m:t>−</m:t>
                              </m:r>
                              <m:sSub>
                                <m:sSubPr>
                                  <m:ctrlPr>
                                    <a:rPr lang="fr-FR" sz="1200" i="1" dirty="0">
                                      <a:latin typeface="Cambria Math" panose="02040503050406030204" pitchFamily="18" charset="0"/>
                                    </a:rPr>
                                  </m:ctrlPr>
                                </m:sSubPr>
                                <m:e>
                                  <m:r>
                                    <a:rPr lang="fr-FR" sz="1200" i="1" dirty="0">
                                      <a:latin typeface="Cambria Math" panose="02040503050406030204" pitchFamily="18" charset="0"/>
                                    </a:rPr>
                                    <m:t>𝑦</m:t>
                                  </m:r>
                                </m:e>
                                <m:sub>
                                  <m:r>
                                    <a:rPr lang="fr-FR" sz="1200" i="1" dirty="0">
                                      <a:latin typeface="Cambria Math" panose="02040503050406030204" pitchFamily="18" charset="0"/>
                                    </a:rPr>
                                    <m:t>𝑛</m:t>
                                  </m:r>
                                </m:sub>
                              </m:sSub>
                              <m:r>
                                <a:rPr lang="fr-FR" sz="1200" i="1" dirty="0">
                                  <a:latin typeface="Cambria Math" panose="02040503050406030204" pitchFamily="18" charset="0"/>
                                </a:rPr>
                                <m:t>|</m:t>
                              </m:r>
                            </m:e>
                            <m:sup>
                              <m:r>
                                <a:rPr lang="fr-FR" sz="1200" i="1" dirty="0">
                                  <a:latin typeface="Cambria Math" panose="02040503050406030204" pitchFamily="18" charset="0"/>
                                </a:rPr>
                                <m:t>𝑝</m:t>
                              </m:r>
                            </m:sup>
                          </m:sSup>
                          <m:r>
                            <a:rPr lang="fr-FR" sz="1200" i="1" dirty="0">
                              <a:latin typeface="Cambria Math" panose="02040503050406030204" pitchFamily="18" charset="0"/>
                            </a:rPr>
                            <m:t>))</m:t>
                          </m:r>
                        </m:e>
                        <m:sup>
                          <m:r>
                            <a:rPr lang="fr-FR" sz="1200" i="1" dirty="0">
                              <a:latin typeface="Cambria Math" panose="02040503050406030204" pitchFamily="18" charset="0"/>
                            </a:rPr>
                            <m:t>1/</m:t>
                          </m:r>
                          <m:r>
                            <a:rPr lang="fr-FR" sz="1200" i="1" dirty="0">
                              <a:latin typeface="Cambria Math" panose="02040503050406030204" pitchFamily="18" charset="0"/>
                            </a:rPr>
                            <m:t>𝑝</m:t>
                          </m:r>
                        </m:sup>
                      </m:sSup>
                    </m:oMath>
                  </m:oMathPara>
                </a14:m>
                <a:endParaRPr lang="fr-FR" sz="1200" dirty="0"/>
              </a:p>
              <a:p>
                <a:pPr lvl="1" algn="just">
                  <a:lnSpc>
                    <a:spcPct val="150000"/>
                  </a:lnSpc>
                  <a:buClr>
                    <a:schemeClr val="accent2"/>
                  </a:buClr>
                </a:pPr>
                <a:r>
                  <a:rPr lang="fr-FR" sz="1200" dirty="0"/>
                  <a:t>Lorsque </a:t>
                </a:r>
                <a14:m>
                  <m:oMath xmlns:m="http://schemas.openxmlformats.org/officeDocument/2006/math">
                    <m:r>
                      <a:rPr lang="fr-FR" sz="1200" i="1">
                        <a:latin typeface="Cambria Math" panose="02040503050406030204" pitchFamily="18" charset="0"/>
                      </a:rPr>
                      <m:t>𝑝</m:t>
                    </m:r>
                    <m:r>
                      <a:rPr lang="fr-FR" sz="1200" i="1">
                        <a:latin typeface="Cambria Math" panose="02040503050406030204" pitchFamily="18" charset="0"/>
                      </a:rPr>
                      <m:t>=1</m:t>
                    </m:r>
                  </m:oMath>
                </a14:m>
                <a:r>
                  <a:rPr lang="fr-FR" sz="1200" dirty="0"/>
                  <a:t>, on obtient la distance de Manhattan.</a:t>
                </a:r>
              </a:p>
              <a:p>
                <a:pPr lvl="1" algn="just">
                  <a:lnSpc>
                    <a:spcPct val="150000"/>
                  </a:lnSpc>
                  <a:buClr>
                    <a:schemeClr val="accent2"/>
                  </a:buClr>
                </a:pPr>
                <a:r>
                  <a:rPr lang="fr-FR" sz="1200" dirty="0"/>
                  <a:t>Lorsque </a:t>
                </a:r>
                <a14:m>
                  <m:oMath xmlns:m="http://schemas.openxmlformats.org/officeDocument/2006/math">
                    <m:r>
                      <a:rPr lang="fr-FR" sz="1200" i="1">
                        <a:latin typeface="Cambria Math" panose="02040503050406030204" pitchFamily="18" charset="0"/>
                      </a:rPr>
                      <m:t>𝑝</m:t>
                    </m:r>
                    <m:r>
                      <a:rPr lang="fr-FR" sz="1200" i="1">
                        <a:latin typeface="Cambria Math" panose="02040503050406030204" pitchFamily="18" charset="0"/>
                      </a:rPr>
                      <m:t>=2</m:t>
                    </m:r>
                  </m:oMath>
                </a14:m>
                <a:r>
                  <a:rPr lang="fr-FR" sz="1200" dirty="0"/>
                  <a:t>, on obtient la distance euclidienne.</a:t>
                </a:r>
              </a:p>
              <a:p>
                <a:pPr lvl="1" algn="just">
                  <a:lnSpc>
                    <a:spcPct val="150000"/>
                  </a:lnSpc>
                  <a:buClr>
                    <a:schemeClr val="accent2"/>
                  </a:buClr>
                </a:pPr>
                <a:r>
                  <a:rPr lang="fr-FR" sz="1200" dirty="0"/>
                  <a:t>Lorsque </a:t>
                </a:r>
                <a14:m>
                  <m:oMath xmlns:m="http://schemas.openxmlformats.org/officeDocument/2006/math">
                    <m:r>
                      <a:rPr lang="fr-FR" sz="1200" i="1">
                        <a:latin typeface="Cambria Math" panose="02040503050406030204" pitchFamily="18" charset="0"/>
                      </a:rPr>
                      <m:t>𝑝</m:t>
                    </m:r>
                    <m:r>
                      <a:rPr lang="fr-FR" sz="1200" i="1">
                        <a:latin typeface="Cambria Math" panose="02040503050406030204" pitchFamily="18" charset="0"/>
                      </a:rPr>
                      <m:t>=∞</m:t>
                    </m:r>
                  </m:oMath>
                </a14:m>
                <a:r>
                  <a:rPr lang="fr-FR" sz="1200" dirty="0"/>
                  <a:t>, on obtient la distance de Chebychev.</a:t>
                </a:r>
              </a:p>
              <a:p>
                <a:pPr lvl="1" algn="just">
                  <a:lnSpc>
                    <a:spcPct val="150000"/>
                  </a:lnSpc>
                  <a:buClr>
                    <a:schemeClr val="accent2"/>
                  </a:buClr>
                </a:pPr>
                <a:r>
                  <a:rPr lang="fr-FR" sz="1200" dirty="0"/>
                  <a:t>Pour obtenir la classe d’appartenance d’un point, nous étudions les groupes de classes environnants.</a:t>
                </a:r>
              </a:p>
              <a:p>
                <a:pPr lvl="1" algn="just">
                  <a:lnSpc>
                    <a:spcPct val="150000"/>
                  </a:lnSpc>
                  <a:buClr>
                    <a:schemeClr val="accent2"/>
                  </a:buClr>
                </a:pPr>
                <a:r>
                  <a:rPr lang="fr-FR" sz="1200" dirty="0"/>
                  <a:t>Si ce point est plus proche d’un groupe qu’un autre, alors ce point appartiendra au groupe considéré.</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1400" cy="3539258"/>
              </a:xfrm>
              <a:blipFill>
                <a:blip r:embed="rId2"/>
                <a:stretch>
                  <a:fillRect r="-155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201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 :</a:t>
            </a:r>
            <a:r>
              <a:rPr lang="fr-FR" sz="2100" b="0" dirty="0"/>
              <a:t> fonctionnement</a:t>
            </a:r>
          </a:p>
        </p:txBody>
      </p:sp>
      <p:sp>
        <p:nvSpPr>
          <p:cNvPr id="5" name="Title 13">
            <a:extLst>
              <a:ext uri="{FF2B5EF4-FFF2-40B4-BE49-F238E27FC236}">
                <a16:creationId xmlns:a16="http://schemas.microsoft.com/office/drawing/2014/main" id="{F3B1271F-0B5A-4E71-BAF2-12B26411932B}"/>
              </a:ext>
            </a:extLst>
          </p:cNvPr>
          <p:cNvSpPr txBox="1">
            <a:spLocks/>
          </p:cNvSpPr>
          <p:nvPr/>
        </p:nvSpPr>
        <p:spPr>
          <a:xfrm>
            <a:off x="378638" y="959489"/>
            <a:ext cx="6249917" cy="24011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KNN pour la classification</a:t>
            </a:r>
          </a:p>
        </p:txBody>
      </p:sp>
    </p:spTree>
    <p:extLst>
      <p:ext uri="{BB962C8B-B14F-4D97-AF65-F5344CB8AC3E}">
        <p14:creationId xmlns:p14="http://schemas.microsoft.com/office/powerpoint/2010/main" val="2224203052"/>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1506281"/>
          </a:xfrm>
        </p:spPr>
        <p:txBody>
          <a:bodyPr>
            <a:noAutofit/>
          </a:bodyPr>
          <a:lstStyle/>
          <a:p>
            <a:pPr lvl="1" algn="just">
              <a:lnSpc>
                <a:spcPct val="150000"/>
              </a:lnSpc>
              <a:buClr>
                <a:schemeClr val="accent2"/>
              </a:buClr>
            </a:pPr>
            <a:r>
              <a:rPr lang="fr-FR" sz="1200" dirty="0"/>
              <a:t>Supposons que nous souhaitons classer des patients dans deux catégories : « sain » ou « malade ».</a:t>
            </a:r>
          </a:p>
          <a:p>
            <a:pPr lvl="1" algn="just">
              <a:lnSpc>
                <a:spcPct val="150000"/>
              </a:lnSpc>
              <a:buClr>
                <a:schemeClr val="accent2"/>
              </a:buClr>
            </a:pPr>
            <a:r>
              <a:rPr lang="fr-FR" sz="1200" dirty="0"/>
              <a:t>L’idée est de repérer rapidement les patients identifiés comme malades, afin de leur apporter un traitement avant l’aggravation de la maladie.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202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 :</a:t>
            </a:r>
            <a:r>
              <a:rPr lang="fr-FR" sz="2100" b="0" dirty="0"/>
              <a:t> fonctionnement</a:t>
            </a:r>
          </a:p>
        </p:txBody>
      </p:sp>
      <p:sp>
        <p:nvSpPr>
          <p:cNvPr id="5" name="Title 13">
            <a:extLst>
              <a:ext uri="{FF2B5EF4-FFF2-40B4-BE49-F238E27FC236}">
                <a16:creationId xmlns:a16="http://schemas.microsoft.com/office/drawing/2014/main" id="{F3B1271F-0B5A-4E71-BAF2-12B26411932B}"/>
              </a:ext>
            </a:extLst>
          </p:cNvPr>
          <p:cNvSpPr txBox="1">
            <a:spLocks/>
          </p:cNvSpPr>
          <p:nvPr/>
        </p:nvSpPr>
        <p:spPr>
          <a:xfrm>
            <a:off x="378638" y="959489"/>
            <a:ext cx="6249917" cy="24011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KNN pour la classification</a:t>
            </a:r>
          </a:p>
        </p:txBody>
      </p:sp>
      <p:grpSp>
        <p:nvGrpSpPr>
          <p:cNvPr id="3" name="Groupe 2">
            <a:extLst>
              <a:ext uri="{FF2B5EF4-FFF2-40B4-BE49-F238E27FC236}">
                <a16:creationId xmlns:a16="http://schemas.microsoft.com/office/drawing/2014/main" id="{FE4EDB17-1086-4772-BE0B-8485272D957D}"/>
              </a:ext>
            </a:extLst>
          </p:cNvPr>
          <p:cNvGrpSpPr/>
          <p:nvPr/>
        </p:nvGrpSpPr>
        <p:grpSpPr>
          <a:xfrm>
            <a:off x="1898185" y="3125066"/>
            <a:ext cx="4178600" cy="1925210"/>
            <a:chOff x="2530912" y="4166755"/>
            <a:chExt cx="5571467" cy="2566946"/>
          </a:xfrm>
        </p:grpSpPr>
        <p:grpSp>
          <p:nvGrpSpPr>
            <p:cNvPr id="9" name="Groupe 8">
              <a:extLst>
                <a:ext uri="{FF2B5EF4-FFF2-40B4-BE49-F238E27FC236}">
                  <a16:creationId xmlns:a16="http://schemas.microsoft.com/office/drawing/2014/main" id="{7CF16953-5454-47A8-86D5-62E67B636501}"/>
                </a:ext>
              </a:extLst>
            </p:cNvPr>
            <p:cNvGrpSpPr/>
            <p:nvPr/>
          </p:nvGrpSpPr>
          <p:grpSpPr>
            <a:xfrm>
              <a:off x="3493679" y="4199650"/>
              <a:ext cx="3960000" cy="2534051"/>
              <a:chOff x="2623930" y="2409245"/>
              <a:chExt cx="4060689" cy="2784282"/>
            </a:xfrm>
          </p:grpSpPr>
          <p:cxnSp>
            <p:nvCxnSpPr>
              <p:cNvPr id="28" name="Connecteur droit avec flèche 27">
                <a:extLst>
                  <a:ext uri="{FF2B5EF4-FFF2-40B4-BE49-F238E27FC236}">
                    <a16:creationId xmlns:a16="http://schemas.microsoft.com/office/drawing/2014/main" id="{2AE8689E-C2B7-4772-9FB8-6496A587AB2C}"/>
                  </a:ext>
                </a:extLst>
              </p:cNvPr>
              <p:cNvCxnSpPr/>
              <p:nvPr/>
            </p:nvCxnSpPr>
            <p:spPr>
              <a:xfrm>
                <a:off x="2623930" y="5041127"/>
                <a:ext cx="40606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8AB9602B-FE84-4BF1-9F1F-C8B859521824}"/>
                  </a:ext>
                </a:extLst>
              </p:cNvPr>
              <p:cNvCxnSpPr>
                <a:cxnSpLocks/>
              </p:cNvCxnSpPr>
              <p:nvPr/>
            </p:nvCxnSpPr>
            <p:spPr>
              <a:xfrm flipV="1">
                <a:off x="2776330" y="2409245"/>
                <a:ext cx="0" cy="2784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4" name="Légende : flèche courbée 33">
              <a:extLst>
                <a:ext uri="{FF2B5EF4-FFF2-40B4-BE49-F238E27FC236}">
                  <a16:creationId xmlns:a16="http://schemas.microsoft.com/office/drawing/2014/main" id="{88D05BA9-95E6-4F71-94A3-36818796C7B1}"/>
                </a:ext>
              </a:extLst>
            </p:cNvPr>
            <p:cNvSpPr/>
            <p:nvPr/>
          </p:nvSpPr>
          <p:spPr>
            <a:xfrm>
              <a:off x="2530912" y="6116567"/>
              <a:ext cx="684000" cy="219102"/>
            </a:xfrm>
            <a:prstGeom prst="borderCallout2">
              <a:avLst>
                <a:gd name="adj1" fmla="val 37158"/>
                <a:gd name="adj2" fmla="val 106168"/>
                <a:gd name="adj3" fmla="val 38879"/>
                <a:gd name="adj4" fmla="val 123051"/>
                <a:gd name="adj5" fmla="val -14740"/>
                <a:gd name="adj6" fmla="val 187007"/>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825" dirty="0"/>
                <a:t>sain</a:t>
              </a:r>
            </a:p>
          </p:txBody>
        </p:sp>
        <p:sp>
          <p:nvSpPr>
            <p:cNvPr id="35" name="Légende : flèche courbée 34">
              <a:extLst>
                <a:ext uri="{FF2B5EF4-FFF2-40B4-BE49-F238E27FC236}">
                  <a16:creationId xmlns:a16="http://schemas.microsoft.com/office/drawing/2014/main" id="{DC1FBDA5-038E-4FFF-9224-46FFE85BD44A}"/>
                </a:ext>
              </a:extLst>
            </p:cNvPr>
            <p:cNvSpPr/>
            <p:nvPr/>
          </p:nvSpPr>
          <p:spPr>
            <a:xfrm>
              <a:off x="7289276" y="4166755"/>
              <a:ext cx="684000" cy="219102"/>
            </a:xfrm>
            <a:prstGeom prst="borderCallout2">
              <a:avLst>
                <a:gd name="adj1" fmla="val 36070"/>
                <a:gd name="adj2" fmla="val -5468"/>
                <a:gd name="adj3" fmla="val 38154"/>
                <a:gd name="adj4" fmla="val -27343"/>
                <a:gd name="adj5" fmla="val 221286"/>
                <a:gd name="adj6" fmla="val -93072"/>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700" dirty="0"/>
                <a:t>malade</a:t>
              </a:r>
            </a:p>
          </p:txBody>
        </p:sp>
        <p:sp>
          <p:nvSpPr>
            <p:cNvPr id="36" name="Légende : flèche courbée 35">
              <a:extLst>
                <a:ext uri="{FF2B5EF4-FFF2-40B4-BE49-F238E27FC236}">
                  <a16:creationId xmlns:a16="http://schemas.microsoft.com/office/drawing/2014/main" id="{556AB7A5-B387-4522-BEE1-CD73553A406C}"/>
                </a:ext>
              </a:extLst>
            </p:cNvPr>
            <p:cNvSpPr/>
            <p:nvPr/>
          </p:nvSpPr>
          <p:spPr>
            <a:xfrm>
              <a:off x="6917996" y="5863677"/>
              <a:ext cx="1184383" cy="237028"/>
            </a:xfrm>
            <a:prstGeom prst="borderCallout2">
              <a:avLst>
                <a:gd name="adj1" fmla="val 36070"/>
                <a:gd name="adj2" fmla="val -5468"/>
                <a:gd name="adj3" fmla="val 38154"/>
                <a:gd name="adj4" fmla="val -27343"/>
                <a:gd name="adj5" fmla="val -51248"/>
                <a:gd name="adj6" fmla="val -106951"/>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700" dirty="0"/>
                <a:t>Nouveau patient</a:t>
              </a:r>
            </a:p>
          </p:txBody>
        </p:sp>
        <p:sp>
          <p:nvSpPr>
            <p:cNvPr id="38" name="Organigramme : Connecteur 37">
              <a:extLst>
                <a:ext uri="{FF2B5EF4-FFF2-40B4-BE49-F238E27FC236}">
                  <a16:creationId xmlns:a16="http://schemas.microsoft.com/office/drawing/2014/main" id="{730A8BD8-B5DD-45EC-9EF2-4B166FA2889C}"/>
                </a:ext>
              </a:extLst>
            </p:cNvPr>
            <p:cNvSpPr/>
            <p:nvPr/>
          </p:nvSpPr>
          <p:spPr>
            <a:xfrm>
              <a:off x="6025096" y="4796193"/>
              <a:ext cx="196358" cy="199023"/>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0" name="Organigramme : Connecteur 39">
              <a:extLst>
                <a:ext uri="{FF2B5EF4-FFF2-40B4-BE49-F238E27FC236}">
                  <a16:creationId xmlns:a16="http://schemas.microsoft.com/office/drawing/2014/main" id="{93148CB2-6309-4CB6-8A0C-65047F1FD691}"/>
                </a:ext>
              </a:extLst>
            </p:cNvPr>
            <p:cNvSpPr/>
            <p:nvPr/>
          </p:nvSpPr>
          <p:spPr>
            <a:xfrm>
              <a:off x="5446645" y="5212109"/>
              <a:ext cx="196358" cy="199023"/>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1" name="Organigramme : Connecteur 40">
              <a:extLst>
                <a:ext uri="{FF2B5EF4-FFF2-40B4-BE49-F238E27FC236}">
                  <a16:creationId xmlns:a16="http://schemas.microsoft.com/office/drawing/2014/main" id="{A2D2FCBF-1AB2-4C5E-8D2B-9D0A6F5A1529}"/>
                </a:ext>
              </a:extLst>
            </p:cNvPr>
            <p:cNvSpPr/>
            <p:nvPr/>
          </p:nvSpPr>
          <p:spPr>
            <a:xfrm>
              <a:off x="5406887" y="5600668"/>
              <a:ext cx="196358" cy="199023"/>
            </a:xfrm>
            <a:prstGeom prst="flowChartConnector">
              <a:avLst/>
            </a:prstGeom>
            <a:solidFill>
              <a:srgbClr val="EAB200"/>
            </a:solidFill>
            <a:ln>
              <a:solidFill>
                <a:srgbClr val="EAB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2" name="Organigramme : Connecteur 41">
              <a:extLst>
                <a:ext uri="{FF2B5EF4-FFF2-40B4-BE49-F238E27FC236}">
                  <a16:creationId xmlns:a16="http://schemas.microsoft.com/office/drawing/2014/main" id="{F79449BD-1CC5-475A-8BA0-587DE184E06E}"/>
                </a:ext>
              </a:extLst>
            </p:cNvPr>
            <p:cNvSpPr/>
            <p:nvPr/>
          </p:nvSpPr>
          <p:spPr>
            <a:xfrm>
              <a:off x="3847579" y="5938704"/>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3" name="Organigramme : Connecteur 42">
              <a:extLst>
                <a:ext uri="{FF2B5EF4-FFF2-40B4-BE49-F238E27FC236}">
                  <a16:creationId xmlns:a16="http://schemas.microsoft.com/office/drawing/2014/main" id="{BD5F5313-CB89-4A15-8AE5-0263A0301CFB}"/>
                </a:ext>
              </a:extLst>
            </p:cNvPr>
            <p:cNvSpPr/>
            <p:nvPr/>
          </p:nvSpPr>
          <p:spPr>
            <a:xfrm>
              <a:off x="4087814" y="6163062"/>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4" name="Organigramme : Connecteur 43">
              <a:extLst>
                <a:ext uri="{FF2B5EF4-FFF2-40B4-BE49-F238E27FC236}">
                  <a16:creationId xmlns:a16="http://schemas.microsoft.com/office/drawing/2014/main" id="{DAB044DB-B2ED-441E-BD9C-DDF13E1252CA}"/>
                </a:ext>
              </a:extLst>
            </p:cNvPr>
            <p:cNvSpPr/>
            <p:nvPr/>
          </p:nvSpPr>
          <p:spPr>
            <a:xfrm>
              <a:off x="4761249" y="6027095"/>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5" name="Organigramme : Connecteur 44">
              <a:extLst>
                <a:ext uri="{FF2B5EF4-FFF2-40B4-BE49-F238E27FC236}">
                  <a16:creationId xmlns:a16="http://schemas.microsoft.com/office/drawing/2014/main" id="{00BA81C9-AA77-4729-9BE6-3B1181C5FDBB}"/>
                </a:ext>
              </a:extLst>
            </p:cNvPr>
            <p:cNvSpPr/>
            <p:nvPr/>
          </p:nvSpPr>
          <p:spPr>
            <a:xfrm rot="7820797">
              <a:off x="6665695" y="5052638"/>
              <a:ext cx="196358" cy="199024"/>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6" name="Organigramme : Connecteur 45">
              <a:extLst>
                <a:ext uri="{FF2B5EF4-FFF2-40B4-BE49-F238E27FC236}">
                  <a16:creationId xmlns:a16="http://schemas.microsoft.com/office/drawing/2014/main" id="{8059E3AD-FCBC-4D2E-B140-259D3B4C27FB}"/>
                </a:ext>
              </a:extLst>
            </p:cNvPr>
            <p:cNvSpPr/>
            <p:nvPr/>
          </p:nvSpPr>
          <p:spPr>
            <a:xfrm rot="7820797">
              <a:off x="6407764" y="4973121"/>
              <a:ext cx="196358" cy="199024"/>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7" name="Organigramme : Connecteur 46">
              <a:extLst>
                <a:ext uri="{FF2B5EF4-FFF2-40B4-BE49-F238E27FC236}">
                  <a16:creationId xmlns:a16="http://schemas.microsoft.com/office/drawing/2014/main" id="{03827EF6-C0E0-445D-BEA9-4275817AEA19}"/>
                </a:ext>
              </a:extLst>
            </p:cNvPr>
            <p:cNvSpPr/>
            <p:nvPr/>
          </p:nvSpPr>
          <p:spPr>
            <a:xfrm rot="7820797">
              <a:off x="6418017" y="4609638"/>
              <a:ext cx="196358" cy="199024"/>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8" name="Organigramme : Connecteur 47">
              <a:extLst>
                <a:ext uri="{FF2B5EF4-FFF2-40B4-BE49-F238E27FC236}">
                  <a16:creationId xmlns:a16="http://schemas.microsoft.com/office/drawing/2014/main" id="{7C35F2FA-6498-4F6F-8FD5-E2EAB3AB831B}"/>
                </a:ext>
              </a:extLst>
            </p:cNvPr>
            <p:cNvSpPr/>
            <p:nvPr/>
          </p:nvSpPr>
          <p:spPr>
            <a:xfrm>
              <a:off x="4461356" y="5901682"/>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9" name="Organigramme : Connecteur 48">
              <a:extLst>
                <a:ext uri="{FF2B5EF4-FFF2-40B4-BE49-F238E27FC236}">
                  <a16:creationId xmlns:a16="http://schemas.microsoft.com/office/drawing/2014/main" id="{5EF1CFCA-FA34-4E2B-B4F1-540AB38E0661}"/>
                </a:ext>
              </a:extLst>
            </p:cNvPr>
            <p:cNvSpPr/>
            <p:nvPr/>
          </p:nvSpPr>
          <p:spPr>
            <a:xfrm>
              <a:off x="5112351" y="5764165"/>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0" name="Organigramme : Connecteur 49">
              <a:extLst>
                <a:ext uri="{FF2B5EF4-FFF2-40B4-BE49-F238E27FC236}">
                  <a16:creationId xmlns:a16="http://schemas.microsoft.com/office/drawing/2014/main" id="{9C26819E-1FCD-4C68-B52C-CA91A1869836}"/>
                </a:ext>
              </a:extLst>
            </p:cNvPr>
            <p:cNvSpPr/>
            <p:nvPr/>
          </p:nvSpPr>
          <p:spPr>
            <a:xfrm>
              <a:off x="5667285" y="5306867"/>
              <a:ext cx="196358" cy="199023"/>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1" name="Organigramme : Connecteur 50">
              <a:extLst>
                <a:ext uri="{FF2B5EF4-FFF2-40B4-BE49-F238E27FC236}">
                  <a16:creationId xmlns:a16="http://schemas.microsoft.com/office/drawing/2014/main" id="{7E9D3611-6A29-4B8E-A15D-68B0976A296F}"/>
                </a:ext>
              </a:extLst>
            </p:cNvPr>
            <p:cNvSpPr/>
            <p:nvPr/>
          </p:nvSpPr>
          <p:spPr>
            <a:xfrm>
              <a:off x="4725058" y="5747397"/>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Tree>
    <p:extLst>
      <p:ext uri="{BB962C8B-B14F-4D97-AF65-F5344CB8AC3E}">
        <p14:creationId xmlns:p14="http://schemas.microsoft.com/office/powerpoint/2010/main" val="731150996"/>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1506281"/>
              </a:xfrm>
            </p:spPr>
            <p:txBody>
              <a:bodyPr>
                <a:noAutofit/>
              </a:bodyPr>
              <a:lstStyle/>
              <a:p>
                <a:pPr lvl="1" algn="just">
                  <a:lnSpc>
                    <a:spcPct val="150000"/>
                  </a:lnSpc>
                  <a:buClr>
                    <a:schemeClr val="accent2"/>
                  </a:buClr>
                </a:pPr>
                <a:r>
                  <a:rPr lang="fr-FR" sz="1200" dirty="0"/>
                  <a:t>Si on choisit </a:t>
                </a:r>
                <a14:m>
                  <m:oMath xmlns:m="http://schemas.openxmlformats.org/officeDocument/2006/math">
                    <m:r>
                      <a:rPr lang="fr-FR" sz="1200" i="1">
                        <a:latin typeface="Cambria Math" panose="02040503050406030204" pitchFamily="18" charset="0"/>
                      </a:rPr>
                      <m:t>𝑘</m:t>
                    </m:r>
                    <m:r>
                      <a:rPr lang="fr-FR" sz="1200" i="1">
                        <a:latin typeface="Cambria Math" panose="02040503050406030204" pitchFamily="18" charset="0"/>
                      </a:rPr>
                      <m:t>=3</m:t>
                    </m:r>
                  </m:oMath>
                </a14:m>
                <a:r>
                  <a:rPr lang="fr-FR" sz="1200" dirty="0"/>
                  <a:t> avec des poids constants pour tous les points, on obtient deux patients malades et un patient en bonne santé.</a:t>
                </a:r>
              </a:p>
              <a:p>
                <a:pPr lvl="1" algn="just">
                  <a:lnSpc>
                    <a:spcPct val="150000"/>
                  </a:lnSpc>
                  <a:buClr>
                    <a:schemeClr val="accent2"/>
                  </a:buClr>
                </a:pPr>
                <a:r>
                  <a:rPr lang="fr-FR" sz="1200" dirty="0"/>
                  <a:t>Le nouveau patient appartiendra à la classe rouge, étant donné que les rouges sont majoritaires.</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1400" cy="1506281"/>
              </a:xfrm>
              <a:blipFill>
                <a:blip r:embed="rId2"/>
                <a:stretch>
                  <a:fillRect r="-155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203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 :</a:t>
            </a:r>
            <a:r>
              <a:rPr lang="fr-FR" sz="2100" b="0" dirty="0"/>
              <a:t> fonctionnement</a:t>
            </a:r>
          </a:p>
        </p:txBody>
      </p:sp>
      <p:sp>
        <p:nvSpPr>
          <p:cNvPr id="5" name="Title 13">
            <a:extLst>
              <a:ext uri="{FF2B5EF4-FFF2-40B4-BE49-F238E27FC236}">
                <a16:creationId xmlns:a16="http://schemas.microsoft.com/office/drawing/2014/main" id="{F3B1271F-0B5A-4E71-BAF2-12B26411932B}"/>
              </a:ext>
            </a:extLst>
          </p:cNvPr>
          <p:cNvSpPr txBox="1">
            <a:spLocks/>
          </p:cNvSpPr>
          <p:nvPr/>
        </p:nvSpPr>
        <p:spPr>
          <a:xfrm>
            <a:off x="378638" y="959489"/>
            <a:ext cx="6249917" cy="24011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KNN pour la classification</a:t>
            </a:r>
          </a:p>
        </p:txBody>
      </p:sp>
      <p:grpSp>
        <p:nvGrpSpPr>
          <p:cNvPr id="3" name="Groupe 2">
            <a:extLst>
              <a:ext uri="{FF2B5EF4-FFF2-40B4-BE49-F238E27FC236}">
                <a16:creationId xmlns:a16="http://schemas.microsoft.com/office/drawing/2014/main" id="{14930F99-2067-49AE-8B8E-3DB1A75CD965}"/>
              </a:ext>
            </a:extLst>
          </p:cNvPr>
          <p:cNvGrpSpPr/>
          <p:nvPr/>
        </p:nvGrpSpPr>
        <p:grpSpPr>
          <a:xfrm>
            <a:off x="1898185" y="3102823"/>
            <a:ext cx="4178600" cy="1947452"/>
            <a:chOff x="2530912" y="4137097"/>
            <a:chExt cx="5571467" cy="2596602"/>
          </a:xfrm>
        </p:grpSpPr>
        <p:grpSp>
          <p:nvGrpSpPr>
            <p:cNvPr id="9" name="Groupe 8">
              <a:extLst>
                <a:ext uri="{FF2B5EF4-FFF2-40B4-BE49-F238E27FC236}">
                  <a16:creationId xmlns:a16="http://schemas.microsoft.com/office/drawing/2014/main" id="{7CF16953-5454-47A8-86D5-62E67B636501}"/>
                </a:ext>
              </a:extLst>
            </p:cNvPr>
            <p:cNvGrpSpPr/>
            <p:nvPr/>
          </p:nvGrpSpPr>
          <p:grpSpPr>
            <a:xfrm>
              <a:off x="3493679" y="4199648"/>
              <a:ext cx="3960000" cy="2534051"/>
              <a:chOff x="2623930" y="2409245"/>
              <a:chExt cx="4060689" cy="2784282"/>
            </a:xfrm>
          </p:grpSpPr>
          <p:cxnSp>
            <p:nvCxnSpPr>
              <p:cNvPr id="28" name="Connecteur droit avec flèche 27">
                <a:extLst>
                  <a:ext uri="{FF2B5EF4-FFF2-40B4-BE49-F238E27FC236}">
                    <a16:creationId xmlns:a16="http://schemas.microsoft.com/office/drawing/2014/main" id="{2AE8689E-C2B7-4772-9FB8-6496A587AB2C}"/>
                  </a:ext>
                </a:extLst>
              </p:cNvPr>
              <p:cNvCxnSpPr/>
              <p:nvPr/>
            </p:nvCxnSpPr>
            <p:spPr>
              <a:xfrm>
                <a:off x="2623930" y="5041127"/>
                <a:ext cx="40606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8AB9602B-FE84-4BF1-9F1F-C8B859521824}"/>
                  </a:ext>
                </a:extLst>
              </p:cNvPr>
              <p:cNvCxnSpPr>
                <a:cxnSpLocks/>
              </p:cNvCxnSpPr>
              <p:nvPr/>
            </p:nvCxnSpPr>
            <p:spPr>
              <a:xfrm flipV="1">
                <a:off x="2776330" y="2409245"/>
                <a:ext cx="0" cy="2784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6" name="Ellipse 25">
              <a:extLst>
                <a:ext uri="{FF2B5EF4-FFF2-40B4-BE49-F238E27FC236}">
                  <a16:creationId xmlns:a16="http://schemas.microsoft.com/office/drawing/2014/main" id="{469485D7-D31B-4138-B86F-B7056E7994B0}"/>
                </a:ext>
              </a:extLst>
            </p:cNvPr>
            <p:cNvSpPr>
              <a:spLocks noChangeAspect="1"/>
            </p:cNvSpPr>
            <p:nvPr/>
          </p:nvSpPr>
          <p:spPr>
            <a:xfrm>
              <a:off x="4918248" y="5116746"/>
              <a:ext cx="1073044" cy="1066073"/>
            </a:xfrm>
            <a:prstGeom prst="ellipse">
              <a:avLst/>
            </a:prstGeom>
            <a:noFill/>
            <a:ln w="31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solidFill>
                  <a:schemeClr val="tx1"/>
                </a:solidFill>
              </a:endParaRPr>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1C240B4F-8C51-4BF5-A642-2E03B44674EF}"/>
                    </a:ext>
                  </a:extLst>
                </p:cNvPr>
                <p:cNvSpPr/>
                <p:nvPr/>
              </p:nvSpPr>
              <p:spPr>
                <a:xfrm>
                  <a:off x="5304029" y="4137097"/>
                  <a:ext cx="1148499" cy="275136"/>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825" i="1">
                            <a:latin typeface="Cambria Math" panose="02040503050406030204" pitchFamily="18" charset="0"/>
                          </a:rPr>
                          <m:t>𝑘</m:t>
                        </m:r>
                        <m:r>
                          <a:rPr lang="fr-FR" sz="825" i="1">
                            <a:latin typeface="Cambria Math" panose="02040503050406030204" pitchFamily="18" charset="0"/>
                          </a:rPr>
                          <m:t>=3</m:t>
                        </m:r>
                      </m:oMath>
                    </m:oMathPara>
                  </a14:m>
                  <a:endParaRPr lang="fr-FR" sz="825" dirty="0"/>
                </a:p>
              </p:txBody>
            </p:sp>
          </mc:Choice>
          <mc:Fallback xmlns="">
            <p:sp>
              <p:nvSpPr>
                <p:cNvPr id="27" name="Rectangle 26">
                  <a:extLst>
                    <a:ext uri="{FF2B5EF4-FFF2-40B4-BE49-F238E27FC236}">
                      <a16:creationId xmlns:a16="http://schemas.microsoft.com/office/drawing/2014/main" id="{1C240B4F-8C51-4BF5-A642-2E03B44674EF}"/>
                    </a:ext>
                  </a:extLst>
                </p:cNvPr>
                <p:cNvSpPr>
                  <a:spLocks noRot="1" noChangeAspect="1" noMove="1" noResize="1" noEditPoints="1" noAdjustHandles="1" noChangeArrowheads="1" noChangeShapeType="1" noTextEdit="1"/>
                </p:cNvSpPr>
                <p:nvPr/>
              </p:nvSpPr>
              <p:spPr>
                <a:xfrm>
                  <a:off x="5304029" y="4137097"/>
                  <a:ext cx="1148499" cy="275136"/>
                </a:xfrm>
                <a:prstGeom prst="rect">
                  <a:avLst/>
                </a:prstGeom>
                <a:blipFill>
                  <a:blip r:embed="rId5"/>
                  <a:stretch>
                    <a:fillRect/>
                  </a:stretch>
                </a:blipFill>
                <a:ln w="9525" cap="flat" cmpd="sng" algn="ctr">
                  <a:noFill/>
                  <a:prstDash val="solid"/>
                  <a:round/>
                  <a:headEnd type="none" w="med" len="med"/>
                  <a:tailEnd type="none" w="med" len="med"/>
                </a:ln>
              </p:spPr>
              <p:txBody>
                <a:bodyPr/>
                <a:lstStyle/>
                <a:p>
                  <a:r>
                    <a:rPr lang="fr-FR">
                      <a:noFill/>
                    </a:rPr>
                    <a:t> </a:t>
                  </a:r>
                </a:p>
              </p:txBody>
            </p:sp>
          </mc:Fallback>
        </mc:AlternateContent>
        <p:sp>
          <p:nvSpPr>
            <p:cNvPr id="34" name="Légende : flèche courbée 33">
              <a:extLst>
                <a:ext uri="{FF2B5EF4-FFF2-40B4-BE49-F238E27FC236}">
                  <a16:creationId xmlns:a16="http://schemas.microsoft.com/office/drawing/2014/main" id="{88D05BA9-95E6-4F71-94A3-36818796C7B1}"/>
                </a:ext>
              </a:extLst>
            </p:cNvPr>
            <p:cNvSpPr/>
            <p:nvPr/>
          </p:nvSpPr>
          <p:spPr>
            <a:xfrm>
              <a:off x="2530912" y="6116567"/>
              <a:ext cx="684000" cy="219102"/>
            </a:xfrm>
            <a:prstGeom prst="borderCallout2">
              <a:avLst>
                <a:gd name="adj1" fmla="val 37158"/>
                <a:gd name="adj2" fmla="val 106168"/>
                <a:gd name="adj3" fmla="val 38879"/>
                <a:gd name="adj4" fmla="val 123051"/>
                <a:gd name="adj5" fmla="val -14740"/>
                <a:gd name="adj6" fmla="val 187007"/>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825" dirty="0"/>
                <a:t>sain</a:t>
              </a:r>
            </a:p>
          </p:txBody>
        </p:sp>
        <p:sp>
          <p:nvSpPr>
            <p:cNvPr id="35" name="Légende : flèche courbée 34">
              <a:extLst>
                <a:ext uri="{FF2B5EF4-FFF2-40B4-BE49-F238E27FC236}">
                  <a16:creationId xmlns:a16="http://schemas.microsoft.com/office/drawing/2014/main" id="{DC1FBDA5-038E-4FFF-9224-46FFE85BD44A}"/>
                </a:ext>
              </a:extLst>
            </p:cNvPr>
            <p:cNvSpPr/>
            <p:nvPr/>
          </p:nvSpPr>
          <p:spPr>
            <a:xfrm>
              <a:off x="7289276" y="4166755"/>
              <a:ext cx="684000" cy="219102"/>
            </a:xfrm>
            <a:prstGeom prst="borderCallout2">
              <a:avLst>
                <a:gd name="adj1" fmla="val 36070"/>
                <a:gd name="adj2" fmla="val -5468"/>
                <a:gd name="adj3" fmla="val 38154"/>
                <a:gd name="adj4" fmla="val -27343"/>
                <a:gd name="adj5" fmla="val 221286"/>
                <a:gd name="adj6" fmla="val -93072"/>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700" dirty="0"/>
                <a:t>malade</a:t>
              </a:r>
            </a:p>
          </p:txBody>
        </p:sp>
        <p:sp>
          <p:nvSpPr>
            <p:cNvPr id="36" name="Légende : flèche courbée 35">
              <a:extLst>
                <a:ext uri="{FF2B5EF4-FFF2-40B4-BE49-F238E27FC236}">
                  <a16:creationId xmlns:a16="http://schemas.microsoft.com/office/drawing/2014/main" id="{556AB7A5-B387-4522-BEE1-CD73553A406C}"/>
                </a:ext>
              </a:extLst>
            </p:cNvPr>
            <p:cNvSpPr/>
            <p:nvPr/>
          </p:nvSpPr>
          <p:spPr>
            <a:xfrm>
              <a:off x="6917996" y="5863677"/>
              <a:ext cx="1184383" cy="237028"/>
            </a:xfrm>
            <a:prstGeom prst="borderCallout2">
              <a:avLst>
                <a:gd name="adj1" fmla="val 36070"/>
                <a:gd name="adj2" fmla="val -5468"/>
                <a:gd name="adj3" fmla="val 38154"/>
                <a:gd name="adj4" fmla="val -27343"/>
                <a:gd name="adj5" fmla="val -51248"/>
                <a:gd name="adj6" fmla="val -106951"/>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700" dirty="0"/>
                <a:t>Nouveau patient</a:t>
              </a:r>
            </a:p>
          </p:txBody>
        </p:sp>
        <p:sp>
          <p:nvSpPr>
            <p:cNvPr id="33" name="Organigramme : Connecteur 32">
              <a:extLst>
                <a:ext uri="{FF2B5EF4-FFF2-40B4-BE49-F238E27FC236}">
                  <a16:creationId xmlns:a16="http://schemas.microsoft.com/office/drawing/2014/main" id="{B3E1831F-05AE-4F1E-9CB6-B553B6254E1E}"/>
                </a:ext>
              </a:extLst>
            </p:cNvPr>
            <p:cNvSpPr/>
            <p:nvPr/>
          </p:nvSpPr>
          <p:spPr>
            <a:xfrm>
              <a:off x="6025096" y="4796193"/>
              <a:ext cx="196358" cy="199023"/>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7" name="Organigramme : Connecteur 36">
              <a:extLst>
                <a:ext uri="{FF2B5EF4-FFF2-40B4-BE49-F238E27FC236}">
                  <a16:creationId xmlns:a16="http://schemas.microsoft.com/office/drawing/2014/main" id="{EA9C5E00-8CB6-491E-ADC5-8DED2375E780}"/>
                </a:ext>
              </a:extLst>
            </p:cNvPr>
            <p:cNvSpPr/>
            <p:nvPr/>
          </p:nvSpPr>
          <p:spPr>
            <a:xfrm>
              <a:off x="5446645" y="5212109"/>
              <a:ext cx="196358" cy="199023"/>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8" name="Organigramme : Connecteur 37">
              <a:extLst>
                <a:ext uri="{FF2B5EF4-FFF2-40B4-BE49-F238E27FC236}">
                  <a16:creationId xmlns:a16="http://schemas.microsoft.com/office/drawing/2014/main" id="{5F08BDDD-05DB-4FD7-B46D-FAA0764CD3BA}"/>
                </a:ext>
              </a:extLst>
            </p:cNvPr>
            <p:cNvSpPr/>
            <p:nvPr/>
          </p:nvSpPr>
          <p:spPr>
            <a:xfrm>
              <a:off x="5406887" y="5600668"/>
              <a:ext cx="196358" cy="199023"/>
            </a:xfrm>
            <a:prstGeom prst="flowChartConnector">
              <a:avLst/>
            </a:prstGeom>
            <a:solidFill>
              <a:srgbClr val="EAB2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0" name="Organigramme : Connecteur 39">
              <a:extLst>
                <a:ext uri="{FF2B5EF4-FFF2-40B4-BE49-F238E27FC236}">
                  <a16:creationId xmlns:a16="http://schemas.microsoft.com/office/drawing/2014/main" id="{CB56C1D2-B709-4302-8768-44816E7ABDF6}"/>
                </a:ext>
              </a:extLst>
            </p:cNvPr>
            <p:cNvSpPr/>
            <p:nvPr/>
          </p:nvSpPr>
          <p:spPr>
            <a:xfrm>
              <a:off x="3847579" y="5938704"/>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1" name="Organigramme : Connecteur 40">
              <a:extLst>
                <a:ext uri="{FF2B5EF4-FFF2-40B4-BE49-F238E27FC236}">
                  <a16:creationId xmlns:a16="http://schemas.microsoft.com/office/drawing/2014/main" id="{91568457-1D3A-4545-9D00-01425F150065}"/>
                </a:ext>
              </a:extLst>
            </p:cNvPr>
            <p:cNvSpPr/>
            <p:nvPr/>
          </p:nvSpPr>
          <p:spPr>
            <a:xfrm>
              <a:off x="4087814" y="6163062"/>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2" name="Organigramme : Connecteur 41">
              <a:extLst>
                <a:ext uri="{FF2B5EF4-FFF2-40B4-BE49-F238E27FC236}">
                  <a16:creationId xmlns:a16="http://schemas.microsoft.com/office/drawing/2014/main" id="{A8F34B64-9498-4F1B-9975-B548A74D330E}"/>
                </a:ext>
              </a:extLst>
            </p:cNvPr>
            <p:cNvSpPr/>
            <p:nvPr/>
          </p:nvSpPr>
          <p:spPr>
            <a:xfrm>
              <a:off x="4761249" y="6027095"/>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3" name="Organigramme : Connecteur 42">
              <a:extLst>
                <a:ext uri="{FF2B5EF4-FFF2-40B4-BE49-F238E27FC236}">
                  <a16:creationId xmlns:a16="http://schemas.microsoft.com/office/drawing/2014/main" id="{ED9EE58E-12E3-41A6-9ABB-C3FBB7508AF4}"/>
                </a:ext>
              </a:extLst>
            </p:cNvPr>
            <p:cNvSpPr/>
            <p:nvPr/>
          </p:nvSpPr>
          <p:spPr>
            <a:xfrm rot="7820797">
              <a:off x="6665695" y="5052638"/>
              <a:ext cx="196358" cy="199024"/>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4" name="Organigramme : Connecteur 43">
              <a:extLst>
                <a:ext uri="{FF2B5EF4-FFF2-40B4-BE49-F238E27FC236}">
                  <a16:creationId xmlns:a16="http://schemas.microsoft.com/office/drawing/2014/main" id="{9A162347-B1FB-497A-B1D5-757723507718}"/>
                </a:ext>
              </a:extLst>
            </p:cNvPr>
            <p:cNvSpPr/>
            <p:nvPr/>
          </p:nvSpPr>
          <p:spPr>
            <a:xfrm rot="7820797">
              <a:off x="6407764" y="4973121"/>
              <a:ext cx="196358" cy="199024"/>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5" name="Organigramme : Connecteur 44">
              <a:extLst>
                <a:ext uri="{FF2B5EF4-FFF2-40B4-BE49-F238E27FC236}">
                  <a16:creationId xmlns:a16="http://schemas.microsoft.com/office/drawing/2014/main" id="{9A539614-0C86-434E-84B9-FD53F35129D7}"/>
                </a:ext>
              </a:extLst>
            </p:cNvPr>
            <p:cNvSpPr/>
            <p:nvPr/>
          </p:nvSpPr>
          <p:spPr>
            <a:xfrm rot="7820797">
              <a:off x="6418017" y="4609638"/>
              <a:ext cx="196358" cy="199024"/>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6" name="Organigramme : Connecteur 45">
              <a:extLst>
                <a:ext uri="{FF2B5EF4-FFF2-40B4-BE49-F238E27FC236}">
                  <a16:creationId xmlns:a16="http://schemas.microsoft.com/office/drawing/2014/main" id="{8934D770-8C2E-46FA-8724-BA74A2A4C706}"/>
                </a:ext>
              </a:extLst>
            </p:cNvPr>
            <p:cNvSpPr/>
            <p:nvPr/>
          </p:nvSpPr>
          <p:spPr>
            <a:xfrm>
              <a:off x="4461356" y="5901682"/>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7" name="Organigramme : Connecteur 46">
              <a:extLst>
                <a:ext uri="{FF2B5EF4-FFF2-40B4-BE49-F238E27FC236}">
                  <a16:creationId xmlns:a16="http://schemas.microsoft.com/office/drawing/2014/main" id="{E53220E0-3E31-49B9-BE32-9F5969F8148B}"/>
                </a:ext>
              </a:extLst>
            </p:cNvPr>
            <p:cNvSpPr/>
            <p:nvPr/>
          </p:nvSpPr>
          <p:spPr>
            <a:xfrm>
              <a:off x="5112351" y="5764165"/>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8" name="Organigramme : Connecteur 47">
              <a:extLst>
                <a:ext uri="{FF2B5EF4-FFF2-40B4-BE49-F238E27FC236}">
                  <a16:creationId xmlns:a16="http://schemas.microsoft.com/office/drawing/2014/main" id="{91393A1E-B42F-4376-AA97-7E46FB13AAD5}"/>
                </a:ext>
              </a:extLst>
            </p:cNvPr>
            <p:cNvSpPr/>
            <p:nvPr/>
          </p:nvSpPr>
          <p:spPr>
            <a:xfrm>
              <a:off x="5667285" y="5306867"/>
              <a:ext cx="196358" cy="199023"/>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9" name="Organigramme : Connecteur 48">
              <a:extLst>
                <a:ext uri="{FF2B5EF4-FFF2-40B4-BE49-F238E27FC236}">
                  <a16:creationId xmlns:a16="http://schemas.microsoft.com/office/drawing/2014/main" id="{DD20AC8E-51B7-4468-BC46-E55A50ED6DDF}"/>
                </a:ext>
              </a:extLst>
            </p:cNvPr>
            <p:cNvSpPr/>
            <p:nvPr/>
          </p:nvSpPr>
          <p:spPr>
            <a:xfrm>
              <a:off x="4725058" y="5747397"/>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Tree>
    <p:extLst>
      <p:ext uri="{BB962C8B-B14F-4D97-AF65-F5344CB8AC3E}">
        <p14:creationId xmlns:p14="http://schemas.microsoft.com/office/powerpoint/2010/main" val="209236733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1506281"/>
              </a:xfrm>
            </p:spPr>
            <p:txBody>
              <a:bodyPr>
                <a:noAutofit/>
              </a:bodyPr>
              <a:lstStyle/>
              <a:p>
                <a:pPr lvl="1" algn="just">
                  <a:lnSpc>
                    <a:spcPct val="150000"/>
                  </a:lnSpc>
                  <a:buClr>
                    <a:schemeClr val="accent2"/>
                  </a:buClr>
                </a:pPr>
                <a:r>
                  <a:rPr lang="fr-FR" sz="1200" dirty="0"/>
                  <a:t>Si on choisit </a:t>
                </a:r>
                <a14:m>
                  <m:oMath xmlns:m="http://schemas.openxmlformats.org/officeDocument/2006/math">
                    <m:r>
                      <a:rPr lang="fr-FR" sz="1200" i="1">
                        <a:latin typeface="Cambria Math" panose="02040503050406030204" pitchFamily="18" charset="0"/>
                      </a:rPr>
                      <m:t>𝑘</m:t>
                    </m:r>
                    <m:r>
                      <a:rPr lang="fr-FR" sz="1200" i="1">
                        <a:latin typeface="Cambria Math" panose="02040503050406030204" pitchFamily="18" charset="0"/>
                      </a:rPr>
                      <m:t>=5</m:t>
                    </m:r>
                  </m:oMath>
                </a14:m>
                <a:r>
                  <a:rPr lang="fr-FR" sz="1200" dirty="0"/>
                  <a:t> avec des poids constants pour tous les points, on obtient deux patients malades et trois patients sains.</a:t>
                </a:r>
              </a:p>
              <a:p>
                <a:pPr lvl="1" algn="just">
                  <a:lnSpc>
                    <a:spcPct val="150000"/>
                  </a:lnSpc>
                  <a:buClr>
                    <a:schemeClr val="accent2"/>
                  </a:buClr>
                </a:pPr>
                <a:r>
                  <a:rPr lang="fr-FR" sz="1200" dirty="0"/>
                  <a:t>Le nouveau patient appartiendra à la classe verte, étant donné que les patients sains y sont majoritaires.</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1400" cy="1506281"/>
              </a:xfrm>
              <a:blipFill>
                <a:blip r:embed="rId2"/>
                <a:stretch>
                  <a:fillRect r="-155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204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 :</a:t>
            </a:r>
            <a:r>
              <a:rPr lang="fr-FR" sz="2100" b="0" dirty="0"/>
              <a:t> fonctionnement</a:t>
            </a:r>
          </a:p>
        </p:txBody>
      </p:sp>
      <p:sp>
        <p:nvSpPr>
          <p:cNvPr id="5" name="Title 13">
            <a:extLst>
              <a:ext uri="{FF2B5EF4-FFF2-40B4-BE49-F238E27FC236}">
                <a16:creationId xmlns:a16="http://schemas.microsoft.com/office/drawing/2014/main" id="{F3B1271F-0B5A-4E71-BAF2-12B26411932B}"/>
              </a:ext>
            </a:extLst>
          </p:cNvPr>
          <p:cNvSpPr txBox="1">
            <a:spLocks/>
          </p:cNvSpPr>
          <p:nvPr/>
        </p:nvSpPr>
        <p:spPr>
          <a:xfrm>
            <a:off x="378638" y="959489"/>
            <a:ext cx="6249917" cy="24011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KNN pour la classification</a:t>
            </a:r>
          </a:p>
        </p:txBody>
      </p:sp>
      <p:grpSp>
        <p:nvGrpSpPr>
          <p:cNvPr id="3" name="Groupe 2">
            <a:extLst>
              <a:ext uri="{FF2B5EF4-FFF2-40B4-BE49-F238E27FC236}">
                <a16:creationId xmlns:a16="http://schemas.microsoft.com/office/drawing/2014/main" id="{8EDC7E73-E0EA-425F-A5E3-10F24D1ED244}"/>
              </a:ext>
            </a:extLst>
          </p:cNvPr>
          <p:cNvGrpSpPr/>
          <p:nvPr/>
        </p:nvGrpSpPr>
        <p:grpSpPr>
          <a:xfrm>
            <a:off x="1898185" y="3102823"/>
            <a:ext cx="4178600" cy="1947452"/>
            <a:chOff x="2530912" y="4137097"/>
            <a:chExt cx="5571467" cy="2596602"/>
          </a:xfrm>
        </p:grpSpPr>
        <p:sp>
          <p:nvSpPr>
            <p:cNvPr id="32" name="Organigramme : Connecteur 31">
              <a:extLst>
                <a:ext uri="{FF2B5EF4-FFF2-40B4-BE49-F238E27FC236}">
                  <a16:creationId xmlns:a16="http://schemas.microsoft.com/office/drawing/2014/main" id="{6A10F15D-D07C-4882-98EA-88E622A0A4DB}"/>
                </a:ext>
              </a:extLst>
            </p:cNvPr>
            <p:cNvSpPr/>
            <p:nvPr/>
          </p:nvSpPr>
          <p:spPr>
            <a:xfrm>
              <a:off x="6025096" y="4796193"/>
              <a:ext cx="196358" cy="199023"/>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 name="Organigramme : Connecteur 6">
              <a:extLst>
                <a:ext uri="{FF2B5EF4-FFF2-40B4-BE49-F238E27FC236}">
                  <a16:creationId xmlns:a16="http://schemas.microsoft.com/office/drawing/2014/main" id="{8519129F-1CF3-4BD5-BC67-AFC3518DB06E}"/>
                </a:ext>
              </a:extLst>
            </p:cNvPr>
            <p:cNvSpPr/>
            <p:nvPr/>
          </p:nvSpPr>
          <p:spPr>
            <a:xfrm>
              <a:off x="5446645" y="5212109"/>
              <a:ext cx="196358" cy="199023"/>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 name="Organigramme : Connecteur 7">
              <a:extLst>
                <a:ext uri="{FF2B5EF4-FFF2-40B4-BE49-F238E27FC236}">
                  <a16:creationId xmlns:a16="http://schemas.microsoft.com/office/drawing/2014/main" id="{2FB13C7D-35BB-40B2-8307-4AB3B86A05E4}"/>
                </a:ext>
              </a:extLst>
            </p:cNvPr>
            <p:cNvSpPr/>
            <p:nvPr/>
          </p:nvSpPr>
          <p:spPr>
            <a:xfrm>
              <a:off x="5406887" y="5600668"/>
              <a:ext cx="196358" cy="199023"/>
            </a:xfrm>
            <a:prstGeom prst="flowChartConnector">
              <a:avLst/>
            </a:prstGeom>
            <a:solidFill>
              <a:srgbClr val="EAB200"/>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nvGrpSpPr>
            <p:cNvPr id="9" name="Groupe 8">
              <a:extLst>
                <a:ext uri="{FF2B5EF4-FFF2-40B4-BE49-F238E27FC236}">
                  <a16:creationId xmlns:a16="http://schemas.microsoft.com/office/drawing/2014/main" id="{7CF16953-5454-47A8-86D5-62E67B636501}"/>
                </a:ext>
              </a:extLst>
            </p:cNvPr>
            <p:cNvGrpSpPr/>
            <p:nvPr/>
          </p:nvGrpSpPr>
          <p:grpSpPr>
            <a:xfrm>
              <a:off x="3493679" y="4199648"/>
              <a:ext cx="3960000" cy="2534051"/>
              <a:chOff x="2623930" y="2409245"/>
              <a:chExt cx="4060689" cy="2784282"/>
            </a:xfrm>
          </p:grpSpPr>
          <p:cxnSp>
            <p:nvCxnSpPr>
              <p:cNvPr id="28" name="Connecteur droit avec flèche 27">
                <a:extLst>
                  <a:ext uri="{FF2B5EF4-FFF2-40B4-BE49-F238E27FC236}">
                    <a16:creationId xmlns:a16="http://schemas.microsoft.com/office/drawing/2014/main" id="{2AE8689E-C2B7-4772-9FB8-6496A587AB2C}"/>
                  </a:ext>
                </a:extLst>
              </p:cNvPr>
              <p:cNvCxnSpPr/>
              <p:nvPr/>
            </p:nvCxnSpPr>
            <p:spPr>
              <a:xfrm>
                <a:off x="2623930" y="5041127"/>
                <a:ext cx="40606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8AB9602B-FE84-4BF1-9F1F-C8B859521824}"/>
                  </a:ext>
                </a:extLst>
              </p:cNvPr>
              <p:cNvCxnSpPr>
                <a:cxnSpLocks/>
              </p:cNvCxnSpPr>
              <p:nvPr/>
            </p:nvCxnSpPr>
            <p:spPr>
              <a:xfrm flipV="1">
                <a:off x="2776330" y="2409245"/>
                <a:ext cx="0" cy="2784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7" name="Organigramme : Connecteur 16">
              <a:extLst>
                <a:ext uri="{FF2B5EF4-FFF2-40B4-BE49-F238E27FC236}">
                  <a16:creationId xmlns:a16="http://schemas.microsoft.com/office/drawing/2014/main" id="{A5294D34-36EB-4743-826C-2C737C1637E5}"/>
                </a:ext>
              </a:extLst>
            </p:cNvPr>
            <p:cNvSpPr/>
            <p:nvPr/>
          </p:nvSpPr>
          <p:spPr>
            <a:xfrm>
              <a:off x="3847579" y="5938704"/>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8" name="Organigramme : Connecteur 17">
              <a:extLst>
                <a:ext uri="{FF2B5EF4-FFF2-40B4-BE49-F238E27FC236}">
                  <a16:creationId xmlns:a16="http://schemas.microsoft.com/office/drawing/2014/main" id="{19CBB31A-4311-4523-AD1A-5D24EB7B4BB3}"/>
                </a:ext>
              </a:extLst>
            </p:cNvPr>
            <p:cNvSpPr/>
            <p:nvPr/>
          </p:nvSpPr>
          <p:spPr>
            <a:xfrm>
              <a:off x="4087814" y="6163062"/>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9" name="Organigramme : Connecteur 18">
              <a:extLst>
                <a:ext uri="{FF2B5EF4-FFF2-40B4-BE49-F238E27FC236}">
                  <a16:creationId xmlns:a16="http://schemas.microsoft.com/office/drawing/2014/main" id="{D64D5D1B-C729-4754-AF7A-C347F278241A}"/>
                </a:ext>
              </a:extLst>
            </p:cNvPr>
            <p:cNvSpPr/>
            <p:nvPr/>
          </p:nvSpPr>
          <p:spPr>
            <a:xfrm>
              <a:off x="4761249" y="6027095"/>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0" name="Organigramme : Connecteur 19">
              <a:extLst>
                <a:ext uri="{FF2B5EF4-FFF2-40B4-BE49-F238E27FC236}">
                  <a16:creationId xmlns:a16="http://schemas.microsoft.com/office/drawing/2014/main" id="{DFD79510-65FE-42D1-9E84-08EC8420AFDA}"/>
                </a:ext>
              </a:extLst>
            </p:cNvPr>
            <p:cNvSpPr/>
            <p:nvPr/>
          </p:nvSpPr>
          <p:spPr>
            <a:xfrm rot="7820797">
              <a:off x="6665695" y="5052638"/>
              <a:ext cx="196358" cy="199024"/>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2" name="Organigramme : Connecteur 21">
              <a:extLst>
                <a:ext uri="{FF2B5EF4-FFF2-40B4-BE49-F238E27FC236}">
                  <a16:creationId xmlns:a16="http://schemas.microsoft.com/office/drawing/2014/main" id="{E2A8C13D-B649-487F-8116-B8F26A733BB4}"/>
                </a:ext>
              </a:extLst>
            </p:cNvPr>
            <p:cNvSpPr/>
            <p:nvPr/>
          </p:nvSpPr>
          <p:spPr>
            <a:xfrm rot="7820797">
              <a:off x="6407764" y="4973121"/>
              <a:ext cx="196358" cy="199024"/>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3" name="Organigramme : Connecteur 22">
              <a:extLst>
                <a:ext uri="{FF2B5EF4-FFF2-40B4-BE49-F238E27FC236}">
                  <a16:creationId xmlns:a16="http://schemas.microsoft.com/office/drawing/2014/main" id="{BC73C21A-B303-4BB4-BBCC-F5D6DC7ABBD6}"/>
                </a:ext>
              </a:extLst>
            </p:cNvPr>
            <p:cNvSpPr/>
            <p:nvPr/>
          </p:nvSpPr>
          <p:spPr>
            <a:xfrm rot="7820797">
              <a:off x="6418017" y="4609638"/>
              <a:ext cx="196358" cy="199024"/>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4" name="Organigramme : Connecteur 23">
              <a:extLst>
                <a:ext uri="{FF2B5EF4-FFF2-40B4-BE49-F238E27FC236}">
                  <a16:creationId xmlns:a16="http://schemas.microsoft.com/office/drawing/2014/main" id="{6521B852-3FC3-4B65-A12B-0F70B2A5234C}"/>
                </a:ext>
              </a:extLst>
            </p:cNvPr>
            <p:cNvSpPr/>
            <p:nvPr/>
          </p:nvSpPr>
          <p:spPr>
            <a:xfrm>
              <a:off x="4461356" y="5901682"/>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5" name="Organigramme : Connecteur 24">
              <a:extLst>
                <a:ext uri="{FF2B5EF4-FFF2-40B4-BE49-F238E27FC236}">
                  <a16:creationId xmlns:a16="http://schemas.microsoft.com/office/drawing/2014/main" id="{AE1866B9-0E2D-4FA5-9347-CDCA4494688A}"/>
                </a:ext>
              </a:extLst>
            </p:cNvPr>
            <p:cNvSpPr/>
            <p:nvPr/>
          </p:nvSpPr>
          <p:spPr>
            <a:xfrm>
              <a:off x="5112351" y="5764165"/>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6" name="Ellipse 25">
              <a:extLst>
                <a:ext uri="{FF2B5EF4-FFF2-40B4-BE49-F238E27FC236}">
                  <a16:creationId xmlns:a16="http://schemas.microsoft.com/office/drawing/2014/main" id="{469485D7-D31B-4138-B86F-B7056E7994B0}"/>
                </a:ext>
              </a:extLst>
            </p:cNvPr>
            <p:cNvSpPr>
              <a:spLocks noChangeAspect="1"/>
            </p:cNvSpPr>
            <p:nvPr/>
          </p:nvSpPr>
          <p:spPr>
            <a:xfrm>
              <a:off x="4544534" y="4711228"/>
              <a:ext cx="1884231" cy="1871999"/>
            </a:xfrm>
            <a:prstGeom prst="ellipse">
              <a:avLst/>
            </a:prstGeom>
            <a:noFill/>
            <a:ln w="31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solidFill>
                  <a:schemeClr val="tx1"/>
                </a:solidFill>
              </a:endParaRPr>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1C240B4F-8C51-4BF5-A642-2E03B44674EF}"/>
                    </a:ext>
                  </a:extLst>
                </p:cNvPr>
                <p:cNvSpPr/>
                <p:nvPr/>
              </p:nvSpPr>
              <p:spPr>
                <a:xfrm>
                  <a:off x="5304029" y="4137097"/>
                  <a:ext cx="1148499" cy="275136"/>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825" i="1">
                            <a:latin typeface="Cambria Math" panose="02040503050406030204" pitchFamily="18" charset="0"/>
                          </a:rPr>
                          <m:t>𝑘</m:t>
                        </m:r>
                        <m:r>
                          <a:rPr lang="fr-FR" sz="825" i="1">
                            <a:latin typeface="Cambria Math" panose="02040503050406030204" pitchFamily="18" charset="0"/>
                          </a:rPr>
                          <m:t>=5</m:t>
                        </m:r>
                      </m:oMath>
                    </m:oMathPara>
                  </a14:m>
                  <a:endParaRPr lang="fr-FR" sz="825" dirty="0"/>
                </a:p>
              </p:txBody>
            </p:sp>
          </mc:Choice>
          <mc:Fallback xmlns="">
            <p:sp>
              <p:nvSpPr>
                <p:cNvPr id="27" name="Rectangle 26">
                  <a:extLst>
                    <a:ext uri="{FF2B5EF4-FFF2-40B4-BE49-F238E27FC236}">
                      <a16:creationId xmlns:a16="http://schemas.microsoft.com/office/drawing/2014/main" id="{1C240B4F-8C51-4BF5-A642-2E03B44674EF}"/>
                    </a:ext>
                  </a:extLst>
                </p:cNvPr>
                <p:cNvSpPr>
                  <a:spLocks noRot="1" noChangeAspect="1" noMove="1" noResize="1" noEditPoints="1" noAdjustHandles="1" noChangeArrowheads="1" noChangeShapeType="1" noTextEdit="1"/>
                </p:cNvSpPr>
                <p:nvPr/>
              </p:nvSpPr>
              <p:spPr>
                <a:xfrm>
                  <a:off x="5304029" y="4137097"/>
                  <a:ext cx="1148499" cy="275136"/>
                </a:xfrm>
                <a:prstGeom prst="rect">
                  <a:avLst/>
                </a:prstGeom>
                <a:blipFill>
                  <a:blip r:embed="rId5"/>
                  <a:stretch>
                    <a:fillRect/>
                  </a:stretch>
                </a:blipFill>
                <a:ln w="9525" cap="flat" cmpd="sng" algn="ctr">
                  <a:noFill/>
                  <a:prstDash val="solid"/>
                  <a:round/>
                  <a:headEnd type="none" w="med" len="med"/>
                  <a:tailEnd type="none" w="med" len="med"/>
                </a:ln>
              </p:spPr>
              <p:txBody>
                <a:bodyPr/>
                <a:lstStyle/>
                <a:p>
                  <a:r>
                    <a:rPr lang="fr-FR">
                      <a:noFill/>
                    </a:rPr>
                    <a:t> </a:t>
                  </a:r>
                </a:p>
              </p:txBody>
            </p:sp>
          </mc:Fallback>
        </mc:AlternateContent>
        <p:sp>
          <p:nvSpPr>
            <p:cNvPr id="34" name="Légende : flèche courbée 33">
              <a:extLst>
                <a:ext uri="{FF2B5EF4-FFF2-40B4-BE49-F238E27FC236}">
                  <a16:creationId xmlns:a16="http://schemas.microsoft.com/office/drawing/2014/main" id="{88D05BA9-95E6-4F71-94A3-36818796C7B1}"/>
                </a:ext>
              </a:extLst>
            </p:cNvPr>
            <p:cNvSpPr/>
            <p:nvPr/>
          </p:nvSpPr>
          <p:spPr>
            <a:xfrm>
              <a:off x="2530912" y="6116567"/>
              <a:ext cx="684000" cy="219102"/>
            </a:xfrm>
            <a:prstGeom prst="borderCallout2">
              <a:avLst>
                <a:gd name="adj1" fmla="val 37158"/>
                <a:gd name="adj2" fmla="val 106168"/>
                <a:gd name="adj3" fmla="val 38879"/>
                <a:gd name="adj4" fmla="val 123051"/>
                <a:gd name="adj5" fmla="val -14740"/>
                <a:gd name="adj6" fmla="val 187007"/>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825" dirty="0"/>
                <a:t>sain</a:t>
              </a:r>
            </a:p>
          </p:txBody>
        </p:sp>
        <p:sp>
          <p:nvSpPr>
            <p:cNvPr id="35" name="Légende : flèche courbée 34">
              <a:extLst>
                <a:ext uri="{FF2B5EF4-FFF2-40B4-BE49-F238E27FC236}">
                  <a16:creationId xmlns:a16="http://schemas.microsoft.com/office/drawing/2014/main" id="{DC1FBDA5-038E-4FFF-9224-46FFE85BD44A}"/>
                </a:ext>
              </a:extLst>
            </p:cNvPr>
            <p:cNvSpPr/>
            <p:nvPr/>
          </p:nvSpPr>
          <p:spPr>
            <a:xfrm>
              <a:off x="7289276" y="4166755"/>
              <a:ext cx="684000" cy="219102"/>
            </a:xfrm>
            <a:prstGeom prst="borderCallout2">
              <a:avLst>
                <a:gd name="adj1" fmla="val 36070"/>
                <a:gd name="adj2" fmla="val -5468"/>
                <a:gd name="adj3" fmla="val 38154"/>
                <a:gd name="adj4" fmla="val -27343"/>
                <a:gd name="adj5" fmla="val 221286"/>
                <a:gd name="adj6" fmla="val -93072"/>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700" dirty="0"/>
                <a:t>malade</a:t>
              </a:r>
            </a:p>
          </p:txBody>
        </p:sp>
        <p:sp>
          <p:nvSpPr>
            <p:cNvPr id="36" name="Légende : flèche courbée 35">
              <a:extLst>
                <a:ext uri="{FF2B5EF4-FFF2-40B4-BE49-F238E27FC236}">
                  <a16:creationId xmlns:a16="http://schemas.microsoft.com/office/drawing/2014/main" id="{556AB7A5-B387-4522-BEE1-CD73553A406C}"/>
                </a:ext>
              </a:extLst>
            </p:cNvPr>
            <p:cNvSpPr/>
            <p:nvPr/>
          </p:nvSpPr>
          <p:spPr>
            <a:xfrm>
              <a:off x="6917996" y="5863677"/>
              <a:ext cx="1184383" cy="237028"/>
            </a:xfrm>
            <a:prstGeom prst="borderCallout2">
              <a:avLst>
                <a:gd name="adj1" fmla="val 36070"/>
                <a:gd name="adj2" fmla="val -5468"/>
                <a:gd name="adj3" fmla="val 38154"/>
                <a:gd name="adj4" fmla="val -27343"/>
                <a:gd name="adj5" fmla="val -51248"/>
                <a:gd name="adj6" fmla="val -106951"/>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700" dirty="0"/>
                <a:t>Nouveau patient</a:t>
              </a:r>
            </a:p>
          </p:txBody>
        </p:sp>
        <p:sp>
          <p:nvSpPr>
            <p:cNvPr id="31" name="Organigramme : Connecteur 30">
              <a:extLst>
                <a:ext uri="{FF2B5EF4-FFF2-40B4-BE49-F238E27FC236}">
                  <a16:creationId xmlns:a16="http://schemas.microsoft.com/office/drawing/2014/main" id="{93C222E0-41DE-4987-83F2-E874180CA7D2}"/>
                </a:ext>
              </a:extLst>
            </p:cNvPr>
            <p:cNvSpPr/>
            <p:nvPr/>
          </p:nvSpPr>
          <p:spPr>
            <a:xfrm>
              <a:off x="5667285" y="5306867"/>
              <a:ext cx="196358" cy="199023"/>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0" name="Organigramme : Connecteur 29">
              <a:extLst>
                <a:ext uri="{FF2B5EF4-FFF2-40B4-BE49-F238E27FC236}">
                  <a16:creationId xmlns:a16="http://schemas.microsoft.com/office/drawing/2014/main" id="{E90543D4-1D45-4104-8EF3-2F0605817EF4}"/>
                </a:ext>
              </a:extLst>
            </p:cNvPr>
            <p:cNvSpPr/>
            <p:nvPr/>
          </p:nvSpPr>
          <p:spPr>
            <a:xfrm>
              <a:off x="4725058" y="5747397"/>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Tree>
    <p:extLst>
      <p:ext uri="{BB962C8B-B14F-4D97-AF65-F5344CB8AC3E}">
        <p14:creationId xmlns:p14="http://schemas.microsoft.com/office/powerpoint/2010/main" val="144712347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1506281"/>
              </a:xfrm>
            </p:spPr>
            <p:txBody>
              <a:bodyPr>
                <a:noAutofit/>
              </a:bodyPr>
              <a:lstStyle/>
              <a:p>
                <a:pPr lvl="1" algn="just">
                  <a:lnSpc>
                    <a:spcPct val="150000"/>
                  </a:lnSpc>
                  <a:buClr>
                    <a:schemeClr val="accent2"/>
                  </a:buClr>
                </a:pPr>
                <a:r>
                  <a:rPr lang="fr-FR" sz="1200" dirty="0"/>
                  <a:t>En revanche, si on choisit </a:t>
                </a:r>
                <a14:m>
                  <m:oMath xmlns:m="http://schemas.openxmlformats.org/officeDocument/2006/math">
                    <m:r>
                      <a:rPr lang="fr-FR" sz="1200" i="1">
                        <a:latin typeface="Cambria Math" panose="02040503050406030204" pitchFamily="18" charset="0"/>
                      </a:rPr>
                      <m:t>𝑘</m:t>
                    </m:r>
                    <m:r>
                      <a:rPr lang="fr-FR" sz="1200" i="1">
                        <a:latin typeface="Cambria Math" panose="02040503050406030204" pitchFamily="18" charset="0"/>
                      </a:rPr>
                      <m:t>=5</m:t>
                    </m:r>
                  </m:oMath>
                </a14:m>
                <a:r>
                  <a:rPr lang="fr-FR" sz="1200" dirty="0"/>
                  <a:t> et qu’on utilise la distance euclidienne pour calculer les </a:t>
                </a:r>
                <a:r>
                  <a:rPr lang="fr-FR" sz="1200" b="1" dirty="0"/>
                  <a:t>poids</a:t>
                </a:r>
                <a:r>
                  <a:rPr lang="fr-FR" sz="1200" dirty="0"/>
                  <a:t> de chaque points, alors on aura trois patients sains et deux malades dans le voisinage.</a:t>
                </a:r>
              </a:p>
              <a:p>
                <a:pPr lvl="1" algn="just">
                  <a:lnSpc>
                    <a:spcPct val="150000"/>
                  </a:lnSpc>
                  <a:buClr>
                    <a:schemeClr val="accent2"/>
                  </a:buClr>
                </a:pPr>
                <a:r>
                  <a:rPr lang="fr-FR" sz="1200" dirty="0"/>
                  <a:t>Les distances euclidiennes sont illustrées comme ci-dessous :</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1400" cy="1506281"/>
              </a:xfrm>
              <a:blipFill>
                <a:blip r:embed="rId2"/>
                <a:stretch>
                  <a:fillRect r="-155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205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 :</a:t>
            </a:r>
            <a:r>
              <a:rPr lang="fr-FR" sz="2100" b="0" dirty="0"/>
              <a:t> fonctionnement</a:t>
            </a:r>
          </a:p>
        </p:txBody>
      </p:sp>
      <p:sp>
        <p:nvSpPr>
          <p:cNvPr id="5" name="Title 13">
            <a:extLst>
              <a:ext uri="{FF2B5EF4-FFF2-40B4-BE49-F238E27FC236}">
                <a16:creationId xmlns:a16="http://schemas.microsoft.com/office/drawing/2014/main" id="{F3B1271F-0B5A-4E71-BAF2-12B26411932B}"/>
              </a:ext>
            </a:extLst>
          </p:cNvPr>
          <p:cNvSpPr txBox="1">
            <a:spLocks/>
          </p:cNvSpPr>
          <p:nvPr/>
        </p:nvSpPr>
        <p:spPr>
          <a:xfrm>
            <a:off x="378638" y="959489"/>
            <a:ext cx="6249917" cy="24011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KNN pour la classification</a:t>
            </a:r>
          </a:p>
        </p:txBody>
      </p:sp>
      <p:grpSp>
        <p:nvGrpSpPr>
          <p:cNvPr id="60" name="Groupe 59">
            <a:extLst>
              <a:ext uri="{FF2B5EF4-FFF2-40B4-BE49-F238E27FC236}">
                <a16:creationId xmlns:a16="http://schemas.microsoft.com/office/drawing/2014/main" id="{6CDD0F7C-67FA-45F1-B94B-FAFF4796AC6C}"/>
              </a:ext>
            </a:extLst>
          </p:cNvPr>
          <p:cNvGrpSpPr/>
          <p:nvPr/>
        </p:nvGrpSpPr>
        <p:grpSpPr>
          <a:xfrm>
            <a:off x="1898185" y="3102823"/>
            <a:ext cx="4178600" cy="1947452"/>
            <a:chOff x="2530912" y="4137097"/>
            <a:chExt cx="5571467" cy="2596602"/>
          </a:xfrm>
        </p:grpSpPr>
        <p:sp>
          <p:nvSpPr>
            <p:cNvPr id="32" name="Organigramme : Connecteur 31">
              <a:extLst>
                <a:ext uri="{FF2B5EF4-FFF2-40B4-BE49-F238E27FC236}">
                  <a16:creationId xmlns:a16="http://schemas.microsoft.com/office/drawing/2014/main" id="{6A10F15D-D07C-4882-98EA-88E622A0A4DB}"/>
                </a:ext>
              </a:extLst>
            </p:cNvPr>
            <p:cNvSpPr/>
            <p:nvPr/>
          </p:nvSpPr>
          <p:spPr>
            <a:xfrm>
              <a:off x="6025096" y="4796193"/>
              <a:ext cx="196358" cy="199023"/>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 name="Organigramme : Connecteur 6">
              <a:extLst>
                <a:ext uri="{FF2B5EF4-FFF2-40B4-BE49-F238E27FC236}">
                  <a16:creationId xmlns:a16="http://schemas.microsoft.com/office/drawing/2014/main" id="{8519129F-1CF3-4BD5-BC67-AFC3518DB06E}"/>
                </a:ext>
              </a:extLst>
            </p:cNvPr>
            <p:cNvSpPr/>
            <p:nvPr/>
          </p:nvSpPr>
          <p:spPr>
            <a:xfrm>
              <a:off x="5446645" y="5212109"/>
              <a:ext cx="196358" cy="199023"/>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 name="Organigramme : Connecteur 7">
              <a:extLst>
                <a:ext uri="{FF2B5EF4-FFF2-40B4-BE49-F238E27FC236}">
                  <a16:creationId xmlns:a16="http://schemas.microsoft.com/office/drawing/2014/main" id="{2FB13C7D-35BB-40B2-8307-4AB3B86A05E4}"/>
                </a:ext>
              </a:extLst>
            </p:cNvPr>
            <p:cNvSpPr/>
            <p:nvPr/>
          </p:nvSpPr>
          <p:spPr>
            <a:xfrm>
              <a:off x="5406887" y="5600668"/>
              <a:ext cx="196358" cy="199023"/>
            </a:xfrm>
            <a:prstGeom prst="flowChartConnector">
              <a:avLst/>
            </a:prstGeom>
            <a:solidFill>
              <a:srgbClr val="EAB200"/>
            </a:solidFill>
            <a:ln>
              <a:solidFill>
                <a:srgbClr val="EAB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nvGrpSpPr>
            <p:cNvPr id="9" name="Groupe 8">
              <a:extLst>
                <a:ext uri="{FF2B5EF4-FFF2-40B4-BE49-F238E27FC236}">
                  <a16:creationId xmlns:a16="http://schemas.microsoft.com/office/drawing/2014/main" id="{7CF16953-5454-47A8-86D5-62E67B636501}"/>
                </a:ext>
              </a:extLst>
            </p:cNvPr>
            <p:cNvGrpSpPr/>
            <p:nvPr/>
          </p:nvGrpSpPr>
          <p:grpSpPr>
            <a:xfrm>
              <a:off x="3493679" y="4199648"/>
              <a:ext cx="3960000" cy="2534051"/>
              <a:chOff x="2623930" y="2409245"/>
              <a:chExt cx="4060689" cy="2784282"/>
            </a:xfrm>
          </p:grpSpPr>
          <p:cxnSp>
            <p:nvCxnSpPr>
              <p:cNvPr id="28" name="Connecteur droit avec flèche 27">
                <a:extLst>
                  <a:ext uri="{FF2B5EF4-FFF2-40B4-BE49-F238E27FC236}">
                    <a16:creationId xmlns:a16="http://schemas.microsoft.com/office/drawing/2014/main" id="{2AE8689E-C2B7-4772-9FB8-6496A587AB2C}"/>
                  </a:ext>
                </a:extLst>
              </p:cNvPr>
              <p:cNvCxnSpPr/>
              <p:nvPr/>
            </p:nvCxnSpPr>
            <p:spPr>
              <a:xfrm>
                <a:off x="2623930" y="5041127"/>
                <a:ext cx="40606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8AB9602B-FE84-4BF1-9F1F-C8B859521824}"/>
                  </a:ext>
                </a:extLst>
              </p:cNvPr>
              <p:cNvCxnSpPr>
                <a:cxnSpLocks/>
              </p:cNvCxnSpPr>
              <p:nvPr/>
            </p:nvCxnSpPr>
            <p:spPr>
              <a:xfrm flipV="1">
                <a:off x="2776330" y="2409245"/>
                <a:ext cx="0" cy="2784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7" name="Organigramme : Connecteur 16">
              <a:extLst>
                <a:ext uri="{FF2B5EF4-FFF2-40B4-BE49-F238E27FC236}">
                  <a16:creationId xmlns:a16="http://schemas.microsoft.com/office/drawing/2014/main" id="{A5294D34-36EB-4743-826C-2C737C1637E5}"/>
                </a:ext>
              </a:extLst>
            </p:cNvPr>
            <p:cNvSpPr/>
            <p:nvPr/>
          </p:nvSpPr>
          <p:spPr>
            <a:xfrm>
              <a:off x="3847579" y="5938704"/>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8" name="Organigramme : Connecteur 17">
              <a:extLst>
                <a:ext uri="{FF2B5EF4-FFF2-40B4-BE49-F238E27FC236}">
                  <a16:creationId xmlns:a16="http://schemas.microsoft.com/office/drawing/2014/main" id="{19CBB31A-4311-4523-AD1A-5D24EB7B4BB3}"/>
                </a:ext>
              </a:extLst>
            </p:cNvPr>
            <p:cNvSpPr/>
            <p:nvPr/>
          </p:nvSpPr>
          <p:spPr>
            <a:xfrm>
              <a:off x="4087814" y="6163062"/>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9" name="Organigramme : Connecteur 18">
              <a:extLst>
                <a:ext uri="{FF2B5EF4-FFF2-40B4-BE49-F238E27FC236}">
                  <a16:creationId xmlns:a16="http://schemas.microsoft.com/office/drawing/2014/main" id="{D64D5D1B-C729-4754-AF7A-C347F278241A}"/>
                </a:ext>
              </a:extLst>
            </p:cNvPr>
            <p:cNvSpPr/>
            <p:nvPr/>
          </p:nvSpPr>
          <p:spPr>
            <a:xfrm>
              <a:off x="4761249" y="6027095"/>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0" name="Organigramme : Connecteur 19">
              <a:extLst>
                <a:ext uri="{FF2B5EF4-FFF2-40B4-BE49-F238E27FC236}">
                  <a16:creationId xmlns:a16="http://schemas.microsoft.com/office/drawing/2014/main" id="{DFD79510-65FE-42D1-9E84-08EC8420AFDA}"/>
                </a:ext>
              </a:extLst>
            </p:cNvPr>
            <p:cNvSpPr/>
            <p:nvPr/>
          </p:nvSpPr>
          <p:spPr>
            <a:xfrm rot="7820797">
              <a:off x="6665695" y="5052638"/>
              <a:ext cx="196358" cy="199024"/>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2" name="Organigramme : Connecteur 21">
              <a:extLst>
                <a:ext uri="{FF2B5EF4-FFF2-40B4-BE49-F238E27FC236}">
                  <a16:creationId xmlns:a16="http://schemas.microsoft.com/office/drawing/2014/main" id="{E2A8C13D-B649-487F-8116-B8F26A733BB4}"/>
                </a:ext>
              </a:extLst>
            </p:cNvPr>
            <p:cNvSpPr/>
            <p:nvPr/>
          </p:nvSpPr>
          <p:spPr>
            <a:xfrm rot="7820797">
              <a:off x="6407764" y="4973121"/>
              <a:ext cx="196358" cy="199024"/>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3" name="Organigramme : Connecteur 22">
              <a:extLst>
                <a:ext uri="{FF2B5EF4-FFF2-40B4-BE49-F238E27FC236}">
                  <a16:creationId xmlns:a16="http://schemas.microsoft.com/office/drawing/2014/main" id="{BC73C21A-B303-4BB4-BBCC-F5D6DC7ABBD6}"/>
                </a:ext>
              </a:extLst>
            </p:cNvPr>
            <p:cNvSpPr/>
            <p:nvPr/>
          </p:nvSpPr>
          <p:spPr>
            <a:xfrm rot="7820797">
              <a:off x="6418017" y="4609638"/>
              <a:ext cx="196358" cy="199024"/>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4" name="Organigramme : Connecteur 23">
              <a:extLst>
                <a:ext uri="{FF2B5EF4-FFF2-40B4-BE49-F238E27FC236}">
                  <a16:creationId xmlns:a16="http://schemas.microsoft.com/office/drawing/2014/main" id="{6521B852-3FC3-4B65-A12B-0F70B2A5234C}"/>
                </a:ext>
              </a:extLst>
            </p:cNvPr>
            <p:cNvSpPr/>
            <p:nvPr/>
          </p:nvSpPr>
          <p:spPr>
            <a:xfrm>
              <a:off x="4461356" y="5901682"/>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5" name="Organigramme : Connecteur 24">
              <a:extLst>
                <a:ext uri="{FF2B5EF4-FFF2-40B4-BE49-F238E27FC236}">
                  <a16:creationId xmlns:a16="http://schemas.microsoft.com/office/drawing/2014/main" id="{AE1866B9-0E2D-4FA5-9347-CDCA4494688A}"/>
                </a:ext>
              </a:extLst>
            </p:cNvPr>
            <p:cNvSpPr/>
            <p:nvPr/>
          </p:nvSpPr>
          <p:spPr>
            <a:xfrm>
              <a:off x="5112351" y="5764165"/>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6" name="Ellipse 25">
              <a:extLst>
                <a:ext uri="{FF2B5EF4-FFF2-40B4-BE49-F238E27FC236}">
                  <a16:creationId xmlns:a16="http://schemas.microsoft.com/office/drawing/2014/main" id="{469485D7-D31B-4138-B86F-B7056E7994B0}"/>
                </a:ext>
              </a:extLst>
            </p:cNvPr>
            <p:cNvSpPr>
              <a:spLocks noChangeAspect="1"/>
            </p:cNvSpPr>
            <p:nvPr/>
          </p:nvSpPr>
          <p:spPr>
            <a:xfrm>
              <a:off x="4544534" y="4711228"/>
              <a:ext cx="1884231" cy="1871999"/>
            </a:xfrm>
            <a:prstGeom prst="ellipse">
              <a:avLst/>
            </a:prstGeom>
            <a:noFill/>
            <a:ln w="31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solidFill>
                  <a:schemeClr val="tx1"/>
                </a:solidFill>
              </a:endParaRPr>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1C240B4F-8C51-4BF5-A642-2E03B44674EF}"/>
                    </a:ext>
                  </a:extLst>
                </p:cNvPr>
                <p:cNvSpPr/>
                <p:nvPr/>
              </p:nvSpPr>
              <p:spPr>
                <a:xfrm>
                  <a:off x="5304029" y="4137097"/>
                  <a:ext cx="1148499" cy="275136"/>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825" i="1">
                            <a:latin typeface="Cambria Math" panose="02040503050406030204" pitchFamily="18" charset="0"/>
                          </a:rPr>
                          <m:t>𝑘</m:t>
                        </m:r>
                        <m:r>
                          <a:rPr lang="fr-FR" sz="825" i="1">
                            <a:latin typeface="Cambria Math" panose="02040503050406030204" pitchFamily="18" charset="0"/>
                          </a:rPr>
                          <m:t>=5</m:t>
                        </m:r>
                      </m:oMath>
                    </m:oMathPara>
                  </a14:m>
                  <a:endParaRPr lang="fr-FR" sz="825" dirty="0"/>
                </a:p>
              </p:txBody>
            </p:sp>
          </mc:Choice>
          <mc:Fallback xmlns="">
            <p:sp>
              <p:nvSpPr>
                <p:cNvPr id="27" name="Rectangle 26">
                  <a:extLst>
                    <a:ext uri="{FF2B5EF4-FFF2-40B4-BE49-F238E27FC236}">
                      <a16:creationId xmlns:a16="http://schemas.microsoft.com/office/drawing/2014/main" id="{1C240B4F-8C51-4BF5-A642-2E03B44674EF}"/>
                    </a:ext>
                  </a:extLst>
                </p:cNvPr>
                <p:cNvSpPr>
                  <a:spLocks noRot="1" noChangeAspect="1" noMove="1" noResize="1" noEditPoints="1" noAdjustHandles="1" noChangeArrowheads="1" noChangeShapeType="1" noTextEdit="1"/>
                </p:cNvSpPr>
                <p:nvPr/>
              </p:nvSpPr>
              <p:spPr>
                <a:xfrm>
                  <a:off x="5304029" y="4137097"/>
                  <a:ext cx="1148499" cy="275136"/>
                </a:xfrm>
                <a:prstGeom prst="rect">
                  <a:avLst/>
                </a:prstGeom>
                <a:blipFill>
                  <a:blip r:embed="rId5"/>
                  <a:stretch>
                    <a:fillRect/>
                  </a:stretch>
                </a:blipFill>
                <a:ln w="9525" cap="flat" cmpd="sng" algn="ctr">
                  <a:noFill/>
                  <a:prstDash val="solid"/>
                  <a:round/>
                  <a:headEnd type="none" w="med" len="med"/>
                  <a:tailEnd type="none" w="med" len="med"/>
                </a:ln>
              </p:spPr>
              <p:txBody>
                <a:bodyPr/>
                <a:lstStyle/>
                <a:p>
                  <a:r>
                    <a:rPr lang="fr-FR">
                      <a:noFill/>
                    </a:rPr>
                    <a:t> </a:t>
                  </a:r>
                </a:p>
              </p:txBody>
            </p:sp>
          </mc:Fallback>
        </mc:AlternateContent>
        <p:sp>
          <p:nvSpPr>
            <p:cNvPr id="34" name="Légende : flèche courbée 33">
              <a:extLst>
                <a:ext uri="{FF2B5EF4-FFF2-40B4-BE49-F238E27FC236}">
                  <a16:creationId xmlns:a16="http://schemas.microsoft.com/office/drawing/2014/main" id="{88D05BA9-95E6-4F71-94A3-36818796C7B1}"/>
                </a:ext>
              </a:extLst>
            </p:cNvPr>
            <p:cNvSpPr/>
            <p:nvPr/>
          </p:nvSpPr>
          <p:spPr>
            <a:xfrm>
              <a:off x="2530912" y="6116567"/>
              <a:ext cx="684000" cy="219102"/>
            </a:xfrm>
            <a:prstGeom prst="borderCallout2">
              <a:avLst>
                <a:gd name="adj1" fmla="val 37158"/>
                <a:gd name="adj2" fmla="val 106168"/>
                <a:gd name="adj3" fmla="val 38879"/>
                <a:gd name="adj4" fmla="val 123051"/>
                <a:gd name="adj5" fmla="val -14740"/>
                <a:gd name="adj6" fmla="val 187007"/>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825" dirty="0"/>
                <a:t>sain</a:t>
              </a:r>
            </a:p>
          </p:txBody>
        </p:sp>
        <p:sp>
          <p:nvSpPr>
            <p:cNvPr id="35" name="Légende : flèche courbée 34">
              <a:extLst>
                <a:ext uri="{FF2B5EF4-FFF2-40B4-BE49-F238E27FC236}">
                  <a16:creationId xmlns:a16="http://schemas.microsoft.com/office/drawing/2014/main" id="{DC1FBDA5-038E-4FFF-9224-46FFE85BD44A}"/>
                </a:ext>
              </a:extLst>
            </p:cNvPr>
            <p:cNvSpPr/>
            <p:nvPr/>
          </p:nvSpPr>
          <p:spPr>
            <a:xfrm>
              <a:off x="7289276" y="4166755"/>
              <a:ext cx="684000" cy="219102"/>
            </a:xfrm>
            <a:prstGeom prst="borderCallout2">
              <a:avLst>
                <a:gd name="adj1" fmla="val 36070"/>
                <a:gd name="adj2" fmla="val -5468"/>
                <a:gd name="adj3" fmla="val 38154"/>
                <a:gd name="adj4" fmla="val -27343"/>
                <a:gd name="adj5" fmla="val 221286"/>
                <a:gd name="adj6" fmla="val -93072"/>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700" dirty="0"/>
                <a:t>malade</a:t>
              </a:r>
            </a:p>
          </p:txBody>
        </p:sp>
        <p:sp>
          <p:nvSpPr>
            <p:cNvPr id="36" name="Légende : flèche courbée 35">
              <a:extLst>
                <a:ext uri="{FF2B5EF4-FFF2-40B4-BE49-F238E27FC236}">
                  <a16:creationId xmlns:a16="http://schemas.microsoft.com/office/drawing/2014/main" id="{556AB7A5-B387-4522-BEE1-CD73553A406C}"/>
                </a:ext>
              </a:extLst>
            </p:cNvPr>
            <p:cNvSpPr/>
            <p:nvPr/>
          </p:nvSpPr>
          <p:spPr>
            <a:xfrm>
              <a:off x="6917996" y="5863677"/>
              <a:ext cx="1184383" cy="237028"/>
            </a:xfrm>
            <a:prstGeom prst="borderCallout2">
              <a:avLst>
                <a:gd name="adj1" fmla="val 36070"/>
                <a:gd name="adj2" fmla="val -5468"/>
                <a:gd name="adj3" fmla="val 38154"/>
                <a:gd name="adj4" fmla="val -27343"/>
                <a:gd name="adj5" fmla="val -51248"/>
                <a:gd name="adj6" fmla="val -106951"/>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700" dirty="0"/>
                <a:t>Nouveau patient</a:t>
              </a:r>
            </a:p>
          </p:txBody>
        </p:sp>
        <p:sp>
          <p:nvSpPr>
            <p:cNvPr id="31" name="Organigramme : Connecteur 30">
              <a:extLst>
                <a:ext uri="{FF2B5EF4-FFF2-40B4-BE49-F238E27FC236}">
                  <a16:creationId xmlns:a16="http://schemas.microsoft.com/office/drawing/2014/main" id="{93C222E0-41DE-4987-83F2-E874180CA7D2}"/>
                </a:ext>
              </a:extLst>
            </p:cNvPr>
            <p:cNvSpPr/>
            <p:nvPr/>
          </p:nvSpPr>
          <p:spPr>
            <a:xfrm>
              <a:off x="5667285" y="5306867"/>
              <a:ext cx="196358" cy="199023"/>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0" name="Organigramme : Connecteur 29">
              <a:extLst>
                <a:ext uri="{FF2B5EF4-FFF2-40B4-BE49-F238E27FC236}">
                  <a16:creationId xmlns:a16="http://schemas.microsoft.com/office/drawing/2014/main" id="{E90543D4-1D45-4104-8EF3-2F0605817EF4}"/>
                </a:ext>
              </a:extLst>
            </p:cNvPr>
            <p:cNvSpPr/>
            <p:nvPr/>
          </p:nvSpPr>
          <p:spPr>
            <a:xfrm>
              <a:off x="4725058" y="5747397"/>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13" name="Connecteur droit 12">
              <a:extLst>
                <a:ext uri="{FF2B5EF4-FFF2-40B4-BE49-F238E27FC236}">
                  <a16:creationId xmlns:a16="http://schemas.microsoft.com/office/drawing/2014/main" id="{C194700A-ED4C-46BA-885A-586FDBAE0374}"/>
                </a:ext>
              </a:extLst>
            </p:cNvPr>
            <p:cNvCxnSpPr>
              <a:stCxn id="8" idx="0"/>
              <a:endCxn id="7" idx="4"/>
            </p:cNvCxnSpPr>
            <p:nvPr/>
          </p:nvCxnSpPr>
          <p:spPr>
            <a:xfrm flipV="1">
              <a:off x="5505066" y="5411132"/>
              <a:ext cx="39758" cy="189536"/>
            </a:xfrm>
            <a:prstGeom prst="line">
              <a:avLst/>
            </a:prstGeom>
            <a:ln w="3175"/>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AE6DED68-7CF8-4A04-B9A2-CD5EA84B9EE2}"/>
                </a:ext>
              </a:extLst>
            </p:cNvPr>
            <p:cNvCxnSpPr>
              <a:cxnSpLocks/>
              <a:stCxn id="8" idx="7"/>
              <a:endCxn id="31" idx="3"/>
            </p:cNvCxnSpPr>
            <p:nvPr/>
          </p:nvCxnSpPr>
          <p:spPr>
            <a:xfrm flipV="1">
              <a:off x="5574489" y="5476744"/>
              <a:ext cx="121552" cy="153070"/>
            </a:xfrm>
            <a:prstGeom prst="line">
              <a:avLst/>
            </a:prstGeom>
            <a:ln w="3175"/>
          </p:spPr>
          <p:style>
            <a:lnRef idx="1">
              <a:schemeClr val="accent1"/>
            </a:lnRef>
            <a:fillRef idx="0">
              <a:schemeClr val="accent1"/>
            </a:fillRef>
            <a:effectRef idx="0">
              <a:schemeClr val="accent1"/>
            </a:effectRef>
            <a:fontRef idx="minor">
              <a:schemeClr val="tx1"/>
            </a:fontRef>
          </p:style>
        </p:cxnSp>
        <p:cxnSp>
          <p:nvCxnSpPr>
            <p:cNvPr id="40" name="Connecteur droit 39">
              <a:extLst>
                <a:ext uri="{FF2B5EF4-FFF2-40B4-BE49-F238E27FC236}">
                  <a16:creationId xmlns:a16="http://schemas.microsoft.com/office/drawing/2014/main" id="{6A67059C-7035-4ACB-AF84-0920CE03A216}"/>
                </a:ext>
              </a:extLst>
            </p:cNvPr>
            <p:cNvCxnSpPr>
              <a:cxnSpLocks/>
              <a:stCxn id="25" idx="6"/>
              <a:endCxn id="8" idx="3"/>
            </p:cNvCxnSpPr>
            <p:nvPr/>
          </p:nvCxnSpPr>
          <p:spPr>
            <a:xfrm flipV="1">
              <a:off x="5308709" y="5770545"/>
              <a:ext cx="126934" cy="93132"/>
            </a:xfrm>
            <a:prstGeom prst="line">
              <a:avLst/>
            </a:prstGeom>
            <a:ln w="3175"/>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69B5D202-AD8C-45A9-8369-D8C7311FEFC8}"/>
                </a:ext>
              </a:extLst>
            </p:cNvPr>
            <p:cNvCxnSpPr>
              <a:cxnSpLocks/>
              <a:stCxn id="30" idx="7"/>
              <a:endCxn id="8" idx="1"/>
            </p:cNvCxnSpPr>
            <p:nvPr/>
          </p:nvCxnSpPr>
          <p:spPr>
            <a:xfrm flipV="1">
              <a:off x="4892660" y="5629814"/>
              <a:ext cx="542983" cy="146729"/>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54" name="Forme libre : forme 53">
              <a:extLst>
                <a:ext uri="{FF2B5EF4-FFF2-40B4-BE49-F238E27FC236}">
                  <a16:creationId xmlns:a16="http://schemas.microsoft.com/office/drawing/2014/main" id="{1E176C3B-DD42-4C9C-A0A5-64341E78CA00}"/>
                </a:ext>
              </a:extLst>
            </p:cNvPr>
            <p:cNvSpPr/>
            <p:nvPr/>
          </p:nvSpPr>
          <p:spPr>
            <a:xfrm rot="11943241">
              <a:off x="5025280" y="5708150"/>
              <a:ext cx="451870" cy="490423"/>
            </a:xfrm>
            <a:custGeom>
              <a:avLst/>
              <a:gdLst>
                <a:gd name="connsiteX0" fmla="*/ 558800 w 558800"/>
                <a:gd name="connsiteY0" fmla="*/ 0 h 342900"/>
                <a:gd name="connsiteX1" fmla="*/ 0 w 558800"/>
                <a:gd name="connsiteY1" fmla="*/ 342900 h 342900"/>
              </a:gdLst>
              <a:ahLst/>
              <a:cxnLst>
                <a:cxn ang="0">
                  <a:pos x="connsiteX0" y="connsiteY0"/>
                </a:cxn>
                <a:cxn ang="0">
                  <a:pos x="connsiteX1" y="connsiteY1"/>
                </a:cxn>
              </a:cxnLst>
              <a:rect l="l" t="t" r="r" b="b"/>
              <a:pathLst>
                <a:path w="558800" h="342900">
                  <a:moveTo>
                    <a:pt x="558800" y="0"/>
                  </a:moveTo>
                  <a:cubicBezTo>
                    <a:pt x="279929" y="135731"/>
                    <a:pt x="1058" y="271463"/>
                    <a:pt x="0" y="342900"/>
                  </a:cubicBezTo>
                </a:path>
              </a:pathLst>
            </a:custGeom>
            <a:ln w="3175"/>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350" dirty="0"/>
            </a:p>
          </p:txBody>
        </p:sp>
        <p:sp>
          <p:nvSpPr>
            <p:cNvPr id="55" name="Rectangle 54">
              <a:extLst>
                <a:ext uri="{FF2B5EF4-FFF2-40B4-BE49-F238E27FC236}">
                  <a16:creationId xmlns:a16="http://schemas.microsoft.com/office/drawing/2014/main" id="{32F3A07A-CBF7-4DF5-8CC7-2A90390608F5}"/>
                </a:ext>
              </a:extLst>
            </p:cNvPr>
            <p:cNvSpPr/>
            <p:nvPr/>
          </p:nvSpPr>
          <p:spPr>
            <a:xfrm>
              <a:off x="5473102" y="5455090"/>
              <a:ext cx="100296" cy="89690"/>
            </a:xfrm>
            <a:prstGeom prst="rect">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525" dirty="0"/>
                <a:t>3</a:t>
              </a:r>
            </a:p>
          </p:txBody>
        </p:sp>
        <p:sp>
          <p:nvSpPr>
            <p:cNvPr id="56" name="Rectangle 55">
              <a:extLst>
                <a:ext uri="{FF2B5EF4-FFF2-40B4-BE49-F238E27FC236}">
                  <a16:creationId xmlns:a16="http://schemas.microsoft.com/office/drawing/2014/main" id="{AB35441D-628F-4EF4-BAAE-457A3E65BAC9}"/>
                </a:ext>
              </a:extLst>
            </p:cNvPr>
            <p:cNvSpPr/>
            <p:nvPr/>
          </p:nvSpPr>
          <p:spPr>
            <a:xfrm>
              <a:off x="5596927" y="5521765"/>
              <a:ext cx="100296" cy="89690"/>
            </a:xfrm>
            <a:prstGeom prst="rect">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525" dirty="0"/>
                <a:t>4</a:t>
              </a:r>
            </a:p>
          </p:txBody>
        </p:sp>
        <p:sp>
          <p:nvSpPr>
            <p:cNvPr id="57" name="Rectangle 56">
              <a:extLst>
                <a:ext uri="{FF2B5EF4-FFF2-40B4-BE49-F238E27FC236}">
                  <a16:creationId xmlns:a16="http://schemas.microsoft.com/office/drawing/2014/main" id="{60205136-0481-40CC-B682-D0053E031D78}"/>
                </a:ext>
              </a:extLst>
            </p:cNvPr>
            <p:cNvSpPr>
              <a:spLocks noChangeAspect="1"/>
            </p:cNvSpPr>
            <p:nvPr/>
          </p:nvSpPr>
          <p:spPr>
            <a:xfrm>
              <a:off x="5333033" y="5773986"/>
              <a:ext cx="80514" cy="72000"/>
            </a:xfrm>
            <a:prstGeom prst="rect">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525" dirty="0"/>
                <a:t>5</a:t>
              </a:r>
            </a:p>
          </p:txBody>
        </p:sp>
        <p:sp>
          <p:nvSpPr>
            <p:cNvPr id="58" name="Rectangle 57">
              <a:extLst>
                <a:ext uri="{FF2B5EF4-FFF2-40B4-BE49-F238E27FC236}">
                  <a16:creationId xmlns:a16="http://schemas.microsoft.com/office/drawing/2014/main" id="{B049C7AB-F284-45CB-9574-689A11B516EC}"/>
                </a:ext>
              </a:extLst>
            </p:cNvPr>
            <p:cNvSpPr/>
            <p:nvPr/>
          </p:nvSpPr>
          <p:spPr>
            <a:xfrm>
              <a:off x="5095596" y="6001302"/>
              <a:ext cx="100296" cy="89690"/>
            </a:xfrm>
            <a:prstGeom prst="rect">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525" dirty="0"/>
                <a:t>8</a:t>
              </a:r>
            </a:p>
          </p:txBody>
        </p:sp>
        <p:sp>
          <p:nvSpPr>
            <p:cNvPr id="59" name="Rectangle 58">
              <a:extLst>
                <a:ext uri="{FF2B5EF4-FFF2-40B4-BE49-F238E27FC236}">
                  <a16:creationId xmlns:a16="http://schemas.microsoft.com/office/drawing/2014/main" id="{94B95BD9-0FBA-41E1-85A3-D7B1B8D3D1AE}"/>
                </a:ext>
              </a:extLst>
            </p:cNvPr>
            <p:cNvSpPr/>
            <p:nvPr/>
          </p:nvSpPr>
          <p:spPr>
            <a:xfrm>
              <a:off x="5190558" y="5636057"/>
              <a:ext cx="100296" cy="89690"/>
            </a:xfrm>
            <a:prstGeom prst="rect">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525" dirty="0"/>
                <a:t>6</a:t>
              </a:r>
            </a:p>
          </p:txBody>
        </p:sp>
      </p:grpSp>
    </p:spTree>
    <p:extLst>
      <p:ext uri="{BB962C8B-B14F-4D97-AF65-F5344CB8AC3E}">
        <p14:creationId xmlns:p14="http://schemas.microsoft.com/office/powerpoint/2010/main" val="279273110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69"/>
                <a:ext cx="6249916" cy="2258858"/>
              </a:xfrm>
            </p:spPr>
            <p:txBody>
              <a:bodyPr>
                <a:noAutofit/>
              </a:bodyPr>
              <a:lstStyle/>
              <a:p>
                <a:pPr lvl="1" algn="just">
                  <a:lnSpc>
                    <a:spcPct val="150000"/>
                  </a:lnSpc>
                  <a:buClr>
                    <a:schemeClr val="accent2"/>
                  </a:buClr>
                </a:pPr>
                <a:r>
                  <a:rPr lang="fr-FR" sz="1200" dirty="0"/>
                  <a:t>Pour calculer les </a:t>
                </a:r>
                <a:r>
                  <a:rPr lang="fr-FR" sz="1200" b="1" dirty="0"/>
                  <a:t>poids</a:t>
                </a:r>
                <a:r>
                  <a:rPr lang="fr-FR" sz="1200" dirty="0"/>
                  <a:t> à partir des distances euclidiennes, on prend l’inverse des distances afin que les points les plus proches aient des poids plus élevés.</a:t>
                </a:r>
              </a:p>
              <a:p>
                <a:pPr lvl="1" algn="just">
                  <a:lnSpc>
                    <a:spcPct val="150000"/>
                  </a:lnSpc>
                  <a:buClr>
                    <a:schemeClr val="accent2"/>
                  </a:buClr>
                </a:pPr>
                <a:r>
                  <a:rPr lang="fr-FR" sz="1200" dirty="0"/>
                  <a:t>Pour chaque classe, on prend la somme des poids calculés, et la classe avec un poids total plus élevé devient la classe prédite.</a:t>
                </a:r>
              </a:p>
              <a:p>
                <a:pPr lvl="1" algn="just">
                  <a:lnSpc>
                    <a:spcPct val="150000"/>
                  </a:lnSpc>
                  <a:buClr>
                    <a:schemeClr val="accent2"/>
                  </a:buClr>
                </a:pPr>
                <a14:m>
                  <m:oMath xmlns:m="http://schemas.openxmlformats.org/officeDocument/2006/math">
                    <m:r>
                      <a:rPr lang="fr-FR" sz="1200" i="1">
                        <a:latin typeface="Cambria Math" panose="02040503050406030204" pitchFamily="18" charset="0"/>
                      </a:rPr>
                      <m:t>𝑐𝑙𝑎𝑠𝑠𝑒</m:t>
                    </m:r>
                    <m:r>
                      <a:rPr lang="fr-FR" sz="1200" i="1">
                        <a:latin typeface="Cambria Math" panose="02040503050406030204" pitchFamily="18" charset="0"/>
                      </a:rPr>
                      <m:t> </m:t>
                    </m:r>
                    <m:r>
                      <a:rPr lang="fr-FR" sz="1200" i="1">
                        <a:latin typeface="Cambria Math" panose="02040503050406030204" pitchFamily="18" charset="0"/>
                      </a:rPr>
                      <m:t>𝑟𝑜𝑢𝑔𝑒</m:t>
                    </m:r>
                    <m:r>
                      <a:rPr lang="fr-FR" sz="1200" i="1">
                        <a:latin typeface="Cambria Math" panose="02040503050406030204" pitchFamily="18" charset="0"/>
                      </a:rPr>
                      <m:t>= </m:t>
                    </m:r>
                    <m:f>
                      <m:fPr>
                        <m:ctrlPr>
                          <a:rPr lang="fr-FR" sz="1200" i="1">
                            <a:latin typeface="Cambria Math" panose="02040503050406030204" pitchFamily="18" charset="0"/>
                          </a:rPr>
                        </m:ctrlPr>
                      </m:fPr>
                      <m:num>
                        <m:r>
                          <a:rPr lang="fr-FR" sz="1200" i="1">
                            <a:latin typeface="Cambria Math" panose="02040503050406030204" pitchFamily="18" charset="0"/>
                          </a:rPr>
                          <m:t>1</m:t>
                        </m:r>
                      </m:num>
                      <m:den>
                        <m:r>
                          <a:rPr lang="fr-FR" sz="1200" i="1">
                            <a:latin typeface="Cambria Math" panose="02040503050406030204" pitchFamily="18" charset="0"/>
                          </a:rPr>
                          <m:t>3</m:t>
                        </m:r>
                      </m:den>
                    </m:f>
                    <m:r>
                      <a:rPr lang="fr-FR" sz="1200" i="1">
                        <a:latin typeface="Cambria Math" panose="02040503050406030204" pitchFamily="18" charset="0"/>
                      </a:rPr>
                      <m:t>+</m:t>
                    </m:r>
                    <m:f>
                      <m:fPr>
                        <m:ctrlPr>
                          <a:rPr lang="fr-FR" sz="1200" i="1">
                            <a:latin typeface="Cambria Math" panose="02040503050406030204" pitchFamily="18" charset="0"/>
                          </a:rPr>
                        </m:ctrlPr>
                      </m:fPr>
                      <m:num>
                        <m:r>
                          <a:rPr lang="fr-FR" sz="1200" i="1">
                            <a:latin typeface="Cambria Math" panose="02040503050406030204" pitchFamily="18" charset="0"/>
                          </a:rPr>
                          <m:t>1</m:t>
                        </m:r>
                      </m:num>
                      <m:den>
                        <m:r>
                          <a:rPr lang="fr-FR" sz="1200" i="1">
                            <a:latin typeface="Cambria Math" panose="02040503050406030204" pitchFamily="18" charset="0"/>
                          </a:rPr>
                          <m:t>4</m:t>
                        </m:r>
                      </m:den>
                    </m:f>
                    <m:r>
                      <a:rPr lang="fr-FR" sz="1200" i="1">
                        <a:latin typeface="Cambria Math" panose="02040503050406030204" pitchFamily="18" charset="0"/>
                      </a:rPr>
                      <m:t>=0.5833</m:t>
                    </m:r>
                  </m:oMath>
                </a14:m>
                <a:endParaRPr lang="fr-FR" sz="1200" dirty="0"/>
              </a:p>
              <a:p>
                <a:pPr lvl="1" algn="just">
                  <a:lnSpc>
                    <a:spcPct val="150000"/>
                  </a:lnSpc>
                  <a:buClr>
                    <a:schemeClr val="accent2"/>
                  </a:buClr>
                </a:pPr>
                <a14:m>
                  <m:oMath xmlns:m="http://schemas.openxmlformats.org/officeDocument/2006/math">
                    <m:r>
                      <a:rPr lang="fr-FR" sz="1200" i="1">
                        <a:latin typeface="Cambria Math" panose="02040503050406030204" pitchFamily="18" charset="0"/>
                      </a:rPr>
                      <m:t>𝑐𝑙𝑎𝑠𝑠𝑒</m:t>
                    </m:r>
                    <m:r>
                      <a:rPr lang="fr-FR" sz="1200" i="1">
                        <a:latin typeface="Cambria Math" panose="02040503050406030204" pitchFamily="18" charset="0"/>
                      </a:rPr>
                      <m:t> </m:t>
                    </m:r>
                    <m:r>
                      <a:rPr lang="fr-FR" sz="1200" i="1">
                        <a:latin typeface="Cambria Math" panose="02040503050406030204" pitchFamily="18" charset="0"/>
                      </a:rPr>
                      <m:t>𝑣𝑒𝑟𝑡𝑒</m:t>
                    </m:r>
                    <m:r>
                      <a:rPr lang="fr-FR" sz="1200" i="1">
                        <a:latin typeface="Cambria Math" panose="02040503050406030204" pitchFamily="18" charset="0"/>
                      </a:rPr>
                      <m:t>= </m:t>
                    </m:r>
                    <m:f>
                      <m:fPr>
                        <m:ctrlPr>
                          <a:rPr lang="fr-FR" sz="1200" i="1">
                            <a:latin typeface="Cambria Math" panose="02040503050406030204" pitchFamily="18" charset="0"/>
                          </a:rPr>
                        </m:ctrlPr>
                      </m:fPr>
                      <m:num>
                        <m:r>
                          <a:rPr lang="fr-FR" sz="1200" i="1">
                            <a:latin typeface="Cambria Math" panose="02040503050406030204" pitchFamily="18" charset="0"/>
                          </a:rPr>
                          <m:t>1</m:t>
                        </m:r>
                      </m:num>
                      <m:den>
                        <m:r>
                          <a:rPr lang="fr-FR" sz="1200" i="1">
                            <a:latin typeface="Cambria Math" panose="02040503050406030204" pitchFamily="18" charset="0"/>
                          </a:rPr>
                          <m:t>5</m:t>
                        </m:r>
                      </m:den>
                    </m:f>
                    <m:r>
                      <a:rPr lang="fr-FR" sz="1200" i="1">
                        <a:latin typeface="Cambria Math" panose="02040503050406030204" pitchFamily="18" charset="0"/>
                      </a:rPr>
                      <m:t>+</m:t>
                    </m:r>
                    <m:f>
                      <m:fPr>
                        <m:ctrlPr>
                          <a:rPr lang="fr-FR" sz="1200" i="1">
                            <a:latin typeface="Cambria Math" panose="02040503050406030204" pitchFamily="18" charset="0"/>
                          </a:rPr>
                        </m:ctrlPr>
                      </m:fPr>
                      <m:num>
                        <m:r>
                          <a:rPr lang="fr-FR" sz="1200" i="1">
                            <a:latin typeface="Cambria Math" panose="02040503050406030204" pitchFamily="18" charset="0"/>
                          </a:rPr>
                          <m:t>1</m:t>
                        </m:r>
                      </m:num>
                      <m:den>
                        <m:r>
                          <a:rPr lang="fr-FR" sz="1200" i="1">
                            <a:latin typeface="Cambria Math" panose="02040503050406030204" pitchFamily="18" charset="0"/>
                          </a:rPr>
                          <m:t>8</m:t>
                        </m:r>
                      </m:den>
                    </m:f>
                    <m:r>
                      <a:rPr lang="fr-FR" sz="1200" i="1">
                        <a:latin typeface="Cambria Math" panose="02040503050406030204" pitchFamily="18" charset="0"/>
                      </a:rPr>
                      <m:t>+</m:t>
                    </m:r>
                    <m:f>
                      <m:fPr>
                        <m:ctrlPr>
                          <a:rPr lang="fr-FR" sz="1200" i="1">
                            <a:latin typeface="Cambria Math" panose="02040503050406030204" pitchFamily="18" charset="0"/>
                          </a:rPr>
                        </m:ctrlPr>
                      </m:fPr>
                      <m:num>
                        <m:r>
                          <a:rPr lang="fr-FR" sz="1200" i="1">
                            <a:latin typeface="Cambria Math" panose="02040503050406030204" pitchFamily="18" charset="0"/>
                          </a:rPr>
                          <m:t>1</m:t>
                        </m:r>
                      </m:num>
                      <m:den>
                        <m:r>
                          <a:rPr lang="fr-FR" sz="1200" i="1">
                            <a:latin typeface="Cambria Math" panose="02040503050406030204" pitchFamily="18" charset="0"/>
                          </a:rPr>
                          <m:t>6</m:t>
                        </m:r>
                      </m:den>
                    </m:f>
                    <m:r>
                      <a:rPr lang="fr-FR" sz="1200" i="1">
                        <a:latin typeface="Cambria Math" panose="02040503050406030204" pitchFamily="18" charset="0"/>
                      </a:rPr>
                      <m:t>=0.4812</m:t>
                    </m:r>
                  </m:oMath>
                </a14:m>
                <a:endParaRPr lang="fr-FR" sz="1200" dirty="0"/>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69"/>
                <a:ext cx="6249916" cy="2258858"/>
              </a:xfrm>
              <a:blipFill>
                <a:blip r:embed="rId2"/>
                <a:stretch>
                  <a:fillRect r="-146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206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 :</a:t>
            </a:r>
            <a:r>
              <a:rPr lang="fr-FR" sz="2100" b="0" dirty="0"/>
              <a:t> fonctionnement</a:t>
            </a:r>
          </a:p>
        </p:txBody>
      </p:sp>
      <p:sp>
        <p:nvSpPr>
          <p:cNvPr id="5" name="Title 13">
            <a:extLst>
              <a:ext uri="{FF2B5EF4-FFF2-40B4-BE49-F238E27FC236}">
                <a16:creationId xmlns:a16="http://schemas.microsoft.com/office/drawing/2014/main" id="{F3B1271F-0B5A-4E71-BAF2-12B26411932B}"/>
              </a:ext>
            </a:extLst>
          </p:cNvPr>
          <p:cNvSpPr txBox="1">
            <a:spLocks/>
          </p:cNvSpPr>
          <p:nvPr/>
        </p:nvSpPr>
        <p:spPr>
          <a:xfrm>
            <a:off x="378638" y="959489"/>
            <a:ext cx="6249917" cy="240118"/>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KNN pour la classification</a:t>
            </a:r>
          </a:p>
        </p:txBody>
      </p:sp>
      <p:grpSp>
        <p:nvGrpSpPr>
          <p:cNvPr id="60" name="Groupe 59">
            <a:extLst>
              <a:ext uri="{FF2B5EF4-FFF2-40B4-BE49-F238E27FC236}">
                <a16:creationId xmlns:a16="http://schemas.microsoft.com/office/drawing/2014/main" id="{6CDD0F7C-67FA-45F1-B94B-FAFF4796AC6C}"/>
              </a:ext>
            </a:extLst>
          </p:cNvPr>
          <p:cNvGrpSpPr/>
          <p:nvPr/>
        </p:nvGrpSpPr>
        <p:grpSpPr>
          <a:xfrm>
            <a:off x="1898185" y="3102823"/>
            <a:ext cx="4178600" cy="1947452"/>
            <a:chOff x="2530912" y="4137097"/>
            <a:chExt cx="5571467" cy="2596603"/>
          </a:xfrm>
        </p:grpSpPr>
        <p:sp>
          <p:nvSpPr>
            <p:cNvPr id="32" name="Organigramme : Connecteur 31">
              <a:extLst>
                <a:ext uri="{FF2B5EF4-FFF2-40B4-BE49-F238E27FC236}">
                  <a16:creationId xmlns:a16="http://schemas.microsoft.com/office/drawing/2014/main" id="{6A10F15D-D07C-4882-98EA-88E622A0A4DB}"/>
                </a:ext>
              </a:extLst>
            </p:cNvPr>
            <p:cNvSpPr/>
            <p:nvPr/>
          </p:nvSpPr>
          <p:spPr>
            <a:xfrm>
              <a:off x="6025096" y="4796193"/>
              <a:ext cx="196358" cy="199023"/>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 name="Organigramme : Connecteur 6">
              <a:extLst>
                <a:ext uri="{FF2B5EF4-FFF2-40B4-BE49-F238E27FC236}">
                  <a16:creationId xmlns:a16="http://schemas.microsoft.com/office/drawing/2014/main" id="{8519129F-1CF3-4BD5-BC67-AFC3518DB06E}"/>
                </a:ext>
              </a:extLst>
            </p:cNvPr>
            <p:cNvSpPr/>
            <p:nvPr/>
          </p:nvSpPr>
          <p:spPr>
            <a:xfrm>
              <a:off x="5446645" y="5212109"/>
              <a:ext cx="196358" cy="199023"/>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 name="Organigramme : Connecteur 7">
              <a:extLst>
                <a:ext uri="{FF2B5EF4-FFF2-40B4-BE49-F238E27FC236}">
                  <a16:creationId xmlns:a16="http://schemas.microsoft.com/office/drawing/2014/main" id="{2FB13C7D-35BB-40B2-8307-4AB3B86A05E4}"/>
                </a:ext>
              </a:extLst>
            </p:cNvPr>
            <p:cNvSpPr/>
            <p:nvPr/>
          </p:nvSpPr>
          <p:spPr>
            <a:xfrm>
              <a:off x="5406887" y="5600668"/>
              <a:ext cx="196358" cy="199023"/>
            </a:xfrm>
            <a:prstGeom prst="flowChartConnector">
              <a:avLst/>
            </a:prstGeom>
            <a:solidFill>
              <a:srgbClr val="EAB2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nvGrpSpPr>
            <p:cNvPr id="9" name="Groupe 8">
              <a:extLst>
                <a:ext uri="{FF2B5EF4-FFF2-40B4-BE49-F238E27FC236}">
                  <a16:creationId xmlns:a16="http://schemas.microsoft.com/office/drawing/2014/main" id="{7CF16953-5454-47A8-86D5-62E67B636501}"/>
                </a:ext>
              </a:extLst>
            </p:cNvPr>
            <p:cNvGrpSpPr/>
            <p:nvPr/>
          </p:nvGrpSpPr>
          <p:grpSpPr>
            <a:xfrm>
              <a:off x="3493679" y="4711228"/>
              <a:ext cx="3960000" cy="2022472"/>
              <a:chOff x="2623930" y="2971337"/>
              <a:chExt cx="4060689" cy="2222185"/>
            </a:xfrm>
          </p:grpSpPr>
          <p:cxnSp>
            <p:nvCxnSpPr>
              <p:cNvPr id="28" name="Connecteur droit avec flèche 27">
                <a:extLst>
                  <a:ext uri="{FF2B5EF4-FFF2-40B4-BE49-F238E27FC236}">
                    <a16:creationId xmlns:a16="http://schemas.microsoft.com/office/drawing/2014/main" id="{2AE8689E-C2B7-4772-9FB8-6496A587AB2C}"/>
                  </a:ext>
                </a:extLst>
              </p:cNvPr>
              <p:cNvCxnSpPr/>
              <p:nvPr/>
            </p:nvCxnSpPr>
            <p:spPr>
              <a:xfrm>
                <a:off x="2623930" y="5041127"/>
                <a:ext cx="40606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8AB9602B-FE84-4BF1-9F1F-C8B859521824}"/>
                  </a:ext>
                </a:extLst>
              </p:cNvPr>
              <p:cNvCxnSpPr>
                <a:cxnSpLocks/>
              </p:cNvCxnSpPr>
              <p:nvPr/>
            </p:nvCxnSpPr>
            <p:spPr>
              <a:xfrm flipV="1">
                <a:off x="2776330" y="2971337"/>
                <a:ext cx="0" cy="22221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7" name="Organigramme : Connecteur 16">
              <a:extLst>
                <a:ext uri="{FF2B5EF4-FFF2-40B4-BE49-F238E27FC236}">
                  <a16:creationId xmlns:a16="http://schemas.microsoft.com/office/drawing/2014/main" id="{A5294D34-36EB-4743-826C-2C737C1637E5}"/>
                </a:ext>
              </a:extLst>
            </p:cNvPr>
            <p:cNvSpPr/>
            <p:nvPr/>
          </p:nvSpPr>
          <p:spPr>
            <a:xfrm>
              <a:off x="3847579" y="5938704"/>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8" name="Organigramme : Connecteur 17">
              <a:extLst>
                <a:ext uri="{FF2B5EF4-FFF2-40B4-BE49-F238E27FC236}">
                  <a16:creationId xmlns:a16="http://schemas.microsoft.com/office/drawing/2014/main" id="{19CBB31A-4311-4523-AD1A-5D24EB7B4BB3}"/>
                </a:ext>
              </a:extLst>
            </p:cNvPr>
            <p:cNvSpPr/>
            <p:nvPr/>
          </p:nvSpPr>
          <p:spPr>
            <a:xfrm>
              <a:off x="4087814" y="6163062"/>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9" name="Organigramme : Connecteur 18">
              <a:extLst>
                <a:ext uri="{FF2B5EF4-FFF2-40B4-BE49-F238E27FC236}">
                  <a16:creationId xmlns:a16="http://schemas.microsoft.com/office/drawing/2014/main" id="{D64D5D1B-C729-4754-AF7A-C347F278241A}"/>
                </a:ext>
              </a:extLst>
            </p:cNvPr>
            <p:cNvSpPr/>
            <p:nvPr/>
          </p:nvSpPr>
          <p:spPr>
            <a:xfrm>
              <a:off x="4761249" y="6027095"/>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0" name="Organigramme : Connecteur 19">
              <a:extLst>
                <a:ext uri="{FF2B5EF4-FFF2-40B4-BE49-F238E27FC236}">
                  <a16:creationId xmlns:a16="http://schemas.microsoft.com/office/drawing/2014/main" id="{DFD79510-65FE-42D1-9E84-08EC8420AFDA}"/>
                </a:ext>
              </a:extLst>
            </p:cNvPr>
            <p:cNvSpPr/>
            <p:nvPr/>
          </p:nvSpPr>
          <p:spPr>
            <a:xfrm rot="7820797">
              <a:off x="6665695" y="5052638"/>
              <a:ext cx="196358" cy="199024"/>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2" name="Organigramme : Connecteur 21">
              <a:extLst>
                <a:ext uri="{FF2B5EF4-FFF2-40B4-BE49-F238E27FC236}">
                  <a16:creationId xmlns:a16="http://schemas.microsoft.com/office/drawing/2014/main" id="{E2A8C13D-B649-487F-8116-B8F26A733BB4}"/>
                </a:ext>
              </a:extLst>
            </p:cNvPr>
            <p:cNvSpPr/>
            <p:nvPr/>
          </p:nvSpPr>
          <p:spPr>
            <a:xfrm rot="7820797">
              <a:off x="6407764" y="4973121"/>
              <a:ext cx="196358" cy="199024"/>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3" name="Organigramme : Connecteur 22">
              <a:extLst>
                <a:ext uri="{FF2B5EF4-FFF2-40B4-BE49-F238E27FC236}">
                  <a16:creationId xmlns:a16="http://schemas.microsoft.com/office/drawing/2014/main" id="{BC73C21A-B303-4BB4-BBCC-F5D6DC7ABBD6}"/>
                </a:ext>
              </a:extLst>
            </p:cNvPr>
            <p:cNvSpPr/>
            <p:nvPr/>
          </p:nvSpPr>
          <p:spPr>
            <a:xfrm rot="7820797">
              <a:off x="6418017" y="4609638"/>
              <a:ext cx="196358" cy="199024"/>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4" name="Organigramme : Connecteur 23">
              <a:extLst>
                <a:ext uri="{FF2B5EF4-FFF2-40B4-BE49-F238E27FC236}">
                  <a16:creationId xmlns:a16="http://schemas.microsoft.com/office/drawing/2014/main" id="{6521B852-3FC3-4B65-A12B-0F70B2A5234C}"/>
                </a:ext>
              </a:extLst>
            </p:cNvPr>
            <p:cNvSpPr/>
            <p:nvPr/>
          </p:nvSpPr>
          <p:spPr>
            <a:xfrm>
              <a:off x="4461356" y="5901682"/>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5" name="Organigramme : Connecteur 24">
              <a:extLst>
                <a:ext uri="{FF2B5EF4-FFF2-40B4-BE49-F238E27FC236}">
                  <a16:creationId xmlns:a16="http://schemas.microsoft.com/office/drawing/2014/main" id="{AE1866B9-0E2D-4FA5-9347-CDCA4494688A}"/>
                </a:ext>
              </a:extLst>
            </p:cNvPr>
            <p:cNvSpPr/>
            <p:nvPr/>
          </p:nvSpPr>
          <p:spPr>
            <a:xfrm>
              <a:off x="5112351" y="5764165"/>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6" name="Ellipse 25">
              <a:extLst>
                <a:ext uri="{FF2B5EF4-FFF2-40B4-BE49-F238E27FC236}">
                  <a16:creationId xmlns:a16="http://schemas.microsoft.com/office/drawing/2014/main" id="{469485D7-D31B-4138-B86F-B7056E7994B0}"/>
                </a:ext>
              </a:extLst>
            </p:cNvPr>
            <p:cNvSpPr>
              <a:spLocks noChangeAspect="1"/>
            </p:cNvSpPr>
            <p:nvPr/>
          </p:nvSpPr>
          <p:spPr>
            <a:xfrm>
              <a:off x="4544534" y="4711228"/>
              <a:ext cx="1884231" cy="1871999"/>
            </a:xfrm>
            <a:prstGeom prst="ellipse">
              <a:avLst/>
            </a:prstGeom>
            <a:noFill/>
            <a:ln w="31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solidFill>
                  <a:schemeClr val="tx1"/>
                </a:solidFill>
              </a:endParaRPr>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1C240B4F-8C51-4BF5-A642-2E03B44674EF}"/>
                    </a:ext>
                  </a:extLst>
                </p:cNvPr>
                <p:cNvSpPr/>
                <p:nvPr/>
              </p:nvSpPr>
              <p:spPr>
                <a:xfrm>
                  <a:off x="5304029" y="4137097"/>
                  <a:ext cx="1148499" cy="275136"/>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825" i="1">
                            <a:latin typeface="Cambria Math" panose="02040503050406030204" pitchFamily="18" charset="0"/>
                          </a:rPr>
                          <m:t>𝑘</m:t>
                        </m:r>
                        <m:r>
                          <a:rPr lang="fr-FR" sz="825" i="1">
                            <a:latin typeface="Cambria Math" panose="02040503050406030204" pitchFamily="18" charset="0"/>
                          </a:rPr>
                          <m:t>=5</m:t>
                        </m:r>
                      </m:oMath>
                    </m:oMathPara>
                  </a14:m>
                  <a:endParaRPr lang="fr-FR" sz="825" dirty="0"/>
                </a:p>
              </p:txBody>
            </p:sp>
          </mc:Choice>
          <mc:Fallback xmlns="">
            <p:sp>
              <p:nvSpPr>
                <p:cNvPr id="27" name="Rectangle 26">
                  <a:extLst>
                    <a:ext uri="{FF2B5EF4-FFF2-40B4-BE49-F238E27FC236}">
                      <a16:creationId xmlns:a16="http://schemas.microsoft.com/office/drawing/2014/main" id="{1C240B4F-8C51-4BF5-A642-2E03B44674EF}"/>
                    </a:ext>
                  </a:extLst>
                </p:cNvPr>
                <p:cNvSpPr>
                  <a:spLocks noRot="1" noChangeAspect="1" noMove="1" noResize="1" noEditPoints="1" noAdjustHandles="1" noChangeArrowheads="1" noChangeShapeType="1" noTextEdit="1"/>
                </p:cNvSpPr>
                <p:nvPr/>
              </p:nvSpPr>
              <p:spPr>
                <a:xfrm>
                  <a:off x="5304029" y="4137097"/>
                  <a:ext cx="1148499" cy="275136"/>
                </a:xfrm>
                <a:prstGeom prst="rect">
                  <a:avLst/>
                </a:prstGeom>
                <a:blipFill>
                  <a:blip r:embed="rId5"/>
                  <a:stretch>
                    <a:fillRect/>
                  </a:stretch>
                </a:blipFill>
                <a:ln w="9525" cap="flat" cmpd="sng" algn="ctr">
                  <a:noFill/>
                  <a:prstDash val="solid"/>
                  <a:round/>
                  <a:headEnd type="none" w="med" len="med"/>
                  <a:tailEnd type="none" w="med" len="med"/>
                </a:ln>
              </p:spPr>
              <p:txBody>
                <a:bodyPr/>
                <a:lstStyle/>
                <a:p>
                  <a:r>
                    <a:rPr lang="fr-FR">
                      <a:noFill/>
                    </a:rPr>
                    <a:t> </a:t>
                  </a:r>
                </a:p>
              </p:txBody>
            </p:sp>
          </mc:Fallback>
        </mc:AlternateContent>
        <p:sp>
          <p:nvSpPr>
            <p:cNvPr id="34" name="Légende : flèche courbée 33">
              <a:extLst>
                <a:ext uri="{FF2B5EF4-FFF2-40B4-BE49-F238E27FC236}">
                  <a16:creationId xmlns:a16="http://schemas.microsoft.com/office/drawing/2014/main" id="{88D05BA9-95E6-4F71-94A3-36818796C7B1}"/>
                </a:ext>
              </a:extLst>
            </p:cNvPr>
            <p:cNvSpPr/>
            <p:nvPr/>
          </p:nvSpPr>
          <p:spPr>
            <a:xfrm>
              <a:off x="2530912" y="6116567"/>
              <a:ext cx="684000" cy="219102"/>
            </a:xfrm>
            <a:prstGeom prst="borderCallout2">
              <a:avLst>
                <a:gd name="adj1" fmla="val 37158"/>
                <a:gd name="adj2" fmla="val 106168"/>
                <a:gd name="adj3" fmla="val 38879"/>
                <a:gd name="adj4" fmla="val 123051"/>
                <a:gd name="adj5" fmla="val -14740"/>
                <a:gd name="adj6" fmla="val 187007"/>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825" dirty="0"/>
                <a:t>sain</a:t>
              </a:r>
            </a:p>
          </p:txBody>
        </p:sp>
        <p:sp>
          <p:nvSpPr>
            <p:cNvPr id="35" name="Légende : flèche courbée 34">
              <a:extLst>
                <a:ext uri="{FF2B5EF4-FFF2-40B4-BE49-F238E27FC236}">
                  <a16:creationId xmlns:a16="http://schemas.microsoft.com/office/drawing/2014/main" id="{DC1FBDA5-038E-4FFF-9224-46FFE85BD44A}"/>
                </a:ext>
              </a:extLst>
            </p:cNvPr>
            <p:cNvSpPr/>
            <p:nvPr/>
          </p:nvSpPr>
          <p:spPr>
            <a:xfrm>
              <a:off x="7289276" y="4166755"/>
              <a:ext cx="684000" cy="219102"/>
            </a:xfrm>
            <a:prstGeom prst="borderCallout2">
              <a:avLst>
                <a:gd name="adj1" fmla="val 36070"/>
                <a:gd name="adj2" fmla="val -5468"/>
                <a:gd name="adj3" fmla="val 38154"/>
                <a:gd name="adj4" fmla="val -27343"/>
                <a:gd name="adj5" fmla="val 221286"/>
                <a:gd name="adj6" fmla="val -93072"/>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700" dirty="0"/>
                <a:t>malade</a:t>
              </a:r>
            </a:p>
          </p:txBody>
        </p:sp>
        <p:sp>
          <p:nvSpPr>
            <p:cNvPr id="36" name="Légende : flèche courbée 35">
              <a:extLst>
                <a:ext uri="{FF2B5EF4-FFF2-40B4-BE49-F238E27FC236}">
                  <a16:creationId xmlns:a16="http://schemas.microsoft.com/office/drawing/2014/main" id="{556AB7A5-B387-4522-BEE1-CD73553A406C}"/>
                </a:ext>
              </a:extLst>
            </p:cNvPr>
            <p:cNvSpPr/>
            <p:nvPr/>
          </p:nvSpPr>
          <p:spPr>
            <a:xfrm>
              <a:off x="6917996" y="5863677"/>
              <a:ext cx="1184383" cy="237028"/>
            </a:xfrm>
            <a:prstGeom prst="borderCallout2">
              <a:avLst>
                <a:gd name="adj1" fmla="val 36070"/>
                <a:gd name="adj2" fmla="val -5468"/>
                <a:gd name="adj3" fmla="val 38154"/>
                <a:gd name="adj4" fmla="val -27343"/>
                <a:gd name="adj5" fmla="val -51248"/>
                <a:gd name="adj6" fmla="val -106951"/>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700" dirty="0"/>
                <a:t>Nouveau patient</a:t>
              </a:r>
            </a:p>
          </p:txBody>
        </p:sp>
        <p:sp>
          <p:nvSpPr>
            <p:cNvPr id="31" name="Organigramme : Connecteur 30">
              <a:extLst>
                <a:ext uri="{FF2B5EF4-FFF2-40B4-BE49-F238E27FC236}">
                  <a16:creationId xmlns:a16="http://schemas.microsoft.com/office/drawing/2014/main" id="{93C222E0-41DE-4987-83F2-E874180CA7D2}"/>
                </a:ext>
              </a:extLst>
            </p:cNvPr>
            <p:cNvSpPr/>
            <p:nvPr/>
          </p:nvSpPr>
          <p:spPr>
            <a:xfrm>
              <a:off x="5667285" y="5306867"/>
              <a:ext cx="196358" cy="199023"/>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0" name="Organigramme : Connecteur 29">
              <a:extLst>
                <a:ext uri="{FF2B5EF4-FFF2-40B4-BE49-F238E27FC236}">
                  <a16:creationId xmlns:a16="http://schemas.microsoft.com/office/drawing/2014/main" id="{E90543D4-1D45-4104-8EF3-2F0605817EF4}"/>
                </a:ext>
              </a:extLst>
            </p:cNvPr>
            <p:cNvSpPr/>
            <p:nvPr/>
          </p:nvSpPr>
          <p:spPr>
            <a:xfrm>
              <a:off x="4725058" y="5747397"/>
              <a:ext cx="196358" cy="199023"/>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13" name="Connecteur droit 12">
              <a:extLst>
                <a:ext uri="{FF2B5EF4-FFF2-40B4-BE49-F238E27FC236}">
                  <a16:creationId xmlns:a16="http://schemas.microsoft.com/office/drawing/2014/main" id="{C194700A-ED4C-46BA-885A-586FDBAE0374}"/>
                </a:ext>
              </a:extLst>
            </p:cNvPr>
            <p:cNvCxnSpPr>
              <a:stCxn id="8" idx="0"/>
              <a:endCxn id="7" idx="4"/>
            </p:cNvCxnSpPr>
            <p:nvPr/>
          </p:nvCxnSpPr>
          <p:spPr>
            <a:xfrm flipV="1">
              <a:off x="5505066" y="5411132"/>
              <a:ext cx="39758" cy="189536"/>
            </a:xfrm>
            <a:prstGeom prst="line">
              <a:avLst/>
            </a:prstGeom>
            <a:ln w="3175"/>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AE6DED68-7CF8-4A04-B9A2-CD5EA84B9EE2}"/>
                </a:ext>
              </a:extLst>
            </p:cNvPr>
            <p:cNvCxnSpPr>
              <a:cxnSpLocks/>
              <a:stCxn id="8" idx="7"/>
              <a:endCxn id="31" idx="3"/>
            </p:cNvCxnSpPr>
            <p:nvPr/>
          </p:nvCxnSpPr>
          <p:spPr>
            <a:xfrm flipV="1">
              <a:off x="5574489" y="5476744"/>
              <a:ext cx="121552" cy="153070"/>
            </a:xfrm>
            <a:prstGeom prst="line">
              <a:avLst/>
            </a:prstGeom>
            <a:ln w="3175"/>
          </p:spPr>
          <p:style>
            <a:lnRef idx="1">
              <a:schemeClr val="accent1"/>
            </a:lnRef>
            <a:fillRef idx="0">
              <a:schemeClr val="accent1"/>
            </a:fillRef>
            <a:effectRef idx="0">
              <a:schemeClr val="accent1"/>
            </a:effectRef>
            <a:fontRef idx="minor">
              <a:schemeClr val="tx1"/>
            </a:fontRef>
          </p:style>
        </p:cxnSp>
        <p:cxnSp>
          <p:nvCxnSpPr>
            <p:cNvPr id="40" name="Connecteur droit 39">
              <a:extLst>
                <a:ext uri="{FF2B5EF4-FFF2-40B4-BE49-F238E27FC236}">
                  <a16:creationId xmlns:a16="http://schemas.microsoft.com/office/drawing/2014/main" id="{6A67059C-7035-4ACB-AF84-0920CE03A216}"/>
                </a:ext>
              </a:extLst>
            </p:cNvPr>
            <p:cNvCxnSpPr>
              <a:cxnSpLocks/>
              <a:stCxn id="25" idx="6"/>
              <a:endCxn id="8" idx="3"/>
            </p:cNvCxnSpPr>
            <p:nvPr/>
          </p:nvCxnSpPr>
          <p:spPr>
            <a:xfrm flipV="1">
              <a:off x="5308709" y="5770545"/>
              <a:ext cx="126934" cy="93132"/>
            </a:xfrm>
            <a:prstGeom prst="line">
              <a:avLst/>
            </a:prstGeom>
            <a:ln w="3175"/>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69B5D202-AD8C-45A9-8369-D8C7311FEFC8}"/>
                </a:ext>
              </a:extLst>
            </p:cNvPr>
            <p:cNvCxnSpPr>
              <a:cxnSpLocks/>
              <a:stCxn id="30" idx="7"/>
              <a:endCxn id="8" idx="1"/>
            </p:cNvCxnSpPr>
            <p:nvPr/>
          </p:nvCxnSpPr>
          <p:spPr>
            <a:xfrm flipV="1">
              <a:off x="4892660" y="5629814"/>
              <a:ext cx="542983" cy="146729"/>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54" name="Forme libre : forme 53">
              <a:extLst>
                <a:ext uri="{FF2B5EF4-FFF2-40B4-BE49-F238E27FC236}">
                  <a16:creationId xmlns:a16="http://schemas.microsoft.com/office/drawing/2014/main" id="{1E176C3B-DD42-4C9C-A0A5-64341E78CA00}"/>
                </a:ext>
              </a:extLst>
            </p:cNvPr>
            <p:cNvSpPr/>
            <p:nvPr/>
          </p:nvSpPr>
          <p:spPr>
            <a:xfrm rot="11943241">
              <a:off x="5025280" y="5708150"/>
              <a:ext cx="451870" cy="490423"/>
            </a:xfrm>
            <a:custGeom>
              <a:avLst/>
              <a:gdLst>
                <a:gd name="connsiteX0" fmla="*/ 558800 w 558800"/>
                <a:gd name="connsiteY0" fmla="*/ 0 h 342900"/>
                <a:gd name="connsiteX1" fmla="*/ 0 w 558800"/>
                <a:gd name="connsiteY1" fmla="*/ 342900 h 342900"/>
              </a:gdLst>
              <a:ahLst/>
              <a:cxnLst>
                <a:cxn ang="0">
                  <a:pos x="connsiteX0" y="connsiteY0"/>
                </a:cxn>
                <a:cxn ang="0">
                  <a:pos x="connsiteX1" y="connsiteY1"/>
                </a:cxn>
              </a:cxnLst>
              <a:rect l="l" t="t" r="r" b="b"/>
              <a:pathLst>
                <a:path w="558800" h="342900">
                  <a:moveTo>
                    <a:pt x="558800" y="0"/>
                  </a:moveTo>
                  <a:cubicBezTo>
                    <a:pt x="279929" y="135731"/>
                    <a:pt x="1058" y="271463"/>
                    <a:pt x="0" y="342900"/>
                  </a:cubicBezTo>
                </a:path>
              </a:pathLst>
            </a:custGeom>
            <a:ln w="3175"/>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350" dirty="0"/>
            </a:p>
          </p:txBody>
        </p:sp>
        <p:sp>
          <p:nvSpPr>
            <p:cNvPr id="55" name="Rectangle 54">
              <a:extLst>
                <a:ext uri="{FF2B5EF4-FFF2-40B4-BE49-F238E27FC236}">
                  <a16:creationId xmlns:a16="http://schemas.microsoft.com/office/drawing/2014/main" id="{32F3A07A-CBF7-4DF5-8CC7-2A90390608F5}"/>
                </a:ext>
              </a:extLst>
            </p:cNvPr>
            <p:cNvSpPr/>
            <p:nvPr/>
          </p:nvSpPr>
          <p:spPr>
            <a:xfrm>
              <a:off x="5473102" y="5455090"/>
              <a:ext cx="100296" cy="89690"/>
            </a:xfrm>
            <a:prstGeom prst="rect">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525" dirty="0"/>
                <a:t>3</a:t>
              </a:r>
            </a:p>
          </p:txBody>
        </p:sp>
        <p:sp>
          <p:nvSpPr>
            <p:cNvPr id="56" name="Rectangle 55">
              <a:extLst>
                <a:ext uri="{FF2B5EF4-FFF2-40B4-BE49-F238E27FC236}">
                  <a16:creationId xmlns:a16="http://schemas.microsoft.com/office/drawing/2014/main" id="{AB35441D-628F-4EF4-BAAE-457A3E65BAC9}"/>
                </a:ext>
              </a:extLst>
            </p:cNvPr>
            <p:cNvSpPr/>
            <p:nvPr/>
          </p:nvSpPr>
          <p:spPr>
            <a:xfrm>
              <a:off x="5596927" y="5521765"/>
              <a:ext cx="100296" cy="89690"/>
            </a:xfrm>
            <a:prstGeom prst="rect">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525" dirty="0"/>
                <a:t>4</a:t>
              </a:r>
            </a:p>
          </p:txBody>
        </p:sp>
        <p:sp>
          <p:nvSpPr>
            <p:cNvPr id="57" name="Rectangle 56">
              <a:extLst>
                <a:ext uri="{FF2B5EF4-FFF2-40B4-BE49-F238E27FC236}">
                  <a16:creationId xmlns:a16="http://schemas.microsoft.com/office/drawing/2014/main" id="{60205136-0481-40CC-B682-D0053E031D78}"/>
                </a:ext>
              </a:extLst>
            </p:cNvPr>
            <p:cNvSpPr>
              <a:spLocks noChangeAspect="1"/>
            </p:cNvSpPr>
            <p:nvPr/>
          </p:nvSpPr>
          <p:spPr>
            <a:xfrm>
              <a:off x="5333033" y="5773986"/>
              <a:ext cx="80514" cy="72000"/>
            </a:xfrm>
            <a:prstGeom prst="rect">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525" dirty="0"/>
                <a:t>5</a:t>
              </a:r>
            </a:p>
          </p:txBody>
        </p:sp>
        <p:sp>
          <p:nvSpPr>
            <p:cNvPr id="58" name="Rectangle 57">
              <a:extLst>
                <a:ext uri="{FF2B5EF4-FFF2-40B4-BE49-F238E27FC236}">
                  <a16:creationId xmlns:a16="http://schemas.microsoft.com/office/drawing/2014/main" id="{B049C7AB-F284-45CB-9574-689A11B516EC}"/>
                </a:ext>
              </a:extLst>
            </p:cNvPr>
            <p:cNvSpPr/>
            <p:nvPr/>
          </p:nvSpPr>
          <p:spPr>
            <a:xfrm>
              <a:off x="5095596" y="6001302"/>
              <a:ext cx="100296" cy="89690"/>
            </a:xfrm>
            <a:prstGeom prst="rect">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525" dirty="0"/>
                <a:t>8</a:t>
              </a:r>
            </a:p>
          </p:txBody>
        </p:sp>
        <p:sp>
          <p:nvSpPr>
            <p:cNvPr id="59" name="Rectangle 58">
              <a:extLst>
                <a:ext uri="{FF2B5EF4-FFF2-40B4-BE49-F238E27FC236}">
                  <a16:creationId xmlns:a16="http://schemas.microsoft.com/office/drawing/2014/main" id="{94B95BD9-0FBA-41E1-85A3-D7B1B8D3D1AE}"/>
                </a:ext>
              </a:extLst>
            </p:cNvPr>
            <p:cNvSpPr/>
            <p:nvPr/>
          </p:nvSpPr>
          <p:spPr>
            <a:xfrm>
              <a:off x="5190558" y="5636057"/>
              <a:ext cx="100296" cy="89690"/>
            </a:xfrm>
            <a:prstGeom prst="rect">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525" dirty="0"/>
                <a:t>6</a:t>
              </a:r>
            </a:p>
          </p:txBody>
        </p:sp>
      </p:grpSp>
    </p:spTree>
    <p:extLst>
      <p:ext uri="{BB962C8B-B14F-4D97-AF65-F5344CB8AC3E}">
        <p14:creationId xmlns:p14="http://schemas.microsoft.com/office/powerpoint/2010/main" val="2478558464"/>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lvl="1" algn="just">
              <a:lnSpc>
                <a:spcPct val="150000"/>
              </a:lnSpc>
              <a:buClr>
                <a:schemeClr val="accent2"/>
              </a:buClr>
            </a:pPr>
            <a:r>
              <a:rPr lang="fr-FR" sz="1350" dirty="0"/>
              <a:t>Avantages :</a:t>
            </a:r>
          </a:p>
          <a:p>
            <a:pPr lvl="2" algn="just">
              <a:lnSpc>
                <a:spcPct val="150000"/>
              </a:lnSpc>
              <a:buClr>
                <a:schemeClr val="accent2"/>
              </a:buClr>
            </a:pPr>
            <a:r>
              <a:rPr lang="fr-FR" sz="1200" dirty="0"/>
              <a:t>Principes mathématiques simples</a:t>
            </a:r>
          </a:p>
          <a:p>
            <a:pPr lvl="2" algn="just">
              <a:lnSpc>
                <a:spcPct val="150000"/>
              </a:lnSpc>
              <a:buClr>
                <a:schemeClr val="accent2"/>
              </a:buClr>
            </a:pPr>
            <a:r>
              <a:rPr lang="fr-FR" sz="1200" dirty="0"/>
              <a:t>Facile à mettre en œuvre</a:t>
            </a:r>
          </a:p>
          <a:p>
            <a:pPr lvl="2" algn="just">
              <a:lnSpc>
                <a:spcPct val="150000"/>
              </a:lnSpc>
              <a:buClr>
                <a:schemeClr val="accent2"/>
              </a:buClr>
            </a:pPr>
            <a:r>
              <a:rPr lang="fr-FR" sz="1200" dirty="0"/>
              <a:t>Calcul efficace sur machine</a:t>
            </a:r>
          </a:p>
          <a:p>
            <a:pPr lvl="1" algn="just">
              <a:lnSpc>
                <a:spcPct val="150000"/>
              </a:lnSpc>
              <a:buClr>
                <a:schemeClr val="accent2"/>
              </a:buClr>
            </a:pPr>
            <a:endParaRPr lang="fr-FR" sz="1350" dirty="0"/>
          </a:p>
          <a:p>
            <a:pPr lvl="1" algn="just">
              <a:lnSpc>
                <a:spcPct val="150000"/>
              </a:lnSpc>
              <a:buClr>
                <a:schemeClr val="accent2"/>
              </a:buClr>
            </a:pPr>
            <a:r>
              <a:rPr lang="fr-FR" sz="1350" dirty="0"/>
              <a:t>Désavantages :</a:t>
            </a:r>
          </a:p>
          <a:p>
            <a:pPr lvl="2" algn="just">
              <a:lnSpc>
                <a:spcPct val="150000"/>
              </a:lnSpc>
              <a:buClr>
                <a:schemeClr val="accent2"/>
              </a:buClr>
            </a:pPr>
            <a:r>
              <a:rPr lang="fr-FR" sz="1200" dirty="0"/>
              <a:t>Le bruit ou l’asymétrie des données peuvent conduire à une mauvaise classification.</a:t>
            </a:r>
          </a:p>
          <a:p>
            <a:pPr lvl="2" algn="just">
              <a:lnSpc>
                <a:spcPct val="150000"/>
              </a:lnSpc>
              <a:buClr>
                <a:schemeClr val="accent2"/>
              </a:buClr>
            </a:pPr>
            <a:r>
              <a:rPr lang="fr-FR" sz="1200" dirty="0"/>
              <a:t>Pas toujours efficace dans les grands ensembles de données d’entrainement.</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207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K Nearest Neighbors :</a:t>
            </a:r>
            <a:r>
              <a:rPr lang="fr-FR" sz="2100" b="0" dirty="0"/>
              <a:t> avantages et inconvénients</a:t>
            </a:r>
          </a:p>
        </p:txBody>
      </p:sp>
    </p:spTree>
    <p:extLst>
      <p:ext uri="{BB962C8B-B14F-4D97-AF65-F5344CB8AC3E}">
        <p14:creationId xmlns:p14="http://schemas.microsoft.com/office/powerpoint/2010/main" val="1331293415"/>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Support Vector Machine</a:t>
            </a:r>
          </a:p>
        </p:txBody>
      </p:sp>
    </p:spTree>
    <p:extLst>
      <p:ext uri="{BB962C8B-B14F-4D97-AF65-F5344CB8AC3E}">
        <p14:creationId xmlns:p14="http://schemas.microsoft.com/office/powerpoint/2010/main" val="192708855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209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Support Vector Machine :</a:t>
            </a:r>
            <a:r>
              <a:rPr lang="fr-FR" sz="2100" b="0" dirty="0"/>
              <a:t> intuition</a:t>
            </a:r>
          </a:p>
        </p:txBody>
      </p:sp>
      <p:sp>
        <p:nvSpPr>
          <p:cNvPr id="7" name="Freeform: Shape 32">
            <a:extLst>
              <a:ext uri="{FF2B5EF4-FFF2-40B4-BE49-F238E27FC236}">
                <a16:creationId xmlns:a16="http://schemas.microsoft.com/office/drawing/2014/main" id="{3A086BA6-2CB9-4A65-9873-1EEAA9AF0B26}"/>
              </a:ext>
            </a:extLst>
          </p:cNvPr>
          <p:cNvSpPr/>
          <p:nvPr/>
        </p:nvSpPr>
        <p:spPr>
          <a:xfrm>
            <a:off x="2481738" y="3153440"/>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3">
              <a:lumMod val="75000"/>
            </a:schemeClr>
          </a:solidFill>
          <a:ln w="12700">
            <a:miter lim="400000"/>
          </a:ln>
        </p:spPr>
        <p:txBody>
          <a:bodyPr wrap="square" lIns="720090" tIns="21431" rIns="21431" bIns="21431" anchor="ctr">
            <a:noAutofit/>
          </a:bodyPr>
          <a:lstStyle/>
          <a:p>
            <a:pPr>
              <a:lnSpc>
                <a:spcPts val="900"/>
              </a:lnSpc>
            </a:pPr>
            <a:r>
              <a:rPr lang="en-US" sz="788" noProof="1">
                <a:solidFill>
                  <a:srgbClr val="FFFFFF"/>
                </a:solidFill>
              </a:rPr>
              <a:t>Code Python</a:t>
            </a:r>
          </a:p>
        </p:txBody>
      </p:sp>
      <p:sp>
        <p:nvSpPr>
          <p:cNvPr id="8" name="Freeform: Shape 30">
            <a:extLst>
              <a:ext uri="{FF2B5EF4-FFF2-40B4-BE49-F238E27FC236}">
                <a16:creationId xmlns:a16="http://schemas.microsoft.com/office/drawing/2014/main" id="{B46983E0-D05B-430D-92B7-F0359C5082C9}"/>
              </a:ext>
            </a:extLst>
          </p:cNvPr>
          <p:cNvSpPr/>
          <p:nvPr/>
        </p:nvSpPr>
        <p:spPr>
          <a:xfrm>
            <a:off x="2481738" y="2814000"/>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5">
              <a:lumMod val="75000"/>
            </a:schemeClr>
          </a:solidFill>
          <a:ln w="12700">
            <a:miter lim="400000"/>
          </a:ln>
        </p:spPr>
        <p:txBody>
          <a:bodyPr wrap="square" lIns="874395" tIns="21431" rIns="21431" bIns="21431" anchor="ctr">
            <a:noAutofit/>
          </a:bodyPr>
          <a:lstStyle/>
          <a:p>
            <a:pPr>
              <a:lnSpc>
                <a:spcPts val="900"/>
              </a:lnSpc>
            </a:pPr>
            <a:r>
              <a:rPr lang="en-US" sz="788" noProof="1">
                <a:solidFill>
                  <a:srgbClr val="FFFFFF"/>
                </a:solidFill>
              </a:rPr>
              <a:t>Avantages et inconvénients</a:t>
            </a:r>
          </a:p>
        </p:txBody>
      </p:sp>
      <p:sp>
        <p:nvSpPr>
          <p:cNvPr id="9" name="Freeform: Shape 28">
            <a:extLst>
              <a:ext uri="{FF2B5EF4-FFF2-40B4-BE49-F238E27FC236}">
                <a16:creationId xmlns:a16="http://schemas.microsoft.com/office/drawing/2014/main" id="{80977EC2-EEB1-48A5-885E-95DE2418DCC5}"/>
              </a:ext>
            </a:extLst>
          </p:cNvPr>
          <p:cNvSpPr/>
          <p:nvPr/>
        </p:nvSpPr>
        <p:spPr>
          <a:xfrm>
            <a:off x="2481738" y="2474559"/>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2">
              <a:lumMod val="75000"/>
            </a:schemeClr>
          </a:solidFill>
          <a:ln w="12700">
            <a:miter lim="400000"/>
          </a:ln>
        </p:spPr>
        <p:txBody>
          <a:bodyPr wrap="square" lIns="977265" tIns="21431" rIns="21431" bIns="21431" anchor="ctr">
            <a:noAutofit/>
          </a:bodyPr>
          <a:lstStyle/>
          <a:p>
            <a:pPr>
              <a:lnSpc>
                <a:spcPts val="900"/>
              </a:lnSpc>
            </a:pPr>
            <a:r>
              <a:rPr lang="en-US" sz="788" noProof="1">
                <a:solidFill>
                  <a:srgbClr val="FFFFFF"/>
                </a:solidFill>
              </a:rPr>
              <a:t>Représentation graphique</a:t>
            </a:r>
          </a:p>
        </p:txBody>
      </p:sp>
      <p:sp>
        <p:nvSpPr>
          <p:cNvPr id="10" name="Freeform: Shape 26">
            <a:extLst>
              <a:ext uri="{FF2B5EF4-FFF2-40B4-BE49-F238E27FC236}">
                <a16:creationId xmlns:a16="http://schemas.microsoft.com/office/drawing/2014/main" id="{BF74F5BF-8C99-4383-ABBB-7A28F43534C9}"/>
              </a:ext>
            </a:extLst>
          </p:cNvPr>
          <p:cNvSpPr/>
          <p:nvPr/>
        </p:nvSpPr>
        <p:spPr>
          <a:xfrm>
            <a:off x="2481738" y="2135119"/>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6">
              <a:lumMod val="75000"/>
            </a:schemeClr>
          </a:solidFill>
          <a:ln w="12700">
            <a:miter lim="400000"/>
          </a:ln>
        </p:spPr>
        <p:txBody>
          <a:bodyPr wrap="square" lIns="874395" tIns="21431" rIns="21431" bIns="21431" anchor="ctr">
            <a:noAutofit/>
          </a:bodyPr>
          <a:lstStyle/>
          <a:p>
            <a:pPr>
              <a:lnSpc>
                <a:spcPts val="900"/>
              </a:lnSpc>
            </a:pPr>
            <a:r>
              <a:rPr lang="en-US" sz="788" noProof="1">
                <a:solidFill>
                  <a:srgbClr val="FFFFFF"/>
                </a:solidFill>
              </a:rPr>
              <a:t>Fonctionnement</a:t>
            </a:r>
          </a:p>
        </p:txBody>
      </p:sp>
      <p:sp>
        <p:nvSpPr>
          <p:cNvPr id="11" name="Freeform: Shape 24">
            <a:extLst>
              <a:ext uri="{FF2B5EF4-FFF2-40B4-BE49-F238E27FC236}">
                <a16:creationId xmlns:a16="http://schemas.microsoft.com/office/drawing/2014/main" id="{B7610973-10C8-424A-AA96-98F553A3A3BD}"/>
              </a:ext>
            </a:extLst>
          </p:cNvPr>
          <p:cNvSpPr/>
          <p:nvPr/>
        </p:nvSpPr>
        <p:spPr>
          <a:xfrm>
            <a:off x="2481738" y="1795678"/>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4">
              <a:lumMod val="75000"/>
            </a:schemeClr>
          </a:solidFill>
          <a:ln w="12700">
            <a:miter lim="400000"/>
          </a:ln>
        </p:spPr>
        <p:txBody>
          <a:bodyPr wrap="square" lIns="720090" tIns="21431" rIns="21431" bIns="21431" anchor="ctr">
            <a:noAutofit/>
          </a:bodyPr>
          <a:lstStyle/>
          <a:p>
            <a:pPr>
              <a:lnSpc>
                <a:spcPts val="900"/>
              </a:lnSpc>
            </a:pPr>
            <a:r>
              <a:rPr lang="en-US" sz="788" noProof="1">
                <a:solidFill>
                  <a:schemeClr val="bg1"/>
                </a:solidFill>
              </a:rPr>
              <a:t>Intuition</a:t>
            </a:r>
          </a:p>
        </p:txBody>
      </p:sp>
      <p:sp>
        <p:nvSpPr>
          <p:cNvPr id="12" name="Shape">
            <a:extLst>
              <a:ext uri="{FF2B5EF4-FFF2-40B4-BE49-F238E27FC236}">
                <a16:creationId xmlns:a16="http://schemas.microsoft.com/office/drawing/2014/main" id="{C9EA4B84-CAA6-4668-A848-88169F51D8CB}"/>
              </a:ext>
            </a:extLst>
          </p:cNvPr>
          <p:cNvSpPr/>
          <p:nvPr/>
        </p:nvSpPr>
        <p:spPr>
          <a:xfrm>
            <a:off x="2267940" y="3153440"/>
            <a:ext cx="837287"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16638" y="21600"/>
                </a:lnTo>
                <a:cubicBezTo>
                  <a:pt x="18614" y="15120"/>
                  <a:pt x="20298" y="7920"/>
                  <a:pt x="21600" y="0"/>
                </a:cubicBezTo>
                <a:lnTo>
                  <a:pt x="3705" y="0"/>
                </a:lnTo>
                <a:cubicBezTo>
                  <a:pt x="1662" y="0"/>
                  <a:pt x="0" y="4844"/>
                  <a:pt x="0" y="10800"/>
                </a:cubicBezTo>
                <a:close/>
              </a:path>
            </a:pathLst>
          </a:custGeom>
          <a:solidFill>
            <a:schemeClr val="accent3"/>
          </a:solidFill>
          <a:ln w="12700">
            <a:miter lim="400000"/>
          </a:ln>
        </p:spPr>
        <p:txBody>
          <a:bodyPr lIns="21431" tIns="21431" rIns="21431" bIns="21431" anchor="ctr"/>
          <a:lstStyle/>
          <a:p>
            <a:pPr>
              <a:defRPr sz="3000">
                <a:solidFill>
                  <a:srgbClr val="FFFFFF"/>
                </a:solidFill>
              </a:defRPr>
            </a:pPr>
            <a:endParaRPr sz="1688" dirty="0"/>
          </a:p>
        </p:txBody>
      </p:sp>
      <p:sp>
        <p:nvSpPr>
          <p:cNvPr id="13" name="Shape">
            <a:extLst>
              <a:ext uri="{FF2B5EF4-FFF2-40B4-BE49-F238E27FC236}">
                <a16:creationId xmlns:a16="http://schemas.microsoft.com/office/drawing/2014/main" id="{48C86B05-672D-4723-8CF4-070A815CA4C6}"/>
              </a:ext>
            </a:extLst>
          </p:cNvPr>
          <p:cNvSpPr/>
          <p:nvPr/>
        </p:nvSpPr>
        <p:spPr>
          <a:xfrm>
            <a:off x="2267939" y="2814000"/>
            <a:ext cx="943470"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19707" y="21600"/>
                </a:lnTo>
                <a:cubicBezTo>
                  <a:pt x="20584" y="14793"/>
                  <a:pt x="21241" y="7527"/>
                  <a:pt x="21600" y="0"/>
                </a:cubicBezTo>
                <a:lnTo>
                  <a:pt x="3288" y="0"/>
                </a:lnTo>
                <a:cubicBezTo>
                  <a:pt x="1475" y="0"/>
                  <a:pt x="0" y="4844"/>
                  <a:pt x="0" y="10800"/>
                </a:cubicBezTo>
                <a:close/>
              </a:path>
            </a:pathLst>
          </a:custGeom>
          <a:solidFill>
            <a:schemeClr val="accent5"/>
          </a:solidFill>
          <a:ln w="12700">
            <a:miter lim="400000"/>
          </a:ln>
        </p:spPr>
        <p:txBody>
          <a:bodyPr lIns="21431" tIns="21431" rIns="21431" bIns="21431" anchor="ctr"/>
          <a:lstStyle/>
          <a:p>
            <a:pPr>
              <a:defRPr sz="3000">
                <a:solidFill>
                  <a:srgbClr val="FFFFFF"/>
                </a:solidFill>
              </a:defRPr>
            </a:pPr>
            <a:endParaRPr sz="1688" dirty="0"/>
          </a:p>
        </p:txBody>
      </p:sp>
      <p:sp>
        <p:nvSpPr>
          <p:cNvPr id="15" name="Shape">
            <a:extLst>
              <a:ext uri="{FF2B5EF4-FFF2-40B4-BE49-F238E27FC236}">
                <a16:creationId xmlns:a16="http://schemas.microsoft.com/office/drawing/2014/main" id="{3B5CFE74-B517-45AF-A5F8-8AE9380CBDEF}"/>
              </a:ext>
            </a:extLst>
          </p:cNvPr>
          <p:cNvSpPr/>
          <p:nvPr/>
        </p:nvSpPr>
        <p:spPr>
          <a:xfrm>
            <a:off x="2267939" y="2474559"/>
            <a:ext cx="960009"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49" y="21600"/>
                  <a:pt x="3231" y="21600"/>
                </a:cubicBezTo>
                <a:lnTo>
                  <a:pt x="21404" y="21600"/>
                </a:lnTo>
                <a:cubicBezTo>
                  <a:pt x="21522" y="18065"/>
                  <a:pt x="21600" y="14465"/>
                  <a:pt x="21600" y="10800"/>
                </a:cubicBezTo>
                <a:cubicBezTo>
                  <a:pt x="21600" y="7135"/>
                  <a:pt x="21541" y="3535"/>
                  <a:pt x="21404" y="0"/>
                </a:cubicBezTo>
                <a:lnTo>
                  <a:pt x="3231" y="0"/>
                </a:lnTo>
                <a:cubicBezTo>
                  <a:pt x="1449" y="0"/>
                  <a:pt x="0" y="4844"/>
                  <a:pt x="0" y="10800"/>
                </a:cubicBezTo>
                <a:close/>
              </a:path>
            </a:pathLst>
          </a:custGeom>
          <a:solidFill>
            <a:schemeClr val="accent2"/>
          </a:solidFill>
          <a:ln w="12700">
            <a:miter lim="400000"/>
          </a:ln>
        </p:spPr>
        <p:txBody>
          <a:bodyPr lIns="21431" tIns="21431" rIns="21431" bIns="21431" anchor="ctr"/>
          <a:lstStyle/>
          <a:p>
            <a:pPr>
              <a:defRPr sz="3000">
                <a:solidFill>
                  <a:srgbClr val="FFFFFF"/>
                </a:solidFill>
              </a:defRPr>
            </a:pPr>
            <a:endParaRPr sz="1688" dirty="0"/>
          </a:p>
        </p:txBody>
      </p:sp>
      <p:sp>
        <p:nvSpPr>
          <p:cNvPr id="16" name="Shape">
            <a:extLst>
              <a:ext uri="{FF2B5EF4-FFF2-40B4-BE49-F238E27FC236}">
                <a16:creationId xmlns:a16="http://schemas.microsoft.com/office/drawing/2014/main" id="{D65B93AD-8792-4B50-9E5B-0924412CE16A}"/>
              </a:ext>
            </a:extLst>
          </p:cNvPr>
          <p:cNvSpPr/>
          <p:nvPr/>
        </p:nvSpPr>
        <p:spPr>
          <a:xfrm>
            <a:off x="2267939" y="2135119"/>
            <a:ext cx="943470"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21600" y="21600"/>
                </a:lnTo>
                <a:cubicBezTo>
                  <a:pt x="21241" y="14073"/>
                  <a:pt x="20584" y="6807"/>
                  <a:pt x="19707" y="0"/>
                </a:cubicBezTo>
                <a:lnTo>
                  <a:pt x="3288" y="0"/>
                </a:lnTo>
                <a:cubicBezTo>
                  <a:pt x="1475" y="0"/>
                  <a:pt x="0" y="4844"/>
                  <a:pt x="0" y="10800"/>
                </a:cubicBezTo>
                <a:close/>
              </a:path>
            </a:pathLst>
          </a:custGeom>
          <a:solidFill>
            <a:schemeClr val="accent6"/>
          </a:solidFill>
          <a:ln w="12700">
            <a:miter lim="400000"/>
          </a:ln>
        </p:spPr>
        <p:txBody>
          <a:bodyPr lIns="21431" tIns="21431" rIns="21431" bIns="21431" anchor="ctr"/>
          <a:lstStyle/>
          <a:p>
            <a:pPr>
              <a:defRPr sz="3000">
                <a:solidFill>
                  <a:srgbClr val="FFFFFF"/>
                </a:solidFill>
              </a:defRPr>
            </a:pPr>
            <a:endParaRPr sz="1688" dirty="0"/>
          </a:p>
        </p:txBody>
      </p:sp>
      <p:sp>
        <p:nvSpPr>
          <p:cNvPr id="17" name="Shape">
            <a:extLst>
              <a:ext uri="{FF2B5EF4-FFF2-40B4-BE49-F238E27FC236}">
                <a16:creationId xmlns:a16="http://schemas.microsoft.com/office/drawing/2014/main" id="{62CB9507-704C-4014-A887-179A522F43D2}"/>
              </a:ext>
            </a:extLst>
          </p:cNvPr>
          <p:cNvSpPr/>
          <p:nvPr/>
        </p:nvSpPr>
        <p:spPr>
          <a:xfrm>
            <a:off x="2267940" y="1795678"/>
            <a:ext cx="837287"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21600" y="21600"/>
                </a:lnTo>
                <a:cubicBezTo>
                  <a:pt x="20298" y="13745"/>
                  <a:pt x="18614" y="6480"/>
                  <a:pt x="16638" y="0"/>
                </a:cubicBezTo>
                <a:lnTo>
                  <a:pt x="3705" y="0"/>
                </a:lnTo>
                <a:cubicBezTo>
                  <a:pt x="1662" y="65"/>
                  <a:pt x="0" y="4844"/>
                  <a:pt x="0" y="10800"/>
                </a:cubicBezTo>
                <a:close/>
              </a:path>
            </a:pathLst>
          </a:custGeom>
          <a:solidFill>
            <a:schemeClr val="accent4"/>
          </a:solidFill>
          <a:ln w="12700">
            <a:miter lim="400000"/>
          </a:ln>
        </p:spPr>
        <p:txBody>
          <a:bodyPr lIns="21431" tIns="21431" rIns="21431" bIns="21431" anchor="ctr"/>
          <a:lstStyle/>
          <a:p>
            <a:pPr>
              <a:defRPr sz="3000">
                <a:solidFill>
                  <a:srgbClr val="FFFFFF"/>
                </a:solidFill>
              </a:defRPr>
            </a:pPr>
            <a:endParaRPr sz="1688" dirty="0"/>
          </a:p>
        </p:txBody>
      </p:sp>
      <p:pic>
        <p:nvPicPr>
          <p:cNvPr id="18" name="Graphic 14" descr="Livres">
            <a:extLst>
              <a:ext uri="{FF2B5EF4-FFF2-40B4-BE49-F238E27FC236}">
                <a16:creationId xmlns:a16="http://schemas.microsoft.com/office/drawing/2014/main" id="{DAF92236-C804-4F93-8EE3-2A46265317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1813174"/>
            <a:ext cx="252228" cy="252228"/>
          </a:xfrm>
          <a:prstGeom prst="rect">
            <a:avLst/>
          </a:prstGeom>
        </p:spPr>
      </p:pic>
      <p:pic>
        <p:nvPicPr>
          <p:cNvPr id="19" name="Graphic 16" descr="Livres">
            <a:extLst>
              <a:ext uri="{FF2B5EF4-FFF2-40B4-BE49-F238E27FC236}">
                <a16:creationId xmlns:a16="http://schemas.microsoft.com/office/drawing/2014/main" id="{6E828754-C71D-4F54-A1AE-542FCD8CB09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3170936"/>
            <a:ext cx="252228" cy="252228"/>
          </a:xfrm>
          <a:prstGeom prst="rect">
            <a:avLst/>
          </a:prstGeom>
        </p:spPr>
      </p:pic>
      <p:pic>
        <p:nvPicPr>
          <p:cNvPr id="20" name="Graphic 18" descr="Livres">
            <a:extLst>
              <a:ext uri="{FF2B5EF4-FFF2-40B4-BE49-F238E27FC236}">
                <a16:creationId xmlns:a16="http://schemas.microsoft.com/office/drawing/2014/main" id="{8EF336B3-CF9A-46CF-8FF3-899B86353B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2152615"/>
            <a:ext cx="252228" cy="252228"/>
          </a:xfrm>
          <a:prstGeom prst="rect">
            <a:avLst/>
          </a:prstGeom>
        </p:spPr>
      </p:pic>
      <p:pic>
        <p:nvPicPr>
          <p:cNvPr id="22" name="Graphic 20" descr="Livres">
            <a:extLst>
              <a:ext uri="{FF2B5EF4-FFF2-40B4-BE49-F238E27FC236}">
                <a16:creationId xmlns:a16="http://schemas.microsoft.com/office/drawing/2014/main" id="{0F0D991A-F096-4878-9854-87F8829ADD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2492055"/>
            <a:ext cx="252228" cy="252228"/>
          </a:xfrm>
          <a:prstGeom prst="rect">
            <a:avLst/>
          </a:prstGeom>
        </p:spPr>
      </p:pic>
      <p:pic>
        <p:nvPicPr>
          <p:cNvPr id="23" name="Graphic 22" descr="Livres">
            <a:extLst>
              <a:ext uri="{FF2B5EF4-FFF2-40B4-BE49-F238E27FC236}">
                <a16:creationId xmlns:a16="http://schemas.microsoft.com/office/drawing/2014/main" id="{FA484907-A4E8-492F-BA70-3FB6114FC0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2831495"/>
            <a:ext cx="252228" cy="252228"/>
          </a:xfrm>
          <a:prstGeom prst="rect">
            <a:avLst/>
          </a:prstGeom>
        </p:spPr>
      </p:pic>
    </p:spTree>
    <p:extLst>
      <p:ext uri="{BB962C8B-B14F-4D97-AF65-F5344CB8AC3E}">
        <p14:creationId xmlns:p14="http://schemas.microsoft.com/office/powerpoint/2010/main" val="2211931230"/>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lvl="1" algn="just">
              <a:lnSpc>
                <a:spcPct val="150000"/>
              </a:lnSpc>
              <a:buClr>
                <a:schemeClr val="accent2"/>
              </a:buClr>
            </a:pPr>
            <a:r>
              <a:rPr lang="fr-FR" sz="1350" dirty="0"/>
              <a:t>Les machines à vecteurs de support sont un ensemble de méthodes d'apprentissage supervisé utilisées pour la classification, la régression et la détection des valeurs aberrantes.</a:t>
            </a:r>
          </a:p>
          <a:p>
            <a:pPr lvl="1" algn="just">
              <a:lnSpc>
                <a:spcPct val="150000"/>
              </a:lnSpc>
              <a:buClr>
                <a:schemeClr val="accent2"/>
              </a:buClr>
            </a:pPr>
            <a:endParaRPr lang="fr-FR" sz="1350" dirty="0"/>
          </a:p>
          <a:p>
            <a:pPr lvl="1" algn="just">
              <a:lnSpc>
                <a:spcPct val="150000"/>
              </a:lnSpc>
              <a:buClr>
                <a:schemeClr val="accent2"/>
              </a:buClr>
            </a:pPr>
            <a:r>
              <a:rPr lang="fr-FR" sz="1350" dirty="0"/>
              <a:t>L'objectif du SVM est de trouver l'hyperplan de séparation optimal qui maximise la séparabilité des données d'apprentissage :</a:t>
            </a:r>
          </a:p>
          <a:p>
            <a:pPr lvl="2" algn="just">
              <a:lnSpc>
                <a:spcPct val="150000"/>
              </a:lnSpc>
              <a:buClr>
                <a:schemeClr val="accent2"/>
              </a:buClr>
            </a:pPr>
            <a:r>
              <a:rPr lang="fr-FR" sz="1200" dirty="0"/>
              <a:t>L'hyperplan doit être aussi éloigné que possible des points de données.</a:t>
            </a:r>
          </a:p>
          <a:p>
            <a:pPr lvl="2" algn="just">
              <a:lnSpc>
                <a:spcPct val="150000"/>
              </a:lnSpc>
              <a:buClr>
                <a:schemeClr val="accent2"/>
              </a:buClr>
            </a:pPr>
            <a:r>
              <a:rPr lang="fr-FR" sz="1200" dirty="0"/>
              <a:t>L'hyperplan à marge étroite conduit à une mauvaise classification.</a:t>
            </a:r>
          </a:p>
          <a:p>
            <a:pPr lvl="2" algn="just">
              <a:lnSpc>
                <a:spcPct val="150000"/>
              </a:lnSpc>
              <a:buClr>
                <a:schemeClr val="accent2"/>
              </a:buClr>
            </a:pPr>
            <a:r>
              <a:rPr lang="fr-FR" sz="1200" dirty="0"/>
              <a:t>Notre objectif est de maximiser la marge.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210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Support Vector Machine :</a:t>
            </a:r>
            <a:r>
              <a:rPr lang="fr-FR" sz="2100" b="0" dirty="0"/>
              <a:t> intuition</a:t>
            </a:r>
          </a:p>
        </p:txBody>
      </p:sp>
    </p:spTree>
    <p:extLst>
      <p:ext uri="{BB962C8B-B14F-4D97-AF65-F5344CB8AC3E}">
        <p14:creationId xmlns:p14="http://schemas.microsoft.com/office/powerpoint/2010/main" val="731172993"/>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lvl="1" algn="just">
              <a:lnSpc>
                <a:spcPct val="150000"/>
              </a:lnSpc>
              <a:buClr>
                <a:schemeClr val="accent2"/>
              </a:buClr>
            </a:pPr>
            <a:r>
              <a:rPr lang="fr-FR" sz="1350" dirty="0"/>
              <a:t>Un classificateur SVM linéaire simple fonctionne en créant une ligne droite entre deux classes.</a:t>
            </a:r>
          </a:p>
          <a:p>
            <a:pPr lvl="1" algn="just">
              <a:lnSpc>
                <a:spcPct val="150000"/>
              </a:lnSpc>
              <a:buClr>
                <a:schemeClr val="accent2"/>
              </a:buClr>
            </a:pPr>
            <a:r>
              <a:rPr lang="fr-FR" sz="1350" dirty="0"/>
              <a:t>Les SVM sont différents des autres algorithmes de classification en raison de la façon dont ils choisissent la limite de décision qui maximise la distance par rapport aux points de données les plus proches de toutes les classes. </a:t>
            </a:r>
          </a:p>
          <a:p>
            <a:pPr lvl="1" algn="just">
              <a:lnSpc>
                <a:spcPct val="150000"/>
              </a:lnSpc>
              <a:buClr>
                <a:schemeClr val="accent2"/>
              </a:buClr>
            </a:pPr>
            <a:r>
              <a:rPr lang="fr-FR" sz="1350" dirty="0"/>
              <a:t>La frontière de décision créée par les SVM est appelée classificateur de marge maximale ou hyperplan de marge maximale (ou encore </a:t>
            </a:r>
            <a:r>
              <a:rPr lang="fr-FR" sz="1350" b="1" dirty="0"/>
              <a:t>séparateur à vaste marge</a:t>
            </a:r>
            <a:r>
              <a:rPr lang="fr-FR" sz="1350" dirty="0"/>
              <a:t>).</a:t>
            </a:r>
            <a:endParaRPr lang="fr-FR" sz="1200" dirty="0"/>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211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Support Vector Machine :</a:t>
            </a:r>
            <a:r>
              <a:rPr lang="fr-FR" sz="2100" b="0" dirty="0"/>
              <a:t> fonctionnement</a:t>
            </a:r>
          </a:p>
        </p:txBody>
      </p:sp>
    </p:spTree>
    <p:extLst>
      <p:ext uri="{BB962C8B-B14F-4D97-AF65-F5344CB8AC3E}">
        <p14:creationId xmlns:p14="http://schemas.microsoft.com/office/powerpoint/2010/main" val="3643992096"/>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212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Support Vector Machine :</a:t>
            </a:r>
            <a:r>
              <a:rPr lang="fr-FR" sz="2100" b="0" dirty="0"/>
              <a:t> hyperplan optimal</a:t>
            </a:r>
          </a:p>
        </p:txBody>
      </p:sp>
      <p:pic>
        <p:nvPicPr>
          <p:cNvPr id="4" name="Image 3">
            <a:extLst>
              <a:ext uri="{FF2B5EF4-FFF2-40B4-BE49-F238E27FC236}">
                <a16:creationId xmlns:a16="http://schemas.microsoft.com/office/drawing/2014/main" id="{024481BA-682A-4A21-A710-2DDD14F8FEC4}"/>
              </a:ext>
            </a:extLst>
          </p:cNvPr>
          <p:cNvPicPr>
            <a:picLocks noChangeAspect="1"/>
          </p:cNvPicPr>
          <p:nvPr/>
        </p:nvPicPr>
        <p:blipFill>
          <a:blip r:embed="rId2"/>
          <a:stretch>
            <a:fillRect/>
          </a:stretch>
        </p:blipFill>
        <p:spPr>
          <a:xfrm>
            <a:off x="2838830" y="1209444"/>
            <a:ext cx="3466342" cy="2724614"/>
          </a:xfrm>
          <a:prstGeom prst="rect">
            <a:avLst/>
          </a:prstGeom>
        </p:spPr>
      </p:pic>
      <p:sp>
        <p:nvSpPr>
          <p:cNvPr id="8" name="Content Placeholder 15">
            <a:extLst>
              <a:ext uri="{FF2B5EF4-FFF2-40B4-BE49-F238E27FC236}">
                <a16:creationId xmlns:a16="http://schemas.microsoft.com/office/drawing/2014/main" id="{B181526D-8F84-44BC-BEA9-102892C00500}"/>
              </a:ext>
            </a:extLst>
          </p:cNvPr>
          <p:cNvSpPr>
            <a:spLocks noGrp="1"/>
          </p:cNvSpPr>
          <p:nvPr>
            <p:ph sz="half" idx="13"/>
          </p:nvPr>
        </p:nvSpPr>
        <p:spPr>
          <a:xfrm>
            <a:off x="795356" y="3648276"/>
            <a:ext cx="5891400" cy="1043040"/>
          </a:xfrm>
        </p:spPr>
        <p:txBody>
          <a:bodyPr>
            <a:noAutofit/>
          </a:bodyPr>
          <a:lstStyle/>
          <a:p>
            <a:pPr lvl="1" algn="just">
              <a:lnSpc>
                <a:spcPct val="150000"/>
              </a:lnSpc>
              <a:buClr>
                <a:schemeClr val="accent2"/>
              </a:buClr>
            </a:pPr>
            <a:r>
              <a:rPr lang="fr-FR" sz="1350" dirty="0"/>
              <a:t>Marge :</a:t>
            </a:r>
          </a:p>
          <a:p>
            <a:pPr lvl="2" algn="just">
              <a:lnSpc>
                <a:spcPct val="150000"/>
              </a:lnSpc>
              <a:buClr>
                <a:schemeClr val="accent2"/>
              </a:buClr>
            </a:pPr>
            <a:r>
              <a:rPr lang="fr-FR" sz="1200" dirty="0"/>
              <a:t>C’est la distance entre l'hyperplan et les points de données les plus proches.</a:t>
            </a:r>
          </a:p>
          <a:p>
            <a:pPr lvl="2" algn="just">
              <a:lnSpc>
                <a:spcPct val="150000"/>
              </a:lnSpc>
              <a:buClr>
                <a:schemeClr val="accent2"/>
              </a:buClr>
            </a:pPr>
            <a:r>
              <a:rPr lang="fr-FR" sz="1200" dirty="0"/>
              <a:t>Une marge plus grande réduit les risques d'erreur de classification.</a:t>
            </a:r>
          </a:p>
        </p:txBody>
      </p:sp>
    </p:spTree>
    <p:extLst>
      <p:ext uri="{BB962C8B-B14F-4D97-AF65-F5344CB8AC3E}">
        <p14:creationId xmlns:p14="http://schemas.microsoft.com/office/powerpoint/2010/main" val="1803330051"/>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marL="342900" lvl="1" indent="0" algn="just">
                  <a:lnSpc>
                    <a:spcPct val="150000"/>
                  </a:lnSpc>
                  <a:buClr>
                    <a:schemeClr val="accent2"/>
                  </a:buClr>
                  <a:buNone/>
                </a:pPr>
                <a:r>
                  <a:rPr lang="fr-FR" sz="1200" b="1" dirty="0"/>
                  <a:t>Linéaire</a:t>
                </a:r>
              </a:p>
              <a:p>
                <a:pPr lvl="1" algn="just">
                  <a:lnSpc>
                    <a:spcPct val="150000"/>
                  </a:lnSpc>
                  <a:buClr>
                    <a:schemeClr val="accent2"/>
                  </a:buClr>
                </a:pPr>
                <a:r>
                  <a:rPr lang="fr-FR" sz="1200" dirty="0"/>
                  <a:t>Recommandé pour la classification de texte car la plupart de ces types de problèmes de classification sont linéairement séparables.</a:t>
                </a:r>
              </a:p>
              <a:p>
                <a:pPr lvl="1" algn="just">
                  <a:lnSpc>
                    <a:spcPct val="150000"/>
                  </a:lnSpc>
                  <a:buClr>
                    <a:schemeClr val="accent2"/>
                  </a:buClr>
                </a:pPr>
                <a:r>
                  <a:rPr lang="fr-FR" sz="1200" dirty="0"/>
                  <a:t>Le noyau linéaire fonctionne très bien lorsqu'il y a beaucoup de features, et les problèmes de classification de texte en ont beaucoup.</a:t>
                </a:r>
              </a:p>
              <a:p>
                <a:pPr lvl="1" algn="just">
                  <a:lnSpc>
                    <a:spcPct val="150000"/>
                  </a:lnSpc>
                  <a:buClr>
                    <a:schemeClr val="accent2"/>
                  </a:buClr>
                </a:pPr>
                <a:r>
                  <a:rPr lang="fr-FR" sz="1200" dirty="0"/>
                  <a:t>Les fonctions linéaires du noyau sont plus rapides que la plupart des autres et il y a moins de paramètres à optimiser.</a:t>
                </a:r>
              </a:p>
              <a:p>
                <a:pPr marL="342900" lvl="1" indent="0" algn="just">
                  <a:lnSpc>
                    <a:spcPct val="150000"/>
                  </a:lnSpc>
                  <a:buClr>
                    <a:schemeClr val="accent2"/>
                  </a:buClr>
                  <a:buNone/>
                </a:pPr>
                <a14:m>
                  <m:oMathPara xmlns:m="http://schemas.openxmlformats.org/officeDocument/2006/math">
                    <m:oMathParaPr>
                      <m:jc m:val="center"/>
                    </m:oMathParaPr>
                    <m:oMath xmlns:m="http://schemas.openxmlformats.org/officeDocument/2006/math">
                      <m:r>
                        <a:rPr lang="pl-PL" sz="1200" i="1" dirty="0">
                          <a:latin typeface="Cambria Math" panose="02040503050406030204" pitchFamily="18" charset="0"/>
                        </a:rPr>
                        <m:t>𝑓</m:t>
                      </m:r>
                      <m:r>
                        <a:rPr lang="pl-PL" sz="1200" i="1" dirty="0">
                          <a:latin typeface="Cambria Math" panose="02040503050406030204" pitchFamily="18" charset="0"/>
                        </a:rPr>
                        <m:t>(</m:t>
                      </m:r>
                      <m:r>
                        <a:rPr lang="pl-PL" sz="1200" i="1" dirty="0">
                          <a:latin typeface="Cambria Math" panose="02040503050406030204" pitchFamily="18" charset="0"/>
                        </a:rPr>
                        <m:t>𝑋</m:t>
                      </m:r>
                      <m:r>
                        <a:rPr lang="pl-PL" sz="1200" i="1" dirty="0">
                          <a:latin typeface="Cambria Math" panose="02040503050406030204" pitchFamily="18" charset="0"/>
                        </a:rPr>
                        <m:t>) = </m:t>
                      </m:r>
                      <m:sSup>
                        <m:sSupPr>
                          <m:ctrlPr>
                            <a:rPr lang="pl-PL" sz="1200" i="1" dirty="0">
                              <a:latin typeface="Cambria Math" panose="02040503050406030204" pitchFamily="18" charset="0"/>
                            </a:rPr>
                          </m:ctrlPr>
                        </m:sSupPr>
                        <m:e>
                          <m:r>
                            <a:rPr lang="fr-FR" sz="1200" i="1" dirty="0">
                              <a:latin typeface="Cambria Math" panose="02040503050406030204" pitchFamily="18" charset="0"/>
                            </a:rPr>
                            <m:t>𝑤</m:t>
                          </m:r>
                        </m:e>
                        <m:sup>
                          <m:r>
                            <a:rPr lang="fr-FR" sz="1200" i="1" dirty="0">
                              <a:latin typeface="Cambria Math" panose="02040503050406030204" pitchFamily="18" charset="0"/>
                            </a:rPr>
                            <m:t>𝑇</m:t>
                          </m:r>
                        </m:sup>
                      </m:sSup>
                      <m:r>
                        <a:rPr lang="pl-PL" sz="1200" i="1" dirty="0">
                          <a:latin typeface="Cambria Math" panose="02040503050406030204" pitchFamily="18" charset="0"/>
                        </a:rPr>
                        <m:t> </m:t>
                      </m:r>
                      <m:r>
                        <a:rPr lang="pl-PL" sz="1200" i="1" dirty="0">
                          <a:latin typeface="Cambria Math" panose="02040503050406030204" pitchFamily="18" charset="0"/>
                          <a:ea typeface="Cambria Math" panose="02040503050406030204" pitchFamily="18" charset="0"/>
                        </a:rPr>
                        <m:t>×</m:t>
                      </m:r>
                      <m:r>
                        <a:rPr lang="pl-PL" sz="1200" i="1" dirty="0">
                          <a:latin typeface="Cambria Math" panose="02040503050406030204" pitchFamily="18" charset="0"/>
                        </a:rPr>
                        <m:t> </m:t>
                      </m:r>
                      <m:r>
                        <a:rPr lang="pl-PL" sz="1200" i="1" dirty="0">
                          <a:latin typeface="Cambria Math" panose="02040503050406030204" pitchFamily="18" charset="0"/>
                        </a:rPr>
                        <m:t>𝑋</m:t>
                      </m:r>
                      <m:r>
                        <a:rPr lang="pl-PL" sz="1200" i="1" dirty="0">
                          <a:latin typeface="Cambria Math" panose="02040503050406030204" pitchFamily="18" charset="0"/>
                        </a:rPr>
                        <m:t> + </m:t>
                      </m:r>
                      <m:r>
                        <a:rPr lang="pl-PL" sz="1200" i="1" dirty="0">
                          <a:latin typeface="Cambria Math" panose="02040503050406030204" pitchFamily="18" charset="0"/>
                        </a:rPr>
                        <m:t>𝑏</m:t>
                      </m:r>
                    </m:oMath>
                  </m:oMathPara>
                </a14:m>
                <a:endParaRPr lang="fr-FR" sz="1200" dirty="0"/>
              </a:p>
              <a:p>
                <a:pPr lvl="1" algn="just">
                  <a:lnSpc>
                    <a:spcPct val="150000"/>
                  </a:lnSpc>
                  <a:buClr>
                    <a:schemeClr val="accent2"/>
                  </a:buClr>
                </a:pPr>
                <a:r>
                  <a:rPr lang="fr-FR" sz="1200" dirty="0"/>
                  <a:t>Dans cette équation, </a:t>
                </a:r>
                <a14:m>
                  <m:oMath xmlns:m="http://schemas.openxmlformats.org/officeDocument/2006/math">
                    <m:r>
                      <a:rPr lang="fr-FR" sz="1200" i="1" dirty="0">
                        <a:latin typeface="Cambria Math" panose="02040503050406030204" pitchFamily="18" charset="0"/>
                      </a:rPr>
                      <m:t>𝑤</m:t>
                    </m:r>
                  </m:oMath>
                </a14:m>
                <a:r>
                  <a:rPr lang="fr-FR" sz="1200" dirty="0"/>
                  <a:t> est le vecteur de poids que vous souhaitez minimiser, </a:t>
                </a:r>
                <a14:m>
                  <m:oMath xmlns:m="http://schemas.openxmlformats.org/officeDocument/2006/math">
                    <m:r>
                      <a:rPr lang="fr-FR" sz="1200" i="1" dirty="0">
                        <a:latin typeface="Cambria Math" panose="02040503050406030204" pitchFamily="18" charset="0"/>
                      </a:rPr>
                      <m:t>𝑋</m:t>
                    </m:r>
                  </m:oMath>
                </a14:m>
                <a:r>
                  <a:rPr lang="fr-FR" sz="1200" dirty="0"/>
                  <a:t> est les données que vous essayez de classer et </a:t>
                </a:r>
                <a14:m>
                  <m:oMath xmlns:m="http://schemas.openxmlformats.org/officeDocument/2006/math">
                    <m:r>
                      <a:rPr lang="fr-FR" sz="1200" i="1" dirty="0">
                        <a:latin typeface="Cambria Math" panose="02040503050406030204" pitchFamily="18" charset="0"/>
                      </a:rPr>
                      <m:t>𝑏</m:t>
                    </m:r>
                  </m:oMath>
                </a14:m>
                <a:r>
                  <a:rPr lang="fr-FR" sz="1200" dirty="0"/>
                  <a:t> est le coefficient linéaire estimé à partir des données d'apprentissage. Cette équation définit la limite de décision renvoyée par le SVM.</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1400" cy="3539258"/>
              </a:xfrm>
              <a:blipFill>
                <a:blip r:embed="rId2"/>
                <a:stretch>
                  <a:fillRect r="-1553" b="-1721"/>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213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Support Vector Machine :</a:t>
            </a:r>
            <a:r>
              <a:rPr lang="fr-FR" sz="2100" b="0" dirty="0"/>
              <a:t> fonction noyau (kernel)</a:t>
            </a:r>
          </a:p>
        </p:txBody>
      </p:sp>
      <p:pic>
        <p:nvPicPr>
          <p:cNvPr id="5" name="Image 4">
            <a:extLst>
              <a:ext uri="{FF2B5EF4-FFF2-40B4-BE49-F238E27FC236}">
                <a16:creationId xmlns:a16="http://schemas.microsoft.com/office/drawing/2014/main" id="{07235DB1-1A63-4A04-8AA8-449660E0B402}"/>
              </a:ext>
            </a:extLst>
          </p:cNvPr>
          <p:cNvPicPr>
            <a:picLocks noChangeAspect="1"/>
          </p:cNvPicPr>
          <p:nvPr/>
        </p:nvPicPr>
        <p:blipFill rotWithShape="1">
          <a:blip r:embed="rId3"/>
          <a:srcRect l="12476" t="57030" r="60026"/>
          <a:stretch/>
        </p:blipFill>
        <p:spPr>
          <a:xfrm>
            <a:off x="6831360" y="3610007"/>
            <a:ext cx="1335819" cy="1157256"/>
          </a:xfrm>
          <a:prstGeom prst="rect">
            <a:avLst/>
          </a:prstGeom>
        </p:spPr>
      </p:pic>
    </p:spTree>
    <p:extLst>
      <p:ext uri="{BB962C8B-B14F-4D97-AF65-F5344CB8AC3E}">
        <p14:creationId xmlns:p14="http://schemas.microsoft.com/office/powerpoint/2010/main" val="349670461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algn="just">
              <a:lnSpc>
                <a:spcPct val="100000"/>
              </a:lnSpc>
              <a:buClr>
                <a:schemeClr val="accent2"/>
              </a:buClr>
            </a:pPr>
            <a:r>
              <a:rPr lang="fr-FR" sz="1425" dirty="0"/>
              <a:t>Lorsque les données sont linéairement séparables, SVM trouve une frontière de décision linéaire qui sépare le plan en deux ou trois dimensions; voire un hyperplan de dimensions supérieures.</a:t>
            </a:r>
          </a:p>
          <a:p>
            <a:pPr algn="just">
              <a:lnSpc>
                <a:spcPct val="100000"/>
              </a:lnSpc>
              <a:buClr>
                <a:schemeClr val="accent2"/>
              </a:buClr>
            </a:pPr>
            <a:r>
              <a:rPr lang="fr-FR" sz="1425" dirty="0"/>
              <a:t>En revanche, la plupart du temps, les données d’entreprises ne sont pas toutes linéairement séparables.</a:t>
            </a:r>
          </a:p>
          <a:p>
            <a:pPr algn="just">
              <a:lnSpc>
                <a:spcPct val="100000"/>
              </a:lnSpc>
              <a:buClr>
                <a:schemeClr val="accent2"/>
              </a:buClr>
            </a:pPr>
            <a:r>
              <a:rPr lang="fr-FR" sz="1425" dirty="0"/>
              <a:t>Pour gérer ce type de cas, on utilise le kernel.</a:t>
            </a:r>
          </a:p>
          <a:p>
            <a:pPr algn="just">
              <a:lnSpc>
                <a:spcPct val="100000"/>
              </a:lnSpc>
              <a:buClr>
                <a:schemeClr val="accent2"/>
              </a:buClr>
            </a:pPr>
            <a:r>
              <a:rPr lang="fr-FR" sz="1425" dirty="0"/>
              <a:t>L'astuce du noyau permet aux SVM de projeter les données d'entrée dans un espace de dimension supérieure où elles deviennent linéairement séparables.</a:t>
            </a:r>
          </a:p>
          <a:p>
            <a:pPr algn="just">
              <a:lnSpc>
                <a:spcPct val="100000"/>
              </a:lnSpc>
              <a:buClr>
                <a:schemeClr val="accent2"/>
              </a:buClr>
            </a:pPr>
            <a:r>
              <a:rPr lang="fr-FR" sz="1425" dirty="0"/>
              <a:t>Différentes fonctions de noyau peuvent être utilisées, telles que les noyaux linéaires, polynomiaux, de fonction de base radiale (RBF) et sigmoïdes.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214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Support Vector Machine :</a:t>
            </a:r>
            <a:r>
              <a:rPr lang="fr-FR" sz="2100" b="0" dirty="0"/>
              <a:t> fonction noyau (kernel)</a:t>
            </a:r>
          </a:p>
        </p:txBody>
      </p:sp>
    </p:spTree>
    <p:extLst>
      <p:ext uri="{BB962C8B-B14F-4D97-AF65-F5344CB8AC3E}">
        <p14:creationId xmlns:p14="http://schemas.microsoft.com/office/powerpoint/2010/main" val="509535684"/>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marL="342900" lvl="1" indent="0" algn="just">
                  <a:lnSpc>
                    <a:spcPct val="150000"/>
                  </a:lnSpc>
                  <a:buClr>
                    <a:schemeClr val="accent2"/>
                  </a:buClr>
                  <a:buNone/>
                </a:pPr>
                <a:r>
                  <a:rPr lang="fr-FR" sz="1200" b="1" dirty="0"/>
                  <a:t>Polynomial</a:t>
                </a:r>
              </a:p>
              <a:p>
                <a:pPr lvl="1" algn="just">
                  <a:lnSpc>
                    <a:spcPct val="150000"/>
                  </a:lnSpc>
                  <a:buClr>
                    <a:schemeClr val="accent2"/>
                  </a:buClr>
                </a:pPr>
                <a:r>
                  <a:rPr lang="fr-FR" sz="1200" dirty="0"/>
                  <a:t>Le noyau polynomial n'est pas utilisé très souvent dans la pratique car il n'est pas aussi efficace en termes de calcul que les autres noyaux et ses prédictions ne sont pas aussi précises.</a:t>
                </a:r>
              </a:p>
              <a:p>
                <a:pPr marL="342900" lvl="1" indent="0" algn="just">
                  <a:lnSpc>
                    <a:spcPct val="150000"/>
                  </a:lnSpc>
                  <a:buClr>
                    <a:schemeClr val="accent2"/>
                  </a:buClr>
                  <a:buNone/>
                </a:pPr>
                <a14:m>
                  <m:oMathPara xmlns:m="http://schemas.openxmlformats.org/officeDocument/2006/math">
                    <m:oMathParaPr>
                      <m:jc m:val="center"/>
                    </m:oMathParaPr>
                    <m:oMath xmlns:m="http://schemas.openxmlformats.org/officeDocument/2006/math">
                      <m:r>
                        <a:rPr lang="fr-FR" sz="1200" i="1">
                          <a:latin typeface="Cambria Math" panose="02040503050406030204" pitchFamily="18" charset="0"/>
                        </a:rPr>
                        <m:t>𝑓</m:t>
                      </m:r>
                      <m:d>
                        <m:dPr>
                          <m:ctrlPr>
                            <a:rPr lang="fr-FR" sz="1200" i="1">
                              <a:latin typeface="Cambria Math" panose="02040503050406030204" pitchFamily="18" charset="0"/>
                            </a:rPr>
                          </m:ctrlPr>
                        </m:dPr>
                        <m:e>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𝑥</m:t>
                              </m:r>
                            </m:e>
                            <m:sub>
                              <m:r>
                                <a:rPr lang="fr-FR" sz="1200" i="1">
                                  <a:latin typeface="Cambria Math" panose="02040503050406030204" pitchFamily="18" charset="0"/>
                                  <a:ea typeface="Cambria Math" panose="02040503050406030204" pitchFamily="18" charset="0"/>
                                </a:rPr>
                                <m:t>1</m:t>
                              </m:r>
                            </m:sub>
                          </m:sSub>
                          <m:r>
                            <a:rPr lang="fr-FR" sz="1200" i="1">
                              <a:latin typeface="Cambria Math" panose="02040503050406030204" pitchFamily="18" charset="0"/>
                              <a:ea typeface="Cambria Math" panose="02040503050406030204" pitchFamily="18" charset="0"/>
                            </a:rPr>
                            <m:t>,</m:t>
                          </m:r>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𝑥</m:t>
                              </m:r>
                            </m:e>
                            <m:sub>
                              <m:r>
                                <a:rPr lang="fr-FR" sz="1200" i="1">
                                  <a:latin typeface="Cambria Math" panose="02040503050406030204" pitchFamily="18" charset="0"/>
                                  <a:ea typeface="Cambria Math" panose="02040503050406030204" pitchFamily="18" charset="0"/>
                                </a:rPr>
                                <m:t>2</m:t>
                              </m:r>
                            </m:sub>
                          </m:sSub>
                        </m:e>
                      </m:d>
                      <m:r>
                        <a:rPr lang="fr-FR" sz="1200" i="1">
                          <a:latin typeface="Cambria Math" panose="02040503050406030204" pitchFamily="18" charset="0"/>
                        </a:rPr>
                        <m:t>= </m:t>
                      </m:r>
                      <m:sSup>
                        <m:sSupPr>
                          <m:ctrlPr>
                            <a:rPr lang="fr-FR" sz="1200" i="1">
                              <a:latin typeface="Cambria Math" panose="02040503050406030204" pitchFamily="18" charset="0"/>
                            </a:rPr>
                          </m:ctrlPr>
                        </m:sSupPr>
                        <m:e>
                          <m:r>
                            <a:rPr lang="fr-FR" sz="1200" i="1">
                              <a:latin typeface="Cambria Math" panose="02040503050406030204" pitchFamily="18" charset="0"/>
                            </a:rPr>
                            <m:t>(</m:t>
                          </m:r>
                          <m:r>
                            <a:rPr lang="fr-FR" sz="1200" i="1">
                              <a:latin typeface="Cambria Math" panose="02040503050406030204" pitchFamily="18" charset="0"/>
                            </a:rPr>
                            <m:t>𝑎</m:t>
                          </m:r>
                          <m:r>
                            <a:rPr lang="fr-FR" sz="1200" i="1">
                              <a:latin typeface="Cambria Math" panose="02040503050406030204" pitchFamily="18" charset="0"/>
                            </a:rPr>
                            <m:t>+</m:t>
                          </m:r>
                          <m:sSubSup>
                            <m:sSubSupPr>
                              <m:ctrlPr>
                                <a:rPr lang="fr-FR" sz="1200" i="1">
                                  <a:latin typeface="Cambria Math" panose="02040503050406030204" pitchFamily="18" charset="0"/>
                                </a:rPr>
                              </m:ctrlPr>
                            </m:sSubSupPr>
                            <m:e>
                              <m:r>
                                <a:rPr lang="fr-FR" sz="1200" i="1">
                                  <a:latin typeface="Cambria Math" panose="02040503050406030204" pitchFamily="18" charset="0"/>
                                </a:rPr>
                                <m:t>𝑥</m:t>
                              </m:r>
                            </m:e>
                            <m:sub>
                              <m:r>
                                <a:rPr lang="fr-FR" sz="1200" i="1">
                                  <a:latin typeface="Cambria Math" panose="02040503050406030204" pitchFamily="18" charset="0"/>
                                </a:rPr>
                                <m:t>1</m:t>
                              </m:r>
                            </m:sub>
                            <m:sup>
                              <m:r>
                                <a:rPr lang="fr-FR" sz="1200" i="1">
                                  <a:latin typeface="Cambria Math" panose="02040503050406030204" pitchFamily="18" charset="0"/>
                                </a:rPr>
                                <m:t>𝑇</m:t>
                              </m:r>
                            </m:sup>
                          </m:sSubSup>
                          <m:r>
                            <a:rPr lang="fr-FR" sz="1200" i="1">
                              <a:latin typeface="Cambria Math" panose="02040503050406030204" pitchFamily="18" charset="0"/>
                              <a:ea typeface="Cambria Math" panose="02040503050406030204" pitchFamily="18" charset="0"/>
                            </a:rPr>
                            <m:t>×</m:t>
                          </m:r>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𝑥</m:t>
                              </m:r>
                            </m:e>
                            <m:sub>
                              <m:r>
                                <a:rPr lang="fr-FR" sz="1200" i="1">
                                  <a:latin typeface="Cambria Math" panose="02040503050406030204" pitchFamily="18" charset="0"/>
                                  <a:ea typeface="Cambria Math" panose="02040503050406030204" pitchFamily="18" charset="0"/>
                                </a:rPr>
                                <m:t>2</m:t>
                              </m:r>
                            </m:sub>
                          </m:sSub>
                          <m:r>
                            <a:rPr lang="fr-FR" sz="1200" i="1">
                              <a:latin typeface="Cambria Math" panose="02040503050406030204" pitchFamily="18" charset="0"/>
                              <a:ea typeface="Cambria Math" panose="02040503050406030204" pitchFamily="18" charset="0"/>
                            </a:rPr>
                            <m:t>)</m:t>
                          </m:r>
                        </m:e>
                        <m:sup>
                          <m:r>
                            <a:rPr lang="fr-FR" sz="1200" i="1">
                              <a:latin typeface="Cambria Math" panose="02040503050406030204" pitchFamily="18" charset="0"/>
                            </a:rPr>
                            <m:t>𝑏</m:t>
                          </m:r>
                        </m:sup>
                      </m:sSup>
                    </m:oMath>
                  </m:oMathPara>
                </a14:m>
                <a:endParaRPr lang="fr-FR" sz="1200" i="1" dirty="0">
                  <a:latin typeface="Cambria Math" panose="02040503050406030204" pitchFamily="18" charset="0"/>
                </a:endParaRPr>
              </a:p>
              <a:p>
                <a:pPr lvl="1" algn="just">
                  <a:lnSpc>
                    <a:spcPct val="150000"/>
                  </a:lnSpc>
                  <a:buClr>
                    <a:schemeClr val="accent2"/>
                  </a:buClr>
                </a:pPr>
                <a:r>
                  <a:rPr lang="fr-FR" sz="1200" dirty="0"/>
                  <a:t>C'est l'une des équations de noyau polynomiales simples que vous pouvez utiliser. </a:t>
                </a:r>
                <a14:m>
                  <m:oMath xmlns:m="http://schemas.openxmlformats.org/officeDocument/2006/math">
                    <m:r>
                      <a:rPr lang="fr-FR" sz="1200" i="1">
                        <a:latin typeface="Cambria Math" panose="02040503050406030204" pitchFamily="18" charset="0"/>
                      </a:rPr>
                      <m:t>𝑓</m:t>
                    </m:r>
                    <m:d>
                      <m:dPr>
                        <m:ctrlPr>
                          <a:rPr lang="fr-FR" sz="1200" i="1">
                            <a:latin typeface="Cambria Math" panose="02040503050406030204" pitchFamily="18" charset="0"/>
                          </a:rPr>
                        </m:ctrlPr>
                      </m:dPr>
                      <m:e>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𝑥</m:t>
                            </m:r>
                          </m:e>
                          <m:sub>
                            <m:r>
                              <a:rPr lang="fr-FR" sz="1200" i="1">
                                <a:latin typeface="Cambria Math" panose="02040503050406030204" pitchFamily="18" charset="0"/>
                                <a:ea typeface="Cambria Math" panose="02040503050406030204" pitchFamily="18" charset="0"/>
                              </a:rPr>
                              <m:t>1</m:t>
                            </m:r>
                          </m:sub>
                        </m:sSub>
                        <m:r>
                          <a:rPr lang="fr-FR" sz="1200" i="1">
                            <a:latin typeface="Cambria Math" panose="02040503050406030204" pitchFamily="18" charset="0"/>
                            <a:ea typeface="Cambria Math" panose="02040503050406030204" pitchFamily="18" charset="0"/>
                          </a:rPr>
                          <m:t>,</m:t>
                        </m:r>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𝑥</m:t>
                            </m:r>
                          </m:e>
                          <m:sub>
                            <m:r>
                              <a:rPr lang="fr-FR" sz="1200" i="1">
                                <a:latin typeface="Cambria Math" panose="02040503050406030204" pitchFamily="18" charset="0"/>
                                <a:ea typeface="Cambria Math" panose="02040503050406030204" pitchFamily="18" charset="0"/>
                              </a:rPr>
                              <m:t>2</m:t>
                            </m:r>
                          </m:sub>
                        </m:sSub>
                      </m:e>
                    </m:d>
                    <m:r>
                      <a:rPr lang="fr-FR" sz="1200" i="1">
                        <a:latin typeface="Cambria Math" panose="02040503050406030204" pitchFamily="18" charset="0"/>
                        <a:ea typeface="Cambria Math" panose="02040503050406030204" pitchFamily="18" charset="0"/>
                      </a:rPr>
                      <m:t> </m:t>
                    </m:r>
                  </m:oMath>
                </a14:m>
                <a:r>
                  <a:rPr lang="fr-FR" sz="1200" dirty="0"/>
                  <a:t>représente la limite de décision polynomiale qui séparera vos données. </a:t>
                </a:r>
                <a14:m>
                  <m:oMath xmlns:m="http://schemas.openxmlformats.org/officeDocument/2006/math">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𝑥</m:t>
                        </m:r>
                      </m:e>
                      <m:sub>
                        <m:r>
                          <a:rPr lang="fr-FR" sz="1200" i="1">
                            <a:latin typeface="Cambria Math" panose="02040503050406030204" pitchFamily="18" charset="0"/>
                            <a:ea typeface="Cambria Math" panose="02040503050406030204" pitchFamily="18" charset="0"/>
                          </a:rPr>
                          <m:t>1</m:t>
                        </m:r>
                      </m:sub>
                    </m:sSub>
                  </m:oMath>
                </a14:m>
                <a:r>
                  <a:rPr lang="fr-FR" sz="1200" dirty="0"/>
                  <a:t> et </a:t>
                </a:r>
                <a14:m>
                  <m:oMath xmlns:m="http://schemas.openxmlformats.org/officeDocument/2006/math">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𝑥</m:t>
                        </m:r>
                      </m:e>
                      <m:sub>
                        <m:r>
                          <a:rPr lang="fr-FR" sz="1200" i="1">
                            <a:latin typeface="Cambria Math" panose="02040503050406030204" pitchFamily="18" charset="0"/>
                            <a:ea typeface="Cambria Math" panose="02040503050406030204" pitchFamily="18" charset="0"/>
                          </a:rPr>
                          <m:t>2</m:t>
                        </m:r>
                      </m:sub>
                    </m:sSub>
                  </m:oMath>
                </a14:m>
                <a:r>
                  <a:rPr lang="fr-FR" sz="1200" dirty="0"/>
                  <a:t> représentent vos données.</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1400" cy="3539258"/>
              </a:xfrm>
              <a:blipFill>
                <a:blip r:embed="rId2"/>
                <a:stretch>
                  <a:fillRect r="-155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215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Support Vector Machine :</a:t>
            </a:r>
            <a:r>
              <a:rPr lang="fr-FR" sz="2100" b="0" dirty="0"/>
              <a:t> fonction noyau (kernel)</a:t>
            </a:r>
          </a:p>
        </p:txBody>
      </p:sp>
      <p:pic>
        <p:nvPicPr>
          <p:cNvPr id="6" name="Image 5">
            <a:extLst>
              <a:ext uri="{FF2B5EF4-FFF2-40B4-BE49-F238E27FC236}">
                <a16:creationId xmlns:a16="http://schemas.microsoft.com/office/drawing/2014/main" id="{2CF26E6C-FF04-44D3-89DE-113327F14065}"/>
              </a:ext>
            </a:extLst>
          </p:cNvPr>
          <p:cNvPicPr>
            <a:picLocks noChangeAspect="1"/>
          </p:cNvPicPr>
          <p:nvPr/>
        </p:nvPicPr>
        <p:blipFill rotWithShape="1">
          <a:blip r:embed="rId3"/>
          <a:srcRect l="40378" t="57030" r="33000"/>
          <a:stretch/>
        </p:blipFill>
        <p:spPr>
          <a:xfrm>
            <a:off x="6831360" y="3615970"/>
            <a:ext cx="1293271" cy="1157256"/>
          </a:xfrm>
          <a:prstGeom prst="rect">
            <a:avLst/>
          </a:prstGeom>
        </p:spPr>
      </p:pic>
    </p:spTree>
    <p:extLst>
      <p:ext uri="{BB962C8B-B14F-4D97-AF65-F5344CB8AC3E}">
        <p14:creationId xmlns:p14="http://schemas.microsoft.com/office/powerpoint/2010/main" val="438204916"/>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marL="342900" lvl="1" indent="0" algn="just">
                  <a:lnSpc>
                    <a:spcPct val="150000"/>
                  </a:lnSpc>
                  <a:buClr>
                    <a:schemeClr val="accent2"/>
                  </a:buClr>
                  <a:buNone/>
                </a:pPr>
                <a:r>
                  <a:rPr lang="fr-FR" sz="1200" b="1" dirty="0"/>
                  <a:t>Gaussienne (RBF)</a:t>
                </a:r>
              </a:p>
              <a:p>
                <a:pPr lvl="1" algn="just">
                  <a:lnSpc>
                    <a:spcPct val="150000"/>
                  </a:lnSpc>
                  <a:buClr>
                    <a:schemeClr val="accent2"/>
                  </a:buClr>
                </a:pPr>
                <a:r>
                  <a:rPr lang="fr-FR" sz="1200" dirty="0"/>
                  <a:t>L'un des noyaux les plus puissants et les plus couramment utilisés dans les SVM. Généralement choisi pour les données non linéaires. </a:t>
                </a:r>
              </a:p>
              <a:p>
                <a:pPr marL="342900" lvl="1" indent="0" algn="just">
                  <a:lnSpc>
                    <a:spcPct val="150000"/>
                  </a:lnSpc>
                  <a:buClr>
                    <a:schemeClr val="accent2"/>
                  </a:buClr>
                  <a:buNone/>
                </a:pPr>
                <a14:m>
                  <m:oMathPara xmlns:m="http://schemas.openxmlformats.org/officeDocument/2006/math">
                    <m:oMathParaPr>
                      <m:jc m:val="centerGroup"/>
                    </m:oMathParaPr>
                    <m:oMath xmlns:m="http://schemas.openxmlformats.org/officeDocument/2006/math">
                      <m:r>
                        <a:rPr lang="fr-FR" sz="1200" i="1">
                          <a:latin typeface="Cambria Math" panose="02040503050406030204" pitchFamily="18" charset="0"/>
                        </a:rPr>
                        <m:t>𝑓</m:t>
                      </m:r>
                      <m:d>
                        <m:dPr>
                          <m:ctrlPr>
                            <a:rPr lang="fr-FR" sz="1200" i="1">
                              <a:latin typeface="Cambria Math" panose="02040503050406030204" pitchFamily="18" charset="0"/>
                            </a:rPr>
                          </m:ctrlPr>
                        </m:dPr>
                        <m:e>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𝑥</m:t>
                              </m:r>
                            </m:e>
                            <m:sub>
                              <m:r>
                                <a:rPr lang="fr-FR" sz="1200" i="1">
                                  <a:latin typeface="Cambria Math" panose="02040503050406030204" pitchFamily="18" charset="0"/>
                                  <a:ea typeface="Cambria Math" panose="02040503050406030204" pitchFamily="18" charset="0"/>
                                </a:rPr>
                                <m:t>1</m:t>
                              </m:r>
                            </m:sub>
                          </m:sSub>
                          <m:r>
                            <a:rPr lang="fr-FR" sz="1200" i="1">
                              <a:latin typeface="Cambria Math" panose="02040503050406030204" pitchFamily="18" charset="0"/>
                              <a:ea typeface="Cambria Math" panose="02040503050406030204" pitchFamily="18" charset="0"/>
                            </a:rPr>
                            <m:t>,</m:t>
                          </m:r>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𝑥</m:t>
                              </m:r>
                            </m:e>
                            <m:sub>
                              <m:r>
                                <a:rPr lang="fr-FR" sz="1200" i="1">
                                  <a:latin typeface="Cambria Math" panose="02040503050406030204" pitchFamily="18" charset="0"/>
                                  <a:ea typeface="Cambria Math" panose="02040503050406030204" pitchFamily="18" charset="0"/>
                                </a:rPr>
                                <m:t>2</m:t>
                              </m:r>
                            </m:sub>
                          </m:sSub>
                        </m:e>
                      </m:d>
                      <m:r>
                        <a:rPr lang="fr-FR" sz="1200" i="1">
                          <a:latin typeface="Cambria Math" panose="02040503050406030204" pitchFamily="18" charset="0"/>
                        </a:rPr>
                        <m:t>= </m:t>
                      </m:r>
                      <m:sSup>
                        <m:sSupPr>
                          <m:ctrlPr>
                            <a:rPr lang="fr-FR" sz="1200" i="1">
                              <a:latin typeface="Cambria Math" panose="02040503050406030204" pitchFamily="18" charset="0"/>
                            </a:rPr>
                          </m:ctrlPr>
                        </m:sSupPr>
                        <m:e>
                          <m:r>
                            <a:rPr lang="fr-FR" sz="1200" i="1">
                              <a:latin typeface="Cambria Math" panose="02040503050406030204" pitchFamily="18" charset="0"/>
                            </a:rPr>
                            <m:t>𝑒𝑥𝑝</m:t>
                          </m:r>
                          <m:r>
                            <a:rPr lang="fr-FR" sz="1200" i="1">
                              <a:latin typeface="Cambria Math" panose="02040503050406030204" pitchFamily="18" charset="0"/>
                            </a:rPr>
                            <m:t>⁡(−</m:t>
                          </m:r>
                          <m:r>
                            <a:rPr lang="fr-FR" sz="1200" i="1">
                              <a:latin typeface="Cambria Math" panose="02040503050406030204" pitchFamily="18" charset="0"/>
                            </a:rPr>
                            <m:t>𝑔𝑎𝑚𝑚𝑎</m:t>
                          </m:r>
                          <m:r>
                            <a:rPr lang="fr-FR" sz="1200" i="1">
                              <a:latin typeface="Cambria Math" panose="02040503050406030204" pitchFamily="18" charset="0"/>
                            </a:rPr>
                            <m:t> × ||</m:t>
                          </m:r>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𝑥</m:t>
                              </m:r>
                            </m:e>
                            <m:sub>
                              <m:r>
                                <a:rPr lang="fr-FR" sz="1200" i="1">
                                  <a:latin typeface="Cambria Math" panose="02040503050406030204" pitchFamily="18" charset="0"/>
                                  <a:ea typeface="Cambria Math" panose="02040503050406030204" pitchFamily="18" charset="0"/>
                                </a:rPr>
                                <m:t>1</m:t>
                              </m:r>
                            </m:sub>
                          </m:sSub>
                          <m:r>
                            <a:rPr lang="fr-FR" sz="1200" i="1" dirty="0">
                              <a:latin typeface="Cambria Math" panose="02040503050406030204" pitchFamily="18" charset="0"/>
                            </a:rPr>
                            <m:t>−</m:t>
                          </m:r>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𝑥</m:t>
                              </m:r>
                            </m:e>
                            <m:sub>
                              <m:r>
                                <a:rPr lang="fr-FR" sz="1200" i="1">
                                  <a:latin typeface="Cambria Math" panose="02040503050406030204" pitchFamily="18" charset="0"/>
                                  <a:ea typeface="Cambria Math" panose="02040503050406030204" pitchFamily="18" charset="0"/>
                                </a:rPr>
                                <m:t>2</m:t>
                              </m:r>
                            </m:sub>
                          </m:sSub>
                          <m:r>
                            <a:rPr lang="fr-FR" sz="1200" i="1" dirty="0">
                              <a:latin typeface="Cambria Math" panose="02040503050406030204" pitchFamily="18" charset="0"/>
                            </a:rPr>
                            <m:t>||</m:t>
                          </m:r>
                        </m:e>
                        <m:sup>
                          <m:r>
                            <a:rPr lang="fr-FR" sz="1200" i="1">
                              <a:latin typeface="Cambria Math" panose="02040503050406030204" pitchFamily="18" charset="0"/>
                            </a:rPr>
                            <m:t>2</m:t>
                          </m:r>
                        </m:sup>
                      </m:sSup>
                      <m:r>
                        <a:rPr lang="fr-FR" sz="1200" i="1">
                          <a:latin typeface="Cambria Math" panose="02040503050406030204" pitchFamily="18" charset="0"/>
                        </a:rPr>
                        <m:t>)</m:t>
                      </m:r>
                    </m:oMath>
                  </m:oMathPara>
                </a14:m>
                <a:endParaRPr lang="fr-FR" sz="1200" dirty="0"/>
              </a:p>
              <a:p>
                <a:pPr lvl="1" algn="just">
                  <a:lnSpc>
                    <a:spcPct val="150000"/>
                  </a:lnSpc>
                  <a:buClr>
                    <a:schemeClr val="accent2"/>
                  </a:buClr>
                </a:pPr>
                <a:r>
                  <a:rPr lang="fr-FR" sz="1200" dirty="0"/>
                  <a:t>Dans cette équation, gamma spécifie combien un seul point d'entraînement a sur les autres points de données qui l'entourent. </a:t>
                </a:r>
                <a14:m>
                  <m:oMath xmlns:m="http://schemas.openxmlformats.org/officeDocument/2006/math">
                    <m:r>
                      <a:rPr lang="fr-FR" sz="1200" i="1" dirty="0">
                        <a:latin typeface="Cambria Math" panose="02040503050406030204" pitchFamily="18" charset="0"/>
                      </a:rPr>
                      <m:t>||</m:t>
                    </m:r>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𝑥</m:t>
                        </m:r>
                      </m:e>
                      <m:sub>
                        <m:r>
                          <a:rPr lang="fr-FR" sz="1200" i="1">
                            <a:latin typeface="Cambria Math" panose="02040503050406030204" pitchFamily="18" charset="0"/>
                            <a:ea typeface="Cambria Math" panose="02040503050406030204" pitchFamily="18" charset="0"/>
                          </a:rPr>
                          <m:t>1</m:t>
                        </m:r>
                      </m:sub>
                    </m:sSub>
                    <m:r>
                      <a:rPr lang="fr-FR" sz="1200" i="1" dirty="0">
                        <a:latin typeface="Cambria Math" panose="02040503050406030204" pitchFamily="18" charset="0"/>
                      </a:rPr>
                      <m:t>−</m:t>
                    </m:r>
                    <m:sSub>
                      <m:sSubPr>
                        <m:ctrlPr>
                          <a:rPr lang="fr-FR" sz="1200" i="1">
                            <a:latin typeface="Cambria Math" panose="02040503050406030204" pitchFamily="18" charset="0"/>
                            <a:ea typeface="Cambria Math" panose="02040503050406030204" pitchFamily="18" charset="0"/>
                          </a:rPr>
                        </m:ctrlPr>
                      </m:sSubPr>
                      <m:e>
                        <m:r>
                          <a:rPr lang="fr-FR" sz="1200" i="1">
                            <a:latin typeface="Cambria Math" panose="02040503050406030204" pitchFamily="18" charset="0"/>
                            <a:ea typeface="Cambria Math" panose="02040503050406030204" pitchFamily="18" charset="0"/>
                          </a:rPr>
                          <m:t>𝑥</m:t>
                        </m:r>
                      </m:e>
                      <m:sub>
                        <m:r>
                          <a:rPr lang="fr-FR" sz="1200" i="1">
                            <a:latin typeface="Cambria Math" panose="02040503050406030204" pitchFamily="18" charset="0"/>
                            <a:ea typeface="Cambria Math" panose="02040503050406030204" pitchFamily="18" charset="0"/>
                          </a:rPr>
                          <m:t>2</m:t>
                        </m:r>
                      </m:sub>
                    </m:sSub>
                    <m:r>
                      <a:rPr lang="fr-FR" sz="1200" i="1" dirty="0">
                        <a:latin typeface="Cambria Math" panose="02040503050406030204" pitchFamily="18" charset="0"/>
                      </a:rPr>
                      <m:t>||</m:t>
                    </m:r>
                  </m:oMath>
                </a14:m>
                <a:r>
                  <a:rPr lang="fr-FR" sz="1200" dirty="0"/>
                  <a:t> est le produit scalaire entre les features.</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1400" cy="3539258"/>
              </a:xfrm>
              <a:blipFill>
                <a:blip r:embed="rId2"/>
                <a:stretch>
                  <a:fillRect r="-155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216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Support Vector Machine :</a:t>
            </a:r>
            <a:r>
              <a:rPr lang="fr-FR" sz="2100" b="0" dirty="0"/>
              <a:t> fonction noyau (kernel)</a:t>
            </a:r>
          </a:p>
        </p:txBody>
      </p:sp>
      <p:pic>
        <p:nvPicPr>
          <p:cNvPr id="7" name="Image 6">
            <a:extLst>
              <a:ext uri="{FF2B5EF4-FFF2-40B4-BE49-F238E27FC236}">
                <a16:creationId xmlns:a16="http://schemas.microsoft.com/office/drawing/2014/main" id="{75690C0B-5BF1-4686-93B9-939D6DD6C25C}"/>
              </a:ext>
            </a:extLst>
          </p:cNvPr>
          <p:cNvPicPr>
            <a:picLocks noChangeAspect="1"/>
          </p:cNvPicPr>
          <p:nvPr/>
        </p:nvPicPr>
        <p:blipFill rotWithShape="1">
          <a:blip r:embed="rId3"/>
          <a:srcRect l="67120" t="57030" r="5382"/>
          <a:stretch/>
        </p:blipFill>
        <p:spPr>
          <a:xfrm>
            <a:off x="6831360" y="3615970"/>
            <a:ext cx="1335819" cy="1157256"/>
          </a:xfrm>
          <a:prstGeom prst="rect">
            <a:avLst/>
          </a:prstGeom>
        </p:spPr>
      </p:pic>
    </p:spTree>
    <p:extLst>
      <p:ext uri="{BB962C8B-B14F-4D97-AF65-F5344CB8AC3E}">
        <p14:creationId xmlns:p14="http://schemas.microsoft.com/office/powerpoint/2010/main" val="3056836896"/>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marL="342900" lvl="1" indent="0" algn="just">
                  <a:lnSpc>
                    <a:spcPct val="150000"/>
                  </a:lnSpc>
                  <a:buClr>
                    <a:schemeClr val="accent2"/>
                  </a:buClr>
                  <a:buNone/>
                </a:pPr>
                <a:r>
                  <a:rPr lang="fr-FR" sz="1200" b="1" dirty="0"/>
                  <a:t>Sigmoid</a:t>
                </a:r>
              </a:p>
              <a:p>
                <a:pPr lvl="1" algn="just">
                  <a:lnSpc>
                    <a:spcPct val="150000"/>
                  </a:lnSpc>
                  <a:buClr>
                    <a:schemeClr val="accent2"/>
                  </a:buClr>
                </a:pPr>
                <a:r>
                  <a:rPr lang="fr-FR" sz="1200" dirty="0"/>
                  <a:t>Plus utile dans les réseaux de neurones que dans les machines à vecteurs de support, mais il existe parfois des cas d'utilisation spécifiques.</a:t>
                </a:r>
              </a:p>
              <a:p>
                <a:pPr marL="342900" lvl="1" indent="0" algn="just">
                  <a:lnSpc>
                    <a:spcPct val="150000"/>
                  </a:lnSpc>
                  <a:buClr>
                    <a:schemeClr val="accent2"/>
                  </a:buClr>
                  <a:buNone/>
                </a:pPr>
                <a14:m>
                  <m:oMathPara xmlns:m="http://schemas.openxmlformats.org/officeDocument/2006/math">
                    <m:oMathParaPr>
                      <m:jc m:val="center"/>
                    </m:oMathParaPr>
                    <m:oMath xmlns:m="http://schemas.openxmlformats.org/officeDocument/2006/math">
                      <m:r>
                        <a:rPr lang="es-ES" sz="1200" i="1" dirty="0">
                          <a:latin typeface="Cambria Math" panose="02040503050406030204" pitchFamily="18" charset="0"/>
                        </a:rPr>
                        <m:t>𝑓</m:t>
                      </m:r>
                      <m:r>
                        <a:rPr lang="es-ES" sz="1200" i="1" dirty="0">
                          <a:latin typeface="Cambria Math" panose="02040503050406030204" pitchFamily="18" charset="0"/>
                        </a:rPr>
                        <m:t>(</m:t>
                      </m:r>
                      <m:r>
                        <a:rPr lang="fr-FR" sz="1200" i="1" dirty="0">
                          <a:latin typeface="Cambria Math" panose="02040503050406030204" pitchFamily="18" charset="0"/>
                        </a:rPr>
                        <m:t>𝑥</m:t>
                      </m:r>
                      <m:r>
                        <a:rPr lang="es-ES" sz="1200" i="1" dirty="0">
                          <a:latin typeface="Cambria Math" panose="02040503050406030204" pitchFamily="18" charset="0"/>
                        </a:rPr>
                        <m:t>, </m:t>
                      </m:r>
                      <m:r>
                        <a:rPr lang="es-ES" sz="1200" i="1" dirty="0">
                          <a:latin typeface="Cambria Math" panose="02040503050406030204" pitchFamily="18" charset="0"/>
                        </a:rPr>
                        <m:t>𝑦</m:t>
                      </m:r>
                      <m:r>
                        <a:rPr lang="es-ES" sz="1200" i="1" dirty="0">
                          <a:latin typeface="Cambria Math" panose="02040503050406030204" pitchFamily="18" charset="0"/>
                        </a:rPr>
                        <m:t>) = </m:t>
                      </m:r>
                      <m:r>
                        <m:rPr>
                          <m:sty m:val="p"/>
                        </m:rPr>
                        <a:rPr lang="es-ES" sz="1200" i="1" dirty="0" err="1">
                          <a:latin typeface="Cambria Math" panose="02040503050406030204" pitchFamily="18" charset="0"/>
                        </a:rPr>
                        <m:t>tanh</m:t>
                      </m:r>
                      <m:r>
                        <a:rPr lang="es-ES" sz="1200" i="1" dirty="0">
                          <a:latin typeface="Cambria Math" panose="02040503050406030204" pitchFamily="18" charset="0"/>
                        </a:rPr>
                        <m:t>⁡(</m:t>
                      </m:r>
                      <m:r>
                        <a:rPr lang="es-ES" sz="1200" i="1" dirty="0" err="1">
                          <a:latin typeface="Cambria Math" panose="02040503050406030204" pitchFamily="18" charset="0"/>
                        </a:rPr>
                        <m:t>𝑎𝑙𝑝h𝑎</m:t>
                      </m:r>
                      <m:r>
                        <a:rPr lang="es-ES" sz="1200" i="1" dirty="0">
                          <a:latin typeface="Cambria Math" panose="02040503050406030204" pitchFamily="18" charset="0"/>
                        </a:rPr>
                        <m:t> </m:t>
                      </m:r>
                      <m:r>
                        <a:rPr lang="es-ES" sz="1200" i="1" dirty="0">
                          <a:latin typeface="Cambria Math" panose="02040503050406030204" pitchFamily="18" charset="0"/>
                          <a:ea typeface="Cambria Math" panose="02040503050406030204" pitchFamily="18" charset="0"/>
                        </a:rPr>
                        <m:t>×</m:t>
                      </m:r>
                      <m:sSubSup>
                        <m:sSubSupPr>
                          <m:ctrlPr>
                            <a:rPr lang="fr-FR" sz="1200" i="1">
                              <a:latin typeface="Cambria Math" panose="02040503050406030204" pitchFamily="18" charset="0"/>
                            </a:rPr>
                          </m:ctrlPr>
                        </m:sSubSupPr>
                        <m:e>
                          <m:r>
                            <a:rPr lang="fr-FR" sz="1200" i="1">
                              <a:latin typeface="Cambria Math" panose="02040503050406030204" pitchFamily="18" charset="0"/>
                            </a:rPr>
                            <m:t>𝑥</m:t>
                          </m:r>
                        </m:e>
                        <m:sub>
                          <m:r>
                            <a:rPr lang="fr-FR" sz="1200" i="1">
                              <a:latin typeface="Cambria Math" panose="02040503050406030204" pitchFamily="18" charset="0"/>
                            </a:rPr>
                            <m:t>1</m:t>
                          </m:r>
                        </m:sub>
                        <m:sup>
                          <m:r>
                            <a:rPr lang="fr-FR" sz="1200" i="1">
                              <a:latin typeface="Cambria Math" panose="02040503050406030204" pitchFamily="18" charset="0"/>
                            </a:rPr>
                            <m:t>𝑇</m:t>
                          </m:r>
                        </m:sup>
                      </m:sSubSup>
                      <m:r>
                        <a:rPr lang="es-ES" sz="1200" i="1" dirty="0">
                          <a:latin typeface="Cambria Math" panose="02040503050406030204" pitchFamily="18" charset="0"/>
                        </a:rPr>
                        <m:t> </m:t>
                      </m:r>
                      <m:r>
                        <a:rPr lang="es-ES" sz="1200" i="1" dirty="0">
                          <a:latin typeface="Cambria Math" panose="02040503050406030204" pitchFamily="18" charset="0"/>
                          <a:ea typeface="Cambria Math" panose="02040503050406030204" pitchFamily="18" charset="0"/>
                        </a:rPr>
                        <m:t>×</m:t>
                      </m:r>
                      <m:r>
                        <a:rPr lang="es-ES" sz="1200" i="1" dirty="0">
                          <a:latin typeface="Cambria Math" panose="02040503050406030204" pitchFamily="18" charset="0"/>
                        </a:rPr>
                        <m:t>𝑦</m:t>
                      </m:r>
                      <m:r>
                        <a:rPr lang="es-ES" sz="1200" i="1" dirty="0">
                          <a:latin typeface="Cambria Math" panose="02040503050406030204" pitchFamily="18" charset="0"/>
                        </a:rPr>
                        <m:t> + </m:t>
                      </m:r>
                      <m:r>
                        <a:rPr lang="es-ES" sz="1200" i="1" dirty="0">
                          <a:latin typeface="Cambria Math" panose="02040503050406030204" pitchFamily="18" charset="0"/>
                        </a:rPr>
                        <m:t>𝐶</m:t>
                      </m:r>
                      <m:r>
                        <a:rPr lang="es-ES" sz="1200" i="1" dirty="0">
                          <a:latin typeface="Cambria Math" panose="02040503050406030204" pitchFamily="18" charset="0"/>
                        </a:rPr>
                        <m:t>)</m:t>
                      </m:r>
                    </m:oMath>
                  </m:oMathPara>
                </a14:m>
                <a:endParaRPr lang="fr-FR" sz="1200" dirty="0"/>
              </a:p>
              <a:p>
                <a:pPr lvl="1" algn="just">
                  <a:lnSpc>
                    <a:spcPct val="150000"/>
                  </a:lnSpc>
                  <a:buClr>
                    <a:schemeClr val="accent2"/>
                  </a:buClr>
                </a:pPr>
                <a:r>
                  <a:rPr lang="fr-FR" sz="1200" dirty="0"/>
                  <a:t>Dans cette fonction, </a:t>
                </a:r>
                <a14:m>
                  <m:oMath xmlns:m="http://schemas.openxmlformats.org/officeDocument/2006/math">
                    <m:r>
                      <a:rPr lang="fr-FR" sz="1200" i="1" dirty="0">
                        <a:latin typeface="Cambria Math" panose="02040503050406030204" pitchFamily="18" charset="0"/>
                      </a:rPr>
                      <m:t>𝑎𝑙𝑝h𝑎</m:t>
                    </m:r>
                  </m:oMath>
                </a14:m>
                <a:r>
                  <a:rPr lang="fr-FR" sz="1200" dirty="0"/>
                  <a:t> est un vecteur de poids et </a:t>
                </a:r>
                <a14:m>
                  <m:oMath xmlns:m="http://schemas.openxmlformats.org/officeDocument/2006/math">
                    <m:r>
                      <a:rPr lang="fr-FR" sz="1200" i="1" dirty="0">
                        <a:latin typeface="Cambria Math" panose="02040503050406030204" pitchFamily="18" charset="0"/>
                      </a:rPr>
                      <m:t>𝐶</m:t>
                    </m:r>
                  </m:oMath>
                </a14:m>
                <a:r>
                  <a:rPr lang="fr-FR" sz="1200" dirty="0"/>
                  <a:t> est une valeur de décalage pour tenir compte d'une mauvaise classification des données qui peut se produire.</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1400" cy="3539258"/>
              </a:xfrm>
              <a:blipFill>
                <a:blip r:embed="rId2"/>
                <a:stretch>
                  <a:fillRect r="-155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217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Support Vector Machine :</a:t>
            </a:r>
            <a:r>
              <a:rPr lang="fr-FR" sz="2100" b="0" dirty="0"/>
              <a:t> fonction noyau (kernel)</a:t>
            </a:r>
          </a:p>
        </p:txBody>
      </p:sp>
      <p:pic>
        <p:nvPicPr>
          <p:cNvPr id="6" name="Image 5">
            <a:extLst>
              <a:ext uri="{FF2B5EF4-FFF2-40B4-BE49-F238E27FC236}">
                <a16:creationId xmlns:a16="http://schemas.microsoft.com/office/drawing/2014/main" id="{E82D5E9C-5137-4032-BB9E-ACA73ECC9C3A}"/>
              </a:ext>
            </a:extLst>
          </p:cNvPr>
          <p:cNvPicPr>
            <a:picLocks noChangeAspect="1"/>
          </p:cNvPicPr>
          <p:nvPr/>
        </p:nvPicPr>
        <p:blipFill rotWithShape="1">
          <a:blip r:embed="rId3"/>
          <a:srcRect l="67120" t="8200" r="5382" b="51942"/>
          <a:stretch/>
        </p:blipFill>
        <p:spPr>
          <a:xfrm>
            <a:off x="6831360" y="3617462"/>
            <a:ext cx="1335819" cy="1073426"/>
          </a:xfrm>
          <a:prstGeom prst="rect">
            <a:avLst/>
          </a:prstGeom>
        </p:spPr>
      </p:pic>
    </p:spTree>
    <p:extLst>
      <p:ext uri="{BB962C8B-B14F-4D97-AF65-F5344CB8AC3E}">
        <p14:creationId xmlns:p14="http://schemas.microsoft.com/office/powerpoint/2010/main" val="3890071679"/>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algn="just">
                  <a:lnSpc>
                    <a:spcPct val="150000"/>
                  </a:lnSpc>
                  <a:buClr>
                    <a:schemeClr val="accent2"/>
                  </a:buClr>
                </a:pPr>
                <a:r>
                  <a:rPr lang="fr-FR" sz="1350" dirty="0"/>
                  <a:t>Le paramètre de régularisation (souvent appelé </a:t>
                </a:r>
                <a14:m>
                  <m:oMath xmlns:m="http://schemas.openxmlformats.org/officeDocument/2006/math">
                    <m:r>
                      <a:rPr lang="fr-FR" sz="1350" i="1" dirty="0">
                        <a:latin typeface="Cambria Math" panose="02040503050406030204" pitchFamily="18" charset="0"/>
                      </a:rPr>
                      <m:t>𝐶</m:t>
                    </m:r>
                  </m:oMath>
                </a14:m>
                <a:r>
                  <a:rPr lang="fr-FR" sz="1350" dirty="0"/>
                  <a:t> ou </a:t>
                </a:r>
                <a14:m>
                  <m:oMath xmlns:m="http://schemas.openxmlformats.org/officeDocument/2006/math">
                    <m:r>
                      <a:rPr lang="fr-FR" sz="1350" i="1" dirty="0">
                        <a:latin typeface="Cambria Math" panose="02040503050406030204" pitchFamily="18" charset="0"/>
                      </a:rPr>
                      <m:t>𝑙𝑎𝑚𝑏𝑑𝑎</m:t>
                    </m:r>
                  </m:oMath>
                </a14:m>
                <a:r>
                  <a:rPr lang="fr-FR" sz="1350" dirty="0"/>
                  <a:t>) sert de degré d’importance accordé aux erreurs de classification.</a:t>
                </a:r>
              </a:p>
              <a:p>
                <a:pPr algn="just">
                  <a:lnSpc>
                    <a:spcPct val="150000"/>
                  </a:lnSpc>
                  <a:buClr>
                    <a:schemeClr val="accent2"/>
                  </a:buClr>
                </a:pPr>
                <a:r>
                  <a:rPr lang="fr-FR" sz="1350" dirty="0"/>
                  <a:t>SVM cherche à maximiser la marge entre les deux classes et à minimiser le nombre d’erreurs de classification.</a:t>
                </a:r>
              </a:p>
              <a:p>
                <a:pPr algn="just">
                  <a:lnSpc>
                    <a:spcPct val="150000"/>
                  </a:lnSpc>
                  <a:buClr>
                    <a:schemeClr val="accent2"/>
                  </a:buClr>
                </a:pPr>
                <a:r>
                  <a:rPr lang="fr-FR" sz="1350" dirty="0"/>
                  <a:t>Si on choisit de grandes valeurs de </a:t>
                </a:r>
                <a14:m>
                  <m:oMath xmlns:m="http://schemas.openxmlformats.org/officeDocument/2006/math">
                    <m:r>
                      <a:rPr lang="fr-FR" sz="1350" i="1" dirty="0">
                        <a:latin typeface="Cambria Math" panose="02040503050406030204" pitchFamily="18" charset="0"/>
                      </a:rPr>
                      <m:t>𝐶</m:t>
                    </m:r>
                  </m:oMath>
                </a14:m>
                <a:r>
                  <a:rPr lang="fr-FR" sz="1350" dirty="0"/>
                  <a:t>, l’optimisation choisira un hyperplan à plus petite marge si celui-ci parvient à classer correctement tous les points d’apprentissage.</a:t>
                </a:r>
              </a:p>
              <a:p>
                <a:pPr algn="just">
                  <a:lnSpc>
                    <a:spcPct val="150000"/>
                  </a:lnSpc>
                  <a:buClr>
                    <a:schemeClr val="accent2"/>
                  </a:buClr>
                </a:pPr>
                <a:r>
                  <a:rPr lang="fr-FR" sz="1350" dirty="0"/>
                  <a:t>À l’inverse si </a:t>
                </a:r>
                <a14:m>
                  <m:oMath xmlns:m="http://schemas.openxmlformats.org/officeDocument/2006/math">
                    <m:r>
                      <a:rPr lang="fr-FR" sz="1350" i="1" dirty="0">
                        <a:latin typeface="Cambria Math" panose="02040503050406030204" pitchFamily="18" charset="0"/>
                      </a:rPr>
                      <m:t>𝐶</m:t>
                    </m:r>
                  </m:oMath>
                </a14:m>
                <a:r>
                  <a:rPr lang="fr-FR" sz="1350" dirty="0"/>
                  <a:t> est petit, l’optimiseur recherchera un hyperplan de séparation à vaste marge, même si cet hyperplan classe mal plus de points.</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1400" cy="3539258"/>
              </a:xfrm>
              <a:blipFill>
                <a:blip r:embed="rId2"/>
                <a:stretch>
                  <a:fillRect l="-1656" r="-1760"/>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218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Support Vector Machine :</a:t>
            </a:r>
            <a:r>
              <a:rPr lang="fr-FR" sz="2100" b="0" dirty="0"/>
              <a:t> paramètres</a:t>
            </a:r>
          </a:p>
        </p:txBody>
      </p:sp>
      <p:sp>
        <p:nvSpPr>
          <p:cNvPr id="7" name="Title 13">
            <a:extLst>
              <a:ext uri="{FF2B5EF4-FFF2-40B4-BE49-F238E27FC236}">
                <a16:creationId xmlns:a16="http://schemas.microsoft.com/office/drawing/2014/main" id="{B2AB565B-6B73-41DC-ACF3-F177AF1427D4}"/>
              </a:ext>
            </a:extLst>
          </p:cNvPr>
          <p:cNvSpPr txBox="1">
            <a:spLocks/>
          </p:cNvSpPr>
          <p:nvPr/>
        </p:nvSpPr>
        <p:spPr>
          <a:xfrm>
            <a:off x="389008" y="835279"/>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Régularisation</a:t>
            </a:r>
          </a:p>
        </p:txBody>
      </p:sp>
    </p:spTree>
    <p:extLst>
      <p:ext uri="{BB962C8B-B14F-4D97-AF65-F5344CB8AC3E}">
        <p14:creationId xmlns:p14="http://schemas.microsoft.com/office/powerpoint/2010/main" val="117923090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219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Support Vector Machine :</a:t>
            </a:r>
            <a:r>
              <a:rPr lang="fr-FR" sz="2100" b="0" dirty="0"/>
              <a:t> paramètres</a:t>
            </a:r>
          </a:p>
        </p:txBody>
      </p:sp>
      <p:sp>
        <p:nvSpPr>
          <p:cNvPr id="7" name="Title 13">
            <a:extLst>
              <a:ext uri="{FF2B5EF4-FFF2-40B4-BE49-F238E27FC236}">
                <a16:creationId xmlns:a16="http://schemas.microsoft.com/office/drawing/2014/main" id="{B2AB565B-6B73-41DC-ACF3-F177AF1427D4}"/>
              </a:ext>
            </a:extLst>
          </p:cNvPr>
          <p:cNvSpPr txBox="1">
            <a:spLocks/>
          </p:cNvSpPr>
          <p:nvPr/>
        </p:nvSpPr>
        <p:spPr>
          <a:xfrm>
            <a:off x="389008" y="835279"/>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Régularisation</a:t>
            </a:r>
          </a:p>
        </p:txBody>
      </p:sp>
      <p:grpSp>
        <p:nvGrpSpPr>
          <p:cNvPr id="33" name="Groupe 32">
            <a:extLst>
              <a:ext uri="{FF2B5EF4-FFF2-40B4-BE49-F238E27FC236}">
                <a16:creationId xmlns:a16="http://schemas.microsoft.com/office/drawing/2014/main" id="{EE856ABE-FE0B-45E6-A669-6E410337EB39}"/>
              </a:ext>
            </a:extLst>
          </p:cNvPr>
          <p:cNvGrpSpPr/>
          <p:nvPr/>
        </p:nvGrpSpPr>
        <p:grpSpPr>
          <a:xfrm>
            <a:off x="1048243" y="1852600"/>
            <a:ext cx="2587148" cy="1900538"/>
            <a:chOff x="2032138" y="2470132"/>
            <a:chExt cx="3449531" cy="2534051"/>
          </a:xfrm>
        </p:grpSpPr>
        <p:cxnSp>
          <p:nvCxnSpPr>
            <p:cNvPr id="28" name="Connecteur droit avec flèche 27">
              <a:extLst>
                <a:ext uri="{FF2B5EF4-FFF2-40B4-BE49-F238E27FC236}">
                  <a16:creationId xmlns:a16="http://schemas.microsoft.com/office/drawing/2014/main" id="{DF34BE81-D83E-4EF8-A308-826CDF1D603A}"/>
                </a:ext>
              </a:extLst>
            </p:cNvPr>
            <p:cNvCxnSpPr>
              <a:cxnSpLocks/>
            </p:cNvCxnSpPr>
            <p:nvPr/>
          </p:nvCxnSpPr>
          <p:spPr>
            <a:xfrm>
              <a:off x="2032138" y="4211418"/>
              <a:ext cx="30225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B5C267EA-B646-480D-B8BB-056B3E6B6566}"/>
                </a:ext>
              </a:extLst>
            </p:cNvPr>
            <p:cNvCxnSpPr>
              <a:cxnSpLocks/>
            </p:cNvCxnSpPr>
            <p:nvPr/>
          </p:nvCxnSpPr>
          <p:spPr>
            <a:xfrm flipV="1">
              <a:off x="2989816" y="2470132"/>
              <a:ext cx="0" cy="25340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Organigramme : Connecteur 12">
              <a:extLst>
                <a:ext uri="{FF2B5EF4-FFF2-40B4-BE49-F238E27FC236}">
                  <a16:creationId xmlns:a16="http://schemas.microsoft.com/office/drawing/2014/main" id="{7EE6A367-F1FF-4C44-95D6-BCCA6EEC3422}"/>
                </a:ext>
              </a:extLst>
            </p:cNvPr>
            <p:cNvSpPr>
              <a:spLocks noChangeAspect="1"/>
            </p:cNvSpPr>
            <p:nvPr/>
          </p:nvSpPr>
          <p:spPr>
            <a:xfrm>
              <a:off x="3793208" y="325785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5" name="Organigramme : Connecteur 14">
              <a:extLst>
                <a:ext uri="{FF2B5EF4-FFF2-40B4-BE49-F238E27FC236}">
                  <a16:creationId xmlns:a16="http://schemas.microsoft.com/office/drawing/2014/main" id="{C4867A17-574D-4432-B17E-7E8365184E63}"/>
                </a:ext>
              </a:extLst>
            </p:cNvPr>
            <p:cNvSpPr>
              <a:spLocks noChangeAspect="1"/>
            </p:cNvSpPr>
            <p:nvPr/>
          </p:nvSpPr>
          <p:spPr>
            <a:xfrm>
              <a:off x="3214757" y="367376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6" name="Organigramme : Connecteur 15">
              <a:extLst>
                <a:ext uri="{FF2B5EF4-FFF2-40B4-BE49-F238E27FC236}">
                  <a16:creationId xmlns:a16="http://schemas.microsoft.com/office/drawing/2014/main" id="{8A755FBF-E601-413E-9E02-C183278A7EEC}"/>
                </a:ext>
              </a:extLst>
            </p:cNvPr>
            <p:cNvSpPr>
              <a:spLocks noChangeAspect="1"/>
            </p:cNvSpPr>
            <p:nvPr/>
          </p:nvSpPr>
          <p:spPr>
            <a:xfrm>
              <a:off x="3949148" y="376391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7" name="Organigramme : Connecteur 16">
              <a:extLst>
                <a:ext uri="{FF2B5EF4-FFF2-40B4-BE49-F238E27FC236}">
                  <a16:creationId xmlns:a16="http://schemas.microsoft.com/office/drawing/2014/main" id="{302C8000-C9DF-42A7-AD67-65B973904953}"/>
                </a:ext>
              </a:extLst>
            </p:cNvPr>
            <p:cNvSpPr>
              <a:spLocks noChangeAspect="1"/>
            </p:cNvSpPr>
            <p:nvPr/>
          </p:nvSpPr>
          <p:spPr>
            <a:xfrm>
              <a:off x="2389840" y="410195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8" name="Organigramme : Connecteur 17">
              <a:extLst>
                <a:ext uri="{FF2B5EF4-FFF2-40B4-BE49-F238E27FC236}">
                  <a16:creationId xmlns:a16="http://schemas.microsoft.com/office/drawing/2014/main" id="{16FE89B7-012E-4B15-A1CE-CD5FACD58B86}"/>
                </a:ext>
              </a:extLst>
            </p:cNvPr>
            <p:cNvSpPr>
              <a:spLocks noChangeAspect="1"/>
            </p:cNvSpPr>
            <p:nvPr/>
          </p:nvSpPr>
          <p:spPr>
            <a:xfrm>
              <a:off x="2630075" y="432631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9" name="Organigramme : Connecteur 18">
              <a:extLst>
                <a:ext uri="{FF2B5EF4-FFF2-40B4-BE49-F238E27FC236}">
                  <a16:creationId xmlns:a16="http://schemas.microsoft.com/office/drawing/2014/main" id="{FE44CC52-AEF1-4A64-A8DE-8CCBB9593250}"/>
                </a:ext>
              </a:extLst>
            </p:cNvPr>
            <p:cNvSpPr>
              <a:spLocks noChangeAspect="1"/>
            </p:cNvSpPr>
            <p:nvPr/>
          </p:nvSpPr>
          <p:spPr>
            <a:xfrm>
              <a:off x="3228862" y="429298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2" name="Organigramme : Connecteur 21">
              <a:extLst>
                <a:ext uri="{FF2B5EF4-FFF2-40B4-BE49-F238E27FC236}">
                  <a16:creationId xmlns:a16="http://schemas.microsoft.com/office/drawing/2014/main" id="{7E40CA94-2031-4FCF-BECD-614144FD0B53}"/>
                </a:ext>
              </a:extLst>
            </p:cNvPr>
            <p:cNvSpPr>
              <a:spLocks noChangeAspect="1"/>
            </p:cNvSpPr>
            <p:nvPr/>
          </p:nvSpPr>
          <p:spPr>
            <a:xfrm rot="7820797">
              <a:off x="3458071" y="332470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3" name="Rectangle 22">
              <a:extLst>
                <a:ext uri="{FF2B5EF4-FFF2-40B4-BE49-F238E27FC236}">
                  <a16:creationId xmlns:a16="http://schemas.microsoft.com/office/drawing/2014/main" id="{A958F06F-5325-45A5-9699-512A17EDD5CA}"/>
                </a:ext>
              </a:extLst>
            </p:cNvPr>
            <p:cNvSpPr>
              <a:spLocks noChangeAspect="1"/>
            </p:cNvSpPr>
            <p:nvPr/>
          </p:nvSpPr>
          <p:spPr>
            <a:xfrm rot="7820797">
              <a:off x="4171447" y="3522112"/>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4" name="Organigramme : Connecteur 23">
              <a:extLst>
                <a:ext uri="{FF2B5EF4-FFF2-40B4-BE49-F238E27FC236}">
                  <a16:creationId xmlns:a16="http://schemas.microsoft.com/office/drawing/2014/main" id="{8A6E65D9-8221-4E31-B33C-60A3C5C2539E}"/>
                </a:ext>
              </a:extLst>
            </p:cNvPr>
            <p:cNvSpPr>
              <a:spLocks noChangeAspect="1"/>
            </p:cNvSpPr>
            <p:nvPr/>
          </p:nvSpPr>
          <p:spPr>
            <a:xfrm>
              <a:off x="3003617" y="406493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5" name="Organigramme : Connecteur 24">
              <a:extLst>
                <a:ext uri="{FF2B5EF4-FFF2-40B4-BE49-F238E27FC236}">
                  <a16:creationId xmlns:a16="http://schemas.microsoft.com/office/drawing/2014/main" id="{A26BE68F-4380-4717-A522-0B33F972AB99}"/>
                </a:ext>
              </a:extLst>
            </p:cNvPr>
            <p:cNvSpPr>
              <a:spLocks noChangeAspect="1"/>
            </p:cNvSpPr>
            <p:nvPr/>
          </p:nvSpPr>
          <p:spPr>
            <a:xfrm>
              <a:off x="3747922" y="393674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6" name="Organigramme : Connecteur 25">
              <a:extLst>
                <a:ext uri="{FF2B5EF4-FFF2-40B4-BE49-F238E27FC236}">
                  <a16:creationId xmlns:a16="http://schemas.microsoft.com/office/drawing/2014/main" id="{2546359F-CAC6-4A41-B31D-75E1CF36815B}"/>
                </a:ext>
              </a:extLst>
            </p:cNvPr>
            <p:cNvSpPr>
              <a:spLocks noChangeAspect="1"/>
            </p:cNvSpPr>
            <p:nvPr/>
          </p:nvSpPr>
          <p:spPr>
            <a:xfrm>
              <a:off x="3435397" y="376852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7" name="Organigramme : Connecteur 26">
              <a:extLst>
                <a:ext uri="{FF2B5EF4-FFF2-40B4-BE49-F238E27FC236}">
                  <a16:creationId xmlns:a16="http://schemas.microsoft.com/office/drawing/2014/main" id="{553FA04C-FE6D-4C65-8F86-108F54BB9EB2}"/>
                </a:ext>
              </a:extLst>
            </p:cNvPr>
            <p:cNvSpPr>
              <a:spLocks noChangeAspect="1"/>
            </p:cNvSpPr>
            <p:nvPr/>
          </p:nvSpPr>
          <p:spPr>
            <a:xfrm>
              <a:off x="3267319" y="391064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30" name="Connecteur droit avec flèche 29">
              <a:extLst>
                <a:ext uri="{FF2B5EF4-FFF2-40B4-BE49-F238E27FC236}">
                  <a16:creationId xmlns:a16="http://schemas.microsoft.com/office/drawing/2014/main" id="{A13589DC-52CA-4E0D-93E8-437F4B6A3ACE}"/>
                </a:ext>
              </a:extLst>
            </p:cNvPr>
            <p:cNvCxnSpPr>
              <a:cxnSpLocks/>
            </p:cNvCxnSpPr>
            <p:nvPr/>
          </p:nvCxnSpPr>
          <p:spPr>
            <a:xfrm flipV="1">
              <a:off x="2916505" y="2649874"/>
              <a:ext cx="1768784" cy="2354309"/>
            </a:xfrm>
            <a:prstGeom prst="straightConnector1">
              <a:avLst/>
            </a:prstGeom>
            <a:ln w="19050">
              <a:headEnd type="none" w="med" len="med"/>
              <a:tailEnd type="none" w="med" len="med"/>
            </a:ln>
            <a:effectLst>
              <a:outerShdw blurRad="50800" dist="38100" algn="l" rotWithShape="0">
                <a:prstClr val="black">
                  <a:alpha val="40000"/>
                </a:prstClr>
              </a:outerShdw>
            </a:effectLst>
          </p:spPr>
          <p:style>
            <a:lnRef idx="3">
              <a:schemeClr val="accent2"/>
            </a:lnRef>
            <a:fillRef idx="0">
              <a:schemeClr val="accent2"/>
            </a:fillRef>
            <a:effectRef idx="2">
              <a:schemeClr val="accent2"/>
            </a:effectRef>
            <a:fontRef idx="minor">
              <a:schemeClr val="tx1"/>
            </a:fontRef>
          </p:style>
        </p:cxnSp>
        <p:sp>
          <p:nvSpPr>
            <p:cNvPr id="34" name="Rectangle 33">
              <a:extLst>
                <a:ext uri="{FF2B5EF4-FFF2-40B4-BE49-F238E27FC236}">
                  <a16:creationId xmlns:a16="http://schemas.microsoft.com/office/drawing/2014/main" id="{F042394B-2267-4AD5-B41C-562DAA4108D1}"/>
                </a:ext>
              </a:extLst>
            </p:cNvPr>
            <p:cNvSpPr>
              <a:spLocks noChangeAspect="1"/>
            </p:cNvSpPr>
            <p:nvPr/>
          </p:nvSpPr>
          <p:spPr>
            <a:xfrm rot="7820797">
              <a:off x="5219586" y="2965384"/>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5" name="Rectangle 34">
              <a:extLst>
                <a:ext uri="{FF2B5EF4-FFF2-40B4-BE49-F238E27FC236}">
                  <a16:creationId xmlns:a16="http://schemas.microsoft.com/office/drawing/2014/main" id="{0764F1C1-7152-4229-99AB-5E4EF98667D4}"/>
                </a:ext>
              </a:extLst>
            </p:cNvPr>
            <p:cNvSpPr>
              <a:spLocks noChangeAspect="1"/>
            </p:cNvSpPr>
            <p:nvPr/>
          </p:nvSpPr>
          <p:spPr>
            <a:xfrm rot="7820797">
              <a:off x="4693349" y="3363465"/>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6" name="Rectangle 35">
              <a:extLst>
                <a:ext uri="{FF2B5EF4-FFF2-40B4-BE49-F238E27FC236}">
                  <a16:creationId xmlns:a16="http://schemas.microsoft.com/office/drawing/2014/main" id="{7321645B-B96D-4398-BEE0-71F252E59164}"/>
                </a:ext>
              </a:extLst>
            </p:cNvPr>
            <p:cNvSpPr>
              <a:spLocks noChangeAspect="1"/>
            </p:cNvSpPr>
            <p:nvPr/>
          </p:nvSpPr>
          <p:spPr>
            <a:xfrm rot="7820797">
              <a:off x="4619053" y="3623779"/>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7" name="Rectangle 36">
              <a:extLst>
                <a:ext uri="{FF2B5EF4-FFF2-40B4-BE49-F238E27FC236}">
                  <a16:creationId xmlns:a16="http://schemas.microsoft.com/office/drawing/2014/main" id="{5B40A279-7D53-408A-8E56-8238382FEE84}"/>
                </a:ext>
              </a:extLst>
            </p:cNvPr>
            <p:cNvSpPr>
              <a:spLocks noChangeAspect="1"/>
            </p:cNvSpPr>
            <p:nvPr/>
          </p:nvSpPr>
          <p:spPr>
            <a:xfrm rot="7820797">
              <a:off x="4733544" y="3750244"/>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8" name="Rectangle 37">
              <a:extLst>
                <a:ext uri="{FF2B5EF4-FFF2-40B4-BE49-F238E27FC236}">
                  <a16:creationId xmlns:a16="http://schemas.microsoft.com/office/drawing/2014/main" id="{E4BEF699-56C7-49B3-BD69-D5A0BF4C7985}"/>
                </a:ext>
              </a:extLst>
            </p:cNvPr>
            <p:cNvSpPr>
              <a:spLocks noChangeAspect="1"/>
            </p:cNvSpPr>
            <p:nvPr/>
          </p:nvSpPr>
          <p:spPr>
            <a:xfrm rot="7820797">
              <a:off x="4427321" y="3903426"/>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0" name="Rectangle 39">
              <a:extLst>
                <a:ext uri="{FF2B5EF4-FFF2-40B4-BE49-F238E27FC236}">
                  <a16:creationId xmlns:a16="http://schemas.microsoft.com/office/drawing/2014/main" id="{13BB6F0B-5745-47B9-AC52-8D1CF2654F6A}"/>
                </a:ext>
              </a:extLst>
            </p:cNvPr>
            <p:cNvSpPr>
              <a:spLocks noChangeAspect="1"/>
            </p:cNvSpPr>
            <p:nvPr/>
          </p:nvSpPr>
          <p:spPr>
            <a:xfrm rot="7820797">
              <a:off x="4526651" y="3421803"/>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1" name="Rectangle 40">
              <a:extLst>
                <a:ext uri="{FF2B5EF4-FFF2-40B4-BE49-F238E27FC236}">
                  <a16:creationId xmlns:a16="http://schemas.microsoft.com/office/drawing/2014/main" id="{72367A1F-7284-452B-B86A-1C87FEBF07D3}"/>
                </a:ext>
              </a:extLst>
            </p:cNvPr>
            <p:cNvSpPr>
              <a:spLocks noChangeAspect="1"/>
            </p:cNvSpPr>
            <p:nvPr/>
          </p:nvSpPr>
          <p:spPr>
            <a:xfrm rot="7820797">
              <a:off x="5372936" y="2960355"/>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2" name="Rectangle 41">
              <a:extLst>
                <a:ext uri="{FF2B5EF4-FFF2-40B4-BE49-F238E27FC236}">
                  <a16:creationId xmlns:a16="http://schemas.microsoft.com/office/drawing/2014/main" id="{94C8B0A4-6B74-4F60-8546-6BBE1628AACE}"/>
                </a:ext>
              </a:extLst>
            </p:cNvPr>
            <p:cNvSpPr>
              <a:spLocks noChangeAspect="1"/>
            </p:cNvSpPr>
            <p:nvPr/>
          </p:nvSpPr>
          <p:spPr>
            <a:xfrm rot="7820797">
              <a:off x="4933665" y="3540531"/>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3" name="Rectangle 42">
              <a:extLst>
                <a:ext uri="{FF2B5EF4-FFF2-40B4-BE49-F238E27FC236}">
                  <a16:creationId xmlns:a16="http://schemas.microsoft.com/office/drawing/2014/main" id="{9CA24862-922E-4BF3-873D-082BD3C65BA3}"/>
                </a:ext>
              </a:extLst>
            </p:cNvPr>
            <p:cNvSpPr>
              <a:spLocks noChangeAspect="1"/>
            </p:cNvSpPr>
            <p:nvPr/>
          </p:nvSpPr>
          <p:spPr>
            <a:xfrm rot="7820797">
              <a:off x="3416614" y="4524085"/>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4" name="Rectangle 43">
              <a:extLst>
                <a:ext uri="{FF2B5EF4-FFF2-40B4-BE49-F238E27FC236}">
                  <a16:creationId xmlns:a16="http://schemas.microsoft.com/office/drawing/2014/main" id="{35C003DE-D467-4DC9-996D-8A3FE03C6FA7}"/>
                </a:ext>
              </a:extLst>
            </p:cNvPr>
            <p:cNvSpPr>
              <a:spLocks noChangeAspect="1"/>
            </p:cNvSpPr>
            <p:nvPr/>
          </p:nvSpPr>
          <p:spPr>
            <a:xfrm rot="7820797">
              <a:off x="3625524" y="4466205"/>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5" name="Rectangle 44">
              <a:extLst>
                <a:ext uri="{FF2B5EF4-FFF2-40B4-BE49-F238E27FC236}">
                  <a16:creationId xmlns:a16="http://schemas.microsoft.com/office/drawing/2014/main" id="{462FBAB8-2D2B-44B8-BF3E-2C65A0EA2B35}"/>
                </a:ext>
              </a:extLst>
            </p:cNvPr>
            <p:cNvSpPr>
              <a:spLocks noChangeAspect="1"/>
            </p:cNvSpPr>
            <p:nvPr/>
          </p:nvSpPr>
          <p:spPr>
            <a:xfrm rot="7820797">
              <a:off x="3824596" y="4689593"/>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47" name="Rectangle 46">
              <a:extLst>
                <a:ext uri="{FF2B5EF4-FFF2-40B4-BE49-F238E27FC236}">
                  <a16:creationId xmlns:a16="http://schemas.microsoft.com/office/drawing/2014/main" id="{ABFF31A2-49BD-424C-B2E7-0349BC3E3DC3}"/>
                </a:ext>
              </a:extLst>
            </p:cNvPr>
            <p:cNvSpPr>
              <a:spLocks noChangeAspect="1"/>
            </p:cNvSpPr>
            <p:nvPr/>
          </p:nvSpPr>
          <p:spPr>
            <a:xfrm rot="7820797">
              <a:off x="5145998" y="3421802"/>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grpSp>
        <p:nvGrpSpPr>
          <p:cNvPr id="49" name="Groupe 48">
            <a:extLst>
              <a:ext uri="{FF2B5EF4-FFF2-40B4-BE49-F238E27FC236}">
                <a16:creationId xmlns:a16="http://schemas.microsoft.com/office/drawing/2014/main" id="{19064350-212D-44E9-9810-51E6C21AA548}"/>
              </a:ext>
            </a:extLst>
          </p:cNvPr>
          <p:cNvGrpSpPr/>
          <p:nvPr/>
        </p:nvGrpSpPr>
        <p:grpSpPr>
          <a:xfrm>
            <a:off x="4142596" y="1852600"/>
            <a:ext cx="2587148" cy="1900538"/>
            <a:chOff x="2032138" y="2470132"/>
            <a:chExt cx="3449531" cy="2534051"/>
          </a:xfrm>
        </p:grpSpPr>
        <p:cxnSp>
          <p:nvCxnSpPr>
            <p:cNvPr id="50" name="Connecteur droit avec flèche 49">
              <a:extLst>
                <a:ext uri="{FF2B5EF4-FFF2-40B4-BE49-F238E27FC236}">
                  <a16:creationId xmlns:a16="http://schemas.microsoft.com/office/drawing/2014/main" id="{96727054-26F8-4771-8FC7-D1F100EC2983}"/>
                </a:ext>
              </a:extLst>
            </p:cNvPr>
            <p:cNvCxnSpPr>
              <a:cxnSpLocks/>
            </p:cNvCxnSpPr>
            <p:nvPr/>
          </p:nvCxnSpPr>
          <p:spPr>
            <a:xfrm>
              <a:off x="2032138" y="4211418"/>
              <a:ext cx="30225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F9A12B40-EDC8-4507-8898-9EA3E895CA1C}"/>
                </a:ext>
              </a:extLst>
            </p:cNvPr>
            <p:cNvCxnSpPr>
              <a:cxnSpLocks/>
            </p:cNvCxnSpPr>
            <p:nvPr/>
          </p:nvCxnSpPr>
          <p:spPr>
            <a:xfrm flipV="1">
              <a:off x="2989816" y="2470132"/>
              <a:ext cx="0" cy="25340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Organigramme : Connecteur 51">
              <a:extLst>
                <a:ext uri="{FF2B5EF4-FFF2-40B4-BE49-F238E27FC236}">
                  <a16:creationId xmlns:a16="http://schemas.microsoft.com/office/drawing/2014/main" id="{3AC15CC5-2CE0-4317-A4DA-29DD977ACC68}"/>
                </a:ext>
              </a:extLst>
            </p:cNvPr>
            <p:cNvSpPr>
              <a:spLocks noChangeAspect="1"/>
            </p:cNvSpPr>
            <p:nvPr/>
          </p:nvSpPr>
          <p:spPr>
            <a:xfrm>
              <a:off x="3793208" y="325785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3" name="Organigramme : Connecteur 52">
              <a:extLst>
                <a:ext uri="{FF2B5EF4-FFF2-40B4-BE49-F238E27FC236}">
                  <a16:creationId xmlns:a16="http://schemas.microsoft.com/office/drawing/2014/main" id="{786111FB-DF1B-4354-9F0C-F93815C53D97}"/>
                </a:ext>
              </a:extLst>
            </p:cNvPr>
            <p:cNvSpPr>
              <a:spLocks noChangeAspect="1"/>
            </p:cNvSpPr>
            <p:nvPr/>
          </p:nvSpPr>
          <p:spPr>
            <a:xfrm>
              <a:off x="3214757" y="367376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4" name="Organigramme : Connecteur 53">
              <a:extLst>
                <a:ext uri="{FF2B5EF4-FFF2-40B4-BE49-F238E27FC236}">
                  <a16:creationId xmlns:a16="http://schemas.microsoft.com/office/drawing/2014/main" id="{80D46907-D2EE-455E-9B2C-A79E31FBB0E7}"/>
                </a:ext>
              </a:extLst>
            </p:cNvPr>
            <p:cNvSpPr>
              <a:spLocks noChangeAspect="1"/>
            </p:cNvSpPr>
            <p:nvPr/>
          </p:nvSpPr>
          <p:spPr>
            <a:xfrm>
              <a:off x="3949148" y="376391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5" name="Organigramme : Connecteur 54">
              <a:extLst>
                <a:ext uri="{FF2B5EF4-FFF2-40B4-BE49-F238E27FC236}">
                  <a16:creationId xmlns:a16="http://schemas.microsoft.com/office/drawing/2014/main" id="{088B543C-A8E6-4411-A398-8C59B0DB4C25}"/>
                </a:ext>
              </a:extLst>
            </p:cNvPr>
            <p:cNvSpPr>
              <a:spLocks noChangeAspect="1"/>
            </p:cNvSpPr>
            <p:nvPr/>
          </p:nvSpPr>
          <p:spPr>
            <a:xfrm>
              <a:off x="2389840" y="410195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6" name="Organigramme : Connecteur 55">
              <a:extLst>
                <a:ext uri="{FF2B5EF4-FFF2-40B4-BE49-F238E27FC236}">
                  <a16:creationId xmlns:a16="http://schemas.microsoft.com/office/drawing/2014/main" id="{CA6F2EE1-DA97-451F-91AD-8CEA37F1032A}"/>
                </a:ext>
              </a:extLst>
            </p:cNvPr>
            <p:cNvSpPr>
              <a:spLocks noChangeAspect="1"/>
            </p:cNvSpPr>
            <p:nvPr/>
          </p:nvSpPr>
          <p:spPr>
            <a:xfrm>
              <a:off x="2630075" y="432631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7" name="Organigramme : Connecteur 56">
              <a:extLst>
                <a:ext uri="{FF2B5EF4-FFF2-40B4-BE49-F238E27FC236}">
                  <a16:creationId xmlns:a16="http://schemas.microsoft.com/office/drawing/2014/main" id="{87D8C387-B52A-4C92-A1C7-64806A22D0CB}"/>
                </a:ext>
              </a:extLst>
            </p:cNvPr>
            <p:cNvSpPr>
              <a:spLocks noChangeAspect="1"/>
            </p:cNvSpPr>
            <p:nvPr/>
          </p:nvSpPr>
          <p:spPr>
            <a:xfrm>
              <a:off x="3228862" y="429298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8" name="Organigramme : Connecteur 57">
              <a:extLst>
                <a:ext uri="{FF2B5EF4-FFF2-40B4-BE49-F238E27FC236}">
                  <a16:creationId xmlns:a16="http://schemas.microsoft.com/office/drawing/2014/main" id="{8E4872D6-646F-4465-8707-991DB649CD8B}"/>
                </a:ext>
              </a:extLst>
            </p:cNvPr>
            <p:cNvSpPr>
              <a:spLocks noChangeAspect="1"/>
            </p:cNvSpPr>
            <p:nvPr/>
          </p:nvSpPr>
          <p:spPr>
            <a:xfrm rot="7820797">
              <a:off x="3458071" y="332470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9" name="Rectangle 58">
              <a:extLst>
                <a:ext uri="{FF2B5EF4-FFF2-40B4-BE49-F238E27FC236}">
                  <a16:creationId xmlns:a16="http://schemas.microsoft.com/office/drawing/2014/main" id="{9E78D0A1-1E46-446E-B764-B4E2FF3D3BFA}"/>
                </a:ext>
              </a:extLst>
            </p:cNvPr>
            <p:cNvSpPr>
              <a:spLocks noChangeAspect="1"/>
            </p:cNvSpPr>
            <p:nvPr/>
          </p:nvSpPr>
          <p:spPr>
            <a:xfrm rot="7820797">
              <a:off x="4171447" y="3522112"/>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0" name="Organigramme : Connecteur 59">
              <a:extLst>
                <a:ext uri="{FF2B5EF4-FFF2-40B4-BE49-F238E27FC236}">
                  <a16:creationId xmlns:a16="http://schemas.microsoft.com/office/drawing/2014/main" id="{68A02571-9CD8-4A2B-AEFC-C6A3AA9B9EAA}"/>
                </a:ext>
              </a:extLst>
            </p:cNvPr>
            <p:cNvSpPr>
              <a:spLocks noChangeAspect="1"/>
            </p:cNvSpPr>
            <p:nvPr/>
          </p:nvSpPr>
          <p:spPr>
            <a:xfrm>
              <a:off x="3003617" y="406493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1" name="Organigramme : Connecteur 60">
              <a:extLst>
                <a:ext uri="{FF2B5EF4-FFF2-40B4-BE49-F238E27FC236}">
                  <a16:creationId xmlns:a16="http://schemas.microsoft.com/office/drawing/2014/main" id="{60B43D2A-1C39-4BEE-AEE8-53F9103F0B7B}"/>
                </a:ext>
              </a:extLst>
            </p:cNvPr>
            <p:cNvSpPr>
              <a:spLocks noChangeAspect="1"/>
            </p:cNvSpPr>
            <p:nvPr/>
          </p:nvSpPr>
          <p:spPr>
            <a:xfrm>
              <a:off x="3747922" y="393674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2" name="Organigramme : Connecteur 61">
              <a:extLst>
                <a:ext uri="{FF2B5EF4-FFF2-40B4-BE49-F238E27FC236}">
                  <a16:creationId xmlns:a16="http://schemas.microsoft.com/office/drawing/2014/main" id="{8AC26509-F65C-42E1-B063-3EED6F9DE006}"/>
                </a:ext>
              </a:extLst>
            </p:cNvPr>
            <p:cNvSpPr>
              <a:spLocks noChangeAspect="1"/>
            </p:cNvSpPr>
            <p:nvPr/>
          </p:nvSpPr>
          <p:spPr>
            <a:xfrm>
              <a:off x="3435397" y="376852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3" name="Organigramme : Connecteur 62">
              <a:extLst>
                <a:ext uri="{FF2B5EF4-FFF2-40B4-BE49-F238E27FC236}">
                  <a16:creationId xmlns:a16="http://schemas.microsoft.com/office/drawing/2014/main" id="{93344654-D10A-4360-9B3A-2F22D04D02A6}"/>
                </a:ext>
              </a:extLst>
            </p:cNvPr>
            <p:cNvSpPr>
              <a:spLocks noChangeAspect="1"/>
            </p:cNvSpPr>
            <p:nvPr/>
          </p:nvSpPr>
          <p:spPr>
            <a:xfrm>
              <a:off x="3267319" y="391064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5" name="Rectangle 64">
              <a:extLst>
                <a:ext uri="{FF2B5EF4-FFF2-40B4-BE49-F238E27FC236}">
                  <a16:creationId xmlns:a16="http://schemas.microsoft.com/office/drawing/2014/main" id="{9ACF8D14-CDA4-468F-A0D7-2FD93AB574D7}"/>
                </a:ext>
              </a:extLst>
            </p:cNvPr>
            <p:cNvSpPr>
              <a:spLocks noChangeAspect="1"/>
            </p:cNvSpPr>
            <p:nvPr/>
          </p:nvSpPr>
          <p:spPr>
            <a:xfrm rot="7820797">
              <a:off x="5219586" y="2965384"/>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6" name="Rectangle 65">
              <a:extLst>
                <a:ext uri="{FF2B5EF4-FFF2-40B4-BE49-F238E27FC236}">
                  <a16:creationId xmlns:a16="http://schemas.microsoft.com/office/drawing/2014/main" id="{B09A8D76-A368-4800-959B-8D7B45EA4C49}"/>
                </a:ext>
              </a:extLst>
            </p:cNvPr>
            <p:cNvSpPr>
              <a:spLocks noChangeAspect="1"/>
            </p:cNvSpPr>
            <p:nvPr/>
          </p:nvSpPr>
          <p:spPr>
            <a:xfrm rot="7820797">
              <a:off x="4693349" y="3363465"/>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7" name="Rectangle 66">
              <a:extLst>
                <a:ext uri="{FF2B5EF4-FFF2-40B4-BE49-F238E27FC236}">
                  <a16:creationId xmlns:a16="http://schemas.microsoft.com/office/drawing/2014/main" id="{1260151C-1C57-4726-B95C-1031530F2809}"/>
                </a:ext>
              </a:extLst>
            </p:cNvPr>
            <p:cNvSpPr>
              <a:spLocks noChangeAspect="1"/>
            </p:cNvSpPr>
            <p:nvPr/>
          </p:nvSpPr>
          <p:spPr>
            <a:xfrm rot="7820797">
              <a:off x="4619053" y="3623779"/>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8" name="Rectangle 67">
              <a:extLst>
                <a:ext uri="{FF2B5EF4-FFF2-40B4-BE49-F238E27FC236}">
                  <a16:creationId xmlns:a16="http://schemas.microsoft.com/office/drawing/2014/main" id="{6C17B5CF-1DFD-4C90-B839-E453F386ADBD}"/>
                </a:ext>
              </a:extLst>
            </p:cNvPr>
            <p:cNvSpPr>
              <a:spLocks noChangeAspect="1"/>
            </p:cNvSpPr>
            <p:nvPr/>
          </p:nvSpPr>
          <p:spPr>
            <a:xfrm rot="7820797">
              <a:off x="4733544" y="3750244"/>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9" name="Rectangle 68">
              <a:extLst>
                <a:ext uri="{FF2B5EF4-FFF2-40B4-BE49-F238E27FC236}">
                  <a16:creationId xmlns:a16="http://schemas.microsoft.com/office/drawing/2014/main" id="{D037C2D9-21A0-4456-BCD2-40325B56AAC5}"/>
                </a:ext>
              </a:extLst>
            </p:cNvPr>
            <p:cNvSpPr>
              <a:spLocks noChangeAspect="1"/>
            </p:cNvSpPr>
            <p:nvPr/>
          </p:nvSpPr>
          <p:spPr>
            <a:xfrm rot="7820797">
              <a:off x="4427321" y="3903426"/>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0" name="Rectangle 69">
              <a:extLst>
                <a:ext uri="{FF2B5EF4-FFF2-40B4-BE49-F238E27FC236}">
                  <a16:creationId xmlns:a16="http://schemas.microsoft.com/office/drawing/2014/main" id="{8D37214B-2D0B-4087-A6F2-20A9FEECA54C}"/>
                </a:ext>
              </a:extLst>
            </p:cNvPr>
            <p:cNvSpPr>
              <a:spLocks noChangeAspect="1"/>
            </p:cNvSpPr>
            <p:nvPr/>
          </p:nvSpPr>
          <p:spPr>
            <a:xfrm rot="7820797">
              <a:off x="4526651" y="3421803"/>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1" name="Rectangle 70">
              <a:extLst>
                <a:ext uri="{FF2B5EF4-FFF2-40B4-BE49-F238E27FC236}">
                  <a16:creationId xmlns:a16="http://schemas.microsoft.com/office/drawing/2014/main" id="{7B025365-EFD6-47FB-B000-8DBC40E3801F}"/>
                </a:ext>
              </a:extLst>
            </p:cNvPr>
            <p:cNvSpPr>
              <a:spLocks noChangeAspect="1"/>
            </p:cNvSpPr>
            <p:nvPr/>
          </p:nvSpPr>
          <p:spPr>
            <a:xfrm rot="7820797">
              <a:off x="5372936" y="2960355"/>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2" name="Rectangle 71">
              <a:extLst>
                <a:ext uri="{FF2B5EF4-FFF2-40B4-BE49-F238E27FC236}">
                  <a16:creationId xmlns:a16="http://schemas.microsoft.com/office/drawing/2014/main" id="{C9AACC47-6D67-4B4B-8F64-5F137D13F521}"/>
                </a:ext>
              </a:extLst>
            </p:cNvPr>
            <p:cNvSpPr>
              <a:spLocks noChangeAspect="1"/>
            </p:cNvSpPr>
            <p:nvPr/>
          </p:nvSpPr>
          <p:spPr>
            <a:xfrm rot="7820797">
              <a:off x="4933665" y="3540531"/>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3" name="Rectangle 72">
              <a:extLst>
                <a:ext uri="{FF2B5EF4-FFF2-40B4-BE49-F238E27FC236}">
                  <a16:creationId xmlns:a16="http://schemas.microsoft.com/office/drawing/2014/main" id="{E5B11038-F106-4A63-93C3-937C86C97FF3}"/>
                </a:ext>
              </a:extLst>
            </p:cNvPr>
            <p:cNvSpPr>
              <a:spLocks noChangeAspect="1"/>
            </p:cNvSpPr>
            <p:nvPr/>
          </p:nvSpPr>
          <p:spPr>
            <a:xfrm rot="7820797">
              <a:off x="3416614" y="4524085"/>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4" name="Rectangle 73">
              <a:extLst>
                <a:ext uri="{FF2B5EF4-FFF2-40B4-BE49-F238E27FC236}">
                  <a16:creationId xmlns:a16="http://schemas.microsoft.com/office/drawing/2014/main" id="{034AC0CF-24C9-4496-8D7C-6DBB93644019}"/>
                </a:ext>
              </a:extLst>
            </p:cNvPr>
            <p:cNvSpPr>
              <a:spLocks noChangeAspect="1"/>
            </p:cNvSpPr>
            <p:nvPr/>
          </p:nvSpPr>
          <p:spPr>
            <a:xfrm rot="7820797">
              <a:off x="3625524" y="4466205"/>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5" name="Rectangle 74">
              <a:extLst>
                <a:ext uri="{FF2B5EF4-FFF2-40B4-BE49-F238E27FC236}">
                  <a16:creationId xmlns:a16="http://schemas.microsoft.com/office/drawing/2014/main" id="{E58B2BBC-98ED-4689-8782-10DB9E316798}"/>
                </a:ext>
              </a:extLst>
            </p:cNvPr>
            <p:cNvSpPr>
              <a:spLocks noChangeAspect="1"/>
            </p:cNvSpPr>
            <p:nvPr/>
          </p:nvSpPr>
          <p:spPr>
            <a:xfrm rot="7820797">
              <a:off x="3824596" y="4689593"/>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6" name="Rectangle 75">
              <a:extLst>
                <a:ext uri="{FF2B5EF4-FFF2-40B4-BE49-F238E27FC236}">
                  <a16:creationId xmlns:a16="http://schemas.microsoft.com/office/drawing/2014/main" id="{AFC8C816-F799-4091-8DB4-E0B37F564630}"/>
                </a:ext>
              </a:extLst>
            </p:cNvPr>
            <p:cNvSpPr>
              <a:spLocks noChangeAspect="1"/>
            </p:cNvSpPr>
            <p:nvPr/>
          </p:nvSpPr>
          <p:spPr>
            <a:xfrm rot="7820797">
              <a:off x="5145998" y="3421802"/>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
        <p:nvSpPr>
          <p:cNvPr id="78" name="Forme libre : forme 77">
            <a:extLst>
              <a:ext uri="{FF2B5EF4-FFF2-40B4-BE49-F238E27FC236}">
                <a16:creationId xmlns:a16="http://schemas.microsoft.com/office/drawing/2014/main" id="{D80067E7-8D98-4961-A0FA-993FC5D3EBCF}"/>
              </a:ext>
            </a:extLst>
          </p:cNvPr>
          <p:cNvSpPr/>
          <p:nvPr/>
        </p:nvSpPr>
        <p:spPr>
          <a:xfrm>
            <a:off x="4612481" y="2116931"/>
            <a:ext cx="1819275" cy="1401441"/>
          </a:xfrm>
          <a:custGeom>
            <a:avLst/>
            <a:gdLst>
              <a:gd name="connsiteX0" fmla="*/ 0 w 2425700"/>
              <a:gd name="connsiteY0" fmla="*/ 1844675 h 1868588"/>
              <a:gd name="connsiteX1" fmla="*/ 419100 w 2425700"/>
              <a:gd name="connsiteY1" fmla="*/ 1838325 h 1868588"/>
              <a:gd name="connsiteX2" fmla="*/ 847725 w 2425700"/>
              <a:gd name="connsiteY2" fmla="*/ 1546225 h 1868588"/>
              <a:gd name="connsiteX3" fmla="*/ 1250950 w 2425700"/>
              <a:gd name="connsiteY3" fmla="*/ 1320800 h 1868588"/>
              <a:gd name="connsiteX4" fmla="*/ 1470025 w 2425700"/>
              <a:gd name="connsiteY4" fmla="*/ 1035050 h 1868588"/>
              <a:gd name="connsiteX5" fmla="*/ 1416050 w 2425700"/>
              <a:gd name="connsiteY5" fmla="*/ 768350 h 1868588"/>
              <a:gd name="connsiteX6" fmla="*/ 1498600 w 2425700"/>
              <a:gd name="connsiteY6" fmla="*/ 622300 h 1868588"/>
              <a:gd name="connsiteX7" fmla="*/ 1870075 w 2425700"/>
              <a:gd name="connsiteY7" fmla="*/ 260350 h 1868588"/>
              <a:gd name="connsiteX8" fmla="*/ 2425700 w 2425700"/>
              <a:gd name="connsiteY8" fmla="*/ 0 h 186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5700" h="1868588">
                <a:moveTo>
                  <a:pt x="0" y="1844675"/>
                </a:moveTo>
                <a:cubicBezTo>
                  <a:pt x="138906" y="1866371"/>
                  <a:pt x="277813" y="1888067"/>
                  <a:pt x="419100" y="1838325"/>
                </a:cubicBezTo>
                <a:cubicBezTo>
                  <a:pt x="560388" y="1788583"/>
                  <a:pt x="709083" y="1632479"/>
                  <a:pt x="847725" y="1546225"/>
                </a:cubicBezTo>
                <a:cubicBezTo>
                  <a:pt x="986367" y="1459971"/>
                  <a:pt x="1147234" y="1405996"/>
                  <a:pt x="1250950" y="1320800"/>
                </a:cubicBezTo>
                <a:cubicBezTo>
                  <a:pt x="1354666" y="1235604"/>
                  <a:pt x="1442508" y="1127125"/>
                  <a:pt x="1470025" y="1035050"/>
                </a:cubicBezTo>
                <a:cubicBezTo>
                  <a:pt x="1497542" y="942975"/>
                  <a:pt x="1411288" y="837142"/>
                  <a:pt x="1416050" y="768350"/>
                </a:cubicBezTo>
                <a:cubicBezTo>
                  <a:pt x="1420812" y="699558"/>
                  <a:pt x="1422929" y="706967"/>
                  <a:pt x="1498600" y="622300"/>
                </a:cubicBezTo>
                <a:cubicBezTo>
                  <a:pt x="1574271" y="537633"/>
                  <a:pt x="1715558" y="364067"/>
                  <a:pt x="1870075" y="260350"/>
                </a:cubicBezTo>
                <a:cubicBezTo>
                  <a:pt x="2024592" y="156633"/>
                  <a:pt x="2225146" y="78316"/>
                  <a:pt x="2425700" y="0"/>
                </a:cubicBezTo>
              </a:path>
            </a:pathLst>
          </a:custGeom>
          <a:ln w="19050">
            <a:headEnd type="none" w="med" len="med"/>
            <a:tailEnd type="none" w="med" len="med"/>
          </a:ln>
          <a:effectLst>
            <a:outerShdw blurRad="50800" dist="38100" algn="l" rotWithShape="0">
              <a:prstClr val="black">
                <a:alpha val="40000"/>
              </a:prstClr>
            </a:outerShdw>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fr-FR" sz="1350" dirty="0"/>
          </a:p>
        </p:txBody>
      </p:sp>
      <mc:AlternateContent xmlns:mc="http://schemas.openxmlformats.org/markup-compatibility/2006" xmlns:a14="http://schemas.microsoft.com/office/drawing/2010/main">
        <mc:Choice Requires="a14">
          <p:sp>
            <p:nvSpPr>
              <p:cNvPr id="80" name="ZoneTexte 79">
                <a:extLst>
                  <a:ext uri="{FF2B5EF4-FFF2-40B4-BE49-F238E27FC236}">
                    <a16:creationId xmlns:a16="http://schemas.microsoft.com/office/drawing/2014/main" id="{690D6397-63E6-41B8-81F4-9DE8AAA19C49}"/>
                  </a:ext>
                </a:extLst>
              </p:cNvPr>
              <p:cNvSpPr txBox="1"/>
              <p:nvPr/>
            </p:nvSpPr>
            <p:spPr>
              <a:xfrm>
                <a:off x="1217181" y="3896618"/>
                <a:ext cx="2164364" cy="253916"/>
              </a:xfrm>
              <a:prstGeom prst="rect">
                <a:avLst/>
              </a:prstGeom>
              <a:noFill/>
            </p:spPr>
            <p:txBody>
              <a:bodyPr wrap="square" rtlCol="0">
                <a:spAutoFit/>
              </a:bodyPr>
              <a:lstStyle/>
              <a:p>
                <a:r>
                  <a:rPr lang="fr-FR" sz="1050" dirty="0"/>
                  <a:t>Faible régularisation : </a:t>
                </a:r>
                <a14:m>
                  <m:oMath xmlns:m="http://schemas.openxmlformats.org/officeDocument/2006/math">
                    <m:r>
                      <a:rPr lang="fr-FR" sz="1050" i="1" dirty="0">
                        <a:latin typeface="Cambria Math" panose="02040503050406030204" pitchFamily="18" charset="0"/>
                      </a:rPr>
                      <m:t>𝐶</m:t>
                    </m:r>
                  </m:oMath>
                </a14:m>
                <a:r>
                  <a:rPr lang="fr-FR" sz="1050" dirty="0"/>
                  <a:t> est petit</a:t>
                </a:r>
              </a:p>
            </p:txBody>
          </p:sp>
        </mc:Choice>
        <mc:Fallback xmlns="">
          <p:sp>
            <p:nvSpPr>
              <p:cNvPr id="80" name="ZoneTexte 79">
                <a:extLst>
                  <a:ext uri="{FF2B5EF4-FFF2-40B4-BE49-F238E27FC236}">
                    <a16:creationId xmlns:a16="http://schemas.microsoft.com/office/drawing/2014/main" id="{690D6397-63E6-41B8-81F4-9DE8AAA19C49}"/>
                  </a:ext>
                </a:extLst>
              </p:cNvPr>
              <p:cNvSpPr txBox="1">
                <a:spLocks noRot="1" noChangeAspect="1" noMove="1" noResize="1" noEditPoints="1" noAdjustHandles="1" noChangeArrowheads="1" noChangeShapeType="1" noTextEdit="1"/>
              </p:cNvSpPr>
              <p:nvPr/>
            </p:nvSpPr>
            <p:spPr>
              <a:xfrm>
                <a:off x="1217181" y="3896618"/>
                <a:ext cx="2164364" cy="253916"/>
              </a:xfrm>
              <a:prstGeom prst="rect">
                <a:avLst/>
              </a:prstGeom>
              <a:blipFill>
                <a:blip r:embed="rId2"/>
                <a:stretch>
                  <a:fillRect b="-1190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1" name="ZoneTexte 80">
                <a:extLst>
                  <a:ext uri="{FF2B5EF4-FFF2-40B4-BE49-F238E27FC236}">
                    <a16:creationId xmlns:a16="http://schemas.microsoft.com/office/drawing/2014/main" id="{8AB7A627-8EC5-4C13-A624-98A7B43FF69F}"/>
                  </a:ext>
                </a:extLst>
              </p:cNvPr>
              <p:cNvSpPr txBox="1"/>
              <p:nvPr/>
            </p:nvSpPr>
            <p:spPr>
              <a:xfrm>
                <a:off x="4585897" y="3874553"/>
                <a:ext cx="2266887" cy="253916"/>
              </a:xfrm>
              <a:prstGeom prst="rect">
                <a:avLst/>
              </a:prstGeom>
              <a:noFill/>
            </p:spPr>
            <p:txBody>
              <a:bodyPr wrap="square" rtlCol="0">
                <a:spAutoFit/>
              </a:bodyPr>
              <a:lstStyle/>
              <a:p>
                <a:r>
                  <a:rPr lang="fr-FR" sz="1050" dirty="0"/>
                  <a:t>Forte régularisation : </a:t>
                </a:r>
                <a14:m>
                  <m:oMath xmlns:m="http://schemas.openxmlformats.org/officeDocument/2006/math">
                    <m:r>
                      <a:rPr lang="fr-FR" sz="1050" i="1" dirty="0">
                        <a:latin typeface="Cambria Math" panose="02040503050406030204" pitchFamily="18" charset="0"/>
                      </a:rPr>
                      <m:t>𝐶</m:t>
                    </m:r>
                  </m:oMath>
                </a14:m>
                <a:r>
                  <a:rPr lang="fr-FR" sz="1050" dirty="0"/>
                  <a:t> est grand</a:t>
                </a:r>
              </a:p>
            </p:txBody>
          </p:sp>
        </mc:Choice>
        <mc:Fallback xmlns="">
          <p:sp>
            <p:nvSpPr>
              <p:cNvPr id="81" name="ZoneTexte 80">
                <a:extLst>
                  <a:ext uri="{FF2B5EF4-FFF2-40B4-BE49-F238E27FC236}">
                    <a16:creationId xmlns:a16="http://schemas.microsoft.com/office/drawing/2014/main" id="{8AB7A627-8EC5-4C13-A624-98A7B43FF69F}"/>
                  </a:ext>
                </a:extLst>
              </p:cNvPr>
              <p:cNvSpPr txBox="1">
                <a:spLocks noRot="1" noChangeAspect="1" noMove="1" noResize="1" noEditPoints="1" noAdjustHandles="1" noChangeArrowheads="1" noChangeShapeType="1" noTextEdit="1"/>
              </p:cNvSpPr>
              <p:nvPr/>
            </p:nvSpPr>
            <p:spPr>
              <a:xfrm>
                <a:off x="4585897" y="3874553"/>
                <a:ext cx="2266887" cy="253916"/>
              </a:xfrm>
              <a:prstGeom prst="rect">
                <a:avLst/>
              </a:prstGeom>
              <a:blipFill>
                <a:blip r:embed="rId3"/>
                <a:stretch>
                  <a:fillRect b="-14634"/>
                </a:stretch>
              </a:blipFill>
            </p:spPr>
            <p:txBody>
              <a:bodyPr/>
              <a:lstStyle/>
              <a:p>
                <a:r>
                  <a:rPr lang="fr-FR">
                    <a:noFill/>
                  </a:rPr>
                  <a:t> </a:t>
                </a:r>
              </a:p>
            </p:txBody>
          </p:sp>
        </mc:Fallback>
      </mc:AlternateContent>
    </p:spTree>
    <p:extLst>
      <p:ext uri="{BB962C8B-B14F-4D97-AF65-F5344CB8AC3E}">
        <p14:creationId xmlns:p14="http://schemas.microsoft.com/office/powerpoint/2010/main" val="2677638106"/>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1124618"/>
              </a:xfrm>
            </p:spPr>
            <p:txBody>
              <a:bodyPr>
                <a:noAutofit/>
              </a:bodyPr>
              <a:lstStyle/>
              <a:p>
                <a:pPr algn="just">
                  <a:lnSpc>
                    <a:spcPct val="150000"/>
                  </a:lnSpc>
                  <a:buClr>
                    <a:schemeClr val="accent2"/>
                  </a:buClr>
                </a:pPr>
                <a:r>
                  <a:rPr lang="fr-FR" sz="1350" dirty="0"/>
                  <a:t>Le paramètre </a:t>
                </a:r>
                <a14:m>
                  <m:oMath xmlns:m="http://schemas.openxmlformats.org/officeDocument/2006/math">
                    <m:r>
                      <a:rPr lang="fr-FR" sz="1350" i="1" dirty="0">
                        <a:latin typeface="Cambria Math" panose="02040503050406030204" pitchFamily="18" charset="0"/>
                      </a:rPr>
                      <m:t>𝑔𝑎𝑚𝑚𝑎</m:t>
                    </m:r>
                  </m:oMath>
                </a14:m>
                <a:r>
                  <a:rPr lang="fr-FR" sz="1350" dirty="0"/>
                  <a:t> définit l’étendue de l’influence d’un seul exemple d’entrainement.</a:t>
                </a:r>
              </a:p>
              <a:p>
                <a:pPr algn="just">
                  <a:lnSpc>
                    <a:spcPct val="150000"/>
                  </a:lnSpc>
                  <a:buClr>
                    <a:schemeClr val="accent2"/>
                  </a:buClr>
                </a:pPr>
                <a14:m>
                  <m:oMath xmlns:m="http://schemas.openxmlformats.org/officeDocument/2006/math">
                    <m:r>
                      <a:rPr lang="fr-FR" sz="1350" i="1" dirty="0">
                        <a:latin typeface="Cambria Math" panose="02040503050406030204" pitchFamily="18" charset="0"/>
                      </a:rPr>
                      <m:t>𝑔𝑎𝑚𝑚𝑎</m:t>
                    </m:r>
                  </m:oMath>
                </a14:m>
                <a:r>
                  <a:rPr lang="fr-FR" sz="1350" dirty="0"/>
                  <a:t> élevé signifie « proche », i.e. que seuls les points proches de la ligne séparatrice seront pris en compte.</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1400" cy="1124618"/>
              </a:xfrm>
              <a:blipFill>
                <a:blip r:embed="rId2"/>
                <a:stretch>
                  <a:fillRect l="-1656" r="-1760" b="-27568"/>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220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Support Vector Machine :</a:t>
            </a:r>
            <a:r>
              <a:rPr lang="fr-FR" sz="2100" b="0" dirty="0"/>
              <a:t> paramètres</a:t>
            </a:r>
          </a:p>
        </p:txBody>
      </p:sp>
      <p:sp>
        <p:nvSpPr>
          <p:cNvPr id="7" name="Title 13">
            <a:extLst>
              <a:ext uri="{FF2B5EF4-FFF2-40B4-BE49-F238E27FC236}">
                <a16:creationId xmlns:a16="http://schemas.microsoft.com/office/drawing/2014/main" id="{B2AB565B-6B73-41DC-ACF3-F177AF1427D4}"/>
              </a:ext>
            </a:extLst>
          </p:cNvPr>
          <p:cNvSpPr txBox="1">
            <a:spLocks/>
          </p:cNvSpPr>
          <p:nvPr/>
        </p:nvSpPr>
        <p:spPr>
          <a:xfrm>
            <a:off x="389008" y="835279"/>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Gamma</a:t>
            </a:r>
          </a:p>
        </p:txBody>
      </p:sp>
      <p:grpSp>
        <p:nvGrpSpPr>
          <p:cNvPr id="6" name="Groupe 5">
            <a:extLst>
              <a:ext uri="{FF2B5EF4-FFF2-40B4-BE49-F238E27FC236}">
                <a16:creationId xmlns:a16="http://schemas.microsoft.com/office/drawing/2014/main" id="{7FEF2DFE-C15F-42F4-890A-F7145C28BF7E}"/>
              </a:ext>
            </a:extLst>
          </p:cNvPr>
          <p:cNvGrpSpPr/>
          <p:nvPr/>
        </p:nvGrpSpPr>
        <p:grpSpPr>
          <a:xfrm>
            <a:off x="2598747" y="2794828"/>
            <a:ext cx="2416945" cy="1900539"/>
            <a:chOff x="2032138" y="2470132"/>
            <a:chExt cx="3222593" cy="2534052"/>
          </a:xfrm>
        </p:grpSpPr>
        <p:cxnSp>
          <p:nvCxnSpPr>
            <p:cNvPr id="8" name="Connecteur droit avec flèche 7">
              <a:extLst>
                <a:ext uri="{FF2B5EF4-FFF2-40B4-BE49-F238E27FC236}">
                  <a16:creationId xmlns:a16="http://schemas.microsoft.com/office/drawing/2014/main" id="{88403444-8AE8-40AC-B799-3B5AD9BB77CE}"/>
                </a:ext>
              </a:extLst>
            </p:cNvPr>
            <p:cNvCxnSpPr>
              <a:cxnSpLocks/>
            </p:cNvCxnSpPr>
            <p:nvPr/>
          </p:nvCxnSpPr>
          <p:spPr>
            <a:xfrm>
              <a:off x="2032138" y="4211418"/>
              <a:ext cx="30225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16248657-9D72-4BAA-AC3C-77EDF3C4B961}"/>
                </a:ext>
              </a:extLst>
            </p:cNvPr>
            <p:cNvCxnSpPr>
              <a:cxnSpLocks/>
            </p:cNvCxnSpPr>
            <p:nvPr/>
          </p:nvCxnSpPr>
          <p:spPr>
            <a:xfrm flipV="1">
              <a:off x="2989816" y="2470132"/>
              <a:ext cx="0" cy="25340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Organigramme : Connecteur 9">
              <a:extLst>
                <a:ext uri="{FF2B5EF4-FFF2-40B4-BE49-F238E27FC236}">
                  <a16:creationId xmlns:a16="http://schemas.microsoft.com/office/drawing/2014/main" id="{DC7721C9-4313-47AF-BCEC-AED910161C69}"/>
                </a:ext>
              </a:extLst>
            </p:cNvPr>
            <p:cNvSpPr>
              <a:spLocks noChangeAspect="1"/>
            </p:cNvSpPr>
            <p:nvPr/>
          </p:nvSpPr>
          <p:spPr>
            <a:xfrm>
              <a:off x="3793208" y="325785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 name="Organigramme : Connecteur 10">
              <a:extLst>
                <a:ext uri="{FF2B5EF4-FFF2-40B4-BE49-F238E27FC236}">
                  <a16:creationId xmlns:a16="http://schemas.microsoft.com/office/drawing/2014/main" id="{148DFFF1-5132-4878-96EB-DFC28E602C1C}"/>
                </a:ext>
              </a:extLst>
            </p:cNvPr>
            <p:cNvSpPr>
              <a:spLocks noChangeAspect="1"/>
            </p:cNvSpPr>
            <p:nvPr/>
          </p:nvSpPr>
          <p:spPr>
            <a:xfrm>
              <a:off x="3214757" y="367376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 name="Organigramme : Connecteur 11">
              <a:extLst>
                <a:ext uri="{FF2B5EF4-FFF2-40B4-BE49-F238E27FC236}">
                  <a16:creationId xmlns:a16="http://schemas.microsoft.com/office/drawing/2014/main" id="{7514AB09-6EF7-45CE-A13A-70572140426D}"/>
                </a:ext>
              </a:extLst>
            </p:cNvPr>
            <p:cNvSpPr>
              <a:spLocks noChangeAspect="1"/>
            </p:cNvSpPr>
            <p:nvPr/>
          </p:nvSpPr>
          <p:spPr>
            <a:xfrm>
              <a:off x="3861684" y="370825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3" name="Organigramme : Connecteur 12">
              <a:extLst>
                <a:ext uri="{FF2B5EF4-FFF2-40B4-BE49-F238E27FC236}">
                  <a16:creationId xmlns:a16="http://schemas.microsoft.com/office/drawing/2014/main" id="{6253243C-7FDA-4497-A19E-3D0A0809EB3A}"/>
                </a:ext>
              </a:extLst>
            </p:cNvPr>
            <p:cNvSpPr>
              <a:spLocks noChangeAspect="1"/>
            </p:cNvSpPr>
            <p:nvPr/>
          </p:nvSpPr>
          <p:spPr>
            <a:xfrm>
              <a:off x="2389840" y="410195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5" name="Organigramme : Connecteur 14">
              <a:extLst>
                <a:ext uri="{FF2B5EF4-FFF2-40B4-BE49-F238E27FC236}">
                  <a16:creationId xmlns:a16="http://schemas.microsoft.com/office/drawing/2014/main" id="{0E775367-3A4B-4FFA-AF3E-E908DFD5EA00}"/>
                </a:ext>
              </a:extLst>
            </p:cNvPr>
            <p:cNvSpPr>
              <a:spLocks noChangeAspect="1"/>
            </p:cNvSpPr>
            <p:nvPr/>
          </p:nvSpPr>
          <p:spPr>
            <a:xfrm>
              <a:off x="2630075" y="432631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6" name="Organigramme : Connecteur 15">
              <a:extLst>
                <a:ext uri="{FF2B5EF4-FFF2-40B4-BE49-F238E27FC236}">
                  <a16:creationId xmlns:a16="http://schemas.microsoft.com/office/drawing/2014/main" id="{8948AD27-F4B7-4886-96A4-82E5C7C6F876}"/>
                </a:ext>
              </a:extLst>
            </p:cNvPr>
            <p:cNvSpPr>
              <a:spLocks noChangeAspect="1"/>
            </p:cNvSpPr>
            <p:nvPr/>
          </p:nvSpPr>
          <p:spPr>
            <a:xfrm>
              <a:off x="3228862" y="429298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7" name="Organigramme : Connecteur 16">
              <a:extLst>
                <a:ext uri="{FF2B5EF4-FFF2-40B4-BE49-F238E27FC236}">
                  <a16:creationId xmlns:a16="http://schemas.microsoft.com/office/drawing/2014/main" id="{7360B629-2A27-4D96-8531-8BCCBE4CE65F}"/>
                </a:ext>
              </a:extLst>
            </p:cNvPr>
            <p:cNvSpPr>
              <a:spLocks noChangeAspect="1"/>
            </p:cNvSpPr>
            <p:nvPr/>
          </p:nvSpPr>
          <p:spPr>
            <a:xfrm rot="7820797">
              <a:off x="3458071" y="332470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9" name="Organigramme : Connecteur 18">
              <a:extLst>
                <a:ext uri="{FF2B5EF4-FFF2-40B4-BE49-F238E27FC236}">
                  <a16:creationId xmlns:a16="http://schemas.microsoft.com/office/drawing/2014/main" id="{B2689D50-EF16-4F26-BEFB-EBB1D8E1E1F3}"/>
                </a:ext>
              </a:extLst>
            </p:cNvPr>
            <p:cNvSpPr>
              <a:spLocks noChangeAspect="1"/>
            </p:cNvSpPr>
            <p:nvPr/>
          </p:nvSpPr>
          <p:spPr>
            <a:xfrm>
              <a:off x="3003617" y="406493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0" name="Organigramme : Connecteur 19">
              <a:extLst>
                <a:ext uri="{FF2B5EF4-FFF2-40B4-BE49-F238E27FC236}">
                  <a16:creationId xmlns:a16="http://schemas.microsoft.com/office/drawing/2014/main" id="{8DEE3FDF-C71E-4374-9543-BD5C9E9B6BB9}"/>
                </a:ext>
              </a:extLst>
            </p:cNvPr>
            <p:cNvSpPr>
              <a:spLocks noChangeAspect="1"/>
            </p:cNvSpPr>
            <p:nvPr/>
          </p:nvSpPr>
          <p:spPr>
            <a:xfrm>
              <a:off x="3660458" y="3881081"/>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2" name="Organigramme : Connecteur 21">
              <a:extLst>
                <a:ext uri="{FF2B5EF4-FFF2-40B4-BE49-F238E27FC236}">
                  <a16:creationId xmlns:a16="http://schemas.microsoft.com/office/drawing/2014/main" id="{DBA6FA2B-8D8B-4EB7-B12B-4275AD737C14}"/>
                </a:ext>
              </a:extLst>
            </p:cNvPr>
            <p:cNvSpPr>
              <a:spLocks noChangeAspect="1"/>
            </p:cNvSpPr>
            <p:nvPr/>
          </p:nvSpPr>
          <p:spPr>
            <a:xfrm>
              <a:off x="3435397" y="376852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3" name="Organigramme : Connecteur 22">
              <a:extLst>
                <a:ext uri="{FF2B5EF4-FFF2-40B4-BE49-F238E27FC236}">
                  <a16:creationId xmlns:a16="http://schemas.microsoft.com/office/drawing/2014/main" id="{42245070-2BDC-4470-9F12-CBF684BB46BC}"/>
                </a:ext>
              </a:extLst>
            </p:cNvPr>
            <p:cNvSpPr>
              <a:spLocks noChangeAspect="1"/>
            </p:cNvSpPr>
            <p:nvPr/>
          </p:nvSpPr>
          <p:spPr>
            <a:xfrm>
              <a:off x="3267319" y="391064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24" name="Connecteur droit avec flèche 23">
              <a:extLst>
                <a:ext uri="{FF2B5EF4-FFF2-40B4-BE49-F238E27FC236}">
                  <a16:creationId xmlns:a16="http://schemas.microsoft.com/office/drawing/2014/main" id="{BD93B4AA-4772-497B-94EA-1775315A918F}"/>
                </a:ext>
              </a:extLst>
            </p:cNvPr>
            <p:cNvCxnSpPr>
              <a:cxnSpLocks/>
            </p:cNvCxnSpPr>
            <p:nvPr/>
          </p:nvCxnSpPr>
          <p:spPr>
            <a:xfrm flipV="1">
              <a:off x="2916505" y="2938497"/>
              <a:ext cx="2108976" cy="2065687"/>
            </a:xfrm>
            <a:prstGeom prst="straightConnector1">
              <a:avLst/>
            </a:prstGeom>
            <a:ln w="19050">
              <a:headEnd type="none" w="med" len="med"/>
              <a:tailEnd type="none" w="med" len="med"/>
            </a:ln>
            <a:effectLst>
              <a:outerShdw blurRad="50800" dist="38100" algn="l" rotWithShape="0">
                <a:prstClr val="black">
                  <a:alpha val="40000"/>
                </a:prstClr>
              </a:outerShdw>
            </a:effectLst>
          </p:spPr>
          <p:style>
            <a:lnRef idx="3">
              <a:schemeClr val="accent2"/>
            </a:lnRef>
            <a:fillRef idx="0">
              <a:schemeClr val="accent2"/>
            </a:fillRef>
            <a:effectRef idx="2">
              <a:schemeClr val="accent2"/>
            </a:effectRef>
            <a:fontRef idx="minor">
              <a:schemeClr val="tx1"/>
            </a:fontRef>
          </p:style>
        </p:cxnSp>
        <p:sp>
          <p:nvSpPr>
            <p:cNvPr id="25" name="Rectangle 24">
              <a:extLst>
                <a:ext uri="{FF2B5EF4-FFF2-40B4-BE49-F238E27FC236}">
                  <a16:creationId xmlns:a16="http://schemas.microsoft.com/office/drawing/2014/main" id="{DCF205BC-7A86-4CD0-8E4F-AE8736AD9CEA}"/>
                </a:ext>
              </a:extLst>
            </p:cNvPr>
            <p:cNvSpPr>
              <a:spLocks noChangeAspect="1"/>
            </p:cNvSpPr>
            <p:nvPr/>
          </p:nvSpPr>
          <p:spPr>
            <a:xfrm rot="7820797">
              <a:off x="4066647" y="3999052"/>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6" name="Rectangle 25">
              <a:extLst>
                <a:ext uri="{FF2B5EF4-FFF2-40B4-BE49-F238E27FC236}">
                  <a16:creationId xmlns:a16="http://schemas.microsoft.com/office/drawing/2014/main" id="{5A3B6D24-C58E-4FC6-A28F-EE3E5CB832B8}"/>
                </a:ext>
              </a:extLst>
            </p:cNvPr>
            <p:cNvSpPr>
              <a:spLocks noChangeAspect="1"/>
            </p:cNvSpPr>
            <p:nvPr/>
          </p:nvSpPr>
          <p:spPr>
            <a:xfrm rot="7820797">
              <a:off x="4693349" y="3363465"/>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7" name="Rectangle 26">
              <a:extLst>
                <a:ext uri="{FF2B5EF4-FFF2-40B4-BE49-F238E27FC236}">
                  <a16:creationId xmlns:a16="http://schemas.microsoft.com/office/drawing/2014/main" id="{A7EE69F9-0E49-47E9-99DE-1F9CA5E85819}"/>
                </a:ext>
              </a:extLst>
            </p:cNvPr>
            <p:cNvSpPr>
              <a:spLocks noChangeAspect="1"/>
            </p:cNvSpPr>
            <p:nvPr/>
          </p:nvSpPr>
          <p:spPr>
            <a:xfrm rot="7820797">
              <a:off x="4619053" y="3623779"/>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8" name="Rectangle 27">
              <a:extLst>
                <a:ext uri="{FF2B5EF4-FFF2-40B4-BE49-F238E27FC236}">
                  <a16:creationId xmlns:a16="http://schemas.microsoft.com/office/drawing/2014/main" id="{8CEF58C3-4A07-4267-9AC5-958BEDAFBB37}"/>
                </a:ext>
              </a:extLst>
            </p:cNvPr>
            <p:cNvSpPr>
              <a:spLocks noChangeAspect="1"/>
            </p:cNvSpPr>
            <p:nvPr/>
          </p:nvSpPr>
          <p:spPr>
            <a:xfrm rot="7820797">
              <a:off x="4733544" y="3750244"/>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9" name="Rectangle 28">
              <a:extLst>
                <a:ext uri="{FF2B5EF4-FFF2-40B4-BE49-F238E27FC236}">
                  <a16:creationId xmlns:a16="http://schemas.microsoft.com/office/drawing/2014/main" id="{A4038BED-DE14-402B-B8CB-9154324EFD32}"/>
                </a:ext>
              </a:extLst>
            </p:cNvPr>
            <p:cNvSpPr>
              <a:spLocks noChangeAspect="1"/>
            </p:cNvSpPr>
            <p:nvPr/>
          </p:nvSpPr>
          <p:spPr>
            <a:xfrm rot="7820797">
              <a:off x="4427321" y="3903426"/>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1" name="Rectangle 30">
              <a:extLst>
                <a:ext uri="{FF2B5EF4-FFF2-40B4-BE49-F238E27FC236}">
                  <a16:creationId xmlns:a16="http://schemas.microsoft.com/office/drawing/2014/main" id="{E4A42106-B840-4EDF-9E1B-1FFC302886B1}"/>
                </a:ext>
              </a:extLst>
            </p:cNvPr>
            <p:cNvSpPr>
              <a:spLocks noChangeAspect="1"/>
            </p:cNvSpPr>
            <p:nvPr/>
          </p:nvSpPr>
          <p:spPr>
            <a:xfrm rot="7820797">
              <a:off x="4235899" y="3866804"/>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2" name="Rectangle 31">
              <a:extLst>
                <a:ext uri="{FF2B5EF4-FFF2-40B4-BE49-F238E27FC236}">
                  <a16:creationId xmlns:a16="http://schemas.microsoft.com/office/drawing/2014/main" id="{196816A2-D636-455A-9293-D7A88B68B6D1}"/>
                </a:ext>
              </a:extLst>
            </p:cNvPr>
            <p:cNvSpPr>
              <a:spLocks noChangeAspect="1"/>
            </p:cNvSpPr>
            <p:nvPr/>
          </p:nvSpPr>
          <p:spPr>
            <a:xfrm rot="7820797">
              <a:off x="4952861" y="4725809"/>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3" name="Rectangle 32">
              <a:extLst>
                <a:ext uri="{FF2B5EF4-FFF2-40B4-BE49-F238E27FC236}">
                  <a16:creationId xmlns:a16="http://schemas.microsoft.com/office/drawing/2014/main" id="{A7B3DA89-D9C6-4B6C-9258-8355BAFF9E6E}"/>
                </a:ext>
              </a:extLst>
            </p:cNvPr>
            <p:cNvSpPr>
              <a:spLocks noChangeAspect="1"/>
            </p:cNvSpPr>
            <p:nvPr/>
          </p:nvSpPr>
          <p:spPr>
            <a:xfrm rot="7820797">
              <a:off x="3830087" y="4269641"/>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4" name="Rectangle 33">
              <a:extLst>
                <a:ext uri="{FF2B5EF4-FFF2-40B4-BE49-F238E27FC236}">
                  <a16:creationId xmlns:a16="http://schemas.microsoft.com/office/drawing/2014/main" id="{822289DF-C96A-4F30-B3E7-F8DD8E2D5A35}"/>
                </a:ext>
              </a:extLst>
            </p:cNvPr>
            <p:cNvSpPr>
              <a:spLocks noChangeAspect="1"/>
            </p:cNvSpPr>
            <p:nvPr/>
          </p:nvSpPr>
          <p:spPr>
            <a:xfrm rot="7820797">
              <a:off x="3625524" y="4466205"/>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5" name="Rectangle 34">
              <a:extLst>
                <a:ext uri="{FF2B5EF4-FFF2-40B4-BE49-F238E27FC236}">
                  <a16:creationId xmlns:a16="http://schemas.microsoft.com/office/drawing/2014/main" id="{5802F7EF-2AD2-425B-A6F8-0F53F19B139D}"/>
                </a:ext>
              </a:extLst>
            </p:cNvPr>
            <p:cNvSpPr>
              <a:spLocks noChangeAspect="1"/>
            </p:cNvSpPr>
            <p:nvPr/>
          </p:nvSpPr>
          <p:spPr>
            <a:xfrm rot="7820797">
              <a:off x="3824596" y="4689593"/>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6" name="Rectangle 35">
              <a:extLst>
                <a:ext uri="{FF2B5EF4-FFF2-40B4-BE49-F238E27FC236}">
                  <a16:creationId xmlns:a16="http://schemas.microsoft.com/office/drawing/2014/main" id="{00E814AD-6073-462E-84D2-35D9EAC46896}"/>
                </a:ext>
              </a:extLst>
            </p:cNvPr>
            <p:cNvSpPr>
              <a:spLocks noChangeAspect="1"/>
            </p:cNvSpPr>
            <p:nvPr/>
          </p:nvSpPr>
          <p:spPr>
            <a:xfrm rot="7820797">
              <a:off x="5145998" y="3421802"/>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mc:AlternateContent xmlns:mc="http://schemas.openxmlformats.org/markup-compatibility/2006" xmlns:a14="http://schemas.microsoft.com/office/drawing/2010/main">
        <mc:Choice Requires="a14">
          <p:sp>
            <p:nvSpPr>
              <p:cNvPr id="37" name="ZoneTexte 36">
                <a:extLst>
                  <a:ext uri="{FF2B5EF4-FFF2-40B4-BE49-F238E27FC236}">
                    <a16:creationId xmlns:a16="http://schemas.microsoft.com/office/drawing/2014/main" id="{146455B7-AB6B-493F-8AFC-716F29549368}"/>
                  </a:ext>
                </a:extLst>
              </p:cNvPr>
              <p:cNvSpPr txBox="1"/>
              <p:nvPr/>
            </p:nvSpPr>
            <p:spPr>
              <a:xfrm>
                <a:off x="3600758" y="4838846"/>
                <a:ext cx="1058033" cy="253916"/>
              </a:xfrm>
              <a:prstGeom prst="rect">
                <a:avLst/>
              </a:prstGeom>
              <a:noFill/>
            </p:spPr>
            <p:txBody>
              <a:bodyPr wrap="square" rtlCol="0">
                <a:spAutoFit/>
              </a:bodyPr>
              <a:lstStyle/>
              <a:p>
                <a14:m>
                  <m:oMath xmlns:m="http://schemas.openxmlformats.org/officeDocument/2006/math">
                    <m:r>
                      <a:rPr lang="fr-FR" sz="1050" i="1" dirty="0">
                        <a:latin typeface="Cambria Math" panose="02040503050406030204" pitchFamily="18" charset="0"/>
                      </a:rPr>
                      <m:t>𝑔𝑎𝑚𝑚𝑎</m:t>
                    </m:r>
                  </m:oMath>
                </a14:m>
                <a:r>
                  <a:rPr lang="fr-FR" sz="1050" dirty="0"/>
                  <a:t> élevé</a:t>
                </a:r>
              </a:p>
            </p:txBody>
          </p:sp>
        </mc:Choice>
        <mc:Fallback xmlns="">
          <p:sp>
            <p:nvSpPr>
              <p:cNvPr id="37" name="ZoneTexte 36">
                <a:extLst>
                  <a:ext uri="{FF2B5EF4-FFF2-40B4-BE49-F238E27FC236}">
                    <a16:creationId xmlns:a16="http://schemas.microsoft.com/office/drawing/2014/main" id="{146455B7-AB6B-493F-8AFC-716F29549368}"/>
                  </a:ext>
                </a:extLst>
              </p:cNvPr>
              <p:cNvSpPr txBox="1">
                <a:spLocks noRot="1" noChangeAspect="1" noMove="1" noResize="1" noEditPoints="1" noAdjustHandles="1" noChangeArrowheads="1" noChangeShapeType="1" noTextEdit="1"/>
              </p:cNvSpPr>
              <p:nvPr/>
            </p:nvSpPr>
            <p:spPr>
              <a:xfrm>
                <a:off x="3600758" y="4838846"/>
                <a:ext cx="1058033" cy="253916"/>
              </a:xfrm>
              <a:prstGeom prst="rect">
                <a:avLst/>
              </a:prstGeom>
              <a:blipFill>
                <a:blip r:embed="rId3"/>
                <a:stretch>
                  <a:fillRect b="-14634"/>
                </a:stretch>
              </a:blipFill>
            </p:spPr>
            <p:txBody>
              <a:bodyPr/>
              <a:lstStyle/>
              <a:p>
                <a:r>
                  <a:rPr lang="fr-FR">
                    <a:noFill/>
                  </a:rPr>
                  <a:t> </a:t>
                </a:r>
              </a:p>
            </p:txBody>
          </p:sp>
        </mc:Fallback>
      </mc:AlternateContent>
      <p:sp>
        <p:nvSpPr>
          <p:cNvPr id="68" name="Rectangle 67">
            <a:extLst>
              <a:ext uri="{FF2B5EF4-FFF2-40B4-BE49-F238E27FC236}">
                <a16:creationId xmlns:a16="http://schemas.microsoft.com/office/drawing/2014/main" id="{F6DD28B0-B7E8-42EF-923F-1A714F61585B}"/>
              </a:ext>
            </a:extLst>
          </p:cNvPr>
          <p:cNvSpPr>
            <a:spLocks noChangeAspect="1"/>
          </p:cNvSpPr>
          <p:nvPr/>
        </p:nvSpPr>
        <p:spPr>
          <a:xfrm rot="7820797">
            <a:off x="4207491" y="4149846"/>
            <a:ext cx="81000" cy="821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9" name="Rectangle 68">
            <a:extLst>
              <a:ext uri="{FF2B5EF4-FFF2-40B4-BE49-F238E27FC236}">
                <a16:creationId xmlns:a16="http://schemas.microsoft.com/office/drawing/2014/main" id="{D006EB1F-5560-4BEB-8830-F088BEBA080F}"/>
              </a:ext>
            </a:extLst>
          </p:cNvPr>
          <p:cNvSpPr>
            <a:spLocks noChangeAspect="1"/>
          </p:cNvSpPr>
          <p:nvPr/>
        </p:nvSpPr>
        <p:spPr>
          <a:xfrm rot="7820797">
            <a:off x="4382048" y="4189468"/>
            <a:ext cx="81000" cy="821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0" name="Rectangle 69">
            <a:extLst>
              <a:ext uri="{FF2B5EF4-FFF2-40B4-BE49-F238E27FC236}">
                <a16:creationId xmlns:a16="http://schemas.microsoft.com/office/drawing/2014/main" id="{C5E76D57-32CC-49FB-BFEB-BDB08A21A30A}"/>
              </a:ext>
            </a:extLst>
          </p:cNvPr>
          <p:cNvSpPr>
            <a:spLocks noChangeAspect="1"/>
          </p:cNvSpPr>
          <p:nvPr/>
        </p:nvSpPr>
        <p:spPr>
          <a:xfrm rot="7820797">
            <a:off x="4688237" y="4209728"/>
            <a:ext cx="81000" cy="821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1" name="Rectangle 70">
            <a:extLst>
              <a:ext uri="{FF2B5EF4-FFF2-40B4-BE49-F238E27FC236}">
                <a16:creationId xmlns:a16="http://schemas.microsoft.com/office/drawing/2014/main" id="{EFDBCC36-5478-44E4-B213-16D19F4E1582}"/>
              </a:ext>
            </a:extLst>
          </p:cNvPr>
          <p:cNvSpPr>
            <a:spLocks noChangeAspect="1"/>
          </p:cNvSpPr>
          <p:nvPr/>
        </p:nvSpPr>
        <p:spPr>
          <a:xfrm rot="7820797">
            <a:off x="4578470" y="3936049"/>
            <a:ext cx="81000" cy="821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2" name="Rectangle 71">
            <a:extLst>
              <a:ext uri="{FF2B5EF4-FFF2-40B4-BE49-F238E27FC236}">
                <a16:creationId xmlns:a16="http://schemas.microsoft.com/office/drawing/2014/main" id="{0C372512-75F0-4B80-9525-62A7DC2419D0}"/>
              </a:ext>
            </a:extLst>
          </p:cNvPr>
          <p:cNvSpPr>
            <a:spLocks noChangeAspect="1"/>
          </p:cNvSpPr>
          <p:nvPr/>
        </p:nvSpPr>
        <p:spPr>
          <a:xfrm rot="7820797">
            <a:off x="4261391" y="4401980"/>
            <a:ext cx="81000" cy="821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4" name="Connecteur droit 3">
            <a:extLst>
              <a:ext uri="{FF2B5EF4-FFF2-40B4-BE49-F238E27FC236}">
                <a16:creationId xmlns:a16="http://schemas.microsoft.com/office/drawing/2014/main" id="{7AC3EFDC-D1E4-4C71-A96B-35C701A5153C}"/>
              </a:ext>
            </a:extLst>
          </p:cNvPr>
          <p:cNvCxnSpPr>
            <a:stCxn id="12" idx="5"/>
          </p:cNvCxnSpPr>
          <p:nvPr/>
        </p:nvCxnSpPr>
        <p:spPr>
          <a:xfrm>
            <a:off x="4040045" y="3793495"/>
            <a:ext cx="67578" cy="5722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3" name="Connecteur droit 72">
            <a:extLst>
              <a:ext uri="{FF2B5EF4-FFF2-40B4-BE49-F238E27FC236}">
                <a16:creationId xmlns:a16="http://schemas.microsoft.com/office/drawing/2014/main" id="{E51B6D3A-7945-4150-9903-B4B663AB1252}"/>
              </a:ext>
            </a:extLst>
          </p:cNvPr>
          <p:cNvCxnSpPr>
            <a:cxnSpLocks/>
            <a:stCxn id="20" idx="5"/>
          </p:cNvCxnSpPr>
          <p:nvPr/>
        </p:nvCxnSpPr>
        <p:spPr>
          <a:xfrm>
            <a:off x="3889126" y="3923116"/>
            <a:ext cx="87215" cy="72805"/>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5" name="Connecteur droit 74">
            <a:extLst>
              <a:ext uri="{FF2B5EF4-FFF2-40B4-BE49-F238E27FC236}">
                <a16:creationId xmlns:a16="http://schemas.microsoft.com/office/drawing/2014/main" id="{FDC2A75C-9E6F-408A-9E61-AC5714A236AA}"/>
              </a:ext>
            </a:extLst>
          </p:cNvPr>
          <p:cNvCxnSpPr>
            <a:cxnSpLocks/>
            <a:stCxn id="16" idx="5"/>
          </p:cNvCxnSpPr>
          <p:nvPr/>
        </p:nvCxnSpPr>
        <p:spPr>
          <a:xfrm>
            <a:off x="3565428" y="4232043"/>
            <a:ext cx="77405" cy="7319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8" name="Connecteur droit 77">
            <a:extLst>
              <a:ext uri="{FF2B5EF4-FFF2-40B4-BE49-F238E27FC236}">
                <a16:creationId xmlns:a16="http://schemas.microsoft.com/office/drawing/2014/main" id="{8743E9C9-4BB7-462D-A631-1E39AB767C43}"/>
              </a:ext>
            </a:extLst>
          </p:cNvPr>
          <p:cNvCxnSpPr>
            <a:cxnSpLocks/>
            <a:endCxn id="33" idx="2"/>
          </p:cNvCxnSpPr>
          <p:nvPr/>
        </p:nvCxnSpPr>
        <p:spPr>
          <a:xfrm>
            <a:off x="3886661" y="4090920"/>
            <a:ext cx="69762" cy="6801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82" name="Connecteur droit 81">
            <a:extLst>
              <a:ext uri="{FF2B5EF4-FFF2-40B4-BE49-F238E27FC236}">
                <a16:creationId xmlns:a16="http://schemas.microsoft.com/office/drawing/2014/main" id="{A53CB48C-961A-4F23-8B6C-1B35BA66F108}"/>
              </a:ext>
            </a:extLst>
          </p:cNvPr>
          <p:cNvCxnSpPr>
            <a:cxnSpLocks/>
            <a:endCxn id="25" idx="2"/>
          </p:cNvCxnSpPr>
          <p:nvPr/>
        </p:nvCxnSpPr>
        <p:spPr>
          <a:xfrm>
            <a:off x="4073834" y="3905576"/>
            <a:ext cx="60010" cy="50415"/>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85" name="Connecteur droit 84">
            <a:extLst>
              <a:ext uri="{FF2B5EF4-FFF2-40B4-BE49-F238E27FC236}">
                <a16:creationId xmlns:a16="http://schemas.microsoft.com/office/drawing/2014/main" id="{D43A11B8-06F2-46AD-A64F-E12F7639B0F1}"/>
              </a:ext>
            </a:extLst>
          </p:cNvPr>
          <p:cNvCxnSpPr>
            <a:cxnSpLocks/>
            <a:endCxn id="31" idx="2"/>
          </p:cNvCxnSpPr>
          <p:nvPr/>
        </p:nvCxnSpPr>
        <p:spPr>
          <a:xfrm>
            <a:off x="4190485" y="3792029"/>
            <a:ext cx="70298" cy="6477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88" name="Connecteur droit 87">
            <a:extLst>
              <a:ext uri="{FF2B5EF4-FFF2-40B4-BE49-F238E27FC236}">
                <a16:creationId xmlns:a16="http://schemas.microsoft.com/office/drawing/2014/main" id="{CE3A7B20-1D15-49B0-BDDA-0DFDFAE78F11}"/>
              </a:ext>
            </a:extLst>
          </p:cNvPr>
          <p:cNvCxnSpPr>
            <a:cxnSpLocks/>
            <a:endCxn id="26" idx="2"/>
          </p:cNvCxnSpPr>
          <p:nvPr/>
        </p:nvCxnSpPr>
        <p:spPr>
          <a:xfrm>
            <a:off x="4540979" y="3426666"/>
            <a:ext cx="62891" cy="52635"/>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91" name="Connecteur droit 90">
            <a:extLst>
              <a:ext uri="{FF2B5EF4-FFF2-40B4-BE49-F238E27FC236}">
                <a16:creationId xmlns:a16="http://schemas.microsoft.com/office/drawing/2014/main" id="{1E9184A9-CB38-4263-B30C-7A66A09F0E91}"/>
              </a:ext>
            </a:extLst>
          </p:cNvPr>
          <p:cNvCxnSpPr>
            <a:cxnSpLocks/>
            <a:endCxn id="34" idx="2"/>
          </p:cNvCxnSpPr>
          <p:nvPr/>
        </p:nvCxnSpPr>
        <p:spPr>
          <a:xfrm>
            <a:off x="3732190" y="4242903"/>
            <a:ext cx="70811" cy="63453"/>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0081202"/>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1124618"/>
              </a:xfrm>
            </p:spPr>
            <p:txBody>
              <a:bodyPr>
                <a:noAutofit/>
              </a:bodyPr>
              <a:lstStyle/>
              <a:p>
                <a:pPr algn="just">
                  <a:lnSpc>
                    <a:spcPct val="150000"/>
                  </a:lnSpc>
                  <a:buClr>
                    <a:schemeClr val="accent2"/>
                  </a:buClr>
                </a:pPr>
                <a:r>
                  <a:rPr lang="fr-FR" sz="1350" dirty="0"/>
                  <a:t>En revanche, un</a:t>
                </a:r>
                <a14:m>
                  <m:oMath xmlns:m="http://schemas.openxmlformats.org/officeDocument/2006/math">
                    <m:r>
                      <a:rPr lang="fr-FR" sz="1350" dirty="0">
                        <a:latin typeface="Cambria Math" panose="02040503050406030204" pitchFamily="18" charset="0"/>
                      </a:rPr>
                      <m:t> </m:t>
                    </m:r>
                    <m:r>
                      <a:rPr lang="fr-FR" sz="1350" i="1" dirty="0">
                        <a:latin typeface="Cambria Math" panose="02040503050406030204" pitchFamily="18" charset="0"/>
                      </a:rPr>
                      <m:t>𝑔𝑎𝑚𝑚𝑎</m:t>
                    </m:r>
                  </m:oMath>
                </a14:m>
                <a:r>
                  <a:rPr lang="fr-FR" sz="1350" dirty="0"/>
                  <a:t> faible signifie « loin », i.e. que les points éloignés de la ligne séparatrice seront également pris en compte.</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1400" cy="1124618"/>
              </a:xfrm>
              <a:blipFill>
                <a:blip r:embed="rId2"/>
                <a:stretch>
                  <a:fillRect l="-1656" r="-1760"/>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221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Support Vector Machine :</a:t>
            </a:r>
            <a:r>
              <a:rPr lang="fr-FR" sz="2100" b="0" dirty="0"/>
              <a:t> paramètres</a:t>
            </a:r>
          </a:p>
        </p:txBody>
      </p:sp>
      <p:sp>
        <p:nvSpPr>
          <p:cNvPr id="7" name="Title 13">
            <a:extLst>
              <a:ext uri="{FF2B5EF4-FFF2-40B4-BE49-F238E27FC236}">
                <a16:creationId xmlns:a16="http://schemas.microsoft.com/office/drawing/2014/main" id="{B2AB565B-6B73-41DC-ACF3-F177AF1427D4}"/>
              </a:ext>
            </a:extLst>
          </p:cNvPr>
          <p:cNvSpPr txBox="1">
            <a:spLocks/>
          </p:cNvSpPr>
          <p:nvPr/>
        </p:nvSpPr>
        <p:spPr>
          <a:xfrm>
            <a:off x="389008" y="835279"/>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Gamma</a:t>
            </a:r>
          </a:p>
        </p:txBody>
      </p:sp>
      <p:grpSp>
        <p:nvGrpSpPr>
          <p:cNvPr id="6" name="Groupe 5">
            <a:extLst>
              <a:ext uri="{FF2B5EF4-FFF2-40B4-BE49-F238E27FC236}">
                <a16:creationId xmlns:a16="http://schemas.microsoft.com/office/drawing/2014/main" id="{7FEF2DFE-C15F-42F4-890A-F7145C28BF7E}"/>
              </a:ext>
            </a:extLst>
          </p:cNvPr>
          <p:cNvGrpSpPr/>
          <p:nvPr/>
        </p:nvGrpSpPr>
        <p:grpSpPr>
          <a:xfrm>
            <a:off x="2598747" y="2794828"/>
            <a:ext cx="2416945" cy="1900539"/>
            <a:chOff x="2032138" y="2470132"/>
            <a:chExt cx="3222593" cy="2534052"/>
          </a:xfrm>
        </p:grpSpPr>
        <p:cxnSp>
          <p:nvCxnSpPr>
            <p:cNvPr id="8" name="Connecteur droit avec flèche 7">
              <a:extLst>
                <a:ext uri="{FF2B5EF4-FFF2-40B4-BE49-F238E27FC236}">
                  <a16:creationId xmlns:a16="http://schemas.microsoft.com/office/drawing/2014/main" id="{88403444-8AE8-40AC-B799-3B5AD9BB77CE}"/>
                </a:ext>
              </a:extLst>
            </p:cNvPr>
            <p:cNvCxnSpPr>
              <a:cxnSpLocks/>
            </p:cNvCxnSpPr>
            <p:nvPr/>
          </p:nvCxnSpPr>
          <p:spPr>
            <a:xfrm>
              <a:off x="2032138" y="4211418"/>
              <a:ext cx="30225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16248657-9D72-4BAA-AC3C-77EDF3C4B961}"/>
                </a:ext>
              </a:extLst>
            </p:cNvPr>
            <p:cNvCxnSpPr>
              <a:cxnSpLocks/>
            </p:cNvCxnSpPr>
            <p:nvPr/>
          </p:nvCxnSpPr>
          <p:spPr>
            <a:xfrm flipV="1">
              <a:off x="2989816" y="2470132"/>
              <a:ext cx="0" cy="25340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Organigramme : Connecteur 9">
              <a:extLst>
                <a:ext uri="{FF2B5EF4-FFF2-40B4-BE49-F238E27FC236}">
                  <a16:creationId xmlns:a16="http://schemas.microsoft.com/office/drawing/2014/main" id="{DC7721C9-4313-47AF-BCEC-AED910161C69}"/>
                </a:ext>
              </a:extLst>
            </p:cNvPr>
            <p:cNvSpPr>
              <a:spLocks noChangeAspect="1"/>
            </p:cNvSpPr>
            <p:nvPr/>
          </p:nvSpPr>
          <p:spPr>
            <a:xfrm>
              <a:off x="3793208" y="325785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 name="Organigramme : Connecteur 10">
              <a:extLst>
                <a:ext uri="{FF2B5EF4-FFF2-40B4-BE49-F238E27FC236}">
                  <a16:creationId xmlns:a16="http://schemas.microsoft.com/office/drawing/2014/main" id="{148DFFF1-5132-4878-96EB-DFC28E602C1C}"/>
                </a:ext>
              </a:extLst>
            </p:cNvPr>
            <p:cNvSpPr>
              <a:spLocks noChangeAspect="1"/>
            </p:cNvSpPr>
            <p:nvPr/>
          </p:nvSpPr>
          <p:spPr>
            <a:xfrm>
              <a:off x="3214757" y="367376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 name="Organigramme : Connecteur 11">
              <a:extLst>
                <a:ext uri="{FF2B5EF4-FFF2-40B4-BE49-F238E27FC236}">
                  <a16:creationId xmlns:a16="http://schemas.microsoft.com/office/drawing/2014/main" id="{7514AB09-6EF7-45CE-A13A-70572140426D}"/>
                </a:ext>
              </a:extLst>
            </p:cNvPr>
            <p:cNvSpPr>
              <a:spLocks noChangeAspect="1"/>
            </p:cNvSpPr>
            <p:nvPr/>
          </p:nvSpPr>
          <p:spPr>
            <a:xfrm>
              <a:off x="3861684" y="370825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3" name="Organigramme : Connecteur 12">
              <a:extLst>
                <a:ext uri="{FF2B5EF4-FFF2-40B4-BE49-F238E27FC236}">
                  <a16:creationId xmlns:a16="http://schemas.microsoft.com/office/drawing/2014/main" id="{6253243C-7FDA-4497-A19E-3D0A0809EB3A}"/>
                </a:ext>
              </a:extLst>
            </p:cNvPr>
            <p:cNvSpPr>
              <a:spLocks noChangeAspect="1"/>
            </p:cNvSpPr>
            <p:nvPr/>
          </p:nvSpPr>
          <p:spPr>
            <a:xfrm>
              <a:off x="2389840" y="410195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5" name="Organigramme : Connecteur 14">
              <a:extLst>
                <a:ext uri="{FF2B5EF4-FFF2-40B4-BE49-F238E27FC236}">
                  <a16:creationId xmlns:a16="http://schemas.microsoft.com/office/drawing/2014/main" id="{0E775367-3A4B-4FFA-AF3E-E908DFD5EA00}"/>
                </a:ext>
              </a:extLst>
            </p:cNvPr>
            <p:cNvSpPr>
              <a:spLocks noChangeAspect="1"/>
            </p:cNvSpPr>
            <p:nvPr/>
          </p:nvSpPr>
          <p:spPr>
            <a:xfrm>
              <a:off x="2630075" y="432631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6" name="Organigramme : Connecteur 15">
              <a:extLst>
                <a:ext uri="{FF2B5EF4-FFF2-40B4-BE49-F238E27FC236}">
                  <a16:creationId xmlns:a16="http://schemas.microsoft.com/office/drawing/2014/main" id="{8948AD27-F4B7-4886-96A4-82E5C7C6F876}"/>
                </a:ext>
              </a:extLst>
            </p:cNvPr>
            <p:cNvSpPr>
              <a:spLocks noChangeAspect="1"/>
            </p:cNvSpPr>
            <p:nvPr/>
          </p:nvSpPr>
          <p:spPr>
            <a:xfrm>
              <a:off x="3228862" y="429298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7" name="Organigramme : Connecteur 16">
              <a:extLst>
                <a:ext uri="{FF2B5EF4-FFF2-40B4-BE49-F238E27FC236}">
                  <a16:creationId xmlns:a16="http://schemas.microsoft.com/office/drawing/2014/main" id="{7360B629-2A27-4D96-8531-8BCCBE4CE65F}"/>
                </a:ext>
              </a:extLst>
            </p:cNvPr>
            <p:cNvSpPr>
              <a:spLocks noChangeAspect="1"/>
            </p:cNvSpPr>
            <p:nvPr/>
          </p:nvSpPr>
          <p:spPr>
            <a:xfrm rot="7820797">
              <a:off x="3458071" y="332470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9" name="Organigramme : Connecteur 18">
              <a:extLst>
                <a:ext uri="{FF2B5EF4-FFF2-40B4-BE49-F238E27FC236}">
                  <a16:creationId xmlns:a16="http://schemas.microsoft.com/office/drawing/2014/main" id="{B2689D50-EF16-4F26-BEFB-EBB1D8E1E1F3}"/>
                </a:ext>
              </a:extLst>
            </p:cNvPr>
            <p:cNvSpPr>
              <a:spLocks noChangeAspect="1"/>
            </p:cNvSpPr>
            <p:nvPr/>
          </p:nvSpPr>
          <p:spPr>
            <a:xfrm>
              <a:off x="3003617" y="406493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0" name="Organigramme : Connecteur 19">
              <a:extLst>
                <a:ext uri="{FF2B5EF4-FFF2-40B4-BE49-F238E27FC236}">
                  <a16:creationId xmlns:a16="http://schemas.microsoft.com/office/drawing/2014/main" id="{8DEE3FDF-C71E-4374-9543-BD5C9E9B6BB9}"/>
                </a:ext>
              </a:extLst>
            </p:cNvPr>
            <p:cNvSpPr>
              <a:spLocks noChangeAspect="1"/>
            </p:cNvSpPr>
            <p:nvPr/>
          </p:nvSpPr>
          <p:spPr>
            <a:xfrm>
              <a:off x="3660458" y="3881081"/>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2" name="Organigramme : Connecteur 21">
              <a:extLst>
                <a:ext uri="{FF2B5EF4-FFF2-40B4-BE49-F238E27FC236}">
                  <a16:creationId xmlns:a16="http://schemas.microsoft.com/office/drawing/2014/main" id="{DBA6FA2B-8D8B-4EB7-B12B-4275AD737C14}"/>
                </a:ext>
              </a:extLst>
            </p:cNvPr>
            <p:cNvSpPr>
              <a:spLocks noChangeAspect="1"/>
            </p:cNvSpPr>
            <p:nvPr/>
          </p:nvSpPr>
          <p:spPr>
            <a:xfrm>
              <a:off x="3435397" y="376852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3" name="Organigramme : Connecteur 22">
              <a:extLst>
                <a:ext uri="{FF2B5EF4-FFF2-40B4-BE49-F238E27FC236}">
                  <a16:creationId xmlns:a16="http://schemas.microsoft.com/office/drawing/2014/main" id="{42245070-2BDC-4470-9F12-CBF684BB46BC}"/>
                </a:ext>
              </a:extLst>
            </p:cNvPr>
            <p:cNvSpPr>
              <a:spLocks noChangeAspect="1"/>
            </p:cNvSpPr>
            <p:nvPr/>
          </p:nvSpPr>
          <p:spPr>
            <a:xfrm>
              <a:off x="3267319" y="391064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24" name="Connecteur droit avec flèche 23">
              <a:extLst>
                <a:ext uri="{FF2B5EF4-FFF2-40B4-BE49-F238E27FC236}">
                  <a16:creationId xmlns:a16="http://schemas.microsoft.com/office/drawing/2014/main" id="{BD93B4AA-4772-497B-94EA-1775315A918F}"/>
                </a:ext>
              </a:extLst>
            </p:cNvPr>
            <p:cNvCxnSpPr>
              <a:cxnSpLocks/>
            </p:cNvCxnSpPr>
            <p:nvPr/>
          </p:nvCxnSpPr>
          <p:spPr>
            <a:xfrm flipV="1">
              <a:off x="2916505" y="2938497"/>
              <a:ext cx="2108976" cy="2065687"/>
            </a:xfrm>
            <a:prstGeom prst="straightConnector1">
              <a:avLst/>
            </a:prstGeom>
            <a:ln w="19050">
              <a:headEnd type="none" w="med" len="med"/>
              <a:tailEnd type="none" w="med" len="med"/>
            </a:ln>
            <a:effectLst>
              <a:outerShdw blurRad="50800" dist="38100" algn="l" rotWithShape="0">
                <a:prstClr val="black">
                  <a:alpha val="40000"/>
                </a:prstClr>
              </a:outerShdw>
            </a:effectLst>
          </p:spPr>
          <p:style>
            <a:lnRef idx="3">
              <a:schemeClr val="accent2"/>
            </a:lnRef>
            <a:fillRef idx="0">
              <a:schemeClr val="accent2"/>
            </a:fillRef>
            <a:effectRef idx="2">
              <a:schemeClr val="accent2"/>
            </a:effectRef>
            <a:fontRef idx="minor">
              <a:schemeClr val="tx1"/>
            </a:fontRef>
          </p:style>
        </p:cxnSp>
        <p:sp>
          <p:nvSpPr>
            <p:cNvPr id="25" name="Rectangle 24">
              <a:extLst>
                <a:ext uri="{FF2B5EF4-FFF2-40B4-BE49-F238E27FC236}">
                  <a16:creationId xmlns:a16="http://schemas.microsoft.com/office/drawing/2014/main" id="{DCF205BC-7A86-4CD0-8E4F-AE8736AD9CEA}"/>
                </a:ext>
              </a:extLst>
            </p:cNvPr>
            <p:cNvSpPr>
              <a:spLocks noChangeAspect="1"/>
            </p:cNvSpPr>
            <p:nvPr/>
          </p:nvSpPr>
          <p:spPr>
            <a:xfrm rot="7820797">
              <a:off x="4066647" y="3999052"/>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6" name="Rectangle 25">
              <a:extLst>
                <a:ext uri="{FF2B5EF4-FFF2-40B4-BE49-F238E27FC236}">
                  <a16:creationId xmlns:a16="http://schemas.microsoft.com/office/drawing/2014/main" id="{5A3B6D24-C58E-4FC6-A28F-EE3E5CB832B8}"/>
                </a:ext>
              </a:extLst>
            </p:cNvPr>
            <p:cNvSpPr>
              <a:spLocks noChangeAspect="1"/>
            </p:cNvSpPr>
            <p:nvPr/>
          </p:nvSpPr>
          <p:spPr>
            <a:xfrm rot="7820797">
              <a:off x="4693349" y="3363465"/>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7" name="Rectangle 26">
              <a:extLst>
                <a:ext uri="{FF2B5EF4-FFF2-40B4-BE49-F238E27FC236}">
                  <a16:creationId xmlns:a16="http://schemas.microsoft.com/office/drawing/2014/main" id="{A7EE69F9-0E49-47E9-99DE-1F9CA5E85819}"/>
                </a:ext>
              </a:extLst>
            </p:cNvPr>
            <p:cNvSpPr>
              <a:spLocks noChangeAspect="1"/>
            </p:cNvSpPr>
            <p:nvPr/>
          </p:nvSpPr>
          <p:spPr>
            <a:xfrm rot="7820797">
              <a:off x="4619053" y="3623779"/>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8" name="Rectangle 27">
              <a:extLst>
                <a:ext uri="{FF2B5EF4-FFF2-40B4-BE49-F238E27FC236}">
                  <a16:creationId xmlns:a16="http://schemas.microsoft.com/office/drawing/2014/main" id="{8CEF58C3-4A07-4267-9AC5-958BEDAFBB37}"/>
                </a:ext>
              </a:extLst>
            </p:cNvPr>
            <p:cNvSpPr>
              <a:spLocks noChangeAspect="1"/>
            </p:cNvSpPr>
            <p:nvPr/>
          </p:nvSpPr>
          <p:spPr>
            <a:xfrm rot="7820797">
              <a:off x="4733544" y="3750244"/>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9" name="Rectangle 28">
              <a:extLst>
                <a:ext uri="{FF2B5EF4-FFF2-40B4-BE49-F238E27FC236}">
                  <a16:creationId xmlns:a16="http://schemas.microsoft.com/office/drawing/2014/main" id="{A4038BED-DE14-402B-B8CB-9154324EFD32}"/>
                </a:ext>
              </a:extLst>
            </p:cNvPr>
            <p:cNvSpPr>
              <a:spLocks noChangeAspect="1"/>
            </p:cNvSpPr>
            <p:nvPr/>
          </p:nvSpPr>
          <p:spPr>
            <a:xfrm rot="7820797">
              <a:off x="4427321" y="3903426"/>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1" name="Rectangle 30">
              <a:extLst>
                <a:ext uri="{FF2B5EF4-FFF2-40B4-BE49-F238E27FC236}">
                  <a16:creationId xmlns:a16="http://schemas.microsoft.com/office/drawing/2014/main" id="{E4A42106-B840-4EDF-9E1B-1FFC302886B1}"/>
                </a:ext>
              </a:extLst>
            </p:cNvPr>
            <p:cNvSpPr>
              <a:spLocks noChangeAspect="1"/>
            </p:cNvSpPr>
            <p:nvPr/>
          </p:nvSpPr>
          <p:spPr>
            <a:xfrm rot="7820797">
              <a:off x="4235899" y="3866804"/>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2" name="Rectangle 31">
              <a:extLst>
                <a:ext uri="{FF2B5EF4-FFF2-40B4-BE49-F238E27FC236}">
                  <a16:creationId xmlns:a16="http://schemas.microsoft.com/office/drawing/2014/main" id="{196816A2-D636-455A-9293-D7A88B68B6D1}"/>
                </a:ext>
              </a:extLst>
            </p:cNvPr>
            <p:cNvSpPr>
              <a:spLocks noChangeAspect="1"/>
            </p:cNvSpPr>
            <p:nvPr/>
          </p:nvSpPr>
          <p:spPr>
            <a:xfrm rot="7820797">
              <a:off x="4952861" y="4725809"/>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3" name="Rectangle 32">
              <a:extLst>
                <a:ext uri="{FF2B5EF4-FFF2-40B4-BE49-F238E27FC236}">
                  <a16:creationId xmlns:a16="http://schemas.microsoft.com/office/drawing/2014/main" id="{A7B3DA89-D9C6-4B6C-9258-8355BAFF9E6E}"/>
                </a:ext>
              </a:extLst>
            </p:cNvPr>
            <p:cNvSpPr>
              <a:spLocks noChangeAspect="1"/>
            </p:cNvSpPr>
            <p:nvPr/>
          </p:nvSpPr>
          <p:spPr>
            <a:xfrm rot="7820797">
              <a:off x="3830087" y="4269641"/>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4" name="Rectangle 33">
              <a:extLst>
                <a:ext uri="{FF2B5EF4-FFF2-40B4-BE49-F238E27FC236}">
                  <a16:creationId xmlns:a16="http://schemas.microsoft.com/office/drawing/2014/main" id="{822289DF-C96A-4F30-B3E7-F8DD8E2D5A35}"/>
                </a:ext>
              </a:extLst>
            </p:cNvPr>
            <p:cNvSpPr>
              <a:spLocks noChangeAspect="1"/>
            </p:cNvSpPr>
            <p:nvPr/>
          </p:nvSpPr>
          <p:spPr>
            <a:xfrm rot="7820797">
              <a:off x="3625524" y="4466205"/>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5" name="Rectangle 34">
              <a:extLst>
                <a:ext uri="{FF2B5EF4-FFF2-40B4-BE49-F238E27FC236}">
                  <a16:creationId xmlns:a16="http://schemas.microsoft.com/office/drawing/2014/main" id="{5802F7EF-2AD2-425B-A6F8-0F53F19B139D}"/>
                </a:ext>
              </a:extLst>
            </p:cNvPr>
            <p:cNvSpPr>
              <a:spLocks noChangeAspect="1"/>
            </p:cNvSpPr>
            <p:nvPr/>
          </p:nvSpPr>
          <p:spPr>
            <a:xfrm rot="7820797">
              <a:off x="3824596" y="4689593"/>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6" name="Rectangle 35">
              <a:extLst>
                <a:ext uri="{FF2B5EF4-FFF2-40B4-BE49-F238E27FC236}">
                  <a16:creationId xmlns:a16="http://schemas.microsoft.com/office/drawing/2014/main" id="{00E814AD-6073-462E-84D2-35D9EAC46896}"/>
                </a:ext>
              </a:extLst>
            </p:cNvPr>
            <p:cNvSpPr>
              <a:spLocks noChangeAspect="1"/>
            </p:cNvSpPr>
            <p:nvPr/>
          </p:nvSpPr>
          <p:spPr>
            <a:xfrm rot="7820797">
              <a:off x="5145998" y="3421802"/>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mc:AlternateContent xmlns:mc="http://schemas.openxmlformats.org/markup-compatibility/2006" xmlns:a14="http://schemas.microsoft.com/office/drawing/2010/main">
        <mc:Choice Requires="a14">
          <p:sp>
            <p:nvSpPr>
              <p:cNvPr id="37" name="ZoneTexte 36">
                <a:extLst>
                  <a:ext uri="{FF2B5EF4-FFF2-40B4-BE49-F238E27FC236}">
                    <a16:creationId xmlns:a16="http://schemas.microsoft.com/office/drawing/2014/main" id="{146455B7-AB6B-493F-8AFC-716F29549368}"/>
                  </a:ext>
                </a:extLst>
              </p:cNvPr>
              <p:cNvSpPr txBox="1"/>
              <p:nvPr/>
            </p:nvSpPr>
            <p:spPr>
              <a:xfrm>
                <a:off x="3600758" y="4838846"/>
                <a:ext cx="1058033" cy="253916"/>
              </a:xfrm>
              <a:prstGeom prst="rect">
                <a:avLst/>
              </a:prstGeom>
              <a:noFill/>
            </p:spPr>
            <p:txBody>
              <a:bodyPr wrap="square" rtlCol="0">
                <a:spAutoFit/>
              </a:bodyPr>
              <a:lstStyle/>
              <a:p>
                <a14:m>
                  <m:oMath xmlns:m="http://schemas.openxmlformats.org/officeDocument/2006/math">
                    <m:r>
                      <a:rPr lang="fr-FR" sz="1050" i="1" dirty="0">
                        <a:latin typeface="Cambria Math" panose="02040503050406030204" pitchFamily="18" charset="0"/>
                      </a:rPr>
                      <m:t>𝑔𝑎𝑚𝑚𝑎</m:t>
                    </m:r>
                  </m:oMath>
                </a14:m>
                <a:r>
                  <a:rPr lang="fr-FR" sz="1050" dirty="0"/>
                  <a:t> élevé</a:t>
                </a:r>
              </a:p>
            </p:txBody>
          </p:sp>
        </mc:Choice>
        <mc:Fallback xmlns="">
          <p:sp>
            <p:nvSpPr>
              <p:cNvPr id="37" name="ZoneTexte 36">
                <a:extLst>
                  <a:ext uri="{FF2B5EF4-FFF2-40B4-BE49-F238E27FC236}">
                    <a16:creationId xmlns:a16="http://schemas.microsoft.com/office/drawing/2014/main" id="{146455B7-AB6B-493F-8AFC-716F29549368}"/>
                  </a:ext>
                </a:extLst>
              </p:cNvPr>
              <p:cNvSpPr txBox="1">
                <a:spLocks noRot="1" noChangeAspect="1" noMove="1" noResize="1" noEditPoints="1" noAdjustHandles="1" noChangeArrowheads="1" noChangeShapeType="1" noTextEdit="1"/>
              </p:cNvSpPr>
              <p:nvPr/>
            </p:nvSpPr>
            <p:spPr>
              <a:xfrm>
                <a:off x="3600758" y="4838846"/>
                <a:ext cx="1058033" cy="253916"/>
              </a:xfrm>
              <a:prstGeom prst="rect">
                <a:avLst/>
              </a:prstGeom>
              <a:blipFill>
                <a:blip r:embed="rId3"/>
                <a:stretch>
                  <a:fillRect b="-14634"/>
                </a:stretch>
              </a:blipFill>
            </p:spPr>
            <p:txBody>
              <a:bodyPr/>
              <a:lstStyle/>
              <a:p>
                <a:r>
                  <a:rPr lang="fr-FR">
                    <a:noFill/>
                  </a:rPr>
                  <a:t> </a:t>
                </a:r>
              </a:p>
            </p:txBody>
          </p:sp>
        </mc:Fallback>
      </mc:AlternateContent>
      <p:sp>
        <p:nvSpPr>
          <p:cNvPr id="68" name="Rectangle 67">
            <a:extLst>
              <a:ext uri="{FF2B5EF4-FFF2-40B4-BE49-F238E27FC236}">
                <a16:creationId xmlns:a16="http://schemas.microsoft.com/office/drawing/2014/main" id="{F6DD28B0-B7E8-42EF-923F-1A714F61585B}"/>
              </a:ext>
            </a:extLst>
          </p:cNvPr>
          <p:cNvSpPr>
            <a:spLocks noChangeAspect="1"/>
          </p:cNvSpPr>
          <p:nvPr/>
        </p:nvSpPr>
        <p:spPr>
          <a:xfrm rot="7820797">
            <a:off x="4207491" y="4149846"/>
            <a:ext cx="81000" cy="821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9" name="Rectangle 68">
            <a:extLst>
              <a:ext uri="{FF2B5EF4-FFF2-40B4-BE49-F238E27FC236}">
                <a16:creationId xmlns:a16="http://schemas.microsoft.com/office/drawing/2014/main" id="{D006EB1F-5560-4BEB-8830-F088BEBA080F}"/>
              </a:ext>
            </a:extLst>
          </p:cNvPr>
          <p:cNvSpPr>
            <a:spLocks noChangeAspect="1"/>
          </p:cNvSpPr>
          <p:nvPr/>
        </p:nvSpPr>
        <p:spPr>
          <a:xfrm rot="7820797">
            <a:off x="4382048" y="4189468"/>
            <a:ext cx="81000" cy="821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0" name="Rectangle 69">
            <a:extLst>
              <a:ext uri="{FF2B5EF4-FFF2-40B4-BE49-F238E27FC236}">
                <a16:creationId xmlns:a16="http://schemas.microsoft.com/office/drawing/2014/main" id="{C5E76D57-32CC-49FB-BFEB-BDB08A21A30A}"/>
              </a:ext>
            </a:extLst>
          </p:cNvPr>
          <p:cNvSpPr>
            <a:spLocks noChangeAspect="1"/>
          </p:cNvSpPr>
          <p:nvPr/>
        </p:nvSpPr>
        <p:spPr>
          <a:xfrm rot="7820797">
            <a:off x="4688237" y="4209728"/>
            <a:ext cx="81000" cy="821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1" name="Rectangle 70">
            <a:extLst>
              <a:ext uri="{FF2B5EF4-FFF2-40B4-BE49-F238E27FC236}">
                <a16:creationId xmlns:a16="http://schemas.microsoft.com/office/drawing/2014/main" id="{EFDBCC36-5478-44E4-B213-16D19F4E1582}"/>
              </a:ext>
            </a:extLst>
          </p:cNvPr>
          <p:cNvSpPr>
            <a:spLocks noChangeAspect="1"/>
          </p:cNvSpPr>
          <p:nvPr/>
        </p:nvSpPr>
        <p:spPr>
          <a:xfrm rot="7820797">
            <a:off x="4578470" y="3936049"/>
            <a:ext cx="81000" cy="821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2" name="Rectangle 71">
            <a:extLst>
              <a:ext uri="{FF2B5EF4-FFF2-40B4-BE49-F238E27FC236}">
                <a16:creationId xmlns:a16="http://schemas.microsoft.com/office/drawing/2014/main" id="{0C372512-75F0-4B80-9525-62A7DC2419D0}"/>
              </a:ext>
            </a:extLst>
          </p:cNvPr>
          <p:cNvSpPr>
            <a:spLocks noChangeAspect="1"/>
          </p:cNvSpPr>
          <p:nvPr/>
        </p:nvSpPr>
        <p:spPr>
          <a:xfrm rot="7820797">
            <a:off x="4261391" y="4401980"/>
            <a:ext cx="81000" cy="821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4" name="Connecteur droit 3">
            <a:extLst>
              <a:ext uri="{FF2B5EF4-FFF2-40B4-BE49-F238E27FC236}">
                <a16:creationId xmlns:a16="http://schemas.microsoft.com/office/drawing/2014/main" id="{7AC3EFDC-D1E4-4C71-A96B-35C701A5153C}"/>
              </a:ext>
            </a:extLst>
          </p:cNvPr>
          <p:cNvCxnSpPr>
            <a:cxnSpLocks/>
            <a:stCxn id="10" idx="5"/>
          </p:cNvCxnSpPr>
          <p:nvPr/>
        </p:nvCxnSpPr>
        <p:spPr>
          <a:xfrm>
            <a:off x="3988687" y="3455693"/>
            <a:ext cx="299393" cy="24152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3" name="Connecteur droit 72">
            <a:extLst>
              <a:ext uri="{FF2B5EF4-FFF2-40B4-BE49-F238E27FC236}">
                <a16:creationId xmlns:a16="http://schemas.microsoft.com/office/drawing/2014/main" id="{E51B6D3A-7945-4150-9903-B4B663AB1252}"/>
              </a:ext>
            </a:extLst>
          </p:cNvPr>
          <p:cNvCxnSpPr>
            <a:cxnSpLocks/>
            <a:stCxn id="11" idx="5"/>
          </p:cNvCxnSpPr>
          <p:nvPr/>
        </p:nvCxnSpPr>
        <p:spPr>
          <a:xfrm>
            <a:off x="3554849" y="3767630"/>
            <a:ext cx="338919" cy="30050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5" name="Connecteur droit 74">
            <a:extLst>
              <a:ext uri="{FF2B5EF4-FFF2-40B4-BE49-F238E27FC236}">
                <a16:creationId xmlns:a16="http://schemas.microsoft.com/office/drawing/2014/main" id="{FDC2A75C-9E6F-408A-9E61-AC5714A236AA}"/>
              </a:ext>
            </a:extLst>
          </p:cNvPr>
          <p:cNvCxnSpPr>
            <a:cxnSpLocks/>
            <a:stCxn id="23" idx="5"/>
          </p:cNvCxnSpPr>
          <p:nvPr/>
        </p:nvCxnSpPr>
        <p:spPr>
          <a:xfrm>
            <a:off x="3594271" y="3945289"/>
            <a:ext cx="225716" cy="20070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C41A342C-60C5-4087-9AF2-355DFC140528}"/>
              </a:ext>
            </a:extLst>
          </p:cNvPr>
          <p:cNvCxnSpPr>
            <a:cxnSpLocks/>
            <a:stCxn id="15" idx="5"/>
          </p:cNvCxnSpPr>
          <p:nvPr/>
        </p:nvCxnSpPr>
        <p:spPr>
          <a:xfrm>
            <a:off x="3116338" y="4257038"/>
            <a:ext cx="310877" cy="27001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6" name="Connecteur droit 55">
            <a:extLst>
              <a:ext uri="{FF2B5EF4-FFF2-40B4-BE49-F238E27FC236}">
                <a16:creationId xmlns:a16="http://schemas.microsoft.com/office/drawing/2014/main" id="{A754A592-7C83-42D6-ADBB-532B5277E9E3}"/>
              </a:ext>
            </a:extLst>
          </p:cNvPr>
          <p:cNvCxnSpPr>
            <a:cxnSpLocks/>
            <a:endCxn id="68" idx="2"/>
          </p:cNvCxnSpPr>
          <p:nvPr/>
        </p:nvCxnSpPr>
        <p:spPr>
          <a:xfrm>
            <a:off x="4000444" y="3980127"/>
            <a:ext cx="216262" cy="18419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D252DF76-80D9-47B0-9708-72D5B9F4CF78}"/>
              </a:ext>
            </a:extLst>
          </p:cNvPr>
          <p:cNvCxnSpPr>
            <a:cxnSpLocks/>
            <a:endCxn id="71" idx="2"/>
          </p:cNvCxnSpPr>
          <p:nvPr/>
        </p:nvCxnSpPr>
        <p:spPr>
          <a:xfrm>
            <a:off x="4280596" y="3693078"/>
            <a:ext cx="307088" cy="257446"/>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1C15A95F-9266-486B-B398-4528D9431059}"/>
              </a:ext>
            </a:extLst>
          </p:cNvPr>
          <p:cNvCxnSpPr>
            <a:cxnSpLocks/>
            <a:endCxn id="36" idx="2"/>
          </p:cNvCxnSpPr>
          <p:nvPr/>
        </p:nvCxnSpPr>
        <p:spPr>
          <a:xfrm>
            <a:off x="4682476" y="3310067"/>
            <a:ext cx="260881" cy="21298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4" name="Connecteur droit 63">
            <a:extLst>
              <a:ext uri="{FF2B5EF4-FFF2-40B4-BE49-F238E27FC236}">
                <a16:creationId xmlns:a16="http://schemas.microsoft.com/office/drawing/2014/main" id="{EF028BDE-C578-4C41-B2D1-BAF64C4B5532}"/>
              </a:ext>
            </a:extLst>
          </p:cNvPr>
          <p:cNvCxnSpPr>
            <a:cxnSpLocks/>
            <a:endCxn id="72" idx="2"/>
          </p:cNvCxnSpPr>
          <p:nvPr/>
        </p:nvCxnSpPr>
        <p:spPr>
          <a:xfrm>
            <a:off x="3875930" y="4100753"/>
            <a:ext cx="394676" cy="31570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7" name="Connecteur droit 66">
            <a:extLst>
              <a:ext uri="{FF2B5EF4-FFF2-40B4-BE49-F238E27FC236}">
                <a16:creationId xmlns:a16="http://schemas.microsoft.com/office/drawing/2014/main" id="{C6F1443C-C276-4A8A-B79B-E4733146F0D6}"/>
              </a:ext>
            </a:extLst>
          </p:cNvPr>
          <p:cNvCxnSpPr>
            <a:cxnSpLocks/>
            <a:endCxn id="35" idx="2"/>
          </p:cNvCxnSpPr>
          <p:nvPr/>
        </p:nvCxnSpPr>
        <p:spPr>
          <a:xfrm>
            <a:off x="3722076" y="4240008"/>
            <a:ext cx="230230" cy="23389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0470837"/>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1124618"/>
          </a:xfrm>
        </p:spPr>
        <p:txBody>
          <a:bodyPr>
            <a:noAutofit/>
          </a:bodyPr>
          <a:lstStyle/>
          <a:p>
            <a:pPr algn="just">
              <a:lnSpc>
                <a:spcPct val="150000"/>
              </a:lnSpc>
              <a:buClr>
                <a:schemeClr val="accent2"/>
              </a:buClr>
            </a:pPr>
            <a:r>
              <a:rPr lang="fr-FR" sz="1350" dirty="0"/>
              <a:t>Une bonne marge est une marge dont la séparation est la plus grande pour les deux classes.</a:t>
            </a:r>
          </a:p>
          <a:p>
            <a:pPr algn="just">
              <a:lnSpc>
                <a:spcPct val="150000"/>
              </a:lnSpc>
              <a:buClr>
                <a:schemeClr val="accent2"/>
              </a:buClr>
            </a:pPr>
            <a:r>
              <a:rPr lang="fr-FR" sz="1350" dirty="0"/>
              <a:t>Une bonne marge permet aux points d'être dans leurs classes respectives sans passer à une autre classe.</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222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Support Vector Machine :</a:t>
            </a:r>
            <a:r>
              <a:rPr lang="fr-FR" sz="2100" b="0" dirty="0"/>
              <a:t> paramètres</a:t>
            </a:r>
          </a:p>
        </p:txBody>
      </p:sp>
      <p:sp>
        <p:nvSpPr>
          <p:cNvPr id="7" name="Title 13">
            <a:extLst>
              <a:ext uri="{FF2B5EF4-FFF2-40B4-BE49-F238E27FC236}">
                <a16:creationId xmlns:a16="http://schemas.microsoft.com/office/drawing/2014/main" id="{B2AB565B-6B73-41DC-ACF3-F177AF1427D4}"/>
              </a:ext>
            </a:extLst>
          </p:cNvPr>
          <p:cNvSpPr txBox="1">
            <a:spLocks/>
          </p:cNvSpPr>
          <p:nvPr/>
        </p:nvSpPr>
        <p:spPr>
          <a:xfrm>
            <a:off x="389008" y="835279"/>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Marge</a:t>
            </a:r>
          </a:p>
        </p:txBody>
      </p:sp>
      <p:grpSp>
        <p:nvGrpSpPr>
          <p:cNvPr id="2" name="Groupe 1">
            <a:extLst>
              <a:ext uri="{FF2B5EF4-FFF2-40B4-BE49-F238E27FC236}">
                <a16:creationId xmlns:a16="http://schemas.microsoft.com/office/drawing/2014/main" id="{155FBC09-885F-4CAE-8CE8-09CDA5C7E7DA}"/>
              </a:ext>
            </a:extLst>
          </p:cNvPr>
          <p:cNvGrpSpPr/>
          <p:nvPr/>
        </p:nvGrpSpPr>
        <p:grpSpPr>
          <a:xfrm>
            <a:off x="863375" y="2626913"/>
            <a:ext cx="3573447" cy="2465849"/>
            <a:chOff x="3464996" y="3502551"/>
            <a:chExt cx="4764596" cy="3287799"/>
          </a:xfrm>
        </p:grpSpPr>
        <p:cxnSp>
          <p:nvCxnSpPr>
            <p:cNvPr id="48" name="Connecteur droit avec flèche 47">
              <a:extLst>
                <a:ext uri="{FF2B5EF4-FFF2-40B4-BE49-F238E27FC236}">
                  <a16:creationId xmlns:a16="http://schemas.microsoft.com/office/drawing/2014/main" id="{2A65CF9C-5468-4B51-BA16-EFC36CF0E06D}"/>
                </a:ext>
              </a:extLst>
            </p:cNvPr>
            <p:cNvCxnSpPr>
              <a:cxnSpLocks/>
            </p:cNvCxnSpPr>
            <p:nvPr/>
          </p:nvCxnSpPr>
          <p:spPr>
            <a:xfrm>
              <a:off x="3464996" y="5467723"/>
              <a:ext cx="30225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6ADBCEA2-2768-4B5A-9717-DAEFF864CCDB}"/>
                </a:ext>
              </a:extLst>
            </p:cNvPr>
            <p:cNvCxnSpPr>
              <a:cxnSpLocks/>
            </p:cNvCxnSpPr>
            <p:nvPr/>
          </p:nvCxnSpPr>
          <p:spPr>
            <a:xfrm flipV="1">
              <a:off x="4422674" y="3726437"/>
              <a:ext cx="0" cy="25340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Organigramme : Connecteur 49">
              <a:extLst>
                <a:ext uri="{FF2B5EF4-FFF2-40B4-BE49-F238E27FC236}">
                  <a16:creationId xmlns:a16="http://schemas.microsoft.com/office/drawing/2014/main" id="{B01D4888-D783-4CE6-94EE-9D42E09697D2}"/>
                </a:ext>
              </a:extLst>
            </p:cNvPr>
            <p:cNvSpPr>
              <a:spLocks noChangeAspect="1"/>
            </p:cNvSpPr>
            <p:nvPr/>
          </p:nvSpPr>
          <p:spPr>
            <a:xfrm>
              <a:off x="5226066" y="451415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1" name="Organigramme : Connecteur 50">
              <a:extLst>
                <a:ext uri="{FF2B5EF4-FFF2-40B4-BE49-F238E27FC236}">
                  <a16:creationId xmlns:a16="http://schemas.microsoft.com/office/drawing/2014/main" id="{055E970C-4BC1-485E-A0BE-6710301279D4}"/>
                </a:ext>
              </a:extLst>
            </p:cNvPr>
            <p:cNvSpPr>
              <a:spLocks noChangeAspect="1"/>
            </p:cNvSpPr>
            <p:nvPr/>
          </p:nvSpPr>
          <p:spPr>
            <a:xfrm>
              <a:off x="4647615" y="4930071"/>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2" name="Organigramme : Connecteur 51">
              <a:extLst>
                <a:ext uri="{FF2B5EF4-FFF2-40B4-BE49-F238E27FC236}">
                  <a16:creationId xmlns:a16="http://schemas.microsoft.com/office/drawing/2014/main" id="{36075981-735F-4B02-81C0-EAF71D6FDAEF}"/>
                </a:ext>
              </a:extLst>
            </p:cNvPr>
            <p:cNvSpPr>
              <a:spLocks noChangeAspect="1"/>
            </p:cNvSpPr>
            <p:nvPr/>
          </p:nvSpPr>
          <p:spPr>
            <a:xfrm>
              <a:off x="5294542" y="4964558"/>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4" name="Organigramme : Connecteur 53">
              <a:extLst>
                <a:ext uri="{FF2B5EF4-FFF2-40B4-BE49-F238E27FC236}">
                  <a16:creationId xmlns:a16="http://schemas.microsoft.com/office/drawing/2014/main" id="{B03160F7-EC84-47D3-9B79-C523F82A5912}"/>
                </a:ext>
              </a:extLst>
            </p:cNvPr>
            <p:cNvSpPr>
              <a:spLocks noChangeAspect="1"/>
            </p:cNvSpPr>
            <p:nvPr/>
          </p:nvSpPr>
          <p:spPr>
            <a:xfrm>
              <a:off x="3822698" y="5358257"/>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5" name="Organigramme : Connecteur 54">
              <a:extLst>
                <a:ext uri="{FF2B5EF4-FFF2-40B4-BE49-F238E27FC236}">
                  <a16:creationId xmlns:a16="http://schemas.microsoft.com/office/drawing/2014/main" id="{804803ED-9F89-4B72-B255-70762877BC3A}"/>
                </a:ext>
              </a:extLst>
            </p:cNvPr>
            <p:cNvSpPr>
              <a:spLocks noChangeAspect="1"/>
            </p:cNvSpPr>
            <p:nvPr/>
          </p:nvSpPr>
          <p:spPr>
            <a:xfrm>
              <a:off x="4062933" y="558261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7" name="Organigramme : Connecteur 56">
              <a:extLst>
                <a:ext uri="{FF2B5EF4-FFF2-40B4-BE49-F238E27FC236}">
                  <a16:creationId xmlns:a16="http://schemas.microsoft.com/office/drawing/2014/main" id="{DAB84C5A-8D7C-43E8-A65F-1ADE05ACD5C6}"/>
                </a:ext>
              </a:extLst>
            </p:cNvPr>
            <p:cNvSpPr>
              <a:spLocks noChangeAspect="1"/>
            </p:cNvSpPr>
            <p:nvPr/>
          </p:nvSpPr>
          <p:spPr>
            <a:xfrm>
              <a:off x="4661720" y="554928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8" name="Organigramme : Connecteur 57">
              <a:extLst>
                <a:ext uri="{FF2B5EF4-FFF2-40B4-BE49-F238E27FC236}">
                  <a16:creationId xmlns:a16="http://schemas.microsoft.com/office/drawing/2014/main" id="{B916D4E5-098D-417A-B130-23427B40C08A}"/>
                </a:ext>
              </a:extLst>
            </p:cNvPr>
            <p:cNvSpPr>
              <a:spLocks noChangeAspect="1"/>
            </p:cNvSpPr>
            <p:nvPr/>
          </p:nvSpPr>
          <p:spPr>
            <a:xfrm rot="7820797">
              <a:off x="4890929" y="458101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0" name="Organigramme : Connecteur 59">
              <a:extLst>
                <a:ext uri="{FF2B5EF4-FFF2-40B4-BE49-F238E27FC236}">
                  <a16:creationId xmlns:a16="http://schemas.microsoft.com/office/drawing/2014/main" id="{44FC3436-5AC6-4B88-ACF1-CAA9F15FDE36}"/>
                </a:ext>
              </a:extLst>
            </p:cNvPr>
            <p:cNvSpPr>
              <a:spLocks noChangeAspect="1"/>
            </p:cNvSpPr>
            <p:nvPr/>
          </p:nvSpPr>
          <p:spPr>
            <a:xfrm>
              <a:off x="4436475" y="532123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1" name="Organigramme : Connecteur 60">
              <a:extLst>
                <a:ext uri="{FF2B5EF4-FFF2-40B4-BE49-F238E27FC236}">
                  <a16:creationId xmlns:a16="http://schemas.microsoft.com/office/drawing/2014/main" id="{6C03DBD9-35D8-4DE9-B503-221DCDA35FCC}"/>
                </a:ext>
              </a:extLst>
            </p:cNvPr>
            <p:cNvSpPr>
              <a:spLocks noChangeAspect="1"/>
            </p:cNvSpPr>
            <p:nvPr/>
          </p:nvSpPr>
          <p:spPr>
            <a:xfrm>
              <a:off x="5093316" y="513738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3" name="Organigramme : Connecteur 62">
              <a:extLst>
                <a:ext uri="{FF2B5EF4-FFF2-40B4-BE49-F238E27FC236}">
                  <a16:creationId xmlns:a16="http://schemas.microsoft.com/office/drawing/2014/main" id="{F62E53C9-BE01-486A-BB8F-1C581B79C61A}"/>
                </a:ext>
              </a:extLst>
            </p:cNvPr>
            <p:cNvSpPr>
              <a:spLocks noChangeAspect="1"/>
            </p:cNvSpPr>
            <p:nvPr/>
          </p:nvSpPr>
          <p:spPr>
            <a:xfrm>
              <a:off x="4868255" y="502482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65" name="Organigramme : Connecteur 64">
              <a:extLst>
                <a:ext uri="{FF2B5EF4-FFF2-40B4-BE49-F238E27FC236}">
                  <a16:creationId xmlns:a16="http://schemas.microsoft.com/office/drawing/2014/main" id="{7515C83C-AA40-4077-992F-72830773B64B}"/>
                </a:ext>
              </a:extLst>
            </p:cNvPr>
            <p:cNvSpPr>
              <a:spLocks noChangeAspect="1"/>
            </p:cNvSpPr>
            <p:nvPr/>
          </p:nvSpPr>
          <p:spPr>
            <a:xfrm>
              <a:off x="4700177" y="516695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66" name="Connecteur droit avec flèche 65">
              <a:extLst>
                <a:ext uri="{FF2B5EF4-FFF2-40B4-BE49-F238E27FC236}">
                  <a16:creationId xmlns:a16="http://schemas.microsoft.com/office/drawing/2014/main" id="{AA50655B-6867-4D5C-83F9-7B93BD78EB15}"/>
                </a:ext>
              </a:extLst>
            </p:cNvPr>
            <p:cNvCxnSpPr>
              <a:cxnSpLocks/>
            </p:cNvCxnSpPr>
            <p:nvPr/>
          </p:nvCxnSpPr>
          <p:spPr>
            <a:xfrm flipV="1">
              <a:off x="4349363" y="4194802"/>
              <a:ext cx="2108976" cy="2065687"/>
            </a:xfrm>
            <a:prstGeom prst="straightConnector1">
              <a:avLst/>
            </a:prstGeom>
            <a:ln w="19050">
              <a:headEnd type="none" w="med" len="med"/>
              <a:tailEnd type="none" w="med" len="med"/>
            </a:ln>
            <a:effectLst>
              <a:outerShdw blurRad="50800" dist="38100" algn="l" rotWithShape="0">
                <a:prstClr val="black">
                  <a:alpha val="40000"/>
                </a:prstClr>
              </a:outerShdw>
            </a:effectLst>
          </p:spPr>
          <p:style>
            <a:lnRef idx="3">
              <a:schemeClr val="accent2"/>
            </a:lnRef>
            <a:fillRef idx="0">
              <a:schemeClr val="accent2"/>
            </a:fillRef>
            <a:effectRef idx="2">
              <a:schemeClr val="accent2"/>
            </a:effectRef>
            <a:fontRef idx="minor">
              <a:schemeClr val="tx1"/>
            </a:fontRef>
          </p:style>
        </p:cxnSp>
        <p:sp>
          <p:nvSpPr>
            <p:cNvPr id="74" name="Rectangle 73">
              <a:extLst>
                <a:ext uri="{FF2B5EF4-FFF2-40B4-BE49-F238E27FC236}">
                  <a16:creationId xmlns:a16="http://schemas.microsoft.com/office/drawing/2014/main" id="{19376BCF-27BC-4EF3-8324-C13F02B74352}"/>
                </a:ext>
              </a:extLst>
            </p:cNvPr>
            <p:cNvSpPr>
              <a:spLocks noChangeAspect="1"/>
            </p:cNvSpPr>
            <p:nvPr/>
          </p:nvSpPr>
          <p:spPr>
            <a:xfrm rot="7820797">
              <a:off x="5499505" y="5255357"/>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6" name="Rectangle 75">
              <a:extLst>
                <a:ext uri="{FF2B5EF4-FFF2-40B4-BE49-F238E27FC236}">
                  <a16:creationId xmlns:a16="http://schemas.microsoft.com/office/drawing/2014/main" id="{8073EC43-F500-4051-850E-248A02257CF6}"/>
                </a:ext>
              </a:extLst>
            </p:cNvPr>
            <p:cNvSpPr>
              <a:spLocks noChangeAspect="1"/>
            </p:cNvSpPr>
            <p:nvPr/>
          </p:nvSpPr>
          <p:spPr>
            <a:xfrm rot="7820797">
              <a:off x="6126207" y="4619770"/>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7" name="Rectangle 76">
              <a:extLst>
                <a:ext uri="{FF2B5EF4-FFF2-40B4-BE49-F238E27FC236}">
                  <a16:creationId xmlns:a16="http://schemas.microsoft.com/office/drawing/2014/main" id="{9AC0E2F4-C238-464D-B45D-704C19EA890A}"/>
                </a:ext>
              </a:extLst>
            </p:cNvPr>
            <p:cNvSpPr>
              <a:spLocks noChangeAspect="1"/>
            </p:cNvSpPr>
            <p:nvPr/>
          </p:nvSpPr>
          <p:spPr>
            <a:xfrm rot="7820797">
              <a:off x="6051911" y="4880084"/>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8" name="Rectangle 77">
              <a:extLst>
                <a:ext uri="{FF2B5EF4-FFF2-40B4-BE49-F238E27FC236}">
                  <a16:creationId xmlns:a16="http://schemas.microsoft.com/office/drawing/2014/main" id="{01393134-3E4E-4C71-A57A-815A31B63CB2}"/>
                </a:ext>
              </a:extLst>
            </p:cNvPr>
            <p:cNvSpPr>
              <a:spLocks noChangeAspect="1"/>
            </p:cNvSpPr>
            <p:nvPr/>
          </p:nvSpPr>
          <p:spPr>
            <a:xfrm rot="7820797">
              <a:off x="6166402" y="5006549"/>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9" name="Rectangle 78">
              <a:extLst>
                <a:ext uri="{FF2B5EF4-FFF2-40B4-BE49-F238E27FC236}">
                  <a16:creationId xmlns:a16="http://schemas.microsoft.com/office/drawing/2014/main" id="{9E552AF2-29BF-4E13-968C-16CCDB3919D6}"/>
                </a:ext>
              </a:extLst>
            </p:cNvPr>
            <p:cNvSpPr>
              <a:spLocks noChangeAspect="1"/>
            </p:cNvSpPr>
            <p:nvPr/>
          </p:nvSpPr>
          <p:spPr>
            <a:xfrm rot="7820797">
              <a:off x="5860179" y="5159731"/>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0" name="Rectangle 79">
              <a:extLst>
                <a:ext uri="{FF2B5EF4-FFF2-40B4-BE49-F238E27FC236}">
                  <a16:creationId xmlns:a16="http://schemas.microsoft.com/office/drawing/2014/main" id="{6813C421-F48E-4967-98FD-E9BBCF0CA0E9}"/>
                </a:ext>
              </a:extLst>
            </p:cNvPr>
            <p:cNvSpPr>
              <a:spLocks noChangeAspect="1"/>
            </p:cNvSpPr>
            <p:nvPr/>
          </p:nvSpPr>
          <p:spPr>
            <a:xfrm rot="7820797">
              <a:off x="5668757" y="5123109"/>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1" name="Rectangle 80">
              <a:extLst>
                <a:ext uri="{FF2B5EF4-FFF2-40B4-BE49-F238E27FC236}">
                  <a16:creationId xmlns:a16="http://schemas.microsoft.com/office/drawing/2014/main" id="{E37B1F68-8F69-48C9-89F8-A2FB6E0BF973}"/>
                </a:ext>
              </a:extLst>
            </p:cNvPr>
            <p:cNvSpPr>
              <a:spLocks noChangeAspect="1"/>
            </p:cNvSpPr>
            <p:nvPr/>
          </p:nvSpPr>
          <p:spPr>
            <a:xfrm rot="7820797">
              <a:off x="6385719" y="5982114"/>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2" name="Rectangle 81">
              <a:extLst>
                <a:ext uri="{FF2B5EF4-FFF2-40B4-BE49-F238E27FC236}">
                  <a16:creationId xmlns:a16="http://schemas.microsoft.com/office/drawing/2014/main" id="{0A786669-A56D-42A1-A8B9-A3AB6C59021E}"/>
                </a:ext>
              </a:extLst>
            </p:cNvPr>
            <p:cNvSpPr>
              <a:spLocks noChangeAspect="1"/>
            </p:cNvSpPr>
            <p:nvPr/>
          </p:nvSpPr>
          <p:spPr>
            <a:xfrm rot="7820797">
              <a:off x="5262945" y="5525946"/>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3" name="Rectangle 82">
              <a:extLst>
                <a:ext uri="{FF2B5EF4-FFF2-40B4-BE49-F238E27FC236}">
                  <a16:creationId xmlns:a16="http://schemas.microsoft.com/office/drawing/2014/main" id="{35A3BAF3-0BC9-424E-9C6D-0BD73354363D}"/>
                </a:ext>
              </a:extLst>
            </p:cNvPr>
            <p:cNvSpPr>
              <a:spLocks noChangeAspect="1"/>
            </p:cNvSpPr>
            <p:nvPr/>
          </p:nvSpPr>
          <p:spPr>
            <a:xfrm rot="7820797">
              <a:off x="5058382" y="5722510"/>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4" name="Rectangle 83">
              <a:extLst>
                <a:ext uri="{FF2B5EF4-FFF2-40B4-BE49-F238E27FC236}">
                  <a16:creationId xmlns:a16="http://schemas.microsoft.com/office/drawing/2014/main" id="{3DAD1310-EE8C-4E24-9F88-751DC9F68598}"/>
                </a:ext>
              </a:extLst>
            </p:cNvPr>
            <p:cNvSpPr>
              <a:spLocks noChangeAspect="1"/>
            </p:cNvSpPr>
            <p:nvPr/>
          </p:nvSpPr>
          <p:spPr>
            <a:xfrm rot="7820797">
              <a:off x="5257454" y="5945898"/>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5" name="Rectangle 84">
              <a:extLst>
                <a:ext uri="{FF2B5EF4-FFF2-40B4-BE49-F238E27FC236}">
                  <a16:creationId xmlns:a16="http://schemas.microsoft.com/office/drawing/2014/main" id="{B9F6A309-E41A-4D77-B92D-34402505653A}"/>
                </a:ext>
              </a:extLst>
            </p:cNvPr>
            <p:cNvSpPr>
              <a:spLocks noChangeAspect="1"/>
            </p:cNvSpPr>
            <p:nvPr/>
          </p:nvSpPr>
          <p:spPr>
            <a:xfrm rot="7820797">
              <a:off x="6578856" y="4678107"/>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6" name="ZoneTexte 85">
              <a:extLst>
                <a:ext uri="{FF2B5EF4-FFF2-40B4-BE49-F238E27FC236}">
                  <a16:creationId xmlns:a16="http://schemas.microsoft.com/office/drawing/2014/main" id="{E0E9E25B-096F-4DE7-8AD1-3E8593D394A1}"/>
                </a:ext>
              </a:extLst>
            </p:cNvPr>
            <p:cNvSpPr txBox="1"/>
            <p:nvPr/>
          </p:nvSpPr>
          <p:spPr>
            <a:xfrm>
              <a:off x="4801011" y="6451795"/>
              <a:ext cx="1410711" cy="338555"/>
            </a:xfrm>
            <a:prstGeom prst="rect">
              <a:avLst/>
            </a:prstGeom>
            <a:noFill/>
          </p:spPr>
          <p:txBody>
            <a:bodyPr wrap="square" rtlCol="0">
              <a:spAutoFit/>
            </a:bodyPr>
            <a:lstStyle/>
            <a:p>
              <a:r>
                <a:rPr lang="fr-FR" sz="1050" dirty="0"/>
                <a:t>Bonne marge</a:t>
              </a:r>
            </a:p>
          </p:txBody>
        </p:sp>
        <p:sp>
          <p:nvSpPr>
            <p:cNvPr id="87" name="Rectangle 86">
              <a:extLst>
                <a:ext uri="{FF2B5EF4-FFF2-40B4-BE49-F238E27FC236}">
                  <a16:creationId xmlns:a16="http://schemas.microsoft.com/office/drawing/2014/main" id="{7E00343C-3176-409F-9DBD-7B04455A0B9E}"/>
                </a:ext>
              </a:extLst>
            </p:cNvPr>
            <p:cNvSpPr>
              <a:spLocks noChangeAspect="1"/>
            </p:cNvSpPr>
            <p:nvPr/>
          </p:nvSpPr>
          <p:spPr>
            <a:xfrm rot="7820797">
              <a:off x="5609988" y="5533128"/>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8" name="Rectangle 87">
              <a:extLst>
                <a:ext uri="{FF2B5EF4-FFF2-40B4-BE49-F238E27FC236}">
                  <a16:creationId xmlns:a16="http://schemas.microsoft.com/office/drawing/2014/main" id="{B922F21E-F80B-45A2-A292-42F881D53031}"/>
                </a:ext>
              </a:extLst>
            </p:cNvPr>
            <p:cNvSpPr>
              <a:spLocks noChangeAspect="1"/>
            </p:cNvSpPr>
            <p:nvPr/>
          </p:nvSpPr>
          <p:spPr>
            <a:xfrm rot="7820797">
              <a:off x="5842730" y="5585957"/>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9" name="Rectangle 88">
              <a:extLst>
                <a:ext uri="{FF2B5EF4-FFF2-40B4-BE49-F238E27FC236}">
                  <a16:creationId xmlns:a16="http://schemas.microsoft.com/office/drawing/2014/main" id="{7D62442C-74BE-4000-A82D-F5FC60301790}"/>
                </a:ext>
              </a:extLst>
            </p:cNvPr>
            <p:cNvSpPr>
              <a:spLocks noChangeAspect="1"/>
            </p:cNvSpPr>
            <p:nvPr/>
          </p:nvSpPr>
          <p:spPr>
            <a:xfrm rot="7820797">
              <a:off x="6250982" y="5612971"/>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0" name="Rectangle 89">
              <a:extLst>
                <a:ext uri="{FF2B5EF4-FFF2-40B4-BE49-F238E27FC236}">
                  <a16:creationId xmlns:a16="http://schemas.microsoft.com/office/drawing/2014/main" id="{D2A7094F-6F31-4169-83D6-A76A0C3E5310}"/>
                </a:ext>
              </a:extLst>
            </p:cNvPr>
            <p:cNvSpPr>
              <a:spLocks noChangeAspect="1"/>
            </p:cNvSpPr>
            <p:nvPr/>
          </p:nvSpPr>
          <p:spPr>
            <a:xfrm rot="7820797">
              <a:off x="6104626" y="5248066"/>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1" name="Rectangle 90">
              <a:extLst>
                <a:ext uri="{FF2B5EF4-FFF2-40B4-BE49-F238E27FC236}">
                  <a16:creationId xmlns:a16="http://schemas.microsoft.com/office/drawing/2014/main" id="{B8170C50-7E9C-4882-B9D6-7996060AFF92}"/>
                </a:ext>
              </a:extLst>
            </p:cNvPr>
            <p:cNvSpPr>
              <a:spLocks noChangeAspect="1"/>
            </p:cNvSpPr>
            <p:nvPr/>
          </p:nvSpPr>
          <p:spPr>
            <a:xfrm rot="7820797">
              <a:off x="5681855" y="5869307"/>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92" name="Connecteur droit 91">
              <a:extLst>
                <a:ext uri="{FF2B5EF4-FFF2-40B4-BE49-F238E27FC236}">
                  <a16:creationId xmlns:a16="http://schemas.microsoft.com/office/drawing/2014/main" id="{305938B6-BDE5-489A-B6FE-0D2104CC170F}"/>
                </a:ext>
              </a:extLst>
            </p:cNvPr>
            <p:cNvCxnSpPr>
              <a:stCxn id="52" idx="5"/>
            </p:cNvCxnSpPr>
            <p:nvPr/>
          </p:nvCxnSpPr>
          <p:spPr>
            <a:xfrm>
              <a:off x="5386726" y="5057993"/>
              <a:ext cx="90104" cy="7630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93" name="Connecteur droit 92">
              <a:extLst>
                <a:ext uri="{FF2B5EF4-FFF2-40B4-BE49-F238E27FC236}">
                  <a16:creationId xmlns:a16="http://schemas.microsoft.com/office/drawing/2014/main" id="{7145AB54-B7DE-40F2-895C-33B3BD5265A2}"/>
                </a:ext>
              </a:extLst>
            </p:cNvPr>
            <p:cNvCxnSpPr>
              <a:cxnSpLocks/>
              <a:stCxn id="61" idx="5"/>
            </p:cNvCxnSpPr>
            <p:nvPr/>
          </p:nvCxnSpPr>
          <p:spPr>
            <a:xfrm>
              <a:off x="5185500" y="5230821"/>
              <a:ext cx="116287" cy="9707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94" name="Connecteur droit 93">
              <a:extLst>
                <a:ext uri="{FF2B5EF4-FFF2-40B4-BE49-F238E27FC236}">
                  <a16:creationId xmlns:a16="http://schemas.microsoft.com/office/drawing/2014/main" id="{66F8059E-FFDC-42C4-BCBF-49A6881D9663}"/>
                </a:ext>
              </a:extLst>
            </p:cNvPr>
            <p:cNvCxnSpPr>
              <a:cxnSpLocks/>
              <a:stCxn id="57" idx="5"/>
            </p:cNvCxnSpPr>
            <p:nvPr/>
          </p:nvCxnSpPr>
          <p:spPr>
            <a:xfrm>
              <a:off x="4753904" y="5642724"/>
              <a:ext cx="103206" cy="97596"/>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95" name="Connecteur droit 94">
              <a:extLst>
                <a:ext uri="{FF2B5EF4-FFF2-40B4-BE49-F238E27FC236}">
                  <a16:creationId xmlns:a16="http://schemas.microsoft.com/office/drawing/2014/main" id="{6493DAE9-C584-431D-994D-3FD5E56463A9}"/>
                </a:ext>
              </a:extLst>
            </p:cNvPr>
            <p:cNvCxnSpPr>
              <a:cxnSpLocks/>
              <a:endCxn id="82" idx="2"/>
            </p:cNvCxnSpPr>
            <p:nvPr/>
          </p:nvCxnSpPr>
          <p:spPr>
            <a:xfrm>
              <a:off x="5182215" y="5454560"/>
              <a:ext cx="93016" cy="9068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96" name="Connecteur droit 95">
              <a:extLst>
                <a:ext uri="{FF2B5EF4-FFF2-40B4-BE49-F238E27FC236}">
                  <a16:creationId xmlns:a16="http://schemas.microsoft.com/office/drawing/2014/main" id="{A3F78BF1-A35C-46E2-8785-49E85F1E0059}"/>
                </a:ext>
              </a:extLst>
            </p:cNvPr>
            <p:cNvCxnSpPr>
              <a:cxnSpLocks/>
              <a:endCxn id="74" idx="2"/>
            </p:cNvCxnSpPr>
            <p:nvPr/>
          </p:nvCxnSpPr>
          <p:spPr>
            <a:xfrm>
              <a:off x="5431778" y="5207435"/>
              <a:ext cx="80013" cy="6722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97" name="Connecteur droit 96">
              <a:extLst>
                <a:ext uri="{FF2B5EF4-FFF2-40B4-BE49-F238E27FC236}">
                  <a16:creationId xmlns:a16="http://schemas.microsoft.com/office/drawing/2014/main" id="{C2B4E831-5722-46C1-8143-F5004DCA1EA9}"/>
                </a:ext>
              </a:extLst>
            </p:cNvPr>
            <p:cNvCxnSpPr>
              <a:cxnSpLocks/>
              <a:endCxn id="80" idx="2"/>
            </p:cNvCxnSpPr>
            <p:nvPr/>
          </p:nvCxnSpPr>
          <p:spPr>
            <a:xfrm>
              <a:off x="5587313" y="5056038"/>
              <a:ext cx="93730" cy="8636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98" name="Connecteur droit 97">
              <a:extLst>
                <a:ext uri="{FF2B5EF4-FFF2-40B4-BE49-F238E27FC236}">
                  <a16:creationId xmlns:a16="http://schemas.microsoft.com/office/drawing/2014/main" id="{0FEFE1A5-4FC5-477B-BE1E-BF81BD5079E1}"/>
                </a:ext>
              </a:extLst>
            </p:cNvPr>
            <p:cNvCxnSpPr>
              <a:cxnSpLocks/>
              <a:endCxn id="76" idx="2"/>
            </p:cNvCxnSpPr>
            <p:nvPr/>
          </p:nvCxnSpPr>
          <p:spPr>
            <a:xfrm>
              <a:off x="6054639" y="4568888"/>
              <a:ext cx="83854" cy="7018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99" name="Connecteur droit 98">
              <a:extLst>
                <a:ext uri="{FF2B5EF4-FFF2-40B4-BE49-F238E27FC236}">
                  <a16:creationId xmlns:a16="http://schemas.microsoft.com/office/drawing/2014/main" id="{6820EEB5-6719-483F-92CE-B188AF7D742C}"/>
                </a:ext>
              </a:extLst>
            </p:cNvPr>
            <p:cNvCxnSpPr>
              <a:cxnSpLocks/>
              <a:endCxn id="83" idx="2"/>
            </p:cNvCxnSpPr>
            <p:nvPr/>
          </p:nvCxnSpPr>
          <p:spPr>
            <a:xfrm>
              <a:off x="4976254" y="5657204"/>
              <a:ext cx="94414" cy="84604"/>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0" name="Légende : flèche courbée 99">
              <a:extLst>
                <a:ext uri="{FF2B5EF4-FFF2-40B4-BE49-F238E27FC236}">
                  <a16:creationId xmlns:a16="http://schemas.microsoft.com/office/drawing/2014/main" id="{43196351-8BEE-4D89-B98E-6E0EA8004D5D}"/>
                </a:ext>
              </a:extLst>
            </p:cNvPr>
            <p:cNvSpPr/>
            <p:nvPr/>
          </p:nvSpPr>
          <p:spPr>
            <a:xfrm>
              <a:off x="6899661" y="3502551"/>
              <a:ext cx="1329931" cy="561280"/>
            </a:xfrm>
            <a:prstGeom prst="borderCallout2">
              <a:avLst>
                <a:gd name="adj1" fmla="val 36070"/>
                <a:gd name="adj2" fmla="val -5468"/>
                <a:gd name="adj3" fmla="val 38154"/>
                <a:gd name="adj4" fmla="val -27343"/>
                <a:gd name="adj5" fmla="val 282202"/>
                <a:gd name="adj6" fmla="val -106225"/>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825" dirty="0"/>
                <a:t>Équidistance des deux côtés</a:t>
              </a:r>
            </a:p>
          </p:txBody>
        </p:sp>
      </p:grpSp>
      <p:grpSp>
        <p:nvGrpSpPr>
          <p:cNvPr id="101" name="Groupe 100">
            <a:extLst>
              <a:ext uri="{FF2B5EF4-FFF2-40B4-BE49-F238E27FC236}">
                <a16:creationId xmlns:a16="http://schemas.microsoft.com/office/drawing/2014/main" id="{8BBC45AE-B724-4FC7-9103-D0CAF13DC38F}"/>
              </a:ext>
            </a:extLst>
          </p:cNvPr>
          <p:cNvGrpSpPr/>
          <p:nvPr/>
        </p:nvGrpSpPr>
        <p:grpSpPr>
          <a:xfrm>
            <a:off x="3874844" y="2600724"/>
            <a:ext cx="3573447" cy="2465849"/>
            <a:chOff x="3464996" y="3502551"/>
            <a:chExt cx="4764596" cy="3287799"/>
          </a:xfrm>
        </p:grpSpPr>
        <p:cxnSp>
          <p:nvCxnSpPr>
            <p:cNvPr id="102" name="Connecteur droit avec flèche 101">
              <a:extLst>
                <a:ext uri="{FF2B5EF4-FFF2-40B4-BE49-F238E27FC236}">
                  <a16:creationId xmlns:a16="http://schemas.microsoft.com/office/drawing/2014/main" id="{90E50615-BF6E-4CC2-8ACE-D6D1883A159D}"/>
                </a:ext>
              </a:extLst>
            </p:cNvPr>
            <p:cNvCxnSpPr>
              <a:cxnSpLocks/>
            </p:cNvCxnSpPr>
            <p:nvPr/>
          </p:nvCxnSpPr>
          <p:spPr>
            <a:xfrm>
              <a:off x="3464996" y="5467723"/>
              <a:ext cx="30225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Connecteur droit avec flèche 102">
              <a:extLst>
                <a:ext uri="{FF2B5EF4-FFF2-40B4-BE49-F238E27FC236}">
                  <a16:creationId xmlns:a16="http://schemas.microsoft.com/office/drawing/2014/main" id="{A5DCA0AC-2F95-4765-B538-766EFB719942}"/>
                </a:ext>
              </a:extLst>
            </p:cNvPr>
            <p:cNvCxnSpPr>
              <a:cxnSpLocks/>
            </p:cNvCxnSpPr>
            <p:nvPr/>
          </p:nvCxnSpPr>
          <p:spPr>
            <a:xfrm flipV="1">
              <a:off x="4422674" y="3726437"/>
              <a:ext cx="0" cy="25340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4" name="Organigramme : Connecteur 103">
              <a:extLst>
                <a:ext uri="{FF2B5EF4-FFF2-40B4-BE49-F238E27FC236}">
                  <a16:creationId xmlns:a16="http://schemas.microsoft.com/office/drawing/2014/main" id="{3A851D2D-19B6-4299-BA65-D68E0A99072B}"/>
                </a:ext>
              </a:extLst>
            </p:cNvPr>
            <p:cNvSpPr>
              <a:spLocks noChangeAspect="1"/>
            </p:cNvSpPr>
            <p:nvPr/>
          </p:nvSpPr>
          <p:spPr>
            <a:xfrm>
              <a:off x="5226066" y="451415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5" name="Organigramme : Connecteur 104">
              <a:extLst>
                <a:ext uri="{FF2B5EF4-FFF2-40B4-BE49-F238E27FC236}">
                  <a16:creationId xmlns:a16="http://schemas.microsoft.com/office/drawing/2014/main" id="{447C9EE1-EF8D-4A3E-BDE6-3540756877A8}"/>
                </a:ext>
              </a:extLst>
            </p:cNvPr>
            <p:cNvSpPr>
              <a:spLocks noChangeAspect="1"/>
            </p:cNvSpPr>
            <p:nvPr/>
          </p:nvSpPr>
          <p:spPr>
            <a:xfrm>
              <a:off x="4647615" y="4930071"/>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6" name="Organigramme : Connecteur 105">
              <a:extLst>
                <a:ext uri="{FF2B5EF4-FFF2-40B4-BE49-F238E27FC236}">
                  <a16:creationId xmlns:a16="http://schemas.microsoft.com/office/drawing/2014/main" id="{7C3E5FE9-CD31-4DAC-BFD4-E8C7C29D5498}"/>
                </a:ext>
              </a:extLst>
            </p:cNvPr>
            <p:cNvSpPr>
              <a:spLocks noChangeAspect="1"/>
            </p:cNvSpPr>
            <p:nvPr/>
          </p:nvSpPr>
          <p:spPr>
            <a:xfrm>
              <a:off x="5294542" y="4964558"/>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7" name="Organigramme : Connecteur 106">
              <a:extLst>
                <a:ext uri="{FF2B5EF4-FFF2-40B4-BE49-F238E27FC236}">
                  <a16:creationId xmlns:a16="http://schemas.microsoft.com/office/drawing/2014/main" id="{ACD1B8EE-F51A-4EDF-9E4F-8A91622B7C96}"/>
                </a:ext>
              </a:extLst>
            </p:cNvPr>
            <p:cNvSpPr>
              <a:spLocks noChangeAspect="1"/>
            </p:cNvSpPr>
            <p:nvPr/>
          </p:nvSpPr>
          <p:spPr>
            <a:xfrm>
              <a:off x="3822698" y="5358257"/>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8" name="Organigramme : Connecteur 107">
              <a:extLst>
                <a:ext uri="{FF2B5EF4-FFF2-40B4-BE49-F238E27FC236}">
                  <a16:creationId xmlns:a16="http://schemas.microsoft.com/office/drawing/2014/main" id="{C3D70713-E0C8-4506-8D54-1AE8AB34E76F}"/>
                </a:ext>
              </a:extLst>
            </p:cNvPr>
            <p:cNvSpPr>
              <a:spLocks noChangeAspect="1"/>
            </p:cNvSpPr>
            <p:nvPr/>
          </p:nvSpPr>
          <p:spPr>
            <a:xfrm>
              <a:off x="4062933" y="558261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9" name="Organigramme : Connecteur 108">
              <a:extLst>
                <a:ext uri="{FF2B5EF4-FFF2-40B4-BE49-F238E27FC236}">
                  <a16:creationId xmlns:a16="http://schemas.microsoft.com/office/drawing/2014/main" id="{B7B7D9C7-E223-4455-81BB-C74F259E59A8}"/>
                </a:ext>
              </a:extLst>
            </p:cNvPr>
            <p:cNvSpPr>
              <a:spLocks noChangeAspect="1"/>
            </p:cNvSpPr>
            <p:nvPr/>
          </p:nvSpPr>
          <p:spPr>
            <a:xfrm>
              <a:off x="4661720" y="554928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0" name="Organigramme : Connecteur 109">
              <a:extLst>
                <a:ext uri="{FF2B5EF4-FFF2-40B4-BE49-F238E27FC236}">
                  <a16:creationId xmlns:a16="http://schemas.microsoft.com/office/drawing/2014/main" id="{100B5604-AEF8-4A28-8591-029E14610FDC}"/>
                </a:ext>
              </a:extLst>
            </p:cNvPr>
            <p:cNvSpPr>
              <a:spLocks noChangeAspect="1"/>
            </p:cNvSpPr>
            <p:nvPr/>
          </p:nvSpPr>
          <p:spPr>
            <a:xfrm rot="7820797">
              <a:off x="4890929" y="458101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1" name="Organigramme : Connecteur 110">
              <a:extLst>
                <a:ext uri="{FF2B5EF4-FFF2-40B4-BE49-F238E27FC236}">
                  <a16:creationId xmlns:a16="http://schemas.microsoft.com/office/drawing/2014/main" id="{C3303108-3F6B-47DE-8C94-CEC76EAD6E57}"/>
                </a:ext>
              </a:extLst>
            </p:cNvPr>
            <p:cNvSpPr>
              <a:spLocks noChangeAspect="1"/>
            </p:cNvSpPr>
            <p:nvPr/>
          </p:nvSpPr>
          <p:spPr>
            <a:xfrm>
              <a:off x="4436475" y="532123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2" name="Organigramme : Connecteur 111">
              <a:extLst>
                <a:ext uri="{FF2B5EF4-FFF2-40B4-BE49-F238E27FC236}">
                  <a16:creationId xmlns:a16="http://schemas.microsoft.com/office/drawing/2014/main" id="{AA61F7AB-B552-43E7-AA1F-C8857D1F38CD}"/>
                </a:ext>
              </a:extLst>
            </p:cNvPr>
            <p:cNvSpPr>
              <a:spLocks noChangeAspect="1"/>
            </p:cNvSpPr>
            <p:nvPr/>
          </p:nvSpPr>
          <p:spPr>
            <a:xfrm>
              <a:off x="5093316" y="513738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3" name="Organigramme : Connecteur 112">
              <a:extLst>
                <a:ext uri="{FF2B5EF4-FFF2-40B4-BE49-F238E27FC236}">
                  <a16:creationId xmlns:a16="http://schemas.microsoft.com/office/drawing/2014/main" id="{8BF62F71-EE05-4D74-9F04-C074A0FBB8B9}"/>
                </a:ext>
              </a:extLst>
            </p:cNvPr>
            <p:cNvSpPr>
              <a:spLocks noChangeAspect="1"/>
            </p:cNvSpPr>
            <p:nvPr/>
          </p:nvSpPr>
          <p:spPr>
            <a:xfrm>
              <a:off x="4868255" y="502482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4" name="Organigramme : Connecteur 113">
              <a:extLst>
                <a:ext uri="{FF2B5EF4-FFF2-40B4-BE49-F238E27FC236}">
                  <a16:creationId xmlns:a16="http://schemas.microsoft.com/office/drawing/2014/main" id="{8BFF578E-21EC-4D7A-831F-F20F5275145E}"/>
                </a:ext>
              </a:extLst>
            </p:cNvPr>
            <p:cNvSpPr>
              <a:spLocks noChangeAspect="1"/>
            </p:cNvSpPr>
            <p:nvPr/>
          </p:nvSpPr>
          <p:spPr>
            <a:xfrm>
              <a:off x="4700177" y="516695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115" name="Connecteur droit avec flèche 114">
              <a:extLst>
                <a:ext uri="{FF2B5EF4-FFF2-40B4-BE49-F238E27FC236}">
                  <a16:creationId xmlns:a16="http://schemas.microsoft.com/office/drawing/2014/main" id="{6DBB64CF-675A-4103-B2D3-AE0C924CB813}"/>
                </a:ext>
              </a:extLst>
            </p:cNvPr>
            <p:cNvCxnSpPr>
              <a:cxnSpLocks/>
            </p:cNvCxnSpPr>
            <p:nvPr/>
          </p:nvCxnSpPr>
          <p:spPr>
            <a:xfrm flipV="1">
              <a:off x="4480729" y="4177711"/>
              <a:ext cx="2075452" cy="2117696"/>
            </a:xfrm>
            <a:prstGeom prst="straightConnector1">
              <a:avLst/>
            </a:prstGeom>
            <a:ln w="19050">
              <a:headEnd type="none" w="med" len="med"/>
              <a:tailEnd type="none" w="med" len="med"/>
            </a:ln>
            <a:effectLst>
              <a:outerShdw blurRad="50800" dist="38100" algn="l" rotWithShape="0">
                <a:prstClr val="black">
                  <a:alpha val="40000"/>
                </a:prstClr>
              </a:outerShdw>
            </a:effectLst>
          </p:spPr>
          <p:style>
            <a:lnRef idx="3">
              <a:schemeClr val="accent2"/>
            </a:lnRef>
            <a:fillRef idx="0">
              <a:schemeClr val="accent2"/>
            </a:fillRef>
            <a:effectRef idx="2">
              <a:schemeClr val="accent2"/>
            </a:effectRef>
            <a:fontRef idx="minor">
              <a:schemeClr val="tx1"/>
            </a:fontRef>
          </p:style>
        </p:cxnSp>
        <p:sp>
          <p:nvSpPr>
            <p:cNvPr id="116" name="Rectangle 115">
              <a:extLst>
                <a:ext uri="{FF2B5EF4-FFF2-40B4-BE49-F238E27FC236}">
                  <a16:creationId xmlns:a16="http://schemas.microsoft.com/office/drawing/2014/main" id="{D4582E76-BA37-4FFD-8C6F-D6A62893DF31}"/>
                </a:ext>
              </a:extLst>
            </p:cNvPr>
            <p:cNvSpPr>
              <a:spLocks noChangeAspect="1"/>
            </p:cNvSpPr>
            <p:nvPr/>
          </p:nvSpPr>
          <p:spPr>
            <a:xfrm rot="7820797">
              <a:off x="5499505" y="5255357"/>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7" name="Rectangle 116">
              <a:extLst>
                <a:ext uri="{FF2B5EF4-FFF2-40B4-BE49-F238E27FC236}">
                  <a16:creationId xmlns:a16="http://schemas.microsoft.com/office/drawing/2014/main" id="{947C32BF-E7BE-480C-A5F8-5FE1839955D5}"/>
                </a:ext>
              </a:extLst>
            </p:cNvPr>
            <p:cNvSpPr>
              <a:spLocks noChangeAspect="1"/>
            </p:cNvSpPr>
            <p:nvPr/>
          </p:nvSpPr>
          <p:spPr>
            <a:xfrm rot="7820797">
              <a:off x="6126207" y="4619770"/>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8" name="Rectangle 117">
              <a:extLst>
                <a:ext uri="{FF2B5EF4-FFF2-40B4-BE49-F238E27FC236}">
                  <a16:creationId xmlns:a16="http://schemas.microsoft.com/office/drawing/2014/main" id="{F6A58ECC-EBCC-4D15-A30D-ED2834003815}"/>
                </a:ext>
              </a:extLst>
            </p:cNvPr>
            <p:cNvSpPr>
              <a:spLocks noChangeAspect="1"/>
            </p:cNvSpPr>
            <p:nvPr/>
          </p:nvSpPr>
          <p:spPr>
            <a:xfrm rot="7820797">
              <a:off x="6051911" y="4880084"/>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9" name="Rectangle 118">
              <a:extLst>
                <a:ext uri="{FF2B5EF4-FFF2-40B4-BE49-F238E27FC236}">
                  <a16:creationId xmlns:a16="http://schemas.microsoft.com/office/drawing/2014/main" id="{1110FC25-2CF5-4DA4-925E-058C5B689523}"/>
                </a:ext>
              </a:extLst>
            </p:cNvPr>
            <p:cNvSpPr>
              <a:spLocks noChangeAspect="1"/>
            </p:cNvSpPr>
            <p:nvPr/>
          </p:nvSpPr>
          <p:spPr>
            <a:xfrm rot="7820797">
              <a:off x="6166402" y="5006549"/>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0" name="Rectangle 119">
              <a:extLst>
                <a:ext uri="{FF2B5EF4-FFF2-40B4-BE49-F238E27FC236}">
                  <a16:creationId xmlns:a16="http://schemas.microsoft.com/office/drawing/2014/main" id="{42146583-310C-46C4-A49F-A7C25B14B3CF}"/>
                </a:ext>
              </a:extLst>
            </p:cNvPr>
            <p:cNvSpPr>
              <a:spLocks noChangeAspect="1"/>
            </p:cNvSpPr>
            <p:nvPr/>
          </p:nvSpPr>
          <p:spPr>
            <a:xfrm rot="7820797">
              <a:off x="5860179" y="5159731"/>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1" name="Rectangle 120">
              <a:extLst>
                <a:ext uri="{FF2B5EF4-FFF2-40B4-BE49-F238E27FC236}">
                  <a16:creationId xmlns:a16="http://schemas.microsoft.com/office/drawing/2014/main" id="{44AA9E5D-A381-472C-80B4-49E719B141B7}"/>
                </a:ext>
              </a:extLst>
            </p:cNvPr>
            <p:cNvSpPr>
              <a:spLocks noChangeAspect="1"/>
            </p:cNvSpPr>
            <p:nvPr/>
          </p:nvSpPr>
          <p:spPr>
            <a:xfrm rot="7820797">
              <a:off x="5668757" y="5123109"/>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2" name="Rectangle 121">
              <a:extLst>
                <a:ext uri="{FF2B5EF4-FFF2-40B4-BE49-F238E27FC236}">
                  <a16:creationId xmlns:a16="http://schemas.microsoft.com/office/drawing/2014/main" id="{BCDBC77B-0513-437E-AA60-1BE48482E642}"/>
                </a:ext>
              </a:extLst>
            </p:cNvPr>
            <p:cNvSpPr>
              <a:spLocks noChangeAspect="1"/>
            </p:cNvSpPr>
            <p:nvPr/>
          </p:nvSpPr>
          <p:spPr>
            <a:xfrm rot="7820797">
              <a:off x="6385719" y="5982114"/>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3" name="Rectangle 122">
              <a:extLst>
                <a:ext uri="{FF2B5EF4-FFF2-40B4-BE49-F238E27FC236}">
                  <a16:creationId xmlns:a16="http://schemas.microsoft.com/office/drawing/2014/main" id="{8063896C-8E49-47C8-9B81-E478B6F8EA51}"/>
                </a:ext>
              </a:extLst>
            </p:cNvPr>
            <p:cNvSpPr>
              <a:spLocks noChangeAspect="1"/>
            </p:cNvSpPr>
            <p:nvPr/>
          </p:nvSpPr>
          <p:spPr>
            <a:xfrm rot="7820797">
              <a:off x="5262945" y="5525946"/>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4" name="Rectangle 123">
              <a:extLst>
                <a:ext uri="{FF2B5EF4-FFF2-40B4-BE49-F238E27FC236}">
                  <a16:creationId xmlns:a16="http://schemas.microsoft.com/office/drawing/2014/main" id="{1530D835-02EF-4556-BD3A-44E58BEC7787}"/>
                </a:ext>
              </a:extLst>
            </p:cNvPr>
            <p:cNvSpPr>
              <a:spLocks noChangeAspect="1"/>
            </p:cNvSpPr>
            <p:nvPr/>
          </p:nvSpPr>
          <p:spPr>
            <a:xfrm rot="7820797">
              <a:off x="5058382" y="5722510"/>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5" name="Rectangle 124">
              <a:extLst>
                <a:ext uri="{FF2B5EF4-FFF2-40B4-BE49-F238E27FC236}">
                  <a16:creationId xmlns:a16="http://schemas.microsoft.com/office/drawing/2014/main" id="{5E279497-A14B-496D-B27F-FBA17297AD28}"/>
                </a:ext>
              </a:extLst>
            </p:cNvPr>
            <p:cNvSpPr>
              <a:spLocks noChangeAspect="1"/>
            </p:cNvSpPr>
            <p:nvPr/>
          </p:nvSpPr>
          <p:spPr>
            <a:xfrm rot="7820797">
              <a:off x="5257454" y="5945898"/>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6" name="Rectangle 125">
              <a:extLst>
                <a:ext uri="{FF2B5EF4-FFF2-40B4-BE49-F238E27FC236}">
                  <a16:creationId xmlns:a16="http://schemas.microsoft.com/office/drawing/2014/main" id="{FAB8A4AA-C2CD-475C-BF65-932887A0738E}"/>
                </a:ext>
              </a:extLst>
            </p:cNvPr>
            <p:cNvSpPr>
              <a:spLocks noChangeAspect="1"/>
            </p:cNvSpPr>
            <p:nvPr/>
          </p:nvSpPr>
          <p:spPr>
            <a:xfrm rot="7820797">
              <a:off x="6578856" y="4678107"/>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7" name="ZoneTexte 126">
              <a:extLst>
                <a:ext uri="{FF2B5EF4-FFF2-40B4-BE49-F238E27FC236}">
                  <a16:creationId xmlns:a16="http://schemas.microsoft.com/office/drawing/2014/main" id="{74305FBD-21C4-43E9-B7C3-2727A96039B4}"/>
                </a:ext>
              </a:extLst>
            </p:cNvPr>
            <p:cNvSpPr txBox="1"/>
            <p:nvPr/>
          </p:nvSpPr>
          <p:spPr>
            <a:xfrm>
              <a:off x="4801011" y="6451795"/>
              <a:ext cx="1715384" cy="338555"/>
            </a:xfrm>
            <a:prstGeom prst="rect">
              <a:avLst/>
            </a:prstGeom>
            <a:noFill/>
          </p:spPr>
          <p:txBody>
            <a:bodyPr wrap="square" rtlCol="0">
              <a:spAutoFit/>
            </a:bodyPr>
            <a:lstStyle/>
            <a:p>
              <a:r>
                <a:rPr lang="fr-FR" sz="1050" dirty="0"/>
                <a:t>Mauvaise marge</a:t>
              </a:r>
            </a:p>
          </p:txBody>
        </p:sp>
        <p:sp>
          <p:nvSpPr>
            <p:cNvPr id="128" name="Rectangle 127">
              <a:extLst>
                <a:ext uri="{FF2B5EF4-FFF2-40B4-BE49-F238E27FC236}">
                  <a16:creationId xmlns:a16="http://schemas.microsoft.com/office/drawing/2014/main" id="{8CCBB146-19BC-4D8A-895A-F4DCF77F7E19}"/>
                </a:ext>
              </a:extLst>
            </p:cNvPr>
            <p:cNvSpPr>
              <a:spLocks noChangeAspect="1"/>
            </p:cNvSpPr>
            <p:nvPr/>
          </p:nvSpPr>
          <p:spPr>
            <a:xfrm rot="7820797">
              <a:off x="5609988" y="5533128"/>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9" name="Rectangle 128">
              <a:extLst>
                <a:ext uri="{FF2B5EF4-FFF2-40B4-BE49-F238E27FC236}">
                  <a16:creationId xmlns:a16="http://schemas.microsoft.com/office/drawing/2014/main" id="{B73E4D9C-F155-4C50-8033-E72F11C6E07B}"/>
                </a:ext>
              </a:extLst>
            </p:cNvPr>
            <p:cNvSpPr>
              <a:spLocks noChangeAspect="1"/>
            </p:cNvSpPr>
            <p:nvPr/>
          </p:nvSpPr>
          <p:spPr>
            <a:xfrm rot="7820797">
              <a:off x="5842730" y="5585957"/>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30" name="Rectangle 129">
              <a:extLst>
                <a:ext uri="{FF2B5EF4-FFF2-40B4-BE49-F238E27FC236}">
                  <a16:creationId xmlns:a16="http://schemas.microsoft.com/office/drawing/2014/main" id="{AB6FB136-DE29-4AB6-A564-5CE632572BF8}"/>
                </a:ext>
              </a:extLst>
            </p:cNvPr>
            <p:cNvSpPr>
              <a:spLocks noChangeAspect="1"/>
            </p:cNvSpPr>
            <p:nvPr/>
          </p:nvSpPr>
          <p:spPr>
            <a:xfrm rot="7820797">
              <a:off x="6250982" y="5612971"/>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31" name="Rectangle 130">
              <a:extLst>
                <a:ext uri="{FF2B5EF4-FFF2-40B4-BE49-F238E27FC236}">
                  <a16:creationId xmlns:a16="http://schemas.microsoft.com/office/drawing/2014/main" id="{46173FCD-9C5C-42B3-AD12-1B05024716A9}"/>
                </a:ext>
              </a:extLst>
            </p:cNvPr>
            <p:cNvSpPr>
              <a:spLocks noChangeAspect="1"/>
            </p:cNvSpPr>
            <p:nvPr/>
          </p:nvSpPr>
          <p:spPr>
            <a:xfrm rot="7820797">
              <a:off x="6104626" y="5248066"/>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32" name="Rectangle 131">
              <a:extLst>
                <a:ext uri="{FF2B5EF4-FFF2-40B4-BE49-F238E27FC236}">
                  <a16:creationId xmlns:a16="http://schemas.microsoft.com/office/drawing/2014/main" id="{5F56CE76-360B-4ECA-8138-3593AD719A79}"/>
                </a:ext>
              </a:extLst>
            </p:cNvPr>
            <p:cNvSpPr>
              <a:spLocks noChangeAspect="1"/>
            </p:cNvSpPr>
            <p:nvPr/>
          </p:nvSpPr>
          <p:spPr>
            <a:xfrm rot="7820797">
              <a:off x="5681855" y="5869307"/>
              <a:ext cx="108000" cy="10946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41" name="Légende : flèche courbée 140">
              <a:extLst>
                <a:ext uri="{FF2B5EF4-FFF2-40B4-BE49-F238E27FC236}">
                  <a16:creationId xmlns:a16="http://schemas.microsoft.com/office/drawing/2014/main" id="{2731970C-9CFD-4E6D-B635-89F46D0E32B8}"/>
                </a:ext>
              </a:extLst>
            </p:cNvPr>
            <p:cNvSpPr/>
            <p:nvPr/>
          </p:nvSpPr>
          <p:spPr>
            <a:xfrm>
              <a:off x="6899661" y="3502551"/>
              <a:ext cx="1329931" cy="561280"/>
            </a:xfrm>
            <a:prstGeom prst="borderCallout2">
              <a:avLst>
                <a:gd name="adj1" fmla="val 36070"/>
                <a:gd name="adj2" fmla="val -5468"/>
                <a:gd name="adj3" fmla="val 38154"/>
                <a:gd name="adj4" fmla="val -27343"/>
                <a:gd name="adj5" fmla="val 273717"/>
                <a:gd name="adj6" fmla="val -83307"/>
              </a:avLst>
            </a:prstGeom>
            <a:ln w="3175"/>
          </p:spPr>
          <p:style>
            <a:lnRef idx="2">
              <a:schemeClr val="accent1"/>
            </a:lnRef>
            <a:fillRef idx="1">
              <a:schemeClr val="lt1"/>
            </a:fillRef>
            <a:effectRef idx="0">
              <a:schemeClr val="accent1"/>
            </a:effectRef>
            <a:fontRef idx="minor">
              <a:schemeClr val="dk1"/>
            </a:fontRef>
          </p:style>
          <p:txBody>
            <a:bodyPr rtlCol="0" anchor="ctr"/>
            <a:lstStyle/>
            <a:p>
              <a:pPr algn="ctr"/>
              <a:r>
                <a:rPr lang="fr-FR" sz="825" dirty="0"/>
                <a:t>Trop proche de la classe rouge</a:t>
              </a:r>
            </a:p>
          </p:txBody>
        </p:sp>
      </p:grpSp>
    </p:spTree>
    <p:extLst>
      <p:ext uri="{BB962C8B-B14F-4D97-AF65-F5344CB8AC3E}">
        <p14:creationId xmlns:p14="http://schemas.microsoft.com/office/powerpoint/2010/main" val="296698700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lvl="1" algn="just">
              <a:lnSpc>
                <a:spcPct val="150000"/>
              </a:lnSpc>
              <a:buClr>
                <a:schemeClr val="accent2"/>
              </a:buClr>
            </a:pPr>
            <a:r>
              <a:rPr lang="fr-FR" sz="1350" dirty="0"/>
              <a:t>Efficace sur les ensembles de données avec plusieurs variables, comme les données financières ou médicales.</a:t>
            </a:r>
          </a:p>
          <a:p>
            <a:pPr lvl="1" algn="just">
              <a:lnSpc>
                <a:spcPct val="150000"/>
              </a:lnSpc>
              <a:buClr>
                <a:schemeClr val="accent2"/>
              </a:buClr>
            </a:pPr>
            <a:r>
              <a:rPr lang="fr-FR" sz="1350" dirty="0"/>
              <a:t>Efficace dans les cas où le nombre de colonnes est supérieur au nombre de lignes.</a:t>
            </a:r>
          </a:p>
          <a:p>
            <a:pPr lvl="1" algn="just">
              <a:lnSpc>
                <a:spcPct val="150000"/>
              </a:lnSpc>
              <a:buClr>
                <a:schemeClr val="accent2"/>
              </a:buClr>
            </a:pPr>
            <a:r>
              <a:rPr lang="fr-FR" sz="1350" dirty="0"/>
              <a:t>Il utilise un sous-ensemble d’individus pendant la phase d'apprentissage dans la fonction de décision du vecteur de support, ce qui le rend efficace en termes de mémoire.</a:t>
            </a:r>
          </a:p>
          <a:p>
            <a:pPr lvl="1" algn="just">
              <a:lnSpc>
                <a:spcPct val="150000"/>
              </a:lnSpc>
              <a:buClr>
                <a:schemeClr val="accent2"/>
              </a:buClr>
            </a:pPr>
            <a:r>
              <a:rPr lang="fr-FR" sz="1350" dirty="0"/>
              <a:t>Différentes fonctions du noyau peuvent être spécifiées pour la fonction de décision. Vous pouvez utiliser le noyau par défaut, mais il est également possible de spécifier des noyaux personnalisés.</a:t>
            </a:r>
            <a:endParaRPr lang="fr-FR" sz="1200" dirty="0"/>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223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Support Vector Machine :</a:t>
            </a:r>
            <a:r>
              <a:rPr lang="fr-FR" sz="2100" b="0" dirty="0"/>
              <a:t> avantages</a:t>
            </a:r>
          </a:p>
        </p:txBody>
      </p:sp>
    </p:spTree>
    <p:extLst>
      <p:ext uri="{BB962C8B-B14F-4D97-AF65-F5344CB8AC3E}">
        <p14:creationId xmlns:p14="http://schemas.microsoft.com/office/powerpoint/2010/main" val="193025852"/>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lvl="1" algn="just">
              <a:lnSpc>
                <a:spcPct val="150000"/>
              </a:lnSpc>
              <a:buClr>
                <a:schemeClr val="accent2"/>
              </a:buClr>
            </a:pPr>
            <a:r>
              <a:rPr lang="fr-FR" sz="1200" dirty="0"/>
              <a:t>Si le nombre de features est beaucoup plus grand que le nombre de lignes, il est crucial d'éviter l’overfitting lors du choix des fonctions du noyau et du terme de régularisation.</a:t>
            </a:r>
          </a:p>
          <a:p>
            <a:pPr lvl="1" algn="just">
              <a:lnSpc>
                <a:spcPct val="150000"/>
              </a:lnSpc>
              <a:buClr>
                <a:schemeClr val="accent2"/>
              </a:buClr>
            </a:pPr>
            <a:r>
              <a:rPr lang="fr-FR" sz="1200" dirty="0"/>
              <a:t>Les SVM ne fournissent pas directement des estimations de probabilité. Ceux-ci sont calculés à l'aide d'une validation croisée coûteuse en temps de calcul.</a:t>
            </a:r>
          </a:p>
          <a:p>
            <a:pPr lvl="1" algn="just">
              <a:lnSpc>
                <a:spcPct val="150000"/>
              </a:lnSpc>
              <a:buClr>
                <a:schemeClr val="accent2"/>
              </a:buClr>
            </a:pPr>
            <a:r>
              <a:rPr lang="fr-FR" sz="1200" dirty="0"/>
              <a:t>Fonctionne mieux sur de petits ensembles d'échantillons en raison de son temps de d’entrainement élevé.</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224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Support Vector Machine :</a:t>
            </a:r>
            <a:r>
              <a:rPr lang="fr-FR" sz="2100" b="0" dirty="0"/>
              <a:t> inconvénients</a:t>
            </a:r>
          </a:p>
        </p:txBody>
      </p:sp>
    </p:spTree>
    <p:extLst>
      <p:ext uri="{BB962C8B-B14F-4D97-AF65-F5344CB8AC3E}">
        <p14:creationId xmlns:p14="http://schemas.microsoft.com/office/powerpoint/2010/main" val="622271416"/>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Analyse en Compasantes Principales</a:t>
            </a:r>
          </a:p>
        </p:txBody>
      </p:sp>
    </p:spTree>
    <p:extLst>
      <p:ext uri="{BB962C8B-B14F-4D97-AF65-F5344CB8AC3E}">
        <p14:creationId xmlns:p14="http://schemas.microsoft.com/office/powerpoint/2010/main" val="3330063132"/>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226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en Composantes Principales</a:t>
            </a:r>
            <a:endParaRPr lang="fr-FR" sz="2100" b="0" dirty="0"/>
          </a:p>
        </p:txBody>
      </p:sp>
      <p:sp>
        <p:nvSpPr>
          <p:cNvPr id="18" name="Freeform: Shape 32">
            <a:extLst>
              <a:ext uri="{FF2B5EF4-FFF2-40B4-BE49-F238E27FC236}">
                <a16:creationId xmlns:a16="http://schemas.microsoft.com/office/drawing/2014/main" id="{8FF06702-3B0F-4CCE-9990-1E225D5C54A7}"/>
              </a:ext>
            </a:extLst>
          </p:cNvPr>
          <p:cNvSpPr/>
          <p:nvPr/>
        </p:nvSpPr>
        <p:spPr>
          <a:xfrm>
            <a:off x="2481738" y="3153440"/>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3">
              <a:lumMod val="75000"/>
            </a:schemeClr>
          </a:solidFill>
          <a:ln w="12700">
            <a:miter lim="400000"/>
          </a:ln>
        </p:spPr>
        <p:txBody>
          <a:bodyPr wrap="square" lIns="720090" tIns="21431" rIns="21431" bIns="21431" anchor="ctr">
            <a:noAutofit/>
          </a:bodyPr>
          <a:lstStyle/>
          <a:p>
            <a:pPr>
              <a:lnSpc>
                <a:spcPts val="900"/>
              </a:lnSpc>
            </a:pPr>
            <a:r>
              <a:rPr lang="en-US" sz="788" noProof="1">
                <a:solidFill>
                  <a:srgbClr val="FFFFFF"/>
                </a:solidFill>
              </a:rPr>
              <a:t>Interprétations</a:t>
            </a:r>
          </a:p>
        </p:txBody>
      </p:sp>
      <p:sp>
        <p:nvSpPr>
          <p:cNvPr id="19" name="Freeform: Shape 30">
            <a:extLst>
              <a:ext uri="{FF2B5EF4-FFF2-40B4-BE49-F238E27FC236}">
                <a16:creationId xmlns:a16="http://schemas.microsoft.com/office/drawing/2014/main" id="{203039F2-603D-4DDC-8EA6-80EF8961890E}"/>
              </a:ext>
            </a:extLst>
          </p:cNvPr>
          <p:cNvSpPr/>
          <p:nvPr/>
        </p:nvSpPr>
        <p:spPr>
          <a:xfrm>
            <a:off x="2481738" y="2814000"/>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5">
              <a:lumMod val="75000"/>
            </a:schemeClr>
          </a:solidFill>
          <a:ln w="12700">
            <a:miter lim="400000"/>
          </a:ln>
        </p:spPr>
        <p:txBody>
          <a:bodyPr wrap="square" lIns="874395" tIns="21431" rIns="21431" bIns="21431" anchor="ctr">
            <a:noAutofit/>
          </a:bodyPr>
          <a:lstStyle/>
          <a:p>
            <a:pPr>
              <a:lnSpc>
                <a:spcPts val="900"/>
              </a:lnSpc>
            </a:pPr>
            <a:r>
              <a:rPr lang="en-US" sz="788" noProof="1">
                <a:solidFill>
                  <a:srgbClr val="FFFFFF"/>
                </a:solidFill>
              </a:rPr>
              <a:t>Code Python</a:t>
            </a:r>
          </a:p>
        </p:txBody>
      </p:sp>
      <p:sp>
        <p:nvSpPr>
          <p:cNvPr id="20" name="Freeform: Shape 28">
            <a:extLst>
              <a:ext uri="{FF2B5EF4-FFF2-40B4-BE49-F238E27FC236}">
                <a16:creationId xmlns:a16="http://schemas.microsoft.com/office/drawing/2014/main" id="{D7E7895F-97D1-4E4A-9C70-D72D3DAB61B7}"/>
              </a:ext>
            </a:extLst>
          </p:cNvPr>
          <p:cNvSpPr/>
          <p:nvPr/>
        </p:nvSpPr>
        <p:spPr>
          <a:xfrm>
            <a:off x="2481738" y="2474559"/>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2">
              <a:lumMod val="75000"/>
            </a:schemeClr>
          </a:solidFill>
          <a:ln w="12700">
            <a:miter lim="400000"/>
          </a:ln>
        </p:spPr>
        <p:txBody>
          <a:bodyPr wrap="square" lIns="977265" tIns="21431" rIns="21431" bIns="21431" anchor="ctr">
            <a:noAutofit/>
          </a:bodyPr>
          <a:lstStyle/>
          <a:p>
            <a:pPr>
              <a:lnSpc>
                <a:spcPts val="900"/>
              </a:lnSpc>
            </a:pPr>
            <a:r>
              <a:rPr lang="en-US" sz="788" noProof="1">
                <a:solidFill>
                  <a:srgbClr val="FFFFFF"/>
                </a:solidFill>
              </a:rPr>
              <a:t>Représentation graphique</a:t>
            </a:r>
          </a:p>
        </p:txBody>
      </p:sp>
      <p:sp>
        <p:nvSpPr>
          <p:cNvPr id="22" name="Freeform: Shape 26">
            <a:extLst>
              <a:ext uri="{FF2B5EF4-FFF2-40B4-BE49-F238E27FC236}">
                <a16:creationId xmlns:a16="http://schemas.microsoft.com/office/drawing/2014/main" id="{B44D5A02-A744-4A3B-8954-D0AA065B4BF3}"/>
              </a:ext>
            </a:extLst>
          </p:cNvPr>
          <p:cNvSpPr/>
          <p:nvPr/>
        </p:nvSpPr>
        <p:spPr>
          <a:xfrm>
            <a:off x="2481738" y="2135119"/>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6">
              <a:lumMod val="75000"/>
            </a:schemeClr>
          </a:solidFill>
          <a:ln w="12700">
            <a:miter lim="400000"/>
          </a:ln>
        </p:spPr>
        <p:txBody>
          <a:bodyPr wrap="square" lIns="874395" tIns="21431" rIns="21431" bIns="21431" anchor="ctr">
            <a:noAutofit/>
          </a:bodyPr>
          <a:lstStyle/>
          <a:p>
            <a:pPr>
              <a:lnSpc>
                <a:spcPts val="900"/>
              </a:lnSpc>
            </a:pPr>
            <a:r>
              <a:rPr lang="en-US" sz="788" noProof="1">
                <a:solidFill>
                  <a:srgbClr val="FFFFFF"/>
                </a:solidFill>
              </a:rPr>
              <a:t>Fonctionnement</a:t>
            </a:r>
          </a:p>
        </p:txBody>
      </p:sp>
      <p:sp>
        <p:nvSpPr>
          <p:cNvPr id="23" name="Freeform: Shape 24">
            <a:extLst>
              <a:ext uri="{FF2B5EF4-FFF2-40B4-BE49-F238E27FC236}">
                <a16:creationId xmlns:a16="http://schemas.microsoft.com/office/drawing/2014/main" id="{0910EAAC-379B-42D0-98D6-3C128395A5E1}"/>
              </a:ext>
            </a:extLst>
          </p:cNvPr>
          <p:cNvSpPr/>
          <p:nvPr/>
        </p:nvSpPr>
        <p:spPr>
          <a:xfrm>
            <a:off x="2481738" y="1795678"/>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4">
              <a:lumMod val="75000"/>
            </a:schemeClr>
          </a:solidFill>
          <a:ln w="12700">
            <a:miter lim="400000"/>
          </a:ln>
        </p:spPr>
        <p:txBody>
          <a:bodyPr wrap="square" lIns="720090" tIns="21431" rIns="21431" bIns="21431" anchor="ctr">
            <a:noAutofit/>
          </a:bodyPr>
          <a:lstStyle/>
          <a:p>
            <a:pPr>
              <a:lnSpc>
                <a:spcPts val="900"/>
              </a:lnSpc>
            </a:pPr>
            <a:r>
              <a:rPr lang="en-US" sz="788" noProof="1">
                <a:solidFill>
                  <a:schemeClr val="bg1"/>
                </a:solidFill>
              </a:rPr>
              <a:t>Intuition</a:t>
            </a:r>
          </a:p>
        </p:txBody>
      </p:sp>
      <p:sp>
        <p:nvSpPr>
          <p:cNvPr id="24" name="Shape">
            <a:extLst>
              <a:ext uri="{FF2B5EF4-FFF2-40B4-BE49-F238E27FC236}">
                <a16:creationId xmlns:a16="http://schemas.microsoft.com/office/drawing/2014/main" id="{F9EC5D43-FEA6-4AD2-A56F-F08A678C6322}"/>
              </a:ext>
            </a:extLst>
          </p:cNvPr>
          <p:cNvSpPr/>
          <p:nvPr/>
        </p:nvSpPr>
        <p:spPr>
          <a:xfrm>
            <a:off x="2267940" y="3153440"/>
            <a:ext cx="837287"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16638" y="21600"/>
                </a:lnTo>
                <a:cubicBezTo>
                  <a:pt x="18614" y="15120"/>
                  <a:pt x="20298" y="7920"/>
                  <a:pt x="21600" y="0"/>
                </a:cubicBezTo>
                <a:lnTo>
                  <a:pt x="3705" y="0"/>
                </a:lnTo>
                <a:cubicBezTo>
                  <a:pt x="1662" y="0"/>
                  <a:pt x="0" y="4844"/>
                  <a:pt x="0" y="10800"/>
                </a:cubicBezTo>
                <a:close/>
              </a:path>
            </a:pathLst>
          </a:custGeom>
          <a:solidFill>
            <a:schemeClr val="accent3"/>
          </a:solidFill>
          <a:ln w="12700">
            <a:miter lim="400000"/>
          </a:ln>
        </p:spPr>
        <p:txBody>
          <a:bodyPr lIns="21431" tIns="21431" rIns="21431" bIns="21431" anchor="ctr"/>
          <a:lstStyle/>
          <a:p>
            <a:pPr>
              <a:defRPr sz="3000">
                <a:solidFill>
                  <a:srgbClr val="FFFFFF"/>
                </a:solidFill>
              </a:defRPr>
            </a:pPr>
            <a:endParaRPr sz="1688" dirty="0"/>
          </a:p>
        </p:txBody>
      </p:sp>
      <p:sp>
        <p:nvSpPr>
          <p:cNvPr id="25" name="Shape">
            <a:extLst>
              <a:ext uri="{FF2B5EF4-FFF2-40B4-BE49-F238E27FC236}">
                <a16:creationId xmlns:a16="http://schemas.microsoft.com/office/drawing/2014/main" id="{88B1E820-E7D3-495A-A330-1C88F6DD012E}"/>
              </a:ext>
            </a:extLst>
          </p:cNvPr>
          <p:cNvSpPr/>
          <p:nvPr/>
        </p:nvSpPr>
        <p:spPr>
          <a:xfrm>
            <a:off x="2267939" y="2814000"/>
            <a:ext cx="943470"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19707" y="21600"/>
                </a:lnTo>
                <a:cubicBezTo>
                  <a:pt x="20584" y="14793"/>
                  <a:pt x="21241" y="7527"/>
                  <a:pt x="21600" y="0"/>
                </a:cubicBezTo>
                <a:lnTo>
                  <a:pt x="3288" y="0"/>
                </a:lnTo>
                <a:cubicBezTo>
                  <a:pt x="1475" y="0"/>
                  <a:pt x="0" y="4844"/>
                  <a:pt x="0" y="10800"/>
                </a:cubicBezTo>
                <a:close/>
              </a:path>
            </a:pathLst>
          </a:custGeom>
          <a:solidFill>
            <a:schemeClr val="accent5"/>
          </a:solidFill>
          <a:ln w="12700">
            <a:miter lim="400000"/>
          </a:ln>
        </p:spPr>
        <p:txBody>
          <a:bodyPr lIns="21431" tIns="21431" rIns="21431" bIns="21431" anchor="ctr"/>
          <a:lstStyle/>
          <a:p>
            <a:pPr>
              <a:defRPr sz="3000">
                <a:solidFill>
                  <a:srgbClr val="FFFFFF"/>
                </a:solidFill>
              </a:defRPr>
            </a:pPr>
            <a:endParaRPr sz="1688" dirty="0"/>
          </a:p>
        </p:txBody>
      </p:sp>
      <p:sp>
        <p:nvSpPr>
          <p:cNvPr id="26" name="Shape">
            <a:extLst>
              <a:ext uri="{FF2B5EF4-FFF2-40B4-BE49-F238E27FC236}">
                <a16:creationId xmlns:a16="http://schemas.microsoft.com/office/drawing/2014/main" id="{AFE3E2B7-4BEA-462C-9D05-28A8CBFFF95B}"/>
              </a:ext>
            </a:extLst>
          </p:cNvPr>
          <p:cNvSpPr/>
          <p:nvPr/>
        </p:nvSpPr>
        <p:spPr>
          <a:xfrm>
            <a:off x="2267939" y="2474559"/>
            <a:ext cx="960009"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49" y="21600"/>
                  <a:pt x="3231" y="21600"/>
                </a:cubicBezTo>
                <a:lnTo>
                  <a:pt x="21404" y="21600"/>
                </a:lnTo>
                <a:cubicBezTo>
                  <a:pt x="21522" y="18065"/>
                  <a:pt x="21600" y="14465"/>
                  <a:pt x="21600" y="10800"/>
                </a:cubicBezTo>
                <a:cubicBezTo>
                  <a:pt x="21600" y="7135"/>
                  <a:pt x="21541" y="3535"/>
                  <a:pt x="21404" y="0"/>
                </a:cubicBezTo>
                <a:lnTo>
                  <a:pt x="3231" y="0"/>
                </a:lnTo>
                <a:cubicBezTo>
                  <a:pt x="1449" y="0"/>
                  <a:pt x="0" y="4844"/>
                  <a:pt x="0" y="10800"/>
                </a:cubicBezTo>
                <a:close/>
              </a:path>
            </a:pathLst>
          </a:custGeom>
          <a:solidFill>
            <a:schemeClr val="accent2"/>
          </a:solidFill>
          <a:ln w="12700">
            <a:miter lim="400000"/>
          </a:ln>
        </p:spPr>
        <p:txBody>
          <a:bodyPr lIns="21431" tIns="21431" rIns="21431" bIns="21431" anchor="ctr"/>
          <a:lstStyle/>
          <a:p>
            <a:pPr>
              <a:defRPr sz="3000">
                <a:solidFill>
                  <a:srgbClr val="FFFFFF"/>
                </a:solidFill>
              </a:defRPr>
            </a:pPr>
            <a:endParaRPr sz="1688" dirty="0"/>
          </a:p>
        </p:txBody>
      </p:sp>
      <p:sp>
        <p:nvSpPr>
          <p:cNvPr id="27" name="Shape">
            <a:extLst>
              <a:ext uri="{FF2B5EF4-FFF2-40B4-BE49-F238E27FC236}">
                <a16:creationId xmlns:a16="http://schemas.microsoft.com/office/drawing/2014/main" id="{8D4C518B-477D-4D8D-BBFA-5449A20D0B8A}"/>
              </a:ext>
            </a:extLst>
          </p:cNvPr>
          <p:cNvSpPr/>
          <p:nvPr/>
        </p:nvSpPr>
        <p:spPr>
          <a:xfrm>
            <a:off x="2267939" y="2135119"/>
            <a:ext cx="943470"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21600" y="21600"/>
                </a:lnTo>
                <a:cubicBezTo>
                  <a:pt x="21241" y="14073"/>
                  <a:pt x="20584" y="6807"/>
                  <a:pt x="19707" y="0"/>
                </a:cubicBezTo>
                <a:lnTo>
                  <a:pt x="3288" y="0"/>
                </a:lnTo>
                <a:cubicBezTo>
                  <a:pt x="1475" y="0"/>
                  <a:pt x="0" y="4844"/>
                  <a:pt x="0" y="10800"/>
                </a:cubicBezTo>
                <a:close/>
              </a:path>
            </a:pathLst>
          </a:custGeom>
          <a:solidFill>
            <a:schemeClr val="accent6"/>
          </a:solidFill>
          <a:ln w="12700">
            <a:miter lim="400000"/>
          </a:ln>
        </p:spPr>
        <p:txBody>
          <a:bodyPr lIns="21431" tIns="21431" rIns="21431" bIns="21431" anchor="ctr"/>
          <a:lstStyle/>
          <a:p>
            <a:pPr>
              <a:defRPr sz="3000">
                <a:solidFill>
                  <a:srgbClr val="FFFFFF"/>
                </a:solidFill>
              </a:defRPr>
            </a:pPr>
            <a:endParaRPr sz="1688" dirty="0"/>
          </a:p>
        </p:txBody>
      </p:sp>
      <p:sp>
        <p:nvSpPr>
          <p:cNvPr id="28" name="Shape">
            <a:extLst>
              <a:ext uri="{FF2B5EF4-FFF2-40B4-BE49-F238E27FC236}">
                <a16:creationId xmlns:a16="http://schemas.microsoft.com/office/drawing/2014/main" id="{B23F9983-178A-44B8-A970-B293EF1869CF}"/>
              </a:ext>
            </a:extLst>
          </p:cNvPr>
          <p:cNvSpPr/>
          <p:nvPr/>
        </p:nvSpPr>
        <p:spPr>
          <a:xfrm>
            <a:off x="2267940" y="1795678"/>
            <a:ext cx="837287"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21600" y="21600"/>
                </a:lnTo>
                <a:cubicBezTo>
                  <a:pt x="20298" y="13745"/>
                  <a:pt x="18614" y="6480"/>
                  <a:pt x="16638" y="0"/>
                </a:cubicBezTo>
                <a:lnTo>
                  <a:pt x="3705" y="0"/>
                </a:lnTo>
                <a:cubicBezTo>
                  <a:pt x="1662" y="65"/>
                  <a:pt x="0" y="4844"/>
                  <a:pt x="0" y="10800"/>
                </a:cubicBezTo>
                <a:close/>
              </a:path>
            </a:pathLst>
          </a:custGeom>
          <a:solidFill>
            <a:schemeClr val="accent4"/>
          </a:solidFill>
          <a:ln w="12700">
            <a:miter lim="400000"/>
          </a:ln>
        </p:spPr>
        <p:txBody>
          <a:bodyPr lIns="21431" tIns="21431" rIns="21431" bIns="21431" anchor="ctr"/>
          <a:lstStyle/>
          <a:p>
            <a:pPr>
              <a:defRPr sz="3000">
                <a:solidFill>
                  <a:srgbClr val="FFFFFF"/>
                </a:solidFill>
              </a:defRPr>
            </a:pPr>
            <a:endParaRPr sz="1688" dirty="0"/>
          </a:p>
        </p:txBody>
      </p:sp>
      <p:pic>
        <p:nvPicPr>
          <p:cNvPr id="29" name="Graphic 14" descr="Livres">
            <a:extLst>
              <a:ext uri="{FF2B5EF4-FFF2-40B4-BE49-F238E27FC236}">
                <a16:creationId xmlns:a16="http://schemas.microsoft.com/office/drawing/2014/main" id="{4531D919-A43A-4206-98B7-8F13F59AE99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1813174"/>
            <a:ext cx="252228" cy="252228"/>
          </a:xfrm>
          <a:prstGeom prst="rect">
            <a:avLst/>
          </a:prstGeom>
        </p:spPr>
      </p:pic>
      <p:pic>
        <p:nvPicPr>
          <p:cNvPr id="30" name="Graphic 16" descr="Livres">
            <a:extLst>
              <a:ext uri="{FF2B5EF4-FFF2-40B4-BE49-F238E27FC236}">
                <a16:creationId xmlns:a16="http://schemas.microsoft.com/office/drawing/2014/main" id="{4DFE652D-FCF1-419D-A1E6-D1A7DB808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3170936"/>
            <a:ext cx="252228" cy="252228"/>
          </a:xfrm>
          <a:prstGeom prst="rect">
            <a:avLst/>
          </a:prstGeom>
        </p:spPr>
      </p:pic>
      <p:pic>
        <p:nvPicPr>
          <p:cNvPr id="31" name="Graphic 18" descr="Livres">
            <a:extLst>
              <a:ext uri="{FF2B5EF4-FFF2-40B4-BE49-F238E27FC236}">
                <a16:creationId xmlns:a16="http://schemas.microsoft.com/office/drawing/2014/main" id="{A09D41D8-DEF7-4E6C-8282-A3A704CA208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2152615"/>
            <a:ext cx="252228" cy="252228"/>
          </a:xfrm>
          <a:prstGeom prst="rect">
            <a:avLst/>
          </a:prstGeom>
        </p:spPr>
      </p:pic>
      <p:pic>
        <p:nvPicPr>
          <p:cNvPr id="32" name="Graphic 20" descr="Livres">
            <a:extLst>
              <a:ext uri="{FF2B5EF4-FFF2-40B4-BE49-F238E27FC236}">
                <a16:creationId xmlns:a16="http://schemas.microsoft.com/office/drawing/2014/main" id="{3DDA74D7-8FF7-48C4-B1E1-633A3639E6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2492055"/>
            <a:ext cx="252228" cy="252228"/>
          </a:xfrm>
          <a:prstGeom prst="rect">
            <a:avLst/>
          </a:prstGeom>
        </p:spPr>
      </p:pic>
      <p:pic>
        <p:nvPicPr>
          <p:cNvPr id="33" name="Graphic 22" descr="Livres">
            <a:extLst>
              <a:ext uri="{FF2B5EF4-FFF2-40B4-BE49-F238E27FC236}">
                <a16:creationId xmlns:a16="http://schemas.microsoft.com/office/drawing/2014/main" id="{DE405885-8A02-4062-A0AE-AC75CDB79D4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2831495"/>
            <a:ext cx="252228" cy="252228"/>
          </a:xfrm>
          <a:prstGeom prst="rect">
            <a:avLst/>
          </a:prstGeom>
        </p:spPr>
      </p:pic>
    </p:spTree>
    <p:extLst>
      <p:ext uri="{BB962C8B-B14F-4D97-AF65-F5344CB8AC3E}">
        <p14:creationId xmlns:p14="http://schemas.microsoft.com/office/powerpoint/2010/main" val="1299642060"/>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algn="just">
              <a:lnSpc>
                <a:spcPct val="100000"/>
              </a:lnSpc>
              <a:buClr>
                <a:schemeClr val="accent2"/>
              </a:buClr>
            </a:pPr>
            <a:r>
              <a:rPr lang="fr-FR" sz="1425" dirty="0"/>
              <a:t>L’ACP permet d’étudier les ressemblances entre individus du point de vue des variables et dégage des profils d’individus.</a:t>
            </a:r>
          </a:p>
          <a:p>
            <a:pPr algn="just">
              <a:lnSpc>
                <a:spcPct val="100000"/>
              </a:lnSpc>
              <a:buClr>
                <a:schemeClr val="accent2"/>
              </a:buClr>
            </a:pPr>
            <a:r>
              <a:rPr lang="fr-FR" sz="1425" dirty="0"/>
              <a:t>L’ACP permet aussi de faire le bilan des liaisons linéaires entre variables à partir des coefficients de corrélations.</a:t>
            </a:r>
          </a:p>
          <a:p>
            <a:pPr algn="just">
              <a:lnSpc>
                <a:spcPct val="100000"/>
              </a:lnSpc>
              <a:buClr>
                <a:schemeClr val="accent2"/>
              </a:buClr>
            </a:pPr>
            <a:r>
              <a:rPr lang="fr-FR" sz="1425" dirty="0"/>
              <a:t>On veut représenter au mieux dans un espace plus réduit des observations issues d’un espace plus grand en nombres de dimensions.</a:t>
            </a:r>
          </a:p>
          <a:p>
            <a:pPr algn="just">
              <a:lnSpc>
                <a:spcPct val="100000"/>
              </a:lnSpc>
              <a:buClr>
                <a:schemeClr val="accent2"/>
              </a:buClr>
            </a:pPr>
            <a:r>
              <a:rPr lang="fr-FR" sz="1425" dirty="0"/>
              <a:t>L’idée est de partir d’une réalité trop complexe pour résumer l’information.</a:t>
            </a:r>
          </a:p>
          <a:p>
            <a:pPr algn="just">
              <a:lnSpc>
                <a:spcPct val="100000"/>
              </a:lnSpc>
              <a:buClr>
                <a:schemeClr val="accent2"/>
              </a:buClr>
            </a:pPr>
            <a:r>
              <a:rPr lang="fr-FR" sz="1425" dirty="0"/>
              <a:t>Généralement cette réalité complexe est résumée sur deux dimensions nouvellement créées appelées composantes principales.</a:t>
            </a:r>
          </a:p>
          <a:p>
            <a:pPr algn="just">
              <a:lnSpc>
                <a:spcPct val="100000"/>
              </a:lnSpc>
              <a:buClr>
                <a:schemeClr val="accent2"/>
              </a:buClr>
            </a:pPr>
            <a:r>
              <a:rPr lang="fr-FR" sz="1425" dirty="0"/>
              <a:t>Ces composantes principales sont calculées à partir des variables originelles.</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227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en Composantes Principales</a:t>
            </a:r>
            <a:endParaRPr lang="fr-FR" sz="2100" b="0" dirty="0"/>
          </a:p>
        </p:txBody>
      </p:sp>
    </p:spTree>
    <p:extLst>
      <p:ext uri="{BB962C8B-B14F-4D97-AF65-F5344CB8AC3E}">
        <p14:creationId xmlns:p14="http://schemas.microsoft.com/office/powerpoint/2010/main" val="4285750303"/>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0" y="1391970"/>
            <a:ext cx="7192019" cy="3543368"/>
          </a:xfrm>
        </p:spPr>
        <p:txBody>
          <a:bodyPr>
            <a:noAutofit/>
          </a:bodyPr>
          <a:lstStyle/>
          <a:p>
            <a:pPr algn="just">
              <a:lnSpc>
                <a:spcPct val="150000"/>
              </a:lnSpc>
              <a:buClr>
                <a:schemeClr val="accent2"/>
              </a:buClr>
            </a:pPr>
            <a:r>
              <a:rPr lang="fr-FR" sz="1425" dirty="0"/>
              <a:t>Par analogie, dans la réalité, le chat est un « objet » représenté en 3 dimensions (3D).</a:t>
            </a:r>
          </a:p>
          <a:p>
            <a:pPr algn="just">
              <a:lnSpc>
                <a:spcPct val="150000"/>
              </a:lnSpc>
              <a:buClr>
                <a:schemeClr val="accent2"/>
              </a:buClr>
            </a:pPr>
            <a:r>
              <a:rPr lang="fr-FR" sz="1425" dirty="0"/>
              <a:t>Bien que nous évoluons dans un univers à 4 dimensions (3 dimensions d’espace et une dimension temporelle), nous ferons ici abstraction du temps.</a:t>
            </a:r>
          </a:p>
          <a:p>
            <a:pPr algn="just">
              <a:lnSpc>
                <a:spcPct val="150000"/>
              </a:lnSpc>
              <a:buClr>
                <a:schemeClr val="accent2"/>
              </a:buClr>
            </a:pPr>
            <a:r>
              <a:rPr lang="fr-FR" sz="1425" dirty="0"/>
              <a:t>Selon la position du chat, on aura une image plus ou moins reconnaissable.</a:t>
            </a:r>
          </a:p>
          <a:p>
            <a:pPr algn="just">
              <a:lnSpc>
                <a:spcPct val="150000"/>
              </a:lnSpc>
              <a:buClr>
                <a:schemeClr val="accent2"/>
              </a:buClr>
            </a:pPr>
            <a:r>
              <a:rPr lang="fr-FR" sz="1425" dirty="0"/>
              <a:t>Ici, l’angle du chat de droite est la meilleure façon de se le représenter en conservant un maximum d’information.</a:t>
            </a:r>
          </a:p>
        </p:txBody>
      </p:sp>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228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en Composantes Principales</a:t>
            </a:r>
            <a:endParaRPr lang="fr-FR" sz="2100" b="0" dirty="0"/>
          </a:p>
        </p:txBody>
      </p:sp>
      <p:grpSp>
        <p:nvGrpSpPr>
          <p:cNvPr id="4" name="Groupe 3">
            <a:extLst>
              <a:ext uri="{FF2B5EF4-FFF2-40B4-BE49-F238E27FC236}">
                <a16:creationId xmlns:a16="http://schemas.microsoft.com/office/drawing/2014/main" id="{BE3A3366-AD70-4584-AD7C-EB558BCCC0E0}"/>
              </a:ext>
            </a:extLst>
          </p:cNvPr>
          <p:cNvGrpSpPr/>
          <p:nvPr/>
        </p:nvGrpSpPr>
        <p:grpSpPr>
          <a:xfrm>
            <a:off x="3692611" y="4168908"/>
            <a:ext cx="2050403" cy="1136176"/>
            <a:chOff x="4923481" y="5558543"/>
            <a:chExt cx="2733870" cy="1514900"/>
          </a:xfrm>
        </p:grpSpPr>
        <p:grpSp>
          <p:nvGrpSpPr>
            <p:cNvPr id="6" name="Groupe 5">
              <a:extLst>
                <a:ext uri="{FF2B5EF4-FFF2-40B4-BE49-F238E27FC236}">
                  <a16:creationId xmlns:a16="http://schemas.microsoft.com/office/drawing/2014/main" id="{EAED1894-A5AB-4E65-B9F4-B0B50A3E78AF}"/>
                </a:ext>
              </a:extLst>
            </p:cNvPr>
            <p:cNvGrpSpPr/>
            <p:nvPr/>
          </p:nvGrpSpPr>
          <p:grpSpPr>
            <a:xfrm>
              <a:off x="4923481" y="5558543"/>
              <a:ext cx="2733870" cy="1217645"/>
              <a:chOff x="2034073" y="3130420"/>
              <a:chExt cx="2733870" cy="1217645"/>
            </a:xfrm>
          </p:grpSpPr>
          <p:pic>
            <p:nvPicPr>
              <p:cNvPr id="3" name="Image 2">
                <a:extLst>
                  <a:ext uri="{FF2B5EF4-FFF2-40B4-BE49-F238E27FC236}">
                    <a16:creationId xmlns:a16="http://schemas.microsoft.com/office/drawing/2014/main" id="{8D77CE72-A7C5-4063-81D7-D3BD3D12150A}"/>
                  </a:ext>
                </a:extLst>
              </p:cNvPr>
              <p:cNvPicPr>
                <a:picLocks noChangeAspect="1"/>
              </p:cNvPicPr>
              <p:nvPr/>
            </p:nvPicPr>
            <p:blipFill rotWithShape="1">
              <a:blip r:embed="rId2"/>
              <a:srcRect l="5915" t="39637" r="37940" b="35356"/>
              <a:stretch/>
            </p:blipFill>
            <p:spPr>
              <a:xfrm>
                <a:off x="2034073" y="3130420"/>
                <a:ext cx="2733870" cy="1217645"/>
              </a:xfrm>
              <a:prstGeom prst="rect">
                <a:avLst/>
              </a:prstGeom>
            </p:spPr>
          </p:pic>
          <p:sp>
            <p:nvSpPr>
              <p:cNvPr id="5" name="Flèche : droite 4">
                <a:extLst>
                  <a:ext uri="{FF2B5EF4-FFF2-40B4-BE49-F238E27FC236}">
                    <a16:creationId xmlns:a16="http://schemas.microsoft.com/office/drawing/2014/main" id="{03B58827-3FEA-4BA5-9FD5-0A1287D1E2C4}"/>
                  </a:ext>
                </a:extLst>
              </p:cNvPr>
              <p:cNvSpPr/>
              <p:nvPr/>
            </p:nvSpPr>
            <p:spPr>
              <a:xfrm>
                <a:off x="3144416" y="3573624"/>
                <a:ext cx="242596" cy="317241"/>
              </a:xfrm>
              <a:prstGeom prst="rightArrow">
                <a:avLst/>
              </a:prstGeom>
              <a:solidFill>
                <a:srgbClr val="666E84"/>
              </a:solidFill>
              <a:ln>
                <a:solidFill>
                  <a:srgbClr val="666E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
          <p:nvSpPr>
            <p:cNvPr id="2" name="ZoneTexte 1">
              <a:extLst>
                <a:ext uri="{FF2B5EF4-FFF2-40B4-BE49-F238E27FC236}">
                  <a16:creationId xmlns:a16="http://schemas.microsoft.com/office/drawing/2014/main" id="{8D9C6772-CE85-4CCC-B12A-CEB9FF38EB02}"/>
                </a:ext>
              </a:extLst>
            </p:cNvPr>
            <p:cNvSpPr txBox="1"/>
            <p:nvPr/>
          </p:nvSpPr>
          <p:spPr>
            <a:xfrm>
              <a:off x="5337110" y="6581001"/>
              <a:ext cx="354563" cy="492442"/>
            </a:xfrm>
            <a:prstGeom prst="rect">
              <a:avLst/>
            </a:prstGeom>
            <a:noFill/>
          </p:spPr>
          <p:txBody>
            <a:bodyPr wrap="square" rtlCol="0">
              <a:spAutoFit/>
            </a:bodyPr>
            <a:lstStyle/>
            <a:p>
              <a:r>
                <a:rPr lang="fr-FR" sz="900" dirty="0"/>
                <a:t>3D</a:t>
              </a:r>
            </a:p>
          </p:txBody>
        </p:sp>
        <p:sp>
          <p:nvSpPr>
            <p:cNvPr id="9" name="ZoneTexte 8">
              <a:extLst>
                <a:ext uri="{FF2B5EF4-FFF2-40B4-BE49-F238E27FC236}">
                  <a16:creationId xmlns:a16="http://schemas.microsoft.com/office/drawing/2014/main" id="{97893EC2-8D23-44ED-8DC5-CDE3106CEED6}"/>
                </a:ext>
              </a:extLst>
            </p:cNvPr>
            <p:cNvSpPr txBox="1"/>
            <p:nvPr/>
          </p:nvSpPr>
          <p:spPr>
            <a:xfrm>
              <a:off x="6767805" y="6581001"/>
              <a:ext cx="354563" cy="492442"/>
            </a:xfrm>
            <a:prstGeom prst="rect">
              <a:avLst/>
            </a:prstGeom>
            <a:noFill/>
          </p:spPr>
          <p:txBody>
            <a:bodyPr wrap="square" rtlCol="0">
              <a:spAutoFit/>
            </a:bodyPr>
            <a:lstStyle/>
            <a:p>
              <a:r>
                <a:rPr lang="fr-FR" sz="900" dirty="0"/>
                <a:t>2D</a:t>
              </a:r>
            </a:p>
          </p:txBody>
        </p:sp>
      </p:grpSp>
    </p:spTree>
    <p:extLst>
      <p:ext uri="{BB962C8B-B14F-4D97-AF65-F5344CB8AC3E}">
        <p14:creationId xmlns:p14="http://schemas.microsoft.com/office/powerpoint/2010/main" val="2426966663"/>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1400" cy="3539258"/>
              </a:xfrm>
            </p:spPr>
            <p:txBody>
              <a:bodyPr>
                <a:noAutofit/>
              </a:bodyPr>
              <a:lstStyle/>
              <a:p>
                <a:pPr algn="just">
                  <a:lnSpc>
                    <a:spcPct val="100000"/>
                  </a:lnSpc>
                  <a:buClr>
                    <a:schemeClr val="accent2"/>
                  </a:buClr>
                </a:pPr>
                <a:r>
                  <a:rPr lang="fr-FR" sz="1425" dirty="0"/>
                  <a:t>Le but recherché en entreprise sera de résumer de grands ensembles de données de façon à y dégager des structures, des formes sur les données qui n’auraient pas été possibles à appréhender.</a:t>
                </a:r>
              </a:p>
              <a:p>
                <a:pPr algn="just">
                  <a:lnSpc>
                    <a:spcPct val="100000"/>
                  </a:lnSpc>
                  <a:buClr>
                    <a:schemeClr val="accent2"/>
                  </a:buClr>
                </a:pPr>
                <a:r>
                  <a:rPr lang="fr-FR" sz="1425" dirty="0"/>
                  <a:t>En d’autres termes, on veut résumer les données sur des composantes principales de façon à identifier les variables qui marquent une « similarité » ou « dissimilarité » entre les individus (variance).</a:t>
                </a:r>
              </a:p>
              <a:p>
                <a:pPr algn="just">
                  <a:lnSpc>
                    <a:spcPct val="100000"/>
                  </a:lnSpc>
                  <a:buClr>
                    <a:schemeClr val="accent2"/>
                  </a:buClr>
                </a:pPr>
                <a:r>
                  <a:rPr lang="fr-FR" sz="1425" dirty="0"/>
                  <a:t>L’autre objectif consiste à examiner la position des </a:t>
                </a:r>
                <a14:m>
                  <m:oMath xmlns:m="http://schemas.openxmlformats.org/officeDocument/2006/math">
                    <m:r>
                      <a:rPr lang="fr-FR" sz="1425" i="1" dirty="0">
                        <a:latin typeface="Cambria Math" panose="02040503050406030204" pitchFamily="18" charset="0"/>
                      </a:rPr>
                      <m:t>𝑛</m:t>
                    </m:r>
                  </m:oMath>
                </a14:m>
                <a:r>
                  <a:rPr lang="fr-FR" sz="1425" dirty="0"/>
                  <a:t> individus sur la plan factoriel, i.e. autour des composantes principales afin d’y dégager des typologies d’individus (cf. structures / formes).</a:t>
                </a:r>
              </a:p>
              <a:p>
                <a:pPr algn="just">
                  <a:lnSpc>
                    <a:spcPct val="100000"/>
                  </a:lnSpc>
                  <a:buClr>
                    <a:schemeClr val="accent2"/>
                  </a:buClr>
                </a:pPr>
                <a:r>
                  <a:rPr lang="fr-FR" sz="1425" dirty="0"/>
                  <a:t>Enfin, on veut étudier les relation des </a:t>
                </a:r>
                <a14:m>
                  <m:oMath xmlns:m="http://schemas.openxmlformats.org/officeDocument/2006/math">
                    <m:r>
                      <a:rPr lang="fr-FR" sz="1425" i="1" dirty="0">
                        <a:latin typeface="Cambria Math" panose="02040503050406030204" pitchFamily="18" charset="0"/>
                      </a:rPr>
                      <m:t>𝑝</m:t>
                    </m:r>
                  </m:oMath>
                </a14:m>
                <a:r>
                  <a:rPr lang="fr-FR" sz="1425" dirty="0"/>
                  <a:t> variables le long des composantes principales afin d’y dégager des typologies de variables.</a:t>
                </a:r>
              </a:p>
              <a:p>
                <a:pPr algn="just">
                  <a:lnSpc>
                    <a:spcPct val="100000"/>
                  </a:lnSpc>
                  <a:buClr>
                    <a:schemeClr val="accent2"/>
                  </a:buClr>
                </a:pPr>
                <a:endParaRPr lang="fr-FR" sz="1425" dirty="0"/>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1400" cy="3539258"/>
              </a:xfrm>
              <a:blipFill>
                <a:blip r:embed="rId2"/>
                <a:stretch>
                  <a:fillRect l="-1760" t="-1549" r="-1863"/>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229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en Composantes Principales</a:t>
            </a:r>
            <a:endParaRPr lang="fr-FR" sz="2100" b="0" dirty="0"/>
          </a:p>
        </p:txBody>
      </p:sp>
    </p:spTree>
    <p:extLst>
      <p:ext uri="{BB962C8B-B14F-4D97-AF65-F5344CB8AC3E}">
        <p14:creationId xmlns:p14="http://schemas.microsoft.com/office/powerpoint/2010/main" val="1962003973"/>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3749688"/>
                <a:ext cx="6249916" cy="1198595"/>
              </a:xfrm>
            </p:spPr>
            <p:txBody>
              <a:bodyPr>
                <a:noAutofit/>
              </a:bodyPr>
              <a:lstStyle/>
              <a:p>
                <a:pPr marL="342900" indent="-342900" algn="just">
                  <a:lnSpc>
                    <a:spcPct val="100000"/>
                  </a:lnSpc>
                  <a:buClr>
                    <a:schemeClr val="accent2"/>
                  </a:buClr>
                  <a:buFont typeface="+mj-lt"/>
                  <a:buAutoNum type="arabicPeriod"/>
                </a:pPr>
                <a:r>
                  <a:rPr lang="fr-FR" sz="1425" dirty="0"/>
                  <a:t>Orthogonalité de </a:t>
                </a:r>
                <a14:m>
                  <m:oMath xmlns:m="http://schemas.openxmlformats.org/officeDocument/2006/math">
                    <m:r>
                      <a:rPr lang="fr-FR" sz="1425" i="1" dirty="0">
                        <a:latin typeface="Cambria Math" panose="02040503050406030204" pitchFamily="18" charset="0"/>
                      </a:rPr>
                      <m:t>𝑐𝑝</m:t>
                    </m:r>
                    <m:r>
                      <a:rPr lang="fr-FR" sz="1425" i="1" dirty="0">
                        <a:latin typeface="Cambria Math" panose="02040503050406030204" pitchFamily="18" charset="0"/>
                      </a:rPr>
                      <m:t>1</m:t>
                    </m:r>
                  </m:oMath>
                </a14:m>
                <a:r>
                  <a:rPr lang="fr-FR" sz="1425" dirty="0"/>
                  <a:t> par rapport à </a:t>
                </a:r>
                <a14:m>
                  <m:oMath xmlns:m="http://schemas.openxmlformats.org/officeDocument/2006/math">
                    <m:r>
                      <a:rPr lang="fr-FR" sz="1425" i="1" dirty="0">
                        <a:latin typeface="Cambria Math" panose="02040503050406030204" pitchFamily="18" charset="0"/>
                      </a:rPr>
                      <m:t>𝑐𝑝</m:t>
                    </m:r>
                    <m:r>
                      <a:rPr lang="fr-FR" sz="1425" i="1" dirty="0">
                        <a:latin typeface="Cambria Math" panose="02040503050406030204" pitchFamily="18" charset="0"/>
                      </a:rPr>
                      <m:t>2</m:t>
                    </m:r>
                  </m:oMath>
                </a14:m>
                <a:r>
                  <a:rPr lang="fr-FR" sz="1425" dirty="0"/>
                  <a:t>.</a:t>
                </a:r>
              </a:p>
              <a:p>
                <a:pPr marL="342900" indent="-342900" algn="just">
                  <a:lnSpc>
                    <a:spcPct val="100000"/>
                  </a:lnSpc>
                  <a:buClr>
                    <a:schemeClr val="accent2"/>
                  </a:buClr>
                  <a:buFont typeface="+mj-lt"/>
                  <a:buAutoNum type="arabicPeriod"/>
                </a:pPr>
                <a:r>
                  <a:rPr lang="fr-FR" sz="1425" dirty="0"/>
                  <a:t>La rotation de la structure factorielle dans n’importe quelle direction n’impacte pas la position relative des points, les uns par rapport aux autres; toutefois, les coordonnées des points, c'est-à-dire les poids factoriels seraient bien évidemment modifiés.</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3749688"/>
                <a:ext cx="6249916" cy="1198595"/>
              </a:xfrm>
              <a:blipFill>
                <a:blip r:embed="rId2"/>
                <a:stretch>
                  <a:fillRect l="-1659" t="-4569" r="-1756" b="-10660"/>
                </a:stretch>
              </a:blipFill>
            </p:spPr>
            <p:txBody>
              <a:bodyPr/>
              <a:lstStyle/>
              <a:p>
                <a:r>
                  <a:rPr lang="fr-FR">
                    <a:noFill/>
                  </a:rPr>
                  <a:t> </a:t>
                </a:r>
              </a:p>
            </p:txBody>
          </p:sp>
        </mc:Fallback>
      </mc:AlternateContent>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230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en Composantes Principales</a:t>
            </a:r>
            <a:endParaRPr lang="fr-FR" sz="2100" b="0" dirty="0"/>
          </a:p>
        </p:txBody>
      </p:sp>
      <p:sp>
        <p:nvSpPr>
          <p:cNvPr id="5" name="Title 13">
            <a:extLst>
              <a:ext uri="{FF2B5EF4-FFF2-40B4-BE49-F238E27FC236}">
                <a16:creationId xmlns:a16="http://schemas.microsoft.com/office/drawing/2014/main" id="{6F1E9FCA-A55F-48F4-87E8-72CD61180D87}"/>
              </a:ext>
            </a:extLst>
          </p:cNvPr>
          <p:cNvSpPr txBox="1">
            <a:spLocks/>
          </p:cNvSpPr>
          <p:nvPr/>
        </p:nvSpPr>
        <p:spPr>
          <a:xfrm>
            <a:off x="389008" y="972046"/>
            <a:ext cx="6249917" cy="19944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Notions de projections et de rotation</a:t>
            </a:r>
          </a:p>
        </p:txBody>
      </p:sp>
      <p:grpSp>
        <p:nvGrpSpPr>
          <p:cNvPr id="156" name="Groupe 155">
            <a:extLst>
              <a:ext uri="{FF2B5EF4-FFF2-40B4-BE49-F238E27FC236}">
                <a16:creationId xmlns:a16="http://schemas.microsoft.com/office/drawing/2014/main" id="{8E0E3344-A109-4CDC-B0CB-0250E314BE0A}"/>
              </a:ext>
            </a:extLst>
          </p:cNvPr>
          <p:cNvGrpSpPr/>
          <p:nvPr/>
        </p:nvGrpSpPr>
        <p:grpSpPr>
          <a:xfrm>
            <a:off x="436444" y="1346547"/>
            <a:ext cx="2948183" cy="2310617"/>
            <a:chOff x="576157" y="1798537"/>
            <a:chExt cx="3930910" cy="3080822"/>
          </a:xfrm>
        </p:grpSpPr>
        <p:sp>
          <p:nvSpPr>
            <p:cNvPr id="65" name="ZoneTexte 64">
              <a:extLst>
                <a:ext uri="{FF2B5EF4-FFF2-40B4-BE49-F238E27FC236}">
                  <a16:creationId xmlns:a16="http://schemas.microsoft.com/office/drawing/2014/main" id="{5879F1FE-4331-4816-A523-10C7B593F0B4}"/>
                </a:ext>
              </a:extLst>
            </p:cNvPr>
            <p:cNvSpPr txBox="1"/>
            <p:nvPr/>
          </p:nvSpPr>
          <p:spPr>
            <a:xfrm>
              <a:off x="1381388" y="4489438"/>
              <a:ext cx="336000" cy="307776"/>
            </a:xfrm>
            <a:prstGeom prst="rect">
              <a:avLst/>
            </a:prstGeom>
            <a:noFill/>
          </p:spPr>
          <p:txBody>
            <a:bodyPr wrap="square" rtlCol="0">
              <a:spAutoFit/>
            </a:bodyPr>
            <a:lstStyle/>
            <a:p>
              <a:r>
                <a:rPr lang="fr-FR" sz="450" dirty="0"/>
                <a:t>-3</a:t>
              </a:r>
            </a:p>
          </p:txBody>
        </p:sp>
        <p:sp>
          <p:nvSpPr>
            <p:cNvPr id="66" name="ZoneTexte 65">
              <a:extLst>
                <a:ext uri="{FF2B5EF4-FFF2-40B4-BE49-F238E27FC236}">
                  <a16:creationId xmlns:a16="http://schemas.microsoft.com/office/drawing/2014/main" id="{1EB18561-AD25-44CD-A678-FB48C30CE5DB}"/>
                </a:ext>
              </a:extLst>
            </p:cNvPr>
            <p:cNvSpPr txBox="1"/>
            <p:nvPr/>
          </p:nvSpPr>
          <p:spPr>
            <a:xfrm>
              <a:off x="1797875" y="4489438"/>
              <a:ext cx="336000" cy="307776"/>
            </a:xfrm>
            <a:prstGeom prst="rect">
              <a:avLst/>
            </a:prstGeom>
            <a:noFill/>
          </p:spPr>
          <p:txBody>
            <a:bodyPr wrap="square" rtlCol="0">
              <a:spAutoFit/>
            </a:bodyPr>
            <a:lstStyle/>
            <a:p>
              <a:r>
                <a:rPr lang="fr-FR" sz="450" dirty="0"/>
                <a:t>-2</a:t>
              </a:r>
            </a:p>
          </p:txBody>
        </p:sp>
        <p:sp>
          <p:nvSpPr>
            <p:cNvPr id="67" name="ZoneTexte 66">
              <a:extLst>
                <a:ext uri="{FF2B5EF4-FFF2-40B4-BE49-F238E27FC236}">
                  <a16:creationId xmlns:a16="http://schemas.microsoft.com/office/drawing/2014/main" id="{1CDE4674-B204-4133-92C7-78AB3B62DBFC}"/>
                </a:ext>
              </a:extLst>
            </p:cNvPr>
            <p:cNvSpPr txBox="1"/>
            <p:nvPr/>
          </p:nvSpPr>
          <p:spPr>
            <a:xfrm>
              <a:off x="2223727" y="4488972"/>
              <a:ext cx="336000" cy="307776"/>
            </a:xfrm>
            <a:prstGeom prst="rect">
              <a:avLst/>
            </a:prstGeom>
            <a:noFill/>
          </p:spPr>
          <p:txBody>
            <a:bodyPr wrap="square" rtlCol="0">
              <a:spAutoFit/>
            </a:bodyPr>
            <a:lstStyle/>
            <a:p>
              <a:r>
                <a:rPr lang="fr-FR" sz="450" dirty="0"/>
                <a:t>-1</a:t>
              </a:r>
            </a:p>
          </p:txBody>
        </p:sp>
        <p:grpSp>
          <p:nvGrpSpPr>
            <p:cNvPr id="77" name="Groupe 76">
              <a:extLst>
                <a:ext uri="{FF2B5EF4-FFF2-40B4-BE49-F238E27FC236}">
                  <a16:creationId xmlns:a16="http://schemas.microsoft.com/office/drawing/2014/main" id="{E987A842-B397-496A-A973-1C58D7340044}"/>
                </a:ext>
              </a:extLst>
            </p:cNvPr>
            <p:cNvGrpSpPr/>
            <p:nvPr/>
          </p:nvGrpSpPr>
          <p:grpSpPr>
            <a:xfrm>
              <a:off x="576157" y="1798537"/>
              <a:ext cx="3930910" cy="3080822"/>
              <a:chOff x="576157" y="1798537"/>
              <a:chExt cx="3930910" cy="3080822"/>
            </a:xfrm>
          </p:grpSpPr>
          <p:grpSp>
            <p:nvGrpSpPr>
              <p:cNvPr id="11" name="Groupe 10">
                <a:extLst>
                  <a:ext uri="{FF2B5EF4-FFF2-40B4-BE49-F238E27FC236}">
                    <a16:creationId xmlns:a16="http://schemas.microsoft.com/office/drawing/2014/main" id="{6ED54090-751C-4A32-8CFC-DA94017FD2E9}"/>
                  </a:ext>
                </a:extLst>
              </p:cNvPr>
              <p:cNvGrpSpPr/>
              <p:nvPr/>
            </p:nvGrpSpPr>
            <p:grpSpPr>
              <a:xfrm>
                <a:off x="779241" y="1798537"/>
                <a:ext cx="3727826" cy="2899656"/>
                <a:chOff x="779241" y="1798537"/>
                <a:chExt cx="3727826" cy="2899656"/>
              </a:xfrm>
            </p:grpSpPr>
            <p:grpSp>
              <p:nvGrpSpPr>
                <p:cNvPr id="9" name="Groupe 8">
                  <a:extLst>
                    <a:ext uri="{FF2B5EF4-FFF2-40B4-BE49-F238E27FC236}">
                      <a16:creationId xmlns:a16="http://schemas.microsoft.com/office/drawing/2014/main" id="{1068B057-B267-4DA1-8E70-EF4B6250284B}"/>
                    </a:ext>
                  </a:extLst>
                </p:cNvPr>
                <p:cNvGrpSpPr/>
                <p:nvPr/>
              </p:nvGrpSpPr>
              <p:grpSpPr>
                <a:xfrm>
                  <a:off x="1054190" y="1798537"/>
                  <a:ext cx="3452877" cy="2637982"/>
                  <a:chOff x="1054190" y="1798537"/>
                  <a:chExt cx="3452877" cy="2637982"/>
                </a:xfrm>
              </p:grpSpPr>
              <p:sp>
                <p:nvSpPr>
                  <p:cNvPr id="2" name="Rectangle 1">
                    <a:extLst>
                      <a:ext uri="{FF2B5EF4-FFF2-40B4-BE49-F238E27FC236}">
                        <a16:creationId xmlns:a16="http://schemas.microsoft.com/office/drawing/2014/main" id="{19079191-970D-4025-95F2-6F1092BABCFE}"/>
                      </a:ext>
                    </a:extLst>
                  </p:cNvPr>
                  <p:cNvSpPr/>
                  <p:nvPr/>
                </p:nvSpPr>
                <p:spPr>
                  <a:xfrm>
                    <a:off x="1099248" y="1837195"/>
                    <a:ext cx="3371353" cy="2560320"/>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8" name="Connecteur droit 7">
                    <a:extLst>
                      <a:ext uri="{FF2B5EF4-FFF2-40B4-BE49-F238E27FC236}">
                        <a16:creationId xmlns:a16="http://schemas.microsoft.com/office/drawing/2014/main" id="{11DCD448-60E1-4F40-BAE3-CDE44980D266}"/>
                      </a:ext>
                    </a:extLst>
                  </p:cNvPr>
                  <p:cNvCxnSpPr>
                    <a:stCxn id="2" idx="1"/>
                    <a:endCxn id="2" idx="3"/>
                  </p:cNvCxnSpPr>
                  <p:nvPr/>
                </p:nvCxnSpPr>
                <p:spPr>
                  <a:xfrm>
                    <a:off x="1099248" y="3117355"/>
                    <a:ext cx="3371353"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31" name="Connecteur droit 30">
                    <a:extLst>
                      <a:ext uri="{FF2B5EF4-FFF2-40B4-BE49-F238E27FC236}">
                        <a16:creationId xmlns:a16="http://schemas.microsoft.com/office/drawing/2014/main" id="{E097A368-DBC1-414B-9FCD-E6861E4338E0}"/>
                      </a:ext>
                    </a:extLst>
                  </p:cNvPr>
                  <p:cNvCxnSpPr/>
                  <p:nvPr/>
                </p:nvCxnSpPr>
                <p:spPr>
                  <a:xfrm>
                    <a:off x="1060816" y="2191026"/>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A5D264CA-FADA-4B4D-B044-FD7F93CD64B8}"/>
                      </a:ext>
                    </a:extLst>
                  </p:cNvPr>
                  <p:cNvCxnSpPr/>
                  <p:nvPr/>
                </p:nvCxnSpPr>
                <p:spPr>
                  <a:xfrm>
                    <a:off x="1060816" y="2652203"/>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Connecteur droit 32">
                    <a:extLst>
                      <a:ext uri="{FF2B5EF4-FFF2-40B4-BE49-F238E27FC236}">
                        <a16:creationId xmlns:a16="http://schemas.microsoft.com/office/drawing/2014/main" id="{70D229C8-0BDE-4132-AB53-372355939205}"/>
                      </a:ext>
                    </a:extLst>
                  </p:cNvPr>
                  <p:cNvCxnSpPr/>
                  <p:nvPr/>
                </p:nvCxnSpPr>
                <p:spPr>
                  <a:xfrm>
                    <a:off x="4435066" y="2192355"/>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Connecteur droit 33">
                    <a:extLst>
                      <a:ext uri="{FF2B5EF4-FFF2-40B4-BE49-F238E27FC236}">
                        <a16:creationId xmlns:a16="http://schemas.microsoft.com/office/drawing/2014/main" id="{2686F6A5-F2C3-4A4D-8B65-9FD8D7CAE73B}"/>
                      </a:ext>
                    </a:extLst>
                  </p:cNvPr>
                  <p:cNvCxnSpPr/>
                  <p:nvPr/>
                </p:nvCxnSpPr>
                <p:spPr>
                  <a:xfrm>
                    <a:off x="4435066" y="2653532"/>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9F70FE34-1F06-4F16-8DF7-B11FB82C666B}"/>
                      </a:ext>
                    </a:extLst>
                  </p:cNvPr>
                  <p:cNvCxnSpPr/>
                  <p:nvPr/>
                </p:nvCxnSpPr>
                <p:spPr>
                  <a:xfrm>
                    <a:off x="4435067" y="3567927"/>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Connecteur droit 35">
                    <a:extLst>
                      <a:ext uri="{FF2B5EF4-FFF2-40B4-BE49-F238E27FC236}">
                        <a16:creationId xmlns:a16="http://schemas.microsoft.com/office/drawing/2014/main" id="{4E4FA89F-3559-47DB-AFDB-EBCC8FE7C6A6}"/>
                      </a:ext>
                    </a:extLst>
                  </p:cNvPr>
                  <p:cNvCxnSpPr/>
                  <p:nvPr/>
                </p:nvCxnSpPr>
                <p:spPr>
                  <a:xfrm>
                    <a:off x="4433492" y="4029104"/>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F7E6D59C-D9C6-4038-9A20-6E655660ED50}"/>
                      </a:ext>
                    </a:extLst>
                  </p:cNvPr>
                  <p:cNvCxnSpPr/>
                  <p:nvPr/>
                </p:nvCxnSpPr>
                <p:spPr>
                  <a:xfrm>
                    <a:off x="1054190" y="3567927"/>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B60E3455-079D-4DDB-A93E-FEBFB586012F}"/>
                      </a:ext>
                    </a:extLst>
                  </p:cNvPr>
                  <p:cNvCxnSpPr/>
                  <p:nvPr/>
                </p:nvCxnSpPr>
                <p:spPr>
                  <a:xfrm>
                    <a:off x="1062141" y="4029104"/>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Connecteur droit 39">
                    <a:extLst>
                      <a:ext uri="{FF2B5EF4-FFF2-40B4-BE49-F238E27FC236}">
                        <a16:creationId xmlns:a16="http://schemas.microsoft.com/office/drawing/2014/main" id="{97D8B839-9864-468F-ADA1-338726798B7F}"/>
                      </a:ext>
                    </a:extLst>
                  </p:cNvPr>
                  <p:cNvCxnSpPr>
                    <a:cxnSpLocks/>
                  </p:cNvCxnSpPr>
                  <p:nvPr/>
                </p:nvCxnSpPr>
                <p:spPr>
                  <a:xfrm rot="16200000">
                    <a:off x="1462893" y="1834537"/>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427180C0-C291-4AEC-959E-C99283A48E4E}"/>
                      </a:ext>
                    </a:extLst>
                  </p:cNvPr>
                  <p:cNvCxnSpPr>
                    <a:cxnSpLocks/>
                  </p:cNvCxnSpPr>
                  <p:nvPr/>
                </p:nvCxnSpPr>
                <p:spPr>
                  <a:xfrm rot="16200000">
                    <a:off x="1882448" y="1842239"/>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183DE035-BFF6-4D47-8CC7-7F7F9FDDAB16}"/>
                      </a:ext>
                    </a:extLst>
                  </p:cNvPr>
                  <p:cNvCxnSpPr>
                    <a:cxnSpLocks/>
                  </p:cNvCxnSpPr>
                  <p:nvPr/>
                </p:nvCxnSpPr>
                <p:spPr>
                  <a:xfrm rot="16200000">
                    <a:off x="2304988" y="1838476"/>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Connecteur droit 43">
                    <a:extLst>
                      <a:ext uri="{FF2B5EF4-FFF2-40B4-BE49-F238E27FC236}">
                        <a16:creationId xmlns:a16="http://schemas.microsoft.com/office/drawing/2014/main" id="{D5573990-5F45-485D-9EB0-6FE0BC06474F}"/>
                      </a:ext>
                    </a:extLst>
                  </p:cNvPr>
                  <p:cNvCxnSpPr>
                    <a:cxnSpLocks/>
                  </p:cNvCxnSpPr>
                  <p:nvPr/>
                </p:nvCxnSpPr>
                <p:spPr>
                  <a:xfrm rot="16200000">
                    <a:off x="3174496" y="1847789"/>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Connecteur droit 44">
                    <a:extLst>
                      <a:ext uri="{FF2B5EF4-FFF2-40B4-BE49-F238E27FC236}">
                        <a16:creationId xmlns:a16="http://schemas.microsoft.com/office/drawing/2014/main" id="{344F0345-1A49-45E1-BF2E-81AA64403670}"/>
                      </a:ext>
                    </a:extLst>
                  </p:cNvPr>
                  <p:cNvCxnSpPr>
                    <a:cxnSpLocks/>
                  </p:cNvCxnSpPr>
                  <p:nvPr/>
                </p:nvCxnSpPr>
                <p:spPr>
                  <a:xfrm rot="16200000">
                    <a:off x="3590985" y="1842740"/>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5F3E4F08-39ED-47FE-8AE0-6D121BC0F0B8}"/>
                      </a:ext>
                    </a:extLst>
                  </p:cNvPr>
                  <p:cNvCxnSpPr>
                    <a:cxnSpLocks/>
                  </p:cNvCxnSpPr>
                  <p:nvPr/>
                </p:nvCxnSpPr>
                <p:spPr>
                  <a:xfrm rot="16200000">
                    <a:off x="4016837" y="1840871"/>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Connecteur droit 46">
                    <a:extLst>
                      <a:ext uri="{FF2B5EF4-FFF2-40B4-BE49-F238E27FC236}">
                        <a16:creationId xmlns:a16="http://schemas.microsoft.com/office/drawing/2014/main" id="{544839E9-9A19-4E31-800E-3746A58BACEE}"/>
                      </a:ext>
                    </a:extLst>
                  </p:cNvPr>
                  <p:cNvCxnSpPr>
                    <a:cxnSpLocks/>
                  </p:cNvCxnSpPr>
                  <p:nvPr/>
                </p:nvCxnSpPr>
                <p:spPr>
                  <a:xfrm rot="16200000">
                    <a:off x="1462884" y="4387267"/>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5C974DA7-7D9C-4096-97D6-E50B211945AD}"/>
                      </a:ext>
                    </a:extLst>
                  </p:cNvPr>
                  <p:cNvCxnSpPr>
                    <a:cxnSpLocks/>
                  </p:cNvCxnSpPr>
                  <p:nvPr/>
                </p:nvCxnSpPr>
                <p:spPr>
                  <a:xfrm rot="16200000">
                    <a:off x="1882439" y="4394969"/>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44C0B663-ABA0-49A3-BFD4-B828C346BD64}"/>
                      </a:ext>
                    </a:extLst>
                  </p:cNvPr>
                  <p:cNvCxnSpPr>
                    <a:cxnSpLocks/>
                  </p:cNvCxnSpPr>
                  <p:nvPr/>
                </p:nvCxnSpPr>
                <p:spPr>
                  <a:xfrm rot="16200000">
                    <a:off x="2304979" y="4391206"/>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A5C8E59D-F160-4003-9D81-BE01295231D4}"/>
                      </a:ext>
                    </a:extLst>
                  </p:cNvPr>
                  <p:cNvCxnSpPr>
                    <a:cxnSpLocks/>
                  </p:cNvCxnSpPr>
                  <p:nvPr/>
                </p:nvCxnSpPr>
                <p:spPr>
                  <a:xfrm rot="16200000">
                    <a:off x="3174487" y="4400519"/>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Connecteur droit 51">
                    <a:extLst>
                      <a:ext uri="{FF2B5EF4-FFF2-40B4-BE49-F238E27FC236}">
                        <a16:creationId xmlns:a16="http://schemas.microsoft.com/office/drawing/2014/main" id="{605DD58A-DB9B-4C3A-B8D8-FA63E26C01E7}"/>
                      </a:ext>
                    </a:extLst>
                  </p:cNvPr>
                  <p:cNvCxnSpPr>
                    <a:cxnSpLocks/>
                  </p:cNvCxnSpPr>
                  <p:nvPr/>
                </p:nvCxnSpPr>
                <p:spPr>
                  <a:xfrm rot="16200000">
                    <a:off x="3590976" y="4395470"/>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F6111F31-5314-431A-B2EE-25A9941276EB}"/>
                      </a:ext>
                    </a:extLst>
                  </p:cNvPr>
                  <p:cNvCxnSpPr>
                    <a:cxnSpLocks/>
                  </p:cNvCxnSpPr>
                  <p:nvPr/>
                </p:nvCxnSpPr>
                <p:spPr>
                  <a:xfrm rot="16200000">
                    <a:off x="4016828" y="4393601"/>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Connecteur droit 3">
                    <a:extLst>
                      <a:ext uri="{FF2B5EF4-FFF2-40B4-BE49-F238E27FC236}">
                        <a16:creationId xmlns:a16="http://schemas.microsoft.com/office/drawing/2014/main" id="{74C38C51-1B7C-41A2-8C61-98E9CA1A0A02}"/>
                      </a:ext>
                    </a:extLst>
                  </p:cNvPr>
                  <p:cNvCxnSpPr>
                    <a:cxnSpLocks/>
                  </p:cNvCxnSpPr>
                  <p:nvPr/>
                </p:nvCxnSpPr>
                <p:spPr>
                  <a:xfrm>
                    <a:off x="2784925" y="1837195"/>
                    <a:ext cx="0" cy="2560320"/>
                  </a:xfrm>
                  <a:prstGeom prst="line">
                    <a:avLst/>
                  </a:prstGeom>
                  <a:ln w="9525"/>
                </p:spPr>
                <p:style>
                  <a:lnRef idx="1">
                    <a:schemeClr val="accent1"/>
                  </a:lnRef>
                  <a:fillRef idx="0">
                    <a:schemeClr val="accent1"/>
                  </a:fillRef>
                  <a:effectRef idx="0">
                    <a:schemeClr val="accent1"/>
                  </a:effectRef>
                  <a:fontRef idx="minor">
                    <a:schemeClr val="tx1"/>
                  </a:fontRef>
                </p:style>
              </p:cxnSp>
            </p:grpSp>
            <p:sp>
              <p:nvSpPr>
                <p:cNvPr id="10" name="ZoneTexte 9">
                  <a:extLst>
                    <a:ext uri="{FF2B5EF4-FFF2-40B4-BE49-F238E27FC236}">
                      <a16:creationId xmlns:a16="http://schemas.microsoft.com/office/drawing/2014/main" id="{6D481A76-B405-4645-B47E-CC1C2B360EEB}"/>
                    </a:ext>
                  </a:extLst>
                </p:cNvPr>
                <p:cNvSpPr txBox="1"/>
                <p:nvPr/>
              </p:nvSpPr>
              <p:spPr>
                <a:xfrm>
                  <a:off x="2677199" y="4482749"/>
                  <a:ext cx="215451" cy="215444"/>
                </a:xfrm>
                <a:prstGeom prst="rect">
                  <a:avLst/>
                </a:prstGeom>
                <a:noFill/>
              </p:spPr>
              <p:txBody>
                <a:bodyPr wrap="square" rtlCol="0">
                  <a:spAutoFit/>
                </a:bodyPr>
                <a:lstStyle/>
                <a:p>
                  <a:r>
                    <a:rPr lang="fr-FR" sz="450" dirty="0"/>
                    <a:t>0</a:t>
                  </a:r>
                </a:p>
              </p:txBody>
            </p:sp>
            <p:sp>
              <p:nvSpPr>
                <p:cNvPr id="61" name="ZoneTexte 60">
                  <a:extLst>
                    <a:ext uri="{FF2B5EF4-FFF2-40B4-BE49-F238E27FC236}">
                      <a16:creationId xmlns:a16="http://schemas.microsoft.com/office/drawing/2014/main" id="{8E50D32B-CE66-4511-A636-5B716EF49520}"/>
                    </a:ext>
                  </a:extLst>
                </p:cNvPr>
                <p:cNvSpPr txBox="1"/>
                <p:nvPr/>
              </p:nvSpPr>
              <p:spPr>
                <a:xfrm>
                  <a:off x="780432" y="3025022"/>
                  <a:ext cx="215451" cy="215444"/>
                </a:xfrm>
                <a:prstGeom prst="rect">
                  <a:avLst/>
                </a:prstGeom>
                <a:noFill/>
              </p:spPr>
              <p:txBody>
                <a:bodyPr wrap="square" rtlCol="0">
                  <a:spAutoFit/>
                </a:bodyPr>
                <a:lstStyle/>
                <a:p>
                  <a:r>
                    <a:rPr lang="fr-FR" sz="450" dirty="0"/>
                    <a:t>0</a:t>
                  </a:r>
                </a:p>
              </p:txBody>
            </p:sp>
            <p:sp>
              <p:nvSpPr>
                <p:cNvPr id="62" name="ZoneTexte 61">
                  <a:extLst>
                    <a:ext uri="{FF2B5EF4-FFF2-40B4-BE49-F238E27FC236}">
                      <a16:creationId xmlns:a16="http://schemas.microsoft.com/office/drawing/2014/main" id="{852E384A-895F-4A47-BB03-E6EFA398BED0}"/>
                    </a:ext>
                  </a:extLst>
                </p:cNvPr>
                <p:cNvSpPr txBox="1"/>
                <p:nvPr/>
              </p:nvSpPr>
              <p:spPr>
                <a:xfrm>
                  <a:off x="3102762" y="4482749"/>
                  <a:ext cx="215451" cy="215444"/>
                </a:xfrm>
                <a:prstGeom prst="rect">
                  <a:avLst/>
                </a:prstGeom>
                <a:noFill/>
              </p:spPr>
              <p:txBody>
                <a:bodyPr wrap="square" rtlCol="0">
                  <a:spAutoFit/>
                </a:bodyPr>
                <a:lstStyle/>
                <a:p>
                  <a:r>
                    <a:rPr lang="fr-FR" sz="450" dirty="0"/>
                    <a:t>1</a:t>
                  </a:r>
                </a:p>
              </p:txBody>
            </p:sp>
            <p:sp>
              <p:nvSpPr>
                <p:cNvPr id="63" name="ZoneTexte 62">
                  <a:extLst>
                    <a:ext uri="{FF2B5EF4-FFF2-40B4-BE49-F238E27FC236}">
                      <a16:creationId xmlns:a16="http://schemas.microsoft.com/office/drawing/2014/main" id="{F8270FE4-328D-4100-B524-BF356437B1E5}"/>
                    </a:ext>
                  </a:extLst>
                </p:cNvPr>
                <p:cNvSpPr txBox="1"/>
                <p:nvPr/>
              </p:nvSpPr>
              <p:spPr>
                <a:xfrm>
                  <a:off x="3519251" y="4482749"/>
                  <a:ext cx="215451" cy="215444"/>
                </a:xfrm>
                <a:prstGeom prst="rect">
                  <a:avLst/>
                </a:prstGeom>
                <a:noFill/>
              </p:spPr>
              <p:txBody>
                <a:bodyPr wrap="square" rtlCol="0">
                  <a:spAutoFit/>
                </a:bodyPr>
                <a:lstStyle/>
                <a:p>
                  <a:r>
                    <a:rPr lang="fr-FR" sz="450" dirty="0"/>
                    <a:t>2</a:t>
                  </a:r>
                </a:p>
              </p:txBody>
            </p:sp>
            <p:sp>
              <p:nvSpPr>
                <p:cNvPr id="64" name="ZoneTexte 63">
                  <a:extLst>
                    <a:ext uri="{FF2B5EF4-FFF2-40B4-BE49-F238E27FC236}">
                      <a16:creationId xmlns:a16="http://schemas.microsoft.com/office/drawing/2014/main" id="{78F33ED9-4C02-4991-B287-B4F94B1952DE}"/>
                    </a:ext>
                  </a:extLst>
                </p:cNvPr>
                <p:cNvSpPr txBox="1"/>
                <p:nvPr/>
              </p:nvSpPr>
              <p:spPr>
                <a:xfrm>
                  <a:off x="3945103" y="4482284"/>
                  <a:ext cx="215451" cy="215444"/>
                </a:xfrm>
                <a:prstGeom prst="rect">
                  <a:avLst/>
                </a:prstGeom>
                <a:noFill/>
              </p:spPr>
              <p:txBody>
                <a:bodyPr wrap="square" rtlCol="0">
                  <a:spAutoFit/>
                </a:bodyPr>
                <a:lstStyle/>
                <a:p>
                  <a:r>
                    <a:rPr lang="fr-FR" sz="450" dirty="0"/>
                    <a:t>3</a:t>
                  </a:r>
                </a:p>
              </p:txBody>
            </p:sp>
            <p:sp>
              <p:nvSpPr>
                <p:cNvPr id="68" name="ZoneTexte 67">
                  <a:extLst>
                    <a:ext uri="{FF2B5EF4-FFF2-40B4-BE49-F238E27FC236}">
                      <a16:creationId xmlns:a16="http://schemas.microsoft.com/office/drawing/2014/main" id="{7CE7F682-ABE8-4DAD-A408-0C4E43D68264}"/>
                    </a:ext>
                  </a:extLst>
                </p:cNvPr>
                <p:cNvSpPr txBox="1"/>
                <p:nvPr/>
              </p:nvSpPr>
              <p:spPr>
                <a:xfrm>
                  <a:off x="779241" y="2559870"/>
                  <a:ext cx="215451" cy="215444"/>
                </a:xfrm>
                <a:prstGeom prst="rect">
                  <a:avLst/>
                </a:prstGeom>
                <a:noFill/>
              </p:spPr>
              <p:txBody>
                <a:bodyPr wrap="square" rtlCol="0">
                  <a:spAutoFit/>
                </a:bodyPr>
                <a:lstStyle/>
                <a:p>
                  <a:r>
                    <a:rPr lang="fr-FR" sz="450" dirty="0"/>
                    <a:t>1</a:t>
                  </a:r>
                </a:p>
              </p:txBody>
            </p:sp>
            <p:sp>
              <p:nvSpPr>
                <p:cNvPr id="69" name="ZoneTexte 68">
                  <a:extLst>
                    <a:ext uri="{FF2B5EF4-FFF2-40B4-BE49-F238E27FC236}">
                      <a16:creationId xmlns:a16="http://schemas.microsoft.com/office/drawing/2014/main" id="{775FD67F-306C-48CE-BDCE-510DC007D951}"/>
                    </a:ext>
                  </a:extLst>
                </p:cNvPr>
                <p:cNvSpPr txBox="1"/>
                <p:nvPr/>
              </p:nvSpPr>
              <p:spPr>
                <a:xfrm>
                  <a:off x="783204" y="2094718"/>
                  <a:ext cx="215451" cy="215444"/>
                </a:xfrm>
                <a:prstGeom prst="rect">
                  <a:avLst/>
                </a:prstGeom>
                <a:noFill/>
              </p:spPr>
              <p:txBody>
                <a:bodyPr wrap="square" rtlCol="0">
                  <a:spAutoFit/>
                </a:bodyPr>
                <a:lstStyle/>
                <a:p>
                  <a:r>
                    <a:rPr lang="fr-FR" sz="450" dirty="0"/>
                    <a:t>2</a:t>
                  </a:r>
                </a:p>
              </p:txBody>
            </p:sp>
            <p:sp>
              <p:nvSpPr>
                <p:cNvPr id="70" name="ZoneTexte 69">
                  <a:extLst>
                    <a:ext uri="{FF2B5EF4-FFF2-40B4-BE49-F238E27FC236}">
                      <a16:creationId xmlns:a16="http://schemas.microsoft.com/office/drawing/2014/main" id="{3A6F7A54-AF43-47C7-AB37-C0304C447D58}"/>
                    </a:ext>
                  </a:extLst>
                </p:cNvPr>
                <p:cNvSpPr txBox="1"/>
                <p:nvPr/>
              </p:nvSpPr>
              <p:spPr>
                <a:xfrm>
                  <a:off x="779241" y="3475594"/>
                  <a:ext cx="336000" cy="307776"/>
                </a:xfrm>
                <a:prstGeom prst="rect">
                  <a:avLst/>
                </a:prstGeom>
                <a:noFill/>
              </p:spPr>
              <p:txBody>
                <a:bodyPr wrap="square" rtlCol="0">
                  <a:spAutoFit/>
                </a:bodyPr>
                <a:lstStyle/>
                <a:p>
                  <a:r>
                    <a:rPr lang="fr-FR" sz="450" dirty="0"/>
                    <a:t>-1</a:t>
                  </a:r>
                </a:p>
              </p:txBody>
            </p:sp>
            <p:sp>
              <p:nvSpPr>
                <p:cNvPr id="74" name="ZoneTexte 73">
                  <a:extLst>
                    <a:ext uri="{FF2B5EF4-FFF2-40B4-BE49-F238E27FC236}">
                      <a16:creationId xmlns:a16="http://schemas.microsoft.com/office/drawing/2014/main" id="{A815D05C-A939-4C7C-B1DE-34DD596EBA22}"/>
                    </a:ext>
                  </a:extLst>
                </p:cNvPr>
                <p:cNvSpPr txBox="1"/>
                <p:nvPr/>
              </p:nvSpPr>
              <p:spPr>
                <a:xfrm>
                  <a:off x="788094" y="3936772"/>
                  <a:ext cx="336000" cy="307776"/>
                </a:xfrm>
                <a:prstGeom prst="rect">
                  <a:avLst/>
                </a:prstGeom>
                <a:noFill/>
              </p:spPr>
              <p:txBody>
                <a:bodyPr wrap="square" rtlCol="0">
                  <a:spAutoFit/>
                </a:bodyPr>
                <a:lstStyle/>
                <a:p>
                  <a:r>
                    <a:rPr lang="fr-FR" sz="450" dirty="0"/>
                    <a:t>-2</a:t>
                  </a:r>
                </a:p>
              </p:txBody>
            </p:sp>
          </p:grpSp>
          <mc:AlternateContent xmlns:mc="http://schemas.openxmlformats.org/markup-compatibility/2006" xmlns:a14="http://schemas.microsoft.com/office/drawing/2010/main">
            <mc:Choice Requires="a14">
              <p:sp>
                <p:nvSpPr>
                  <p:cNvPr id="75" name="ZoneTexte 74">
                    <a:extLst>
                      <a:ext uri="{FF2B5EF4-FFF2-40B4-BE49-F238E27FC236}">
                        <a16:creationId xmlns:a16="http://schemas.microsoft.com/office/drawing/2014/main" id="{565A1E8F-1579-433C-B365-7A114D140C6F}"/>
                      </a:ext>
                    </a:extLst>
                  </p:cNvPr>
                  <p:cNvSpPr txBox="1"/>
                  <p:nvPr/>
                </p:nvSpPr>
                <p:spPr>
                  <a:xfrm>
                    <a:off x="2640217" y="4586971"/>
                    <a:ext cx="280315" cy="292388"/>
                  </a:xfrm>
                  <a:prstGeom prst="rect">
                    <a:avLst/>
                  </a:prstGeom>
                  <a:noFill/>
                </p:spPr>
                <p:txBody>
                  <a:bodyPr wrap="square" rtlCol="0">
                    <a:spAutoFit/>
                  </a:bodyPr>
                  <a:lstStyle>
                    <a:defPPr>
                      <a:defRPr lang="en-US"/>
                    </a:defPPr>
                    <a:lvl1pPr>
                      <a:defRPr sz="11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fr-FR" sz="825">
                              <a:latin typeface="Cambria Math" panose="02040503050406030204" pitchFamily="18" charset="0"/>
                            </a:rPr>
                            <m:t>𝑥</m:t>
                          </m:r>
                        </m:oMath>
                      </m:oMathPara>
                    </a14:m>
                    <a:endParaRPr lang="fr-FR" sz="825" dirty="0"/>
                  </a:p>
                </p:txBody>
              </p:sp>
            </mc:Choice>
            <mc:Fallback xmlns="">
              <p:sp>
                <p:nvSpPr>
                  <p:cNvPr id="75" name="ZoneTexte 74">
                    <a:extLst>
                      <a:ext uri="{FF2B5EF4-FFF2-40B4-BE49-F238E27FC236}">
                        <a16:creationId xmlns:a16="http://schemas.microsoft.com/office/drawing/2014/main" id="{565A1E8F-1579-433C-B365-7A114D140C6F}"/>
                      </a:ext>
                    </a:extLst>
                  </p:cNvPr>
                  <p:cNvSpPr txBox="1">
                    <a:spLocks noRot="1" noChangeAspect="1" noMove="1" noResize="1" noEditPoints="1" noAdjustHandles="1" noChangeArrowheads="1" noChangeShapeType="1" noTextEdit="1"/>
                  </p:cNvSpPr>
                  <p:nvPr/>
                </p:nvSpPr>
                <p:spPr>
                  <a:xfrm>
                    <a:off x="2640217" y="4586971"/>
                    <a:ext cx="280315" cy="292388"/>
                  </a:xfrm>
                  <a:prstGeom prst="rect">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6" name="ZoneTexte 75">
                    <a:extLst>
                      <a:ext uri="{FF2B5EF4-FFF2-40B4-BE49-F238E27FC236}">
                        <a16:creationId xmlns:a16="http://schemas.microsoft.com/office/drawing/2014/main" id="{26BB6487-636C-4EFD-B72A-7398C3EB6E6A}"/>
                      </a:ext>
                    </a:extLst>
                  </p:cNvPr>
                  <p:cNvSpPr txBox="1"/>
                  <p:nvPr/>
                </p:nvSpPr>
                <p:spPr>
                  <a:xfrm>
                    <a:off x="576157" y="2979259"/>
                    <a:ext cx="280315" cy="2923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25" i="1" dirty="0">
                              <a:latin typeface="Cambria Math" panose="02040503050406030204" pitchFamily="18" charset="0"/>
                            </a:rPr>
                            <m:t>𝑦</m:t>
                          </m:r>
                        </m:oMath>
                      </m:oMathPara>
                    </a14:m>
                    <a:endParaRPr lang="fr-FR" sz="825" dirty="0"/>
                  </a:p>
                </p:txBody>
              </p:sp>
            </mc:Choice>
            <mc:Fallback xmlns="">
              <p:sp>
                <p:nvSpPr>
                  <p:cNvPr id="76" name="ZoneTexte 75">
                    <a:extLst>
                      <a:ext uri="{FF2B5EF4-FFF2-40B4-BE49-F238E27FC236}">
                        <a16:creationId xmlns:a16="http://schemas.microsoft.com/office/drawing/2014/main" id="{26BB6487-636C-4EFD-B72A-7398C3EB6E6A}"/>
                      </a:ext>
                    </a:extLst>
                  </p:cNvPr>
                  <p:cNvSpPr txBox="1">
                    <a:spLocks noRot="1" noChangeAspect="1" noMove="1" noResize="1" noEditPoints="1" noAdjustHandles="1" noChangeArrowheads="1" noChangeShapeType="1" noTextEdit="1"/>
                  </p:cNvSpPr>
                  <p:nvPr/>
                </p:nvSpPr>
                <p:spPr>
                  <a:xfrm>
                    <a:off x="576157" y="2979259"/>
                    <a:ext cx="280315" cy="292388"/>
                  </a:xfrm>
                  <a:prstGeom prst="rect">
                    <a:avLst/>
                  </a:prstGeom>
                  <a:blipFill>
                    <a:blip r:embed="rId4"/>
                    <a:stretch>
                      <a:fillRect/>
                    </a:stretch>
                  </a:blipFill>
                </p:spPr>
                <p:txBody>
                  <a:bodyPr/>
                  <a:lstStyle/>
                  <a:p>
                    <a:r>
                      <a:rPr lang="fr-FR">
                        <a:noFill/>
                      </a:rPr>
                      <a:t> </a:t>
                    </a:r>
                  </a:p>
                </p:txBody>
              </p:sp>
            </mc:Fallback>
          </mc:AlternateContent>
        </p:grpSp>
      </p:grpSp>
      <p:grpSp>
        <p:nvGrpSpPr>
          <p:cNvPr id="157" name="Groupe 156">
            <a:extLst>
              <a:ext uri="{FF2B5EF4-FFF2-40B4-BE49-F238E27FC236}">
                <a16:creationId xmlns:a16="http://schemas.microsoft.com/office/drawing/2014/main" id="{9E105C04-D116-4D55-9AD2-CF04DF89ACDA}"/>
              </a:ext>
            </a:extLst>
          </p:cNvPr>
          <p:cNvGrpSpPr/>
          <p:nvPr/>
        </p:nvGrpSpPr>
        <p:grpSpPr>
          <a:xfrm>
            <a:off x="957530" y="1581770"/>
            <a:ext cx="2203934" cy="1599992"/>
            <a:chOff x="1276706" y="2109026"/>
            <a:chExt cx="2938579" cy="2133323"/>
          </a:xfrm>
        </p:grpSpPr>
        <p:sp>
          <p:nvSpPr>
            <p:cNvPr id="78" name="Organigramme : Connecteur 77">
              <a:extLst>
                <a:ext uri="{FF2B5EF4-FFF2-40B4-BE49-F238E27FC236}">
                  <a16:creationId xmlns:a16="http://schemas.microsoft.com/office/drawing/2014/main" id="{C3283622-4B54-4BB9-80D9-271BBDEF540E}"/>
                </a:ext>
              </a:extLst>
            </p:cNvPr>
            <p:cNvSpPr>
              <a:spLocks noChangeAspect="1"/>
            </p:cNvSpPr>
            <p:nvPr/>
          </p:nvSpPr>
          <p:spPr>
            <a:xfrm>
              <a:off x="2680074" y="252297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79" name="Organigramme : Connecteur 78">
              <a:extLst>
                <a:ext uri="{FF2B5EF4-FFF2-40B4-BE49-F238E27FC236}">
                  <a16:creationId xmlns:a16="http://schemas.microsoft.com/office/drawing/2014/main" id="{3F2AC346-C6CE-4690-A5DC-3BA17125D809}"/>
                </a:ext>
              </a:extLst>
            </p:cNvPr>
            <p:cNvSpPr>
              <a:spLocks noChangeAspect="1"/>
            </p:cNvSpPr>
            <p:nvPr/>
          </p:nvSpPr>
          <p:spPr>
            <a:xfrm>
              <a:off x="2101623" y="293889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0" name="Organigramme : Connecteur 79">
              <a:extLst>
                <a:ext uri="{FF2B5EF4-FFF2-40B4-BE49-F238E27FC236}">
                  <a16:creationId xmlns:a16="http://schemas.microsoft.com/office/drawing/2014/main" id="{1F17B91A-10C6-44EC-934D-CAA4A04A7415}"/>
                </a:ext>
              </a:extLst>
            </p:cNvPr>
            <p:cNvSpPr>
              <a:spLocks noChangeAspect="1"/>
            </p:cNvSpPr>
            <p:nvPr/>
          </p:nvSpPr>
          <p:spPr>
            <a:xfrm>
              <a:off x="2748550" y="297337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1" name="Organigramme : Connecteur 80">
              <a:extLst>
                <a:ext uri="{FF2B5EF4-FFF2-40B4-BE49-F238E27FC236}">
                  <a16:creationId xmlns:a16="http://schemas.microsoft.com/office/drawing/2014/main" id="{E4011104-9B13-4E90-9B98-B12EC7E3B873}"/>
                </a:ext>
              </a:extLst>
            </p:cNvPr>
            <p:cNvSpPr>
              <a:spLocks noChangeAspect="1"/>
            </p:cNvSpPr>
            <p:nvPr/>
          </p:nvSpPr>
          <p:spPr>
            <a:xfrm>
              <a:off x="1276706" y="3367078"/>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2" name="Organigramme : Connecteur 81">
              <a:extLst>
                <a:ext uri="{FF2B5EF4-FFF2-40B4-BE49-F238E27FC236}">
                  <a16:creationId xmlns:a16="http://schemas.microsoft.com/office/drawing/2014/main" id="{34E34132-081D-412B-B5C6-DEEBFAE9501B}"/>
                </a:ext>
              </a:extLst>
            </p:cNvPr>
            <p:cNvSpPr>
              <a:spLocks noChangeAspect="1"/>
            </p:cNvSpPr>
            <p:nvPr/>
          </p:nvSpPr>
          <p:spPr>
            <a:xfrm>
              <a:off x="1516941" y="359143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3" name="Organigramme : Connecteur 82">
              <a:extLst>
                <a:ext uri="{FF2B5EF4-FFF2-40B4-BE49-F238E27FC236}">
                  <a16:creationId xmlns:a16="http://schemas.microsoft.com/office/drawing/2014/main" id="{E8B89945-70A2-4B1B-AE62-D8919A529A60}"/>
                </a:ext>
              </a:extLst>
            </p:cNvPr>
            <p:cNvSpPr>
              <a:spLocks noChangeAspect="1"/>
            </p:cNvSpPr>
            <p:nvPr/>
          </p:nvSpPr>
          <p:spPr>
            <a:xfrm>
              <a:off x="2115728" y="355811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4" name="Organigramme : Connecteur 83">
              <a:extLst>
                <a:ext uri="{FF2B5EF4-FFF2-40B4-BE49-F238E27FC236}">
                  <a16:creationId xmlns:a16="http://schemas.microsoft.com/office/drawing/2014/main" id="{9A6838E6-3045-481B-AE01-BBC8068A3D25}"/>
                </a:ext>
              </a:extLst>
            </p:cNvPr>
            <p:cNvSpPr>
              <a:spLocks noChangeAspect="1"/>
            </p:cNvSpPr>
            <p:nvPr/>
          </p:nvSpPr>
          <p:spPr>
            <a:xfrm rot="7820797">
              <a:off x="2344937" y="258983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5" name="Organigramme : Connecteur 84">
              <a:extLst>
                <a:ext uri="{FF2B5EF4-FFF2-40B4-BE49-F238E27FC236}">
                  <a16:creationId xmlns:a16="http://schemas.microsoft.com/office/drawing/2014/main" id="{AD5ACE09-AB00-40D1-8D1B-116915FD3F72}"/>
                </a:ext>
              </a:extLst>
            </p:cNvPr>
            <p:cNvSpPr>
              <a:spLocks noChangeAspect="1"/>
            </p:cNvSpPr>
            <p:nvPr/>
          </p:nvSpPr>
          <p:spPr>
            <a:xfrm>
              <a:off x="1890483" y="333005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6" name="Organigramme : Connecteur 85">
              <a:extLst>
                <a:ext uri="{FF2B5EF4-FFF2-40B4-BE49-F238E27FC236}">
                  <a16:creationId xmlns:a16="http://schemas.microsoft.com/office/drawing/2014/main" id="{11760871-E7DA-4680-BCB7-A994898629B0}"/>
                </a:ext>
              </a:extLst>
            </p:cNvPr>
            <p:cNvSpPr>
              <a:spLocks noChangeAspect="1"/>
            </p:cNvSpPr>
            <p:nvPr/>
          </p:nvSpPr>
          <p:spPr>
            <a:xfrm>
              <a:off x="2547324" y="3146207"/>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7" name="Organigramme : Connecteur 86">
              <a:extLst>
                <a:ext uri="{FF2B5EF4-FFF2-40B4-BE49-F238E27FC236}">
                  <a16:creationId xmlns:a16="http://schemas.microsoft.com/office/drawing/2014/main" id="{5BFD82CA-AAA3-437B-BF89-312367732BA0}"/>
                </a:ext>
              </a:extLst>
            </p:cNvPr>
            <p:cNvSpPr>
              <a:spLocks noChangeAspect="1"/>
            </p:cNvSpPr>
            <p:nvPr/>
          </p:nvSpPr>
          <p:spPr>
            <a:xfrm>
              <a:off x="2322263" y="303365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8" name="Organigramme : Connecteur 87">
              <a:extLst>
                <a:ext uri="{FF2B5EF4-FFF2-40B4-BE49-F238E27FC236}">
                  <a16:creationId xmlns:a16="http://schemas.microsoft.com/office/drawing/2014/main" id="{AF0C3791-7FEA-4AE0-9D77-376E0C7806A9}"/>
                </a:ext>
              </a:extLst>
            </p:cNvPr>
            <p:cNvSpPr>
              <a:spLocks noChangeAspect="1"/>
            </p:cNvSpPr>
            <p:nvPr/>
          </p:nvSpPr>
          <p:spPr>
            <a:xfrm>
              <a:off x="2154185" y="3175771"/>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9" name="Organigramme : Connecteur 88">
              <a:extLst>
                <a:ext uri="{FF2B5EF4-FFF2-40B4-BE49-F238E27FC236}">
                  <a16:creationId xmlns:a16="http://schemas.microsoft.com/office/drawing/2014/main" id="{E92D7B3C-5A81-4112-AF0E-3AC75E48E699}"/>
                </a:ext>
              </a:extLst>
            </p:cNvPr>
            <p:cNvSpPr>
              <a:spLocks noChangeAspect="1"/>
            </p:cNvSpPr>
            <p:nvPr/>
          </p:nvSpPr>
          <p:spPr>
            <a:xfrm>
              <a:off x="3396540" y="2439137"/>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0" name="Organigramme : Connecteur 89">
              <a:extLst>
                <a:ext uri="{FF2B5EF4-FFF2-40B4-BE49-F238E27FC236}">
                  <a16:creationId xmlns:a16="http://schemas.microsoft.com/office/drawing/2014/main" id="{6603DB5D-8002-4789-8E21-DA2942FDC7D3}"/>
                </a:ext>
              </a:extLst>
            </p:cNvPr>
            <p:cNvSpPr>
              <a:spLocks noChangeAspect="1"/>
            </p:cNvSpPr>
            <p:nvPr/>
          </p:nvSpPr>
          <p:spPr>
            <a:xfrm>
              <a:off x="2818089" y="285505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1" name="Organigramme : Connecteur 90">
              <a:extLst>
                <a:ext uri="{FF2B5EF4-FFF2-40B4-BE49-F238E27FC236}">
                  <a16:creationId xmlns:a16="http://schemas.microsoft.com/office/drawing/2014/main" id="{575B790E-F375-4F45-89E6-9021DF36FA24}"/>
                </a:ext>
              </a:extLst>
            </p:cNvPr>
            <p:cNvSpPr>
              <a:spLocks noChangeAspect="1"/>
            </p:cNvSpPr>
            <p:nvPr/>
          </p:nvSpPr>
          <p:spPr>
            <a:xfrm>
              <a:off x="3465016" y="288954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2" name="Organigramme : Connecteur 91">
              <a:extLst>
                <a:ext uri="{FF2B5EF4-FFF2-40B4-BE49-F238E27FC236}">
                  <a16:creationId xmlns:a16="http://schemas.microsoft.com/office/drawing/2014/main" id="{1E223A3C-EAD2-4EE6-B94F-E5B8CEF435BD}"/>
                </a:ext>
              </a:extLst>
            </p:cNvPr>
            <p:cNvSpPr>
              <a:spLocks noChangeAspect="1"/>
            </p:cNvSpPr>
            <p:nvPr/>
          </p:nvSpPr>
          <p:spPr>
            <a:xfrm>
              <a:off x="2600461" y="312377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3" name="Organigramme : Connecteur 92">
              <a:extLst>
                <a:ext uri="{FF2B5EF4-FFF2-40B4-BE49-F238E27FC236}">
                  <a16:creationId xmlns:a16="http://schemas.microsoft.com/office/drawing/2014/main" id="{79A67784-EA2B-42B2-AC32-F2018E364BD9}"/>
                </a:ext>
              </a:extLst>
            </p:cNvPr>
            <p:cNvSpPr>
              <a:spLocks noChangeAspect="1"/>
            </p:cNvSpPr>
            <p:nvPr/>
          </p:nvSpPr>
          <p:spPr>
            <a:xfrm>
              <a:off x="2736154" y="317851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4" name="Organigramme : Connecteur 93">
              <a:extLst>
                <a:ext uri="{FF2B5EF4-FFF2-40B4-BE49-F238E27FC236}">
                  <a16:creationId xmlns:a16="http://schemas.microsoft.com/office/drawing/2014/main" id="{3A0900B3-D2A3-4256-A32D-2D2321B9F862}"/>
                </a:ext>
              </a:extLst>
            </p:cNvPr>
            <p:cNvSpPr>
              <a:spLocks noChangeAspect="1"/>
            </p:cNvSpPr>
            <p:nvPr/>
          </p:nvSpPr>
          <p:spPr>
            <a:xfrm>
              <a:off x="2832194" y="336132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5" name="Organigramme : Connecteur 94">
              <a:extLst>
                <a:ext uri="{FF2B5EF4-FFF2-40B4-BE49-F238E27FC236}">
                  <a16:creationId xmlns:a16="http://schemas.microsoft.com/office/drawing/2014/main" id="{FA118AF9-4C0F-4C84-ABA1-00DFAF76D29E}"/>
                </a:ext>
              </a:extLst>
            </p:cNvPr>
            <p:cNvSpPr>
              <a:spLocks noChangeAspect="1"/>
            </p:cNvSpPr>
            <p:nvPr/>
          </p:nvSpPr>
          <p:spPr>
            <a:xfrm rot="7820797">
              <a:off x="3061403" y="250599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6" name="Organigramme : Connecteur 95">
              <a:extLst>
                <a:ext uri="{FF2B5EF4-FFF2-40B4-BE49-F238E27FC236}">
                  <a16:creationId xmlns:a16="http://schemas.microsoft.com/office/drawing/2014/main" id="{002EC0CA-CA92-4B16-AB68-0F4B4AED732A}"/>
                </a:ext>
              </a:extLst>
            </p:cNvPr>
            <p:cNvSpPr>
              <a:spLocks noChangeAspect="1"/>
            </p:cNvSpPr>
            <p:nvPr/>
          </p:nvSpPr>
          <p:spPr>
            <a:xfrm>
              <a:off x="2778194" y="300542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7" name="Organigramme : Connecteur 96">
              <a:extLst>
                <a:ext uri="{FF2B5EF4-FFF2-40B4-BE49-F238E27FC236}">
                  <a16:creationId xmlns:a16="http://schemas.microsoft.com/office/drawing/2014/main" id="{2B076170-CD29-417C-AFE0-5BCBA7D2F606}"/>
                </a:ext>
              </a:extLst>
            </p:cNvPr>
            <p:cNvSpPr>
              <a:spLocks noChangeAspect="1"/>
            </p:cNvSpPr>
            <p:nvPr/>
          </p:nvSpPr>
          <p:spPr>
            <a:xfrm>
              <a:off x="3263790" y="3062368"/>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8" name="Organigramme : Connecteur 97">
              <a:extLst>
                <a:ext uri="{FF2B5EF4-FFF2-40B4-BE49-F238E27FC236}">
                  <a16:creationId xmlns:a16="http://schemas.microsoft.com/office/drawing/2014/main" id="{463BCFD8-60E2-4E4C-AC7C-165483168B74}"/>
                </a:ext>
              </a:extLst>
            </p:cNvPr>
            <p:cNvSpPr>
              <a:spLocks noChangeAspect="1"/>
            </p:cNvSpPr>
            <p:nvPr/>
          </p:nvSpPr>
          <p:spPr>
            <a:xfrm>
              <a:off x="3038729" y="2949811"/>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9" name="Organigramme : Connecteur 98">
              <a:extLst>
                <a:ext uri="{FF2B5EF4-FFF2-40B4-BE49-F238E27FC236}">
                  <a16:creationId xmlns:a16="http://schemas.microsoft.com/office/drawing/2014/main" id="{742B329E-DDE0-4E4C-8309-CB169CA2283D}"/>
                </a:ext>
              </a:extLst>
            </p:cNvPr>
            <p:cNvSpPr>
              <a:spLocks noChangeAspect="1"/>
            </p:cNvSpPr>
            <p:nvPr/>
          </p:nvSpPr>
          <p:spPr>
            <a:xfrm>
              <a:off x="2885148" y="295290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0" name="Organigramme : Connecteur 99">
              <a:extLst>
                <a:ext uri="{FF2B5EF4-FFF2-40B4-BE49-F238E27FC236}">
                  <a16:creationId xmlns:a16="http://schemas.microsoft.com/office/drawing/2014/main" id="{3C096B21-3F21-43E6-9999-FC4290366CB2}"/>
                </a:ext>
              </a:extLst>
            </p:cNvPr>
            <p:cNvSpPr>
              <a:spLocks noChangeAspect="1"/>
            </p:cNvSpPr>
            <p:nvPr/>
          </p:nvSpPr>
          <p:spPr>
            <a:xfrm rot="6483601">
              <a:off x="2976245" y="262554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1" name="Organigramme : Connecteur 100">
              <a:extLst>
                <a:ext uri="{FF2B5EF4-FFF2-40B4-BE49-F238E27FC236}">
                  <a16:creationId xmlns:a16="http://schemas.microsoft.com/office/drawing/2014/main" id="{0D86AFAD-FEEB-44DE-BF31-AECF980F4217}"/>
                </a:ext>
              </a:extLst>
            </p:cNvPr>
            <p:cNvSpPr>
              <a:spLocks noChangeAspect="1"/>
            </p:cNvSpPr>
            <p:nvPr/>
          </p:nvSpPr>
          <p:spPr>
            <a:xfrm rot="6483601">
              <a:off x="2397794" y="304145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2" name="Organigramme : Connecteur 101">
              <a:extLst>
                <a:ext uri="{FF2B5EF4-FFF2-40B4-BE49-F238E27FC236}">
                  <a16:creationId xmlns:a16="http://schemas.microsoft.com/office/drawing/2014/main" id="{BC411970-E412-40FC-ADA8-2B08CA86AF57}"/>
                </a:ext>
              </a:extLst>
            </p:cNvPr>
            <p:cNvSpPr>
              <a:spLocks noChangeAspect="1"/>
            </p:cNvSpPr>
            <p:nvPr/>
          </p:nvSpPr>
          <p:spPr>
            <a:xfrm rot="6483601">
              <a:off x="3044721" y="307594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3" name="Organigramme : Connecteur 102">
              <a:extLst>
                <a:ext uri="{FF2B5EF4-FFF2-40B4-BE49-F238E27FC236}">
                  <a16:creationId xmlns:a16="http://schemas.microsoft.com/office/drawing/2014/main" id="{4223C60C-9567-44DA-A520-EC10199AA5D8}"/>
                </a:ext>
              </a:extLst>
            </p:cNvPr>
            <p:cNvSpPr>
              <a:spLocks noChangeAspect="1"/>
            </p:cNvSpPr>
            <p:nvPr/>
          </p:nvSpPr>
          <p:spPr>
            <a:xfrm rot="6483601">
              <a:off x="2180166" y="331018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4" name="Organigramme : Connecteur 103">
              <a:extLst>
                <a:ext uri="{FF2B5EF4-FFF2-40B4-BE49-F238E27FC236}">
                  <a16:creationId xmlns:a16="http://schemas.microsoft.com/office/drawing/2014/main" id="{240FEF75-EF0A-4B98-AFA1-613873242769}"/>
                </a:ext>
              </a:extLst>
            </p:cNvPr>
            <p:cNvSpPr>
              <a:spLocks noChangeAspect="1"/>
            </p:cNvSpPr>
            <p:nvPr/>
          </p:nvSpPr>
          <p:spPr>
            <a:xfrm rot="6483601">
              <a:off x="2315859" y="336491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5" name="Organigramme : Connecteur 104">
              <a:extLst>
                <a:ext uri="{FF2B5EF4-FFF2-40B4-BE49-F238E27FC236}">
                  <a16:creationId xmlns:a16="http://schemas.microsoft.com/office/drawing/2014/main" id="{AF68590D-A559-4819-966D-D625E360069A}"/>
                </a:ext>
              </a:extLst>
            </p:cNvPr>
            <p:cNvSpPr>
              <a:spLocks noChangeAspect="1"/>
            </p:cNvSpPr>
            <p:nvPr/>
          </p:nvSpPr>
          <p:spPr>
            <a:xfrm rot="6483601">
              <a:off x="2411899" y="354772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6" name="Organigramme : Connecteur 105">
              <a:extLst>
                <a:ext uri="{FF2B5EF4-FFF2-40B4-BE49-F238E27FC236}">
                  <a16:creationId xmlns:a16="http://schemas.microsoft.com/office/drawing/2014/main" id="{04C7FFBD-017C-42A2-861D-2D05333095B3}"/>
                </a:ext>
              </a:extLst>
            </p:cNvPr>
            <p:cNvSpPr>
              <a:spLocks noChangeAspect="1"/>
            </p:cNvSpPr>
            <p:nvPr/>
          </p:nvSpPr>
          <p:spPr>
            <a:xfrm rot="14304398">
              <a:off x="2641108" y="269239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7" name="Organigramme : Connecteur 106">
              <a:extLst>
                <a:ext uri="{FF2B5EF4-FFF2-40B4-BE49-F238E27FC236}">
                  <a16:creationId xmlns:a16="http://schemas.microsoft.com/office/drawing/2014/main" id="{6D917458-6310-4425-934E-FE60D74E2917}"/>
                </a:ext>
              </a:extLst>
            </p:cNvPr>
            <p:cNvSpPr>
              <a:spLocks noChangeAspect="1"/>
            </p:cNvSpPr>
            <p:nvPr/>
          </p:nvSpPr>
          <p:spPr>
            <a:xfrm rot="6483601">
              <a:off x="2357899" y="3191827"/>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8" name="Organigramme : Connecteur 107">
              <a:extLst>
                <a:ext uri="{FF2B5EF4-FFF2-40B4-BE49-F238E27FC236}">
                  <a16:creationId xmlns:a16="http://schemas.microsoft.com/office/drawing/2014/main" id="{7AF61657-25DB-4775-9D2A-D4FFE6368C9A}"/>
                </a:ext>
              </a:extLst>
            </p:cNvPr>
            <p:cNvSpPr>
              <a:spLocks noChangeAspect="1"/>
            </p:cNvSpPr>
            <p:nvPr/>
          </p:nvSpPr>
          <p:spPr>
            <a:xfrm rot="6483601">
              <a:off x="2843495" y="3248771"/>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9" name="Organigramme : Connecteur 108">
              <a:extLst>
                <a:ext uri="{FF2B5EF4-FFF2-40B4-BE49-F238E27FC236}">
                  <a16:creationId xmlns:a16="http://schemas.microsoft.com/office/drawing/2014/main" id="{FE60891F-8DBF-4BB2-B2A0-285B86635795}"/>
                </a:ext>
              </a:extLst>
            </p:cNvPr>
            <p:cNvSpPr>
              <a:spLocks noChangeAspect="1"/>
            </p:cNvSpPr>
            <p:nvPr/>
          </p:nvSpPr>
          <p:spPr>
            <a:xfrm rot="6483601">
              <a:off x="2618434" y="313621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0" name="Organigramme : Connecteur 109">
              <a:extLst>
                <a:ext uri="{FF2B5EF4-FFF2-40B4-BE49-F238E27FC236}">
                  <a16:creationId xmlns:a16="http://schemas.microsoft.com/office/drawing/2014/main" id="{833EEC38-770A-4B61-A801-222A577009F7}"/>
                </a:ext>
              </a:extLst>
            </p:cNvPr>
            <p:cNvSpPr>
              <a:spLocks noChangeAspect="1"/>
            </p:cNvSpPr>
            <p:nvPr/>
          </p:nvSpPr>
          <p:spPr>
            <a:xfrm rot="6483601">
              <a:off x="2464853" y="313930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1" name="Organigramme : Connecteur 110">
              <a:extLst>
                <a:ext uri="{FF2B5EF4-FFF2-40B4-BE49-F238E27FC236}">
                  <a16:creationId xmlns:a16="http://schemas.microsoft.com/office/drawing/2014/main" id="{C2CACE1F-0DE1-40AD-BF5A-31227402F9A7}"/>
                </a:ext>
              </a:extLst>
            </p:cNvPr>
            <p:cNvSpPr>
              <a:spLocks noChangeAspect="1"/>
            </p:cNvSpPr>
            <p:nvPr/>
          </p:nvSpPr>
          <p:spPr>
            <a:xfrm rot="3422143">
              <a:off x="3926738" y="276007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2" name="Organigramme : Connecteur 111">
              <a:extLst>
                <a:ext uri="{FF2B5EF4-FFF2-40B4-BE49-F238E27FC236}">
                  <a16:creationId xmlns:a16="http://schemas.microsoft.com/office/drawing/2014/main" id="{FC7D7AE5-62B8-493F-9FCE-855A1E56996A}"/>
                </a:ext>
              </a:extLst>
            </p:cNvPr>
            <p:cNvSpPr>
              <a:spLocks noChangeAspect="1"/>
            </p:cNvSpPr>
            <p:nvPr/>
          </p:nvSpPr>
          <p:spPr>
            <a:xfrm rot="3422143">
              <a:off x="3263035" y="250105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3" name="Organigramme : Connecteur 112">
              <a:extLst>
                <a:ext uri="{FF2B5EF4-FFF2-40B4-BE49-F238E27FC236}">
                  <a16:creationId xmlns:a16="http://schemas.microsoft.com/office/drawing/2014/main" id="{B0F97928-57CB-4CE0-8A04-A92288CD55B3}"/>
                </a:ext>
              </a:extLst>
            </p:cNvPr>
            <p:cNvSpPr>
              <a:spLocks noChangeAspect="1"/>
            </p:cNvSpPr>
            <p:nvPr/>
          </p:nvSpPr>
          <p:spPr>
            <a:xfrm rot="3422143">
              <a:off x="3586104" y="306260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4" name="Organigramme : Connecteur 113">
              <a:extLst>
                <a:ext uri="{FF2B5EF4-FFF2-40B4-BE49-F238E27FC236}">
                  <a16:creationId xmlns:a16="http://schemas.microsoft.com/office/drawing/2014/main" id="{2FD6CAB1-DD37-4A04-B48B-58419A25D07E}"/>
                </a:ext>
              </a:extLst>
            </p:cNvPr>
            <p:cNvSpPr>
              <a:spLocks noChangeAspect="1"/>
            </p:cNvSpPr>
            <p:nvPr/>
          </p:nvSpPr>
          <p:spPr>
            <a:xfrm rot="3422143">
              <a:off x="2919157" y="246468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5" name="Organigramme : Connecteur 114">
              <a:extLst>
                <a:ext uri="{FF2B5EF4-FFF2-40B4-BE49-F238E27FC236}">
                  <a16:creationId xmlns:a16="http://schemas.microsoft.com/office/drawing/2014/main" id="{8C33ACD2-1726-45D0-A55A-C0E914AA57A3}"/>
                </a:ext>
              </a:extLst>
            </p:cNvPr>
            <p:cNvSpPr>
              <a:spLocks noChangeAspect="1"/>
            </p:cNvSpPr>
            <p:nvPr/>
          </p:nvSpPr>
          <p:spPr>
            <a:xfrm rot="3422143">
              <a:off x="2947068" y="260831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6" name="Organigramme : Connecteur 115">
              <a:extLst>
                <a:ext uri="{FF2B5EF4-FFF2-40B4-BE49-F238E27FC236}">
                  <a16:creationId xmlns:a16="http://schemas.microsoft.com/office/drawing/2014/main" id="{F224AFD3-4103-4CB0-9611-226DC796A7C1}"/>
                </a:ext>
              </a:extLst>
            </p:cNvPr>
            <p:cNvSpPr>
              <a:spLocks noChangeAspect="1"/>
            </p:cNvSpPr>
            <p:nvPr/>
          </p:nvSpPr>
          <p:spPr>
            <a:xfrm rot="3422143">
              <a:off x="2845942" y="278836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7" name="Organigramme : Connecteur 116">
              <a:extLst>
                <a:ext uri="{FF2B5EF4-FFF2-40B4-BE49-F238E27FC236}">
                  <a16:creationId xmlns:a16="http://schemas.microsoft.com/office/drawing/2014/main" id="{95E18E15-0732-4694-833D-5B7CCA81231E}"/>
                </a:ext>
              </a:extLst>
            </p:cNvPr>
            <p:cNvSpPr>
              <a:spLocks noChangeAspect="1"/>
            </p:cNvSpPr>
            <p:nvPr/>
          </p:nvSpPr>
          <p:spPr>
            <a:xfrm rot="11242940">
              <a:off x="3688289" y="251527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8" name="Organigramme : Connecteur 117">
              <a:extLst>
                <a:ext uri="{FF2B5EF4-FFF2-40B4-BE49-F238E27FC236}">
                  <a16:creationId xmlns:a16="http://schemas.microsoft.com/office/drawing/2014/main" id="{B690A28E-2FEF-4E23-95FC-74738F7E635A}"/>
                </a:ext>
              </a:extLst>
            </p:cNvPr>
            <p:cNvSpPr>
              <a:spLocks noChangeAspect="1"/>
            </p:cNvSpPr>
            <p:nvPr/>
          </p:nvSpPr>
          <p:spPr>
            <a:xfrm rot="3422143">
              <a:off x="3115165" y="254940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19" name="Organigramme : Connecteur 118">
              <a:extLst>
                <a:ext uri="{FF2B5EF4-FFF2-40B4-BE49-F238E27FC236}">
                  <a16:creationId xmlns:a16="http://schemas.microsoft.com/office/drawing/2014/main" id="{A8CBC9D1-9ECF-4FAF-B549-C00E1CEFA151}"/>
                </a:ext>
              </a:extLst>
            </p:cNvPr>
            <p:cNvSpPr>
              <a:spLocks noChangeAspect="1"/>
            </p:cNvSpPr>
            <p:nvPr/>
          </p:nvSpPr>
          <p:spPr>
            <a:xfrm rot="3422143">
              <a:off x="3331609" y="298781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0" name="Organigramme : Connecteur 119">
              <a:extLst>
                <a:ext uri="{FF2B5EF4-FFF2-40B4-BE49-F238E27FC236}">
                  <a16:creationId xmlns:a16="http://schemas.microsoft.com/office/drawing/2014/main" id="{DD94E140-1380-49A4-8A15-4E646B283125}"/>
                </a:ext>
              </a:extLst>
            </p:cNvPr>
            <p:cNvSpPr>
              <a:spLocks noChangeAspect="1"/>
            </p:cNvSpPr>
            <p:nvPr/>
          </p:nvSpPr>
          <p:spPr>
            <a:xfrm rot="3422143">
              <a:off x="3303586" y="2737738"/>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1" name="Organigramme : Connecteur 120">
              <a:extLst>
                <a:ext uri="{FF2B5EF4-FFF2-40B4-BE49-F238E27FC236}">
                  <a16:creationId xmlns:a16="http://schemas.microsoft.com/office/drawing/2014/main" id="{0792B50B-4E88-4344-988F-FD24A343500F}"/>
                </a:ext>
              </a:extLst>
            </p:cNvPr>
            <p:cNvSpPr>
              <a:spLocks noChangeAspect="1"/>
            </p:cNvSpPr>
            <p:nvPr/>
          </p:nvSpPr>
          <p:spPr>
            <a:xfrm rot="3422143">
              <a:off x="3217427" y="261056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3" name="Organigramme : Connecteur 122">
              <a:extLst>
                <a:ext uri="{FF2B5EF4-FFF2-40B4-BE49-F238E27FC236}">
                  <a16:creationId xmlns:a16="http://schemas.microsoft.com/office/drawing/2014/main" id="{577E1CAA-1396-49BD-B523-EE9AAE6F05A7}"/>
                </a:ext>
              </a:extLst>
            </p:cNvPr>
            <p:cNvSpPr>
              <a:spLocks noChangeAspect="1"/>
            </p:cNvSpPr>
            <p:nvPr/>
          </p:nvSpPr>
          <p:spPr>
            <a:xfrm>
              <a:off x="2812220" y="3091321"/>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4" name="Organigramme : Connecteur 123">
              <a:extLst>
                <a:ext uri="{FF2B5EF4-FFF2-40B4-BE49-F238E27FC236}">
                  <a16:creationId xmlns:a16="http://schemas.microsoft.com/office/drawing/2014/main" id="{98A61F5B-4453-4F33-9A60-0CA5255F3EEB}"/>
                </a:ext>
              </a:extLst>
            </p:cNvPr>
            <p:cNvSpPr>
              <a:spLocks noChangeAspect="1"/>
            </p:cNvSpPr>
            <p:nvPr/>
          </p:nvSpPr>
          <p:spPr>
            <a:xfrm>
              <a:off x="2908260" y="327413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5" name="Organigramme : Connecteur 124">
              <a:extLst>
                <a:ext uri="{FF2B5EF4-FFF2-40B4-BE49-F238E27FC236}">
                  <a16:creationId xmlns:a16="http://schemas.microsoft.com/office/drawing/2014/main" id="{9D09083D-6FD0-42FD-9F0E-CE215D645FB9}"/>
                </a:ext>
              </a:extLst>
            </p:cNvPr>
            <p:cNvSpPr>
              <a:spLocks noChangeAspect="1"/>
            </p:cNvSpPr>
            <p:nvPr/>
          </p:nvSpPr>
          <p:spPr>
            <a:xfrm rot="6483601">
              <a:off x="2694500" y="304902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6" name="Organigramme : Connecteur 125">
              <a:extLst>
                <a:ext uri="{FF2B5EF4-FFF2-40B4-BE49-F238E27FC236}">
                  <a16:creationId xmlns:a16="http://schemas.microsoft.com/office/drawing/2014/main" id="{3BBC9322-8757-4718-AF76-DEB8DB81BCD2}"/>
                </a:ext>
              </a:extLst>
            </p:cNvPr>
            <p:cNvSpPr>
              <a:spLocks noChangeAspect="1"/>
            </p:cNvSpPr>
            <p:nvPr/>
          </p:nvSpPr>
          <p:spPr>
            <a:xfrm rot="6483601">
              <a:off x="2540919" y="305211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7" name="Organigramme : Connecteur 126">
              <a:extLst>
                <a:ext uri="{FF2B5EF4-FFF2-40B4-BE49-F238E27FC236}">
                  <a16:creationId xmlns:a16="http://schemas.microsoft.com/office/drawing/2014/main" id="{C1C684A5-6E4F-43F8-AA71-D8F81FD926A9}"/>
                </a:ext>
              </a:extLst>
            </p:cNvPr>
            <p:cNvSpPr>
              <a:spLocks noChangeAspect="1"/>
            </p:cNvSpPr>
            <p:nvPr/>
          </p:nvSpPr>
          <p:spPr>
            <a:xfrm>
              <a:off x="3237085" y="292184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8" name="Organigramme : Connecteur 127">
              <a:extLst>
                <a:ext uri="{FF2B5EF4-FFF2-40B4-BE49-F238E27FC236}">
                  <a16:creationId xmlns:a16="http://schemas.microsoft.com/office/drawing/2014/main" id="{82754D10-D832-474D-9F4D-72FD9C767025}"/>
                </a:ext>
              </a:extLst>
            </p:cNvPr>
            <p:cNvSpPr>
              <a:spLocks noChangeAspect="1"/>
            </p:cNvSpPr>
            <p:nvPr/>
          </p:nvSpPr>
          <p:spPr>
            <a:xfrm rot="6483601">
              <a:off x="3119365" y="287954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9" name="Organigramme : Connecteur 128">
              <a:extLst>
                <a:ext uri="{FF2B5EF4-FFF2-40B4-BE49-F238E27FC236}">
                  <a16:creationId xmlns:a16="http://schemas.microsoft.com/office/drawing/2014/main" id="{E235175C-58CB-4330-A4F3-E187E2D608FE}"/>
                </a:ext>
              </a:extLst>
            </p:cNvPr>
            <p:cNvSpPr>
              <a:spLocks noChangeAspect="1"/>
            </p:cNvSpPr>
            <p:nvPr/>
          </p:nvSpPr>
          <p:spPr>
            <a:xfrm>
              <a:off x="3313151" y="283465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30" name="Organigramme : Connecteur 129">
              <a:extLst>
                <a:ext uri="{FF2B5EF4-FFF2-40B4-BE49-F238E27FC236}">
                  <a16:creationId xmlns:a16="http://schemas.microsoft.com/office/drawing/2014/main" id="{110279A7-6AB5-4E3C-AC71-DE08B268B869}"/>
                </a:ext>
              </a:extLst>
            </p:cNvPr>
            <p:cNvSpPr>
              <a:spLocks noChangeAspect="1"/>
            </p:cNvSpPr>
            <p:nvPr/>
          </p:nvSpPr>
          <p:spPr>
            <a:xfrm rot="6483601">
              <a:off x="3195431" y="279235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31" name="Organigramme : Connecteur 130">
              <a:extLst>
                <a:ext uri="{FF2B5EF4-FFF2-40B4-BE49-F238E27FC236}">
                  <a16:creationId xmlns:a16="http://schemas.microsoft.com/office/drawing/2014/main" id="{56DE701D-55BA-4F78-9760-C02A9A06BA5B}"/>
                </a:ext>
              </a:extLst>
            </p:cNvPr>
            <p:cNvSpPr>
              <a:spLocks noChangeAspect="1"/>
            </p:cNvSpPr>
            <p:nvPr/>
          </p:nvSpPr>
          <p:spPr>
            <a:xfrm>
              <a:off x="2579449" y="335090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32" name="Organigramme : Connecteur 131">
              <a:extLst>
                <a:ext uri="{FF2B5EF4-FFF2-40B4-BE49-F238E27FC236}">
                  <a16:creationId xmlns:a16="http://schemas.microsoft.com/office/drawing/2014/main" id="{360EE597-5BDD-48FF-9C8E-8692E395926E}"/>
                </a:ext>
              </a:extLst>
            </p:cNvPr>
            <p:cNvSpPr>
              <a:spLocks noChangeAspect="1"/>
            </p:cNvSpPr>
            <p:nvPr/>
          </p:nvSpPr>
          <p:spPr>
            <a:xfrm rot="6483601">
              <a:off x="2461729" y="3308608"/>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33" name="Organigramme : Connecteur 132">
              <a:extLst>
                <a:ext uri="{FF2B5EF4-FFF2-40B4-BE49-F238E27FC236}">
                  <a16:creationId xmlns:a16="http://schemas.microsoft.com/office/drawing/2014/main" id="{1252FB1A-4965-42C4-BBDB-BCEAEEFDEB6A}"/>
                </a:ext>
              </a:extLst>
            </p:cNvPr>
            <p:cNvSpPr>
              <a:spLocks noChangeAspect="1"/>
            </p:cNvSpPr>
            <p:nvPr/>
          </p:nvSpPr>
          <p:spPr>
            <a:xfrm>
              <a:off x="2655515" y="326371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34" name="Organigramme : Connecteur 133">
              <a:extLst>
                <a:ext uri="{FF2B5EF4-FFF2-40B4-BE49-F238E27FC236}">
                  <a16:creationId xmlns:a16="http://schemas.microsoft.com/office/drawing/2014/main" id="{7C218389-887F-4AB6-9EE4-C4536CB3BEFE}"/>
                </a:ext>
              </a:extLst>
            </p:cNvPr>
            <p:cNvSpPr>
              <a:spLocks noChangeAspect="1"/>
            </p:cNvSpPr>
            <p:nvPr/>
          </p:nvSpPr>
          <p:spPr>
            <a:xfrm rot="6483601">
              <a:off x="2537795" y="3221417"/>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35" name="Organigramme : Connecteur 134">
              <a:extLst>
                <a:ext uri="{FF2B5EF4-FFF2-40B4-BE49-F238E27FC236}">
                  <a16:creationId xmlns:a16="http://schemas.microsoft.com/office/drawing/2014/main" id="{E9D489EC-C888-4C83-892C-6EB701230847}"/>
                </a:ext>
              </a:extLst>
            </p:cNvPr>
            <p:cNvSpPr>
              <a:spLocks noChangeAspect="1"/>
            </p:cNvSpPr>
            <p:nvPr/>
          </p:nvSpPr>
          <p:spPr>
            <a:xfrm>
              <a:off x="2602468" y="293529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36" name="Organigramme : Connecteur 135">
              <a:extLst>
                <a:ext uri="{FF2B5EF4-FFF2-40B4-BE49-F238E27FC236}">
                  <a16:creationId xmlns:a16="http://schemas.microsoft.com/office/drawing/2014/main" id="{9391DF4E-F9FA-4335-8DBC-9E9E6E7AB677}"/>
                </a:ext>
              </a:extLst>
            </p:cNvPr>
            <p:cNvSpPr>
              <a:spLocks noChangeAspect="1"/>
            </p:cNvSpPr>
            <p:nvPr/>
          </p:nvSpPr>
          <p:spPr>
            <a:xfrm rot="6483601">
              <a:off x="2484748" y="289299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37" name="Organigramme : Connecteur 136">
              <a:extLst>
                <a:ext uri="{FF2B5EF4-FFF2-40B4-BE49-F238E27FC236}">
                  <a16:creationId xmlns:a16="http://schemas.microsoft.com/office/drawing/2014/main" id="{46386367-A055-4CCC-9E3C-1C348FFF54B4}"/>
                </a:ext>
              </a:extLst>
            </p:cNvPr>
            <p:cNvSpPr>
              <a:spLocks noChangeAspect="1"/>
            </p:cNvSpPr>
            <p:nvPr/>
          </p:nvSpPr>
          <p:spPr>
            <a:xfrm>
              <a:off x="2678534" y="284810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38" name="Organigramme : Connecteur 137">
              <a:extLst>
                <a:ext uri="{FF2B5EF4-FFF2-40B4-BE49-F238E27FC236}">
                  <a16:creationId xmlns:a16="http://schemas.microsoft.com/office/drawing/2014/main" id="{0A43EBAF-CA41-44AA-B9CA-9B281462A3CD}"/>
                </a:ext>
              </a:extLst>
            </p:cNvPr>
            <p:cNvSpPr>
              <a:spLocks noChangeAspect="1"/>
            </p:cNvSpPr>
            <p:nvPr/>
          </p:nvSpPr>
          <p:spPr>
            <a:xfrm rot="6483601">
              <a:off x="2560814" y="280580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39" name="Organigramme : Connecteur 138">
              <a:extLst>
                <a:ext uri="{FF2B5EF4-FFF2-40B4-BE49-F238E27FC236}">
                  <a16:creationId xmlns:a16="http://schemas.microsoft.com/office/drawing/2014/main" id="{2C26E9B0-0C47-4EE1-9ABB-D376D95B2433}"/>
                </a:ext>
              </a:extLst>
            </p:cNvPr>
            <p:cNvSpPr>
              <a:spLocks noChangeAspect="1"/>
            </p:cNvSpPr>
            <p:nvPr/>
          </p:nvSpPr>
          <p:spPr>
            <a:xfrm>
              <a:off x="2746019" y="3108381"/>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40" name="Organigramme : Connecteur 139">
              <a:extLst>
                <a:ext uri="{FF2B5EF4-FFF2-40B4-BE49-F238E27FC236}">
                  <a16:creationId xmlns:a16="http://schemas.microsoft.com/office/drawing/2014/main" id="{AEB73BBC-B480-44E2-B3CF-5C9EAF3DB605}"/>
                </a:ext>
              </a:extLst>
            </p:cNvPr>
            <p:cNvSpPr>
              <a:spLocks noChangeAspect="1"/>
            </p:cNvSpPr>
            <p:nvPr/>
          </p:nvSpPr>
          <p:spPr>
            <a:xfrm rot="6483601">
              <a:off x="2628299" y="306608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41" name="Organigramme : Connecteur 140">
              <a:extLst>
                <a:ext uri="{FF2B5EF4-FFF2-40B4-BE49-F238E27FC236}">
                  <a16:creationId xmlns:a16="http://schemas.microsoft.com/office/drawing/2014/main" id="{610F8E82-9630-448B-B71D-975A3BE28D8E}"/>
                </a:ext>
              </a:extLst>
            </p:cNvPr>
            <p:cNvSpPr>
              <a:spLocks noChangeAspect="1"/>
            </p:cNvSpPr>
            <p:nvPr/>
          </p:nvSpPr>
          <p:spPr>
            <a:xfrm>
              <a:off x="2822085" y="302119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42" name="Organigramme : Connecteur 141">
              <a:extLst>
                <a:ext uri="{FF2B5EF4-FFF2-40B4-BE49-F238E27FC236}">
                  <a16:creationId xmlns:a16="http://schemas.microsoft.com/office/drawing/2014/main" id="{2BF45A88-BAF8-4699-B481-D04DDD88BBC4}"/>
                </a:ext>
              </a:extLst>
            </p:cNvPr>
            <p:cNvSpPr>
              <a:spLocks noChangeAspect="1"/>
            </p:cNvSpPr>
            <p:nvPr/>
          </p:nvSpPr>
          <p:spPr>
            <a:xfrm rot="6483601">
              <a:off x="2704365" y="297889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43" name="Organigramme : Connecteur 142">
              <a:extLst>
                <a:ext uri="{FF2B5EF4-FFF2-40B4-BE49-F238E27FC236}">
                  <a16:creationId xmlns:a16="http://schemas.microsoft.com/office/drawing/2014/main" id="{0540954C-215C-410C-87E9-0AA027C0D9BD}"/>
                </a:ext>
              </a:extLst>
            </p:cNvPr>
            <p:cNvSpPr>
              <a:spLocks noChangeAspect="1"/>
            </p:cNvSpPr>
            <p:nvPr/>
          </p:nvSpPr>
          <p:spPr>
            <a:xfrm rot="6483601">
              <a:off x="2952763" y="233078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44" name="Organigramme : Connecteur 143">
              <a:extLst>
                <a:ext uri="{FF2B5EF4-FFF2-40B4-BE49-F238E27FC236}">
                  <a16:creationId xmlns:a16="http://schemas.microsoft.com/office/drawing/2014/main" id="{02FFDC32-194C-4F1D-98F2-8A4E9361783D}"/>
                </a:ext>
              </a:extLst>
            </p:cNvPr>
            <p:cNvSpPr>
              <a:spLocks noChangeAspect="1"/>
            </p:cNvSpPr>
            <p:nvPr/>
          </p:nvSpPr>
          <p:spPr>
            <a:xfrm rot="6483601">
              <a:off x="3021239" y="278119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45" name="Organigramme : Connecteur 144">
              <a:extLst>
                <a:ext uri="{FF2B5EF4-FFF2-40B4-BE49-F238E27FC236}">
                  <a16:creationId xmlns:a16="http://schemas.microsoft.com/office/drawing/2014/main" id="{EC7A259B-490C-4261-AF4C-8D93290EF1FB}"/>
                </a:ext>
              </a:extLst>
            </p:cNvPr>
            <p:cNvSpPr>
              <a:spLocks noChangeAspect="1"/>
            </p:cNvSpPr>
            <p:nvPr/>
          </p:nvSpPr>
          <p:spPr>
            <a:xfrm>
              <a:off x="3289669" y="2539901"/>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46" name="Organigramme : Connecteur 145">
              <a:extLst>
                <a:ext uri="{FF2B5EF4-FFF2-40B4-BE49-F238E27FC236}">
                  <a16:creationId xmlns:a16="http://schemas.microsoft.com/office/drawing/2014/main" id="{B7D10C00-8DA5-4C2D-BCFA-7B227E2035F1}"/>
                </a:ext>
              </a:extLst>
            </p:cNvPr>
            <p:cNvSpPr>
              <a:spLocks noChangeAspect="1"/>
            </p:cNvSpPr>
            <p:nvPr/>
          </p:nvSpPr>
          <p:spPr>
            <a:xfrm>
              <a:off x="2553526" y="4129709"/>
              <a:ext cx="108000" cy="109466"/>
            </a:xfrm>
            <a:prstGeom prst="flowChartConnector">
              <a:avLst/>
            </a:prstGeom>
            <a:solidFill>
              <a:srgbClr val="007C7C"/>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47" name="Organigramme : Connecteur 146">
              <a:extLst>
                <a:ext uri="{FF2B5EF4-FFF2-40B4-BE49-F238E27FC236}">
                  <a16:creationId xmlns:a16="http://schemas.microsoft.com/office/drawing/2014/main" id="{70AE49EE-5145-4FCA-96C4-E8CA77F9671C}"/>
                </a:ext>
              </a:extLst>
            </p:cNvPr>
            <p:cNvSpPr>
              <a:spLocks noChangeAspect="1"/>
            </p:cNvSpPr>
            <p:nvPr/>
          </p:nvSpPr>
          <p:spPr>
            <a:xfrm rot="6483601">
              <a:off x="2687769" y="4133616"/>
              <a:ext cx="108000" cy="109466"/>
            </a:xfrm>
            <a:prstGeom prst="flowChartConnector">
              <a:avLst/>
            </a:prstGeom>
            <a:solidFill>
              <a:srgbClr val="007C7C"/>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48" name="Organigramme : Connecteur 147">
              <a:extLst>
                <a:ext uri="{FF2B5EF4-FFF2-40B4-BE49-F238E27FC236}">
                  <a16:creationId xmlns:a16="http://schemas.microsoft.com/office/drawing/2014/main" id="{0115A130-489D-4B07-AEB0-249DBAB6B83C}"/>
                </a:ext>
              </a:extLst>
            </p:cNvPr>
            <p:cNvSpPr>
              <a:spLocks noChangeAspect="1"/>
            </p:cNvSpPr>
            <p:nvPr/>
          </p:nvSpPr>
          <p:spPr>
            <a:xfrm>
              <a:off x="2615226" y="4010002"/>
              <a:ext cx="108000" cy="109466"/>
            </a:xfrm>
            <a:prstGeom prst="flowChartConnector">
              <a:avLst/>
            </a:prstGeom>
            <a:solidFill>
              <a:srgbClr val="007C7C"/>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49" name="Organigramme : Connecteur 148">
              <a:extLst>
                <a:ext uri="{FF2B5EF4-FFF2-40B4-BE49-F238E27FC236}">
                  <a16:creationId xmlns:a16="http://schemas.microsoft.com/office/drawing/2014/main" id="{52B5DB02-E18E-44A3-BE1C-1E30A68770FF}"/>
                </a:ext>
              </a:extLst>
            </p:cNvPr>
            <p:cNvSpPr>
              <a:spLocks noChangeAspect="1"/>
            </p:cNvSpPr>
            <p:nvPr/>
          </p:nvSpPr>
          <p:spPr>
            <a:xfrm>
              <a:off x="1553055" y="280592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50" name="Organigramme : Connecteur 149">
              <a:extLst>
                <a:ext uri="{FF2B5EF4-FFF2-40B4-BE49-F238E27FC236}">
                  <a16:creationId xmlns:a16="http://schemas.microsoft.com/office/drawing/2014/main" id="{17300772-80C6-41C1-AA18-828A91C9543D}"/>
                </a:ext>
              </a:extLst>
            </p:cNvPr>
            <p:cNvSpPr>
              <a:spLocks noChangeAspect="1"/>
            </p:cNvSpPr>
            <p:nvPr/>
          </p:nvSpPr>
          <p:spPr>
            <a:xfrm rot="6483601">
              <a:off x="1849226" y="2795548"/>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51" name="Organigramme : Connecteur 150">
              <a:extLst>
                <a:ext uri="{FF2B5EF4-FFF2-40B4-BE49-F238E27FC236}">
                  <a16:creationId xmlns:a16="http://schemas.microsoft.com/office/drawing/2014/main" id="{A818A330-886B-4BBF-907D-470F80C6BE80}"/>
                </a:ext>
              </a:extLst>
            </p:cNvPr>
            <p:cNvSpPr>
              <a:spLocks noChangeAspect="1"/>
            </p:cNvSpPr>
            <p:nvPr/>
          </p:nvSpPr>
          <p:spPr>
            <a:xfrm>
              <a:off x="1614755" y="263859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52" name="Organigramme : Connecteur 151">
              <a:extLst>
                <a:ext uri="{FF2B5EF4-FFF2-40B4-BE49-F238E27FC236}">
                  <a16:creationId xmlns:a16="http://schemas.microsoft.com/office/drawing/2014/main" id="{377234D8-1F1B-4751-8400-F60B062B4613}"/>
                </a:ext>
              </a:extLst>
            </p:cNvPr>
            <p:cNvSpPr>
              <a:spLocks noChangeAspect="1"/>
            </p:cNvSpPr>
            <p:nvPr/>
          </p:nvSpPr>
          <p:spPr>
            <a:xfrm rot="6483601">
              <a:off x="4106552" y="210829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53" name="Organigramme : Connecteur 152">
              <a:extLst>
                <a:ext uri="{FF2B5EF4-FFF2-40B4-BE49-F238E27FC236}">
                  <a16:creationId xmlns:a16="http://schemas.microsoft.com/office/drawing/2014/main" id="{4FBAFF13-6020-4492-B977-6FFDDD45683F}"/>
                </a:ext>
              </a:extLst>
            </p:cNvPr>
            <p:cNvSpPr>
              <a:spLocks noChangeAspect="1"/>
            </p:cNvSpPr>
            <p:nvPr/>
          </p:nvSpPr>
          <p:spPr>
            <a:xfrm rot="6483601">
              <a:off x="2491140" y="238515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grpSp>
        <p:nvGrpSpPr>
          <p:cNvPr id="164" name="Groupe 163">
            <a:extLst>
              <a:ext uri="{FF2B5EF4-FFF2-40B4-BE49-F238E27FC236}">
                <a16:creationId xmlns:a16="http://schemas.microsoft.com/office/drawing/2014/main" id="{08721958-87FE-4A4D-99A8-E09BFDC35825}"/>
              </a:ext>
            </a:extLst>
          </p:cNvPr>
          <p:cNvGrpSpPr/>
          <p:nvPr/>
        </p:nvGrpSpPr>
        <p:grpSpPr>
          <a:xfrm rot="2357537">
            <a:off x="1353680" y="1125959"/>
            <a:ext cx="1728000" cy="1323000"/>
            <a:chOff x="1234543" y="1844447"/>
            <a:chExt cx="2304000" cy="1764000"/>
          </a:xfrm>
        </p:grpSpPr>
        <p:cxnSp>
          <p:nvCxnSpPr>
            <p:cNvPr id="161" name="Connecteur droit 160">
              <a:extLst>
                <a:ext uri="{FF2B5EF4-FFF2-40B4-BE49-F238E27FC236}">
                  <a16:creationId xmlns:a16="http://schemas.microsoft.com/office/drawing/2014/main" id="{88176B52-3E96-4953-8055-78B5990F49FE}"/>
                </a:ext>
              </a:extLst>
            </p:cNvPr>
            <p:cNvCxnSpPr/>
            <p:nvPr/>
          </p:nvCxnSpPr>
          <p:spPr>
            <a:xfrm>
              <a:off x="1234543" y="3405178"/>
              <a:ext cx="2304000"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2" name="Connecteur droit 161">
              <a:extLst>
                <a:ext uri="{FF2B5EF4-FFF2-40B4-BE49-F238E27FC236}">
                  <a16:creationId xmlns:a16="http://schemas.microsoft.com/office/drawing/2014/main" id="{8E3D8C69-E523-47F0-A507-66E261B36175}"/>
                </a:ext>
              </a:extLst>
            </p:cNvPr>
            <p:cNvCxnSpPr>
              <a:cxnSpLocks/>
            </p:cNvCxnSpPr>
            <p:nvPr/>
          </p:nvCxnSpPr>
          <p:spPr>
            <a:xfrm rot="16200000">
              <a:off x="1836942" y="2726447"/>
              <a:ext cx="1764000" cy="0"/>
            </a:xfrm>
            <a:prstGeom prst="line">
              <a:avLst/>
            </a:prstGeom>
            <a:ln/>
          </p:spPr>
          <p:style>
            <a:lnRef idx="2">
              <a:schemeClr val="accent2"/>
            </a:lnRef>
            <a:fillRef idx="0">
              <a:schemeClr val="accent2"/>
            </a:fillRef>
            <a:effectRef idx="1">
              <a:schemeClr val="accent2"/>
            </a:effectRef>
            <a:fontRef idx="minor">
              <a:schemeClr val="tx1"/>
            </a:fontRef>
          </p:style>
        </p:cxnSp>
        <p:sp>
          <p:nvSpPr>
            <p:cNvPr id="163" name="Rectangle 162">
              <a:extLst>
                <a:ext uri="{FF2B5EF4-FFF2-40B4-BE49-F238E27FC236}">
                  <a16:creationId xmlns:a16="http://schemas.microsoft.com/office/drawing/2014/main" id="{E9D8645E-D779-4076-B3C7-8155FDBC2DBD}"/>
                </a:ext>
              </a:extLst>
            </p:cNvPr>
            <p:cNvSpPr/>
            <p:nvPr/>
          </p:nvSpPr>
          <p:spPr>
            <a:xfrm>
              <a:off x="2720209" y="3333159"/>
              <a:ext cx="72000" cy="720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cxnSp>
        <p:nvCxnSpPr>
          <p:cNvPr id="166" name="Connecteur droit 165">
            <a:extLst>
              <a:ext uri="{FF2B5EF4-FFF2-40B4-BE49-F238E27FC236}">
                <a16:creationId xmlns:a16="http://schemas.microsoft.com/office/drawing/2014/main" id="{D0B665AA-3B78-4048-A066-BAC33992E3CE}"/>
              </a:ext>
            </a:extLst>
          </p:cNvPr>
          <p:cNvCxnSpPr>
            <a:cxnSpLocks/>
            <a:stCxn id="167" idx="1"/>
            <a:endCxn id="113" idx="4"/>
          </p:cNvCxnSpPr>
          <p:nvPr/>
        </p:nvCxnSpPr>
        <p:spPr>
          <a:xfrm flipV="1">
            <a:off x="2478306" y="2360337"/>
            <a:ext cx="217331" cy="280299"/>
          </a:xfrm>
          <a:prstGeom prst="line">
            <a:avLst/>
          </a:prstGeom>
          <a:ln w="63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67" name="Rectangle 166">
            <a:extLst>
              <a:ext uri="{FF2B5EF4-FFF2-40B4-BE49-F238E27FC236}">
                <a16:creationId xmlns:a16="http://schemas.microsoft.com/office/drawing/2014/main" id="{A176464D-F3DD-4222-B367-6F33320B1CE8}"/>
              </a:ext>
            </a:extLst>
          </p:cNvPr>
          <p:cNvSpPr/>
          <p:nvPr/>
        </p:nvSpPr>
        <p:spPr>
          <a:xfrm rot="2357537">
            <a:off x="2475254" y="2635685"/>
            <a:ext cx="27000" cy="27000"/>
          </a:xfrm>
          <a:prstGeom prst="rect">
            <a:avLst/>
          </a:prstGeom>
          <a:solidFill>
            <a:srgbClr val="FF0000"/>
          </a:solidFill>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350" dirty="0"/>
          </a:p>
        </p:txBody>
      </p:sp>
      <mc:AlternateContent xmlns:mc="http://schemas.openxmlformats.org/markup-compatibility/2006" xmlns:a14="http://schemas.microsoft.com/office/drawing/2010/main">
        <mc:Choice Requires="a14">
          <p:sp>
            <p:nvSpPr>
              <p:cNvPr id="171" name="ZoneTexte 170">
                <a:extLst>
                  <a:ext uri="{FF2B5EF4-FFF2-40B4-BE49-F238E27FC236}">
                    <a16:creationId xmlns:a16="http://schemas.microsoft.com/office/drawing/2014/main" id="{8A58723F-7AFB-4244-8D25-2B4B224FBB2B}"/>
                  </a:ext>
                </a:extLst>
              </p:cNvPr>
              <p:cNvSpPr txBox="1"/>
              <p:nvPr/>
            </p:nvSpPr>
            <p:spPr>
              <a:xfrm>
                <a:off x="1058622" y="1459930"/>
                <a:ext cx="274189" cy="219291"/>
              </a:xfrm>
              <a:prstGeom prst="rect">
                <a:avLst/>
              </a:prstGeom>
              <a:noFill/>
            </p:spPr>
            <p:txBody>
              <a:bodyPr wrap="square" rtlCol="0">
                <a:spAutoFit/>
              </a:bodyPr>
              <a:lstStyle>
                <a:defPPr>
                  <a:defRPr lang="en-US"/>
                </a:defPPr>
                <a:lvl1pPr>
                  <a:defRPr sz="11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fr-FR" sz="825">
                          <a:solidFill>
                            <a:srgbClr val="FF0000"/>
                          </a:solidFill>
                          <a:latin typeface="Cambria Math" panose="02040503050406030204" pitchFamily="18" charset="0"/>
                        </a:rPr>
                        <m:t>𝑐𝑝</m:t>
                      </m:r>
                      <m:r>
                        <a:rPr lang="fr-FR" sz="825">
                          <a:solidFill>
                            <a:srgbClr val="FF0000"/>
                          </a:solidFill>
                          <a:latin typeface="Cambria Math" panose="02040503050406030204" pitchFamily="18" charset="0"/>
                        </a:rPr>
                        <m:t>1</m:t>
                      </m:r>
                    </m:oMath>
                  </m:oMathPara>
                </a14:m>
                <a:endParaRPr lang="fr-FR" sz="825" dirty="0">
                  <a:solidFill>
                    <a:srgbClr val="FF0000"/>
                  </a:solidFill>
                </a:endParaRPr>
              </a:p>
            </p:txBody>
          </p:sp>
        </mc:Choice>
        <mc:Fallback xmlns="">
          <p:sp>
            <p:nvSpPr>
              <p:cNvPr id="171" name="ZoneTexte 170">
                <a:extLst>
                  <a:ext uri="{FF2B5EF4-FFF2-40B4-BE49-F238E27FC236}">
                    <a16:creationId xmlns:a16="http://schemas.microsoft.com/office/drawing/2014/main" id="{8A58723F-7AFB-4244-8D25-2B4B224FBB2B}"/>
                  </a:ext>
                </a:extLst>
              </p:cNvPr>
              <p:cNvSpPr txBox="1">
                <a:spLocks noRot="1" noChangeAspect="1" noMove="1" noResize="1" noEditPoints="1" noAdjustHandles="1" noChangeArrowheads="1" noChangeShapeType="1" noTextEdit="1"/>
              </p:cNvSpPr>
              <p:nvPr/>
            </p:nvSpPr>
            <p:spPr>
              <a:xfrm>
                <a:off x="1058622" y="1459930"/>
                <a:ext cx="274189" cy="219291"/>
              </a:xfrm>
              <a:prstGeom prst="rect">
                <a:avLst/>
              </a:prstGeom>
              <a:blipFill>
                <a:blip r:embed="rId5"/>
                <a:stretch>
                  <a:fillRect r="-8889" b="-2778"/>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73" name="ZoneTexte 172">
                <a:extLst>
                  <a:ext uri="{FF2B5EF4-FFF2-40B4-BE49-F238E27FC236}">
                    <a16:creationId xmlns:a16="http://schemas.microsoft.com/office/drawing/2014/main" id="{54435100-0599-4969-8A79-590EAA4CAE28}"/>
                  </a:ext>
                </a:extLst>
              </p:cNvPr>
              <p:cNvSpPr txBox="1"/>
              <p:nvPr/>
            </p:nvSpPr>
            <p:spPr>
              <a:xfrm>
                <a:off x="2742210" y="1430821"/>
                <a:ext cx="274189" cy="219291"/>
              </a:xfrm>
              <a:prstGeom prst="rect">
                <a:avLst/>
              </a:prstGeom>
              <a:noFill/>
            </p:spPr>
            <p:txBody>
              <a:bodyPr wrap="square" rtlCol="0">
                <a:spAutoFit/>
              </a:bodyPr>
              <a:lstStyle>
                <a:defPPr>
                  <a:defRPr lang="en-US"/>
                </a:defPPr>
                <a:lvl1pPr>
                  <a:defRPr sz="11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fr-FR" sz="825">
                          <a:solidFill>
                            <a:srgbClr val="014067"/>
                          </a:solidFill>
                          <a:latin typeface="Cambria Math" panose="02040503050406030204" pitchFamily="18" charset="0"/>
                        </a:rPr>
                        <m:t>𝑐𝑝</m:t>
                      </m:r>
                      <m:r>
                        <a:rPr lang="fr-FR" sz="825">
                          <a:solidFill>
                            <a:srgbClr val="014067"/>
                          </a:solidFill>
                          <a:latin typeface="Cambria Math" panose="02040503050406030204" pitchFamily="18" charset="0"/>
                        </a:rPr>
                        <m:t>2</m:t>
                      </m:r>
                    </m:oMath>
                  </m:oMathPara>
                </a14:m>
                <a:endParaRPr lang="fr-FR" sz="825" dirty="0">
                  <a:solidFill>
                    <a:srgbClr val="014067"/>
                  </a:solidFill>
                </a:endParaRPr>
              </a:p>
            </p:txBody>
          </p:sp>
        </mc:Choice>
        <mc:Fallback xmlns="">
          <p:sp>
            <p:nvSpPr>
              <p:cNvPr id="173" name="ZoneTexte 172">
                <a:extLst>
                  <a:ext uri="{FF2B5EF4-FFF2-40B4-BE49-F238E27FC236}">
                    <a16:creationId xmlns:a16="http://schemas.microsoft.com/office/drawing/2014/main" id="{54435100-0599-4969-8A79-590EAA4CAE28}"/>
                  </a:ext>
                </a:extLst>
              </p:cNvPr>
              <p:cNvSpPr txBox="1">
                <a:spLocks noRot="1" noChangeAspect="1" noMove="1" noResize="1" noEditPoints="1" noAdjustHandles="1" noChangeArrowheads="1" noChangeShapeType="1" noTextEdit="1"/>
              </p:cNvSpPr>
              <p:nvPr/>
            </p:nvSpPr>
            <p:spPr>
              <a:xfrm>
                <a:off x="2742210" y="1430821"/>
                <a:ext cx="274189" cy="219291"/>
              </a:xfrm>
              <a:prstGeom prst="rect">
                <a:avLst/>
              </a:prstGeom>
              <a:blipFill>
                <a:blip r:embed="rId6"/>
                <a:stretch>
                  <a:fillRect r="-8889"/>
                </a:stretch>
              </a:blipFill>
            </p:spPr>
            <p:txBody>
              <a:bodyPr/>
              <a:lstStyle/>
              <a:p>
                <a:r>
                  <a:rPr lang="fr-FR">
                    <a:noFill/>
                  </a:rPr>
                  <a:t> </a:t>
                </a:r>
              </a:p>
            </p:txBody>
          </p:sp>
        </mc:Fallback>
      </mc:AlternateContent>
      <p:grpSp>
        <p:nvGrpSpPr>
          <p:cNvPr id="215" name="Groupe 214">
            <a:extLst>
              <a:ext uri="{FF2B5EF4-FFF2-40B4-BE49-F238E27FC236}">
                <a16:creationId xmlns:a16="http://schemas.microsoft.com/office/drawing/2014/main" id="{0D18D924-91DF-446E-840A-9BABFF551FF9}"/>
              </a:ext>
            </a:extLst>
          </p:cNvPr>
          <p:cNvGrpSpPr/>
          <p:nvPr/>
        </p:nvGrpSpPr>
        <p:grpSpPr>
          <a:xfrm>
            <a:off x="3477880" y="1359192"/>
            <a:ext cx="2948183" cy="2310617"/>
            <a:chOff x="576157" y="1798537"/>
            <a:chExt cx="3930910" cy="3080822"/>
          </a:xfrm>
        </p:grpSpPr>
        <p:sp>
          <p:nvSpPr>
            <p:cNvPr id="216" name="ZoneTexte 215">
              <a:extLst>
                <a:ext uri="{FF2B5EF4-FFF2-40B4-BE49-F238E27FC236}">
                  <a16:creationId xmlns:a16="http://schemas.microsoft.com/office/drawing/2014/main" id="{8D5D6426-2C04-44AE-A3BA-F4B5327A8942}"/>
                </a:ext>
              </a:extLst>
            </p:cNvPr>
            <p:cNvSpPr txBox="1"/>
            <p:nvPr/>
          </p:nvSpPr>
          <p:spPr>
            <a:xfrm>
              <a:off x="1381388" y="4489438"/>
              <a:ext cx="336000" cy="307776"/>
            </a:xfrm>
            <a:prstGeom prst="rect">
              <a:avLst/>
            </a:prstGeom>
            <a:noFill/>
          </p:spPr>
          <p:txBody>
            <a:bodyPr wrap="square" rtlCol="0">
              <a:spAutoFit/>
            </a:bodyPr>
            <a:lstStyle/>
            <a:p>
              <a:r>
                <a:rPr lang="fr-FR" sz="450" dirty="0"/>
                <a:t>-3</a:t>
              </a:r>
            </a:p>
          </p:txBody>
        </p:sp>
        <p:sp>
          <p:nvSpPr>
            <p:cNvPr id="217" name="ZoneTexte 216">
              <a:extLst>
                <a:ext uri="{FF2B5EF4-FFF2-40B4-BE49-F238E27FC236}">
                  <a16:creationId xmlns:a16="http://schemas.microsoft.com/office/drawing/2014/main" id="{BC41D21C-16DF-4637-B08D-1298B67A7CFF}"/>
                </a:ext>
              </a:extLst>
            </p:cNvPr>
            <p:cNvSpPr txBox="1"/>
            <p:nvPr/>
          </p:nvSpPr>
          <p:spPr>
            <a:xfrm>
              <a:off x="1797875" y="4489438"/>
              <a:ext cx="336000" cy="307776"/>
            </a:xfrm>
            <a:prstGeom prst="rect">
              <a:avLst/>
            </a:prstGeom>
            <a:noFill/>
          </p:spPr>
          <p:txBody>
            <a:bodyPr wrap="square" rtlCol="0">
              <a:spAutoFit/>
            </a:bodyPr>
            <a:lstStyle/>
            <a:p>
              <a:r>
                <a:rPr lang="fr-FR" sz="450" dirty="0"/>
                <a:t>-2</a:t>
              </a:r>
            </a:p>
          </p:txBody>
        </p:sp>
        <p:sp>
          <p:nvSpPr>
            <p:cNvPr id="218" name="ZoneTexte 217">
              <a:extLst>
                <a:ext uri="{FF2B5EF4-FFF2-40B4-BE49-F238E27FC236}">
                  <a16:creationId xmlns:a16="http://schemas.microsoft.com/office/drawing/2014/main" id="{FC044990-6BCF-4022-BCF1-3D03F2B3C6FB}"/>
                </a:ext>
              </a:extLst>
            </p:cNvPr>
            <p:cNvSpPr txBox="1"/>
            <p:nvPr/>
          </p:nvSpPr>
          <p:spPr>
            <a:xfrm>
              <a:off x="2223727" y="4488972"/>
              <a:ext cx="336000" cy="307776"/>
            </a:xfrm>
            <a:prstGeom prst="rect">
              <a:avLst/>
            </a:prstGeom>
            <a:noFill/>
          </p:spPr>
          <p:txBody>
            <a:bodyPr wrap="square" rtlCol="0">
              <a:spAutoFit/>
            </a:bodyPr>
            <a:lstStyle/>
            <a:p>
              <a:r>
                <a:rPr lang="fr-FR" sz="450" dirty="0"/>
                <a:t>-1</a:t>
              </a:r>
            </a:p>
          </p:txBody>
        </p:sp>
        <p:grpSp>
          <p:nvGrpSpPr>
            <p:cNvPr id="219" name="Groupe 218">
              <a:extLst>
                <a:ext uri="{FF2B5EF4-FFF2-40B4-BE49-F238E27FC236}">
                  <a16:creationId xmlns:a16="http://schemas.microsoft.com/office/drawing/2014/main" id="{24AAF12B-92EB-4A5A-B865-7EBDE61AB5E5}"/>
                </a:ext>
              </a:extLst>
            </p:cNvPr>
            <p:cNvGrpSpPr/>
            <p:nvPr/>
          </p:nvGrpSpPr>
          <p:grpSpPr>
            <a:xfrm>
              <a:off x="576157" y="1798537"/>
              <a:ext cx="3930910" cy="3080822"/>
              <a:chOff x="576157" y="1798537"/>
              <a:chExt cx="3930910" cy="3080822"/>
            </a:xfrm>
          </p:grpSpPr>
          <p:grpSp>
            <p:nvGrpSpPr>
              <p:cNvPr id="220" name="Groupe 219">
                <a:extLst>
                  <a:ext uri="{FF2B5EF4-FFF2-40B4-BE49-F238E27FC236}">
                    <a16:creationId xmlns:a16="http://schemas.microsoft.com/office/drawing/2014/main" id="{A3570594-72A5-4186-8EF7-AD41192B86E9}"/>
                  </a:ext>
                </a:extLst>
              </p:cNvPr>
              <p:cNvGrpSpPr/>
              <p:nvPr/>
            </p:nvGrpSpPr>
            <p:grpSpPr>
              <a:xfrm>
                <a:off x="779241" y="1798537"/>
                <a:ext cx="3727826" cy="2899656"/>
                <a:chOff x="779241" y="1798537"/>
                <a:chExt cx="3727826" cy="2899656"/>
              </a:xfrm>
            </p:grpSpPr>
            <p:grpSp>
              <p:nvGrpSpPr>
                <p:cNvPr id="223" name="Groupe 222">
                  <a:extLst>
                    <a:ext uri="{FF2B5EF4-FFF2-40B4-BE49-F238E27FC236}">
                      <a16:creationId xmlns:a16="http://schemas.microsoft.com/office/drawing/2014/main" id="{3B89FFCE-1B01-4AF5-B9C4-8D3839625F9C}"/>
                    </a:ext>
                  </a:extLst>
                </p:cNvPr>
                <p:cNvGrpSpPr/>
                <p:nvPr/>
              </p:nvGrpSpPr>
              <p:grpSpPr>
                <a:xfrm>
                  <a:off x="1054190" y="1798537"/>
                  <a:ext cx="3452877" cy="2637982"/>
                  <a:chOff x="1054190" y="1798537"/>
                  <a:chExt cx="3452877" cy="2637982"/>
                </a:xfrm>
              </p:grpSpPr>
              <p:sp>
                <p:nvSpPr>
                  <p:cNvPr id="233" name="Rectangle 232">
                    <a:extLst>
                      <a:ext uri="{FF2B5EF4-FFF2-40B4-BE49-F238E27FC236}">
                        <a16:creationId xmlns:a16="http://schemas.microsoft.com/office/drawing/2014/main" id="{2806A4D1-7D3A-4CB8-A261-E08DD5CDDEF2}"/>
                      </a:ext>
                    </a:extLst>
                  </p:cNvPr>
                  <p:cNvSpPr/>
                  <p:nvPr/>
                </p:nvSpPr>
                <p:spPr>
                  <a:xfrm>
                    <a:off x="1099248" y="1837195"/>
                    <a:ext cx="3371353" cy="2560320"/>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cxnSp>
                <p:nvCxnSpPr>
                  <p:cNvPr id="234" name="Connecteur droit 233">
                    <a:extLst>
                      <a:ext uri="{FF2B5EF4-FFF2-40B4-BE49-F238E27FC236}">
                        <a16:creationId xmlns:a16="http://schemas.microsoft.com/office/drawing/2014/main" id="{E066BE79-AB80-40CA-97B3-E676700DED98}"/>
                      </a:ext>
                    </a:extLst>
                  </p:cNvPr>
                  <p:cNvCxnSpPr>
                    <a:stCxn id="233" idx="1"/>
                    <a:endCxn id="233" idx="3"/>
                  </p:cNvCxnSpPr>
                  <p:nvPr/>
                </p:nvCxnSpPr>
                <p:spPr>
                  <a:xfrm>
                    <a:off x="1099248" y="3117355"/>
                    <a:ext cx="3371353"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235" name="Connecteur droit 234">
                    <a:extLst>
                      <a:ext uri="{FF2B5EF4-FFF2-40B4-BE49-F238E27FC236}">
                        <a16:creationId xmlns:a16="http://schemas.microsoft.com/office/drawing/2014/main" id="{3C15DE02-6E72-406E-939B-789B543AE796}"/>
                      </a:ext>
                    </a:extLst>
                  </p:cNvPr>
                  <p:cNvCxnSpPr/>
                  <p:nvPr/>
                </p:nvCxnSpPr>
                <p:spPr>
                  <a:xfrm>
                    <a:off x="1060816" y="2191026"/>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6" name="Connecteur droit 235">
                    <a:extLst>
                      <a:ext uri="{FF2B5EF4-FFF2-40B4-BE49-F238E27FC236}">
                        <a16:creationId xmlns:a16="http://schemas.microsoft.com/office/drawing/2014/main" id="{3ECE97FD-0557-43C5-9544-ECAF48463537}"/>
                      </a:ext>
                    </a:extLst>
                  </p:cNvPr>
                  <p:cNvCxnSpPr/>
                  <p:nvPr/>
                </p:nvCxnSpPr>
                <p:spPr>
                  <a:xfrm>
                    <a:off x="1060816" y="2652203"/>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7" name="Connecteur droit 236">
                    <a:extLst>
                      <a:ext uri="{FF2B5EF4-FFF2-40B4-BE49-F238E27FC236}">
                        <a16:creationId xmlns:a16="http://schemas.microsoft.com/office/drawing/2014/main" id="{BDA8A4D3-03CD-44AD-B03A-D490D19E129B}"/>
                      </a:ext>
                    </a:extLst>
                  </p:cNvPr>
                  <p:cNvCxnSpPr/>
                  <p:nvPr/>
                </p:nvCxnSpPr>
                <p:spPr>
                  <a:xfrm>
                    <a:off x="4435066" y="2192355"/>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8" name="Connecteur droit 237">
                    <a:extLst>
                      <a:ext uri="{FF2B5EF4-FFF2-40B4-BE49-F238E27FC236}">
                        <a16:creationId xmlns:a16="http://schemas.microsoft.com/office/drawing/2014/main" id="{3FCB2CB1-A164-47B4-94A2-0CD13AC20915}"/>
                      </a:ext>
                    </a:extLst>
                  </p:cNvPr>
                  <p:cNvCxnSpPr/>
                  <p:nvPr/>
                </p:nvCxnSpPr>
                <p:spPr>
                  <a:xfrm>
                    <a:off x="4435066" y="2653532"/>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9" name="Connecteur droit 238">
                    <a:extLst>
                      <a:ext uri="{FF2B5EF4-FFF2-40B4-BE49-F238E27FC236}">
                        <a16:creationId xmlns:a16="http://schemas.microsoft.com/office/drawing/2014/main" id="{C77ABBB4-5B7A-48BE-B938-77C222E2429A}"/>
                      </a:ext>
                    </a:extLst>
                  </p:cNvPr>
                  <p:cNvCxnSpPr/>
                  <p:nvPr/>
                </p:nvCxnSpPr>
                <p:spPr>
                  <a:xfrm>
                    <a:off x="4435067" y="3567927"/>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0" name="Connecteur droit 239">
                    <a:extLst>
                      <a:ext uri="{FF2B5EF4-FFF2-40B4-BE49-F238E27FC236}">
                        <a16:creationId xmlns:a16="http://schemas.microsoft.com/office/drawing/2014/main" id="{FC62EDEF-F96C-4CC1-9951-CCF7B2E75ABD}"/>
                      </a:ext>
                    </a:extLst>
                  </p:cNvPr>
                  <p:cNvCxnSpPr/>
                  <p:nvPr/>
                </p:nvCxnSpPr>
                <p:spPr>
                  <a:xfrm>
                    <a:off x="4433492" y="4029104"/>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1" name="Connecteur droit 240">
                    <a:extLst>
                      <a:ext uri="{FF2B5EF4-FFF2-40B4-BE49-F238E27FC236}">
                        <a16:creationId xmlns:a16="http://schemas.microsoft.com/office/drawing/2014/main" id="{283AA123-E41D-4E4D-9F8F-2E2F27F52A46}"/>
                      </a:ext>
                    </a:extLst>
                  </p:cNvPr>
                  <p:cNvCxnSpPr/>
                  <p:nvPr/>
                </p:nvCxnSpPr>
                <p:spPr>
                  <a:xfrm>
                    <a:off x="1054190" y="3567927"/>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2" name="Connecteur droit 241">
                    <a:extLst>
                      <a:ext uri="{FF2B5EF4-FFF2-40B4-BE49-F238E27FC236}">
                        <a16:creationId xmlns:a16="http://schemas.microsoft.com/office/drawing/2014/main" id="{5DEA40BC-863B-4EE6-B086-D550E33C87BF}"/>
                      </a:ext>
                    </a:extLst>
                  </p:cNvPr>
                  <p:cNvCxnSpPr/>
                  <p:nvPr/>
                </p:nvCxnSpPr>
                <p:spPr>
                  <a:xfrm>
                    <a:off x="1062141" y="4029104"/>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3" name="Connecteur droit 242">
                    <a:extLst>
                      <a:ext uri="{FF2B5EF4-FFF2-40B4-BE49-F238E27FC236}">
                        <a16:creationId xmlns:a16="http://schemas.microsoft.com/office/drawing/2014/main" id="{0CC7E23C-8EBA-4A30-898C-DB1049B7D4B0}"/>
                      </a:ext>
                    </a:extLst>
                  </p:cNvPr>
                  <p:cNvCxnSpPr>
                    <a:cxnSpLocks/>
                  </p:cNvCxnSpPr>
                  <p:nvPr/>
                </p:nvCxnSpPr>
                <p:spPr>
                  <a:xfrm rot="16200000">
                    <a:off x="1462893" y="1834537"/>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4" name="Connecteur droit 243">
                    <a:extLst>
                      <a:ext uri="{FF2B5EF4-FFF2-40B4-BE49-F238E27FC236}">
                        <a16:creationId xmlns:a16="http://schemas.microsoft.com/office/drawing/2014/main" id="{5AD00602-BA11-49C3-9531-26193B36DC91}"/>
                      </a:ext>
                    </a:extLst>
                  </p:cNvPr>
                  <p:cNvCxnSpPr>
                    <a:cxnSpLocks/>
                  </p:cNvCxnSpPr>
                  <p:nvPr/>
                </p:nvCxnSpPr>
                <p:spPr>
                  <a:xfrm rot="16200000">
                    <a:off x="1882448" y="1842239"/>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5" name="Connecteur droit 244">
                    <a:extLst>
                      <a:ext uri="{FF2B5EF4-FFF2-40B4-BE49-F238E27FC236}">
                        <a16:creationId xmlns:a16="http://schemas.microsoft.com/office/drawing/2014/main" id="{D69397CA-C8E9-4346-B826-88C0AC197202}"/>
                      </a:ext>
                    </a:extLst>
                  </p:cNvPr>
                  <p:cNvCxnSpPr>
                    <a:cxnSpLocks/>
                  </p:cNvCxnSpPr>
                  <p:nvPr/>
                </p:nvCxnSpPr>
                <p:spPr>
                  <a:xfrm rot="16200000">
                    <a:off x="2304988" y="1838476"/>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Connecteur droit 245">
                    <a:extLst>
                      <a:ext uri="{FF2B5EF4-FFF2-40B4-BE49-F238E27FC236}">
                        <a16:creationId xmlns:a16="http://schemas.microsoft.com/office/drawing/2014/main" id="{2A5B9D29-0E59-417B-98B9-6B852E677CF7}"/>
                      </a:ext>
                    </a:extLst>
                  </p:cNvPr>
                  <p:cNvCxnSpPr>
                    <a:cxnSpLocks/>
                  </p:cNvCxnSpPr>
                  <p:nvPr/>
                </p:nvCxnSpPr>
                <p:spPr>
                  <a:xfrm rot="16200000">
                    <a:off x="3174496" y="1847789"/>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7" name="Connecteur droit 246">
                    <a:extLst>
                      <a:ext uri="{FF2B5EF4-FFF2-40B4-BE49-F238E27FC236}">
                        <a16:creationId xmlns:a16="http://schemas.microsoft.com/office/drawing/2014/main" id="{5F2AE81B-99AB-4F7D-A8FA-13A2E6801CA5}"/>
                      </a:ext>
                    </a:extLst>
                  </p:cNvPr>
                  <p:cNvCxnSpPr>
                    <a:cxnSpLocks/>
                  </p:cNvCxnSpPr>
                  <p:nvPr/>
                </p:nvCxnSpPr>
                <p:spPr>
                  <a:xfrm rot="16200000">
                    <a:off x="3590985" y="1842740"/>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8" name="Connecteur droit 247">
                    <a:extLst>
                      <a:ext uri="{FF2B5EF4-FFF2-40B4-BE49-F238E27FC236}">
                        <a16:creationId xmlns:a16="http://schemas.microsoft.com/office/drawing/2014/main" id="{5E7D9E10-DDB8-4A6B-BDC1-BDADE9ED37BB}"/>
                      </a:ext>
                    </a:extLst>
                  </p:cNvPr>
                  <p:cNvCxnSpPr>
                    <a:cxnSpLocks/>
                  </p:cNvCxnSpPr>
                  <p:nvPr/>
                </p:nvCxnSpPr>
                <p:spPr>
                  <a:xfrm rot="16200000">
                    <a:off x="4016837" y="1840871"/>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9" name="Connecteur droit 248">
                    <a:extLst>
                      <a:ext uri="{FF2B5EF4-FFF2-40B4-BE49-F238E27FC236}">
                        <a16:creationId xmlns:a16="http://schemas.microsoft.com/office/drawing/2014/main" id="{D2E27A3D-3625-4548-A4E9-3DC1242193CE}"/>
                      </a:ext>
                    </a:extLst>
                  </p:cNvPr>
                  <p:cNvCxnSpPr>
                    <a:cxnSpLocks/>
                  </p:cNvCxnSpPr>
                  <p:nvPr/>
                </p:nvCxnSpPr>
                <p:spPr>
                  <a:xfrm rot="16200000">
                    <a:off x="1462884" y="4387267"/>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0" name="Connecteur droit 249">
                    <a:extLst>
                      <a:ext uri="{FF2B5EF4-FFF2-40B4-BE49-F238E27FC236}">
                        <a16:creationId xmlns:a16="http://schemas.microsoft.com/office/drawing/2014/main" id="{67D3AE27-5D5D-4AEA-A405-4AB8760B5972}"/>
                      </a:ext>
                    </a:extLst>
                  </p:cNvPr>
                  <p:cNvCxnSpPr>
                    <a:cxnSpLocks/>
                  </p:cNvCxnSpPr>
                  <p:nvPr/>
                </p:nvCxnSpPr>
                <p:spPr>
                  <a:xfrm rot="16200000">
                    <a:off x="1882439" y="4394969"/>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1" name="Connecteur droit 250">
                    <a:extLst>
                      <a:ext uri="{FF2B5EF4-FFF2-40B4-BE49-F238E27FC236}">
                        <a16:creationId xmlns:a16="http://schemas.microsoft.com/office/drawing/2014/main" id="{754C3189-2AC1-4E6B-AF0F-DE4DB74146CE}"/>
                      </a:ext>
                    </a:extLst>
                  </p:cNvPr>
                  <p:cNvCxnSpPr>
                    <a:cxnSpLocks/>
                  </p:cNvCxnSpPr>
                  <p:nvPr/>
                </p:nvCxnSpPr>
                <p:spPr>
                  <a:xfrm rot="16200000">
                    <a:off x="2304979" y="4391206"/>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2" name="Connecteur droit 251">
                    <a:extLst>
                      <a:ext uri="{FF2B5EF4-FFF2-40B4-BE49-F238E27FC236}">
                        <a16:creationId xmlns:a16="http://schemas.microsoft.com/office/drawing/2014/main" id="{D9E9FAD8-DB57-43F8-944F-2A9DCDB8A00D}"/>
                      </a:ext>
                    </a:extLst>
                  </p:cNvPr>
                  <p:cNvCxnSpPr>
                    <a:cxnSpLocks/>
                  </p:cNvCxnSpPr>
                  <p:nvPr/>
                </p:nvCxnSpPr>
                <p:spPr>
                  <a:xfrm rot="16200000">
                    <a:off x="3174487" y="4400519"/>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3" name="Connecteur droit 252">
                    <a:extLst>
                      <a:ext uri="{FF2B5EF4-FFF2-40B4-BE49-F238E27FC236}">
                        <a16:creationId xmlns:a16="http://schemas.microsoft.com/office/drawing/2014/main" id="{91678951-7439-46F8-8B8A-EE4879F1236D}"/>
                      </a:ext>
                    </a:extLst>
                  </p:cNvPr>
                  <p:cNvCxnSpPr>
                    <a:cxnSpLocks/>
                  </p:cNvCxnSpPr>
                  <p:nvPr/>
                </p:nvCxnSpPr>
                <p:spPr>
                  <a:xfrm rot="16200000">
                    <a:off x="3590976" y="4395470"/>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4" name="Connecteur droit 253">
                    <a:extLst>
                      <a:ext uri="{FF2B5EF4-FFF2-40B4-BE49-F238E27FC236}">
                        <a16:creationId xmlns:a16="http://schemas.microsoft.com/office/drawing/2014/main" id="{B61979EA-A416-4BB7-A46D-3FA4193B35A2}"/>
                      </a:ext>
                    </a:extLst>
                  </p:cNvPr>
                  <p:cNvCxnSpPr>
                    <a:cxnSpLocks/>
                  </p:cNvCxnSpPr>
                  <p:nvPr/>
                </p:nvCxnSpPr>
                <p:spPr>
                  <a:xfrm rot="16200000">
                    <a:off x="4016828" y="4393601"/>
                    <a:ext cx="7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5" name="Connecteur droit 254">
                    <a:extLst>
                      <a:ext uri="{FF2B5EF4-FFF2-40B4-BE49-F238E27FC236}">
                        <a16:creationId xmlns:a16="http://schemas.microsoft.com/office/drawing/2014/main" id="{73C26D7B-D6BE-4B4A-A0AC-0BC3D0960AFE}"/>
                      </a:ext>
                    </a:extLst>
                  </p:cNvPr>
                  <p:cNvCxnSpPr>
                    <a:cxnSpLocks/>
                  </p:cNvCxnSpPr>
                  <p:nvPr/>
                </p:nvCxnSpPr>
                <p:spPr>
                  <a:xfrm>
                    <a:off x="2784925" y="1837195"/>
                    <a:ext cx="0" cy="2560320"/>
                  </a:xfrm>
                  <a:prstGeom prst="line">
                    <a:avLst/>
                  </a:prstGeom>
                  <a:ln w="9525"/>
                </p:spPr>
                <p:style>
                  <a:lnRef idx="1">
                    <a:schemeClr val="accent1"/>
                  </a:lnRef>
                  <a:fillRef idx="0">
                    <a:schemeClr val="accent1"/>
                  </a:fillRef>
                  <a:effectRef idx="0">
                    <a:schemeClr val="accent1"/>
                  </a:effectRef>
                  <a:fontRef idx="minor">
                    <a:schemeClr val="tx1"/>
                  </a:fontRef>
                </p:style>
              </p:cxnSp>
            </p:grpSp>
            <p:sp>
              <p:nvSpPr>
                <p:cNvPr id="224" name="ZoneTexte 223">
                  <a:extLst>
                    <a:ext uri="{FF2B5EF4-FFF2-40B4-BE49-F238E27FC236}">
                      <a16:creationId xmlns:a16="http://schemas.microsoft.com/office/drawing/2014/main" id="{B60FCF9F-91DC-4F97-BC23-4144D7EC34AA}"/>
                    </a:ext>
                  </a:extLst>
                </p:cNvPr>
                <p:cNvSpPr txBox="1"/>
                <p:nvPr/>
              </p:nvSpPr>
              <p:spPr>
                <a:xfrm>
                  <a:off x="2677199" y="4482749"/>
                  <a:ext cx="215451" cy="215444"/>
                </a:xfrm>
                <a:prstGeom prst="rect">
                  <a:avLst/>
                </a:prstGeom>
                <a:noFill/>
              </p:spPr>
              <p:txBody>
                <a:bodyPr wrap="square" rtlCol="0">
                  <a:spAutoFit/>
                </a:bodyPr>
                <a:lstStyle/>
                <a:p>
                  <a:r>
                    <a:rPr lang="fr-FR" sz="450" dirty="0"/>
                    <a:t>0</a:t>
                  </a:r>
                </a:p>
              </p:txBody>
            </p:sp>
            <p:sp>
              <p:nvSpPr>
                <p:cNvPr id="225" name="ZoneTexte 224">
                  <a:extLst>
                    <a:ext uri="{FF2B5EF4-FFF2-40B4-BE49-F238E27FC236}">
                      <a16:creationId xmlns:a16="http://schemas.microsoft.com/office/drawing/2014/main" id="{642B7CBD-8681-496B-B0B6-DADB260B77CD}"/>
                    </a:ext>
                  </a:extLst>
                </p:cNvPr>
                <p:cNvSpPr txBox="1"/>
                <p:nvPr/>
              </p:nvSpPr>
              <p:spPr>
                <a:xfrm>
                  <a:off x="780432" y="3025022"/>
                  <a:ext cx="215451" cy="215444"/>
                </a:xfrm>
                <a:prstGeom prst="rect">
                  <a:avLst/>
                </a:prstGeom>
                <a:noFill/>
              </p:spPr>
              <p:txBody>
                <a:bodyPr wrap="square" rtlCol="0">
                  <a:spAutoFit/>
                </a:bodyPr>
                <a:lstStyle/>
                <a:p>
                  <a:r>
                    <a:rPr lang="fr-FR" sz="450" dirty="0"/>
                    <a:t>0</a:t>
                  </a:r>
                </a:p>
              </p:txBody>
            </p:sp>
            <p:sp>
              <p:nvSpPr>
                <p:cNvPr id="226" name="ZoneTexte 225">
                  <a:extLst>
                    <a:ext uri="{FF2B5EF4-FFF2-40B4-BE49-F238E27FC236}">
                      <a16:creationId xmlns:a16="http://schemas.microsoft.com/office/drawing/2014/main" id="{CCD5B011-2FA5-40A3-BBAC-7F9B94A0A665}"/>
                    </a:ext>
                  </a:extLst>
                </p:cNvPr>
                <p:cNvSpPr txBox="1"/>
                <p:nvPr/>
              </p:nvSpPr>
              <p:spPr>
                <a:xfrm>
                  <a:off x="3102762" y="4482749"/>
                  <a:ext cx="215451" cy="215444"/>
                </a:xfrm>
                <a:prstGeom prst="rect">
                  <a:avLst/>
                </a:prstGeom>
                <a:noFill/>
              </p:spPr>
              <p:txBody>
                <a:bodyPr wrap="square" rtlCol="0">
                  <a:spAutoFit/>
                </a:bodyPr>
                <a:lstStyle/>
                <a:p>
                  <a:r>
                    <a:rPr lang="fr-FR" sz="450" dirty="0"/>
                    <a:t>1</a:t>
                  </a:r>
                </a:p>
              </p:txBody>
            </p:sp>
            <p:sp>
              <p:nvSpPr>
                <p:cNvPr id="227" name="ZoneTexte 226">
                  <a:extLst>
                    <a:ext uri="{FF2B5EF4-FFF2-40B4-BE49-F238E27FC236}">
                      <a16:creationId xmlns:a16="http://schemas.microsoft.com/office/drawing/2014/main" id="{249B7392-BD81-4EEE-9442-A8C58EAF1928}"/>
                    </a:ext>
                  </a:extLst>
                </p:cNvPr>
                <p:cNvSpPr txBox="1"/>
                <p:nvPr/>
              </p:nvSpPr>
              <p:spPr>
                <a:xfrm>
                  <a:off x="3519251" y="4482749"/>
                  <a:ext cx="215451" cy="215444"/>
                </a:xfrm>
                <a:prstGeom prst="rect">
                  <a:avLst/>
                </a:prstGeom>
                <a:noFill/>
              </p:spPr>
              <p:txBody>
                <a:bodyPr wrap="square" rtlCol="0">
                  <a:spAutoFit/>
                </a:bodyPr>
                <a:lstStyle/>
                <a:p>
                  <a:r>
                    <a:rPr lang="fr-FR" sz="450" dirty="0"/>
                    <a:t>2</a:t>
                  </a:r>
                </a:p>
              </p:txBody>
            </p:sp>
            <p:sp>
              <p:nvSpPr>
                <p:cNvPr id="228" name="ZoneTexte 227">
                  <a:extLst>
                    <a:ext uri="{FF2B5EF4-FFF2-40B4-BE49-F238E27FC236}">
                      <a16:creationId xmlns:a16="http://schemas.microsoft.com/office/drawing/2014/main" id="{49D7CD63-D010-4DC3-A6F9-84A775EA7A26}"/>
                    </a:ext>
                  </a:extLst>
                </p:cNvPr>
                <p:cNvSpPr txBox="1"/>
                <p:nvPr/>
              </p:nvSpPr>
              <p:spPr>
                <a:xfrm>
                  <a:off x="3945103" y="4482284"/>
                  <a:ext cx="215451" cy="215444"/>
                </a:xfrm>
                <a:prstGeom prst="rect">
                  <a:avLst/>
                </a:prstGeom>
                <a:noFill/>
              </p:spPr>
              <p:txBody>
                <a:bodyPr wrap="square" rtlCol="0">
                  <a:spAutoFit/>
                </a:bodyPr>
                <a:lstStyle/>
                <a:p>
                  <a:r>
                    <a:rPr lang="fr-FR" sz="450" dirty="0"/>
                    <a:t>3</a:t>
                  </a:r>
                </a:p>
              </p:txBody>
            </p:sp>
            <p:sp>
              <p:nvSpPr>
                <p:cNvPr id="229" name="ZoneTexte 228">
                  <a:extLst>
                    <a:ext uri="{FF2B5EF4-FFF2-40B4-BE49-F238E27FC236}">
                      <a16:creationId xmlns:a16="http://schemas.microsoft.com/office/drawing/2014/main" id="{8985C1A3-B253-499A-BFCC-326D094EE096}"/>
                    </a:ext>
                  </a:extLst>
                </p:cNvPr>
                <p:cNvSpPr txBox="1"/>
                <p:nvPr/>
              </p:nvSpPr>
              <p:spPr>
                <a:xfrm>
                  <a:off x="779241" y="2559870"/>
                  <a:ext cx="215451" cy="215444"/>
                </a:xfrm>
                <a:prstGeom prst="rect">
                  <a:avLst/>
                </a:prstGeom>
                <a:noFill/>
              </p:spPr>
              <p:txBody>
                <a:bodyPr wrap="square" rtlCol="0">
                  <a:spAutoFit/>
                </a:bodyPr>
                <a:lstStyle/>
                <a:p>
                  <a:r>
                    <a:rPr lang="fr-FR" sz="450" dirty="0"/>
                    <a:t>1</a:t>
                  </a:r>
                </a:p>
              </p:txBody>
            </p:sp>
            <p:sp>
              <p:nvSpPr>
                <p:cNvPr id="230" name="ZoneTexte 229">
                  <a:extLst>
                    <a:ext uri="{FF2B5EF4-FFF2-40B4-BE49-F238E27FC236}">
                      <a16:creationId xmlns:a16="http://schemas.microsoft.com/office/drawing/2014/main" id="{AACB3794-0770-4A63-909B-F4E0EAABE8DD}"/>
                    </a:ext>
                  </a:extLst>
                </p:cNvPr>
                <p:cNvSpPr txBox="1"/>
                <p:nvPr/>
              </p:nvSpPr>
              <p:spPr>
                <a:xfrm>
                  <a:off x="783204" y="2094718"/>
                  <a:ext cx="215451" cy="215444"/>
                </a:xfrm>
                <a:prstGeom prst="rect">
                  <a:avLst/>
                </a:prstGeom>
                <a:noFill/>
              </p:spPr>
              <p:txBody>
                <a:bodyPr wrap="square" rtlCol="0">
                  <a:spAutoFit/>
                </a:bodyPr>
                <a:lstStyle/>
                <a:p>
                  <a:r>
                    <a:rPr lang="fr-FR" sz="450" dirty="0"/>
                    <a:t>2</a:t>
                  </a:r>
                </a:p>
              </p:txBody>
            </p:sp>
            <p:sp>
              <p:nvSpPr>
                <p:cNvPr id="231" name="ZoneTexte 230">
                  <a:extLst>
                    <a:ext uri="{FF2B5EF4-FFF2-40B4-BE49-F238E27FC236}">
                      <a16:creationId xmlns:a16="http://schemas.microsoft.com/office/drawing/2014/main" id="{352A463D-AC38-4F1D-8DFF-EDF19E72019B}"/>
                    </a:ext>
                  </a:extLst>
                </p:cNvPr>
                <p:cNvSpPr txBox="1"/>
                <p:nvPr/>
              </p:nvSpPr>
              <p:spPr>
                <a:xfrm>
                  <a:off x="779241" y="3475594"/>
                  <a:ext cx="336000" cy="307776"/>
                </a:xfrm>
                <a:prstGeom prst="rect">
                  <a:avLst/>
                </a:prstGeom>
                <a:noFill/>
              </p:spPr>
              <p:txBody>
                <a:bodyPr wrap="square" rtlCol="0">
                  <a:spAutoFit/>
                </a:bodyPr>
                <a:lstStyle/>
                <a:p>
                  <a:r>
                    <a:rPr lang="fr-FR" sz="450" dirty="0"/>
                    <a:t>-1</a:t>
                  </a:r>
                </a:p>
              </p:txBody>
            </p:sp>
            <p:sp>
              <p:nvSpPr>
                <p:cNvPr id="232" name="ZoneTexte 231">
                  <a:extLst>
                    <a:ext uri="{FF2B5EF4-FFF2-40B4-BE49-F238E27FC236}">
                      <a16:creationId xmlns:a16="http://schemas.microsoft.com/office/drawing/2014/main" id="{67F0247E-E779-4594-B489-2033AF553F9D}"/>
                    </a:ext>
                  </a:extLst>
                </p:cNvPr>
                <p:cNvSpPr txBox="1"/>
                <p:nvPr/>
              </p:nvSpPr>
              <p:spPr>
                <a:xfrm>
                  <a:off x="788094" y="3936772"/>
                  <a:ext cx="336000" cy="307776"/>
                </a:xfrm>
                <a:prstGeom prst="rect">
                  <a:avLst/>
                </a:prstGeom>
                <a:noFill/>
              </p:spPr>
              <p:txBody>
                <a:bodyPr wrap="square" rtlCol="0">
                  <a:spAutoFit/>
                </a:bodyPr>
                <a:lstStyle/>
                <a:p>
                  <a:r>
                    <a:rPr lang="fr-FR" sz="450" dirty="0"/>
                    <a:t>-2</a:t>
                  </a:r>
                </a:p>
              </p:txBody>
            </p:sp>
          </p:grpSp>
          <mc:AlternateContent xmlns:mc="http://schemas.openxmlformats.org/markup-compatibility/2006" xmlns:a14="http://schemas.microsoft.com/office/drawing/2010/main">
            <mc:Choice Requires="a14">
              <p:sp>
                <p:nvSpPr>
                  <p:cNvPr id="221" name="ZoneTexte 220">
                    <a:extLst>
                      <a:ext uri="{FF2B5EF4-FFF2-40B4-BE49-F238E27FC236}">
                        <a16:creationId xmlns:a16="http://schemas.microsoft.com/office/drawing/2014/main" id="{6BFC4CE0-951E-4BED-A172-D9C752831F78}"/>
                      </a:ext>
                    </a:extLst>
                  </p:cNvPr>
                  <p:cNvSpPr txBox="1"/>
                  <p:nvPr/>
                </p:nvSpPr>
                <p:spPr>
                  <a:xfrm>
                    <a:off x="2640217" y="4586971"/>
                    <a:ext cx="280315" cy="292388"/>
                  </a:xfrm>
                  <a:prstGeom prst="rect">
                    <a:avLst/>
                  </a:prstGeom>
                  <a:noFill/>
                </p:spPr>
                <p:txBody>
                  <a:bodyPr wrap="square" rtlCol="0">
                    <a:spAutoFit/>
                  </a:bodyPr>
                  <a:lstStyle>
                    <a:defPPr>
                      <a:defRPr lang="en-US"/>
                    </a:defPPr>
                    <a:lvl1pPr>
                      <a:defRPr sz="11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fr-FR" sz="825">
                              <a:latin typeface="Cambria Math" panose="02040503050406030204" pitchFamily="18" charset="0"/>
                            </a:rPr>
                            <m:t>𝑥</m:t>
                          </m:r>
                        </m:oMath>
                      </m:oMathPara>
                    </a14:m>
                    <a:endParaRPr lang="fr-FR" sz="825" dirty="0"/>
                  </a:p>
                </p:txBody>
              </p:sp>
            </mc:Choice>
            <mc:Fallback xmlns="">
              <p:sp>
                <p:nvSpPr>
                  <p:cNvPr id="221" name="ZoneTexte 220">
                    <a:extLst>
                      <a:ext uri="{FF2B5EF4-FFF2-40B4-BE49-F238E27FC236}">
                        <a16:creationId xmlns:a16="http://schemas.microsoft.com/office/drawing/2014/main" id="{6BFC4CE0-951E-4BED-A172-D9C752831F78}"/>
                      </a:ext>
                    </a:extLst>
                  </p:cNvPr>
                  <p:cNvSpPr txBox="1">
                    <a:spLocks noRot="1" noChangeAspect="1" noMove="1" noResize="1" noEditPoints="1" noAdjustHandles="1" noChangeArrowheads="1" noChangeShapeType="1" noTextEdit="1"/>
                  </p:cNvSpPr>
                  <p:nvPr/>
                </p:nvSpPr>
                <p:spPr>
                  <a:xfrm>
                    <a:off x="2640217" y="4586971"/>
                    <a:ext cx="280315" cy="292388"/>
                  </a:xfrm>
                  <a:prstGeom prst="rect">
                    <a:avLst/>
                  </a:prstGeom>
                  <a:blipFill>
                    <a:blip r:embed="rId7"/>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22" name="ZoneTexte 221">
                    <a:extLst>
                      <a:ext uri="{FF2B5EF4-FFF2-40B4-BE49-F238E27FC236}">
                        <a16:creationId xmlns:a16="http://schemas.microsoft.com/office/drawing/2014/main" id="{DCD22123-EFF2-44BB-8D8D-50D10225C182}"/>
                      </a:ext>
                    </a:extLst>
                  </p:cNvPr>
                  <p:cNvSpPr txBox="1"/>
                  <p:nvPr/>
                </p:nvSpPr>
                <p:spPr>
                  <a:xfrm>
                    <a:off x="576157" y="2979259"/>
                    <a:ext cx="280315" cy="2923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25" i="1" dirty="0">
                              <a:latin typeface="Cambria Math" panose="02040503050406030204" pitchFamily="18" charset="0"/>
                            </a:rPr>
                            <m:t>𝑦</m:t>
                          </m:r>
                        </m:oMath>
                      </m:oMathPara>
                    </a14:m>
                    <a:endParaRPr lang="fr-FR" sz="825" dirty="0"/>
                  </a:p>
                </p:txBody>
              </p:sp>
            </mc:Choice>
            <mc:Fallback xmlns="">
              <p:sp>
                <p:nvSpPr>
                  <p:cNvPr id="222" name="ZoneTexte 221">
                    <a:extLst>
                      <a:ext uri="{FF2B5EF4-FFF2-40B4-BE49-F238E27FC236}">
                        <a16:creationId xmlns:a16="http://schemas.microsoft.com/office/drawing/2014/main" id="{DCD22123-EFF2-44BB-8D8D-50D10225C182}"/>
                      </a:ext>
                    </a:extLst>
                  </p:cNvPr>
                  <p:cNvSpPr txBox="1">
                    <a:spLocks noRot="1" noChangeAspect="1" noMove="1" noResize="1" noEditPoints="1" noAdjustHandles="1" noChangeArrowheads="1" noChangeShapeType="1" noTextEdit="1"/>
                  </p:cNvSpPr>
                  <p:nvPr/>
                </p:nvSpPr>
                <p:spPr>
                  <a:xfrm>
                    <a:off x="576157" y="2979259"/>
                    <a:ext cx="280315" cy="292388"/>
                  </a:xfrm>
                  <a:prstGeom prst="rect">
                    <a:avLst/>
                  </a:prstGeom>
                  <a:blipFill>
                    <a:blip r:embed="rId4"/>
                    <a:stretch>
                      <a:fillRect/>
                    </a:stretch>
                  </a:blipFill>
                </p:spPr>
                <p:txBody>
                  <a:bodyPr/>
                  <a:lstStyle/>
                  <a:p>
                    <a:r>
                      <a:rPr lang="fr-FR">
                        <a:noFill/>
                      </a:rPr>
                      <a:t> </a:t>
                    </a:r>
                  </a:p>
                </p:txBody>
              </p:sp>
            </mc:Fallback>
          </mc:AlternateContent>
        </p:grpSp>
      </p:grpSp>
      <p:grpSp>
        <p:nvGrpSpPr>
          <p:cNvPr id="256" name="Groupe 255">
            <a:extLst>
              <a:ext uri="{FF2B5EF4-FFF2-40B4-BE49-F238E27FC236}">
                <a16:creationId xmlns:a16="http://schemas.microsoft.com/office/drawing/2014/main" id="{37A06308-712A-40AF-9502-B279ABBF5F97}"/>
              </a:ext>
            </a:extLst>
          </p:cNvPr>
          <p:cNvGrpSpPr/>
          <p:nvPr/>
        </p:nvGrpSpPr>
        <p:grpSpPr>
          <a:xfrm rot="-13800000">
            <a:off x="4045824" y="1572563"/>
            <a:ext cx="2069074" cy="1433121"/>
            <a:chOff x="1276706" y="2331522"/>
            <a:chExt cx="2758765" cy="1910828"/>
          </a:xfrm>
        </p:grpSpPr>
        <p:sp>
          <p:nvSpPr>
            <p:cNvPr id="257" name="Organigramme : Connecteur 256">
              <a:extLst>
                <a:ext uri="{FF2B5EF4-FFF2-40B4-BE49-F238E27FC236}">
                  <a16:creationId xmlns:a16="http://schemas.microsoft.com/office/drawing/2014/main" id="{735C1478-4430-4F1D-B231-6C48622D0B66}"/>
                </a:ext>
              </a:extLst>
            </p:cNvPr>
            <p:cNvSpPr>
              <a:spLocks noChangeAspect="1"/>
            </p:cNvSpPr>
            <p:nvPr/>
          </p:nvSpPr>
          <p:spPr>
            <a:xfrm>
              <a:off x="2680074" y="252297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58" name="Organigramme : Connecteur 257">
              <a:extLst>
                <a:ext uri="{FF2B5EF4-FFF2-40B4-BE49-F238E27FC236}">
                  <a16:creationId xmlns:a16="http://schemas.microsoft.com/office/drawing/2014/main" id="{72C13847-5556-4A07-8833-F0BAF9E33A23}"/>
                </a:ext>
              </a:extLst>
            </p:cNvPr>
            <p:cNvSpPr>
              <a:spLocks noChangeAspect="1"/>
            </p:cNvSpPr>
            <p:nvPr/>
          </p:nvSpPr>
          <p:spPr>
            <a:xfrm>
              <a:off x="2101623" y="293889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59" name="Organigramme : Connecteur 258">
              <a:extLst>
                <a:ext uri="{FF2B5EF4-FFF2-40B4-BE49-F238E27FC236}">
                  <a16:creationId xmlns:a16="http://schemas.microsoft.com/office/drawing/2014/main" id="{BD673EF7-70A6-4A71-A5F2-A70581B6BCBD}"/>
                </a:ext>
              </a:extLst>
            </p:cNvPr>
            <p:cNvSpPr>
              <a:spLocks noChangeAspect="1"/>
            </p:cNvSpPr>
            <p:nvPr/>
          </p:nvSpPr>
          <p:spPr>
            <a:xfrm>
              <a:off x="2748550" y="297337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60" name="Organigramme : Connecteur 259">
              <a:extLst>
                <a:ext uri="{FF2B5EF4-FFF2-40B4-BE49-F238E27FC236}">
                  <a16:creationId xmlns:a16="http://schemas.microsoft.com/office/drawing/2014/main" id="{0F6583F2-66A2-4727-A097-0A0319A2A3A9}"/>
                </a:ext>
              </a:extLst>
            </p:cNvPr>
            <p:cNvSpPr>
              <a:spLocks noChangeAspect="1"/>
            </p:cNvSpPr>
            <p:nvPr/>
          </p:nvSpPr>
          <p:spPr>
            <a:xfrm>
              <a:off x="1276706" y="3367078"/>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61" name="Organigramme : Connecteur 260">
              <a:extLst>
                <a:ext uri="{FF2B5EF4-FFF2-40B4-BE49-F238E27FC236}">
                  <a16:creationId xmlns:a16="http://schemas.microsoft.com/office/drawing/2014/main" id="{25BB56BD-7487-40FF-B74C-6471973F4706}"/>
                </a:ext>
              </a:extLst>
            </p:cNvPr>
            <p:cNvSpPr>
              <a:spLocks noChangeAspect="1"/>
            </p:cNvSpPr>
            <p:nvPr/>
          </p:nvSpPr>
          <p:spPr>
            <a:xfrm>
              <a:off x="1516941" y="359143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62" name="Organigramme : Connecteur 261">
              <a:extLst>
                <a:ext uri="{FF2B5EF4-FFF2-40B4-BE49-F238E27FC236}">
                  <a16:creationId xmlns:a16="http://schemas.microsoft.com/office/drawing/2014/main" id="{F508352C-4AE8-4A5E-A58C-A1BED8BA2851}"/>
                </a:ext>
              </a:extLst>
            </p:cNvPr>
            <p:cNvSpPr>
              <a:spLocks noChangeAspect="1"/>
            </p:cNvSpPr>
            <p:nvPr/>
          </p:nvSpPr>
          <p:spPr>
            <a:xfrm>
              <a:off x="2115728" y="355811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63" name="Organigramme : Connecteur 262">
              <a:extLst>
                <a:ext uri="{FF2B5EF4-FFF2-40B4-BE49-F238E27FC236}">
                  <a16:creationId xmlns:a16="http://schemas.microsoft.com/office/drawing/2014/main" id="{BFCE005D-71FD-4EB7-B31A-CEDE17AB6FD6}"/>
                </a:ext>
              </a:extLst>
            </p:cNvPr>
            <p:cNvSpPr>
              <a:spLocks noChangeAspect="1"/>
            </p:cNvSpPr>
            <p:nvPr/>
          </p:nvSpPr>
          <p:spPr>
            <a:xfrm rot="7820797">
              <a:off x="2344937" y="258983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64" name="Organigramme : Connecteur 263">
              <a:extLst>
                <a:ext uri="{FF2B5EF4-FFF2-40B4-BE49-F238E27FC236}">
                  <a16:creationId xmlns:a16="http://schemas.microsoft.com/office/drawing/2014/main" id="{6D68AAEA-FA3C-43E1-8665-9535624226D3}"/>
                </a:ext>
              </a:extLst>
            </p:cNvPr>
            <p:cNvSpPr>
              <a:spLocks noChangeAspect="1"/>
            </p:cNvSpPr>
            <p:nvPr/>
          </p:nvSpPr>
          <p:spPr>
            <a:xfrm>
              <a:off x="1890483" y="333005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65" name="Organigramme : Connecteur 264">
              <a:extLst>
                <a:ext uri="{FF2B5EF4-FFF2-40B4-BE49-F238E27FC236}">
                  <a16:creationId xmlns:a16="http://schemas.microsoft.com/office/drawing/2014/main" id="{8234C0AA-365A-403A-86F0-D2538C631E55}"/>
                </a:ext>
              </a:extLst>
            </p:cNvPr>
            <p:cNvSpPr>
              <a:spLocks noChangeAspect="1"/>
            </p:cNvSpPr>
            <p:nvPr/>
          </p:nvSpPr>
          <p:spPr>
            <a:xfrm>
              <a:off x="2547324" y="3146207"/>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66" name="Organigramme : Connecteur 265">
              <a:extLst>
                <a:ext uri="{FF2B5EF4-FFF2-40B4-BE49-F238E27FC236}">
                  <a16:creationId xmlns:a16="http://schemas.microsoft.com/office/drawing/2014/main" id="{06368022-E707-4B00-A9F1-6A8F012E4A49}"/>
                </a:ext>
              </a:extLst>
            </p:cNvPr>
            <p:cNvSpPr>
              <a:spLocks noChangeAspect="1"/>
            </p:cNvSpPr>
            <p:nvPr/>
          </p:nvSpPr>
          <p:spPr>
            <a:xfrm>
              <a:off x="2322263" y="303365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67" name="Organigramme : Connecteur 266">
              <a:extLst>
                <a:ext uri="{FF2B5EF4-FFF2-40B4-BE49-F238E27FC236}">
                  <a16:creationId xmlns:a16="http://schemas.microsoft.com/office/drawing/2014/main" id="{07876F73-73F0-4495-8A5A-BE0823278FC2}"/>
                </a:ext>
              </a:extLst>
            </p:cNvPr>
            <p:cNvSpPr>
              <a:spLocks noChangeAspect="1"/>
            </p:cNvSpPr>
            <p:nvPr/>
          </p:nvSpPr>
          <p:spPr>
            <a:xfrm>
              <a:off x="2154185" y="3175771"/>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68" name="Organigramme : Connecteur 267">
              <a:extLst>
                <a:ext uri="{FF2B5EF4-FFF2-40B4-BE49-F238E27FC236}">
                  <a16:creationId xmlns:a16="http://schemas.microsoft.com/office/drawing/2014/main" id="{554C3055-6026-4743-BDB4-1B3275AE8E59}"/>
                </a:ext>
              </a:extLst>
            </p:cNvPr>
            <p:cNvSpPr>
              <a:spLocks noChangeAspect="1"/>
            </p:cNvSpPr>
            <p:nvPr/>
          </p:nvSpPr>
          <p:spPr>
            <a:xfrm>
              <a:off x="3396540" y="2439137"/>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69" name="Organigramme : Connecteur 268">
              <a:extLst>
                <a:ext uri="{FF2B5EF4-FFF2-40B4-BE49-F238E27FC236}">
                  <a16:creationId xmlns:a16="http://schemas.microsoft.com/office/drawing/2014/main" id="{8D057A1C-0E35-4738-AF25-3DF2632FEF73}"/>
                </a:ext>
              </a:extLst>
            </p:cNvPr>
            <p:cNvSpPr>
              <a:spLocks noChangeAspect="1"/>
            </p:cNvSpPr>
            <p:nvPr/>
          </p:nvSpPr>
          <p:spPr>
            <a:xfrm>
              <a:off x="2818089" y="285505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70" name="Organigramme : Connecteur 269">
              <a:extLst>
                <a:ext uri="{FF2B5EF4-FFF2-40B4-BE49-F238E27FC236}">
                  <a16:creationId xmlns:a16="http://schemas.microsoft.com/office/drawing/2014/main" id="{2F965296-C0FB-47E2-A735-BB3B2D44AE24}"/>
                </a:ext>
              </a:extLst>
            </p:cNvPr>
            <p:cNvSpPr>
              <a:spLocks noChangeAspect="1"/>
            </p:cNvSpPr>
            <p:nvPr/>
          </p:nvSpPr>
          <p:spPr>
            <a:xfrm>
              <a:off x="3465016" y="288954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71" name="Organigramme : Connecteur 270">
              <a:extLst>
                <a:ext uri="{FF2B5EF4-FFF2-40B4-BE49-F238E27FC236}">
                  <a16:creationId xmlns:a16="http://schemas.microsoft.com/office/drawing/2014/main" id="{C53FD113-8FCE-461C-BE77-40CFF00F29CF}"/>
                </a:ext>
              </a:extLst>
            </p:cNvPr>
            <p:cNvSpPr>
              <a:spLocks noChangeAspect="1"/>
            </p:cNvSpPr>
            <p:nvPr/>
          </p:nvSpPr>
          <p:spPr>
            <a:xfrm>
              <a:off x="2600461" y="312377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72" name="Organigramme : Connecteur 271">
              <a:extLst>
                <a:ext uri="{FF2B5EF4-FFF2-40B4-BE49-F238E27FC236}">
                  <a16:creationId xmlns:a16="http://schemas.microsoft.com/office/drawing/2014/main" id="{B3A44CA6-CFAF-4340-B4EC-2739C74A7CE8}"/>
                </a:ext>
              </a:extLst>
            </p:cNvPr>
            <p:cNvSpPr>
              <a:spLocks noChangeAspect="1"/>
            </p:cNvSpPr>
            <p:nvPr/>
          </p:nvSpPr>
          <p:spPr>
            <a:xfrm>
              <a:off x="2736154" y="317851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73" name="Organigramme : Connecteur 272">
              <a:extLst>
                <a:ext uri="{FF2B5EF4-FFF2-40B4-BE49-F238E27FC236}">
                  <a16:creationId xmlns:a16="http://schemas.microsoft.com/office/drawing/2014/main" id="{08379CB1-563E-45F7-A001-DDDCD75B3734}"/>
                </a:ext>
              </a:extLst>
            </p:cNvPr>
            <p:cNvSpPr>
              <a:spLocks noChangeAspect="1"/>
            </p:cNvSpPr>
            <p:nvPr/>
          </p:nvSpPr>
          <p:spPr>
            <a:xfrm>
              <a:off x="2832194" y="336132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74" name="Organigramme : Connecteur 273">
              <a:extLst>
                <a:ext uri="{FF2B5EF4-FFF2-40B4-BE49-F238E27FC236}">
                  <a16:creationId xmlns:a16="http://schemas.microsoft.com/office/drawing/2014/main" id="{E6B79FC0-5903-4398-AFF0-8473A0EA2A98}"/>
                </a:ext>
              </a:extLst>
            </p:cNvPr>
            <p:cNvSpPr>
              <a:spLocks noChangeAspect="1"/>
            </p:cNvSpPr>
            <p:nvPr/>
          </p:nvSpPr>
          <p:spPr>
            <a:xfrm rot="7820797">
              <a:off x="3061403" y="250599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75" name="Organigramme : Connecteur 274">
              <a:extLst>
                <a:ext uri="{FF2B5EF4-FFF2-40B4-BE49-F238E27FC236}">
                  <a16:creationId xmlns:a16="http://schemas.microsoft.com/office/drawing/2014/main" id="{1C883692-8342-418C-9FEB-E974A3D4AD4D}"/>
                </a:ext>
              </a:extLst>
            </p:cNvPr>
            <p:cNvSpPr>
              <a:spLocks noChangeAspect="1"/>
            </p:cNvSpPr>
            <p:nvPr/>
          </p:nvSpPr>
          <p:spPr>
            <a:xfrm>
              <a:off x="2778194" y="300542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76" name="Organigramme : Connecteur 275">
              <a:extLst>
                <a:ext uri="{FF2B5EF4-FFF2-40B4-BE49-F238E27FC236}">
                  <a16:creationId xmlns:a16="http://schemas.microsoft.com/office/drawing/2014/main" id="{E3CD669C-9DDE-4E6E-B129-25FC7BF4189C}"/>
                </a:ext>
              </a:extLst>
            </p:cNvPr>
            <p:cNvSpPr>
              <a:spLocks noChangeAspect="1"/>
            </p:cNvSpPr>
            <p:nvPr/>
          </p:nvSpPr>
          <p:spPr>
            <a:xfrm>
              <a:off x="3263790" y="3062368"/>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77" name="Organigramme : Connecteur 276">
              <a:extLst>
                <a:ext uri="{FF2B5EF4-FFF2-40B4-BE49-F238E27FC236}">
                  <a16:creationId xmlns:a16="http://schemas.microsoft.com/office/drawing/2014/main" id="{EAE90D1F-CA9C-4F87-A507-F9394817A164}"/>
                </a:ext>
              </a:extLst>
            </p:cNvPr>
            <p:cNvSpPr>
              <a:spLocks noChangeAspect="1"/>
            </p:cNvSpPr>
            <p:nvPr/>
          </p:nvSpPr>
          <p:spPr>
            <a:xfrm>
              <a:off x="3038729" y="2949811"/>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78" name="Organigramme : Connecteur 277">
              <a:extLst>
                <a:ext uri="{FF2B5EF4-FFF2-40B4-BE49-F238E27FC236}">
                  <a16:creationId xmlns:a16="http://schemas.microsoft.com/office/drawing/2014/main" id="{7C62334D-5149-43B3-B7A8-0A9201DE9F41}"/>
                </a:ext>
              </a:extLst>
            </p:cNvPr>
            <p:cNvSpPr>
              <a:spLocks noChangeAspect="1"/>
            </p:cNvSpPr>
            <p:nvPr/>
          </p:nvSpPr>
          <p:spPr>
            <a:xfrm>
              <a:off x="2885148" y="295290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79" name="Organigramme : Connecteur 278">
              <a:extLst>
                <a:ext uri="{FF2B5EF4-FFF2-40B4-BE49-F238E27FC236}">
                  <a16:creationId xmlns:a16="http://schemas.microsoft.com/office/drawing/2014/main" id="{E6C7E9CE-A833-43DB-AB0A-62B650BBBE2B}"/>
                </a:ext>
              </a:extLst>
            </p:cNvPr>
            <p:cNvSpPr>
              <a:spLocks noChangeAspect="1"/>
            </p:cNvSpPr>
            <p:nvPr/>
          </p:nvSpPr>
          <p:spPr>
            <a:xfrm rot="6483601">
              <a:off x="2976245" y="262554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80" name="Organigramme : Connecteur 279">
              <a:extLst>
                <a:ext uri="{FF2B5EF4-FFF2-40B4-BE49-F238E27FC236}">
                  <a16:creationId xmlns:a16="http://schemas.microsoft.com/office/drawing/2014/main" id="{DD762380-F788-4C39-9D71-30085F325EB6}"/>
                </a:ext>
              </a:extLst>
            </p:cNvPr>
            <p:cNvSpPr>
              <a:spLocks noChangeAspect="1"/>
            </p:cNvSpPr>
            <p:nvPr/>
          </p:nvSpPr>
          <p:spPr>
            <a:xfrm rot="6483601">
              <a:off x="2397794" y="304145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81" name="Organigramme : Connecteur 280">
              <a:extLst>
                <a:ext uri="{FF2B5EF4-FFF2-40B4-BE49-F238E27FC236}">
                  <a16:creationId xmlns:a16="http://schemas.microsoft.com/office/drawing/2014/main" id="{48D9066D-A5E7-4B58-8177-D299FB2641C9}"/>
                </a:ext>
              </a:extLst>
            </p:cNvPr>
            <p:cNvSpPr>
              <a:spLocks noChangeAspect="1"/>
            </p:cNvSpPr>
            <p:nvPr/>
          </p:nvSpPr>
          <p:spPr>
            <a:xfrm rot="6483601">
              <a:off x="3044721" y="307594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82" name="Organigramme : Connecteur 281">
              <a:extLst>
                <a:ext uri="{FF2B5EF4-FFF2-40B4-BE49-F238E27FC236}">
                  <a16:creationId xmlns:a16="http://schemas.microsoft.com/office/drawing/2014/main" id="{A1B999A8-F9D2-4033-BC13-71776C3509E2}"/>
                </a:ext>
              </a:extLst>
            </p:cNvPr>
            <p:cNvSpPr>
              <a:spLocks noChangeAspect="1"/>
            </p:cNvSpPr>
            <p:nvPr/>
          </p:nvSpPr>
          <p:spPr>
            <a:xfrm rot="6483601">
              <a:off x="2180166" y="331018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83" name="Organigramme : Connecteur 282">
              <a:extLst>
                <a:ext uri="{FF2B5EF4-FFF2-40B4-BE49-F238E27FC236}">
                  <a16:creationId xmlns:a16="http://schemas.microsoft.com/office/drawing/2014/main" id="{AE926510-893D-4B53-9964-5F844A94EEEC}"/>
                </a:ext>
              </a:extLst>
            </p:cNvPr>
            <p:cNvSpPr>
              <a:spLocks noChangeAspect="1"/>
            </p:cNvSpPr>
            <p:nvPr/>
          </p:nvSpPr>
          <p:spPr>
            <a:xfrm rot="6483601">
              <a:off x="2315859" y="336491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84" name="Organigramme : Connecteur 283">
              <a:extLst>
                <a:ext uri="{FF2B5EF4-FFF2-40B4-BE49-F238E27FC236}">
                  <a16:creationId xmlns:a16="http://schemas.microsoft.com/office/drawing/2014/main" id="{CA520262-C16C-47C6-A9CA-742A3740D3D0}"/>
                </a:ext>
              </a:extLst>
            </p:cNvPr>
            <p:cNvSpPr>
              <a:spLocks noChangeAspect="1"/>
            </p:cNvSpPr>
            <p:nvPr/>
          </p:nvSpPr>
          <p:spPr>
            <a:xfrm rot="6483601">
              <a:off x="2411899" y="354772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85" name="Organigramme : Connecteur 284">
              <a:extLst>
                <a:ext uri="{FF2B5EF4-FFF2-40B4-BE49-F238E27FC236}">
                  <a16:creationId xmlns:a16="http://schemas.microsoft.com/office/drawing/2014/main" id="{B18DC060-16BC-4E57-9C32-F721F24BDD01}"/>
                </a:ext>
              </a:extLst>
            </p:cNvPr>
            <p:cNvSpPr>
              <a:spLocks noChangeAspect="1"/>
            </p:cNvSpPr>
            <p:nvPr/>
          </p:nvSpPr>
          <p:spPr>
            <a:xfrm rot="14304398">
              <a:off x="2641108" y="269239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86" name="Organigramme : Connecteur 285">
              <a:extLst>
                <a:ext uri="{FF2B5EF4-FFF2-40B4-BE49-F238E27FC236}">
                  <a16:creationId xmlns:a16="http://schemas.microsoft.com/office/drawing/2014/main" id="{F5E625CB-1178-47D0-BD93-D2D9003BB3A0}"/>
                </a:ext>
              </a:extLst>
            </p:cNvPr>
            <p:cNvSpPr>
              <a:spLocks noChangeAspect="1"/>
            </p:cNvSpPr>
            <p:nvPr/>
          </p:nvSpPr>
          <p:spPr>
            <a:xfrm rot="6483601">
              <a:off x="2357899" y="3191827"/>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87" name="Organigramme : Connecteur 286">
              <a:extLst>
                <a:ext uri="{FF2B5EF4-FFF2-40B4-BE49-F238E27FC236}">
                  <a16:creationId xmlns:a16="http://schemas.microsoft.com/office/drawing/2014/main" id="{05F54316-ACA1-4FD3-BA01-950F71222922}"/>
                </a:ext>
              </a:extLst>
            </p:cNvPr>
            <p:cNvSpPr>
              <a:spLocks noChangeAspect="1"/>
            </p:cNvSpPr>
            <p:nvPr/>
          </p:nvSpPr>
          <p:spPr>
            <a:xfrm rot="6483601">
              <a:off x="2843495" y="3248771"/>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88" name="Organigramme : Connecteur 287">
              <a:extLst>
                <a:ext uri="{FF2B5EF4-FFF2-40B4-BE49-F238E27FC236}">
                  <a16:creationId xmlns:a16="http://schemas.microsoft.com/office/drawing/2014/main" id="{064803F1-318F-42E6-A608-08F777BDD4A5}"/>
                </a:ext>
              </a:extLst>
            </p:cNvPr>
            <p:cNvSpPr>
              <a:spLocks noChangeAspect="1"/>
            </p:cNvSpPr>
            <p:nvPr/>
          </p:nvSpPr>
          <p:spPr>
            <a:xfrm rot="6483601">
              <a:off x="2618434" y="313621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89" name="Organigramme : Connecteur 288">
              <a:extLst>
                <a:ext uri="{FF2B5EF4-FFF2-40B4-BE49-F238E27FC236}">
                  <a16:creationId xmlns:a16="http://schemas.microsoft.com/office/drawing/2014/main" id="{6FD7C962-EAED-48D3-B2E5-96DBE041EF05}"/>
                </a:ext>
              </a:extLst>
            </p:cNvPr>
            <p:cNvSpPr>
              <a:spLocks noChangeAspect="1"/>
            </p:cNvSpPr>
            <p:nvPr/>
          </p:nvSpPr>
          <p:spPr>
            <a:xfrm rot="6483601">
              <a:off x="2464853" y="313930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90" name="Organigramme : Connecteur 289">
              <a:extLst>
                <a:ext uri="{FF2B5EF4-FFF2-40B4-BE49-F238E27FC236}">
                  <a16:creationId xmlns:a16="http://schemas.microsoft.com/office/drawing/2014/main" id="{9547BEE3-FD0E-4183-83B4-6A3058DD13FA}"/>
                </a:ext>
              </a:extLst>
            </p:cNvPr>
            <p:cNvSpPr>
              <a:spLocks noChangeAspect="1"/>
            </p:cNvSpPr>
            <p:nvPr/>
          </p:nvSpPr>
          <p:spPr>
            <a:xfrm rot="3422143">
              <a:off x="3926738" y="276007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91" name="Organigramme : Connecteur 290">
              <a:extLst>
                <a:ext uri="{FF2B5EF4-FFF2-40B4-BE49-F238E27FC236}">
                  <a16:creationId xmlns:a16="http://schemas.microsoft.com/office/drawing/2014/main" id="{C80724CE-B13E-4FD9-8701-F7C078BA01AA}"/>
                </a:ext>
              </a:extLst>
            </p:cNvPr>
            <p:cNvSpPr>
              <a:spLocks noChangeAspect="1"/>
            </p:cNvSpPr>
            <p:nvPr/>
          </p:nvSpPr>
          <p:spPr>
            <a:xfrm rot="3422143">
              <a:off x="3263035" y="250105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92" name="Organigramme : Connecteur 291">
              <a:extLst>
                <a:ext uri="{FF2B5EF4-FFF2-40B4-BE49-F238E27FC236}">
                  <a16:creationId xmlns:a16="http://schemas.microsoft.com/office/drawing/2014/main" id="{D79F26E2-500E-4768-A95E-92DE09ED2463}"/>
                </a:ext>
              </a:extLst>
            </p:cNvPr>
            <p:cNvSpPr>
              <a:spLocks noChangeAspect="1"/>
            </p:cNvSpPr>
            <p:nvPr/>
          </p:nvSpPr>
          <p:spPr>
            <a:xfrm rot="3422143">
              <a:off x="3586104" y="306260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93" name="Organigramme : Connecteur 292">
              <a:extLst>
                <a:ext uri="{FF2B5EF4-FFF2-40B4-BE49-F238E27FC236}">
                  <a16:creationId xmlns:a16="http://schemas.microsoft.com/office/drawing/2014/main" id="{168E432F-F1F1-410C-BCED-F0A75D508F09}"/>
                </a:ext>
              </a:extLst>
            </p:cNvPr>
            <p:cNvSpPr>
              <a:spLocks noChangeAspect="1"/>
            </p:cNvSpPr>
            <p:nvPr/>
          </p:nvSpPr>
          <p:spPr>
            <a:xfrm rot="3422143">
              <a:off x="2919157" y="246468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94" name="Organigramme : Connecteur 293">
              <a:extLst>
                <a:ext uri="{FF2B5EF4-FFF2-40B4-BE49-F238E27FC236}">
                  <a16:creationId xmlns:a16="http://schemas.microsoft.com/office/drawing/2014/main" id="{4A679172-CED2-45A7-A23C-81D81465F3B5}"/>
                </a:ext>
              </a:extLst>
            </p:cNvPr>
            <p:cNvSpPr>
              <a:spLocks noChangeAspect="1"/>
            </p:cNvSpPr>
            <p:nvPr/>
          </p:nvSpPr>
          <p:spPr>
            <a:xfrm rot="3422143">
              <a:off x="2947068" y="260831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95" name="Organigramme : Connecteur 294">
              <a:extLst>
                <a:ext uri="{FF2B5EF4-FFF2-40B4-BE49-F238E27FC236}">
                  <a16:creationId xmlns:a16="http://schemas.microsoft.com/office/drawing/2014/main" id="{6B52727B-8609-414D-A13D-04EA42495271}"/>
                </a:ext>
              </a:extLst>
            </p:cNvPr>
            <p:cNvSpPr>
              <a:spLocks noChangeAspect="1"/>
            </p:cNvSpPr>
            <p:nvPr/>
          </p:nvSpPr>
          <p:spPr>
            <a:xfrm rot="3422143">
              <a:off x="2845942" y="278836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96" name="Organigramme : Connecteur 295">
              <a:extLst>
                <a:ext uri="{FF2B5EF4-FFF2-40B4-BE49-F238E27FC236}">
                  <a16:creationId xmlns:a16="http://schemas.microsoft.com/office/drawing/2014/main" id="{2538B27B-EEC7-49E4-80AB-7C2066D0BEC3}"/>
                </a:ext>
              </a:extLst>
            </p:cNvPr>
            <p:cNvSpPr>
              <a:spLocks noChangeAspect="1"/>
            </p:cNvSpPr>
            <p:nvPr/>
          </p:nvSpPr>
          <p:spPr>
            <a:xfrm rot="11242940">
              <a:off x="3688289" y="251527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97" name="Organigramme : Connecteur 296">
              <a:extLst>
                <a:ext uri="{FF2B5EF4-FFF2-40B4-BE49-F238E27FC236}">
                  <a16:creationId xmlns:a16="http://schemas.microsoft.com/office/drawing/2014/main" id="{427E760D-AB6E-4B5D-8A21-F4AAEB0EB39A}"/>
                </a:ext>
              </a:extLst>
            </p:cNvPr>
            <p:cNvSpPr>
              <a:spLocks noChangeAspect="1"/>
            </p:cNvSpPr>
            <p:nvPr/>
          </p:nvSpPr>
          <p:spPr>
            <a:xfrm rot="3422143">
              <a:off x="3115165" y="254940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98" name="Organigramme : Connecteur 297">
              <a:extLst>
                <a:ext uri="{FF2B5EF4-FFF2-40B4-BE49-F238E27FC236}">
                  <a16:creationId xmlns:a16="http://schemas.microsoft.com/office/drawing/2014/main" id="{7D2A5B65-1151-4D0C-8343-1AC77FD7ACB0}"/>
                </a:ext>
              </a:extLst>
            </p:cNvPr>
            <p:cNvSpPr>
              <a:spLocks noChangeAspect="1"/>
            </p:cNvSpPr>
            <p:nvPr/>
          </p:nvSpPr>
          <p:spPr>
            <a:xfrm rot="3422143">
              <a:off x="3331609" y="298781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299" name="Organigramme : Connecteur 298">
              <a:extLst>
                <a:ext uri="{FF2B5EF4-FFF2-40B4-BE49-F238E27FC236}">
                  <a16:creationId xmlns:a16="http://schemas.microsoft.com/office/drawing/2014/main" id="{F7A6D128-5171-464F-95D2-F6399E9C5803}"/>
                </a:ext>
              </a:extLst>
            </p:cNvPr>
            <p:cNvSpPr>
              <a:spLocks noChangeAspect="1"/>
            </p:cNvSpPr>
            <p:nvPr/>
          </p:nvSpPr>
          <p:spPr>
            <a:xfrm rot="3422143">
              <a:off x="3303586" y="2737738"/>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00" name="Organigramme : Connecteur 299">
              <a:extLst>
                <a:ext uri="{FF2B5EF4-FFF2-40B4-BE49-F238E27FC236}">
                  <a16:creationId xmlns:a16="http://schemas.microsoft.com/office/drawing/2014/main" id="{3A39EDBF-F293-43E0-BCD0-078D1B7EE955}"/>
                </a:ext>
              </a:extLst>
            </p:cNvPr>
            <p:cNvSpPr>
              <a:spLocks noChangeAspect="1"/>
            </p:cNvSpPr>
            <p:nvPr/>
          </p:nvSpPr>
          <p:spPr>
            <a:xfrm rot="3422143">
              <a:off x="3217427" y="261056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01" name="Organigramme : Connecteur 300">
              <a:extLst>
                <a:ext uri="{FF2B5EF4-FFF2-40B4-BE49-F238E27FC236}">
                  <a16:creationId xmlns:a16="http://schemas.microsoft.com/office/drawing/2014/main" id="{202738A0-0057-4665-9C9C-67A8740199ED}"/>
                </a:ext>
              </a:extLst>
            </p:cNvPr>
            <p:cNvSpPr>
              <a:spLocks noChangeAspect="1"/>
            </p:cNvSpPr>
            <p:nvPr/>
          </p:nvSpPr>
          <p:spPr>
            <a:xfrm>
              <a:off x="2812220" y="3091321"/>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02" name="Organigramme : Connecteur 301">
              <a:extLst>
                <a:ext uri="{FF2B5EF4-FFF2-40B4-BE49-F238E27FC236}">
                  <a16:creationId xmlns:a16="http://schemas.microsoft.com/office/drawing/2014/main" id="{152FDF49-04FD-4494-85BC-DA60B43D7B03}"/>
                </a:ext>
              </a:extLst>
            </p:cNvPr>
            <p:cNvSpPr>
              <a:spLocks noChangeAspect="1"/>
            </p:cNvSpPr>
            <p:nvPr/>
          </p:nvSpPr>
          <p:spPr>
            <a:xfrm>
              <a:off x="2908260" y="327413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03" name="Organigramme : Connecteur 302">
              <a:extLst>
                <a:ext uri="{FF2B5EF4-FFF2-40B4-BE49-F238E27FC236}">
                  <a16:creationId xmlns:a16="http://schemas.microsoft.com/office/drawing/2014/main" id="{5A0DB651-E287-45B5-A6F0-0E8B1C611375}"/>
                </a:ext>
              </a:extLst>
            </p:cNvPr>
            <p:cNvSpPr>
              <a:spLocks noChangeAspect="1"/>
            </p:cNvSpPr>
            <p:nvPr/>
          </p:nvSpPr>
          <p:spPr>
            <a:xfrm rot="6483601">
              <a:off x="2694500" y="304902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04" name="Organigramme : Connecteur 303">
              <a:extLst>
                <a:ext uri="{FF2B5EF4-FFF2-40B4-BE49-F238E27FC236}">
                  <a16:creationId xmlns:a16="http://schemas.microsoft.com/office/drawing/2014/main" id="{94EE874A-8BBF-4C29-9ECD-12B5982BF2FB}"/>
                </a:ext>
              </a:extLst>
            </p:cNvPr>
            <p:cNvSpPr>
              <a:spLocks noChangeAspect="1"/>
            </p:cNvSpPr>
            <p:nvPr/>
          </p:nvSpPr>
          <p:spPr>
            <a:xfrm rot="6483601">
              <a:off x="2540919" y="305211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05" name="Organigramme : Connecteur 304">
              <a:extLst>
                <a:ext uri="{FF2B5EF4-FFF2-40B4-BE49-F238E27FC236}">
                  <a16:creationId xmlns:a16="http://schemas.microsoft.com/office/drawing/2014/main" id="{4407A77B-A6E5-4ED1-8957-57783661719C}"/>
                </a:ext>
              </a:extLst>
            </p:cNvPr>
            <p:cNvSpPr>
              <a:spLocks noChangeAspect="1"/>
            </p:cNvSpPr>
            <p:nvPr/>
          </p:nvSpPr>
          <p:spPr>
            <a:xfrm>
              <a:off x="3237085" y="292184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06" name="Organigramme : Connecteur 305">
              <a:extLst>
                <a:ext uri="{FF2B5EF4-FFF2-40B4-BE49-F238E27FC236}">
                  <a16:creationId xmlns:a16="http://schemas.microsoft.com/office/drawing/2014/main" id="{602C2416-853A-4473-AC63-61FCBA30FB69}"/>
                </a:ext>
              </a:extLst>
            </p:cNvPr>
            <p:cNvSpPr>
              <a:spLocks noChangeAspect="1"/>
            </p:cNvSpPr>
            <p:nvPr/>
          </p:nvSpPr>
          <p:spPr>
            <a:xfrm rot="6483601">
              <a:off x="3119365" y="287954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07" name="Organigramme : Connecteur 306">
              <a:extLst>
                <a:ext uri="{FF2B5EF4-FFF2-40B4-BE49-F238E27FC236}">
                  <a16:creationId xmlns:a16="http://schemas.microsoft.com/office/drawing/2014/main" id="{4B56C6F0-43EF-4A14-A44A-7F7D2AB59263}"/>
                </a:ext>
              </a:extLst>
            </p:cNvPr>
            <p:cNvSpPr>
              <a:spLocks noChangeAspect="1"/>
            </p:cNvSpPr>
            <p:nvPr/>
          </p:nvSpPr>
          <p:spPr>
            <a:xfrm>
              <a:off x="3313151" y="283465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08" name="Organigramme : Connecteur 307">
              <a:extLst>
                <a:ext uri="{FF2B5EF4-FFF2-40B4-BE49-F238E27FC236}">
                  <a16:creationId xmlns:a16="http://schemas.microsoft.com/office/drawing/2014/main" id="{E6B68061-05E2-435B-99E9-DB8960719371}"/>
                </a:ext>
              </a:extLst>
            </p:cNvPr>
            <p:cNvSpPr>
              <a:spLocks noChangeAspect="1"/>
            </p:cNvSpPr>
            <p:nvPr/>
          </p:nvSpPr>
          <p:spPr>
            <a:xfrm rot="6483601">
              <a:off x="3195431" y="279235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09" name="Organigramme : Connecteur 308">
              <a:extLst>
                <a:ext uri="{FF2B5EF4-FFF2-40B4-BE49-F238E27FC236}">
                  <a16:creationId xmlns:a16="http://schemas.microsoft.com/office/drawing/2014/main" id="{11D4F4FF-EFE0-448F-8A64-C54FEA2B9996}"/>
                </a:ext>
              </a:extLst>
            </p:cNvPr>
            <p:cNvSpPr>
              <a:spLocks noChangeAspect="1"/>
            </p:cNvSpPr>
            <p:nvPr/>
          </p:nvSpPr>
          <p:spPr>
            <a:xfrm>
              <a:off x="2579449" y="3350906"/>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10" name="Organigramme : Connecteur 309">
              <a:extLst>
                <a:ext uri="{FF2B5EF4-FFF2-40B4-BE49-F238E27FC236}">
                  <a16:creationId xmlns:a16="http://schemas.microsoft.com/office/drawing/2014/main" id="{9B1595FA-B720-4766-93C6-58FCACD4432B}"/>
                </a:ext>
              </a:extLst>
            </p:cNvPr>
            <p:cNvSpPr>
              <a:spLocks noChangeAspect="1"/>
            </p:cNvSpPr>
            <p:nvPr/>
          </p:nvSpPr>
          <p:spPr>
            <a:xfrm rot="6483601">
              <a:off x="2461729" y="3308608"/>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11" name="Organigramme : Connecteur 310">
              <a:extLst>
                <a:ext uri="{FF2B5EF4-FFF2-40B4-BE49-F238E27FC236}">
                  <a16:creationId xmlns:a16="http://schemas.microsoft.com/office/drawing/2014/main" id="{6238AE39-DB62-4880-91AC-4854DD6F8018}"/>
                </a:ext>
              </a:extLst>
            </p:cNvPr>
            <p:cNvSpPr>
              <a:spLocks noChangeAspect="1"/>
            </p:cNvSpPr>
            <p:nvPr/>
          </p:nvSpPr>
          <p:spPr>
            <a:xfrm>
              <a:off x="2655515" y="326371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12" name="Organigramme : Connecteur 311">
              <a:extLst>
                <a:ext uri="{FF2B5EF4-FFF2-40B4-BE49-F238E27FC236}">
                  <a16:creationId xmlns:a16="http://schemas.microsoft.com/office/drawing/2014/main" id="{4B4881C0-1E1F-4042-84C9-D8D68B7E1962}"/>
                </a:ext>
              </a:extLst>
            </p:cNvPr>
            <p:cNvSpPr>
              <a:spLocks noChangeAspect="1"/>
            </p:cNvSpPr>
            <p:nvPr/>
          </p:nvSpPr>
          <p:spPr>
            <a:xfrm rot="6483601">
              <a:off x="2537795" y="3221417"/>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13" name="Organigramme : Connecteur 312">
              <a:extLst>
                <a:ext uri="{FF2B5EF4-FFF2-40B4-BE49-F238E27FC236}">
                  <a16:creationId xmlns:a16="http://schemas.microsoft.com/office/drawing/2014/main" id="{6C4E3A1A-2CEA-4400-86E2-408CD4E48A4E}"/>
                </a:ext>
              </a:extLst>
            </p:cNvPr>
            <p:cNvSpPr>
              <a:spLocks noChangeAspect="1"/>
            </p:cNvSpPr>
            <p:nvPr/>
          </p:nvSpPr>
          <p:spPr>
            <a:xfrm>
              <a:off x="2602468" y="293529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14" name="Organigramme : Connecteur 313">
              <a:extLst>
                <a:ext uri="{FF2B5EF4-FFF2-40B4-BE49-F238E27FC236}">
                  <a16:creationId xmlns:a16="http://schemas.microsoft.com/office/drawing/2014/main" id="{041D87EC-788F-405D-9264-F6358469E5C0}"/>
                </a:ext>
              </a:extLst>
            </p:cNvPr>
            <p:cNvSpPr>
              <a:spLocks noChangeAspect="1"/>
            </p:cNvSpPr>
            <p:nvPr/>
          </p:nvSpPr>
          <p:spPr>
            <a:xfrm rot="6483601">
              <a:off x="2484748" y="2892995"/>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15" name="Organigramme : Connecteur 314">
              <a:extLst>
                <a:ext uri="{FF2B5EF4-FFF2-40B4-BE49-F238E27FC236}">
                  <a16:creationId xmlns:a16="http://schemas.microsoft.com/office/drawing/2014/main" id="{ABD1BE44-8FBA-496E-BF69-6C6B89217AFC}"/>
                </a:ext>
              </a:extLst>
            </p:cNvPr>
            <p:cNvSpPr>
              <a:spLocks noChangeAspect="1"/>
            </p:cNvSpPr>
            <p:nvPr/>
          </p:nvSpPr>
          <p:spPr>
            <a:xfrm>
              <a:off x="2678534" y="284810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16" name="Organigramme : Connecteur 315">
              <a:extLst>
                <a:ext uri="{FF2B5EF4-FFF2-40B4-BE49-F238E27FC236}">
                  <a16:creationId xmlns:a16="http://schemas.microsoft.com/office/drawing/2014/main" id="{2799859E-FA04-4BB6-848A-96E5C155D3D2}"/>
                </a:ext>
              </a:extLst>
            </p:cNvPr>
            <p:cNvSpPr>
              <a:spLocks noChangeAspect="1"/>
            </p:cNvSpPr>
            <p:nvPr/>
          </p:nvSpPr>
          <p:spPr>
            <a:xfrm rot="6483601">
              <a:off x="2560814" y="2805804"/>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17" name="Organigramme : Connecteur 316">
              <a:extLst>
                <a:ext uri="{FF2B5EF4-FFF2-40B4-BE49-F238E27FC236}">
                  <a16:creationId xmlns:a16="http://schemas.microsoft.com/office/drawing/2014/main" id="{3275B71F-2127-49DB-A913-80ABAB9E3299}"/>
                </a:ext>
              </a:extLst>
            </p:cNvPr>
            <p:cNvSpPr>
              <a:spLocks noChangeAspect="1"/>
            </p:cNvSpPr>
            <p:nvPr/>
          </p:nvSpPr>
          <p:spPr>
            <a:xfrm>
              <a:off x="2746019" y="3108381"/>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18" name="Organigramme : Connecteur 317">
              <a:extLst>
                <a:ext uri="{FF2B5EF4-FFF2-40B4-BE49-F238E27FC236}">
                  <a16:creationId xmlns:a16="http://schemas.microsoft.com/office/drawing/2014/main" id="{854589B9-E30E-45F0-94F2-3B9300B46E78}"/>
                </a:ext>
              </a:extLst>
            </p:cNvPr>
            <p:cNvSpPr>
              <a:spLocks noChangeAspect="1"/>
            </p:cNvSpPr>
            <p:nvPr/>
          </p:nvSpPr>
          <p:spPr>
            <a:xfrm rot="6483601">
              <a:off x="2628299" y="306608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19" name="Organigramme : Connecteur 318">
              <a:extLst>
                <a:ext uri="{FF2B5EF4-FFF2-40B4-BE49-F238E27FC236}">
                  <a16:creationId xmlns:a16="http://schemas.microsoft.com/office/drawing/2014/main" id="{008D3585-7C12-44E7-B0D8-4900BE2EA722}"/>
                </a:ext>
              </a:extLst>
            </p:cNvPr>
            <p:cNvSpPr>
              <a:spLocks noChangeAspect="1"/>
            </p:cNvSpPr>
            <p:nvPr/>
          </p:nvSpPr>
          <p:spPr>
            <a:xfrm>
              <a:off x="2822085" y="3021190"/>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20" name="Organigramme : Connecteur 319">
              <a:extLst>
                <a:ext uri="{FF2B5EF4-FFF2-40B4-BE49-F238E27FC236}">
                  <a16:creationId xmlns:a16="http://schemas.microsoft.com/office/drawing/2014/main" id="{FB79BE60-4787-4D6E-A51C-564F588A04A2}"/>
                </a:ext>
              </a:extLst>
            </p:cNvPr>
            <p:cNvSpPr>
              <a:spLocks noChangeAspect="1"/>
            </p:cNvSpPr>
            <p:nvPr/>
          </p:nvSpPr>
          <p:spPr>
            <a:xfrm rot="6483601">
              <a:off x="2704365" y="297889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21" name="Organigramme : Connecteur 320">
              <a:extLst>
                <a:ext uri="{FF2B5EF4-FFF2-40B4-BE49-F238E27FC236}">
                  <a16:creationId xmlns:a16="http://schemas.microsoft.com/office/drawing/2014/main" id="{85ED5FFB-3312-43E5-AD9F-7F04ED496484}"/>
                </a:ext>
              </a:extLst>
            </p:cNvPr>
            <p:cNvSpPr>
              <a:spLocks noChangeAspect="1"/>
            </p:cNvSpPr>
            <p:nvPr/>
          </p:nvSpPr>
          <p:spPr>
            <a:xfrm rot="6483601">
              <a:off x="2952763" y="233078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22" name="Organigramme : Connecteur 321">
              <a:extLst>
                <a:ext uri="{FF2B5EF4-FFF2-40B4-BE49-F238E27FC236}">
                  <a16:creationId xmlns:a16="http://schemas.microsoft.com/office/drawing/2014/main" id="{A6F5D7AD-B2B7-4DFF-96CF-4335A33C50CB}"/>
                </a:ext>
              </a:extLst>
            </p:cNvPr>
            <p:cNvSpPr>
              <a:spLocks noChangeAspect="1"/>
            </p:cNvSpPr>
            <p:nvPr/>
          </p:nvSpPr>
          <p:spPr>
            <a:xfrm rot="6483601">
              <a:off x="3021239" y="278119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23" name="Organigramme : Connecteur 322">
              <a:extLst>
                <a:ext uri="{FF2B5EF4-FFF2-40B4-BE49-F238E27FC236}">
                  <a16:creationId xmlns:a16="http://schemas.microsoft.com/office/drawing/2014/main" id="{1972D4BC-E3A0-4414-A168-A6D09A2CD576}"/>
                </a:ext>
              </a:extLst>
            </p:cNvPr>
            <p:cNvSpPr>
              <a:spLocks noChangeAspect="1"/>
            </p:cNvSpPr>
            <p:nvPr/>
          </p:nvSpPr>
          <p:spPr>
            <a:xfrm>
              <a:off x="3289669" y="2539901"/>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24" name="Organigramme : Connecteur 323">
              <a:extLst>
                <a:ext uri="{FF2B5EF4-FFF2-40B4-BE49-F238E27FC236}">
                  <a16:creationId xmlns:a16="http://schemas.microsoft.com/office/drawing/2014/main" id="{07D73DD1-F0CC-45BC-BF7B-FC32682BF228}"/>
                </a:ext>
              </a:extLst>
            </p:cNvPr>
            <p:cNvSpPr>
              <a:spLocks noChangeAspect="1"/>
            </p:cNvSpPr>
            <p:nvPr/>
          </p:nvSpPr>
          <p:spPr>
            <a:xfrm>
              <a:off x="2553526" y="4129709"/>
              <a:ext cx="108000" cy="109466"/>
            </a:xfrm>
            <a:prstGeom prst="flowChartConnector">
              <a:avLst/>
            </a:prstGeom>
            <a:solidFill>
              <a:srgbClr val="007C7C"/>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25" name="Organigramme : Connecteur 324">
              <a:extLst>
                <a:ext uri="{FF2B5EF4-FFF2-40B4-BE49-F238E27FC236}">
                  <a16:creationId xmlns:a16="http://schemas.microsoft.com/office/drawing/2014/main" id="{6729F4AB-FEDE-4705-BFB9-5B0B265B2A54}"/>
                </a:ext>
              </a:extLst>
            </p:cNvPr>
            <p:cNvSpPr>
              <a:spLocks noChangeAspect="1"/>
            </p:cNvSpPr>
            <p:nvPr/>
          </p:nvSpPr>
          <p:spPr>
            <a:xfrm rot="6483601">
              <a:off x="2687769" y="4133617"/>
              <a:ext cx="108000" cy="109466"/>
            </a:xfrm>
            <a:prstGeom prst="flowChartConnector">
              <a:avLst/>
            </a:prstGeom>
            <a:solidFill>
              <a:srgbClr val="007C7C"/>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26" name="Organigramme : Connecteur 325">
              <a:extLst>
                <a:ext uri="{FF2B5EF4-FFF2-40B4-BE49-F238E27FC236}">
                  <a16:creationId xmlns:a16="http://schemas.microsoft.com/office/drawing/2014/main" id="{2BB2CAB6-3A96-48C0-AB6B-7EEF325F2389}"/>
                </a:ext>
              </a:extLst>
            </p:cNvPr>
            <p:cNvSpPr>
              <a:spLocks noChangeAspect="1"/>
            </p:cNvSpPr>
            <p:nvPr/>
          </p:nvSpPr>
          <p:spPr>
            <a:xfrm>
              <a:off x="2615226" y="4010002"/>
              <a:ext cx="108000" cy="109466"/>
            </a:xfrm>
            <a:prstGeom prst="flowChartConnector">
              <a:avLst/>
            </a:prstGeom>
            <a:solidFill>
              <a:srgbClr val="007C7C"/>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27" name="Organigramme : Connecteur 326">
              <a:extLst>
                <a:ext uri="{FF2B5EF4-FFF2-40B4-BE49-F238E27FC236}">
                  <a16:creationId xmlns:a16="http://schemas.microsoft.com/office/drawing/2014/main" id="{CD5F84C9-D964-4272-965A-3CA43E345C2D}"/>
                </a:ext>
              </a:extLst>
            </p:cNvPr>
            <p:cNvSpPr>
              <a:spLocks noChangeAspect="1"/>
            </p:cNvSpPr>
            <p:nvPr/>
          </p:nvSpPr>
          <p:spPr>
            <a:xfrm>
              <a:off x="1553055" y="2805929"/>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28" name="Organigramme : Connecteur 327">
              <a:extLst>
                <a:ext uri="{FF2B5EF4-FFF2-40B4-BE49-F238E27FC236}">
                  <a16:creationId xmlns:a16="http://schemas.microsoft.com/office/drawing/2014/main" id="{313F0B87-4133-4483-A63A-E78945E5DBFA}"/>
                </a:ext>
              </a:extLst>
            </p:cNvPr>
            <p:cNvSpPr>
              <a:spLocks noChangeAspect="1"/>
            </p:cNvSpPr>
            <p:nvPr/>
          </p:nvSpPr>
          <p:spPr>
            <a:xfrm rot="6483601">
              <a:off x="1849226" y="2795548"/>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29" name="Organigramme : Connecteur 328">
              <a:extLst>
                <a:ext uri="{FF2B5EF4-FFF2-40B4-BE49-F238E27FC236}">
                  <a16:creationId xmlns:a16="http://schemas.microsoft.com/office/drawing/2014/main" id="{1C1363A5-6311-4D43-9E5F-67E223E706A1}"/>
                </a:ext>
              </a:extLst>
            </p:cNvPr>
            <p:cNvSpPr>
              <a:spLocks noChangeAspect="1"/>
            </p:cNvSpPr>
            <p:nvPr/>
          </p:nvSpPr>
          <p:spPr>
            <a:xfrm>
              <a:off x="1614755" y="2638593"/>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331" name="Organigramme : Connecteur 330">
              <a:extLst>
                <a:ext uri="{FF2B5EF4-FFF2-40B4-BE49-F238E27FC236}">
                  <a16:creationId xmlns:a16="http://schemas.microsoft.com/office/drawing/2014/main" id="{85C97869-532B-48F4-AA3E-0AFCAA9C7F95}"/>
                </a:ext>
              </a:extLst>
            </p:cNvPr>
            <p:cNvSpPr>
              <a:spLocks noChangeAspect="1"/>
            </p:cNvSpPr>
            <p:nvPr/>
          </p:nvSpPr>
          <p:spPr>
            <a:xfrm rot="6483601">
              <a:off x="2491140" y="2385152"/>
              <a:ext cx="108000" cy="109466"/>
            </a:xfrm>
            <a:prstGeom prst="flowChartConnector">
              <a:avLst/>
            </a:prstGeom>
            <a:solidFill>
              <a:srgbClr val="007C7C"/>
            </a:solidFill>
            <a:ln>
              <a:solidFill>
                <a:srgbClr val="007C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grpSp>
        <p:nvGrpSpPr>
          <p:cNvPr id="332" name="Groupe 331">
            <a:extLst>
              <a:ext uri="{FF2B5EF4-FFF2-40B4-BE49-F238E27FC236}">
                <a16:creationId xmlns:a16="http://schemas.microsoft.com/office/drawing/2014/main" id="{A04FD06F-1A46-4B5D-A099-616D317BCA7B}"/>
              </a:ext>
            </a:extLst>
          </p:cNvPr>
          <p:cNvGrpSpPr/>
          <p:nvPr/>
        </p:nvGrpSpPr>
        <p:grpSpPr>
          <a:xfrm rot="9424388">
            <a:off x="4424298" y="1290412"/>
            <a:ext cx="1728000" cy="1323000"/>
            <a:chOff x="1157185" y="2293284"/>
            <a:chExt cx="2304000" cy="1764000"/>
          </a:xfrm>
        </p:grpSpPr>
        <p:cxnSp>
          <p:nvCxnSpPr>
            <p:cNvPr id="333" name="Connecteur droit 332">
              <a:extLst>
                <a:ext uri="{FF2B5EF4-FFF2-40B4-BE49-F238E27FC236}">
                  <a16:creationId xmlns:a16="http://schemas.microsoft.com/office/drawing/2014/main" id="{21116D45-8556-4AEC-A564-655EEEFEE922}"/>
                </a:ext>
              </a:extLst>
            </p:cNvPr>
            <p:cNvCxnSpPr/>
            <p:nvPr/>
          </p:nvCxnSpPr>
          <p:spPr>
            <a:xfrm>
              <a:off x="1157185" y="2762330"/>
              <a:ext cx="2304000"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4" name="Connecteur droit 333">
              <a:extLst>
                <a:ext uri="{FF2B5EF4-FFF2-40B4-BE49-F238E27FC236}">
                  <a16:creationId xmlns:a16="http://schemas.microsoft.com/office/drawing/2014/main" id="{06EFD737-85D9-4D8F-9195-24F9DE60DD4E}"/>
                </a:ext>
              </a:extLst>
            </p:cNvPr>
            <p:cNvCxnSpPr>
              <a:cxnSpLocks/>
            </p:cNvCxnSpPr>
            <p:nvPr/>
          </p:nvCxnSpPr>
          <p:spPr>
            <a:xfrm rot="16200000">
              <a:off x="1836021" y="3175284"/>
              <a:ext cx="1764000" cy="0"/>
            </a:xfrm>
            <a:prstGeom prst="line">
              <a:avLst/>
            </a:prstGeom>
            <a:ln/>
          </p:spPr>
          <p:style>
            <a:lnRef idx="2">
              <a:schemeClr val="accent2"/>
            </a:lnRef>
            <a:fillRef idx="0">
              <a:schemeClr val="accent2"/>
            </a:fillRef>
            <a:effectRef idx="1">
              <a:schemeClr val="accent2"/>
            </a:effectRef>
            <a:fontRef idx="minor">
              <a:schemeClr val="tx1"/>
            </a:fontRef>
          </p:style>
        </p:cxnSp>
        <p:sp>
          <p:nvSpPr>
            <p:cNvPr id="335" name="Rectangle 334">
              <a:extLst>
                <a:ext uri="{FF2B5EF4-FFF2-40B4-BE49-F238E27FC236}">
                  <a16:creationId xmlns:a16="http://schemas.microsoft.com/office/drawing/2014/main" id="{FDBCC90A-1FFA-4F84-9F46-AC4600E60D4D}"/>
                </a:ext>
              </a:extLst>
            </p:cNvPr>
            <p:cNvSpPr/>
            <p:nvPr/>
          </p:nvSpPr>
          <p:spPr>
            <a:xfrm>
              <a:off x="2642847" y="2690310"/>
              <a:ext cx="72000" cy="720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mc:AlternateContent xmlns:mc="http://schemas.openxmlformats.org/markup-compatibility/2006" xmlns:a14="http://schemas.microsoft.com/office/drawing/2010/main">
        <mc:Choice Requires="a14">
          <p:sp>
            <p:nvSpPr>
              <p:cNvPr id="336" name="ZoneTexte 335">
                <a:extLst>
                  <a:ext uri="{FF2B5EF4-FFF2-40B4-BE49-F238E27FC236}">
                    <a16:creationId xmlns:a16="http://schemas.microsoft.com/office/drawing/2014/main" id="{C87E4645-1D45-43C1-86EE-7F7E124711C0}"/>
                  </a:ext>
                </a:extLst>
              </p:cNvPr>
              <p:cNvSpPr txBox="1"/>
              <p:nvPr/>
            </p:nvSpPr>
            <p:spPr>
              <a:xfrm>
                <a:off x="4418896" y="1468906"/>
                <a:ext cx="274189" cy="219291"/>
              </a:xfrm>
              <a:prstGeom prst="rect">
                <a:avLst/>
              </a:prstGeom>
              <a:noFill/>
            </p:spPr>
            <p:txBody>
              <a:bodyPr wrap="square" rtlCol="0">
                <a:spAutoFit/>
              </a:bodyPr>
              <a:lstStyle>
                <a:defPPr>
                  <a:defRPr lang="en-US"/>
                </a:defPPr>
                <a:lvl1pPr>
                  <a:defRPr sz="11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fr-FR" sz="825">
                          <a:solidFill>
                            <a:srgbClr val="014067"/>
                          </a:solidFill>
                          <a:latin typeface="Cambria Math" panose="02040503050406030204" pitchFamily="18" charset="0"/>
                        </a:rPr>
                        <m:t>𝑐𝑝</m:t>
                      </m:r>
                      <m:r>
                        <a:rPr lang="fr-FR" sz="825">
                          <a:solidFill>
                            <a:srgbClr val="014067"/>
                          </a:solidFill>
                          <a:latin typeface="Cambria Math" panose="02040503050406030204" pitchFamily="18" charset="0"/>
                        </a:rPr>
                        <m:t>2</m:t>
                      </m:r>
                    </m:oMath>
                  </m:oMathPara>
                </a14:m>
                <a:endParaRPr lang="fr-FR" sz="825" dirty="0">
                  <a:solidFill>
                    <a:srgbClr val="014067"/>
                  </a:solidFill>
                </a:endParaRPr>
              </a:p>
            </p:txBody>
          </p:sp>
        </mc:Choice>
        <mc:Fallback xmlns="">
          <p:sp>
            <p:nvSpPr>
              <p:cNvPr id="336" name="ZoneTexte 335">
                <a:extLst>
                  <a:ext uri="{FF2B5EF4-FFF2-40B4-BE49-F238E27FC236}">
                    <a16:creationId xmlns:a16="http://schemas.microsoft.com/office/drawing/2014/main" id="{C87E4645-1D45-43C1-86EE-7F7E124711C0}"/>
                  </a:ext>
                </a:extLst>
              </p:cNvPr>
              <p:cNvSpPr txBox="1">
                <a:spLocks noRot="1" noChangeAspect="1" noMove="1" noResize="1" noEditPoints="1" noAdjustHandles="1" noChangeArrowheads="1" noChangeShapeType="1" noTextEdit="1"/>
              </p:cNvSpPr>
              <p:nvPr/>
            </p:nvSpPr>
            <p:spPr>
              <a:xfrm>
                <a:off x="4418896" y="1468906"/>
                <a:ext cx="274189" cy="219291"/>
              </a:xfrm>
              <a:prstGeom prst="rect">
                <a:avLst/>
              </a:prstGeom>
              <a:blipFill>
                <a:blip r:embed="rId6"/>
                <a:stretch>
                  <a:fillRect r="-8889"/>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37" name="ZoneTexte 336">
                <a:extLst>
                  <a:ext uri="{FF2B5EF4-FFF2-40B4-BE49-F238E27FC236}">
                    <a16:creationId xmlns:a16="http://schemas.microsoft.com/office/drawing/2014/main" id="{89C05304-AB7C-4A23-B5BE-AA084C1E2D6F}"/>
                  </a:ext>
                </a:extLst>
              </p:cNvPr>
              <p:cNvSpPr txBox="1"/>
              <p:nvPr/>
            </p:nvSpPr>
            <p:spPr>
              <a:xfrm>
                <a:off x="6048303" y="1898656"/>
                <a:ext cx="274189" cy="219291"/>
              </a:xfrm>
              <a:prstGeom prst="rect">
                <a:avLst/>
              </a:prstGeom>
              <a:noFill/>
            </p:spPr>
            <p:txBody>
              <a:bodyPr wrap="square" rtlCol="0">
                <a:spAutoFit/>
              </a:bodyPr>
              <a:lstStyle>
                <a:defPPr>
                  <a:defRPr lang="en-US"/>
                </a:defPPr>
                <a:lvl1pPr>
                  <a:defRPr sz="11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fr-FR" sz="825">
                          <a:solidFill>
                            <a:srgbClr val="FF0000"/>
                          </a:solidFill>
                          <a:latin typeface="Cambria Math" panose="02040503050406030204" pitchFamily="18" charset="0"/>
                        </a:rPr>
                        <m:t>𝑐𝑝</m:t>
                      </m:r>
                      <m:r>
                        <a:rPr lang="fr-FR" sz="825">
                          <a:solidFill>
                            <a:srgbClr val="FF0000"/>
                          </a:solidFill>
                          <a:latin typeface="Cambria Math" panose="02040503050406030204" pitchFamily="18" charset="0"/>
                        </a:rPr>
                        <m:t>1</m:t>
                      </m:r>
                    </m:oMath>
                  </m:oMathPara>
                </a14:m>
                <a:endParaRPr lang="fr-FR" sz="825" dirty="0">
                  <a:solidFill>
                    <a:srgbClr val="FF0000"/>
                  </a:solidFill>
                </a:endParaRPr>
              </a:p>
            </p:txBody>
          </p:sp>
        </mc:Choice>
        <mc:Fallback xmlns="">
          <p:sp>
            <p:nvSpPr>
              <p:cNvPr id="337" name="ZoneTexte 336">
                <a:extLst>
                  <a:ext uri="{FF2B5EF4-FFF2-40B4-BE49-F238E27FC236}">
                    <a16:creationId xmlns:a16="http://schemas.microsoft.com/office/drawing/2014/main" id="{89C05304-AB7C-4A23-B5BE-AA084C1E2D6F}"/>
                  </a:ext>
                </a:extLst>
              </p:cNvPr>
              <p:cNvSpPr txBox="1">
                <a:spLocks noRot="1" noChangeAspect="1" noMove="1" noResize="1" noEditPoints="1" noAdjustHandles="1" noChangeArrowheads="1" noChangeShapeType="1" noTextEdit="1"/>
              </p:cNvSpPr>
              <p:nvPr/>
            </p:nvSpPr>
            <p:spPr>
              <a:xfrm>
                <a:off x="6048303" y="1898656"/>
                <a:ext cx="274189" cy="219291"/>
              </a:xfrm>
              <a:prstGeom prst="rect">
                <a:avLst/>
              </a:prstGeom>
              <a:blipFill>
                <a:blip r:embed="rId5"/>
                <a:stretch>
                  <a:fillRect r="-8889" b="-2778"/>
                </a:stretch>
              </a:blipFill>
            </p:spPr>
            <p:txBody>
              <a:bodyPr/>
              <a:lstStyle/>
              <a:p>
                <a:r>
                  <a:rPr lang="fr-FR">
                    <a:noFill/>
                  </a:rPr>
                  <a:t> </a:t>
                </a:r>
              </a:p>
            </p:txBody>
          </p:sp>
        </mc:Fallback>
      </mc:AlternateContent>
      <p:grpSp>
        <p:nvGrpSpPr>
          <p:cNvPr id="345" name="Groupe 344">
            <a:extLst>
              <a:ext uri="{FF2B5EF4-FFF2-40B4-BE49-F238E27FC236}">
                <a16:creationId xmlns:a16="http://schemas.microsoft.com/office/drawing/2014/main" id="{A8BE37D2-0E58-4AC2-B3F0-156EFCDF8091}"/>
              </a:ext>
            </a:extLst>
          </p:cNvPr>
          <p:cNvGrpSpPr/>
          <p:nvPr/>
        </p:nvGrpSpPr>
        <p:grpSpPr>
          <a:xfrm>
            <a:off x="5798713" y="1453835"/>
            <a:ext cx="335803" cy="296818"/>
            <a:chOff x="7731616" y="1938449"/>
            <a:chExt cx="447737" cy="395758"/>
          </a:xfrm>
        </p:grpSpPr>
        <p:pic>
          <p:nvPicPr>
            <p:cNvPr id="343" name="Graphique 342" descr="Ligne fléchée : pivoter à gauche">
              <a:extLst>
                <a:ext uri="{FF2B5EF4-FFF2-40B4-BE49-F238E27FC236}">
                  <a16:creationId xmlns:a16="http://schemas.microsoft.com/office/drawing/2014/main" id="{750BACC8-56E4-43BA-A1AF-C5ECB0A7166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63916" y="1938449"/>
              <a:ext cx="368215" cy="368215"/>
            </a:xfrm>
            <a:prstGeom prst="rect">
              <a:avLst/>
            </a:prstGeom>
          </p:spPr>
        </p:pic>
        <p:sp>
          <p:nvSpPr>
            <p:cNvPr id="344" name="ZoneTexte 343">
              <a:extLst>
                <a:ext uri="{FF2B5EF4-FFF2-40B4-BE49-F238E27FC236}">
                  <a16:creationId xmlns:a16="http://schemas.microsoft.com/office/drawing/2014/main" id="{AE764E3C-95C7-42D3-9CD6-1555F73749E1}"/>
                </a:ext>
              </a:extLst>
            </p:cNvPr>
            <p:cNvSpPr txBox="1"/>
            <p:nvPr/>
          </p:nvSpPr>
          <p:spPr>
            <a:xfrm>
              <a:off x="7731616" y="2087987"/>
              <a:ext cx="447737" cy="246220"/>
            </a:xfrm>
            <a:prstGeom prst="rect">
              <a:avLst/>
            </a:prstGeom>
            <a:noFill/>
          </p:spPr>
          <p:txBody>
            <a:bodyPr wrap="square" rtlCol="0">
              <a:spAutoFit/>
            </a:bodyPr>
            <a:lstStyle/>
            <a:p>
              <a:r>
                <a:rPr lang="fr-FR" sz="600" dirty="0"/>
                <a:t>-35°</a:t>
              </a:r>
            </a:p>
          </p:txBody>
        </p:sp>
      </p:grpSp>
    </p:spTree>
    <p:extLst>
      <p:ext uri="{BB962C8B-B14F-4D97-AF65-F5344CB8AC3E}">
        <p14:creationId xmlns:p14="http://schemas.microsoft.com/office/powerpoint/2010/main" val="3807142879"/>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231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en Composantes Principales</a:t>
            </a:r>
            <a:endParaRPr lang="fr-FR" sz="2100" b="0" dirty="0"/>
          </a:p>
        </p:txBody>
      </p:sp>
      <p:sp>
        <p:nvSpPr>
          <p:cNvPr id="330" name="Title 13">
            <a:extLst>
              <a:ext uri="{FF2B5EF4-FFF2-40B4-BE49-F238E27FC236}">
                <a16:creationId xmlns:a16="http://schemas.microsoft.com/office/drawing/2014/main" id="{83CBFF22-84F7-4157-8AA7-46B3BFE729AB}"/>
              </a:ext>
            </a:extLst>
          </p:cNvPr>
          <p:cNvSpPr txBox="1">
            <a:spLocks/>
          </p:cNvSpPr>
          <p:nvPr/>
        </p:nvSpPr>
        <p:spPr>
          <a:xfrm>
            <a:off x="389008" y="972046"/>
            <a:ext cx="6249917" cy="19944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Notions de projections et de rotation</a:t>
            </a:r>
          </a:p>
        </p:txBody>
      </p:sp>
      <p:sp>
        <p:nvSpPr>
          <p:cNvPr id="338" name="Content Placeholder 15">
            <a:extLst>
              <a:ext uri="{FF2B5EF4-FFF2-40B4-BE49-F238E27FC236}">
                <a16:creationId xmlns:a16="http://schemas.microsoft.com/office/drawing/2014/main" id="{5088E914-D443-45DE-82D0-F9C87F334117}"/>
              </a:ext>
            </a:extLst>
          </p:cNvPr>
          <p:cNvSpPr>
            <a:spLocks noGrp="1"/>
          </p:cNvSpPr>
          <p:nvPr>
            <p:ph sz="half" idx="13"/>
          </p:nvPr>
        </p:nvSpPr>
        <p:spPr>
          <a:xfrm>
            <a:off x="746911" y="1391970"/>
            <a:ext cx="5891400" cy="3539258"/>
          </a:xfrm>
        </p:spPr>
        <p:txBody>
          <a:bodyPr>
            <a:noAutofit/>
          </a:bodyPr>
          <a:lstStyle/>
          <a:p>
            <a:pPr algn="just">
              <a:lnSpc>
                <a:spcPct val="100000"/>
              </a:lnSpc>
              <a:buClr>
                <a:schemeClr val="accent2"/>
              </a:buClr>
            </a:pPr>
            <a:r>
              <a:rPr lang="fr-FR" sz="1425" dirty="0"/>
              <a:t>La rotation de la structure factorielle n’est pas toujours nécessaire.</a:t>
            </a:r>
          </a:p>
          <a:p>
            <a:pPr algn="just">
              <a:lnSpc>
                <a:spcPct val="100000"/>
              </a:lnSpc>
              <a:buClr>
                <a:schemeClr val="accent2"/>
              </a:buClr>
            </a:pPr>
            <a:r>
              <a:rPr lang="fr-FR" sz="1425" dirty="0"/>
              <a:t>Il existe plusieurs méthodes de rotation : Varimax, Oblimin, Quartimax, Equamax, Promax…</a:t>
            </a:r>
          </a:p>
          <a:p>
            <a:pPr algn="just">
              <a:lnSpc>
                <a:spcPct val="100000"/>
              </a:lnSpc>
              <a:buClr>
                <a:schemeClr val="accent2"/>
              </a:buClr>
            </a:pPr>
            <a:r>
              <a:rPr lang="fr-FR" sz="1425" dirty="0"/>
              <a:t>L'objectif de ces méthodes est d'obtenir une structure claire des poids factoriels, c'est-à-dire des facteurs qui sont clairement marqués par de fortes corrélations avec certaines variables et par de faibles corrélations avec d'autres variables.</a:t>
            </a:r>
          </a:p>
          <a:p>
            <a:pPr algn="just">
              <a:lnSpc>
                <a:spcPct val="100000"/>
              </a:lnSpc>
              <a:buClr>
                <a:schemeClr val="accent2"/>
              </a:buClr>
            </a:pPr>
            <a:r>
              <a:rPr lang="fr-FR" sz="1425" dirty="0"/>
              <a:t>Autrement dit, nous souhaitons trouver une rotation qui maximise la variance sur les nouvelles composantes; en d'autres termes, nous cherchons à obtenir une structure des poids pour chaque facteur qui soit aussi différente que possible, permettant une interprétation aussi facile que possible.</a:t>
            </a:r>
          </a:p>
          <a:p>
            <a:pPr algn="just">
              <a:lnSpc>
                <a:spcPct val="100000"/>
              </a:lnSpc>
              <a:buClr>
                <a:schemeClr val="accent2"/>
              </a:buClr>
            </a:pPr>
            <a:endParaRPr lang="fr-FR" sz="1425" dirty="0"/>
          </a:p>
        </p:txBody>
      </p:sp>
    </p:spTree>
    <p:extLst>
      <p:ext uri="{BB962C8B-B14F-4D97-AF65-F5344CB8AC3E}">
        <p14:creationId xmlns:p14="http://schemas.microsoft.com/office/powerpoint/2010/main" val="3557678715"/>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232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en Composantes Principales</a:t>
            </a:r>
            <a:endParaRPr lang="fr-FR" sz="2100" b="0" dirty="0"/>
          </a:p>
        </p:txBody>
      </p:sp>
      <p:sp>
        <p:nvSpPr>
          <p:cNvPr id="330" name="Title 13">
            <a:extLst>
              <a:ext uri="{FF2B5EF4-FFF2-40B4-BE49-F238E27FC236}">
                <a16:creationId xmlns:a16="http://schemas.microsoft.com/office/drawing/2014/main" id="{83CBFF22-84F7-4157-8AA7-46B3BFE729AB}"/>
              </a:ext>
            </a:extLst>
          </p:cNvPr>
          <p:cNvSpPr txBox="1">
            <a:spLocks/>
          </p:cNvSpPr>
          <p:nvPr/>
        </p:nvSpPr>
        <p:spPr>
          <a:xfrm>
            <a:off x="389008" y="972046"/>
            <a:ext cx="6249917" cy="19944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Options de rotation</a:t>
            </a:r>
          </a:p>
        </p:txBody>
      </p:sp>
      <p:sp>
        <p:nvSpPr>
          <p:cNvPr id="338" name="Content Placeholder 15">
            <a:extLst>
              <a:ext uri="{FF2B5EF4-FFF2-40B4-BE49-F238E27FC236}">
                <a16:creationId xmlns:a16="http://schemas.microsoft.com/office/drawing/2014/main" id="{5088E914-D443-45DE-82D0-F9C87F334117}"/>
              </a:ext>
            </a:extLst>
          </p:cNvPr>
          <p:cNvSpPr>
            <a:spLocks noGrp="1"/>
          </p:cNvSpPr>
          <p:nvPr>
            <p:ph sz="half" idx="13"/>
          </p:nvPr>
        </p:nvSpPr>
        <p:spPr>
          <a:xfrm>
            <a:off x="746910" y="1391970"/>
            <a:ext cx="7452411" cy="3539258"/>
          </a:xfrm>
        </p:spPr>
        <p:txBody>
          <a:bodyPr>
            <a:noAutofit/>
          </a:bodyPr>
          <a:lstStyle/>
          <a:p>
            <a:pPr algn="just">
              <a:lnSpc>
                <a:spcPct val="100000"/>
              </a:lnSpc>
              <a:buClr>
                <a:schemeClr val="accent2"/>
              </a:buClr>
            </a:pPr>
            <a:r>
              <a:rPr lang="fr-FR" sz="1350" b="1" dirty="0"/>
              <a:t>Aucune :</a:t>
            </a:r>
            <a:r>
              <a:rPr lang="fr-FR" sz="1350" dirty="0"/>
              <a:t> option par défaut.</a:t>
            </a:r>
          </a:p>
          <a:p>
            <a:pPr algn="just">
              <a:lnSpc>
                <a:spcPct val="100000"/>
              </a:lnSpc>
              <a:buClr>
                <a:schemeClr val="accent2"/>
              </a:buClr>
            </a:pPr>
            <a:r>
              <a:rPr lang="fr-FR" sz="1350" b="1" dirty="0"/>
              <a:t>Varimax :</a:t>
            </a:r>
            <a:r>
              <a:rPr lang="fr-FR" sz="1350" dirty="0"/>
              <a:t> Méthode de rotation orthogonale permettant de minimiser le nombre de variables qui pondèrent fortement chacun des facteurs. Cette méthode permet de simplifier l'interprétation des facteurs.</a:t>
            </a:r>
          </a:p>
          <a:p>
            <a:pPr algn="just">
              <a:lnSpc>
                <a:spcPct val="100000"/>
              </a:lnSpc>
              <a:buClr>
                <a:schemeClr val="accent2"/>
              </a:buClr>
            </a:pPr>
            <a:r>
              <a:rPr lang="fr-FR" sz="1350" b="1" dirty="0"/>
              <a:t>Oblimin :</a:t>
            </a:r>
            <a:r>
              <a:rPr lang="fr-FR" sz="1350" dirty="0"/>
              <a:t> Méthode de rotation oblique (non orthogonale).</a:t>
            </a:r>
          </a:p>
          <a:p>
            <a:pPr algn="just">
              <a:lnSpc>
                <a:spcPct val="100000"/>
              </a:lnSpc>
              <a:buClr>
                <a:schemeClr val="accent2"/>
              </a:buClr>
            </a:pPr>
            <a:r>
              <a:rPr lang="fr-FR" sz="1350" b="1" dirty="0"/>
              <a:t>Quartimax :</a:t>
            </a:r>
            <a:r>
              <a:rPr lang="fr-FR" sz="1350" dirty="0"/>
              <a:t> Méthode orthogonale qui minimise le nombre de facteurs requis pour expliquer chaque variable. Cette méthode permet de simplifier l'interprétation des variables observées. </a:t>
            </a:r>
          </a:p>
          <a:p>
            <a:pPr algn="just">
              <a:lnSpc>
                <a:spcPct val="100000"/>
              </a:lnSpc>
              <a:buClr>
                <a:schemeClr val="accent2"/>
              </a:buClr>
            </a:pPr>
            <a:r>
              <a:rPr lang="fr-FR" sz="1350" b="1" dirty="0"/>
              <a:t>Equamax :</a:t>
            </a:r>
            <a:r>
              <a:rPr lang="fr-FR" sz="1350" dirty="0"/>
              <a:t> Méthode de rotation qui combine la méthode Varimax, simplifiant les facteurs, et la méthode Quartimax, simplifiant les variables. Le nombre de variables pondérant fortement un facteur et le nombre de facteurs nécessaires pour expliquer une variable sont minimisés. </a:t>
            </a:r>
          </a:p>
          <a:p>
            <a:pPr algn="just">
              <a:lnSpc>
                <a:spcPct val="100000"/>
              </a:lnSpc>
              <a:buClr>
                <a:schemeClr val="accent2"/>
              </a:buClr>
            </a:pPr>
            <a:r>
              <a:rPr lang="fr-FR" sz="1350" b="1" dirty="0"/>
              <a:t>Promax :</a:t>
            </a:r>
            <a:r>
              <a:rPr lang="fr-FR" sz="1350" dirty="0"/>
              <a:t> Rotation oblique qui permet la corrélation des facteurs. Son calcul étant plus rapide que celui d'une rotation Oblimin, cette méthode s'avère particulièrement utile pour traiter des volumes importants de données.</a:t>
            </a:r>
          </a:p>
        </p:txBody>
      </p:sp>
    </p:spTree>
    <p:extLst>
      <p:ext uri="{BB962C8B-B14F-4D97-AF65-F5344CB8AC3E}">
        <p14:creationId xmlns:p14="http://schemas.microsoft.com/office/powerpoint/2010/main" val="1764146259"/>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233</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en Composantes Principales</a:t>
            </a:r>
            <a:endParaRPr lang="fr-FR" sz="2100" b="0" dirty="0"/>
          </a:p>
        </p:txBody>
      </p:sp>
      <p:sp>
        <p:nvSpPr>
          <p:cNvPr id="330" name="Title 13">
            <a:extLst>
              <a:ext uri="{FF2B5EF4-FFF2-40B4-BE49-F238E27FC236}">
                <a16:creationId xmlns:a16="http://schemas.microsoft.com/office/drawing/2014/main" id="{83CBFF22-84F7-4157-8AA7-46B3BFE729AB}"/>
              </a:ext>
            </a:extLst>
          </p:cNvPr>
          <p:cNvSpPr txBox="1">
            <a:spLocks/>
          </p:cNvSpPr>
          <p:nvPr/>
        </p:nvSpPr>
        <p:spPr>
          <a:xfrm>
            <a:off x="389008" y="972046"/>
            <a:ext cx="6249917" cy="19944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Covariance et ACP non normée</a:t>
            </a:r>
          </a:p>
        </p:txBody>
      </p:sp>
      <mc:AlternateContent xmlns:mc="http://schemas.openxmlformats.org/markup-compatibility/2006" xmlns:a14="http://schemas.microsoft.com/office/drawing/2010/main">
        <mc:Choice Requires="a14">
          <p:sp>
            <p:nvSpPr>
              <p:cNvPr id="338" name="Content Placeholder 15">
                <a:extLst>
                  <a:ext uri="{FF2B5EF4-FFF2-40B4-BE49-F238E27FC236}">
                    <a16:creationId xmlns:a16="http://schemas.microsoft.com/office/drawing/2014/main" id="{5088E914-D443-45DE-82D0-F9C87F334117}"/>
                  </a:ext>
                </a:extLst>
              </p:cNvPr>
              <p:cNvSpPr>
                <a:spLocks noGrp="1"/>
              </p:cNvSpPr>
              <p:nvPr>
                <p:ph sz="half" idx="13"/>
              </p:nvPr>
            </p:nvSpPr>
            <p:spPr>
              <a:xfrm>
                <a:off x="746911" y="1243441"/>
                <a:ext cx="7179908" cy="3539258"/>
              </a:xfrm>
            </p:spPr>
            <p:txBody>
              <a:bodyPr>
                <a:noAutofit/>
              </a:bodyPr>
              <a:lstStyle/>
              <a:p>
                <a:pPr algn="just">
                  <a:lnSpc>
                    <a:spcPct val="100000"/>
                  </a:lnSpc>
                  <a:buClr>
                    <a:schemeClr val="accent2"/>
                  </a:buClr>
                </a:pPr>
                <a:r>
                  <a:rPr lang="fr-FR" sz="1350" dirty="0"/>
                  <a:t>Une ACP non normée est une ACP dans laquelle les variables quantitatives du tableau sont uniquement centrées (moyenne = 0).</a:t>
                </a:r>
              </a:p>
              <a:p>
                <a:pPr algn="just">
                  <a:lnSpc>
                    <a:spcPct val="100000"/>
                  </a:lnSpc>
                  <a:buClr>
                    <a:schemeClr val="accent2"/>
                  </a:buClr>
                </a:pPr>
                <a:r>
                  <a:rPr lang="fr-FR" sz="1350" dirty="0"/>
                  <a:t>Pour obtenir les composantes principales, on calcule la covariance entre les variables.</a:t>
                </a:r>
              </a:p>
              <a:p>
                <a:pPr algn="just">
                  <a:lnSpc>
                    <a:spcPct val="100000"/>
                  </a:lnSpc>
                  <a:buClr>
                    <a:schemeClr val="accent2"/>
                  </a:buClr>
                </a:pPr>
                <a:r>
                  <a:rPr lang="fr-FR" sz="1350" dirty="0"/>
                  <a:t>La covariance entre deux variables </a:t>
                </a: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1</m:t>
                        </m:r>
                      </m:sub>
                    </m:sSub>
                  </m:oMath>
                </a14:m>
                <a:r>
                  <a:rPr lang="fr-FR" sz="1350" dirty="0"/>
                  <a:t> et </a:t>
                </a: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2</m:t>
                        </m:r>
                      </m:sub>
                    </m:sSub>
                  </m:oMath>
                </a14:m>
                <a:r>
                  <a:rPr lang="fr-FR" sz="1350" dirty="0"/>
                  <a:t> indique si à un écart positif de </a:t>
                </a: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1</m:t>
                        </m:r>
                      </m:sub>
                    </m:sSub>
                  </m:oMath>
                </a14:m>
                <a:r>
                  <a:rPr lang="fr-FR" sz="1350" dirty="0"/>
                  <a:t> pour un individu </a:t>
                </a:r>
                <a14:m>
                  <m:oMath xmlns:m="http://schemas.openxmlformats.org/officeDocument/2006/math">
                    <m:r>
                      <a:rPr lang="fr-FR" sz="1350" i="1" dirty="0">
                        <a:latin typeface="Cambria Math" panose="02040503050406030204" pitchFamily="18" charset="0"/>
                      </a:rPr>
                      <m:t>𝑖</m:t>
                    </m:r>
                  </m:oMath>
                </a14:m>
                <a:r>
                  <a:rPr lang="fr-FR" sz="1350" dirty="0"/>
                  <a:t> par rapport à la moyenne sur </a:t>
                </a: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1</m:t>
                        </m:r>
                      </m:sub>
                    </m:sSub>
                  </m:oMath>
                </a14:m>
                <a:r>
                  <a:rPr lang="fr-FR" sz="1350" dirty="0"/>
                  <a:t>, correspond un écart positif ou négatif de </a:t>
                </a: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2</m:t>
                        </m:r>
                      </m:sub>
                    </m:sSub>
                  </m:oMath>
                </a14:m>
                <a:r>
                  <a:rPr lang="fr-FR" sz="1350" dirty="0"/>
                  <a:t> pour ce même individu </a:t>
                </a:r>
                <a14:m>
                  <m:oMath xmlns:m="http://schemas.openxmlformats.org/officeDocument/2006/math">
                    <m:r>
                      <a:rPr lang="fr-FR" sz="1350" i="1" dirty="0">
                        <a:latin typeface="Cambria Math" panose="02040503050406030204" pitchFamily="18" charset="0"/>
                      </a:rPr>
                      <m:t>𝑖</m:t>
                    </m:r>
                  </m:oMath>
                </a14:m>
                <a:r>
                  <a:rPr lang="fr-FR" sz="1350" dirty="0"/>
                  <a:t> par rapport à la moyenne sur </a:t>
                </a: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2</m:t>
                        </m:r>
                      </m:sub>
                    </m:sSub>
                  </m:oMath>
                </a14:m>
                <a:r>
                  <a:rPr lang="fr-FR" sz="1350" dirty="0"/>
                  <a:t>.</a:t>
                </a:r>
              </a:p>
              <a:p>
                <a:pPr marL="0" indent="0" algn="just">
                  <a:lnSpc>
                    <a:spcPct val="100000"/>
                  </a:lnSpc>
                  <a:buClr>
                    <a:schemeClr val="accent2"/>
                  </a:buClr>
                  <a:buNone/>
                </a:pPr>
                <a14:m>
                  <m:oMathPara xmlns:m="http://schemas.openxmlformats.org/officeDocument/2006/math">
                    <m:oMathParaPr>
                      <m:jc m:val="centerGroup"/>
                    </m:oMathParaPr>
                    <m:oMath xmlns:m="http://schemas.openxmlformats.org/officeDocument/2006/math">
                      <m:r>
                        <a:rPr lang="fr-FR" sz="1350" i="1">
                          <a:latin typeface="Cambria Math" panose="02040503050406030204" pitchFamily="18" charset="0"/>
                        </a:rPr>
                        <m:t>𝑐𝑜𝑣</m:t>
                      </m:r>
                      <m:d>
                        <m:dPr>
                          <m:ctrlPr>
                            <a:rPr lang="fr-FR" sz="1350" i="1">
                              <a:latin typeface="Cambria Math" panose="02040503050406030204" pitchFamily="18" charset="0"/>
                            </a:rPr>
                          </m:ctrlPr>
                        </m:dPr>
                        <m:e>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1</m:t>
                              </m:r>
                            </m:sub>
                          </m:sSub>
                          <m:r>
                            <a:rPr lang="fr-FR" sz="1350" i="1">
                              <a:latin typeface="Cambria Math" panose="02040503050406030204" pitchFamily="18" charset="0"/>
                            </a:rPr>
                            <m:t>,</m:t>
                          </m:r>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2</m:t>
                              </m:r>
                            </m:sub>
                          </m:sSub>
                        </m:e>
                      </m:d>
                      <m:r>
                        <a:rPr lang="fr-FR" sz="1350" i="1">
                          <a:latin typeface="Cambria Math" panose="02040503050406030204" pitchFamily="18" charset="0"/>
                        </a:rPr>
                        <m:t>=</m:t>
                      </m:r>
                      <m:f>
                        <m:fPr>
                          <m:ctrlPr>
                            <a:rPr lang="fr-FR" sz="1350" i="1">
                              <a:latin typeface="Cambria Math" panose="02040503050406030204" pitchFamily="18" charset="0"/>
                            </a:rPr>
                          </m:ctrlPr>
                        </m:fPr>
                        <m:num>
                          <m:nary>
                            <m:naryPr>
                              <m:chr m:val="∑"/>
                              <m:ctrlPr>
                                <a:rPr lang="fr-FR" sz="1350" i="1">
                                  <a:latin typeface="Cambria Math" panose="02040503050406030204" pitchFamily="18" charset="0"/>
                                </a:rPr>
                              </m:ctrlPr>
                            </m:naryPr>
                            <m:sub>
                              <m:r>
                                <m:rPr>
                                  <m:brk m:alnAt="23"/>
                                </m:rPr>
                                <a:rPr lang="fr-FR" sz="1350" i="1">
                                  <a:latin typeface="Cambria Math" panose="02040503050406030204" pitchFamily="18" charset="0"/>
                                </a:rPr>
                                <m:t>𝑖</m:t>
                              </m:r>
                              <m:r>
                                <a:rPr lang="fr-FR" sz="1350" i="1">
                                  <a:latin typeface="Cambria Math" panose="02040503050406030204" pitchFamily="18" charset="0"/>
                                </a:rPr>
                                <m:t>=1</m:t>
                              </m:r>
                            </m:sub>
                            <m:sup>
                              <m:r>
                                <a:rPr lang="fr-FR" sz="1350" i="1">
                                  <a:latin typeface="Cambria Math" panose="02040503050406030204" pitchFamily="18" charset="0"/>
                                </a:rPr>
                                <m:t>𝑛</m:t>
                              </m:r>
                            </m:sup>
                            <m:e>
                              <m:d>
                                <m:dPr>
                                  <m:ctrlPr>
                                    <a:rPr lang="fr-FR" sz="1350" i="1">
                                      <a:latin typeface="Cambria Math" panose="02040503050406030204" pitchFamily="18" charset="0"/>
                                    </a:rPr>
                                  </m:ctrlPr>
                                </m:dPr>
                                <m:e>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𝑖</m:t>
                                      </m:r>
                                      <m:r>
                                        <a:rPr lang="fr-FR" sz="1350" i="1">
                                          <a:latin typeface="Cambria Math" panose="02040503050406030204" pitchFamily="18" charset="0"/>
                                        </a:rPr>
                                        <m:t>,1</m:t>
                                      </m:r>
                                    </m:sub>
                                  </m:sSub>
                                  <m:r>
                                    <a:rPr lang="fr-FR" sz="1350" i="1">
                                      <a:latin typeface="Cambria Math" panose="02040503050406030204" pitchFamily="18" charset="0"/>
                                    </a:rPr>
                                    <m:t>−</m:t>
                                  </m:r>
                                  <m:acc>
                                    <m:accPr>
                                      <m:chr m:val="̅"/>
                                      <m:ctrlPr>
                                        <a:rPr lang="fr-FR" sz="1350" i="1">
                                          <a:latin typeface="Cambria Math" panose="02040503050406030204" pitchFamily="18" charset="0"/>
                                        </a:rPr>
                                      </m:ctrlPr>
                                    </m:accPr>
                                    <m:e>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1</m:t>
                                          </m:r>
                                        </m:sub>
                                      </m:sSub>
                                    </m:e>
                                  </m:acc>
                                </m:e>
                              </m:d>
                              <m:d>
                                <m:dPr>
                                  <m:ctrlPr>
                                    <a:rPr lang="fr-FR" sz="1350" i="1">
                                      <a:latin typeface="Cambria Math" panose="02040503050406030204" pitchFamily="18" charset="0"/>
                                    </a:rPr>
                                  </m:ctrlPr>
                                </m:dPr>
                                <m:e>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𝑖</m:t>
                                      </m:r>
                                      <m:r>
                                        <a:rPr lang="fr-FR" sz="1350" i="1">
                                          <a:latin typeface="Cambria Math" panose="02040503050406030204" pitchFamily="18" charset="0"/>
                                        </a:rPr>
                                        <m:t>,2</m:t>
                                      </m:r>
                                    </m:sub>
                                  </m:sSub>
                                  <m:r>
                                    <a:rPr lang="fr-FR" sz="1350" i="1">
                                      <a:latin typeface="Cambria Math" panose="02040503050406030204" pitchFamily="18" charset="0"/>
                                    </a:rPr>
                                    <m:t>−</m:t>
                                  </m:r>
                                  <m:acc>
                                    <m:accPr>
                                      <m:chr m:val="̅"/>
                                      <m:ctrlPr>
                                        <a:rPr lang="fr-FR" sz="1350" i="1">
                                          <a:latin typeface="Cambria Math" panose="02040503050406030204" pitchFamily="18" charset="0"/>
                                        </a:rPr>
                                      </m:ctrlPr>
                                    </m:accPr>
                                    <m:e>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2</m:t>
                                          </m:r>
                                        </m:sub>
                                      </m:sSub>
                                    </m:e>
                                  </m:acc>
                                </m:e>
                              </m:d>
                            </m:e>
                          </m:nary>
                        </m:num>
                        <m:den>
                          <m:r>
                            <a:rPr lang="fr-FR" sz="1350" i="1">
                              <a:latin typeface="Cambria Math" panose="02040503050406030204" pitchFamily="18" charset="0"/>
                            </a:rPr>
                            <m:t>𝑛</m:t>
                          </m:r>
                          <m:r>
                            <a:rPr lang="fr-FR" sz="1350" i="1">
                              <a:latin typeface="Cambria Math" panose="02040503050406030204" pitchFamily="18" charset="0"/>
                            </a:rPr>
                            <m:t>−1</m:t>
                          </m:r>
                        </m:den>
                      </m:f>
                    </m:oMath>
                  </m:oMathPara>
                </a14:m>
                <a:endParaRPr lang="fr-FR" sz="1350" dirty="0"/>
              </a:p>
              <a:p>
                <a:pPr algn="just">
                  <a:lnSpc>
                    <a:spcPct val="100000"/>
                  </a:lnSpc>
                  <a:buClr>
                    <a:schemeClr val="accent2"/>
                  </a:buClr>
                </a:pPr>
                <a:r>
                  <a:rPr lang="fr-FR" sz="1350" dirty="0"/>
                  <a:t>La covariance indique donc si les valeurs de </a:t>
                </a: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1</m:t>
                        </m:r>
                      </m:sub>
                    </m:sSub>
                    <m:r>
                      <a:rPr lang="fr-FR" sz="1350" i="1">
                        <a:latin typeface="Cambria Math" panose="02040503050406030204" pitchFamily="18" charset="0"/>
                      </a:rPr>
                      <m:t> </m:t>
                    </m:r>
                  </m:oMath>
                </a14:m>
                <a:r>
                  <a:rPr lang="fr-FR" sz="1350" dirty="0"/>
                  <a:t>augmentent ou diminuent avec les valeurs croissantes de </a:t>
                </a: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2</m:t>
                        </m:r>
                      </m:sub>
                    </m:sSub>
                  </m:oMath>
                </a14:m>
                <a:r>
                  <a:rPr lang="fr-FR" sz="1350" dirty="0"/>
                  <a:t>. Elle indique le degré de variation conjointe entre les deux variables.</a:t>
                </a:r>
              </a:p>
              <a:p>
                <a:pPr algn="just">
                  <a:lnSpc>
                    <a:spcPct val="100000"/>
                  </a:lnSpc>
                  <a:buClr>
                    <a:schemeClr val="accent2"/>
                  </a:buClr>
                </a:pPr>
                <a:r>
                  <a:rPr lang="fr-FR" sz="1350" dirty="0"/>
                  <a:t>Regarder le signe de la covariance :</a:t>
                </a:r>
              </a:p>
              <a:p>
                <a:pPr lvl="1" algn="just">
                  <a:lnSpc>
                    <a:spcPct val="100000"/>
                  </a:lnSpc>
                  <a:buClr>
                    <a:schemeClr val="accent2"/>
                  </a:buClr>
                </a:pPr>
                <a14:m>
                  <m:oMath xmlns:m="http://schemas.openxmlformats.org/officeDocument/2006/math">
                    <m:r>
                      <a:rPr lang="fr-FR" sz="1125" i="1">
                        <a:latin typeface="Cambria Math" panose="02040503050406030204" pitchFamily="18" charset="0"/>
                      </a:rPr>
                      <m:t>𝑐𝑜𝑣</m:t>
                    </m:r>
                    <m:d>
                      <m:dPr>
                        <m:ctrlPr>
                          <a:rPr lang="fr-FR" sz="1125" i="1">
                            <a:latin typeface="Cambria Math" panose="02040503050406030204" pitchFamily="18" charset="0"/>
                          </a:rPr>
                        </m:ctrlPr>
                      </m:dPr>
                      <m:e>
                        <m:sSub>
                          <m:sSubPr>
                            <m:ctrlPr>
                              <a:rPr lang="fr-FR" sz="1125" i="1">
                                <a:latin typeface="Cambria Math" panose="02040503050406030204" pitchFamily="18" charset="0"/>
                              </a:rPr>
                            </m:ctrlPr>
                          </m:sSubPr>
                          <m:e>
                            <m:r>
                              <a:rPr lang="fr-FR" sz="1125" i="1">
                                <a:latin typeface="Cambria Math" panose="02040503050406030204" pitchFamily="18" charset="0"/>
                              </a:rPr>
                              <m:t>𝑥</m:t>
                            </m:r>
                          </m:e>
                          <m:sub>
                            <m:r>
                              <a:rPr lang="fr-FR" sz="1125" i="1">
                                <a:latin typeface="Cambria Math" panose="02040503050406030204" pitchFamily="18" charset="0"/>
                              </a:rPr>
                              <m:t>1</m:t>
                            </m:r>
                          </m:sub>
                        </m:sSub>
                        <m:r>
                          <a:rPr lang="fr-FR" sz="1125" i="1">
                            <a:latin typeface="Cambria Math" panose="02040503050406030204" pitchFamily="18" charset="0"/>
                          </a:rPr>
                          <m:t>,</m:t>
                        </m:r>
                        <m:sSub>
                          <m:sSubPr>
                            <m:ctrlPr>
                              <a:rPr lang="fr-FR" sz="1125" i="1">
                                <a:latin typeface="Cambria Math" panose="02040503050406030204" pitchFamily="18" charset="0"/>
                              </a:rPr>
                            </m:ctrlPr>
                          </m:sSubPr>
                          <m:e>
                            <m:r>
                              <a:rPr lang="fr-FR" sz="1125" i="1">
                                <a:latin typeface="Cambria Math" panose="02040503050406030204" pitchFamily="18" charset="0"/>
                              </a:rPr>
                              <m:t>𝑥</m:t>
                            </m:r>
                          </m:e>
                          <m:sub>
                            <m:r>
                              <a:rPr lang="fr-FR" sz="1125" i="1">
                                <a:latin typeface="Cambria Math" panose="02040503050406030204" pitchFamily="18" charset="0"/>
                              </a:rPr>
                              <m:t>2</m:t>
                            </m:r>
                          </m:sub>
                        </m:sSub>
                      </m:e>
                    </m:d>
                    <m:r>
                      <a:rPr lang="fr-FR" sz="1125" i="1">
                        <a:latin typeface="Cambria Math" panose="02040503050406030204" pitchFamily="18" charset="0"/>
                        <a:ea typeface="Cambria Math" panose="02040503050406030204" pitchFamily="18" charset="0"/>
                      </a:rPr>
                      <m:t>&gt;0</m:t>
                    </m:r>
                  </m:oMath>
                </a14:m>
                <a:r>
                  <a:rPr lang="fr-FR" sz="1125" dirty="0"/>
                  <a:t>, </a:t>
                </a:r>
                <a14:m>
                  <m:oMath xmlns:m="http://schemas.openxmlformats.org/officeDocument/2006/math">
                    <m:sSub>
                      <m:sSubPr>
                        <m:ctrlPr>
                          <a:rPr lang="fr-FR" sz="1125" i="1">
                            <a:latin typeface="Cambria Math" panose="02040503050406030204" pitchFamily="18" charset="0"/>
                          </a:rPr>
                        </m:ctrlPr>
                      </m:sSubPr>
                      <m:e>
                        <m:r>
                          <a:rPr lang="fr-FR" sz="1125" i="1">
                            <a:latin typeface="Cambria Math" panose="02040503050406030204" pitchFamily="18" charset="0"/>
                          </a:rPr>
                          <m:t>𝑥</m:t>
                        </m:r>
                      </m:e>
                      <m:sub>
                        <m:r>
                          <a:rPr lang="fr-FR" sz="1125" i="1">
                            <a:latin typeface="Cambria Math" panose="02040503050406030204" pitchFamily="18" charset="0"/>
                          </a:rPr>
                          <m:t>1</m:t>
                        </m:r>
                      </m:sub>
                    </m:sSub>
                  </m:oMath>
                </a14:m>
                <a:r>
                  <a:rPr lang="fr-FR" sz="1125" dirty="0"/>
                  <a:t> augmente quand </a:t>
                </a:r>
                <a14:m>
                  <m:oMath xmlns:m="http://schemas.openxmlformats.org/officeDocument/2006/math">
                    <m:sSub>
                      <m:sSubPr>
                        <m:ctrlPr>
                          <a:rPr lang="fr-FR" sz="1125" i="1">
                            <a:latin typeface="Cambria Math" panose="02040503050406030204" pitchFamily="18" charset="0"/>
                          </a:rPr>
                        </m:ctrlPr>
                      </m:sSubPr>
                      <m:e>
                        <m:r>
                          <a:rPr lang="fr-FR" sz="1125" i="1">
                            <a:latin typeface="Cambria Math" panose="02040503050406030204" pitchFamily="18" charset="0"/>
                          </a:rPr>
                          <m:t>𝑥</m:t>
                        </m:r>
                      </m:e>
                      <m:sub>
                        <m:r>
                          <a:rPr lang="fr-FR" sz="1125" i="1">
                            <a:latin typeface="Cambria Math" panose="02040503050406030204" pitchFamily="18" charset="0"/>
                          </a:rPr>
                          <m:t>2</m:t>
                        </m:r>
                      </m:sub>
                    </m:sSub>
                  </m:oMath>
                </a14:m>
                <a:r>
                  <a:rPr lang="fr-FR" sz="1125" dirty="0"/>
                  <a:t> augmente (météo vs consommation de glaces)</a:t>
                </a:r>
              </a:p>
              <a:p>
                <a:pPr lvl="1" algn="just">
                  <a:lnSpc>
                    <a:spcPct val="100000"/>
                  </a:lnSpc>
                  <a:buClr>
                    <a:schemeClr val="accent2"/>
                  </a:buClr>
                </a:pPr>
                <a14:m>
                  <m:oMath xmlns:m="http://schemas.openxmlformats.org/officeDocument/2006/math">
                    <m:r>
                      <a:rPr lang="fr-FR" sz="1125" i="1">
                        <a:latin typeface="Cambria Math" panose="02040503050406030204" pitchFamily="18" charset="0"/>
                      </a:rPr>
                      <m:t>𝑐𝑜𝑣</m:t>
                    </m:r>
                    <m:d>
                      <m:dPr>
                        <m:ctrlPr>
                          <a:rPr lang="fr-FR" sz="1125" i="1">
                            <a:latin typeface="Cambria Math" panose="02040503050406030204" pitchFamily="18" charset="0"/>
                          </a:rPr>
                        </m:ctrlPr>
                      </m:dPr>
                      <m:e>
                        <m:sSub>
                          <m:sSubPr>
                            <m:ctrlPr>
                              <a:rPr lang="fr-FR" sz="1125" i="1">
                                <a:latin typeface="Cambria Math" panose="02040503050406030204" pitchFamily="18" charset="0"/>
                              </a:rPr>
                            </m:ctrlPr>
                          </m:sSubPr>
                          <m:e>
                            <m:r>
                              <a:rPr lang="fr-FR" sz="1125" i="1">
                                <a:latin typeface="Cambria Math" panose="02040503050406030204" pitchFamily="18" charset="0"/>
                              </a:rPr>
                              <m:t>𝑥</m:t>
                            </m:r>
                          </m:e>
                          <m:sub>
                            <m:r>
                              <a:rPr lang="fr-FR" sz="1125" i="1">
                                <a:latin typeface="Cambria Math" panose="02040503050406030204" pitchFamily="18" charset="0"/>
                              </a:rPr>
                              <m:t>1</m:t>
                            </m:r>
                          </m:sub>
                        </m:sSub>
                        <m:r>
                          <a:rPr lang="fr-FR" sz="1125" i="1">
                            <a:latin typeface="Cambria Math" panose="02040503050406030204" pitchFamily="18" charset="0"/>
                          </a:rPr>
                          <m:t>,</m:t>
                        </m:r>
                        <m:sSub>
                          <m:sSubPr>
                            <m:ctrlPr>
                              <a:rPr lang="fr-FR" sz="1125" i="1">
                                <a:latin typeface="Cambria Math" panose="02040503050406030204" pitchFamily="18" charset="0"/>
                              </a:rPr>
                            </m:ctrlPr>
                          </m:sSubPr>
                          <m:e>
                            <m:r>
                              <a:rPr lang="fr-FR" sz="1125" i="1">
                                <a:latin typeface="Cambria Math" panose="02040503050406030204" pitchFamily="18" charset="0"/>
                              </a:rPr>
                              <m:t>𝑥</m:t>
                            </m:r>
                          </m:e>
                          <m:sub>
                            <m:r>
                              <a:rPr lang="fr-FR" sz="1125" i="1">
                                <a:latin typeface="Cambria Math" panose="02040503050406030204" pitchFamily="18" charset="0"/>
                              </a:rPr>
                              <m:t>2</m:t>
                            </m:r>
                          </m:sub>
                        </m:sSub>
                      </m:e>
                    </m:d>
                    <m:r>
                      <a:rPr lang="fr-FR" sz="1125" i="1">
                        <a:latin typeface="Cambria Math" panose="02040503050406030204" pitchFamily="18" charset="0"/>
                        <a:ea typeface="Cambria Math" panose="02040503050406030204" pitchFamily="18" charset="0"/>
                      </a:rPr>
                      <m:t>&lt;0</m:t>
                    </m:r>
                  </m:oMath>
                </a14:m>
                <a:r>
                  <a:rPr lang="fr-FR" sz="1125" dirty="0"/>
                  <a:t>, </a:t>
                </a:r>
                <a14:m>
                  <m:oMath xmlns:m="http://schemas.openxmlformats.org/officeDocument/2006/math">
                    <m:sSub>
                      <m:sSubPr>
                        <m:ctrlPr>
                          <a:rPr lang="fr-FR" sz="1125" i="1">
                            <a:latin typeface="Cambria Math" panose="02040503050406030204" pitchFamily="18" charset="0"/>
                          </a:rPr>
                        </m:ctrlPr>
                      </m:sSubPr>
                      <m:e>
                        <m:r>
                          <a:rPr lang="fr-FR" sz="1125" i="1">
                            <a:latin typeface="Cambria Math" panose="02040503050406030204" pitchFamily="18" charset="0"/>
                          </a:rPr>
                          <m:t>𝑥</m:t>
                        </m:r>
                      </m:e>
                      <m:sub>
                        <m:r>
                          <a:rPr lang="fr-FR" sz="1125" i="1">
                            <a:latin typeface="Cambria Math" panose="02040503050406030204" pitchFamily="18" charset="0"/>
                          </a:rPr>
                          <m:t>1</m:t>
                        </m:r>
                      </m:sub>
                    </m:sSub>
                  </m:oMath>
                </a14:m>
                <a:r>
                  <a:rPr lang="fr-FR" sz="1125" dirty="0"/>
                  <a:t> augmente quand </a:t>
                </a:r>
                <a14:m>
                  <m:oMath xmlns:m="http://schemas.openxmlformats.org/officeDocument/2006/math">
                    <m:sSub>
                      <m:sSubPr>
                        <m:ctrlPr>
                          <a:rPr lang="fr-FR" sz="1125" i="1">
                            <a:latin typeface="Cambria Math" panose="02040503050406030204" pitchFamily="18" charset="0"/>
                          </a:rPr>
                        </m:ctrlPr>
                      </m:sSubPr>
                      <m:e>
                        <m:r>
                          <a:rPr lang="fr-FR" sz="1125" i="1">
                            <a:latin typeface="Cambria Math" panose="02040503050406030204" pitchFamily="18" charset="0"/>
                          </a:rPr>
                          <m:t>𝑥</m:t>
                        </m:r>
                      </m:e>
                      <m:sub>
                        <m:r>
                          <a:rPr lang="fr-FR" sz="1125" i="1">
                            <a:latin typeface="Cambria Math" panose="02040503050406030204" pitchFamily="18" charset="0"/>
                          </a:rPr>
                          <m:t>2</m:t>
                        </m:r>
                      </m:sub>
                    </m:sSub>
                  </m:oMath>
                </a14:m>
                <a:r>
                  <a:rPr lang="fr-FR" sz="1125" dirty="0"/>
                  <a:t> baisse (chauffage vs météo)</a:t>
                </a:r>
                <a:endParaRPr lang="fr-FR" sz="1050" dirty="0"/>
              </a:p>
              <a:p>
                <a:pPr algn="just">
                  <a:lnSpc>
                    <a:spcPct val="100000"/>
                  </a:lnSpc>
                  <a:buClr>
                    <a:schemeClr val="accent2"/>
                  </a:buClr>
                </a:pPr>
                <a:r>
                  <a:rPr lang="fr-FR" sz="1350" dirty="0"/>
                  <a:t>Si </a:t>
                </a: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1</m:t>
                        </m:r>
                      </m:sub>
                    </m:sSub>
                  </m:oMath>
                </a14:m>
                <a:r>
                  <a:rPr lang="fr-FR" sz="1350" dirty="0"/>
                  <a:t> et </a:t>
                </a: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2</m:t>
                        </m:r>
                      </m:sub>
                    </m:sSub>
                  </m:oMath>
                </a14:m>
                <a:r>
                  <a:rPr lang="fr-FR" sz="1350" dirty="0"/>
                  <a:t> sont centrées, alors </a:t>
                </a:r>
                <a14:m>
                  <m:oMath xmlns:m="http://schemas.openxmlformats.org/officeDocument/2006/math">
                    <m:acc>
                      <m:accPr>
                        <m:chr m:val="̅"/>
                        <m:ctrlPr>
                          <a:rPr lang="fr-FR" sz="1350" i="1">
                            <a:latin typeface="Cambria Math" panose="02040503050406030204" pitchFamily="18" charset="0"/>
                          </a:rPr>
                        </m:ctrlPr>
                      </m:accPr>
                      <m:e>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1</m:t>
                            </m:r>
                          </m:sub>
                        </m:sSub>
                      </m:e>
                    </m:acc>
                    <m:r>
                      <a:rPr lang="fr-FR" sz="1350" i="1">
                        <a:latin typeface="Cambria Math" panose="02040503050406030204" pitchFamily="18" charset="0"/>
                      </a:rPr>
                      <m:t>=</m:t>
                    </m:r>
                    <m:acc>
                      <m:accPr>
                        <m:chr m:val="̅"/>
                        <m:ctrlPr>
                          <a:rPr lang="fr-FR" sz="1350" i="1">
                            <a:latin typeface="Cambria Math" panose="02040503050406030204" pitchFamily="18" charset="0"/>
                          </a:rPr>
                        </m:ctrlPr>
                      </m:accPr>
                      <m:e>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2</m:t>
                            </m:r>
                          </m:sub>
                        </m:sSub>
                      </m:e>
                    </m:acc>
                    <m:r>
                      <a:rPr lang="fr-FR" sz="1350" i="1">
                        <a:latin typeface="Cambria Math" panose="02040503050406030204" pitchFamily="18" charset="0"/>
                      </a:rPr>
                      <m:t>=0</m:t>
                    </m:r>
                  </m:oMath>
                </a14:m>
                <a:endParaRPr lang="fr-FR" sz="1350" dirty="0"/>
              </a:p>
            </p:txBody>
          </p:sp>
        </mc:Choice>
        <mc:Fallback xmlns="">
          <p:sp>
            <p:nvSpPr>
              <p:cNvPr id="338" name="Content Placeholder 15">
                <a:extLst>
                  <a:ext uri="{FF2B5EF4-FFF2-40B4-BE49-F238E27FC236}">
                    <a16:creationId xmlns:a16="http://schemas.microsoft.com/office/drawing/2014/main" id="{5088E914-D443-45DE-82D0-F9C87F334117}"/>
                  </a:ext>
                </a:extLst>
              </p:cNvPr>
              <p:cNvSpPr>
                <a:spLocks noGrp="1" noRot="1" noChangeAspect="1" noMove="1" noResize="1" noEditPoints="1" noAdjustHandles="1" noChangeArrowheads="1" noChangeShapeType="1" noTextEdit="1"/>
              </p:cNvSpPr>
              <p:nvPr>
                <p:ph sz="half" idx="13"/>
              </p:nvPr>
            </p:nvSpPr>
            <p:spPr>
              <a:xfrm>
                <a:off x="746911" y="1243441"/>
                <a:ext cx="7179908" cy="3539258"/>
              </a:xfrm>
              <a:blipFill>
                <a:blip r:embed="rId2"/>
                <a:stretch>
                  <a:fillRect l="-1359" t="-1549" r="-1529" b="-4303"/>
                </a:stretch>
              </a:blipFill>
            </p:spPr>
            <p:txBody>
              <a:bodyPr/>
              <a:lstStyle/>
              <a:p>
                <a:r>
                  <a:rPr lang="fr-FR">
                    <a:noFill/>
                  </a:rPr>
                  <a:t> </a:t>
                </a:r>
              </a:p>
            </p:txBody>
          </p:sp>
        </mc:Fallback>
      </mc:AlternateContent>
    </p:spTree>
    <p:extLst>
      <p:ext uri="{BB962C8B-B14F-4D97-AF65-F5344CB8AC3E}">
        <p14:creationId xmlns:p14="http://schemas.microsoft.com/office/powerpoint/2010/main" val="3181438032"/>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234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en Composantes Principales</a:t>
            </a:r>
            <a:endParaRPr lang="fr-FR" sz="2100" b="0" dirty="0"/>
          </a:p>
        </p:txBody>
      </p:sp>
      <p:sp>
        <p:nvSpPr>
          <p:cNvPr id="330" name="Title 13">
            <a:extLst>
              <a:ext uri="{FF2B5EF4-FFF2-40B4-BE49-F238E27FC236}">
                <a16:creationId xmlns:a16="http://schemas.microsoft.com/office/drawing/2014/main" id="{83CBFF22-84F7-4157-8AA7-46B3BFE729AB}"/>
              </a:ext>
            </a:extLst>
          </p:cNvPr>
          <p:cNvSpPr txBox="1">
            <a:spLocks/>
          </p:cNvSpPr>
          <p:nvPr/>
        </p:nvSpPr>
        <p:spPr>
          <a:xfrm>
            <a:off x="389008" y="972046"/>
            <a:ext cx="6249917" cy="19944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Covariance et ACP non normée</a:t>
            </a:r>
          </a:p>
        </p:txBody>
      </p:sp>
      <mc:AlternateContent xmlns:mc="http://schemas.openxmlformats.org/markup-compatibility/2006" xmlns:a14="http://schemas.microsoft.com/office/drawing/2010/main">
        <mc:Choice Requires="a14">
          <p:sp>
            <p:nvSpPr>
              <p:cNvPr id="338" name="Content Placeholder 15">
                <a:extLst>
                  <a:ext uri="{FF2B5EF4-FFF2-40B4-BE49-F238E27FC236}">
                    <a16:creationId xmlns:a16="http://schemas.microsoft.com/office/drawing/2014/main" id="{5088E914-D443-45DE-82D0-F9C87F334117}"/>
                  </a:ext>
                </a:extLst>
              </p:cNvPr>
              <p:cNvSpPr>
                <a:spLocks noGrp="1"/>
              </p:cNvSpPr>
              <p:nvPr>
                <p:ph sz="half" idx="13"/>
              </p:nvPr>
            </p:nvSpPr>
            <p:spPr>
              <a:xfrm>
                <a:off x="746911" y="1391970"/>
                <a:ext cx="5891400" cy="3539258"/>
              </a:xfrm>
            </p:spPr>
            <p:txBody>
              <a:bodyPr>
                <a:noAutofit/>
              </a:bodyPr>
              <a:lstStyle/>
              <a:p>
                <a:pPr algn="just">
                  <a:lnSpc>
                    <a:spcPct val="100000"/>
                  </a:lnSpc>
                  <a:buClr>
                    <a:schemeClr val="accent2"/>
                  </a:buClr>
                </a:pPr>
                <a:r>
                  <a:rPr lang="fr-FR" sz="1350" dirty="0"/>
                  <a:t>La covariance est un indicateur de la direction linéaire entre </a:t>
                </a: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1</m:t>
                        </m:r>
                      </m:sub>
                    </m:sSub>
                  </m:oMath>
                </a14:m>
                <a:r>
                  <a:rPr lang="fr-FR" sz="1350" dirty="0"/>
                  <a:t> et </a:t>
                </a: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2</m:t>
                        </m:r>
                      </m:sub>
                    </m:sSub>
                  </m:oMath>
                </a14:m>
                <a:r>
                  <a:rPr lang="fr-FR" sz="1350" dirty="0"/>
                  <a:t>:</a:t>
                </a:r>
              </a:p>
              <a:p>
                <a:pPr lvl="1" algn="just">
                  <a:lnSpc>
                    <a:spcPct val="100000"/>
                  </a:lnSpc>
                  <a:buClr>
                    <a:schemeClr val="accent2"/>
                  </a:buClr>
                </a:pPr>
                <a:r>
                  <a:rPr lang="fr-FR" sz="1200" dirty="0"/>
                  <a:t>Si sa valeur est positive, alors il y a une liaison croissante</a:t>
                </a:r>
              </a:p>
              <a:p>
                <a:pPr lvl="1" algn="just">
                  <a:lnSpc>
                    <a:spcPct val="100000"/>
                  </a:lnSpc>
                  <a:buClr>
                    <a:schemeClr val="accent2"/>
                  </a:buClr>
                </a:pPr>
                <a:r>
                  <a:rPr lang="fr-FR" sz="1200" dirty="0"/>
                  <a:t>Si sa valeur est négative, alors il y a une liaison décroissante</a:t>
                </a:r>
              </a:p>
              <a:p>
                <a:pPr lvl="1" algn="just">
                  <a:lnSpc>
                    <a:spcPct val="100000"/>
                  </a:lnSpc>
                  <a:buClr>
                    <a:schemeClr val="accent2"/>
                  </a:buClr>
                </a:pPr>
                <a:r>
                  <a:rPr lang="fr-FR" sz="1200" dirty="0"/>
                  <a:t>Si va valeur est nulle, alors il y a une absence de liaison</a:t>
                </a:r>
              </a:p>
              <a:p>
                <a:pPr algn="just">
                  <a:lnSpc>
                    <a:spcPct val="100000"/>
                  </a:lnSpc>
                  <a:buClr>
                    <a:schemeClr val="accent2"/>
                  </a:buClr>
                </a:pPr>
                <a:r>
                  <a:rPr lang="fr-FR" sz="1350" dirty="0"/>
                  <a:t>D’ailleurs si </a:t>
                </a: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1</m:t>
                        </m:r>
                      </m:sub>
                    </m:sSub>
                    <m:r>
                      <a:rPr lang="fr-FR" sz="1350" dirty="0">
                        <a:latin typeface="Cambria Math" panose="02040503050406030204" pitchFamily="18" charset="0"/>
                      </a:rPr>
                      <m:t>⊥</m:t>
                    </m:r>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2</m:t>
                        </m:r>
                      </m:sub>
                    </m:sSub>
                    <m:r>
                      <a:rPr lang="fr-FR" sz="1350" i="1">
                        <a:latin typeface="Cambria Math" panose="02040503050406030204" pitchFamily="18" charset="0"/>
                      </a:rPr>
                      <m:t>⇒</m:t>
                    </m:r>
                    <m:r>
                      <a:rPr lang="fr-FR" sz="1350" i="1">
                        <a:latin typeface="Cambria Math" panose="02040503050406030204" pitchFamily="18" charset="0"/>
                      </a:rPr>
                      <m:t>𝑐𝑜𝑣</m:t>
                    </m:r>
                    <m:r>
                      <a:rPr lang="fr-FR" sz="1350" i="1">
                        <a:latin typeface="Cambria Math" panose="02040503050406030204" pitchFamily="18" charset="0"/>
                      </a:rPr>
                      <m:t>(</m:t>
                    </m:r>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1</m:t>
                        </m:r>
                      </m:sub>
                    </m:sSub>
                    <m:r>
                      <a:rPr lang="fr-FR" sz="1350" i="1">
                        <a:latin typeface="Cambria Math" panose="02040503050406030204" pitchFamily="18" charset="0"/>
                      </a:rPr>
                      <m:t>,</m:t>
                    </m:r>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2</m:t>
                        </m:r>
                      </m:sub>
                    </m:sSub>
                    <m:r>
                      <a:rPr lang="fr-FR" sz="1350" i="1">
                        <a:latin typeface="Cambria Math" panose="02040503050406030204" pitchFamily="18" charset="0"/>
                      </a:rPr>
                      <m:t>)=0</m:t>
                    </m:r>
                  </m:oMath>
                </a14:m>
                <a:r>
                  <a:rPr lang="fr-FR" sz="1350" dirty="0"/>
                  <a:t>, i.e. que si deux variables sont indépendantes alors leur covariance est nulle.</a:t>
                </a:r>
              </a:p>
              <a:p>
                <a:pPr algn="just">
                  <a:lnSpc>
                    <a:spcPct val="100000"/>
                  </a:lnSpc>
                  <a:buClr>
                    <a:schemeClr val="accent2"/>
                  </a:buClr>
                </a:pPr>
                <a:r>
                  <a:rPr lang="fr-FR" sz="1350" dirty="0"/>
                  <a:t>La covariance dépend de l’unité de mesure de </a:t>
                </a: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1</m:t>
                        </m:r>
                      </m:sub>
                    </m:sSub>
                  </m:oMath>
                </a14:m>
                <a:r>
                  <a:rPr lang="fr-FR" sz="1350" dirty="0"/>
                  <a:t> et </a:t>
                </a:r>
                <a14:m>
                  <m:oMath xmlns:m="http://schemas.openxmlformats.org/officeDocument/2006/math">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2</m:t>
                        </m:r>
                      </m:sub>
                    </m:sSub>
                  </m:oMath>
                </a14:m>
                <a:r>
                  <a:rPr lang="fr-FR" sz="1350" dirty="0"/>
                  <a:t>.</a:t>
                </a:r>
              </a:p>
              <a:p>
                <a:pPr algn="just">
                  <a:lnSpc>
                    <a:spcPct val="100000"/>
                  </a:lnSpc>
                  <a:buClr>
                    <a:schemeClr val="accent2"/>
                  </a:buClr>
                </a:pPr>
                <a:r>
                  <a:rPr lang="fr-FR" sz="1350" dirty="0"/>
                  <a:t>La covariance n’a pas de valeur minimale, ni de valeur maximale.</a:t>
                </a:r>
              </a:p>
              <a:p>
                <a:pPr algn="just">
                  <a:lnSpc>
                    <a:spcPct val="100000"/>
                  </a:lnSpc>
                  <a:buClr>
                    <a:schemeClr val="accent2"/>
                  </a:buClr>
                </a:pPr>
                <a:r>
                  <a:rPr lang="fr-FR" sz="1350" dirty="0"/>
                  <a:t>Attention : </a:t>
                </a:r>
                <a14:m>
                  <m:oMath xmlns:m="http://schemas.openxmlformats.org/officeDocument/2006/math">
                    <m:r>
                      <a:rPr lang="fr-FR" sz="1350" i="1">
                        <a:latin typeface="Cambria Math" panose="02040503050406030204" pitchFamily="18" charset="0"/>
                      </a:rPr>
                      <m:t>𝑐𝑜𝑣</m:t>
                    </m:r>
                    <m:r>
                      <a:rPr lang="fr-FR" sz="1350" i="1">
                        <a:latin typeface="Cambria Math" panose="02040503050406030204" pitchFamily="18" charset="0"/>
                      </a:rPr>
                      <m:t>(</m:t>
                    </m:r>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1</m:t>
                        </m:r>
                      </m:sub>
                    </m:sSub>
                    <m:r>
                      <a:rPr lang="fr-FR" sz="1350" i="1">
                        <a:latin typeface="Cambria Math" panose="02040503050406030204" pitchFamily="18" charset="0"/>
                      </a:rPr>
                      <m:t>,</m:t>
                    </m:r>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1</m:t>
                        </m:r>
                      </m:sub>
                    </m:sSub>
                    <m:r>
                      <a:rPr lang="fr-FR" sz="1350" i="1">
                        <a:latin typeface="Cambria Math" panose="02040503050406030204" pitchFamily="18" charset="0"/>
                      </a:rPr>
                      <m:t>)=</m:t>
                    </m:r>
                  </m:oMath>
                </a14:m>
                <a:r>
                  <a:rPr lang="fr-FR" sz="1350" dirty="0"/>
                  <a:t> </a:t>
                </a:r>
                <a14:m>
                  <m:oMath xmlns:m="http://schemas.openxmlformats.org/officeDocument/2006/math">
                    <m:f>
                      <m:fPr>
                        <m:ctrlPr>
                          <a:rPr lang="fr-FR" sz="1350" i="1">
                            <a:latin typeface="Cambria Math" panose="02040503050406030204" pitchFamily="18" charset="0"/>
                          </a:rPr>
                        </m:ctrlPr>
                      </m:fPr>
                      <m:num>
                        <m:sSup>
                          <m:sSupPr>
                            <m:ctrlPr>
                              <a:rPr lang="fr-FR" sz="1350" i="1">
                                <a:latin typeface="Cambria Math" panose="02040503050406030204" pitchFamily="18" charset="0"/>
                              </a:rPr>
                            </m:ctrlPr>
                          </m:sSupPr>
                          <m:e>
                            <m:nary>
                              <m:naryPr>
                                <m:chr m:val="∑"/>
                                <m:ctrlPr>
                                  <a:rPr lang="fr-FR" sz="1350" i="1">
                                    <a:latin typeface="Cambria Math" panose="02040503050406030204" pitchFamily="18" charset="0"/>
                                  </a:rPr>
                                </m:ctrlPr>
                              </m:naryPr>
                              <m:sub>
                                <m:r>
                                  <m:rPr>
                                    <m:brk m:alnAt="23"/>
                                  </m:rPr>
                                  <a:rPr lang="fr-FR" sz="1350" i="1">
                                    <a:latin typeface="Cambria Math" panose="02040503050406030204" pitchFamily="18" charset="0"/>
                                  </a:rPr>
                                  <m:t>𝑖</m:t>
                                </m:r>
                                <m:r>
                                  <a:rPr lang="fr-FR" sz="1350" i="1">
                                    <a:latin typeface="Cambria Math" panose="02040503050406030204" pitchFamily="18" charset="0"/>
                                  </a:rPr>
                                  <m:t>=1</m:t>
                                </m:r>
                              </m:sub>
                              <m:sup>
                                <m:r>
                                  <a:rPr lang="fr-FR" sz="1350" i="1">
                                    <a:latin typeface="Cambria Math" panose="02040503050406030204" pitchFamily="18" charset="0"/>
                                  </a:rPr>
                                  <m:t>𝑛</m:t>
                                </m:r>
                              </m:sup>
                              <m:e>
                                <m:d>
                                  <m:dPr>
                                    <m:ctrlPr>
                                      <a:rPr lang="fr-FR" sz="1350" i="1">
                                        <a:latin typeface="Cambria Math" panose="02040503050406030204" pitchFamily="18" charset="0"/>
                                      </a:rPr>
                                    </m:ctrlPr>
                                  </m:dPr>
                                  <m:e>
                                    <m:sSub>
                                      <m:sSubPr>
                                        <m:ctrlPr>
                                          <a:rPr lang="fr-FR" sz="1350" i="1">
                                            <a:latin typeface="Cambria Math" panose="02040503050406030204" pitchFamily="18" charset="0"/>
                                          </a:rPr>
                                        </m:ctrlPr>
                                      </m:sSubPr>
                                      <m:e>
                                        <m:r>
                                          <a:rPr lang="fr-FR" sz="1350" i="1">
                                            <a:latin typeface="Cambria Math" panose="02040503050406030204" pitchFamily="18" charset="0"/>
                                          </a:rPr>
                                          <m:t>𝑥</m:t>
                                        </m:r>
                                      </m:e>
                                      <m:sub>
                                        <m:r>
                                          <a:rPr lang="fr-FR" sz="1350" i="1">
                                            <a:latin typeface="Cambria Math" panose="02040503050406030204" pitchFamily="18" charset="0"/>
                                          </a:rPr>
                                          <m:t>𝑖</m:t>
                                        </m:r>
                                      </m:sub>
                                    </m:sSub>
                                    <m:r>
                                      <a:rPr lang="fr-FR" sz="1350" i="1">
                                        <a:latin typeface="Cambria Math" panose="02040503050406030204" pitchFamily="18" charset="0"/>
                                      </a:rPr>
                                      <m:t>−</m:t>
                                    </m:r>
                                    <m:acc>
                                      <m:accPr>
                                        <m:chr m:val="̅"/>
                                        <m:ctrlPr>
                                          <a:rPr lang="fr-FR" sz="1350" i="1">
                                            <a:latin typeface="Cambria Math" panose="02040503050406030204" pitchFamily="18" charset="0"/>
                                          </a:rPr>
                                        </m:ctrlPr>
                                      </m:accPr>
                                      <m:e>
                                        <m:r>
                                          <a:rPr lang="fr-FR" sz="1350" i="1">
                                            <a:latin typeface="Cambria Math" panose="02040503050406030204" pitchFamily="18" charset="0"/>
                                          </a:rPr>
                                          <m:t>𝑥</m:t>
                                        </m:r>
                                      </m:e>
                                    </m:acc>
                                  </m:e>
                                </m:d>
                              </m:e>
                            </m:nary>
                          </m:e>
                          <m:sup>
                            <m:r>
                              <a:rPr lang="fr-FR" sz="1350" i="1">
                                <a:latin typeface="Cambria Math" panose="02040503050406030204" pitchFamily="18" charset="0"/>
                              </a:rPr>
                              <m:t>2</m:t>
                            </m:r>
                          </m:sup>
                        </m:sSup>
                      </m:num>
                      <m:den>
                        <m:r>
                          <a:rPr lang="fr-FR" sz="1350" i="1">
                            <a:latin typeface="Cambria Math" panose="02040503050406030204" pitchFamily="18" charset="0"/>
                          </a:rPr>
                          <m:t>𝑛</m:t>
                        </m:r>
                      </m:den>
                    </m:f>
                    <m:r>
                      <a:rPr lang="fr-FR" sz="1350" i="1">
                        <a:latin typeface="Cambria Math" panose="02040503050406030204" pitchFamily="18" charset="0"/>
                      </a:rPr>
                      <m:t>=</m:t>
                    </m:r>
                    <m:r>
                      <a:rPr lang="fr-FR" sz="1350" i="1">
                        <a:latin typeface="Cambria Math" panose="02040503050406030204" pitchFamily="18" charset="0"/>
                      </a:rPr>
                      <m:t>𝑉</m:t>
                    </m:r>
                    <m:r>
                      <a:rPr lang="fr-FR" sz="1350" i="1">
                        <a:latin typeface="Cambria Math" panose="02040503050406030204" pitchFamily="18" charset="0"/>
                      </a:rPr>
                      <m:t>(</m:t>
                    </m:r>
                    <m:r>
                      <a:rPr lang="fr-FR" sz="1350" i="1">
                        <a:latin typeface="Cambria Math" panose="02040503050406030204" pitchFamily="18" charset="0"/>
                      </a:rPr>
                      <m:t>𝑥</m:t>
                    </m:r>
                    <m:r>
                      <a:rPr lang="fr-FR" sz="1350" i="1">
                        <a:latin typeface="Cambria Math" panose="02040503050406030204" pitchFamily="18" charset="0"/>
                      </a:rPr>
                      <m:t>)</m:t>
                    </m:r>
                  </m:oMath>
                </a14:m>
                <a:r>
                  <a:rPr lang="fr-FR" sz="1350" dirty="0"/>
                  <a:t>, i.e. la covariance d’une variable avec elle-même est tout simplement la variance (autocovariance).</a:t>
                </a:r>
              </a:p>
              <a:p>
                <a:pPr algn="just">
                  <a:lnSpc>
                    <a:spcPct val="100000"/>
                  </a:lnSpc>
                  <a:buClr>
                    <a:schemeClr val="accent2"/>
                  </a:buClr>
                </a:pPr>
                <a:r>
                  <a:rPr lang="fr-FR" sz="1350" dirty="0"/>
                  <a:t>Ne confondez pas covariance et corrélation (évitons toute digression pour l’instant).</a:t>
                </a:r>
              </a:p>
            </p:txBody>
          </p:sp>
        </mc:Choice>
        <mc:Fallback xmlns="">
          <p:sp>
            <p:nvSpPr>
              <p:cNvPr id="338" name="Content Placeholder 15">
                <a:extLst>
                  <a:ext uri="{FF2B5EF4-FFF2-40B4-BE49-F238E27FC236}">
                    <a16:creationId xmlns:a16="http://schemas.microsoft.com/office/drawing/2014/main" id="{5088E914-D443-45DE-82D0-F9C87F334117}"/>
                  </a:ext>
                </a:extLst>
              </p:cNvPr>
              <p:cNvSpPr>
                <a:spLocks noGrp="1" noRot="1" noChangeAspect="1" noMove="1" noResize="1" noEditPoints="1" noAdjustHandles="1" noChangeArrowheads="1" noChangeShapeType="1" noTextEdit="1"/>
              </p:cNvSpPr>
              <p:nvPr>
                <p:ph sz="half" idx="13"/>
              </p:nvPr>
            </p:nvSpPr>
            <p:spPr>
              <a:xfrm>
                <a:off x="746911" y="1391970"/>
                <a:ext cx="5891400" cy="3539258"/>
              </a:xfrm>
              <a:blipFill>
                <a:blip r:embed="rId3"/>
                <a:stretch>
                  <a:fillRect l="-1656" t="-1549" r="-1760"/>
                </a:stretch>
              </a:blipFill>
            </p:spPr>
            <p:txBody>
              <a:bodyPr/>
              <a:lstStyle/>
              <a:p>
                <a:r>
                  <a:rPr lang="fr-FR">
                    <a:noFill/>
                  </a:rPr>
                  <a:t> </a:t>
                </a:r>
              </a:p>
            </p:txBody>
          </p:sp>
        </mc:Fallback>
      </mc:AlternateContent>
    </p:spTree>
    <p:extLst>
      <p:ext uri="{BB962C8B-B14F-4D97-AF65-F5344CB8AC3E}">
        <p14:creationId xmlns:p14="http://schemas.microsoft.com/office/powerpoint/2010/main" val="2953494240"/>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235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en Composantes Principales</a:t>
            </a:r>
            <a:endParaRPr lang="fr-FR" sz="2100" b="0" dirty="0"/>
          </a:p>
        </p:txBody>
      </p:sp>
      <p:sp>
        <p:nvSpPr>
          <p:cNvPr id="330" name="Title 13">
            <a:extLst>
              <a:ext uri="{FF2B5EF4-FFF2-40B4-BE49-F238E27FC236}">
                <a16:creationId xmlns:a16="http://schemas.microsoft.com/office/drawing/2014/main" id="{83CBFF22-84F7-4157-8AA7-46B3BFE729AB}"/>
              </a:ext>
            </a:extLst>
          </p:cNvPr>
          <p:cNvSpPr txBox="1">
            <a:spLocks/>
          </p:cNvSpPr>
          <p:nvPr/>
        </p:nvSpPr>
        <p:spPr>
          <a:xfrm>
            <a:off x="389008" y="972046"/>
            <a:ext cx="6249917" cy="19944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Covariance et ACP non normée</a:t>
            </a:r>
          </a:p>
        </p:txBody>
      </p:sp>
      <mc:AlternateContent xmlns:mc="http://schemas.openxmlformats.org/markup-compatibility/2006" xmlns:a14="http://schemas.microsoft.com/office/drawing/2010/main">
        <mc:Choice Requires="a14">
          <p:sp>
            <p:nvSpPr>
              <p:cNvPr id="338" name="Content Placeholder 15">
                <a:extLst>
                  <a:ext uri="{FF2B5EF4-FFF2-40B4-BE49-F238E27FC236}">
                    <a16:creationId xmlns:a16="http://schemas.microsoft.com/office/drawing/2014/main" id="{5088E914-D443-45DE-82D0-F9C87F334117}"/>
                  </a:ext>
                </a:extLst>
              </p:cNvPr>
              <p:cNvSpPr>
                <a:spLocks noGrp="1"/>
              </p:cNvSpPr>
              <p:nvPr>
                <p:ph sz="half" idx="13"/>
              </p:nvPr>
            </p:nvSpPr>
            <p:spPr>
              <a:xfrm>
                <a:off x="746910" y="1391970"/>
                <a:ext cx="7216241" cy="3539258"/>
              </a:xfrm>
            </p:spPr>
            <p:txBody>
              <a:bodyPr>
                <a:noAutofit/>
              </a:bodyPr>
              <a:lstStyle/>
              <a:p>
                <a:pPr algn="just">
                  <a:lnSpc>
                    <a:spcPct val="100000"/>
                  </a:lnSpc>
                  <a:buClr>
                    <a:schemeClr val="accent2"/>
                  </a:buClr>
                </a:pPr>
                <a:r>
                  <a:rPr lang="fr-FR" sz="1425" dirty="0"/>
                  <a:t>Si </a:t>
                </a:r>
                <a14:m>
                  <m:oMath xmlns:m="http://schemas.openxmlformats.org/officeDocument/2006/math">
                    <m:sSub>
                      <m:sSubPr>
                        <m:ctrlPr>
                          <a:rPr lang="fr-FR" sz="1425" i="1">
                            <a:latin typeface="Cambria Math" panose="02040503050406030204" pitchFamily="18" charset="0"/>
                          </a:rPr>
                        </m:ctrlPr>
                      </m:sSubPr>
                      <m:e>
                        <m:r>
                          <a:rPr lang="fr-FR" sz="1425" i="1">
                            <a:latin typeface="Cambria Math" panose="02040503050406030204" pitchFamily="18" charset="0"/>
                          </a:rPr>
                          <m:t>𝑥</m:t>
                        </m:r>
                      </m:e>
                      <m:sub>
                        <m:r>
                          <a:rPr lang="fr-FR" sz="1425" i="1">
                            <a:latin typeface="Cambria Math" panose="02040503050406030204" pitchFamily="18" charset="0"/>
                          </a:rPr>
                          <m:t>1</m:t>
                        </m:r>
                      </m:sub>
                    </m:sSub>
                  </m:oMath>
                </a14:m>
                <a:r>
                  <a:rPr lang="fr-FR" sz="1425" dirty="0"/>
                  <a:t> et </a:t>
                </a:r>
                <a14:m>
                  <m:oMath xmlns:m="http://schemas.openxmlformats.org/officeDocument/2006/math">
                    <m:sSub>
                      <m:sSubPr>
                        <m:ctrlPr>
                          <a:rPr lang="fr-FR" sz="1425" i="1">
                            <a:latin typeface="Cambria Math" panose="02040503050406030204" pitchFamily="18" charset="0"/>
                          </a:rPr>
                        </m:ctrlPr>
                      </m:sSubPr>
                      <m:e>
                        <m:r>
                          <a:rPr lang="fr-FR" sz="1425" i="1">
                            <a:latin typeface="Cambria Math" panose="02040503050406030204" pitchFamily="18" charset="0"/>
                          </a:rPr>
                          <m:t>𝑥</m:t>
                        </m:r>
                      </m:e>
                      <m:sub>
                        <m:r>
                          <a:rPr lang="fr-FR" sz="1425" i="1">
                            <a:latin typeface="Cambria Math" panose="02040503050406030204" pitchFamily="18" charset="0"/>
                          </a:rPr>
                          <m:t>2</m:t>
                        </m:r>
                      </m:sub>
                    </m:sSub>
                  </m:oMath>
                </a14:m>
                <a:r>
                  <a:rPr lang="fr-FR" sz="1425" dirty="0"/>
                  <a:t> sont centrées, alors leurs espérances sont nulles :</a:t>
                </a:r>
              </a:p>
              <a:p>
                <a:pPr marL="0" indent="0" algn="ctr">
                  <a:lnSpc>
                    <a:spcPct val="100000"/>
                  </a:lnSpc>
                  <a:buClr>
                    <a:schemeClr val="accent2"/>
                  </a:buClr>
                  <a:buNone/>
                </a:pPr>
                <a14:m>
                  <m:oMath xmlns:m="http://schemas.openxmlformats.org/officeDocument/2006/math">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1</m:t>
                        </m:r>
                      </m:sub>
                    </m:sSub>
                    <m:r>
                      <a:rPr lang="fr-FR" sz="1200" i="1">
                        <a:latin typeface="Cambria Math" panose="02040503050406030204" pitchFamily="18" charset="0"/>
                      </a:rPr>
                      <m:t>−</m:t>
                    </m:r>
                    <m:r>
                      <a:rPr lang="fr-FR" sz="1200" i="1">
                        <a:latin typeface="Cambria Math" panose="02040503050406030204" pitchFamily="18" charset="0"/>
                      </a:rPr>
                      <m:t>𝐸</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1</m:t>
                            </m:r>
                          </m:sub>
                        </m:sSub>
                      </m:e>
                    </m:d>
                    <m:r>
                      <a:rPr lang="fr-FR" sz="1200" i="1">
                        <a:latin typeface="Cambria Math" panose="02040503050406030204" pitchFamily="18" charset="0"/>
                      </a:rPr>
                      <m:t>=0</m:t>
                    </m:r>
                  </m:oMath>
                </a14:m>
                <a:r>
                  <a:rPr lang="fr-FR" sz="1200" dirty="0"/>
                  <a:t> et </a:t>
                </a:r>
                <a14:m>
                  <m:oMath xmlns:m="http://schemas.openxmlformats.org/officeDocument/2006/math">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2</m:t>
                        </m:r>
                      </m:sub>
                    </m:sSub>
                    <m:r>
                      <a:rPr lang="fr-FR" sz="1200" i="1">
                        <a:latin typeface="Cambria Math" panose="02040503050406030204" pitchFamily="18" charset="0"/>
                      </a:rPr>
                      <m:t>−</m:t>
                    </m:r>
                    <m:r>
                      <a:rPr lang="fr-FR" sz="1200" i="1">
                        <a:latin typeface="Cambria Math" panose="02040503050406030204" pitchFamily="18" charset="0"/>
                      </a:rPr>
                      <m:t>𝐸</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2</m:t>
                            </m:r>
                          </m:sub>
                        </m:sSub>
                      </m:e>
                    </m:d>
                    <m:r>
                      <a:rPr lang="fr-FR" sz="1200" i="1">
                        <a:latin typeface="Cambria Math" panose="02040503050406030204" pitchFamily="18" charset="0"/>
                      </a:rPr>
                      <m:t>=0</m:t>
                    </m:r>
                  </m:oMath>
                </a14:m>
                <a:r>
                  <a:rPr lang="fr-FR" sz="1200" dirty="0"/>
                  <a:t>, donc </a:t>
                </a:r>
                <a14:m>
                  <m:oMath xmlns:m="http://schemas.openxmlformats.org/officeDocument/2006/math">
                    <m:acc>
                      <m:accPr>
                        <m:chr m:val="̅"/>
                        <m:ctrlPr>
                          <a:rPr lang="fr-FR" sz="1200" i="1">
                            <a:latin typeface="Cambria Math" panose="02040503050406030204" pitchFamily="18" charset="0"/>
                          </a:rPr>
                        </m:ctrlPr>
                      </m:acc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1</m:t>
                            </m:r>
                          </m:sub>
                        </m:sSub>
                      </m:e>
                    </m:acc>
                    <m:r>
                      <a:rPr lang="fr-FR" sz="1200" i="1">
                        <a:latin typeface="Cambria Math" panose="02040503050406030204" pitchFamily="18" charset="0"/>
                      </a:rPr>
                      <m:t>=</m:t>
                    </m:r>
                    <m:acc>
                      <m:accPr>
                        <m:chr m:val="̅"/>
                        <m:ctrlPr>
                          <a:rPr lang="fr-FR" sz="1200" i="1">
                            <a:latin typeface="Cambria Math" panose="02040503050406030204" pitchFamily="18" charset="0"/>
                          </a:rPr>
                        </m:ctrlPr>
                      </m:acc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2</m:t>
                            </m:r>
                          </m:sub>
                        </m:sSub>
                      </m:e>
                    </m:acc>
                    <m:r>
                      <a:rPr lang="fr-FR" sz="1200">
                        <a:latin typeface="Cambria Math" panose="02040503050406030204" pitchFamily="18" charset="0"/>
                      </a:rPr>
                      <m:t>=0</m:t>
                    </m:r>
                  </m:oMath>
                </a14:m>
                <a:endParaRPr lang="fr-FR" sz="1200" dirty="0"/>
              </a:p>
              <a:p>
                <a:pPr>
                  <a:lnSpc>
                    <a:spcPct val="100000"/>
                  </a:lnSpc>
                  <a:buClr>
                    <a:schemeClr val="accent2"/>
                  </a:buClr>
                </a:pPr>
                <a14:m>
                  <m:oMath xmlns:m="http://schemas.openxmlformats.org/officeDocument/2006/math">
                    <m:r>
                      <a:rPr lang="fr-FR" sz="1200" i="1">
                        <a:latin typeface="Cambria Math" panose="02040503050406030204" pitchFamily="18" charset="0"/>
                      </a:rPr>
                      <m:t>𝑐𝑜𝑣</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1</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2</m:t>
                            </m:r>
                          </m:sub>
                        </m:sSub>
                      </m:e>
                    </m:d>
                    <m:r>
                      <a:rPr lang="fr-FR" sz="1200" i="1">
                        <a:latin typeface="Cambria Math" panose="02040503050406030204" pitchFamily="18" charset="0"/>
                      </a:rPr>
                      <m:t>=</m:t>
                    </m:r>
                    <m:r>
                      <a:rPr lang="fr-FR" sz="1200" i="1">
                        <a:latin typeface="Cambria Math" panose="02040503050406030204" pitchFamily="18" charset="0"/>
                      </a:rPr>
                      <m:t>𝑐𝑜𝑣</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2</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1</m:t>
                            </m:r>
                          </m:sub>
                        </m:sSub>
                      </m:e>
                    </m:d>
                  </m:oMath>
                </a14:m>
                <a:endParaRPr lang="fr-FR" sz="1200" dirty="0"/>
              </a:p>
              <a:p>
                <a:pPr>
                  <a:lnSpc>
                    <a:spcPct val="100000"/>
                  </a:lnSpc>
                  <a:buClr>
                    <a:schemeClr val="accent2"/>
                  </a:buClr>
                </a:pPr>
                <a:r>
                  <a:rPr lang="fr-FR" sz="1425" dirty="0"/>
                  <a:t>Pour </a:t>
                </a:r>
                <a14:m>
                  <m:oMath xmlns:m="http://schemas.openxmlformats.org/officeDocument/2006/math">
                    <m:r>
                      <a:rPr lang="fr-FR" sz="1425" i="1">
                        <a:latin typeface="Cambria Math" panose="02040503050406030204" pitchFamily="18" charset="0"/>
                      </a:rPr>
                      <m:t>𝑝</m:t>
                    </m:r>
                    <m:r>
                      <a:rPr lang="fr-FR" sz="1425" i="1">
                        <a:latin typeface="Cambria Math" panose="02040503050406030204" pitchFamily="18" charset="0"/>
                        <a:ea typeface="Cambria Math" panose="02040503050406030204" pitchFamily="18" charset="0"/>
                      </a:rPr>
                      <m:t>≥2</m:t>
                    </m:r>
                  </m:oMath>
                </a14:m>
                <a:r>
                  <a:rPr lang="fr-FR" sz="1425" dirty="0"/>
                  <a:t>, on calcule la covariance pour toutes les paires de variables possibles. Soit la matrice de covariances </a:t>
                </a:r>
                <a14:m>
                  <m:oMath xmlns:m="http://schemas.openxmlformats.org/officeDocument/2006/math">
                    <m:r>
                      <a:rPr lang="fr-FR" sz="1425" i="1" dirty="0">
                        <a:latin typeface="Cambria Math" panose="02040503050406030204" pitchFamily="18" charset="0"/>
                      </a:rPr>
                      <m:t>𝐶</m:t>
                    </m:r>
                  </m:oMath>
                </a14:m>
                <a:r>
                  <a:rPr lang="fr-FR" sz="1425" dirty="0"/>
                  <a:t> :</a:t>
                </a:r>
              </a:p>
              <a:p>
                <a:pPr marL="0" indent="0">
                  <a:lnSpc>
                    <a:spcPct val="100000"/>
                  </a:lnSpc>
                  <a:buClr>
                    <a:schemeClr val="accent2"/>
                  </a:buClr>
                  <a:buNone/>
                </a:pPr>
                <a14:m>
                  <m:oMathPara xmlns:m="http://schemas.openxmlformats.org/officeDocument/2006/math">
                    <m:oMathParaPr>
                      <m:jc m:val="centerGroup"/>
                    </m:oMathParaPr>
                    <m:oMath xmlns:m="http://schemas.openxmlformats.org/officeDocument/2006/math">
                      <m:r>
                        <a:rPr lang="fr-FR" sz="1200" i="1" dirty="0">
                          <a:latin typeface="Cambria Math" panose="02040503050406030204" pitchFamily="18" charset="0"/>
                        </a:rPr>
                        <m:t>𝐶</m:t>
                      </m:r>
                      <m:r>
                        <a:rPr lang="fr-FR" sz="1200" i="1" dirty="0">
                          <a:latin typeface="Cambria Math" panose="02040503050406030204" pitchFamily="18" charset="0"/>
                        </a:rPr>
                        <m:t>=</m:t>
                      </m:r>
                      <m:d>
                        <m:dPr>
                          <m:ctrlPr>
                            <a:rPr lang="fr-FR" sz="1200" i="1">
                              <a:latin typeface="Cambria Math" panose="02040503050406030204" pitchFamily="18" charset="0"/>
                            </a:rPr>
                          </m:ctrlPr>
                        </m:dPr>
                        <m:e>
                          <m:m>
                            <m:mPr>
                              <m:mcs>
                                <m:mc>
                                  <m:mcPr>
                                    <m:count m:val="3"/>
                                    <m:mcJc m:val="center"/>
                                  </m:mcPr>
                                </m:mc>
                              </m:mcs>
                              <m:ctrlPr>
                                <a:rPr lang="fr-FR" sz="1200" i="1">
                                  <a:latin typeface="Cambria Math" panose="02040503050406030204" pitchFamily="18" charset="0"/>
                                </a:rPr>
                              </m:ctrlPr>
                            </m:mPr>
                            <m:mr>
                              <m:e>
                                <m:r>
                                  <m:rPr>
                                    <m:brk m:alnAt="7"/>
                                  </m:rPr>
                                  <a:rPr lang="fr-FR" sz="1200" i="1">
                                    <a:solidFill>
                                      <a:schemeClr val="accent1"/>
                                    </a:solidFill>
                                    <a:latin typeface="Cambria Math" panose="02040503050406030204" pitchFamily="18" charset="0"/>
                                  </a:rPr>
                                  <m:t>𝑣</m:t>
                                </m:r>
                                <m:r>
                                  <a:rPr lang="fr-FR" sz="1200" i="1">
                                    <a:solidFill>
                                      <a:schemeClr val="accent1"/>
                                    </a:solidFill>
                                    <a:latin typeface="Cambria Math" panose="02040503050406030204" pitchFamily="18" charset="0"/>
                                  </a:rPr>
                                  <m:t>𝑎𝑟</m:t>
                                </m:r>
                                <m:r>
                                  <a:rPr lang="fr-FR" sz="1200" i="1">
                                    <a:solidFill>
                                      <a:schemeClr val="accent1"/>
                                    </a:solidFill>
                                    <a:latin typeface="Cambria Math" panose="02040503050406030204" pitchFamily="18" charset="0"/>
                                  </a:rPr>
                                  <m:t>(</m:t>
                                </m:r>
                                <m:sSub>
                                  <m:sSubPr>
                                    <m:ctrlPr>
                                      <a:rPr lang="fr-FR" sz="1200" i="1">
                                        <a:solidFill>
                                          <a:schemeClr val="accent1"/>
                                        </a:solidFill>
                                        <a:latin typeface="Cambria Math" panose="02040503050406030204" pitchFamily="18" charset="0"/>
                                      </a:rPr>
                                    </m:ctrlPr>
                                  </m:sSubPr>
                                  <m:e>
                                    <m:r>
                                      <a:rPr lang="fr-FR" sz="1200" i="1">
                                        <a:solidFill>
                                          <a:schemeClr val="accent1"/>
                                        </a:solidFill>
                                        <a:latin typeface="Cambria Math" panose="02040503050406030204" pitchFamily="18" charset="0"/>
                                      </a:rPr>
                                      <m:t>𝑥</m:t>
                                    </m:r>
                                  </m:e>
                                  <m:sub>
                                    <m:r>
                                      <a:rPr lang="fr-FR" sz="1200" i="1">
                                        <a:solidFill>
                                          <a:schemeClr val="accent1"/>
                                        </a:solidFill>
                                        <a:latin typeface="Cambria Math" panose="02040503050406030204" pitchFamily="18" charset="0"/>
                                      </a:rPr>
                                      <m:t>1</m:t>
                                    </m:r>
                                  </m:sub>
                                </m:sSub>
                                <m:r>
                                  <m:rPr>
                                    <m:brk m:alnAt="7"/>
                                  </m:rPr>
                                  <a:rPr lang="fr-FR" sz="1200" i="1">
                                    <a:solidFill>
                                      <a:schemeClr val="accent1"/>
                                    </a:solidFill>
                                    <a:latin typeface="Cambria Math" panose="02040503050406030204" pitchFamily="18" charset="0"/>
                                  </a:rPr>
                                  <m:t>)</m:t>
                                </m:r>
                              </m:e>
                              <m:e>
                                <m:r>
                                  <a:rPr lang="fr-FR" sz="1200" i="1">
                                    <a:latin typeface="Cambria Math" panose="02040503050406030204" pitchFamily="18" charset="0"/>
                                  </a:rPr>
                                  <m:t>𝑐𝑜𝑣</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1</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2</m:t>
                                        </m:r>
                                      </m:sub>
                                    </m:sSub>
                                  </m:e>
                                </m:d>
                                <m:r>
                                  <m:rPr>
                                    <m:brk m:alnAt="7"/>
                                  </m:rPr>
                                  <a:rPr lang="fr-FR" sz="1200" i="1">
                                    <a:latin typeface="Cambria Math" panose="02040503050406030204" pitchFamily="18" charset="0"/>
                                  </a:rPr>
                                  <m:t> </m:t>
                                </m:r>
                                <m:r>
                                  <a:rPr lang="fr-FR" sz="1200" i="1">
                                    <a:latin typeface="Cambria Math" panose="02040503050406030204" pitchFamily="18" charset="0"/>
                                  </a:rPr>
                                  <m:t> ⋯  </m:t>
                                </m:r>
                                <m:r>
                                  <a:rPr lang="fr-FR" sz="1200" i="1">
                                    <a:latin typeface="Cambria Math" panose="02040503050406030204" pitchFamily="18" charset="0"/>
                                  </a:rPr>
                                  <m:t>𝑐𝑜𝑣</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1</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𝑗</m:t>
                                        </m:r>
                                      </m:sub>
                                    </m:sSub>
                                  </m:e>
                                </m:d>
                                <m:r>
                                  <a:rPr lang="fr-FR" sz="1200" i="1">
                                    <a:latin typeface="Cambria Math" panose="02040503050406030204" pitchFamily="18" charset="0"/>
                                  </a:rPr>
                                  <m:t>  ⋯ </m:t>
                                </m:r>
                              </m:e>
                              <m:e>
                                <m:r>
                                  <a:rPr lang="fr-FR" sz="1200" i="1">
                                    <a:latin typeface="Cambria Math" panose="02040503050406030204" pitchFamily="18" charset="0"/>
                                  </a:rPr>
                                  <m:t>𝑐𝑜𝑣</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1</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𝑝</m:t>
                                        </m:r>
                                      </m:sub>
                                    </m:sSub>
                                  </m:e>
                                </m:d>
                              </m:e>
                            </m:mr>
                            <m:mr>
                              <m:e>
                                <m:eqArr>
                                  <m:eqArrPr>
                                    <m:ctrlPr>
                                      <a:rPr lang="fr-FR" sz="1200" i="1">
                                        <a:latin typeface="Cambria Math" panose="02040503050406030204" pitchFamily="18" charset="0"/>
                                      </a:rPr>
                                    </m:ctrlPr>
                                  </m:eqArrPr>
                                  <m:e>
                                    <m:r>
                                      <a:rPr lang="fr-FR" sz="1200" i="1">
                                        <a:latin typeface="Cambria Math" panose="02040503050406030204" pitchFamily="18" charset="0"/>
                                      </a:rPr>
                                      <m:t>𝑐𝑜𝑣</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2</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1</m:t>
                                            </m:r>
                                          </m:sub>
                                        </m:sSub>
                                      </m:e>
                                    </m:d>
                                  </m:e>
                                  <m:e>
                                    <m:r>
                                      <a:rPr lang="fr-FR" sz="1200" i="1">
                                        <a:latin typeface="Cambria Math" panose="02040503050406030204" pitchFamily="18" charset="0"/>
                                      </a:rPr>
                                      <m:t>⋯</m:t>
                                    </m:r>
                                  </m:e>
                                </m:eqArr>
                              </m:e>
                              <m:e>
                                <m:eqArr>
                                  <m:eqArrPr>
                                    <m:ctrlPr>
                                      <a:rPr lang="fr-FR" sz="1200" i="1">
                                        <a:latin typeface="Cambria Math" panose="02040503050406030204" pitchFamily="18" charset="0"/>
                                      </a:rPr>
                                    </m:ctrlPr>
                                  </m:eqArrPr>
                                  <m:e>
                                    <m:r>
                                      <a:rPr lang="fr-FR" sz="1200" i="1">
                                        <a:solidFill>
                                          <a:schemeClr val="accent1"/>
                                        </a:solidFill>
                                        <a:latin typeface="Cambria Math" panose="02040503050406030204" pitchFamily="18" charset="0"/>
                                      </a:rPr>
                                      <m:t>𝑣𝑎𝑟</m:t>
                                    </m:r>
                                    <m:d>
                                      <m:dPr>
                                        <m:ctrlPr>
                                          <a:rPr lang="fr-FR" sz="1200" i="1">
                                            <a:solidFill>
                                              <a:schemeClr val="accent1"/>
                                            </a:solidFill>
                                            <a:latin typeface="Cambria Math" panose="02040503050406030204" pitchFamily="18" charset="0"/>
                                          </a:rPr>
                                        </m:ctrlPr>
                                      </m:dPr>
                                      <m:e>
                                        <m:sSub>
                                          <m:sSubPr>
                                            <m:ctrlPr>
                                              <a:rPr lang="fr-FR" sz="1200" i="1">
                                                <a:solidFill>
                                                  <a:schemeClr val="accent1"/>
                                                </a:solidFill>
                                                <a:latin typeface="Cambria Math" panose="02040503050406030204" pitchFamily="18" charset="0"/>
                                              </a:rPr>
                                            </m:ctrlPr>
                                          </m:sSubPr>
                                          <m:e>
                                            <m:r>
                                              <a:rPr lang="fr-FR" sz="1200" i="1">
                                                <a:solidFill>
                                                  <a:schemeClr val="accent1"/>
                                                </a:solidFill>
                                                <a:latin typeface="Cambria Math" panose="02040503050406030204" pitchFamily="18" charset="0"/>
                                              </a:rPr>
                                              <m:t>𝑥</m:t>
                                            </m:r>
                                          </m:e>
                                          <m:sub>
                                            <m:r>
                                              <a:rPr lang="fr-FR" sz="1200" i="1">
                                                <a:solidFill>
                                                  <a:schemeClr val="accent1"/>
                                                </a:solidFill>
                                                <a:latin typeface="Cambria Math" panose="02040503050406030204" pitchFamily="18" charset="0"/>
                                              </a:rPr>
                                              <m:t>2</m:t>
                                            </m:r>
                                          </m:sub>
                                        </m:sSub>
                                      </m:e>
                                    </m:d>
                                    <m:r>
                                      <m:rPr>
                                        <m:brk m:alnAt="7"/>
                                      </m:rPr>
                                      <a:rPr lang="fr-FR" sz="1200" i="1">
                                        <a:latin typeface="Cambria Math" panose="02040503050406030204" pitchFamily="18" charset="0"/>
                                      </a:rPr>
                                      <m:t> </m:t>
                                    </m:r>
                                    <m:r>
                                      <a:rPr lang="fr-FR" sz="1200" i="1">
                                        <a:latin typeface="Cambria Math" panose="02040503050406030204" pitchFamily="18" charset="0"/>
                                      </a:rPr>
                                      <m:t>      ⋯  </m:t>
                                    </m:r>
                                    <m:r>
                                      <a:rPr lang="fr-FR" sz="1200" i="1">
                                        <a:latin typeface="Cambria Math" panose="02040503050406030204" pitchFamily="18" charset="0"/>
                                      </a:rPr>
                                      <m:t>𝑐𝑜𝑣</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2</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𝑗</m:t>
                                            </m:r>
                                          </m:sub>
                                        </m:sSub>
                                      </m:e>
                                    </m:d>
                                    <m:r>
                                      <a:rPr lang="fr-FR" sz="1200" i="1">
                                        <a:latin typeface="Cambria Math" panose="02040503050406030204" pitchFamily="18" charset="0"/>
                                      </a:rPr>
                                      <m:t>  ⋯</m:t>
                                    </m:r>
                                  </m:e>
                                  <m:e>
                                    <m:r>
                                      <a:rPr lang="fr-FR" sz="1200" i="1">
                                        <a:latin typeface="Cambria Math" panose="02040503050406030204" pitchFamily="18" charset="0"/>
                                      </a:rPr>
                                      <m:t>⋯          </m:t>
                                    </m:r>
                                    <m:r>
                                      <a:rPr lang="fr-FR" sz="1200" i="1">
                                        <a:solidFill>
                                          <a:schemeClr val="accent1"/>
                                        </a:solidFill>
                                        <a:latin typeface="Cambria Math" panose="02040503050406030204" pitchFamily="18" charset="0"/>
                                      </a:rPr>
                                      <m:t>⋯</m:t>
                                    </m:r>
                                    <m:r>
                                      <a:rPr lang="fr-FR" sz="1200" i="1">
                                        <a:latin typeface="Cambria Math" panose="02040503050406030204" pitchFamily="18" charset="0"/>
                                      </a:rPr>
                                      <m:t>               ⋯</m:t>
                                    </m:r>
                                  </m:e>
                                </m:eqArr>
                              </m:e>
                              <m:e>
                                <m:eqArr>
                                  <m:eqArrPr>
                                    <m:ctrlPr>
                                      <a:rPr lang="fr-FR" sz="1200" i="1">
                                        <a:latin typeface="Cambria Math" panose="02040503050406030204" pitchFamily="18" charset="0"/>
                                      </a:rPr>
                                    </m:ctrlPr>
                                  </m:eqArrPr>
                                  <m:e>
                                    <m:r>
                                      <a:rPr lang="fr-FR" sz="1200" i="1">
                                        <a:latin typeface="Cambria Math" panose="02040503050406030204" pitchFamily="18" charset="0"/>
                                      </a:rPr>
                                      <m:t>𝑐𝑜𝑣</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2</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𝑝</m:t>
                                            </m:r>
                                          </m:sub>
                                        </m:sSub>
                                      </m:e>
                                    </m:d>
                                  </m:e>
                                  <m:e>
                                    <m:r>
                                      <a:rPr lang="fr-FR" sz="1200" i="1">
                                        <a:latin typeface="Cambria Math" panose="02040503050406030204" pitchFamily="18" charset="0"/>
                                      </a:rPr>
                                      <m:t>⋯</m:t>
                                    </m:r>
                                  </m:e>
                                </m:eqArr>
                              </m:e>
                            </m:mr>
                            <m:mr>
                              <m:e>
                                <m:eqArr>
                                  <m:eqArrPr>
                                    <m:ctrlPr>
                                      <a:rPr lang="fr-FR" sz="1200" i="1">
                                        <a:latin typeface="Cambria Math" panose="02040503050406030204" pitchFamily="18" charset="0"/>
                                      </a:rPr>
                                    </m:ctrlPr>
                                  </m:eqArrPr>
                                  <m:e>
                                    <m:r>
                                      <a:rPr lang="fr-FR" sz="1200" i="1">
                                        <a:latin typeface="Cambria Math" panose="02040503050406030204" pitchFamily="18" charset="0"/>
                                      </a:rPr>
                                      <m:t>𝑐𝑜𝑣</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𝑗</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1</m:t>
                                            </m:r>
                                          </m:sub>
                                        </m:sSub>
                                      </m:e>
                                    </m:d>
                                  </m:e>
                                  <m:e>
                                    <m:r>
                                      <a:rPr lang="fr-FR" sz="1200" i="1">
                                        <a:latin typeface="Cambria Math" panose="02040503050406030204" pitchFamily="18" charset="0"/>
                                      </a:rPr>
                                      <m:t>⋯</m:t>
                                    </m:r>
                                  </m:e>
                                  <m:e>
                                    <m:r>
                                      <a:rPr lang="fr-FR" sz="1200" i="1">
                                        <a:latin typeface="Cambria Math" panose="02040503050406030204" pitchFamily="18" charset="0"/>
                                      </a:rPr>
                                      <m:t>𝑐𝑜𝑣</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𝑝</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1</m:t>
                                            </m:r>
                                          </m:sub>
                                        </m:sSub>
                                      </m:e>
                                    </m:d>
                                  </m:e>
                                </m:eqArr>
                              </m:e>
                              <m:e>
                                <m:eqArr>
                                  <m:eqArrPr>
                                    <m:ctrlPr>
                                      <a:rPr lang="fr-FR" sz="1200" i="1">
                                        <a:latin typeface="Cambria Math" panose="02040503050406030204" pitchFamily="18" charset="0"/>
                                      </a:rPr>
                                    </m:ctrlPr>
                                  </m:eqArrPr>
                                  <m:e>
                                    <m:r>
                                      <a:rPr lang="fr-FR" sz="1200" i="1">
                                        <a:latin typeface="Cambria Math" panose="02040503050406030204" pitchFamily="18" charset="0"/>
                                      </a:rPr>
                                      <m:t>𝑐𝑜𝑣</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𝑗</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2</m:t>
                                            </m:r>
                                          </m:sub>
                                        </m:sSub>
                                      </m:e>
                                    </m:d>
                                    <m:r>
                                      <a:rPr lang="fr-FR" sz="1200" i="1">
                                        <a:latin typeface="Cambria Math" panose="02040503050406030204" pitchFamily="18" charset="0"/>
                                      </a:rPr>
                                      <m:t> ⋯</m:t>
                                    </m:r>
                                    <m:r>
                                      <a:rPr lang="fr-FR" sz="1200" i="1">
                                        <a:solidFill>
                                          <a:schemeClr val="accent1"/>
                                        </a:solidFill>
                                        <a:latin typeface="Cambria Math" panose="02040503050406030204" pitchFamily="18" charset="0"/>
                                      </a:rPr>
                                      <m:t>𝑣𝑎𝑟</m:t>
                                    </m:r>
                                    <m:d>
                                      <m:dPr>
                                        <m:ctrlPr>
                                          <a:rPr lang="fr-FR" sz="1200" i="1">
                                            <a:solidFill>
                                              <a:schemeClr val="accent1"/>
                                            </a:solidFill>
                                            <a:latin typeface="Cambria Math" panose="02040503050406030204" pitchFamily="18" charset="0"/>
                                          </a:rPr>
                                        </m:ctrlPr>
                                      </m:dPr>
                                      <m:e>
                                        <m:sSub>
                                          <m:sSubPr>
                                            <m:ctrlPr>
                                              <a:rPr lang="fr-FR" sz="1200" i="1">
                                                <a:solidFill>
                                                  <a:schemeClr val="accent1"/>
                                                </a:solidFill>
                                                <a:latin typeface="Cambria Math" panose="02040503050406030204" pitchFamily="18" charset="0"/>
                                              </a:rPr>
                                            </m:ctrlPr>
                                          </m:sSubPr>
                                          <m:e>
                                            <m:r>
                                              <a:rPr lang="fr-FR" sz="1200" i="1">
                                                <a:solidFill>
                                                  <a:schemeClr val="accent1"/>
                                                </a:solidFill>
                                                <a:latin typeface="Cambria Math" panose="02040503050406030204" pitchFamily="18" charset="0"/>
                                              </a:rPr>
                                              <m:t>𝑥</m:t>
                                            </m:r>
                                          </m:e>
                                          <m:sub>
                                            <m:r>
                                              <a:rPr lang="fr-FR" sz="1200" i="1">
                                                <a:solidFill>
                                                  <a:schemeClr val="accent1"/>
                                                </a:solidFill>
                                                <a:latin typeface="Cambria Math" panose="02040503050406030204" pitchFamily="18" charset="0"/>
                                              </a:rPr>
                                              <m:t>𝑗</m:t>
                                            </m:r>
                                          </m:sub>
                                        </m:sSub>
                                      </m:e>
                                    </m:d>
                                  </m:e>
                                  <m:e>
                                    <m:r>
                                      <a:rPr lang="fr-FR" sz="1200" i="1">
                                        <a:latin typeface="Cambria Math" panose="02040503050406030204" pitchFamily="18" charset="0"/>
                                      </a:rPr>
                                      <m:t>⋯          ⋯               ⋯</m:t>
                                    </m:r>
                                  </m:e>
                                  <m:e>
                                    <m:r>
                                      <a:rPr lang="fr-FR" sz="1200" i="1">
                                        <a:latin typeface="Cambria Math" panose="02040503050406030204" pitchFamily="18" charset="0"/>
                                      </a:rPr>
                                      <m:t>𝑐𝑜𝑣</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𝑝</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2</m:t>
                                            </m:r>
                                          </m:sub>
                                        </m:sSub>
                                      </m:e>
                                    </m:d>
                                    <m:r>
                                      <a:rPr lang="fr-FR" sz="1200" i="1">
                                        <a:latin typeface="Cambria Math" panose="02040503050406030204" pitchFamily="18" charset="0"/>
                                      </a:rPr>
                                      <m:t>⋯</m:t>
                                    </m:r>
                                    <m:r>
                                      <a:rPr lang="fr-FR" sz="1200" i="1">
                                        <a:latin typeface="Cambria Math" panose="02040503050406030204" pitchFamily="18" charset="0"/>
                                      </a:rPr>
                                      <m:t>𝑐𝑜𝑣</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𝑝</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𝑗</m:t>
                                            </m:r>
                                          </m:sub>
                                        </m:sSub>
                                      </m:e>
                                    </m:d>
                                    <m:r>
                                      <a:rPr lang="fr-FR" sz="1200" i="1">
                                        <a:latin typeface="Cambria Math" panose="02040503050406030204" pitchFamily="18" charset="0"/>
                                      </a:rPr>
                                      <m:t>⋯</m:t>
                                    </m:r>
                                  </m:e>
                                </m:eqArr>
                              </m:e>
                              <m:e>
                                <m:eqArr>
                                  <m:eqArrPr>
                                    <m:ctrlPr>
                                      <a:rPr lang="fr-FR" sz="1200" i="1">
                                        <a:latin typeface="Cambria Math" panose="02040503050406030204" pitchFamily="18" charset="0"/>
                                      </a:rPr>
                                    </m:ctrlPr>
                                  </m:eqArrPr>
                                  <m:e>
                                    <m:r>
                                      <a:rPr lang="fr-FR" sz="1200" i="1">
                                        <a:latin typeface="Cambria Math" panose="02040503050406030204" pitchFamily="18" charset="0"/>
                                      </a:rPr>
                                      <m:t>𝑐𝑜𝑣</m:t>
                                    </m:r>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𝑗</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𝑝</m:t>
                                        </m:r>
                                      </m:sub>
                                    </m:sSub>
                                    <m:r>
                                      <m:rPr>
                                        <m:brk m:alnAt="7"/>
                                      </m:rPr>
                                      <a:rPr lang="fr-FR" sz="1200" i="1">
                                        <a:latin typeface="Cambria Math" panose="02040503050406030204" pitchFamily="18" charset="0"/>
                                      </a:rPr>
                                      <m:t>)</m:t>
                                    </m:r>
                                  </m:e>
                                  <m:e>
                                    <m:r>
                                      <a:rPr lang="fr-FR" sz="1200" i="1">
                                        <a:latin typeface="Cambria Math" panose="02040503050406030204" pitchFamily="18" charset="0"/>
                                      </a:rPr>
                                      <m:t>⋯</m:t>
                                    </m:r>
                                  </m:e>
                                  <m:e>
                                    <m:r>
                                      <a:rPr lang="fr-FR" sz="1200" i="1">
                                        <a:solidFill>
                                          <a:schemeClr val="accent1"/>
                                        </a:solidFill>
                                        <a:latin typeface="Cambria Math" panose="02040503050406030204" pitchFamily="18" charset="0"/>
                                      </a:rPr>
                                      <m:t>𝑣𝑎𝑟</m:t>
                                    </m:r>
                                    <m:d>
                                      <m:dPr>
                                        <m:ctrlPr>
                                          <a:rPr lang="fr-FR" sz="1200" i="1">
                                            <a:solidFill>
                                              <a:schemeClr val="accent1"/>
                                            </a:solidFill>
                                            <a:latin typeface="Cambria Math" panose="02040503050406030204" pitchFamily="18" charset="0"/>
                                          </a:rPr>
                                        </m:ctrlPr>
                                      </m:dPr>
                                      <m:e>
                                        <m:sSub>
                                          <m:sSubPr>
                                            <m:ctrlPr>
                                              <a:rPr lang="fr-FR" sz="1200" i="1">
                                                <a:solidFill>
                                                  <a:schemeClr val="accent1"/>
                                                </a:solidFill>
                                                <a:latin typeface="Cambria Math" panose="02040503050406030204" pitchFamily="18" charset="0"/>
                                              </a:rPr>
                                            </m:ctrlPr>
                                          </m:sSubPr>
                                          <m:e>
                                            <m:r>
                                              <a:rPr lang="fr-FR" sz="1200" i="1">
                                                <a:solidFill>
                                                  <a:schemeClr val="accent1"/>
                                                </a:solidFill>
                                                <a:latin typeface="Cambria Math" panose="02040503050406030204" pitchFamily="18" charset="0"/>
                                              </a:rPr>
                                              <m:t>𝑥</m:t>
                                            </m:r>
                                          </m:e>
                                          <m:sub>
                                            <m:r>
                                              <a:rPr lang="fr-FR" sz="1200" i="1">
                                                <a:solidFill>
                                                  <a:schemeClr val="accent1"/>
                                                </a:solidFill>
                                                <a:latin typeface="Cambria Math" panose="02040503050406030204" pitchFamily="18" charset="0"/>
                                              </a:rPr>
                                              <m:t>𝑝</m:t>
                                            </m:r>
                                          </m:sub>
                                        </m:sSub>
                                      </m:e>
                                    </m:d>
                                  </m:e>
                                </m:eqArr>
                              </m:e>
                            </m:mr>
                          </m:m>
                        </m:e>
                      </m:d>
                    </m:oMath>
                  </m:oMathPara>
                </a14:m>
                <a:endParaRPr lang="fr-FR" sz="1200" dirty="0"/>
              </a:p>
              <a:p>
                <a:pPr>
                  <a:lnSpc>
                    <a:spcPct val="100000"/>
                  </a:lnSpc>
                  <a:buClr>
                    <a:schemeClr val="accent2"/>
                  </a:buClr>
                </a:pPr>
                <a14:m>
                  <m:oMath xmlns:m="http://schemas.openxmlformats.org/officeDocument/2006/math">
                    <m:r>
                      <a:rPr lang="fr-FR" sz="1425" i="1" dirty="0">
                        <a:latin typeface="Cambria Math" panose="02040503050406030204" pitchFamily="18" charset="0"/>
                      </a:rPr>
                      <m:t>𝐶</m:t>
                    </m:r>
                  </m:oMath>
                </a14:m>
                <a:r>
                  <a:rPr lang="fr-FR" sz="1425" dirty="0"/>
                  <a:t> est une matrice carrée de taille </a:t>
                </a:r>
                <a14:m>
                  <m:oMath xmlns:m="http://schemas.openxmlformats.org/officeDocument/2006/math">
                    <m:r>
                      <a:rPr lang="fr-FR" sz="1425" i="1">
                        <a:latin typeface="Cambria Math" panose="02040503050406030204" pitchFamily="18" charset="0"/>
                      </a:rPr>
                      <m:t>𝑝</m:t>
                    </m:r>
                    <m:r>
                      <a:rPr lang="fr-FR" sz="1425" i="1">
                        <a:latin typeface="Cambria Math" panose="02040503050406030204" pitchFamily="18" charset="0"/>
                        <a:ea typeface="Cambria Math" panose="02040503050406030204" pitchFamily="18" charset="0"/>
                      </a:rPr>
                      <m:t>×</m:t>
                    </m:r>
                    <m:r>
                      <a:rPr lang="fr-FR" sz="1425" i="1">
                        <a:latin typeface="Cambria Math" panose="02040503050406030204" pitchFamily="18" charset="0"/>
                        <a:ea typeface="Cambria Math" panose="02040503050406030204" pitchFamily="18" charset="0"/>
                      </a:rPr>
                      <m:t>𝑝</m:t>
                    </m:r>
                  </m:oMath>
                </a14:m>
                <a:r>
                  <a:rPr lang="fr-FR" sz="1425" dirty="0"/>
                  <a:t>, i.e. le nombre de lignes est égal au nombre de colonnes.</a:t>
                </a:r>
              </a:p>
              <a:p>
                <a:pPr>
                  <a:lnSpc>
                    <a:spcPct val="100000"/>
                  </a:lnSpc>
                  <a:buClr>
                    <a:schemeClr val="accent2"/>
                  </a:buClr>
                </a:pPr>
                <a14:m>
                  <m:oMath xmlns:m="http://schemas.openxmlformats.org/officeDocument/2006/math">
                    <m:r>
                      <a:rPr lang="fr-FR" sz="1425" i="1" dirty="0">
                        <a:latin typeface="Cambria Math" panose="02040503050406030204" pitchFamily="18" charset="0"/>
                      </a:rPr>
                      <m:t>𝐶</m:t>
                    </m:r>
                  </m:oMath>
                </a14:m>
                <a:r>
                  <a:rPr lang="fr-FR" sz="1425" dirty="0"/>
                  <a:t> est une matrice symétrique, i.e. une matrice carrée qui est égale à sa transposée.</a:t>
                </a:r>
              </a:p>
              <a:p>
                <a:pPr marL="0" indent="0">
                  <a:lnSpc>
                    <a:spcPct val="100000"/>
                  </a:lnSpc>
                  <a:buClr>
                    <a:schemeClr val="accent2"/>
                  </a:buClr>
                  <a:buNone/>
                </a:pPr>
                <a:r>
                  <a:rPr lang="fr-FR" sz="1200" dirty="0"/>
                  <a:t> </a:t>
                </a:r>
              </a:p>
            </p:txBody>
          </p:sp>
        </mc:Choice>
        <mc:Fallback xmlns="">
          <p:sp>
            <p:nvSpPr>
              <p:cNvPr id="338" name="Content Placeholder 15">
                <a:extLst>
                  <a:ext uri="{FF2B5EF4-FFF2-40B4-BE49-F238E27FC236}">
                    <a16:creationId xmlns:a16="http://schemas.microsoft.com/office/drawing/2014/main" id="{5088E914-D443-45DE-82D0-F9C87F334117}"/>
                  </a:ext>
                </a:extLst>
              </p:cNvPr>
              <p:cNvSpPr>
                <a:spLocks noGrp="1" noRot="1" noChangeAspect="1" noMove="1" noResize="1" noEditPoints="1" noAdjustHandles="1" noChangeArrowheads="1" noChangeShapeType="1" noTextEdit="1"/>
              </p:cNvSpPr>
              <p:nvPr>
                <p:ph sz="half" idx="13"/>
              </p:nvPr>
            </p:nvSpPr>
            <p:spPr>
              <a:xfrm>
                <a:off x="746910" y="1391970"/>
                <a:ext cx="7216241" cy="3539258"/>
              </a:xfrm>
              <a:blipFill>
                <a:blip r:embed="rId3"/>
                <a:stretch>
                  <a:fillRect l="-1437" t="-1549" r="-1268" b="-1549"/>
                </a:stretch>
              </a:blipFill>
            </p:spPr>
            <p:txBody>
              <a:bodyPr/>
              <a:lstStyle/>
              <a:p>
                <a:r>
                  <a:rPr lang="fr-FR">
                    <a:noFill/>
                  </a:rPr>
                  <a:t> </a:t>
                </a:r>
              </a:p>
            </p:txBody>
          </p:sp>
        </mc:Fallback>
      </mc:AlternateContent>
    </p:spTree>
    <p:extLst>
      <p:ext uri="{BB962C8B-B14F-4D97-AF65-F5344CB8AC3E}">
        <p14:creationId xmlns:p14="http://schemas.microsoft.com/office/powerpoint/2010/main" val="4096312300"/>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236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en Composantes Principales</a:t>
            </a:r>
            <a:endParaRPr lang="fr-FR" sz="2100" b="0" dirty="0"/>
          </a:p>
        </p:txBody>
      </p:sp>
      <p:sp>
        <p:nvSpPr>
          <p:cNvPr id="330" name="Title 13">
            <a:extLst>
              <a:ext uri="{FF2B5EF4-FFF2-40B4-BE49-F238E27FC236}">
                <a16:creationId xmlns:a16="http://schemas.microsoft.com/office/drawing/2014/main" id="{83CBFF22-84F7-4157-8AA7-46B3BFE729AB}"/>
              </a:ext>
            </a:extLst>
          </p:cNvPr>
          <p:cNvSpPr txBox="1">
            <a:spLocks/>
          </p:cNvSpPr>
          <p:nvPr/>
        </p:nvSpPr>
        <p:spPr>
          <a:xfrm>
            <a:off x="389008" y="972046"/>
            <a:ext cx="6249917" cy="19944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Corrélation et ACP normée</a:t>
            </a:r>
          </a:p>
        </p:txBody>
      </p:sp>
      <mc:AlternateContent xmlns:mc="http://schemas.openxmlformats.org/markup-compatibility/2006" xmlns:a14="http://schemas.microsoft.com/office/drawing/2010/main">
        <mc:Choice Requires="a14">
          <p:sp>
            <p:nvSpPr>
              <p:cNvPr id="338" name="Content Placeholder 15">
                <a:extLst>
                  <a:ext uri="{FF2B5EF4-FFF2-40B4-BE49-F238E27FC236}">
                    <a16:creationId xmlns:a16="http://schemas.microsoft.com/office/drawing/2014/main" id="{5088E914-D443-45DE-82D0-F9C87F334117}"/>
                  </a:ext>
                </a:extLst>
              </p:cNvPr>
              <p:cNvSpPr>
                <a:spLocks noGrp="1"/>
              </p:cNvSpPr>
              <p:nvPr>
                <p:ph sz="half" idx="13"/>
              </p:nvPr>
            </p:nvSpPr>
            <p:spPr>
              <a:xfrm>
                <a:off x="746911" y="1391970"/>
                <a:ext cx="5891400" cy="1088837"/>
              </a:xfrm>
            </p:spPr>
            <p:txBody>
              <a:bodyPr>
                <a:noAutofit/>
              </a:bodyPr>
              <a:lstStyle/>
              <a:p>
                <a:pPr algn="just">
                  <a:lnSpc>
                    <a:spcPct val="100000"/>
                  </a:lnSpc>
                  <a:buClr>
                    <a:schemeClr val="accent2"/>
                  </a:buClr>
                </a:pPr>
                <a:r>
                  <a:rPr lang="fr-FR" sz="1425" dirty="0"/>
                  <a:t>Une ACP normée est une ACP dans laquelle les variables quantitatives du tableau sont centrées réduites (moyenne = 0 et variance = 1).</a:t>
                </a:r>
              </a:p>
              <a:p>
                <a:pPr algn="just">
                  <a:lnSpc>
                    <a:spcPct val="100000"/>
                  </a:lnSpc>
                  <a:buClr>
                    <a:schemeClr val="accent2"/>
                  </a:buClr>
                </a:pPr>
                <a:r>
                  <a:rPr lang="fr-FR" sz="1425" dirty="0"/>
                  <a:t>La corrélation mesure l’intensité de la liaison linéaire entre deux variables </a:t>
                </a:r>
                <a14:m>
                  <m:oMath xmlns:m="http://schemas.openxmlformats.org/officeDocument/2006/math">
                    <m:sSub>
                      <m:sSubPr>
                        <m:ctrlPr>
                          <a:rPr lang="fr-FR" sz="1425" i="1">
                            <a:latin typeface="Cambria Math" panose="02040503050406030204" pitchFamily="18" charset="0"/>
                          </a:rPr>
                        </m:ctrlPr>
                      </m:sSubPr>
                      <m:e>
                        <m:r>
                          <a:rPr lang="fr-FR" sz="1425" i="1">
                            <a:latin typeface="Cambria Math" panose="02040503050406030204" pitchFamily="18" charset="0"/>
                          </a:rPr>
                          <m:t>𝑥</m:t>
                        </m:r>
                      </m:e>
                      <m:sub>
                        <m:r>
                          <a:rPr lang="fr-FR" sz="1425" i="1">
                            <a:latin typeface="Cambria Math" panose="02040503050406030204" pitchFamily="18" charset="0"/>
                          </a:rPr>
                          <m:t>1</m:t>
                        </m:r>
                      </m:sub>
                    </m:sSub>
                  </m:oMath>
                </a14:m>
                <a:r>
                  <a:rPr lang="fr-FR" sz="1425" dirty="0"/>
                  <a:t> et </a:t>
                </a:r>
                <a14:m>
                  <m:oMath xmlns:m="http://schemas.openxmlformats.org/officeDocument/2006/math">
                    <m:sSub>
                      <m:sSubPr>
                        <m:ctrlPr>
                          <a:rPr lang="fr-FR" sz="1425" i="1">
                            <a:latin typeface="Cambria Math" panose="02040503050406030204" pitchFamily="18" charset="0"/>
                          </a:rPr>
                        </m:ctrlPr>
                      </m:sSubPr>
                      <m:e>
                        <m:r>
                          <a:rPr lang="fr-FR" sz="1425" i="1">
                            <a:latin typeface="Cambria Math" panose="02040503050406030204" pitchFamily="18" charset="0"/>
                          </a:rPr>
                          <m:t>𝑥</m:t>
                        </m:r>
                      </m:e>
                      <m:sub>
                        <m:r>
                          <a:rPr lang="fr-FR" sz="1425" i="1">
                            <a:latin typeface="Cambria Math" panose="02040503050406030204" pitchFamily="18" charset="0"/>
                          </a:rPr>
                          <m:t>2</m:t>
                        </m:r>
                      </m:sub>
                    </m:sSub>
                  </m:oMath>
                </a14:m>
                <a:r>
                  <a:rPr lang="fr-FR" sz="1425" dirty="0"/>
                  <a:t>.</a:t>
                </a:r>
              </a:p>
            </p:txBody>
          </p:sp>
        </mc:Choice>
        <mc:Fallback xmlns="">
          <p:sp>
            <p:nvSpPr>
              <p:cNvPr id="338" name="Content Placeholder 15">
                <a:extLst>
                  <a:ext uri="{FF2B5EF4-FFF2-40B4-BE49-F238E27FC236}">
                    <a16:creationId xmlns:a16="http://schemas.microsoft.com/office/drawing/2014/main" id="{5088E914-D443-45DE-82D0-F9C87F334117}"/>
                  </a:ext>
                </a:extLst>
              </p:cNvPr>
              <p:cNvSpPr>
                <a:spLocks noGrp="1" noRot="1" noChangeAspect="1" noMove="1" noResize="1" noEditPoints="1" noAdjustHandles="1" noChangeArrowheads="1" noChangeShapeType="1" noTextEdit="1"/>
              </p:cNvSpPr>
              <p:nvPr>
                <p:ph sz="half" idx="13"/>
              </p:nvPr>
            </p:nvSpPr>
            <p:spPr>
              <a:xfrm>
                <a:off x="746911" y="1391970"/>
                <a:ext cx="5891400" cy="1088837"/>
              </a:xfrm>
              <a:blipFill>
                <a:blip r:embed="rId3"/>
                <a:stretch>
                  <a:fillRect l="-1760" t="-5028" r="-1863" b="-21788"/>
                </a:stretch>
              </a:blipFill>
            </p:spPr>
            <p:txBody>
              <a:bodyPr/>
              <a:lstStyle/>
              <a:p>
                <a:r>
                  <a:rPr lang="fr-FR">
                    <a:noFill/>
                  </a:rPr>
                  <a:t> </a:t>
                </a:r>
              </a:p>
            </p:txBody>
          </p:sp>
        </mc:Fallback>
      </mc:AlternateContent>
      <p:pic>
        <p:nvPicPr>
          <p:cNvPr id="3" name="Image 2">
            <a:extLst>
              <a:ext uri="{FF2B5EF4-FFF2-40B4-BE49-F238E27FC236}">
                <a16:creationId xmlns:a16="http://schemas.microsoft.com/office/drawing/2014/main" id="{0002AF49-A4B6-41A8-BD06-0D4C79A2F8D5}"/>
              </a:ext>
            </a:extLst>
          </p:cNvPr>
          <p:cNvPicPr>
            <a:picLocks noChangeAspect="1"/>
          </p:cNvPicPr>
          <p:nvPr/>
        </p:nvPicPr>
        <p:blipFill>
          <a:blip r:embed="rId4"/>
          <a:stretch>
            <a:fillRect/>
          </a:stretch>
        </p:blipFill>
        <p:spPr>
          <a:xfrm>
            <a:off x="1180987" y="2662695"/>
            <a:ext cx="5279231" cy="2407444"/>
          </a:xfrm>
          <a:prstGeom prst="rect">
            <a:avLst/>
          </a:prstGeom>
        </p:spPr>
      </p:pic>
    </p:spTree>
    <p:extLst>
      <p:ext uri="{BB962C8B-B14F-4D97-AF65-F5344CB8AC3E}">
        <p14:creationId xmlns:p14="http://schemas.microsoft.com/office/powerpoint/2010/main" val="480178732"/>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237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en Composantes Principales</a:t>
            </a:r>
            <a:endParaRPr lang="fr-FR" sz="2100" b="0" dirty="0"/>
          </a:p>
        </p:txBody>
      </p:sp>
      <p:sp>
        <p:nvSpPr>
          <p:cNvPr id="330" name="Title 13">
            <a:extLst>
              <a:ext uri="{FF2B5EF4-FFF2-40B4-BE49-F238E27FC236}">
                <a16:creationId xmlns:a16="http://schemas.microsoft.com/office/drawing/2014/main" id="{83CBFF22-84F7-4157-8AA7-46B3BFE729AB}"/>
              </a:ext>
            </a:extLst>
          </p:cNvPr>
          <p:cNvSpPr txBox="1">
            <a:spLocks/>
          </p:cNvSpPr>
          <p:nvPr/>
        </p:nvSpPr>
        <p:spPr>
          <a:xfrm>
            <a:off x="389008" y="972046"/>
            <a:ext cx="6249917" cy="19944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Corrélation et ACP normée</a:t>
            </a:r>
          </a:p>
        </p:txBody>
      </p:sp>
      <mc:AlternateContent xmlns:mc="http://schemas.openxmlformats.org/markup-compatibility/2006" xmlns:a14="http://schemas.microsoft.com/office/drawing/2010/main">
        <mc:Choice Requires="a14">
          <p:sp>
            <p:nvSpPr>
              <p:cNvPr id="9" name="Content Placeholder 15">
                <a:extLst>
                  <a:ext uri="{FF2B5EF4-FFF2-40B4-BE49-F238E27FC236}">
                    <a16:creationId xmlns:a16="http://schemas.microsoft.com/office/drawing/2014/main" id="{8B32DE84-1CF6-4B96-91F3-5D787D9ADB1D}"/>
                  </a:ext>
                </a:extLst>
              </p:cNvPr>
              <p:cNvSpPr>
                <a:spLocks noGrp="1"/>
              </p:cNvSpPr>
              <p:nvPr>
                <p:ph sz="half" idx="13"/>
              </p:nvPr>
            </p:nvSpPr>
            <p:spPr>
              <a:xfrm>
                <a:off x="746911" y="1391970"/>
                <a:ext cx="5891400" cy="3539258"/>
              </a:xfrm>
            </p:spPr>
            <p:txBody>
              <a:bodyPr>
                <a:noAutofit/>
              </a:bodyPr>
              <a:lstStyle/>
              <a:p>
                <a:pPr algn="just">
                  <a:lnSpc>
                    <a:spcPct val="100000"/>
                  </a:lnSpc>
                  <a:buClr>
                    <a:schemeClr val="accent2"/>
                  </a:buClr>
                </a:pPr>
                <a:r>
                  <a:rPr lang="fr-FR" sz="1425" dirty="0"/>
                  <a:t>L’ACP normée est basée sur la matrice de corrélations.</a:t>
                </a:r>
              </a:p>
              <a:p>
                <a:pPr algn="just">
                  <a:lnSpc>
                    <a:spcPct val="100000"/>
                  </a:lnSpc>
                  <a:buClr>
                    <a:schemeClr val="accent2"/>
                  </a:buClr>
                </a:pPr>
                <a:r>
                  <a:rPr lang="fr-FR" sz="1425" dirty="0"/>
                  <a:t>Soit la matrice de covariances </a:t>
                </a:r>
                <a14:m>
                  <m:oMath xmlns:m="http://schemas.openxmlformats.org/officeDocument/2006/math">
                    <m:r>
                      <a:rPr lang="fr-FR" sz="1425" i="1" dirty="0">
                        <a:latin typeface="Cambria Math" panose="02040503050406030204" pitchFamily="18" charset="0"/>
                      </a:rPr>
                      <m:t>𝐶</m:t>
                    </m:r>
                  </m:oMath>
                </a14:m>
                <a:r>
                  <a:rPr lang="fr-FR" sz="1425" dirty="0"/>
                  <a:t> :</a:t>
                </a:r>
              </a:p>
              <a:p>
                <a:pPr marL="0" indent="0">
                  <a:lnSpc>
                    <a:spcPct val="100000"/>
                  </a:lnSpc>
                  <a:buClr>
                    <a:schemeClr val="accent2"/>
                  </a:buClr>
                  <a:buNone/>
                </a:pPr>
                <a14:m>
                  <m:oMathPara xmlns:m="http://schemas.openxmlformats.org/officeDocument/2006/math">
                    <m:oMathParaPr>
                      <m:jc m:val="centerGroup"/>
                    </m:oMathParaPr>
                    <m:oMath xmlns:m="http://schemas.openxmlformats.org/officeDocument/2006/math">
                      <m:r>
                        <a:rPr lang="fr-FR" sz="1200" i="1" dirty="0">
                          <a:latin typeface="Cambria Math" panose="02040503050406030204" pitchFamily="18" charset="0"/>
                        </a:rPr>
                        <m:t>𝐶</m:t>
                      </m:r>
                      <m:r>
                        <a:rPr lang="fr-FR" sz="1200" i="1" dirty="0">
                          <a:latin typeface="Cambria Math" panose="02040503050406030204" pitchFamily="18" charset="0"/>
                        </a:rPr>
                        <m:t>=</m:t>
                      </m:r>
                      <m:d>
                        <m:dPr>
                          <m:ctrlPr>
                            <a:rPr lang="fr-FR" sz="1200" i="1">
                              <a:latin typeface="Cambria Math" panose="02040503050406030204" pitchFamily="18" charset="0"/>
                            </a:rPr>
                          </m:ctrlPr>
                        </m:dPr>
                        <m:e>
                          <m:m>
                            <m:mPr>
                              <m:mcs>
                                <m:mc>
                                  <m:mcPr>
                                    <m:count m:val="3"/>
                                    <m:mcJc m:val="center"/>
                                  </m:mcPr>
                                </m:mc>
                              </m:mcs>
                              <m:ctrlPr>
                                <a:rPr lang="fr-FR" sz="1200" i="1">
                                  <a:latin typeface="Cambria Math" panose="02040503050406030204" pitchFamily="18" charset="0"/>
                                </a:rPr>
                              </m:ctrlPr>
                            </m:mPr>
                            <m:mr>
                              <m:e>
                                <m:r>
                                  <a:rPr lang="fr-FR" sz="1200" i="1">
                                    <a:solidFill>
                                      <a:schemeClr val="accent1"/>
                                    </a:solidFill>
                                    <a:latin typeface="Cambria Math" panose="02040503050406030204" pitchFamily="18" charset="0"/>
                                  </a:rPr>
                                  <m:t>1</m:t>
                                </m:r>
                              </m:e>
                              <m:e>
                                <m:r>
                                  <a:rPr lang="fr-FR" sz="1200" i="1">
                                    <a:latin typeface="Cambria Math" panose="02040503050406030204" pitchFamily="18" charset="0"/>
                                    <a:ea typeface="Cambria Math" panose="02040503050406030204" pitchFamily="18" charset="0"/>
                                  </a:rPr>
                                  <m:t>𝜌</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1</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2</m:t>
                                        </m:r>
                                      </m:sub>
                                    </m:sSub>
                                  </m:e>
                                </m:d>
                                <m:r>
                                  <m:rPr>
                                    <m:brk m:alnAt="7"/>
                                  </m:rPr>
                                  <a:rPr lang="fr-FR" sz="1200" i="1">
                                    <a:latin typeface="Cambria Math" panose="02040503050406030204" pitchFamily="18" charset="0"/>
                                  </a:rPr>
                                  <m:t> </m:t>
                                </m:r>
                                <m:r>
                                  <a:rPr lang="fr-FR" sz="1200" i="1">
                                    <a:latin typeface="Cambria Math" panose="02040503050406030204" pitchFamily="18" charset="0"/>
                                  </a:rPr>
                                  <m:t> ⋯</m:t>
                                </m:r>
                                <m:r>
                                  <a:rPr lang="fr-FR" sz="1200" i="1">
                                    <a:latin typeface="Cambria Math" panose="02040503050406030204" pitchFamily="18" charset="0"/>
                                    <a:ea typeface="Cambria Math" panose="02040503050406030204" pitchFamily="18" charset="0"/>
                                  </a:rPr>
                                  <m:t>𝜌</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1</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𝑗</m:t>
                                        </m:r>
                                      </m:sub>
                                    </m:sSub>
                                  </m:e>
                                </m:d>
                                <m:r>
                                  <a:rPr lang="fr-FR" sz="1200" i="1">
                                    <a:latin typeface="Cambria Math" panose="02040503050406030204" pitchFamily="18" charset="0"/>
                                  </a:rPr>
                                  <m:t>  ⋯ </m:t>
                                </m:r>
                              </m:e>
                              <m:e>
                                <m:r>
                                  <a:rPr lang="fr-FR" sz="1200" i="1">
                                    <a:latin typeface="Cambria Math" panose="02040503050406030204" pitchFamily="18" charset="0"/>
                                    <a:ea typeface="Cambria Math" panose="02040503050406030204" pitchFamily="18" charset="0"/>
                                  </a:rPr>
                                  <m:t>𝜌</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1</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𝑝</m:t>
                                        </m:r>
                                      </m:sub>
                                    </m:sSub>
                                  </m:e>
                                </m:d>
                              </m:e>
                            </m:mr>
                            <m:mr>
                              <m:e>
                                <m:eqArr>
                                  <m:eqArrPr>
                                    <m:ctrlPr>
                                      <a:rPr lang="fr-FR" sz="1200" i="1">
                                        <a:latin typeface="Cambria Math" panose="02040503050406030204" pitchFamily="18" charset="0"/>
                                      </a:rPr>
                                    </m:ctrlPr>
                                  </m:eqArrPr>
                                  <m:e>
                                    <m:r>
                                      <a:rPr lang="fr-FR" sz="1200" i="1">
                                        <a:latin typeface="Cambria Math" panose="02040503050406030204" pitchFamily="18" charset="0"/>
                                        <a:ea typeface="Cambria Math" panose="02040503050406030204" pitchFamily="18" charset="0"/>
                                      </a:rPr>
                                      <m:t>𝜌</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2</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1</m:t>
                                            </m:r>
                                          </m:sub>
                                        </m:sSub>
                                      </m:e>
                                    </m:d>
                                  </m:e>
                                  <m:e>
                                    <m:r>
                                      <a:rPr lang="fr-FR" sz="1200" i="1">
                                        <a:latin typeface="Cambria Math" panose="02040503050406030204" pitchFamily="18" charset="0"/>
                                      </a:rPr>
                                      <m:t>⋯</m:t>
                                    </m:r>
                                  </m:e>
                                </m:eqArr>
                              </m:e>
                              <m:e>
                                <m:eqArr>
                                  <m:eqArrPr>
                                    <m:ctrlPr>
                                      <a:rPr lang="fr-FR" sz="1200" i="1">
                                        <a:latin typeface="Cambria Math" panose="02040503050406030204" pitchFamily="18" charset="0"/>
                                      </a:rPr>
                                    </m:ctrlPr>
                                  </m:eqArrPr>
                                  <m:e>
                                    <m:r>
                                      <m:rPr>
                                        <m:brk m:alnAt="7"/>
                                      </m:rPr>
                                      <a:rPr lang="fr-FR" sz="1200" i="1">
                                        <a:solidFill>
                                          <a:schemeClr val="accent1"/>
                                        </a:solidFill>
                                        <a:latin typeface="Cambria Math" panose="02040503050406030204" pitchFamily="18" charset="0"/>
                                      </a:rPr>
                                      <m:t>1</m:t>
                                    </m:r>
                                    <m:r>
                                      <a:rPr lang="fr-FR" sz="1200" i="1">
                                        <a:latin typeface="Cambria Math" panose="02040503050406030204" pitchFamily="18" charset="0"/>
                                      </a:rPr>
                                      <m:t>       ⋯</m:t>
                                    </m:r>
                                    <m:r>
                                      <a:rPr lang="fr-FR" sz="1200" i="1">
                                        <a:latin typeface="Cambria Math" panose="02040503050406030204" pitchFamily="18" charset="0"/>
                                        <a:ea typeface="Cambria Math" panose="02040503050406030204" pitchFamily="18" charset="0"/>
                                      </a:rPr>
                                      <m:t>𝜌</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2</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𝑗</m:t>
                                            </m:r>
                                          </m:sub>
                                        </m:sSub>
                                      </m:e>
                                    </m:d>
                                    <m:r>
                                      <a:rPr lang="fr-FR" sz="1200" i="1">
                                        <a:latin typeface="Cambria Math" panose="02040503050406030204" pitchFamily="18" charset="0"/>
                                      </a:rPr>
                                      <m:t>  ⋯</m:t>
                                    </m:r>
                                  </m:e>
                                  <m:e>
                                    <m:r>
                                      <a:rPr lang="fr-FR" sz="1200" i="1">
                                        <a:latin typeface="Cambria Math" panose="02040503050406030204" pitchFamily="18" charset="0"/>
                                      </a:rPr>
                                      <m:t>⋯          </m:t>
                                    </m:r>
                                    <m:r>
                                      <a:rPr lang="fr-FR" sz="1200" i="1">
                                        <a:solidFill>
                                          <a:schemeClr val="accent1"/>
                                        </a:solidFill>
                                        <a:latin typeface="Cambria Math" panose="02040503050406030204" pitchFamily="18" charset="0"/>
                                      </a:rPr>
                                      <m:t>⋯</m:t>
                                    </m:r>
                                    <m:r>
                                      <a:rPr lang="fr-FR" sz="1200" i="1">
                                        <a:latin typeface="Cambria Math" panose="02040503050406030204" pitchFamily="18" charset="0"/>
                                      </a:rPr>
                                      <m:t>               ⋯</m:t>
                                    </m:r>
                                  </m:e>
                                </m:eqArr>
                              </m:e>
                              <m:e>
                                <m:eqArr>
                                  <m:eqArrPr>
                                    <m:ctrlPr>
                                      <a:rPr lang="fr-FR" sz="1200" i="1">
                                        <a:latin typeface="Cambria Math" panose="02040503050406030204" pitchFamily="18" charset="0"/>
                                      </a:rPr>
                                    </m:ctrlPr>
                                  </m:eqArrPr>
                                  <m:e>
                                    <m:r>
                                      <a:rPr lang="fr-FR" sz="1200" i="1">
                                        <a:latin typeface="Cambria Math" panose="02040503050406030204" pitchFamily="18" charset="0"/>
                                        <a:ea typeface="Cambria Math" panose="02040503050406030204" pitchFamily="18" charset="0"/>
                                      </a:rPr>
                                      <m:t>𝜌</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2</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𝑝</m:t>
                                            </m:r>
                                          </m:sub>
                                        </m:sSub>
                                      </m:e>
                                    </m:d>
                                  </m:e>
                                  <m:e>
                                    <m:r>
                                      <a:rPr lang="fr-FR" sz="1200" i="1">
                                        <a:latin typeface="Cambria Math" panose="02040503050406030204" pitchFamily="18" charset="0"/>
                                      </a:rPr>
                                      <m:t>⋯</m:t>
                                    </m:r>
                                  </m:e>
                                </m:eqArr>
                              </m:e>
                            </m:mr>
                            <m:mr>
                              <m:e>
                                <m:eqArr>
                                  <m:eqArrPr>
                                    <m:ctrlPr>
                                      <a:rPr lang="fr-FR" sz="1200" i="1">
                                        <a:latin typeface="Cambria Math" panose="02040503050406030204" pitchFamily="18" charset="0"/>
                                      </a:rPr>
                                    </m:ctrlPr>
                                  </m:eqArrPr>
                                  <m:e>
                                    <m:r>
                                      <a:rPr lang="fr-FR" sz="1200" i="1">
                                        <a:latin typeface="Cambria Math" panose="02040503050406030204" pitchFamily="18" charset="0"/>
                                        <a:ea typeface="Cambria Math" panose="02040503050406030204" pitchFamily="18" charset="0"/>
                                      </a:rPr>
                                      <m:t>𝜌</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𝑗</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1</m:t>
                                            </m:r>
                                          </m:sub>
                                        </m:sSub>
                                      </m:e>
                                    </m:d>
                                  </m:e>
                                  <m:e>
                                    <m:r>
                                      <a:rPr lang="fr-FR" sz="1200" i="1">
                                        <a:latin typeface="Cambria Math" panose="02040503050406030204" pitchFamily="18" charset="0"/>
                                      </a:rPr>
                                      <m:t>⋯</m:t>
                                    </m:r>
                                  </m:e>
                                  <m:e>
                                    <m:r>
                                      <a:rPr lang="fr-FR" sz="1200" i="1">
                                        <a:latin typeface="Cambria Math" panose="02040503050406030204" pitchFamily="18" charset="0"/>
                                        <a:ea typeface="Cambria Math" panose="02040503050406030204" pitchFamily="18" charset="0"/>
                                      </a:rPr>
                                      <m:t>𝜌</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𝑝</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1</m:t>
                                            </m:r>
                                          </m:sub>
                                        </m:sSub>
                                      </m:e>
                                    </m:d>
                                  </m:e>
                                </m:eqArr>
                              </m:e>
                              <m:e>
                                <m:eqArr>
                                  <m:eqArrPr>
                                    <m:ctrlPr>
                                      <a:rPr lang="fr-FR" sz="1200" i="1">
                                        <a:latin typeface="Cambria Math" panose="02040503050406030204" pitchFamily="18" charset="0"/>
                                      </a:rPr>
                                    </m:ctrlPr>
                                  </m:eqArrPr>
                                  <m:e>
                                    <m:r>
                                      <a:rPr lang="fr-FR" sz="1200" i="1">
                                        <a:latin typeface="Cambria Math" panose="02040503050406030204" pitchFamily="18" charset="0"/>
                                        <a:ea typeface="Cambria Math" panose="02040503050406030204" pitchFamily="18" charset="0"/>
                                      </a:rPr>
                                      <m:t>𝜌</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𝑗</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2</m:t>
                                            </m:r>
                                          </m:sub>
                                        </m:sSub>
                                      </m:e>
                                    </m:d>
                                    <m:r>
                                      <a:rPr lang="fr-FR" sz="1200" i="1">
                                        <a:latin typeface="Cambria Math" panose="02040503050406030204" pitchFamily="18" charset="0"/>
                                      </a:rPr>
                                      <m:t>    ⋯    </m:t>
                                    </m:r>
                                    <m:r>
                                      <a:rPr lang="fr-FR" sz="1200" i="1">
                                        <a:solidFill>
                                          <a:schemeClr val="accent1"/>
                                        </a:solidFill>
                                        <a:latin typeface="Cambria Math" panose="02040503050406030204" pitchFamily="18" charset="0"/>
                                      </a:rPr>
                                      <m:t>1</m:t>
                                    </m:r>
                                  </m:e>
                                  <m:e>
                                    <m:r>
                                      <a:rPr lang="fr-FR" sz="1200" i="1">
                                        <a:latin typeface="Cambria Math" panose="02040503050406030204" pitchFamily="18" charset="0"/>
                                      </a:rPr>
                                      <m:t>⋯          ⋯               ⋯</m:t>
                                    </m:r>
                                  </m:e>
                                  <m:e>
                                    <m:r>
                                      <a:rPr lang="fr-FR" sz="1200" i="1">
                                        <a:latin typeface="Cambria Math" panose="02040503050406030204" pitchFamily="18" charset="0"/>
                                        <a:ea typeface="Cambria Math" panose="02040503050406030204" pitchFamily="18" charset="0"/>
                                      </a:rPr>
                                      <m:t>𝜌</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𝑝</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2</m:t>
                                            </m:r>
                                          </m:sub>
                                        </m:sSub>
                                      </m:e>
                                    </m:d>
                                    <m:r>
                                      <a:rPr lang="fr-FR" sz="1200" i="1">
                                        <a:latin typeface="Cambria Math" panose="02040503050406030204" pitchFamily="18" charset="0"/>
                                      </a:rPr>
                                      <m:t>⋯</m:t>
                                    </m:r>
                                    <m:r>
                                      <a:rPr lang="fr-FR" sz="1200" i="1">
                                        <a:latin typeface="Cambria Math" panose="02040503050406030204" pitchFamily="18" charset="0"/>
                                        <a:ea typeface="Cambria Math" panose="02040503050406030204" pitchFamily="18" charset="0"/>
                                      </a:rPr>
                                      <m:t>𝜌</m:t>
                                    </m:r>
                                    <m:d>
                                      <m:dPr>
                                        <m:ctrlPr>
                                          <a:rPr lang="fr-FR" sz="1200" i="1">
                                            <a:latin typeface="Cambria Math" panose="02040503050406030204" pitchFamily="18" charset="0"/>
                                          </a:rPr>
                                        </m:ctrlPr>
                                      </m:dPr>
                                      <m:e>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𝑝</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𝑗</m:t>
                                            </m:r>
                                          </m:sub>
                                        </m:sSub>
                                      </m:e>
                                    </m:d>
                                    <m:r>
                                      <a:rPr lang="fr-FR" sz="1200" i="1">
                                        <a:latin typeface="Cambria Math" panose="02040503050406030204" pitchFamily="18" charset="0"/>
                                      </a:rPr>
                                      <m:t>⋯</m:t>
                                    </m:r>
                                  </m:e>
                                </m:eqArr>
                              </m:e>
                              <m:e>
                                <m:eqArr>
                                  <m:eqArrPr>
                                    <m:ctrlPr>
                                      <a:rPr lang="fr-FR" sz="1200" i="1">
                                        <a:latin typeface="Cambria Math" panose="02040503050406030204" pitchFamily="18" charset="0"/>
                                      </a:rPr>
                                    </m:ctrlPr>
                                  </m:eqArrPr>
                                  <m:e>
                                    <m:r>
                                      <a:rPr lang="fr-FR" sz="1200" i="1">
                                        <a:latin typeface="Cambria Math" panose="02040503050406030204" pitchFamily="18" charset="0"/>
                                        <a:ea typeface="Cambria Math" panose="02040503050406030204" pitchFamily="18" charset="0"/>
                                      </a:rPr>
                                      <m:t>𝜌</m:t>
                                    </m:r>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𝑗</m:t>
                                        </m:r>
                                      </m:sub>
                                    </m:sSub>
                                    <m:r>
                                      <a:rPr lang="fr-FR" sz="1200" i="1">
                                        <a:latin typeface="Cambria Math" panose="02040503050406030204" pitchFamily="18" charset="0"/>
                                      </a:rPr>
                                      <m:t>,</m:t>
                                    </m:r>
                                    <m:sSub>
                                      <m:sSubPr>
                                        <m:ctrlPr>
                                          <a:rPr lang="fr-FR" sz="1200" i="1">
                                            <a:latin typeface="Cambria Math" panose="02040503050406030204" pitchFamily="18" charset="0"/>
                                          </a:rPr>
                                        </m:ctrlPr>
                                      </m:sSubPr>
                                      <m:e>
                                        <m:r>
                                          <a:rPr lang="fr-FR" sz="1200" i="1">
                                            <a:latin typeface="Cambria Math" panose="02040503050406030204" pitchFamily="18" charset="0"/>
                                          </a:rPr>
                                          <m:t>𝑥</m:t>
                                        </m:r>
                                      </m:e>
                                      <m:sub>
                                        <m:r>
                                          <a:rPr lang="fr-FR" sz="1200" i="1">
                                            <a:latin typeface="Cambria Math" panose="02040503050406030204" pitchFamily="18" charset="0"/>
                                          </a:rPr>
                                          <m:t>𝑝</m:t>
                                        </m:r>
                                      </m:sub>
                                    </m:sSub>
                                    <m:r>
                                      <m:rPr>
                                        <m:brk m:alnAt="7"/>
                                      </m:rPr>
                                      <a:rPr lang="fr-FR" sz="1200" i="1">
                                        <a:latin typeface="Cambria Math" panose="02040503050406030204" pitchFamily="18" charset="0"/>
                                      </a:rPr>
                                      <m:t>)</m:t>
                                    </m:r>
                                  </m:e>
                                  <m:e>
                                    <m:r>
                                      <a:rPr lang="fr-FR" sz="1200" i="1">
                                        <a:latin typeface="Cambria Math" panose="02040503050406030204" pitchFamily="18" charset="0"/>
                                      </a:rPr>
                                      <m:t>⋯</m:t>
                                    </m:r>
                                  </m:e>
                                  <m:e>
                                    <m:r>
                                      <a:rPr lang="fr-FR" sz="1200" i="1">
                                        <a:solidFill>
                                          <a:schemeClr val="accent1"/>
                                        </a:solidFill>
                                        <a:latin typeface="Cambria Math" panose="02040503050406030204" pitchFamily="18" charset="0"/>
                                      </a:rPr>
                                      <m:t>1</m:t>
                                    </m:r>
                                  </m:e>
                                </m:eqArr>
                              </m:e>
                            </m:mr>
                          </m:m>
                        </m:e>
                      </m:d>
                    </m:oMath>
                  </m:oMathPara>
                </a14:m>
                <a:endParaRPr lang="fr-FR" sz="1200" dirty="0"/>
              </a:p>
              <a:p>
                <a:pPr>
                  <a:lnSpc>
                    <a:spcPct val="100000"/>
                  </a:lnSpc>
                  <a:buClr>
                    <a:schemeClr val="accent2"/>
                  </a:buClr>
                </a:pPr>
                <a14:m>
                  <m:oMath xmlns:m="http://schemas.openxmlformats.org/officeDocument/2006/math">
                    <m:r>
                      <a:rPr lang="fr-FR" sz="1425" i="1" dirty="0">
                        <a:latin typeface="Cambria Math" panose="02040503050406030204" pitchFamily="18" charset="0"/>
                      </a:rPr>
                      <m:t>𝐶</m:t>
                    </m:r>
                  </m:oMath>
                </a14:m>
                <a:r>
                  <a:rPr lang="fr-FR" sz="1425" dirty="0"/>
                  <a:t> est une matrice carrée de taille </a:t>
                </a:r>
                <a14:m>
                  <m:oMath xmlns:m="http://schemas.openxmlformats.org/officeDocument/2006/math">
                    <m:r>
                      <a:rPr lang="fr-FR" sz="1425" i="1">
                        <a:latin typeface="Cambria Math" panose="02040503050406030204" pitchFamily="18" charset="0"/>
                      </a:rPr>
                      <m:t>𝑝</m:t>
                    </m:r>
                    <m:r>
                      <a:rPr lang="fr-FR" sz="1425" i="1">
                        <a:latin typeface="Cambria Math" panose="02040503050406030204" pitchFamily="18" charset="0"/>
                        <a:ea typeface="Cambria Math" panose="02040503050406030204" pitchFamily="18" charset="0"/>
                      </a:rPr>
                      <m:t>×</m:t>
                    </m:r>
                    <m:r>
                      <a:rPr lang="fr-FR" sz="1425" i="1">
                        <a:latin typeface="Cambria Math" panose="02040503050406030204" pitchFamily="18" charset="0"/>
                        <a:ea typeface="Cambria Math" panose="02040503050406030204" pitchFamily="18" charset="0"/>
                      </a:rPr>
                      <m:t>𝑝</m:t>
                    </m:r>
                  </m:oMath>
                </a14:m>
                <a:r>
                  <a:rPr lang="fr-FR" sz="1425" dirty="0"/>
                  <a:t>, i.e. le nombre de lignes est égal au nombre de colonnes.</a:t>
                </a:r>
              </a:p>
              <a:p>
                <a:pPr>
                  <a:lnSpc>
                    <a:spcPct val="100000"/>
                  </a:lnSpc>
                  <a:buClr>
                    <a:schemeClr val="accent2"/>
                  </a:buClr>
                </a:pPr>
                <a14:m>
                  <m:oMath xmlns:m="http://schemas.openxmlformats.org/officeDocument/2006/math">
                    <m:r>
                      <a:rPr lang="fr-FR" sz="1425" i="1" dirty="0">
                        <a:latin typeface="Cambria Math" panose="02040503050406030204" pitchFamily="18" charset="0"/>
                      </a:rPr>
                      <m:t>𝐶</m:t>
                    </m:r>
                  </m:oMath>
                </a14:m>
                <a:r>
                  <a:rPr lang="fr-FR" sz="1425" dirty="0"/>
                  <a:t> est une matrice symétrique, i.e. une matrice carrée qui est égale à sa transposée.</a:t>
                </a:r>
              </a:p>
              <a:p>
                <a:pPr>
                  <a:lnSpc>
                    <a:spcPct val="100000"/>
                  </a:lnSpc>
                  <a:buClr>
                    <a:schemeClr val="accent2"/>
                  </a:buClr>
                </a:pPr>
                <a14:m>
                  <m:oMath xmlns:m="http://schemas.openxmlformats.org/officeDocument/2006/math">
                    <m:r>
                      <a:rPr lang="fr-FR" sz="1425" i="1" dirty="0">
                        <a:latin typeface="Cambria Math" panose="02040503050406030204" pitchFamily="18" charset="0"/>
                      </a:rPr>
                      <m:t>𝐶</m:t>
                    </m:r>
                  </m:oMath>
                </a14:m>
                <a:r>
                  <a:rPr lang="fr-FR" sz="1425" dirty="0"/>
                  <a:t> a une diagonale de 1</a:t>
                </a:r>
              </a:p>
              <a:p>
                <a:pPr marL="0" indent="0">
                  <a:lnSpc>
                    <a:spcPct val="100000"/>
                  </a:lnSpc>
                  <a:buClr>
                    <a:schemeClr val="accent2"/>
                  </a:buClr>
                  <a:buNone/>
                </a:pPr>
                <a:r>
                  <a:rPr lang="fr-FR" sz="1200" dirty="0"/>
                  <a:t> </a:t>
                </a:r>
              </a:p>
            </p:txBody>
          </p:sp>
        </mc:Choice>
        <mc:Fallback xmlns="">
          <p:sp>
            <p:nvSpPr>
              <p:cNvPr id="9" name="Content Placeholder 15">
                <a:extLst>
                  <a:ext uri="{FF2B5EF4-FFF2-40B4-BE49-F238E27FC236}">
                    <a16:creationId xmlns:a16="http://schemas.microsoft.com/office/drawing/2014/main" id="{8B32DE84-1CF6-4B96-91F3-5D787D9ADB1D}"/>
                  </a:ext>
                </a:extLst>
              </p:cNvPr>
              <p:cNvSpPr>
                <a:spLocks noGrp="1" noRot="1" noChangeAspect="1" noMove="1" noResize="1" noEditPoints="1" noAdjustHandles="1" noChangeArrowheads="1" noChangeShapeType="1" noTextEdit="1"/>
              </p:cNvSpPr>
              <p:nvPr>
                <p:ph sz="half" idx="13"/>
              </p:nvPr>
            </p:nvSpPr>
            <p:spPr>
              <a:xfrm>
                <a:off x="746911" y="1391970"/>
                <a:ext cx="5891400" cy="3539258"/>
              </a:xfrm>
              <a:blipFill>
                <a:blip r:embed="rId3"/>
                <a:stretch>
                  <a:fillRect l="-1760" t="-1549"/>
                </a:stretch>
              </a:blipFill>
            </p:spPr>
            <p:txBody>
              <a:bodyPr/>
              <a:lstStyle/>
              <a:p>
                <a:r>
                  <a:rPr lang="fr-FR">
                    <a:noFill/>
                  </a:rPr>
                  <a:t> </a:t>
                </a:r>
              </a:p>
            </p:txBody>
          </p:sp>
        </mc:Fallback>
      </mc:AlternateContent>
    </p:spTree>
    <p:extLst>
      <p:ext uri="{BB962C8B-B14F-4D97-AF65-F5344CB8AC3E}">
        <p14:creationId xmlns:p14="http://schemas.microsoft.com/office/powerpoint/2010/main" val="4151758122"/>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238</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en Composantes Principales</a:t>
            </a:r>
            <a:endParaRPr lang="fr-FR" sz="2100" b="0" dirty="0"/>
          </a:p>
        </p:txBody>
      </p:sp>
      <p:sp>
        <p:nvSpPr>
          <p:cNvPr id="9" name="Content Placeholder 15">
            <a:extLst>
              <a:ext uri="{FF2B5EF4-FFF2-40B4-BE49-F238E27FC236}">
                <a16:creationId xmlns:a16="http://schemas.microsoft.com/office/drawing/2014/main" id="{8B32DE84-1CF6-4B96-91F3-5D787D9ADB1D}"/>
              </a:ext>
            </a:extLst>
          </p:cNvPr>
          <p:cNvSpPr>
            <a:spLocks noGrp="1"/>
          </p:cNvSpPr>
          <p:nvPr>
            <p:ph sz="half" idx="13"/>
          </p:nvPr>
        </p:nvSpPr>
        <p:spPr>
          <a:xfrm>
            <a:off x="746911" y="1391970"/>
            <a:ext cx="5891400" cy="3539258"/>
          </a:xfrm>
        </p:spPr>
        <p:txBody>
          <a:bodyPr>
            <a:noAutofit/>
          </a:bodyPr>
          <a:lstStyle/>
          <a:p>
            <a:pPr marL="0" indent="0" algn="just">
              <a:lnSpc>
                <a:spcPct val="100000"/>
              </a:lnSpc>
              <a:buClr>
                <a:schemeClr val="accent2"/>
              </a:buClr>
              <a:buNone/>
            </a:pPr>
            <a:r>
              <a:rPr lang="fr-FR" sz="1425" b="1" dirty="0"/>
              <a:t>ACP non normée : </a:t>
            </a:r>
          </a:p>
          <a:p>
            <a:pPr lvl="1" algn="just">
              <a:lnSpc>
                <a:spcPct val="100000"/>
              </a:lnSpc>
              <a:buClr>
                <a:schemeClr val="accent2"/>
              </a:buClr>
            </a:pPr>
            <a:r>
              <a:rPr lang="fr-FR" sz="1350" dirty="0"/>
              <a:t>Il faut toujours centrer vos données par défaut. On utilise une ACP non normée lorsque les données s’expriment toutes dans la même unité de mesure et varient dans des gammes de valeurs identiques.</a:t>
            </a:r>
          </a:p>
          <a:p>
            <a:pPr lvl="1" algn="just">
              <a:lnSpc>
                <a:spcPct val="100000"/>
              </a:lnSpc>
              <a:buClr>
                <a:schemeClr val="accent2"/>
              </a:buClr>
            </a:pPr>
            <a:endParaRPr lang="fr-FR" sz="1350" dirty="0"/>
          </a:p>
          <a:p>
            <a:pPr marL="0" indent="0" algn="just">
              <a:lnSpc>
                <a:spcPct val="100000"/>
              </a:lnSpc>
              <a:buClr>
                <a:schemeClr val="accent2"/>
              </a:buClr>
              <a:buNone/>
            </a:pPr>
            <a:r>
              <a:rPr lang="fr-FR" sz="1425" b="1" dirty="0"/>
              <a:t>ACP normée : </a:t>
            </a:r>
          </a:p>
          <a:p>
            <a:pPr lvl="1" algn="just">
              <a:lnSpc>
                <a:spcPct val="100000"/>
              </a:lnSpc>
              <a:buClr>
                <a:schemeClr val="accent2"/>
              </a:buClr>
            </a:pPr>
            <a:r>
              <a:rPr lang="fr-FR" sz="1350" dirty="0"/>
              <a:t>On utilise une ACP normée lorsque les données s’expriment dans des unités différentes et varient dans des gammes de valeurs différentes.</a:t>
            </a:r>
            <a:endParaRPr lang="fr-FR" sz="1650" dirty="0"/>
          </a:p>
          <a:p>
            <a:pPr algn="just">
              <a:lnSpc>
                <a:spcPct val="100000"/>
              </a:lnSpc>
              <a:buClr>
                <a:schemeClr val="accent2"/>
              </a:buClr>
            </a:pPr>
            <a:endParaRPr lang="fr-FR" sz="1200" dirty="0"/>
          </a:p>
        </p:txBody>
      </p:sp>
    </p:spTree>
    <p:extLst>
      <p:ext uri="{BB962C8B-B14F-4D97-AF65-F5344CB8AC3E}">
        <p14:creationId xmlns:p14="http://schemas.microsoft.com/office/powerpoint/2010/main" val="911149061"/>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239</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en Composantes Principales</a:t>
            </a:r>
            <a:endParaRPr lang="fr-FR" sz="2100" b="0" dirty="0"/>
          </a:p>
        </p:txBody>
      </p:sp>
      <p:sp>
        <p:nvSpPr>
          <p:cNvPr id="9" name="Content Placeholder 15">
            <a:extLst>
              <a:ext uri="{FF2B5EF4-FFF2-40B4-BE49-F238E27FC236}">
                <a16:creationId xmlns:a16="http://schemas.microsoft.com/office/drawing/2014/main" id="{8B32DE84-1CF6-4B96-91F3-5D787D9ADB1D}"/>
              </a:ext>
            </a:extLst>
          </p:cNvPr>
          <p:cNvSpPr>
            <a:spLocks noGrp="1"/>
          </p:cNvSpPr>
          <p:nvPr>
            <p:ph sz="half" idx="13"/>
          </p:nvPr>
        </p:nvSpPr>
        <p:spPr>
          <a:xfrm>
            <a:off x="746911" y="1391970"/>
            <a:ext cx="5891400" cy="3539258"/>
          </a:xfrm>
        </p:spPr>
        <p:txBody>
          <a:bodyPr>
            <a:noAutofit/>
          </a:bodyPr>
          <a:lstStyle/>
          <a:p>
            <a:pPr marL="0" indent="0" algn="just">
              <a:lnSpc>
                <a:spcPct val="100000"/>
              </a:lnSpc>
              <a:buClr>
                <a:schemeClr val="accent2"/>
              </a:buClr>
              <a:buNone/>
            </a:pPr>
            <a:r>
              <a:rPr lang="fr-FR" sz="1425" b="1" dirty="0"/>
              <a:t>Composantes principales : </a:t>
            </a:r>
          </a:p>
          <a:p>
            <a:pPr lvl="1" algn="just">
              <a:lnSpc>
                <a:spcPct val="100000"/>
              </a:lnSpc>
              <a:buClr>
                <a:schemeClr val="accent2"/>
              </a:buClr>
            </a:pPr>
            <a:r>
              <a:rPr lang="fr-FR" sz="1350" dirty="0"/>
              <a:t>Les composantes principales sont les nouvelles variables créées par l'ACP, qui sont des combinaisons linéaires des variables d'origine. Chaque composante principale représente une part de la variance totale des données. L'interprétation des composantes principales implique d'examiner les coefficients attribués à chaque variable dans chaque composante principale pour comprendre quelles variables contribuent le plus à la variance observée.</a:t>
            </a:r>
          </a:p>
          <a:p>
            <a:pPr lvl="1" algn="just">
              <a:lnSpc>
                <a:spcPct val="100000"/>
              </a:lnSpc>
              <a:buClr>
                <a:schemeClr val="accent2"/>
              </a:buClr>
            </a:pPr>
            <a:endParaRPr lang="fr-FR" sz="1350" dirty="0"/>
          </a:p>
          <a:p>
            <a:pPr marL="0" indent="0" algn="just">
              <a:lnSpc>
                <a:spcPct val="100000"/>
              </a:lnSpc>
              <a:buClr>
                <a:schemeClr val="accent2"/>
              </a:buClr>
              <a:buNone/>
            </a:pPr>
            <a:r>
              <a:rPr lang="fr-FR" sz="1425" b="1" dirty="0"/>
              <a:t>Contribution des variables : </a:t>
            </a:r>
          </a:p>
          <a:p>
            <a:pPr lvl="1" algn="just">
              <a:lnSpc>
                <a:spcPct val="100000"/>
              </a:lnSpc>
              <a:buClr>
                <a:schemeClr val="accent2"/>
              </a:buClr>
            </a:pPr>
            <a:r>
              <a:rPr lang="fr-FR" sz="1350" dirty="0"/>
              <a:t>Les contributions des variables permettent d'évaluer l'importance relative de chaque variable dans la formation des composantes principales. Plus la contribution d'une variable à une composante principale est élevée, plus cette variable a d'influence sur cette composante.</a:t>
            </a:r>
          </a:p>
          <a:p>
            <a:pPr marL="0" indent="0" algn="just">
              <a:lnSpc>
                <a:spcPct val="100000"/>
              </a:lnSpc>
              <a:buClr>
                <a:schemeClr val="accent2"/>
              </a:buClr>
              <a:buNone/>
            </a:pPr>
            <a:endParaRPr lang="fr-FR" sz="1200" dirty="0"/>
          </a:p>
        </p:txBody>
      </p:sp>
      <p:sp>
        <p:nvSpPr>
          <p:cNvPr id="5" name="Title 13">
            <a:extLst>
              <a:ext uri="{FF2B5EF4-FFF2-40B4-BE49-F238E27FC236}">
                <a16:creationId xmlns:a16="http://schemas.microsoft.com/office/drawing/2014/main" id="{3EF7244F-581C-4CD7-8CAD-0DDF0A88D313}"/>
              </a:ext>
            </a:extLst>
          </p:cNvPr>
          <p:cNvSpPr txBox="1">
            <a:spLocks/>
          </p:cNvSpPr>
          <p:nvPr/>
        </p:nvSpPr>
        <p:spPr>
          <a:xfrm>
            <a:off x="389008" y="972046"/>
            <a:ext cx="6249917" cy="19944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Interprétations</a:t>
            </a:r>
          </a:p>
        </p:txBody>
      </p:sp>
    </p:spTree>
    <p:extLst>
      <p:ext uri="{BB962C8B-B14F-4D97-AF65-F5344CB8AC3E}">
        <p14:creationId xmlns:p14="http://schemas.microsoft.com/office/powerpoint/2010/main" val="2592898774"/>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240</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en Composantes Principales</a:t>
            </a:r>
            <a:endParaRPr lang="fr-FR" sz="2100" b="0" dirty="0"/>
          </a:p>
        </p:txBody>
      </p:sp>
      <p:sp>
        <p:nvSpPr>
          <p:cNvPr id="9" name="Content Placeholder 15">
            <a:extLst>
              <a:ext uri="{FF2B5EF4-FFF2-40B4-BE49-F238E27FC236}">
                <a16:creationId xmlns:a16="http://schemas.microsoft.com/office/drawing/2014/main" id="{8B32DE84-1CF6-4B96-91F3-5D787D9ADB1D}"/>
              </a:ext>
            </a:extLst>
          </p:cNvPr>
          <p:cNvSpPr>
            <a:spLocks noGrp="1"/>
          </p:cNvSpPr>
          <p:nvPr>
            <p:ph sz="half" idx="13"/>
          </p:nvPr>
        </p:nvSpPr>
        <p:spPr>
          <a:xfrm>
            <a:off x="746911" y="1391970"/>
            <a:ext cx="5891400" cy="3539258"/>
          </a:xfrm>
        </p:spPr>
        <p:txBody>
          <a:bodyPr>
            <a:noAutofit/>
          </a:bodyPr>
          <a:lstStyle/>
          <a:p>
            <a:pPr marL="0" indent="0" algn="just">
              <a:lnSpc>
                <a:spcPct val="100000"/>
              </a:lnSpc>
              <a:buClr>
                <a:schemeClr val="accent2"/>
              </a:buClr>
              <a:buNone/>
            </a:pPr>
            <a:r>
              <a:rPr lang="fr-FR" sz="1425" b="1" dirty="0"/>
              <a:t>Le cercle des corrélations : </a:t>
            </a:r>
          </a:p>
          <a:p>
            <a:pPr lvl="1" algn="just">
              <a:lnSpc>
                <a:spcPct val="100000"/>
              </a:lnSpc>
              <a:buClr>
                <a:schemeClr val="accent2"/>
              </a:buClr>
            </a:pPr>
            <a:r>
              <a:rPr lang="fr-FR" sz="1350" dirty="0"/>
              <a:t>Appelé également « biplot », peut être utilisé pour représenter graphiquement les variables et les individus dans l'espace des composantes principales. Cette visualisation permet de voir les relations entre les variables, ainsi que la proximité des individus par rapport aux variables et vice versa.</a:t>
            </a:r>
          </a:p>
          <a:p>
            <a:pPr lvl="1" algn="just">
              <a:lnSpc>
                <a:spcPct val="100000"/>
              </a:lnSpc>
              <a:buClr>
                <a:schemeClr val="accent2"/>
              </a:buClr>
            </a:pPr>
            <a:endParaRPr lang="fr-FR" sz="1350" dirty="0"/>
          </a:p>
          <a:p>
            <a:pPr marL="0" indent="0" algn="just">
              <a:lnSpc>
                <a:spcPct val="100000"/>
              </a:lnSpc>
              <a:buClr>
                <a:schemeClr val="accent2"/>
              </a:buClr>
              <a:buNone/>
            </a:pPr>
            <a:r>
              <a:rPr lang="fr-FR" sz="1425" b="1" dirty="0"/>
              <a:t>Variance expliquée : </a:t>
            </a:r>
          </a:p>
          <a:p>
            <a:pPr lvl="1" algn="just">
              <a:lnSpc>
                <a:spcPct val="100000"/>
              </a:lnSpc>
              <a:buClr>
                <a:schemeClr val="accent2"/>
              </a:buClr>
            </a:pPr>
            <a:r>
              <a:rPr lang="fr-FR" sz="1350" dirty="0"/>
              <a:t>L'ACP fournit également des informations sur la variance expliquée par chaque composante principale. Cela permet de déterminer quelle proportion de la variance totale est expliquée par chaque composante, ce qui peut aider à sélectionner les composantes principales les plus significatives pour l'interprétation des données.</a:t>
            </a:r>
          </a:p>
          <a:p>
            <a:pPr marL="0" indent="0" algn="just">
              <a:lnSpc>
                <a:spcPct val="100000"/>
              </a:lnSpc>
              <a:buClr>
                <a:schemeClr val="accent2"/>
              </a:buClr>
              <a:buNone/>
            </a:pPr>
            <a:endParaRPr lang="fr-FR" sz="1200" dirty="0"/>
          </a:p>
        </p:txBody>
      </p:sp>
      <p:sp>
        <p:nvSpPr>
          <p:cNvPr id="5" name="Title 13">
            <a:extLst>
              <a:ext uri="{FF2B5EF4-FFF2-40B4-BE49-F238E27FC236}">
                <a16:creationId xmlns:a16="http://schemas.microsoft.com/office/drawing/2014/main" id="{3EF7244F-581C-4CD7-8CAD-0DDF0A88D313}"/>
              </a:ext>
            </a:extLst>
          </p:cNvPr>
          <p:cNvSpPr txBox="1">
            <a:spLocks/>
          </p:cNvSpPr>
          <p:nvPr/>
        </p:nvSpPr>
        <p:spPr>
          <a:xfrm>
            <a:off x="389008" y="972046"/>
            <a:ext cx="6249917" cy="19944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Interprétations</a:t>
            </a:r>
          </a:p>
        </p:txBody>
      </p:sp>
    </p:spTree>
    <p:extLst>
      <p:ext uri="{BB962C8B-B14F-4D97-AF65-F5344CB8AC3E}">
        <p14:creationId xmlns:p14="http://schemas.microsoft.com/office/powerpoint/2010/main" val="4121217950"/>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241</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en Composantes Principales</a:t>
            </a:r>
            <a:endParaRPr lang="fr-FR" sz="2100" b="0" dirty="0"/>
          </a:p>
        </p:txBody>
      </p:sp>
      <p:sp>
        <p:nvSpPr>
          <p:cNvPr id="9" name="Content Placeholder 15">
            <a:extLst>
              <a:ext uri="{FF2B5EF4-FFF2-40B4-BE49-F238E27FC236}">
                <a16:creationId xmlns:a16="http://schemas.microsoft.com/office/drawing/2014/main" id="{8B32DE84-1CF6-4B96-91F3-5D787D9ADB1D}"/>
              </a:ext>
            </a:extLst>
          </p:cNvPr>
          <p:cNvSpPr>
            <a:spLocks noGrp="1"/>
          </p:cNvSpPr>
          <p:nvPr>
            <p:ph sz="half" idx="13"/>
          </p:nvPr>
        </p:nvSpPr>
        <p:spPr>
          <a:xfrm>
            <a:off x="746911" y="1391970"/>
            <a:ext cx="4733433" cy="3539258"/>
          </a:xfrm>
        </p:spPr>
        <p:txBody>
          <a:bodyPr>
            <a:noAutofit/>
          </a:bodyPr>
          <a:lstStyle/>
          <a:p>
            <a:pPr algn="just">
              <a:lnSpc>
                <a:spcPct val="100000"/>
              </a:lnSpc>
              <a:buClr>
                <a:schemeClr val="accent2"/>
              </a:buClr>
            </a:pPr>
            <a:r>
              <a:rPr lang="fr-FR" sz="1425" dirty="0"/>
              <a:t>Lorsqu'on applique l'analyse en composantes principales (ACP), l'effet de la taille des variables peut jouer un rôle important dans l'interprétation des résultats. </a:t>
            </a:r>
          </a:p>
          <a:p>
            <a:pPr algn="just">
              <a:lnSpc>
                <a:spcPct val="100000"/>
              </a:lnSpc>
              <a:buClr>
                <a:schemeClr val="accent2"/>
              </a:buClr>
            </a:pPr>
            <a:r>
              <a:rPr lang="fr-FR" sz="1425" dirty="0"/>
              <a:t>L'effet de la taille se réfère au fait que certaines variables peuvent avoir une plus grande variabilité en raison de leur échelle de mesure, ce qui peut influencer les résultats de l'ACP.</a:t>
            </a:r>
          </a:p>
          <a:p>
            <a:pPr algn="just">
              <a:lnSpc>
                <a:spcPct val="100000"/>
              </a:lnSpc>
              <a:buClr>
                <a:schemeClr val="accent2"/>
              </a:buClr>
            </a:pPr>
            <a:r>
              <a:rPr lang="fr-FR" sz="1425" dirty="0"/>
              <a:t>Si certaines variables sont mesurées sur des échelles différentes ou ont des unités de mesure différentes, elles peuvent avoir une variance plus élevée simplement en raison de leur échelle de mesure, et cela peut biaiser les résultats de l'ACP. </a:t>
            </a:r>
          </a:p>
        </p:txBody>
      </p:sp>
      <p:sp>
        <p:nvSpPr>
          <p:cNvPr id="5" name="Title 13">
            <a:extLst>
              <a:ext uri="{FF2B5EF4-FFF2-40B4-BE49-F238E27FC236}">
                <a16:creationId xmlns:a16="http://schemas.microsoft.com/office/drawing/2014/main" id="{3EF7244F-581C-4CD7-8CAD-0DDF0A88D313}"/>
              </a:ext>
            </a:extLst>
          </p:cNvPr>
          <p:cNvSpPr txBox="1">
            <a:spLocks/>
          </p:cNvSpPr>
          <p:nvPr/>
        </p:nvSpPr>
        <p:spPr>
          <a:xfrm>
            <a:off x="389008" y="972046"/>
            <a:ext cx="6249917" cy="19944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Effet taille</a:t>
            </a:r>
          </a:p>
        </p:txBody>
      </p:sp>
      <p:pic>
        <p:nvPicPr>
          <p:cNvPr id="2" name="Image 1">
            <a:extLst>
              <a:ext uri="{FF2B5EF4-FFF2-40B4-BE49-F238E27FC236}">
                <a16:creationId xmlns:a16="http://schemas.microsoft.com/office/drawing/2014/main" id="{086FFD1F-394E-4FAC-BE48-E68ABB951C38}"/>
              </a:ext>
            </a:extLst>
          </p:cNvPr>
          <p:cNvPicPr>
            <a:picLocks noChangeAspect="1"/>
          </p:cNvPicPr>
          <p:nvPr/>
        </p:nvPicPr>
        <p:blipFill>
          <a:blip r:embed="rId3"/>
          <a:stretch>
            <a:fillRect/>
          </a:stretch>
        </p:blipFill>
        <p:spPr>
          <a:xfrm>
            <a:off x="5779577" y="1385787"/>
            <a:ext cx="3140363" cy="2971121"/>
          </a:xfrm>
          <a:prstGeom prst="rect">
            <a:avLst/>
          </a:prstGeom>
        </p:spPr>
      </p:pic>
    </p:spTree>
    <p:extLst>
      <p:ext uri="{BB962C8B-B14F-4D97-AF65-F5344CB8AC3E}">
        <p14:creationId xmlns:p14="http://schemas.microsoft.com/office/powerpoint/2010/main" val="593618558"/>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242</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en Composantes Principales</a:t>
            </a:r>
            <a:endParaRPr lang="fr-FR" sz="2100" b="0" dirty="0"/>
          </a:p>
        </p:txBody>
      </p:sp>
      <p:sp>
        <p:nvSpPr>
          <p:cNvPr id="9" name="Content Placeholder 15">
            <a:extLst>
              <a:ext uri="{FF2B5EF4-FFF2-40B4-BE49-F238E27FC236}">
                <a16:creationId xmlns:a16="http://schemas.microsoft.com/office/drawing/2014/main" id="{8B32DE84-1CF6-4B96-91F3-5D787D9ADB1D}"/>
              </a:ext>
            </a:extLst>
          </p:cNvPr>
          <p:cNvSpPr>
            <a:spLocks noGrp="1"/>
          </p:cNvSpPr>
          <p:nvPr>
            <p:ph sz="half" idx="13"/>
          </p:nvPr>
        </p:nvSpPr>
        <p:spPr>
          <a:xfrm>
            <a:off x="746911" y="1391970"/>
            <a:ext cx="4945380" cy="3539258"/>
          </a:xfrm>
        </p:spPr>
        <p:txBody>
          <a:bodyPr>
            <a:noAutofit/>
          </a:bodyPr>
          <a:lstStyle/>
          <a:p>
            <a:pPr algn="just">
              <a:lnSpc>
                <a:spcPct val="100000"/>
              </a:lnSpc>
              <a:buClr>
                <a:schemeClr val="accent2"/>
              </a:buClr>
            </a:pPr>
            <a:r>
              <a:rPr lang="fr-FR" sz="1425" dirty="0"/>
              <a:t>Les variables avec des variances plus élevées auront tendance à avoir un poids plus important dans la formation des composantes principales.</a:t>
            </a:r>
          </a:p>
          <a:p>
            <a:pPr algn="just">
              <a:lnSpc>
                <a:spcPct val="100000"/>
              </a:lnSpc>
              <a:buClr>
                <a:schemeClr val="accent2"/>
              </a:buClr>
            </a:pPr>
            <a:r>
              <a:rPr lang="fr-FR" sz="1425" dirty="0"/>
              <a:t>Pour éviter cet effet de taille, il est courant de standardiser les variables avant d'appliquer l'ACP. </a:t>
            </a:r>
          </a:p>
          <a:p>
            <a:pPr algn="just">
              <a:lnSpc>
                <a:spcPct val="100000"/>
              </a:lnSpc>
              <a:buClr>
                <a:schemeClr val="accent2"/>
              </a:buClr>
            </a:pPr>
            <a:r>
              <a:rPr lang="fr-FR" sz="1425" dirty="0"/>
              <a:t>La standardisation consiste à centrer les variables autour de zéro en soustrayant la moyenne et à les diviser par l'écart type. </a:t>
            </a:r>
          </a:p>
          <a:p>
            <a:pPr algn="just">
              <a:lnSpc>
                <a:spcPct val="100000"/>
              </a:lnSpc>
              <a:buClr>
                <a:schemeClr val="accent2"/>
              </a:buClr>
            </a:pPr>
            <a:r>
              <a:rPr lang="fr-FR" sz="1425" dirty="0"/>
              <a:t>Cela permet de mettre toutes les variables sur une même échelle et de donner une importance équivalente à chacune d'entre elles lors de la construction des composantes principales.</a:t>
            </a:r>
          </a:p>
        </p:txBody>
      </p:sp>
      <p:sp>
        <p:nvSpPr>
          <p:cNvPr id="5" name="Title 13">
            <a:extLst>
              <a:ext uri="{FF2B5EF4-FFF2-40B4-BE49-F238E27FC236}">
                <a16:creationId xmlns:a16="http://schemas.microsoft.com/office/drawing/2014/main" id="{3EF7244F-581C-4CD7-8CAD-0DDF0A88D313}"/>
              </a:ext>
            </a:extLst>
          </p:cNvPr>
          <p:cNvSpPr txBox="1">
            <a:spLocks/>
          </p:cNvSpPr>
          <p:nvPr/>
        </p:nvSpPr>
        <p:spPr>
          <a:xfrm>
            <a:off x="389008" y="972046"/>
            <a:ext cx="6249917" cy="19944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Effet taille</a:t>
            </a:r>
          </a:p>
        </p:txBody>
      </p:sp>
      <p:pic>
        <p:nvPicPr>
          <p:cNvPr id="7" name="Image 6">
            <a:extLst>
              <a:ext uri="{FF2B5EF4-FFF2-40B4-BE49-F238E27FC236}">
                <a16:creationId xmlns:a16="http://schemas.microsoft.com/office/drawing/2014/main" id="{3D779471-8D73-4538-A282-43B94C4E94F4}"/>
              </a:ext>
            </a:extLst>
          </p:cNvPr>
          <p:cNvPicPr>
            <a:picLocks noChangeAspect="1"/>
          </p:cNvPicPr>
          <p:nvPr/>
        </p:nvPicPr>
        <p:blipFill>
          <a:blip r:embed="rId3"/>
          <a:stretch>
            <a:fillRect/>
          </a:stretch>
        </p:blipFill>
        <p:spPr>
          <a:xfrm>
            <a:off x="5779577" y="1385787"/>
            <a:ext cx="3140363" cy="2971121"/>
          </a:xfrm>
          <a:prstGeom prst="rect">
            <a:avLst/>
          </a:prstGeom>
        </p:spPr>
      </p:pic>
    </p:spTree>
    <p:extLst>
      <p:ext uri="{BB962C8B-B14F-4D97-AF65-F5344CB8AC3E}">
        <p14:creationId xmlns:p14="http://schemas.microsoft.com/office/powerpoint/2010/main" val="3267726521"/>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Analyse Factorielle des Correspondances</a:t>
            </a:r>
          </a:p>
        </p:txBody>
      </p:sp>
    </p:spTree>
    <p:extLst>
      <p:ext uri="{BB962C8B-B14F-4D97-AF65-F5344CB8AC3E}">
        <p14:creationId xmlns:p14="http://schemas.microsoft.com/office/powerpoint/2010/main" val="2236035502"/>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244</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Factorielle des Correspondances</a:t>
            </a:r>
            <a:endParaRPr lang="fr-FR" sz="2100" b="0" dirty="0"/>
          </a:p>
        </p:txBody>
      </p:sp>
      <p:sp>
        <p:nvSpPr>
          <p:cNvPr id="18" name="Freeform: Shape 32">
            <a:extLst>
              <a:ext uri="{FF2B5EF4-FFF2-40B4-BE49-F238E27FC236}">
                <a16:creationId xmlns:a16="http://schemas.microsoft.com/office/drawing/2014/main" id="{8FF06702-3B0F-4CCE-9990-1E225D5C54A7}"/>
              </a:ext>
            </a:extLst>
          </p:cNvPr>
          <p:cNvSpPr/>
          <p:nvPr/>
        </p:nvSpPr>
        <p:spPr>
          <a:xfrm>
            <a:off x="2481738" y="3153440"/>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3">
              <a:lumMod val="75000"/>
            </a:schemeClr>
          </a:solidFill>
          <a:ln w="12700">
            <a:miter lim="400000"/>
          </a:ln>
        </p:spPr>
        <p:txBody>
          <a:bodyPr wrap="square" lIns="720090" tIns="21431" rIns="21431" bIns="21431" anchor="ctr">
            <a:noAutofit/>
          </a:bodyPr>
          <a:lstStyle/>
          <a:p>
            <a:pPr>
              <a:lnSpc>
                <a:spcPts val="900"/>
              </a:lnSpc>
            </a:pPr>
            <a:r>
              <a:rPr lang="en-US" sz="788" noProof="1">
                <a:solidFill>
                  <a:srgbClr val="FFFFFF"/>
                </a:solidFill>
              </a:rPr>
              <a:t>Interprétations</a:t>
            </a:r>
          </a:p>
        </p:txBody>
      </p:sp>
      <p:sp>
        <p:nvSpPr>
          <p:cNvPr id="19" name="Freeform: Shape 30">
            <a:extLst>
              <a:ext uri="{FF2B5EF4-FFF2-40B4-BE49-F238E27FC236}">
                <a16:creationId xmlns:a16="http://schemas.microsoft.com/office/drawing/2014/main" id="{203039F2-603D-4DDC-8EA6-80EF8961890E}"/>
              </a:ext>
            </a:extLst>
          </p:cNvPr>
          <p:cNvSpPr/>
          <p:nvPr/>
        </p:nvSpPr>
        <p:spPr>
          <a:xfrm>
            <a:off x="2481738" y="2814000"/>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5">
              <a:lumMod val="75000"/>
            </a:schemeClr>
          </a:solidFill>
          <a:ln w="12700">
            <a:miter lim="400000"/>
          </a:ln>
        </p:spPr>
        <p:txBody>
          <a:bodyPr wrap="square" lIns="874395" tIns="21431" rIns="21431" bIns="21431" anchor="ctr">
            <a:noAutofit/>
          </a:bodyPr>
          <a:lstStyle/>
          <a:p>
            <a:pPr>
              <a:lnSpc>
                <a:spcPts val="900"/>
              </a:lnSpc>
            </a:pPr>
            <a:r>
              <a:rPr lang="en-US" sz="788" noProof="1">
                <a:solidFill>
                  <a:srgbClr val="FFFFFF"/>
                </a:solidFill>
              </a:rPr>
              <a:t>Code Python</a:t>
            </a:r>
          </a:p>
        </p:txBody>
      </p:sp>
      <p:sp>
        <p:nvSpPr>
          <p:cNvPr id="20" name="Freeform: Shape 28">
            <a:extLst>
              <a:ext uri="{FF2B5EF4-FFF2-40B4-BE49-F238E27FC236}">
                <a16:creationId xmlns:a16="http://schemas.microsoft.com/office/drawing/2014/main" id="{D7E7895F-97D1-4E4A-9C70-D72D3DAB61B7}"/>
              </a:ext>
            </a:extLst>
          </p:cNvPr>
          <p:cNvSpPr/>
          <p:nvPr/>
        </p:nvSpPr>
        <p:spPr>
          <a:xfrm>
            <a:off x="2481738" y="2474559"/>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2">
              <a:lumMod val="75000"/>
            </a:schemeClr>
          </a:solidFill>
          <a:ln w="12700">
            <a:miter lim="400000"/>
          </a:ln>
        </p:spPr>
        <p:txBody>
          <a:bodyPr wrap="square" lIns="977265" tIns="21431" rIns="21431" bIns="21431" anchor="ctr">
            <a:noAutofit/>
          </a:bodyPr>
          <a:lstStyle/>
          <a:p>
            <a:pPr>
              <a:lnSpc>
                <a:spcPts val="900"/>
              </a:lnSpc>
            </a:pPr>
            <a:r>
              <a:rPr lang="en-US" sz="788" noProof="1">
                <a:solidFill>
                  <a:srgbClr val="FFFFFF"/>
                </a:solidFill>
              </a:rPr>
              <a:t>Représentation graphique</a:t>
            </a:r>
          </a:p>
        </p:txBody>
      </p:sp>
      <p:sp>
        <p:nvSpPr>
          <p:cNvPr id="22" name="Freeform: Shape 26">
            <a:extLst>
              <a:ext uri="{FF2B5EF4-FFF2-40B4-BE49-F238E27FC236}">
                <a16:creationId xmlns:a16="http://schemas.microsoft.com/office/drawing/2014/main" id="{B44D5A02-A744-4A3B-8954-D0AA065B4BF3}"/>
              </a:ext>
            </a:extLst>
          </p:cNvPr>
          <p:cNvSpPr/>
          <p:nvPr/>
        </p:nvSpPr>
        <p:spPr>
          <a:xfrm>
            <a:off x="2481738" y="2135119"/>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6">
              <a:lumMod val="75000"/>
            </a:schemeClr>
          </a:solidFill>
          <a:ln w="12700">
            <a:miter lim="400000"/>
          </a:ln>
        </p:spPr>
        <p:txBody>
          <a:bodyPr wrap="square" lIns="874395" tIns="21431" rIns="21431" bIns="21431" anchor="ctr">
            <a:noAutofit/>
          </a:bodyPr>
          <a:lstStyle/>
          <a:p>
            <a:pPr>
              <a:lnSpc>
                <a:spcPts val="900"/>
              </a:lnSpc>
            </a:pPr>
            <a:r>
              <a:rPr lang="en-US" sz="788" noProof="1">
                <a:solidFill>
                  <a:srgbClr val="FFFFFF"/>
                </a:solidFill>
              </a:rPr>
              <a:t>Fonctionnement</a:t>
            </a:r>
          </a:p>
        </p:txBody>
      </p:sp>
      <p:sp>
        <p:nvSpPr>
          <p:cNvPr id="23" name="Freeform: Shape 24">
            <a:extLst>
              <a:ext uri="{FF2B5EF4-FFF2-40B4-BE49-F238E27FC236}">
                <a16:creationId xmlns:a16="http://schemas.microsoft.com/office/drawing/2014/main" id="{0910EAAC-379B-42D0-98D6-3C128395A5E1}"/>
              </a:ext>
            </a:extLst>
          </p:cNvPr>
          <p:cNvSpPr/>
          <p:nvPr/>
        </p:nvSpPr>
        <p:spPr>
          <a:xfrm>
            <a:off x="2481738" y="1795678"/>
            <a:ext cx="3622750" cy="287219"/>
          </a:xfrm>
          <a:custGeom>
            <a:avLst/>
            <a:gdLst>
              <a:gd name="connsiteX0" fmla="*/ 0 w 6440444"/>
              <a:gd name="connsiteY0" fmla="*/ 0 h 510612"/>
              <a:gd name="connsiteX1" fmla="*/ 6184990 w 6440444"/>
              <a:gd name="connsiteY1" fmla="*/ 0 h 510612"/>
              <a:gd name="connsiteX2" fmla="*/ 6440444 w 6440444"/>
              <a:gd name="connsiteY2" fmla="*/ 255306 h 510612"/>
              <a:gd name="connsiteX3" fmla="*/ 6184990 w 6440444"/>
              <a:gd name="connsiteY3" fmla="*/ 510612 h 510612"/>
              <a:gd name="connsiteX4" fmla="*/ 0 w 6440444"/>
              <a:gd name="connsiteY4" fmla="*/ 510612 h 51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0444" h="510612">
                <a:moveTo>
                  <a:pt x="0" y="0"/>
                </a:moveTo>
                <a:lnTo>
                  <a:pt x="6184990" y="0"/>
                </a:lnTo>
                <a:cubicBezTo>
                  <a:pt x="6325821" y="0"/>
                  <a:pt x="6440444" y="114510"/>
                  <a:pt x="6440444" y="255306"/>
                </a:cubicBezTo>
                <a:cubicBezTo>
                  <a:pt x="6440444" y="396103"/>
                  <a:pt x="6325821" y="510612"/>
                  <a:pt x="6184990" y="510612"/>
                </a:cubicBezTo>
                <a:lnTo>
                  <a:pt x="0" y="510612"/>
                </a:lnTo>
                <a:close/>
              </a:path>
            </a:pathLst>
          </a:custGeom>
          <a:solidFill>
            <a:schemeClr val="accent4">
              <a:lumMod val="75000"/>
            </a:schemeClr>
          </a:solidFill>
          <a:ln w="12700">
            <a:miter lim="400000"/>
          </a:ln>
        </p:spPr>
        <p:txBody>
          <a:bodyPr wrap="square" lIns="720090" tIns="21431" rIns="21431" bIns="21431" anchor="ctr">
            <a:noAutofit/>
          </a:bodyPr>
          <a:lstStyle/>
          <a:p>
            <a:pPr>
              <a:lnSpc>
                <a:spcPts val="900"/>
              </a:lnSpc>
            </a:pPr>
            <a:r>
              <a:rPr lang="en-US" sz="788" noProof="1">
                <a:solidFill>
                  <a:schemeClr val="bg1"/>
                </a:solidFill>
              </a:rPr>
              <a:t>Intuition</a:t>
            </a:r>
          </a:p>
        </p:txBody>
      </p:sp>
      <p:sp>
        <p:nvSpPr>
          <p:cNvPr id="24" name="Shape">
            <a:extLst>
              <a:ext uri="{FF2B5EF4-FFF2-40B4-BE49-F238E27FC236}">
                <a16:creationId xmlns:a16="http://schemas.microsoft.com/office/drawing/2014/main" id="{F9EC5D43-FEA6-4AD2-A56F-F08A678C6322}"/>
              </a:ext>
            </a:extLst>
          </p:cNvPr>
          <p:cNvSpPr/>
          <p:nvPr/>
        </p:nvSpPr>
        <p:spPr>
          <a:xfrm>
            <a:off x="2267940" y="3153440"/>
            <a:ext cx="837287"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16638" y="21600"/>
                </a:lnTo>
                <a:cubicBezTo>
                  <a:pt x="18614" y="15120"/>
                  <a:pt x="20298" y="7920"/>
                  <a:pt x="21600" y="0"/>
                </a:cubicBezTo>
                <a:lnTo>
                  <a:pt x="3705" y="0"/>
                </a:lnTo>
                <a:cubicBezTo>
                  <a:pt x="1662" y="0"/>
                  <a:pt x="0" y="4844"/>
                  <a:pt x="0" y="10800"/>
                </a:cubicBezTo>
                <a:close/>
              </a:path>
            </a:pathLst>
          </a:custGeom>
          <a:solidFill>
            <a:schemeClr val="accent3"/>
          </a:solidFill>
          <a:ln w="12700">
            <a:miter lim="400000"/>
          </a:ln>
        </p:spPr>
        <p:txBody>
          <a:bodyPr lIns="21431" tIns="21431" rIns="21431" bIns="21431" anchor="ctr"/>
          <a:lstStyle/>
          <a:p>
            <a:pPr>
              <a:defRPr sz="3000">
                <a:solidFill>
                  <a:srgbClr val="FFFFFF"/>
                </a:solidFill>
              </a:defRPr>
            </a:pPr>
            <a:endParaRPr sz="1688" dirty="0"/>
          </a:p>
        </p:txBody>
      </p:sp>
      <p:sp>
        <p:nvSpPr>
          <p:cNvPr id="25" name="Shape">
            <a:extLst>
              <a:ext uri="{FF2B5EF4-FFF2-40B4-BE49-F238E27FC236}">
                <a16:creationId xmlns:a16="http://schemas.microsoft.com/office/drawing/2014/main" id="{88B1E820-E7D3-495A-A330-1C88F6DD012E}"/>
              </a:ext>
            </a:extLst>
          </p:cNvPr>
          <p:cNvSpPr/>
          <p:nvPr/>
        </p:nvSpPr>
        <p:spPr>
          <a:xfrm>
            <a:off x="2267939" y="2814000"/>
            <a:ext cx="943470"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19707" y="21600"/>
                </a:lnTo>
                <a:cubicBezTo>
                  <a:pt x="20584" y="14793"/>
                  <a:pt x="21241" y="7527"/>
                  <a:pt x="21600" y="0"/>
                </a:cubicBezTo>
                <a:lnTo>
                  <a:pt x="3288" y="0"/>
                </a:lnTo>
                <a:cubicBezTo>
                  <a:pt x="1475" y="0"/>
                  <a:pt x="0" y="4844"/>
                  <a:pt x="0" y="10800"/>
                </a:cubicBezTo>
                <a:close/>
              </a:path>
            </a:pathLst>
          </a:custGeom>
          <a:solidFill>
            <a:schemeClr val="accent5"/>
          </a:solidFill>
          <a:ln w="12700">
            <a:miter lim="400000"/>
          </a:ln>
        </p:spPr>
        <p:txBody>
          <a:bodyPr lIns="21431" tIns="21431" rIns="21431" bIns="21431" anchor="ctr"/>
          <a:lstStyle/>
          <a:p>
            <a:pPr>
              <a:defRPr sz="3000">
                <a:solidFill>
                  <a:srgbClr val="FFFFFF"/>
                </a:solidFill>
              </a:defRPr>
            </a:pPr>
            <a:endParaRPr sz="1688" dirty="0"/>
          </a:p>
        </p:txBody>
      </p:sp>
      <p:sp>
        <p:nvSpPr>
          <p:cNvPr id="26" name="Shape">
            <a:extLst>
              <a:ext uri="{FF2B5EF4-FFF2-40B4-BE49-F238E27FC236}">
                <a16:creationId xmlns:a16="http://schemas.microsoft.com/office/drawing/2014/main" id="{AFE3E2B7-4BEA-462C-9D05-28A8CBFFF95B}"/>
              </a:ext>
            </a:extLst>
          </p:cNvPr>
          <p:cNvSpPr/>
          <p:nvPr/>
        </p:nvSpPr>
        <p:spPr>
          <a:xfrm>
            <a:off x="2267939" y="2474559"/>
            <a:ext cx="960009"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49" y="21600"/>
                  <a:pt x="3231" y="21600"/>
                </a:cubicBezTo>
                <a:lnTo>
                  <a:pt x="21404" y="21600"/>
                </a:lnTo>
                <a:cubicBezTo>
                  <a:pt x="21522" y="18065"/>
                  <a:pt x="21600" y="14465"/>
                  <a:pt x="21600" y="10800"/>
                </a:cubicBezTo>
                <a:cubicBezTo>
                  <a:pt x="21600" y="7135"/>
                  <a:pt x="21541" y="3535"/>
                  <a:pt x="21404" y="0"/>
                </a:cubicBezTo>
                <a:lnTo>
                  <a:pt x="3231" y="0"/>
                </a:lnTo>
                <a:cubicBezTo>
                  <a:pt x="1449" y="0"/>
                  <a:pt x="0" y="4844"/>
                  <a:pt x="0" y="10800"/>
                </a:cubicBezTo>
                <a:close/>
              </a:path>
            </a:pathLst>
          </a:custGeom>
          <a:solidFill>
            <a:schemeClr val="accent2"/>
          </a:solidFill>
          <a:ln w="12700">
            <a:miter lim="400000"/>
          </a:ln>
        </p:spPr>
        <p:txBody>
          <a:bodyPr lIns="21431" tIns="21431" rIns="21431" bIns="21431" anchor="ctr"/>
          <a:lstStyle/>
          <a:p>
            <a:pPr>
              <a:defRPr sz="3000">
                <a:solidFill>
                  <a:srgbClr val="FFFFFF"/>
                </a:solidFill>
              </a:defRPr>
            </a:pPr>
            <a:endParaRPr sz="1688" dirty="0"/>
          </a:p>
        </p:txBody>
      </p:sp>
      <p:sp>
        <p:nvSpPr>
          <p:cNvPr id="27" name="Shape">
            <a:extLst>
              <a:ext uri="{FF2B5EF4-FFF2-40B4-BE49-F238E27FC236}">
                <a16:creationId xmlns:a16="http://schemas.microsoft.com/office/drawing/2014/main" id="{8D4C518B-477D-4D8D-BBFA-5449A20D0B8A}"/>
              </a:ext>
            </a:extLst>
          </p:cNvPr>
          <p:cNvSpPr/>
          <p:nvPr/>
        </p:nvSpPr>
        <p:spPr>
          <a:xfrm>
            <a:off x="2267939" y="2135119"/>
            <a:ext cx="943470"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6756"/>
                  <a:pt x="1475" y="21600"/>
                  <a:pt x="3288" y="21600"/>
                </a:cubicBezTo>
                <a:lnTo>
                  <a:pt x="21600" y="21600"/>
                </a:lnTo>
                <a:cubicBezTo>
                  <a:pt x="21241" y="14073"/>
                  <a:pt x="20584" y="6807"/>
                  <a:pt x="19707" y="0"/>
                </a:cubicBezTo>
                <a:lnTo>
                  <a:pt x="3288" y="0"/>
                </a:lnTo>
                <a:cubicBezTo>
                  <a:pt x="1475" y="0"/>
                  <a:pt x="0" y="4844"/>
                  <a:pt x="0" y="10800"/>
                </a:cubicBezTo>
                <a:close/>
              </a:path>
            </a:pathLst>
          </a:custGeom>
          <a:solidFill>
            <a:schemeClr val="accent6"/>
          </a:solidFill>
          <a:ln w="12700">
            <a:miter lim="400000"/>
          </a:ln>
        </p:spPr>
        <p:txBody>
          <a:bodyPr lIns="21431" tIns="21431" rIns="21431" bIns="21431" anchor="ctr"/>
          <a:lstStyle/>
          <a:p>
            <a:pPr>
              <a:defRPr sz="3000">
                <a:solidFill>
                  <a:srgbClr val="FFFFFF"/>
                </a:solidFill>
              </a:defRPr>
            </a:pPr>
            <a:endParaRPr sz="1688" dirty="0"/>
          </a:p>
        </p:txBody>
      </p:sp>
      <p:sp>
        <p:nvSpPr>
          <p:cNvPr id="28" name="Shape">
            <a:extLst>
              <a:ext uri="{FF2B5EF4-FFF2-40B4-BE49-F238E27FC236}">
                <a16:creationId xmlns:a16="http://schemas.microsoft.com/office/drawing/2014/main" id="{B23F9983-178A-44B8-A970-B293EF1869CF}"/>
              </a:ext>
            </a:extLst>
          </p:cNvPr>
          <p:cNvSpPr/>
          <p:nvPr/>
        </p:nvSpPr>
        <p:spPr>
          <a:xfrm>
            <a:off x="2267940" y="1795678"/>
            <a:ext cx="837287" cy="2872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0" y="10800"/>
                </a:lnTo>
                <a:cubicBezTo>
                  <a:pt x="0" y="16756"/>
                  <a:pt x="1662" y="21600"/>
                  <a:pt x="3705" y="21600"/>
                </a:cubicBezTo>
                <a:lnTo>
                  <a:pt x="21600" y="21600"/>
                </a:lnTo>
                <a:cubicBezTo>
                  <a:pt x="20298" y="13745"/>
                  <a:pt x="18614" y="6480"/>
                  <a:pt x="16638" y="0"/>
                </a:cubicBezTo>
                <a:lnTo>
                  <a:pt x="3705" y="0"/>
                </a:lnTo>
                <a:cubicBezTo>
                  <a:pt x="1662" y="65"/>
                  <a:pt x="0" y="4844"/>
                  <a:pt x="0" y="10800"/>
                </a:cubicBezTo>
                <a:close/>
              </a:path>
            </a:pathLst>
          </a:custGeom>
          <a:solidFill>
            <a:schemeClr val="accent4"/>
          </a:solidFill>
          <a:ln w="12700">
            <a:miter lim="400000"/>
          </a:ln>
        </p:spPr>
        <p:txBody>
          <a:bodyPr lIns="21431" tIns="21431" rIns="21431" bIns="21431" anchor="ctr"/>
          <a:lstStyle/>
          <a:p>
            <a:pPr>
              <a:defRPr sz="3000">
                <a:solidFill>
                  <a:srgbClr val="FFFFFF"/>
                </a:solidFill>
              </a:defRPr>
            </a:pPr>
            <a:endParaRPr sz="1688" dirty="0"/>
          </a:p>
        </p:txBody>
      </p:sp>
      <p:pic>
        <p:nvPicPr>
          <p:cNvPr id="29" name="Graphic 14" descr="Livres">
            <a:extLst>
              <a:ext uri="{FF2B5EF4-FFF2-40B4-BE49-F238E27FC236}">
                <a16:creationId xmlns:a16="http://schemas.microsoft.com/office/drawing/2014/main" id="{4531D919-A43A-4206-98B7-8F13F59AE99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1813174"/>
            <a:ext cx="252228" cy="252228"/>
          </a:xfrm>
          <a:prstGeom prst="rect">
            <a:avLst/>
          </a:prstGeom>
        </p:spPr>
      </p:pic>
      <p:pic>
        <p:nvPicPr>
          <p:cNvPr id="30" name="Graphic 16" descr="Livres">
            <a:extLst>
              <a:ext uri="{FF2B5EF4-FFF2-40B4-BE49-F238E27FC236}">
                <a16:creationId xmlns:a16="http://schemas.microsoft.com/office/drawing/2014/main" id="{4DFE652D-FCF1-419D-A1E6-D1A7DB808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3170936"/>
            <a:ext cx="252228" cy="252228"/>
          </a:xfrm>
          <a:prstGeom prst="rect">
            <a:avLst/>
          </a:prstGeom>
        </p:spPr>
      </p:pic>
      <p:pic>
        <p:nvPicPr>
          <p:cNvPr id="31" name="Graphic 18" descr="Livres">
            <a:extLst>
              <a:ext uri="{FF2B5EF4-FFF2-40B4-BE49-F238E27FC236}">
                <a16:creationId xmlns:a16="http://schemas.microsoft.com/office/drawing/2014/main" id="{A09D41D8-DEF7-4E6C-8282-A3A704CA208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2152615"/>
            <a:ext cx="252228" cy="252228"/>
          </a:xfrm>
          <a:prstGeom prst="rect">
            <a:avLst/>
          </a:prstGeom>
        </p:spPr>
      </p:pic>
      <p:pic>
        <p:nvPicPr>
          <p:cNvPr id="32" name="Graphic 20" descr="Livres">
            <a:extLst>
              <a:ext uri="{FF2B5EF4-FFF2-40B4-BE49-F238E27FC236}">
                <a16:creationId xmlns:a16="http://schemas.microsoft.com/office/drawing/2014/main" id="{3DDA74D7-8FF7-48C4-B1E1-633A3639E6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2492055"/>
            <a:ext cx="252228" cy="252228"/>
          </a:xfrm>
          <a:prstGeom prst="rect">
            <a:avLst/>
          </a:prstGeom>
        </p:spPr>
      </p:pic>
      <p:pic>
        <p:nvPicPr>
          <p:cNvPr id="33" name="Graphic 22" descr="Livres">
            <a:extLst>
              <a:ext uri="{FF2B5EF4-FFF2-40B4-BE49-F238E27FC236}">
                <a16:creationId xmlns:a16="http://schemas.microsoft.com/office/drawing/2014/main" id="{DE405885-8A02-4062-A0AE-AC75CDB79D4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1845" y="2831495"/>
            <a:ext cx="252228" cy="252228"/>
          </a:xfrm>
          <a:prstGeom prst="rect">
            <a:avLst/>
          </a:prstGeom>
        </p:spPr>
      </p:pic>
    </p:spTree>
    <p:extLst>
      <p:ext uri="{BB962C8B-B14F-4D97-AF65-F5344CB8AC3E}">
        <p14:creationId xmlns:p14="http://schemas.microsoft.com/office/powerpoint/2010/main" val="1334260078"/>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245</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Factorielle des Correspondances</a:t>
            </a:r>
            <a:endParaRPr lang="fr-FR" sz="2100" b="0" dirty="0"/>
          </a:p>
        </p:txBody>
      </p:sp>
      <p:sp>
        <p:nvSpPr>
          <p:cNvPr id="7" name="Content Placeholder 15">
            <a:extLst>
              <a:ext uri="{FF2B5EF4-FFF2-40B4-BE49-F238E27FC236}">
                <a16:creationId xmlns:a16="http://schemas.microsoft.com/office/drawing/2014/main" id="{A8A2A246-1708-47EB-93C8-12565BCF2183}"/>
              </a:ext>
            </a:extLst>
          </p:cNvPr>
          <p:cNvSpPr>
            <a:spLocks noGrp="1"/>
          </p:cNvSpPr>
          <p:nvPr>
            <p:ph sz="half" idx="13"/>
          </p:nvPr>
        </p:nvSpPr>
        <p:spPr>
          <a:xfrm>
            <a:off x="746911" y="1391970"/>
            <a:ext cx="5891400" cy="3539258"/>
          </a:xfrm>
        </p:spPr>
        <p:txBody>
          <a:bodyPr>
            <a:noAutofit/>
          </a:bodyPr>
          <a:lstStyle/>
          <a:p>
            <a:pPr algn="just">
              <a:lnSpc>
                <a:spcPct val="100000"/>
              </a:lnSpc>
              <a:buClr>
                <a:schemeClr val="accent2"/>
              </a:buClr>
            </a:pPr>
            <a:r>
              <a:rPr lang="fr-FR" sz="1425" dirty="0"/>
              <a:t>L’AFC permet de résumer et de visualiser un tableau de contingence, i.e. qui croise deux variables qualitatives.</a:t>
            </a:r>
          </a:p>
          <a:p>
            <a:pPr algn="just">
              <a:lnSpc>
                <a:spcPct val="100000"/>
              </a:lnSpc>
              <a:buClr>
                <a:schemeClr val="accent2"/>
              </a:buClr>
            </a:pPr>
            <a:r>
              <a:rPr lang="fr-FR" sz="1425" dirty="0"/>
              <a:t>Les objectifs de l’AFC sont les suivants :</a:t>
            </a:r>
          </a:p>
          <a:p>
            <a:pPr lvl="1" algn="just">
              <a:lnSpc>
                <a:spcPct val="100000"/>
              </a:lnSpc>
              <a:buClr>
                <a:schemeClr val="accent2"/>
              </a:buClr>
            </a:pPr>
            <a:r>
              <a:rPr lang="fr-FR" sz="1125" dirty="0"/>
              <a:t>Comparer les profils-lignes entre eux</a:t>
            </a:r>
          </a:p>
          <a:p>
            <a:pPr lvl="1" algn="just">
              <a:lnSpc>
                <a:spcPct val="100000"/>
              </a:lnSpc>
              <a:buClr>
                <a:schemeClr val="accent2"/>
              </a:buClr>
            </a:pPr>
            <a:r>
              <a:rPr lang="fr-FR" sz="1125" dirty="0"/>
              <a:t>Comparer les profils-colonnes entre eux</a:t>
            </a:r>
          </a:p>
          <a:p>
            <a:pPr lvl="1" algn="just">
              <a:lnSpc>
                <a:spcPct val="100000"/>
              </a:lnSpc>
              <a:buClr>
                <a:schemeClr val="accent2"/>
              </a:buClr>
            </a:pPr>
            <a:r>
              <a:rPr lang="fr-FR" sz="1125" dirty="0"/>
              <a:t>Interpréter les proximités entre les lignes et les colonnes</a:t>
            </a:r>
          </a:p>
        </p:txBody>
      </p:sp>
    </p:spTree>
    <p:extLst>
      <p:ext uri="{BB962C8B-B14F-4D97-AF65-F5344CB8AC3E}">
        <p14:creationId xmlns:p14="http://schemas.microsoft.com/office/powerpoint/2010/main" val="438508469"/>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246</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Factorielle des Correspondances</a:t>
            </a:r>
            <a:endParaRPr lang="fr-FR" sz="2100" b="0" dirty="0"/>
          </a:p>
        </p:txBody>
      </p:sp>
      <p:sp>
        <p:nvSpPr>
          <p:cNvPr id="7" name="Content Placeholder 15">
            <a:extLst>
              <a:ext uri="{FF2B5EF4-FFF2-40B4-BE49-F238E27FC236}">
                <a16:creationId xmlns:a16="http://schemas.microsoft.com/office/drawing/2014/main" id="{A8A2A246-1708-47EB-93C8-12565BCF2183}"/>
              </a:ext>
            </a:extLst>
          </p:cNvPr>
          <p:cNvSpPr>
            <a:spLocks noGrp="1"/>
          </p:cNvSpPr>
          <p:nvPr>
            <p:ph sz="half" idx="13"/>
          </p:nvPr>
        </p:nvSpPr>
        <p:spPr>
          <a:xfrm>
            <a:off x="746911" y="1391970"/>
            <a:ext cx="6840792" cy="3539258"/>
          </a:xfrm>
        </p:spPr>
        <p:txBody>
          <a:bodyPr>
            <a:noAutofit/>
          </a:bodyPr>
          <a:lstStyle/>
          <a:p>
            <a:pPr algn="just">
              <a:lnSpc>
                <a:spcPct val="100000"/>
              </a:lnSpc>
              <a:buClr>
                <a:schemeClr val="accent2"/>
              </a:buClr>
            </a:pPr>
            <a:r>
              <a:rPr lang="fr-FR" sz="1425" b="1" dirty="0"/>
              <a:t>Représentation graphique :</a:t>
            </a:r>
          </a:p>
          <a:p>
            <a:pPr lvl="1" algn="just">
              <a:lnSpc>
                <a:spcPct val="100000"/>
              </a:lnSpc>
              <a:buClr>
                <a:schemeClr val="accent2"/>
              </a:buClr>
            </a:pPr>
            <a:r>
              <a:rPr lang="fr-FR" sz="1350" dirty="0"/>
              <a:t>Les individus et les catégories de variables sont positionnés sur ce plan en fonction de leurs relations mutuelles. L'interprétation consiste à analyser la proximité ou l'éloignement des catégories et des individus afin de déceler des tendances ou des structures sous-jacentes.</a:t>
            </a:r>
          </a:p>
          <a:p>
            <a:pPr algn="just">
              <a:lnSpc>
                <a:spcPct val="100000"/>
              </a:lnSpc>
              <a:buClr>
                <a:schemeClr val="accent2"/>
              </a:buClr>
            </a:pPr>
            <a:endParaRPr lang="fr-FR" sz="1425" b="1" dirty="0"/>
          </a:p>
          <a:p>
            <a:pPr algn="just">
              <a:lnSpc>
                <a:spcPct val="100000"/>
              </a:lnSpc>
              <a:buClr>
                <a:schemeClr val="accent2"/>
              </a:buClr>
            </a:pPr>
            <a:r>
              <a:rPr lang="fr-FR" sz="1425" b="1" dirty="0"/>
              <a:t>Contribution des variables :</a:t>
            </a:r>
          </a:p>
          <a:p>
            <a:pPr lvl="1" algn="just">
              <a:lnSpc>
                <a:spcPct val="100000"/>
              </a:lnSpc>
              <a:buClr>
                <a:schemeClr val="accent2"/>
              </a:buClr>
            </a:pPr>
            <a:r>
              <a:rPr lang="fr-FR" sz="1350" dirty="0"/>
              <a:t>L'AFC fournit des mesures de contribution des variables et des individus. Les contributions des variables indiquent dans quelle mesure chaque variable contribue à la formation des axes principaux de l'AFC. </a:t>
            </a:r>
          </a:p>
          <a:p>
            <a:pPr lvl="1" algn="just">
              <a:lnSpc>
                <a:spcPct val="100000"/>
              </a:lnSpc>
              <a:buClr>
                <a:schemeClr val="accent2"/>
              </a:buClr>
            </a:pPr>
            <a:r>
              <a:rPr lang="fr-FR" sz="1350" dirty="0"/>
              <a:t>Les contributions des individus permettent d'évaluer l'importance de chaque individu dans la structure globale des données. </a:t>
            </a:r>
          </a:p>
          <a:p>
            <a:pPr lvl="1" algn="just">
              <a:lnSpc>
                <a:spcPct val="100000"/>
              </a:lnSpc>
              <a:buClr>
                <a:schemeClr val="accent2"/>
              </a:buClr>
            </a:pPr>
            <a:r>
              <a:rPr lang="fr-FR" sz="1350" dirty="0"/>
              <a:t>Ces mesures aident à identifier les variables et les individus qui ont une influence significative sur les résultats.</a:t>
            </a:r>
          </a:p>
        </p:txBody>
      </p:sp>
      <p:sp>
        <p:nvSpPr>
          <p:cNvPr id="5" name="Title 13">
            <a:extLst>
              <a:ext uri="{FF2B5EF4-FFF2-40B4-BE49-F238E27FC236}">
                <a16:creationId xmlns:a16="http://schemas.microsoft.com/office/drawing/2014/main" id="{913942DF-B0AF-4DA0-A716-DC2052D3C9AF}"/>
              </a:ext>
            </a:extLst>
          </p:cNvPr>
          <p:cNvSpPr txBox="1">
            <a:spLocks/>
          </p:cNvSpPr>
          <p:nvPr/>
        </p:nvSpPr>
        <p:spPr>
          <a:xfrm>
            <a:off x="389008" y="972046"/>
            <a:ext cx="6249917" cy="19944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Interprétations</a:t>
            </a:r>
          </a:p>
        </p:txBody>
      </p:sp>
    </p:spTree>
    <p:extLst>
      <p:ext uri="{BB962C8B-B14F-4D97-AF65-F5344CB8AC3E}">
        <p14:creationId xmlns:p14="http://schemas.microsoft.com/office/powerpoint/2010/main" val="831909635"/>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C7C65DDB-24F2-44CF-AE02-F3A6C8B1858B}"/>
              </a:ext>
            </a:extLst>
          </p:cNvPr>
          <p:cNvSpPr>
            <a:spLocks noGrp="1"/>
          </p:cNvSpPr>
          <p:nvPr>
            <p:ph type="sldNum" sz="quarter" idx="18"/>
          </p:nvPr>
        </p:nvSpPr>
        <p:spPr/>
        <p:txBody>
          <a:bodyPr/>
          <a:lstStyle>
            <a:lvl1pPr algn="r">
              <a:defRPr sz="900">
                <a:solidFill>
                  <a:schemeClr val="tx1">
                    <a:lumMod val="50000"/>
                    <a:lumOff val="50000"/>
                  </a:schemeClr>
                </a:solidFill>
              </a:defRPr>
            </a:lvl1pPr>
          </a:lstStyle>
          <a:p>
            <a:fld id="{8699F50C-BE38-4BD0-BA84-9B090E1F2B9B}" type="slidenum">
              <a:rPr lang="fr-FR" smtClean="0"/>
              <a:pPr/>
              <a:t>247</a:t>
            </a:fld>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6249917" cy="413741"/>
          </a:xfrm>
        </p:spPr>
        <p:txBody>
          <a:bodyPr>
            <a:noAutofit/>
          </a:bodyPr>
          <a:lstStyle/>
          <a:p>
            <a:r>
              <a:rPr lang="fr-FR" sz="2100" dirty="0"/>
              <a:t>Analyse Factorielle des Correspondances</a:t>
            </a:r>
            <a:endParaRPr lang="fr-FR" sz="2100" b="0" dirty="0"/>
          </a:p>
        </p:txBody>
      </p:sp>
      <p:sp>
        <p:nvSpPr>
          <p:cNvPr id="7" name="Content Placeholder 15">
            <a:extLst>
              <a:ext uri="{FF2B5EF4-FFF2-40B4-BE49-F238E27FC236}">
                <a16:creationId xmlns:a16="http://schemas.microsoft.com/office/drawing/2014/main" id="{A8A2A246-1708-47EB-93C8-12565BCF2183}"/>
              </a:ext>
            </a:extLst>
          </p:cNvPr>
          <p:cNvSpPr>
            <a:spLocks noGrp="1"/>
          </p:cNvSpPr>
          <p:nvPr>
            <p:ph sz="half" idx="13"/>
          </p:nvPr>
        </p:nvSpPr>
        <p:spPr>
          <a:xfrm>
            <a:off x="746911" y="1391970"/>
            <a:ext cx="5891400" cy="3539258"/>
          </a:xfrm>
        </p:spPr>
        <p:txBody>
          <a:bodyPr>
            <a:noAutofit/>
          </a:bodyPr>
          <a:lstStyle/>
          <a:p>
            <a:pPr algn="just">
              <a:lnSpc>
                <a:spcPct val="100000"/>
              </a:lnSpc>
              <a:buClr>
                <a:schemeClr val="accent2"/>
              </a:buClr>
            </a:pPr>
            <a:r>
              <a:rPr lang="fr-FR" sz="1425" b="1" dirty="0"/>
              <a:t>Liens entre les catégories de variables :</a:t>
            </a:r>
          </a:p>
          <a:p>
            <a:pPr lvl="1" algn="just">
              <a:lnSpc>
                <a:spcPct val="100000"/>
              </a:lnSpc>
              <a:buClr>
                <a:schemeClr val="accent2"/>
              </a:buClr>
            </a:pPr>
            <a:r>
              <a:rPr lang="fr-FR" sz="1350" dirty="0"/>
              <a:t>L'interprétation de l'AFC implique également l'examen des liens entre les différentes catégories de variables. </a:t>
            </a:r>
          </a:p>
          <a:p>
            <a:pPr lvl="1" algn="just">
              <a:lnSpc>
                <a:spcPct val="100000"/>
              </a:lnSpc>
              <a:buClr>
                <a:schemeClr val="accent2"/>
              </a:buClr>
            </a:pPr>
            <a:r>
              <a:rPr lang="fr-FR" sz="1350" dirty="0"/>
              <a:t>Les catégories proches les unes des autres sur le plan sont associées de manière similaire, tandis que les catégories éloignées sont moins liées.</a:t>
            </a:r>
          </a:p>
          <a:p>
            <a:pPr lvl="1" algn="just">
              <a:lnSpc>
                <a:spcPct val="100000"/>
              </a:lnSpc>
              <a:buClr>
                <a:schemeClr val="accent2"/>
              </a:buClr>
            </a:pPr>
            <a:r>
              <a:rPr lang="fr-FR" sz="1350" dirty="0"/>
              <a:t>L'analyse des proximités entre les catégories permet de dégager des tendances, des regroupements ou des oppositions entre les variables.</a:t>
            </a:r>
          </a:p>
          <a:p>
            <a:pPr algn="just">
              <a:lnSpc>
                <a:spcPct val="100000"/>
              </a:lnSpc>
              <a:buClr>
                <a:schemeClr val="accent2"/>
              </a:buClr>
            </a:pPr>
            <a:endParaRPr lang="fr-FR" sz="1425" b="1" dirty="0"/>
          </a:p>
        </p:txBody>
      </p:sp>
      <p:sp>
        <p:nvSpPr>
          <p:cNvPr id="5" name="Title 13">
            <a:extLst>
              <a:ext uri="{FF2B5EF4-FFF2-40B4-BE49-F238E27FC236}">
                <a16:creationId xmlns:a16="http://schemas.microsoft.com/office/drawing/2014/main" id="{913942DF-B0AF-4DA0-A716-DC2052D3C9AF}"/>
              </a:ext>
            </a:extLst>
          </p:cNvPr>
          <p:cNvSpPr txBox="1">
            <a:spLocks/>
          </p:cNvSpPr>
          <p:nvPr/>
        </p:nvSpPr>
        <p:spPr>
          <a:xfrm>
            <a:off x="389008" y="972046"/>
            <a:ext cx="6249917" cy="199447"/>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b="0" dirty="0"/>
              <a:t>Interprétations</a:t>
            </a:r>
          </a:p>
        </p:txBody>
      </p:sp>
    </p:spTree>
    <p:extLst>
      <p:ext uri="{BB962C8B-B14F-4D97-AF65-F5344CB8AC3E}">
        <p14:creationId xmlns:p14="http://schemas.microsoft.com/office/powerpoint/2010/main" val="415115499"/>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err="1"/>
              <a:t>Deep</a:t>
            </a:r>
            <a:r>
              <a:rPr lang="fr-FR" dirty="0"/>
              <a:t> Learning : CNN</a:t>
            </a:r>
          </a:p>
        </p:txBody>
      </p:sp>
    </p:spTree>
    <p:extLst>
      <p:ext uri="{BB962C8B-B14F-4D97-AF65-F5344CB8AC3E}">
        <p14:creationId xmlns:p14="http://schemas.microsoft.com/office/powerpoint/2010/main" val="2605326012"/>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692727" y="1653269"/>
            <a:ext cx="5811982" cy="3113994"/>
          </a:xfrm>
        </p:spPr>
        <p:txBody>
          <a:bodyPr>
            <a:normAutofit/>
          </a:bodyPr>
          <a:lstStyle/>
          <a:p>
            <a:pPr lvl="1" algn="just">
              <a:lnSpc>
                <a:spcPct val="150000"/>
              </a:lnSpc>
              <a:buClr>
                <a:schemeClr val="accent2"/>
              </a:buClr>
            </a:pPr>
            <a:r>
              <a:rPr lang="fr-FR" sz="1050" dirty="0"/>
              <a:t>Comprendre les concepts de base du </a:t>
            </a:r>
            <a:r>
              <a:rPr lang="fr-FR" sz="1050" dirty="0" err="1"/>
              <a:t>Deep</a:t>
            </a:r>
            <a:r>
              <a:rPr lang="fr-FR" sz="1050" dirty="0"/>
              <a:t> Learning.</a:t>
            </a:r>
          </a:p>
          <a:p>
            <a:pPr lvl="1" algn="just">
              <a:lnSpc>
                <a:spcPct val="150000"/>
              </a:lnSpc>
              <a:buClr>
                <a:schemeClr val="accent2"/>
              </a:buClr>
            </a:pPr>
            <a:r>
              <a:rPr lang="fr-FR" sz="1050" dirty="0"/>
              <a:t>Explorer les différents algorithmes du </a:t>
            </a:r>
            <a:r>
              <a:rPr lang="fr-FR" sz="1050" dirty="0" err="1"/>
              <a:t>Deep</a:t>
            </a:r>
            <a:r>
              <a:rPr lang="fr-FR" sz="1050" dirty="0"/>
              <a:t> Learning couramment utilisés.</a:t>
            </a:r>
          </a:p>
          <a:p>
            <a:pPr lvl="1" algn="just">
              <a:lnSpc>
                <a:spcPct val="150000"/>
              </a:lnSpc>
              <a:buClr>
                <a:schemeClr val="accent2"/>
              </a:buClr>
            </a:pPr>
            <a:r>
              <a:rPr lang="fr-FR" sz="1050" dirty="0"/>
              <a:t>Acquérir des compétences pratiques en extraction et transformation des données en vue d’implémenter une solution de </a:t>
            </a:r>
            <a:r>
              <a:rPr lang="fr-FR" sz="1050" dirty="0" err="1"/>
              <a:t>Deep</a:t>
            </a:r>
            <a:r>
              <a:rPr lang="fr-FR" sz="1050" dirty="0"/>
              <a:t> Learning. </a:t>
            </a:r>
          </a:p>
          <a:p>
            <a:pPr lvl="1" algn="just">
              <a:lnSpc>
                <a:spcPct val="150000"/>
              </a:lnSpc>
              <a:buClr>
                <a:schemeClr val="accent2"/>
              </a:buClr>
            </a:pPr>
            <a:r>
              <a:rPr lang="fr-FR" sz="1050" dirty="0"/>
              <a:t>Comprendre les bonnes pratiques pour implémenter des réseaux de neurones robustes..</a:t>
            </a:r>
          </a:p>
          <a:p>
            <a:pPr lvl="1" algn="just">
              <a:lnSpc>
                <a:spcPct val="150000"/>
              </a:lnSpc>
              <a:buClr>
                <a:schemeClr val="accent2"/>
              </a:buClr>
            </a:pPr>
            <a:r>
              <a:rPr lang="fr-FR" sz="1050" dirty="0"/>
              <a:t>Appliquer les connaissances acquises pour résoudre des cas d'utilisation spécifiques en utilisant des exemples concrets.</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p:txBody>
          <a:bodyPr>
            <a:normAutofit/>
          </a:bodyPr>
          <a:lstStyle/>
          <a:p>
            <a:r>
              <a:rPr lang="fr-FR" sz="2400" dirty="0"/>
              <a:t>Objectifs pédagogiques</a:t>
            </a:r>
            <a:endParaRPr lang="fr-FR" sz="2400" b="0" dirty="0"/>
          </a:p>
        </p:txBody>
      </p:sp>
    </p:spTree>
    <p:extLst>
      <p:ext uri="{BB962C8B-B14F-4D97-AF65-F5344CB8AC3E}">
        <p14:creationId xmlns:p14="http://schemas.microsoft.com/office/powerpoint/2010/main" val="1379559904"/>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Plan de formation</a:t>
            </a:r>
          </a:p>
        </p:txBody>
      </p:sp>
    </p:spTree>
    <p:extLst>
      <p:ext uri="{BB962C8B-B14F-4D97-AF65-F5344CB8AC3E}">
        <p14:creationId xmlns:p14="http://schemas.microsoft.com/office/powerpoint/2010/main" val="491234467"/>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697745" y="1640454"/>
            <a:ext cx="6671956" cy="3255562"/>
          </a:xfrm>
        </p:spPr>
        <p:txBody>
          <a:bodyPr>
            <a:noAutofit/>
          </a:bodyPr>
          <a:lstStyle/>
          <a:p>
            <a:pPr lvl="1" algn="just">
              <a:lnSpc>
                <a:spcPct val="100000"/>
              </a:lnSpc>
              <a:buClr>
                <a:schemeClr val="accent2"/>
              </a:buClr>
            </a:pPr>
            <a:r>
              <a:rPr lang="fr-FR" sz="2000" dirty="0"/>
              <a:t>Généralités</a:t>
            </a:r>
            <a:endParaRPr lang="fr-FR" sz="2000" dirty="0">
              <a:solidFill>
                <a:schemeClr val="bg1">
                  <a:lumMod val="65000"/>
                </a:schemeClr>
              </a:solidFill>
            </a:endParaRPr>
          </a:p>
          <a:p>
            <a:pPr lvl="2" algn="just">
              <a:lnSpc>
                <a:spcPct val="100000"/>
              </a:lnSpc>
              <a:buClr>
                <a:schemeClr val="accent2"/>
              </a:buClr>
            </a:pPr>
            <a:r>
              <a:rPr lang="fr-FR" sz="1400" dirty="0"/>
              <a:t>Qu’est ce que le </a:t>
            </a:r>
            <a:r>
              <a:rPr lang="fr-FR" sz="1400" dirty="0" err="1"/>
              <a:t>Deep</a:t>
            </a:r>
            <a:r>
              <a:rPr lang="fr-FR" sz="1400" dirty="0"/>
              <a:t> Learning ?</a:t>
            </a:r>
          </a:p>
          <a:p>
            <a:pPr lvl="2" algn="just">
              <a:lnSpc>
                <a:spcPct val="100000"/>
              </a:lnSpc>
              <a:buClr>
                <a:schemeClr val="accent2"/>
              </a:buClr>
            </a:pPr>
            <a:r>
              <a:rPr lang="fr-FR" sz="1400" dirty="0"/>
              <a:t>Quelques librairies utiles au </a:t>
            </a:r>
            <a:r>
              <a:rPr lang="fr-FR" sz="1400" dirty="0" err="1"/>
              <a:t>Deep</a:t>
            </a:r>
            <a:r>
              <a:rPr lang="fr-FR" sz="1400" dirty="0"/>
              <a:t> Learning</a:t>
            </a:r>
          </a:p>
          <a:p>
            <a:pPr lvl="3" algn="just">
              <a:lnSpc>
                <a:spcPct val="100000"/>
              </a:lnSpc>
              <a:buClr>
                <a:schemeClr val="accent2"/>
              </a:buClr>
            </a:pPr>
            <a:r>
              <a:rPr lang="fr-FR" sz="1200" dirty="0" err="1"/>
              <a:t>TensorFlow</a:t>
            </a:r>
            <a:endParaRPr lang="fr-FR" sz="1200" dirty="0"/>
          </a:p>
          <a:p>
            <a:pPr lvl="3" algn="just">
              <a:lnSpc>
                <a:spcPct val="100000"/>
              </a:lnSpc>
              <a:buClr>
                <a:schemeClr val="accent2"/>
              </a:buClr>
            </a:pPr>
            <a:r>
              <a:rPr lang="fr-FR" sz="1200" dirty="0" err="1"/>
              <a:t>Keras</a:t>
            </a:r>
            <a:endParaRPr lang="fr-FR" sz="1200" dirty="0"/>
          </a:p>
          <a:p>
            <a:pPr lvl="3" algn="just">
              <a:lnSpc>
                <a:spcPct val="100000"/>
              </a:lnSpc>
              <a:buClr>
                <a:schemeClr val="accent2"/>
              </a:buClr>
            </a:pPr>
            <a:r>
              <a:rPr lang="fr-FR" sz="1200" dirty="0" err="1"/>
              <a:t>Pytorch</a:t>
            </a:r>
            <a:endParaRPr lang="fr-FR" sz="1200" dirty="0"/>
          </a:p>
          <a:p>
            <a:pPr lvl="3" algn="just">
              <a:lnSpc>
                <a:spcPct val="100000"/>
              </a:lnSpc>
              <a:buClr>
                <a:schemeClr val="accent2"/>
              </a:buClr>
            </a:pPr>
            <a:r>
              <a:rPr lang="fr-FR" sz="1200" dirty="0" err="1"/>
              <a:t>NumPy</a:t>
            </a:r>
            <a:endParaRPr lang="fr-FR" sz="1200" dirty="0"/>
          </a:p>
          <a:p>
            <a:pPr lvl="3" algn="just">
              <a:lnSpc>
                <a:spcPct val="100000"/>
              </a:lnSpc>
              <a:buClr>
                <a:schemeClr val="accent2"/>
              </a:buClr>
            </a:pPr>
            <a:r>
              <a:rPr lang="fr-FR" sz="1200" dirty="0" err="1"/>
              <a:t>Scikit</a:t>
            </a:r>
            <a:r>
              <a:rPr lang="fr-FR" sz="1200" dirty="0"/>
              <a:t> </a:t>
            </a:r>
            <a:r>
              <a:rPr lang="fr-FR" sz="1200" dirty="0" err="1"/>
              <a:t>Learn</a:t>
            </a:r>
            <a:endParaRPr lang="fr-FR" sz="1200" dirty="0"/>
          </a:p>
          <a:p>
            <a:pPr lvl="3" algn="just">
              <a:lnSpc>
                <a:spcPct val="100000"/>
              </a:lnSpc>
              <a:buClr>
                <a:schemeClr val="accent2"/>
              </a:buClr>
            </a:pPr>
            <a:r>
              <a:rPr lang="fr-FR" sz="1200" dirty="0" err="1"/>
              <a:t>Matplotlib</a:t>
            </a:r>
            <a:endParaRPr lang="fr-FR" sz="1200" dirty="0"/>
          </a:p>
          <a:p>
            <a:pPr lvl="3" algn="just">
              <a:lnSpc>
                <a:spcPct val="100000"/>
              </a:lnSpc>
              <a:buClr>
                <a:schemeClr val="accent2"/>
              </a:buClr>
            </a:pPr>
            <a:r>
              <a:rPr lang="fr-FR" sz="1200" dirty="0" err="1"/>
              <a:t>Seaborn</a:t>
            </a:r>
            <a:endParaRPr lang="fr-FR" sz="1200" dirty="0"/>
          </a:p>
          <a:p>
            <a:pPr lvl="3" algn="just">
              <a:lnSpc>
                <a:spcPct val="100000"/>
              </a:lnSpc>
              <a:buClr>
                <a:schemeClr val="accent2"/>
              </a:buClr>
            </a:pPr>
            <a:r>
              <a:rPr lang="fr-FR" sz="1200" dirty="0"/>
              <a:t>Pandas</a:t>
            </a:r>
          </a:p>
          <a:p>
            <a:pPr lvl="2" algn="just">
              <a:lnSpc>
                <a:spcPct val="100000"/>
              </a:lnSpc>
              <a:buClr>
                <a:schemeClr val="accent2"/>
              </a:buClr>
            </a:pPr>
            <a:r>
              <a:rPr lang="fr-FR" sz="1400" dirty="0"/>
              <a:t>Jeux de données : iris, MNIST, CIFAR-10, cats vs </a:t>
            </a:r>
            <a:r>
              <a:rPr lang="fr-FR" sz="1400" dirty="0" err="1"/>
              <a:t>dogs</a:t>
            </a:r>
            <a:r>
              <a:rPr lang="fr-FR" sz="1400" dirty="0"/>
              <a:t>, </a:t>
            </a:r>
            <a:r>
              <a:rPr lang="fr-FR" sz="1400" dirty="0" err="1"/>
              <a:t>ImageNet</a:t>
            </a:r>
            <a:r>
              <a:rPr lang="fr-FR" sz="1400" dirty="0"/>
              <a:t>…</a:t>
            </a:r>
          </a:p>
          <a:p>
            <a:pPr lvl="3" algn="just">
              <a:lnSpc>
                <a:spcPct val="100000"/>
              </a:lnSpc>
              <a:buClr>
                <a:schemeClr val="accent2"/>
              </a:buClr>
            </a:pPr>
            <a:endParaRPr lang="fr-FR" sz="1200" dirty="0"/>
          </a:p>
          <a:p>
            <a:pPr lvl="2" algn="just">
              <a:lnSpc>
                <a:spcPct val="100000"/>
              </a:lnSpc>
              <a:buClr>
                <a:schemeClr val="accent2"/>
              </a:buClr>
            </a:pPr>
            <a:endParaRPr lang="fr-FR" sz="1800"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p:txBody>
          <a:bodyPr>
            <a:normAutofit/>
          </a:bodyPr>
          <a:lstStyle/>
          <a:p>
            <a:r>
              <a:rPr lang="fr-FR" sz="2400" dirty="0"/>
              <a:t>Plan du cours</a:t>
            </a:r>
            <a:endParaRPr lang="fr-FR" sz="2400" b="0" dirty="0"/>
          </a:p>
        </p:txBody>
      </p:sp>
      <p:sp>
        <p:nvSpPr>
          <p:cNvPr id="6" name="Title 13">
            <a:extLst>
              <a:ext uri="{FF2B5EF4-FFF2-40B4-BE49-F238E27FC236}">
                <a16:creationId xmlns:a16="http://schemas.microsoft.com/office/drawing/2014/main" id="{26FB5BC2-8F0B-4B26-9FBE-1DC2855015B1}"/>
              </a:ext>
            </a:extLst>
          </p:cNvPr>
          <p:cNvSpPr txBox="1">
            <a:spLocks/>
          </p:cNvSpPr>
          <p:nvPr/>
        </p:nvSpPr>
        <p:spPr>
          <a:xfrm>
            <a:off x="389008" y="1172095"/>
            <a:ext cx="6249917" cy="276141"/>
          </a:xfrm>
          <a:prstGeom prst="rect">
            <a:avLst/>
          </a:prstGeom>
        </p:spPr>
        <p:txBody>
          <a:bodyPr vert="horz" lIns="68580" tIns="34290" rIns="68580" bIns="0" rtlCol="0" anchor="b">
            <a:norm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dirty="0"/>
              <a:t>Partie 1 – Introduction au </a:t>
            </a:r>
            <a:r>
              <a:rPr lang="fr-FR" sz="1500" dirty="0" err="1"/>
              <a:t>Deep</a:t>
            </a:r>
            <a:r>
              <a:rPr lang="fr-FR" sz="1500" dirty="0"/>
              <a:t> Learning</a:t>
            </a:r>
            <a:endParaRPr lang="fr-FR" sz="1500" b="0" dirty="0"/>
          </a:p>
        </p:txBody>
      </p:sp>
    </p:spTree>
    <p:extLst>
      <p:ext uri="{BB962C8B-B14F-4D97-AF65-F5344CB8AC3E}">
        <p14:creationId xmlns:p14="http://schemas.microsoft.com/office/powerpoint/2010/main" val="152392555"/>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697745" y="1640454"/>
            <a:ext cx="6569010" cy="3255562"/>
          </a:xfrm>
        </p:spPr>
        <p:txBody>
          <a:bodyPr>
            <a:noAutofit/>
          </a:bodyPr>
          <a:lstStyle/>
          <a:p>
            <a:pPr lvl="1" algn="just">
              <a:lnSpc>
                <a:spcPct val="100000"/>
              </a:lnSpc>
              <a:buClr>
                <a:schemeClr val="accent2"/>
              </a:buClr>
            </a:pPr>
            <a:r>
              <a:rPr lang="fr-FR" sz="2000" dirty="0"/>
              <a:t>Préparer son environnement de travail</a:t>
            </a:r>
          </a:p>
          <a:p>
            <a:pPr lvl="2" algn="just">
              <a:lnSpc>
                <a:spcPct val="100000"/>
              </a:lnSpc>
              <a:buClr>
                <a:schemeClr val="accent2"/>
              </a:buClr>
            </a:pPr>
            <a:r>
              <a:rPr lang="fr-FR" sz="1800" dirty="0"/>
              <a:t>Installation de Python</a:t>
            </a:r>
          </a:p>
          <a:p>
            <a:pPr lvl="2" algn="just">
              <a:lnSpc>
                <a:spcPct val="100000"/>
              </a:lnSpc>
              <a:buClr>
                <a:schemeClr val="accent2"/>
              </a:buClr>
            </a:pPr>
            <a:r>
              <a:rPr lang="fr-FR" sz="1800" dirty="0"/>
              <a:t>Python sur Google </a:t>
            </a:r>
            <a:r>
              <a:rPr lang="fr-FR" sz="1800" dirty="0" err="1"/>
              <a:t>Colab</a:t>
            </a:r>
            <a:endParaRPr lang="fr-FR" sz="1800" dirty="0"/>
          </a:p>
          <a:p>
            <a:pPr lvl="2" algn="just">
              <a:lnSpc>
                <a:spcPct val="100000"/>
              </a:lnSpc>
              <a:buClr>
                <a:schemeClr val="accent2"/>
              </a:buClr>
            </a:pPr>
            <a:r>
              <a:rPr lang="fr-FR" sz="1800" dirty="0"/>
              <a:t>Créer un environnement virtuel</a:t>
            </a:r>
          </a:p>
          <a:p>
            <a:pPr lvl="2" algn="just">
              <a:lnSpc>
                <a:spcPct val="100000"/>
              </a:lnSpc>
              <a:buClr>
                <a:schemeClr val="accent2"/>
              </a:buClr>
            </a:pPr>
            <a:r>
              <a:rPr lang="fr-FR" sz="1800" dirty="0"/>
              <a:t>Activer un environnement virtuel</a:t>
            </a:r>
          </a:p>
          <a:p>
            <a:pPr lvl="2" algn="just">
              <a:lnSpc>
                <a:spcPct val="100000"/>
              </a:lnSpc>
              <a:buClr>
                <a:schemeClr val="accent2"/>
              </a:buClr>
            </a:pPr>
            <a:r>
              <a:rPr lang="fr-FR" sz="1800" dirty="0"/>
              <a:t>Installer </a:t>
            </a:r>
            <a:r>
              <a:rPr lang="fr-FR" sz="1800" dirty="0" err="1"/>
              <a:t>Jupyter</a:t>
            </a:r>
            <a:r>
              <a:rPr lang="fr-FR" sz="1800" dirty="0"/>
              <a:t> Notebook</a:t>
            </a:r>
          </a:p>
          <a:p>
            <a:pPr lvl="2" algn="just">
              <a:lnSpc>
                <a:spcPct val="100000"/>
              </a:lnSpc>
              <a:buClr>
                <a:schemeClr val="accent2"/>
              </a:buClr>
            </a:pPr>
            <a:r>
              <a:rPr lang="fr-FR" sz="1800" dirty="0"/>
              <a:t>Installer </a:t>
            </a:r>
            <a:r>
              <a:rPr lang="fr-FR" sz="1800" dirty="0" err="1"/>
              <a:t>TensorFlow</a:t>
            </a:r>
            <a:endParaRPr lang="fr-FR" sz="1800"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p:txBody>
          <a:bodyPr>
            <a:normAutofit/>
          </a:bodyPr>
          <a:lstStyle/>
          <a:p>
            <a:r>
              <a:rPr lang="fr-FR" sz="2400" dirty="0"/>
              <a:t>Plan du cours</a:t>
            </a:r>
            <a:endParaRPr lang="fr-FR" sz="2400" b="0" dirty="0"/>
          </a:p>
        </p:txBody>
      </p:sp>
      <p:sp>
        <p:nvSpPr>
          <p:cNvPr id="6" name="Title 13">
            <a:extLst>
              <a:ext uri="{FF2B5EF4-FFF2-40B4-BE49-F238E27FC236}">
                <a16:creationId xmlns:a16="http://schemas.microsoft.com/office/drawing/2014/main" id="{26FB5BC2-8F0B-4B26-9FBE-1DC2855015B1}"/>
              </a:ext>
            </a:extLst>
          </p:cNvPr>
          <p:cNvSpPr txBox="1">
            <a:spLocks/>
          </p:cNvSpPr>
          <p:nvPr/>
        </p:nvSpPr>
        <p:spPr>
          <a:xfrm>
            <a:off x="389008" y="1172095"/>
            <a:ext cx="6249917" cy="276141"/>
          </a:xfrm>
          <a:prstGeom prst="rect">
            <a:avLst/>
          </a:prstGeom>
        </p:spPr>
        <p:txBody>
          <a:bodyPr vert="horz" lIns="68580" tIns="34290" rIns="68580" bIns="0" rtlCol="0" anchor="b">
            <a:norm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dirty="0"/>
              <a:t>Partie 2 – Environnement du </a:t>
            </a:r>
            <a:r>
              <a:rPr lang="fr-FR" sz="1500" dirty="0" err="1"/>
              <a:t>Deep</a:t>
            </a:r>
            <a:r>
              <a:rPr lang="fr-FR" sz="1500" dirty="0"/>
              <a:t> Learning</a:t>
            </a:r>
            <a:endParaRPr lang="fr-FR" sz="1500" b="0" dirty="0"/>
          </a:p>
        </p:txBody>
      </p:sp>
    </p:spTree>
    <p:extLst>
      <p:ext uri="{BB962C8B-B14F-4D97-AF65-F5344CB8AC3E}">
        <p14:creationId xmlns:p14="http://schemas.microsoft.com/office/powerpoint/2010/main" val="451173280"/>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697745" y="1640454"/>
            <a:ext cx="6405508" cy="3255562"/>
          </a:xfrm>
        </p:spPr>
        <p:txBody>
          <a:bodyPr>
            <a:noAutofit/>
          </a:bodyPr>
          <a:lstStyle/>
          <a:p>
            <a:pPr lvl="1" algn="just">
              <a:lnSpc>
                <a:spcPct val="100000"/>
              </a:lnSpc>
              <a:buClr>
                <a:schemeClr val="accent2"/>
              </a:buClr>
            </a:pPr>
            <a:r>
              <a:rPr lang="fr-FR" sz="2000" dirty="0"/>
              <a:t>Réseaux de neurones à propagation avant</a:t>
            </a:r>
            <a:endParaRPr lang="fr-FR" sz="2000" dirty="0">
              <a:solidFill>
                <a:schemeClr val="bg1">
                  <a:lumMod val="65000"/>
                </a:schemeClr>
              </a:solidFill>
            </a:endParaRPr>
          </a:p>
          <a:p>
            <a:pPr lvl="2" algn="just">
              <a:lnSpc>
                <a:spcPct val="100000"/>
              </a:lnSpc>
              <a:buClr>
                <a:schemeClr val="accent2"/>
              </a:buClr>
            </a:pPr>
            <a:r>
              <a:rPr lang="fr-FR" sz="1800" dirty="0"/>
              <a:t>Perceptrons</a:t>
            </a:r>
          </a:p>
          <a:p>
            <a:pPr lvl="2" algn="just">
              <a:lnSpc>
                <a:spcPct val="100000"/>
              </a:lnSpc>
              <a:buClr>
                <a:schemeClr val="accent2"/>
              </a:buClr>
            </a:pPr>
            <a:r>
              <a:rPr lang="fr-FR" sz="1800" dirty="0"/>
              <a:t>Fonctions de perte d’entropie croisée</a:t>
            </a:r>
          </a:p>
          <a:p>
            <a:pPr lvl="2" algn="just">
              <a:lnSpc>
                <a:spcPct val="100000"/>
              </a:lnSpc>
              <a:buClr>
                <a:schemeClr val="accent2"/>
              </a:buClr>
            </a:pPr>
            <a:r>
              <a:rPr lang="fr-FR" sz="1800" dirty="0"/>
              <a:t>Dérivées et descente de gradient stochastique</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p:txBody>
          <a:bodyPr>
            <a:normAutofit/>
          </a:bodyPr>
          <a:lstStyle/>
          <a:p>
            <a:r>
              <a:rPr lang="fr-FR" sz="2400" dirty="0"/>
              <a:t>Plan du cours</a:t>
            </a:r>
            <a:endParaRPr lang="fr-FR" sz="2400" b="0" dirty="0"/>
          </a:p>
        </p:txBody>
      </p:sp>
      <p:sp>
        <p:nvSpPr>
          <p:cNvPr id="6" name="Title 13">
            <a:extLst>
              <a:ext uri="{FF2B5EF4-FFF2-40B4-BE49-F238E27FC236}">
                <a16:creationId xmlns:a16="http://schemas.microsoft.com/office/drawing/2014/main" id="{26FB5BC2-8F0B-4B26-9FBE-1DC2855015B1}"/>
              </a:ext>
            </a:extLst>
          </p:cNvPr>
          <p:cNvSpPr txBox="1">
            <a:spLocks/>
          </p:cNvSpPr>
          <p:nvPr/>
        </p:nvSpPr>
        <p:spPr>
          <a:xfrm>
            <a:off x="389008" y="1172095"/>
            <a:ext cx="6581213" cy="2761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dirty="0"/>
              <a:t>Partie 3 – Prérequis au </a:t>
            </a:r>
            <a:r>
              <a:rPr lang="fr-FR" sz="1500" dirty="0" err="1"/>
              <a:t>Deep</a:t>
            </a:r>
            <a:r>
              <a:rPr lang="fr-FR" sz="1500" dirty="0"/>
              <a:t> Learning</a:t>
            </a:r>
            <a:endParaRPr lang="fr-FR" sz="1500" b="0" dirty="0"/>
          </a:p>
        </p:txBody>
      </p:sp>
    </p:spTree>
    <p:extLst>
      <p:ext uri="{BB962C8B-B14F-4D97-AF65-F5344CB8AC3E}">
        <p14:creationId xmlns:p14="http://schemas.microsoft.com/office/powerpoint/2010/main" val="260049565"/>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697745" y="1640454"/>
            <a:ext cx="6472120" cy="3255562"/>
          </a:xfrm>
        </p:spPr>
        <p:txBody>
          <a:bodyPr>
            <a:noAutofit/>
          </a:bodyPr>
          <a:lstStyle/>
          <a:p>
            <a:pPr lvl="1" algn="just">
              <a:lnSpc>
                <a:spcPct val="100000"/>
              </a:lnSpc>
              <a:buClr>
                <a:schemeClr val="accent2"/>
              </a:buClr>
            </a:pPr>
            <a:r>
              <a:rPr lang="fr-FR" sz="2000" dirty="0"/>
              <a:t>Classification d’images avec CNN</a:t>
            </a:r>
            <a:endParaRPr lang="fr-FR" sz="2000" dirty="0">
              <a:solidFill>
                <a:schemeClr val="bg1">
                  <a:lumMod val="65000"/>
                </a:schemeClr>
              </a:solidFill>
            </a:endParaRPr>
          </a:p>
          <a:p>
            <a:pPr lvl="2" algn="just">
              <a:lnSpc>
                <a:spcPct val="100000"/>
              </a:lnSpc>
              <a:buClr>
                <a:schemeClr val="accent2"/>
              </a:buClr>
            </a:pPr>
            <a:r>
              <a:rPr lang="fr-FR" sz="1800" dirty="0"/>
              <a:t>Comment les ordinateurs appréhendent les images</a:t>
            </a:r>
          </a:p>
          <a:p>
            <a:pPr lvl="2" algn="just">
              <a:lnSpc>
                <a:spcPct val="100000"/>
              </a:lnSpc>
              <a:buClr>
                <a:schemeClr val="accent2"/>
              </a:buClr>
            </a:pPr>
            <a:r>
              <a:rPr lang="fr-FR" sz="1800" dirty="0"/>
              <a:t>Le processus de convolution</a:t>
            </a:r>
          </a:p>
          <a:p>
            <a:pPr lvl="2" algn="just">
              <a:lnSpc>
                <a:spcPct val="100000"/>
              </a:lnSpc>
              <a:buClr>
                <a:schemeClr val="accent2"/>
              </a:buClr>
            </a:pPr>
            <a:r>
              <a:rPr lang="fr-FR" sz="1800" dirty="0"/>
              <a:t>L’opération </a:t>
            </a:r>
            <a:r>
              <a:rPr lang="fr-FR" sz="1800" dirty="0" err="1"/>
              <a:t>ReLu</a:t>
            </a:r>
            <a:endParaRPr lang="fr-FR" sz="1800" dirty="0"/>
          </a:p>
          <a:p>
            <a:pPr lvl="2" algn="just">
              <a:lnSpc>
                <a:spcPct val="100000"/>
              </a:lnSpc>
              <a:buClr>
                <a:schemeClr val="accent2"/>
              </a:buClr>
            </a:pPr>
            <a:r>
              <a:rPr lang="fr-FR" sz="1800" dirty="0"/>
              <a:t>L’opération </a:t>
            </a:r>
            <a:r>
              <a:rPr lang="fr-FR" sz="1800" dirty="0" err="1"/>
              <a:t>Pooling</a:t>
            </a:r>
            <a:endParaRPr lang="fr-FR" sz="1800" dirty="0"/>
          </a:p>
          <a:p>
            <a:pPr lvl="2" algn="just">
              <a:lnSpc>
                <a:spcPct val="100000"/>
              </a:lnSpc>
              <a:buClr>
                <a:schemeClr val="accent2"/>
              </a:buClr>
            </a:pPr>
            <a:r>
              <a:rPr lang="fr-FR" sz="1800" dirty="0" err="1"/>
              <a:t>Flattening</a:t>
            </a:r>
            <a:r>
              <a:rPr lang="fr-FR" sz="1800" dirty="0"/>
              <a:t> et couches </a:t>
            </a:r>
            <a:r>
              <a:rPr lang="fr-FR" sz="1800" dirty="0" err="1"/>
              <a:t>entièrements</a:t>
            </a:r>
            <a:r>
              <a:rPr lang="fr-FR" sz="1800" dirty="0"/>
              <a:t> liées</a:t>
            </a:r>
          </a:p>
          <a:p>
            <a:pPr lvl="2" algn="just">
              <a:lnSpc>
                <a:spcPct val="100000"/>
              </a:lnSpc>
              <a:buClr>
                <a:schemeClr val="accent2"/>
              </a:buClr>
            </a:pPr>
            <a:r>
              <a:rPr lang="fr-FR" sz="1800" dirty="0"/>
              <a:t>Implémenter CNN avec </a:t>
            </a:r>
            <a:r>
              <a:rPr lang="fr-FR" sz="1800" dirty="0" err="1"/>
              <a:t>TensorFLow</a:t>
            </a:r>
            <a:r>
              <a:rPr lang="fr-FR" sz="1800" dirty="0"/>
              <a:t> et </a:t>
            </a:r>
            <a:r>
              <a:rPr lang="fr-FR" sz="1800" dirty="0" err="1"/>
              <a:t>Keras</a:t>
            </a:r>
            <a:endParaRPr lang="fr-FR" sz="1800"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p:txBody>
          <a:bodyPr>
            <a:normAutofit/>
          </a:bodyPr>
          <a:lstStyle/>
          <a:p>
            <a:r>
              <a:rPr lang="fr-FR" sz="2400" dirty="0"/>
              <a:t>Plan du cours</a:t>
            </a:r>
            <a:endParaRPr lang="fr-FR" sz="2400" b="0" dirty="0"/>
          </a:p>
        </p:txBody>
      </p:sp>
      <p:sp>
        <p:nvSpPr>
          <p:cNvPr id="6" name="Title 13">
            <a:extLst>
              <a:ext uri="{FF2B5EF4-FFF2-40B4-BE49-F238E27FC236}">
                <a16:creationId xmlns:a16="http://schemas.microsoft.com/office/drawing/2014/main" id="{26FB5BC2-8F0B-4B26-9FBE-1DC2855015B1}"/>
              </a:ext>
            </a:extLst>
          </p:cNvPr>
          <p:cNvSpPr txBox="1">
            <a:spLocks/>
          </p:cNvSpPr>
          <p:nvPr/>
        </p:nvSpPr>
        <p:spPr>
          <a:xfrm>
            <a:off x="389008" y="1172095"/>
            <a:ext cx="6249917" cy="276141"/>
          </a:xfrm>
          <a:prstGeom prst="rect">
            <a:avLst/>
          </a:prstGeom>
        </p:spPr>
        <p:txBody>
          <a:bodyPr vert="horz" lIns="68580" tIns="34290" rIns="68580" bIns="0" rtlCol="0" anchor="b">
            <a:norm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dirty="0"/>
              <a:t>Partie 4 – Réseaux de neurones convolutifs (CNN)</a:t>
            </a:r>
            <a:endParaRPr lang="fr-FR" sz="1500" b="0" dirty="0"/>
          </a:p>
        </p:txBody>
      </p:sp>
    </p:spTree>
    <p:extLst>
      <p:ext uri="{BB962C8B-B14F-4D97-AF65-F5344CB8AC3E}">
        <p14:creationId xmlns:p14="http://schemas.microsoft.com/office/powerpoint/2010/main" val="8954429"/>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01. Introduction au </a:t>
            </a:r>
            <a:br>
              <a:rPr lang="fr-FR" dirty="0"/>
            </a:br>
            <a:r>
              <a:rPr lang="fr-FR" dirty="0" err="1"/>
              <a:t>Deep</a:t>
            </a:r>
            <a:r>
              <a:rPr lang="fr-FR" dirty="0"/>
              <a:t> Learning</a:t>
            </a:r>
          </a:p>
        </p:txBody>
      </p:sp>
    </p:spTree>
    <p:extLst>
      <p:ext uri="{BB962C8B-B14F-4D97-AF65-F5344CB8AC3E}">
        <p14:creationId xmlns:p14="http://schemas.microsoft.com/office/powerpoint/2010/main" val="138721266"/>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697745" y="1640454"/>
            <a:ext cx="7386520" cy="3255562"/>
          </a:xfrm>
        </p:spPr>
        <p:txBody>
          <a:bodyPr>
            <a:noAutofit/>
          </a:bodyPr>
          <a:lstStyle/>
          <a:p>
            <a:pPr lvl="1" algn="just">
              <a:lnSpc>
                <a:spcPct val="100000"/>
              </a:lnSpc>
              <a:buClr>
                <a:schemeClr val="accent2"/>
              </a:buClr>
            </a:pPr>
            <a:r>
              <a:rPr lang="fr-FR" sz="2000" dirty="0"/>
              <a:t>Généralités</a:t>
            </a:r>
            <a:endParaRPr lang="fr-FR" sz="2000" dirty="0">
              <a:solidFill>
                <a:schemeClr val="bg1">
                  <a:lumMod val="65000"/>
                </a:schemeClr>
              </a:solidFill>
            </a:endParaRPr>
          </a:p>
          <a:p>
            <a:pPr lvl="2" algn="just">
              <a:lnSpc>
                <a:spcPct val="100000"/>
              </a:lnSpc>
              <a:buClr>
                <a:schemeClr val="accent2"/>
              </a:buClr>
            </a:pPr>
            <a:r>
              <a:rPr lang="fr-FR" sz="1400" dirty="0"/>
              <a:t>Qu’est ce que le </a:t>
            </a:r>
            <a:r>
              <a:rPr lang="fr-FR" sz="1400" dirty="0" err="1"/>
              <a:t>Deep</a:t>
            </a:r>
            <a:r>
              <a:rPr lang="fr-FR" sz="1400" dirty="0"/>
              <a:t> Learning ?</a:t>
            </a:r>
          </a:p>
          <a:p>
            <a:pPr lvl="2" algn="just">
              <a:lnSpc>
                <a:spcPct val="100000"/>
              </a:lnSpc>
              <a:buClr>
                <a:schemeClr val="accent2"/>
              </a:buClr>
            </a:pPr>
            <a:r>
              <a:rPr lang="fr-FR" sz="1400" dirty="0"/>
              <a:t>Quelques librairies utiles au </a:t>
            </a:r>
            <a:r>
              <a:rPr lang="fr-FR" sz="1400" dirty="0" err="1"/>
              <a:t>Deep</a:t>
            </a:r>
            <a:r>
              <a:rPr lang="fr-FR" sz="1400" dirty="0"/>
              <a:t> Learning</a:t>
            </a:r>
          </a:p>
          <a:p>
            <a:pPr lvl="3" algn="just">
              <a:lnSpc>
                <a:spcPct val="100000"/>
              </a:lnSpc>
              <a:buClr>
                <a:schemeClr val="accent2"/>
              </a:buClr>
            </a:pPr>
            <a:r>
              <a:rPr lang="fr-FR" sz="1200" dirty="0" err="1"/>
              <a:t>TensorFlow</a:t>
            </a:r>
            <a:endParaRPr lang="fr-FR" sz="1200" dirty="0"/>
          </a:p>
          <a:p>
            <a:pPr lvl="3" algn="just">
              <a:lnSpc>
                <a:spcPct val="100000"/>
              </a:lnSpc>
              <a:buClr>
                <a:schemeClr val="accent2"/>
              </a:buClr>
            </a:pPr>
            <a:r>
              <a:rPr lang="fr-FR" sz="1200" dirty="0" err="1"/>
              <a:t>Keras</a:t>
            </a:r>
            <a:endParaRPr lang="fr-FR" sz="1200" dirty="0"/>
          </a:p>
          <a:p>
            <a:pPr lvl="3" algn="just">
              <a:lnSpc>
                <a:spcPct val="100000"/>
              </a:lnSpc>
              <a:buClr>
                <a:schemeClr val="accent2"/>
              </a:buClr>
            </a:pPr>
            <a:r>
              <a:rPr lang="fr-FR" sz="1200" dirty="0" err="1"/>
              <a:t>Pytorch</a:t>
            </a:r>
            <a:endParaRPr lang="fr-FR" sz="1200" dirty="0"/>
          </a:p>
          <a:p>
            <a:pPr lvl="3" algn="just">
              <a:lnSpc>
                <a:spcPct val="100000"/>
              </a:lnSpc>
              <a:buClr>
                <a:schemeClr val="accent2"/>
              </a:buClr>
            </a:pPr>
            <a:r>
              <a:rPr lang="fr-FR" sz="1200" dirty="0" err="1"/>
              <a:t>NumPy</a:t>
            </a:r>
            <a:endParaRPr lang="fr-FR" sz="1200" dirty="0"/>
          </a:p>
          <a:p>
            <a:pPr lvl="3" algn="just">
              <a:lnSpc>
                <a:spcPct val="100000"/>
              </a:lnSpc>
              <a:buClr>
                <a:schemeClr val="accent2"/>
              </a:buClr>
            </a:pPr>
            <a:r>
              <a:rPr lang="fr-FR" sz="1200" dirty="0" err="1"/>
              <a:t>Scikit</a:t>
            </a:r>
            <a:r>
              <a:rPr lang="fr-FR" sz="1200" dirty="0"/>
              <a:t> </a:t>
            </a:r>
            <a:r>
              <a:rPr lang="fr-FR" sz="1200" dirty="0" err="1"/>
              <a:t>Learn</a:t>
            </a:r>
            <a:endParaRPr lang="fr-FR" sz="1200" dirty="0"/>
          </a:p>
          <a:p>
            <a:pPr lvl="3" algn="just">
              <a:lnSpc>
                <a:spcPct val="100000"/>
              </a:lnSpc>
              <a:buClr>
                <a:schemeClr val="accent2"/>
              </a:buClr>
            </a:pPr>
            <a:r>
              <a:rPr lang="fr-FR" sz="1200" dirty="0" err="1"/>
              <a:t>Matplotlib</a:t>
            </a:r>
            <a:endParaRPr lang="fr-FR" sz="1200" dirty="0"/>
          </a:p>
          <a:p>
            <a:pPr lvl="3" algn="just">
              <a:lnSpc>
                <a:spcPct val="100000"/>
              </a:lnSpc>
              <a:buClr>
                <a:schemeClr val="accent2"/>
              </a:buClr>
            </a:pPr>
            <a:r>
              <a:rPr lang="fr-FR" sz="1200" dirty="0" err="1"/>
              <a:t>Seaborn</a:t>
            </a:r>
            <a:endParaRPr lang="fr-FR" sz="1200" dirty="0"/>
          </a:p>
          <a:p>
            <a:pPr lvl="3" algn="just">
              <a:lnSpc>
                <a:spcPct val="100000"/>
              </a:lnSpc>
              <a:buClr>
                <a:schemeClr val="accent2"/>
              </a:buClr>
            </a:pPr>
            <a:r>
              <a:rPr lang="fr-FR" sz="1200" dirty="0"/>
              <a:t>Pandas</a:t>
            </a:r>
          </a:p>
          <a:p>
            <a:pPr lvl="2" algn="just">
              <a:lnSpc>
                <a:spcPct val="100000"/>
              </a:lnSpc>
              <a:buClr>
                <a:schemeClr val="accent2"/>
              </a:buClr>
            </a:pPr>
            <a:r>
              <a:rPr lang="fr-FR" sz="1400" dirty="0"/>
              <a:t>Jeux de données : iris, MNIST, CIFAR-10, cats vs </a:t>
            </a:r>
            <a:r>
              <a:rPr lang="fr-FR" sz="1400" dirty="0" err="1"/>
              <a:t>dogs</a:t>
            </a:r>
            <a:r>
              <a:rPr lang="fr-FR" sz="1400" dirty="0"/>
              <a:t>, </a:t>
            </a:r>
            <a:r>
              <a:rPr lang="fr-FR" sz="1400" dirty="0" err="1"/>
              <a:t>ImageNet</a:t>
            </a:r>
            <a:r>
              <a:rPr lang="fr-FR" sz="1400" dirty="0"/>
              <a:t>…</a:t>
            </a:r>
          </a:p>
          <a:p>
            <a:pPr lvl="3" algn="just">
              <a:lnSpc>
                <a:spcPct val="100000"/>
              </a:lnSpc>
              <a:buClr>
                <a:schemeClr val="accent2"/>
              </a:buClr>
            </a:pPr>
            <a:endParaRPr lang="fr-FR" sz="1200" dirty="0"/>
          </a:p>
          <a:p>
            <a:pPr lvl="2" algn="just">
              <a:lnSpc>
                <a:spcPct val="100000"/>
              </a:lnSpc>
              <a:buClr>
                <a:schemeClr val="accent2"/>
              </a:buClr>
            </a:pPr>
            <a:endParaRPr lang="fr-FR" sz="1800"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p:txBody>
          <a:bodyPr>
            <a:normAutofit/>
          </a:bodyPr>
          <a:lstStyle/>
          <a:p>
            <a:r>
              <a:rPr lang="fr-FR" sz="2400" dirty="0"/>
              <a:t>01 – Introduction au </a:t>
            </a:r>
            <a:r>
              <a:rPr lang="fr-FR" sz="2400" dirty="0" err="1"/>
              <a:t>Deep</a:t>
            </a:r>
            <a:r>
              <a:rPr lang="fr-FR" sz="2400" dirty="0"/>
              <a:t> Learning</a:t>
            </a:r>
            <a:endParaRPr lang="fr-FR" sz="2400" b="0" dirty="0"/>
          </a:p>
        </p:txBody>
      </p:sp>
      <p:sp>
        <p:nvSpPr>
          <p:cNvPr id="6" name="Title 13">
            <a:extLst>
              <a:ext uri="{FF2B5EF4-FFF2-40B4-BE49-F238E27FC236}">
                <a16:creationId xmlns:a16="http://schemas.microsoft.com/office/drawing/2014/main" id="{26FB5BC2-8F0B-4B26-9FBE-1DC2855015B1}"/>
              </a:ext>
            </a:extLst>
          </p:cNvPr>
          <p:cNvSpPr txBox="1">
            <a:spLocks/>
          </p:cNvSpPr>
          <p:nvPr/>
        </p:nvSpPr>
        <p:spPr>
          <a:xfrm>
            <a:off x="389008" y="1172095"/>
            <a:ext cx="6249917" cy="276141"/>
          </a:xfrm>
          <a:prstGeom prst="rect">
            <a:avLst/>
          </a:prstGeom>
        </p:spPr>
        <p:txBody>
          <a:bodyPr vert="horz" lIns="68580" tIns="34290" rIns="68580" bIns="0" rtlCol="0" anchor="b">
            <a:norm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dirty="0"/>
              <a:t>Partie 1 – Introduction au </a:t>
            </a:r>
            <a:r>
              <a:rPr lang="fr-FR" sz="1500" dirty="0" err="1"/>
              <a:t>Deep</a:t>
            </a:r>
            <a:r>
              <a:rPr lang="fr-FR" sz="1500" dirty="0"/>
              <a:t> Learning</a:t>
            </a:r>
            <a:endParaRPr lang="fr-FR" sz="1500" b="0" dirty="0"/>
          </a:p>
        </p:txBody>
      </p:sp>
    </p:spTree>
    <p:extLst>
      <p:ext uri="{BB962C8B-B14F-4D97-AF65-F5344CB8AC3E}">
        <p14:creationId xmlns:p14="http://schemas.microsoft.com/office/powerpoint/2010/main" val="3985962340"/>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398732" cy="3375293"/>
          </a:xfrm>
        </p:spPr>
        <p:txBody>
          <a:bodyPr>
            <a:normAutofit/>
          </a:bodyPr>
          <a:lstStyle/>
          <a:p>
            <a:pPr lvl="1" algn="just">
              <a:lnSpc>
                <a:spcPct val="150000"/>
              </a:lnSpc>
              <a:buClr>
                <a:schemeClr val="accent2"/>
              </a:buClr>
            </a:pPr>
            <a:r>
              <a:rPr lang="fr-FR" sz="1600" dirty="0"/>
              <a:t>L’apprentissage profond est un des composants de l’Intelligence Artificielle. </a:t>
            </a:r>
          </a:p>
          <a:p>
            <a:pPr lvl="1" algn="just">
              <a:lnSpc>
                <a:spcPct val="150000"/>
              </a:lnSpc>
              <a:buClr>
                <a:schemeClr val="accent2"/>
              </a:buClr>
            </a:pPr>
            <a:r>
              <a:rPr lang="fr-FR" sz="1600" dirty="0"/>
              <a:t>Il s’inspire de la structure et du fonctionnement des réseaux de neuronaux du cerveau humain. </a:t>
            </a:r>
          </a:p>
          <a:p>
            <a:pPr lvl="1" algn="just">
              <a:lnSpc>
                <a:spcPct val="150000"/>
              </a:lnSpc>
              <a:buClr>
                <a:schemeClr val="accent2"/>
              </a:buClr>
            </a:pPr>
            <a:r>
              <a:rPr lang="fr-FR" sz="1600" dirty="0"/>
              <a:t>Les algorithmes du </a:t>
            </a:r>
            <a:r>
              <a:rPr lang="fr-FR" sz="1600" dirty="0" err="1"/>
              <a:t>Deep</a:t>
            </a:r>
            <a:r>
              <a:rPr lang="fr-FR" sz="1600" dirty="0"/>
              <a:t> Learning tentent d’apprendre des représentations des données à travers des couches (layer) abstraites.</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Introduction au DL : généralités</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Qu’est ce que le </a:t>
            </a:r>
            <a:r>
              <a:rPr lang="fr-FR" sz="1800" b="0" dirty="0" err="1"/>
              <a:t>Deep</a:t>
            </a:r>
            <a:r>
              <a:rPr lang="fr-FR" sz="1800" b="0" dirty="0"/>
              <a:t> Learning ?</a:t>
            </a:r>
          </a:p>
        </p:txBody>
      </p:sp>
    </p:spTree>
    <p:extLst>
      <p:ext uri="{BB962C8B-B14F-4D97-AF65-F5344CB8AC3E}">
        <p14:creationId xmlns:p14="http://schemas.microsoft.com/office/powerpoint/2010/main" val="2501546359"/>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375293"/>
          </a:xfrm>
        </p:spPr>
        <p:txBody>
          <a:bodyPr>
            <a:normAutofit fontScale="92500" lnSpcReduction="10000"/>
          </a:bodyPr>
          <a:lstStyle/>
          <a:p>
            <a:pPr marL="342900" lvl="1" indent="0" algn="just">
              <a:lnSpc>
                <a:spcPct val="150000"/>
              </a:lnSpc>
              <a:buClr>
                <a:schemeClr val="accent2"/>
              </a:buClr>
              <a:buNone/>
            </a:pPr>
            <a:r>
              <a:rPr lang="fr-FR" b="1" dirty="0"/>
              <a:t>Composants du </a:t>
            </a:r>
            <a:r>
              <a:rPr lang="fr-FR" b="1" dirty="0" err="1"/>
              <a:t>Deep</a:t>
            </a:r>
            <a:r>
              <a:rPr lang="fr-FR" b="1" dirty="0"/>
              <a:t> Learning :</a:t>
            </a:r>
          </a:p>
          <a:p>
            <a:pPr lvl="2" algn="just">
              <a:lnSpc>
                <a:spcPct val="150000"/>
              </a:lnSpc>
              <a:buClr>
                <a:schemeClr val="accent2"/>
              </a:buClr>
            </a:pPr>
            <a:r>
              <a:rPr lang="fr-FR" dirty="0"/>
              <a:t>Réseaux neuronaux</a:t>
            </a:r>
          </a:p>
          <a:p>
            <a:pPr lvl="2" algn="just">
              <a:lnSpc>
                <a:spcPct val="150000"/>
              </a:lnSpc>
              <a:buClr>
                <a:schemeClr val="accent2"/>
              </a:buClr>
            </a:pPr>
            <a:r>
              <a:rPr lang="fr-FR" dirty="0"/>
              <a:t>Réseaux neuronaux profonds</a:t>
            </a:r>
          </a:p>
          <a:p>
            <a:pPr lvl="2" algn="just">
              <a:lnSpc>
                <a:spcPct val="150000"/>
              </a:lnSpc>
              <a:buClr>
                <a:schemeClr val="accent2"/>
              </a:buClr>
            </a:pPr>
            <a:r>
              <a:rPr lang="fr-FR" dirty="0"/>
              <a:t>Données d’entrainement</a:t>
            </a:r>
          </a:p>
          <a:p>
            <a:pPr lvl="2" algn="just">
              <a:lnSpc>
                <a:spcPct val="150000"/>
              </a:lnSpc>
              <a:buClr>
                <a:schemeClr val="accent2"/>
              </a:buClr>
            </a:pPr>
            <a:r>
              <a:rPr lang="fr-FR" dirty="0"/>
              <a:t>Processus d’entrainement</a:t>
            </a:r>
          </a:p>
          <a:p>
            <a:pPr lvl="2" algn="just">
              <a:lnSpc>
                <a:spcPct val="150000"/>
              </a:lnSpc>
              <a:buClr>
                <a:schemeClr val="accent2"/>
              </a:buClr>
            </a:pPr>
            <a:r>
              <a:rPr lang="fr-FR" dirty="0"/>
              <a:t>Rétropropagation</a:t>
            </a:r>
          </a:p>
          <a:p>
            <a:pPr lvl="2" algn="just">
              <a:lnSpc>
                <a:spcPct val="150000"/>
              </a:lnSpc>
              <a:buClr>
                <a:schemeClr val="accent2"/>
              </a:buClr>
            </a:pPr>
            <a:r>
              <a:rPr lang="fr-FR" dirty="0"/>
              <a:t>Fonctions d’activation</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Introduction au DL : généralités</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Qu’est ce que le </a:t>
            </a:r>
            <a:r>
              <a:rPr lang="fr-FR" sz="1800" b="0" dirty="0" err="1"/>
              <a:t>Deep</a:t>
            </a:r>
            <a:r>
              <a:rPr lang="fr-FR" sz="1800" b="0" dirty="0"/>
              <a:t> Learning ?</a:t>
            </a:r>
          </a:p>
        </p:txBody>
      </p:sp>
    </p:spTree>
    <p:extLst>
      <p:ext uri="{BB962C8B-B14F-4D97-AF65-F5344CB8AC3E}">
        <p14:creationId xmlns:p14="http://schemas.microsoft.com/office/powerpoint/2010/main" val="2134826087"/>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375293"/>
          </a:xfrm>
        </p:spPr>
        <p:txBody>
          <a:bodyPr>
            <a:normAutofit fontScale="55000" lnSpcReduction="20000"/>
          </a:bodyPr>
          <a:lstStyle/>
          <a:p>
            <a:pPr lvl="1" indent="-342900" algn="just">
              <a:lnSpc>
                <a:spcPct val="150000"/>
              </a:lnSpc>
              <a:buClr>
                <a:schemeClr val="accent2"/>
              </a:buClr>
              <a:buFont typeface="+mj-lt"/>
              <a:buAutoNum type="arabicPeriod"/>
            </a:pPr>
            <a:r>
              <a:rPr lang="fr-FR" b="1" dirty="0"/>
              <a:t>Réseaux neuronaux :</a:t>
            </a:r>
          </a:p>
          <a:p>
            <a:pPr lvl="2" algn="just">
              <a:lnSpc>
                <a:spcPct val="150000"/>
              </a:lnSpc>
              <a:buClr>
                <a:schemeClr val="accent2"/>
              </a:buClr>
            </a:pPr>
            <a:r>
              <a:rPr lang="fr-FR" dirty="0"/>
              <a:t>Ce sont les éléments fondamentaux du </a:t>
            </a:r>
            <a:r>
              <a:rPr lang="fr-FR" dirty="0" err="1"/>
              <a:t>Deep</a:t>
            </a:r>
            <a:r>
              <a:rPr lang="fr-FR" dirty="0"/>
              <a:t> Learning. </a:t>
            </a:r>
          </a:p>
          <a:p>
            <a:pPr lvl="2" algn="just">
              <a:lnSpc>
                <a:spcPct val="150000"/>
              </a:lnSpc>
              <a:buClr>
                <a:schemeClr val="accent2"/>
              </a:buClr>
            </a:pPr>
            <a:r>
              <a:rPr lang="fr-FR" dirty="0"/>
              <a:t>Ils sont composés de neurones interconnectés organisés en couches.</a:t>
            </a:r>
          </a:p>
          <a:p>
            <a:pPr lvl="2" algn="just">
              <a:lnSpc>
                <a:spcPct val="150000"/>
              </a:lnSpc>
              <a:buClr>
                <a:schemeClr val="accent2"/>
              </a:buClr>
            </a:pPr>
            <a:r>
              <a:rPr lang="fr-FR" dirty="0"/>
              <a:t>Chaque couche traite les données d'entrée et les transmet à la couche suivante.</a:t>
            </a:r>
          </a:p>
          <a:p>
            <a:pPr lvl="1" indent="-342900" algn="just">
              <a:lnSpc>
                <a:spcPct val="150000"/>
              </a:lnSpc>
              <a:buClr>
                <a:schemeClr val="accent2"/>
              </a:buClr>
              <a:buFont typeface="+mj-lt"/>
              <a:buAutoNum type="arabicPeriod"/>
            </a:pPr>
            <a:r>
              <a:rPr lang="fr-FR" b="1" dirty="0"/>
              <a:t>Réseaux neuronaux profonds :</a:t>
            </a:r>
          </a:p>
          <a:p>
            <a:pPr lvl="2" algn="just">
              <a:lnSpc>
                <a:spcPct val="150000"/>
              </a:lnSpc>
              <a:buClr>
                <a:schemeClr val="accent2"/>
              </a:buClr>
            </a:pPr>
            <a:r>
              <a:rPr lang="fr-FR" dirty="0"/>
              <a:t>Ce sont des réseaux de neurones avec de nombreuses couches.</a:t>
            </a:r>
          </a:p>
          <a:p>
            <a:pPr lvl="2" algn="just">
              <a:lnSpc>
                <a:spcPct val="150000"/>
              </a:lnSpc>
              <a:buClr>
                <a:schemeClr val="accent2"/>
              </a:buClr>
            </a:pPr>
            <a:r>
              <a:rPr lang="fr-FR" dirty="0"/>
              <a:t>Ils ont une grande capacité à comprendre des motifs et des représentations complexes à partir d’une grande quantité de données.</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Introduction au DL : généralités</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Qu’est ce que le </a:t>
            </a:r>
            <a:r>
              <a:rPr lang="fr-FR" sz="1800" b="0" dirty="0" err="1"/>
              <a:t>Deep</a:t>
            </a:r>
            <a:r>
              <a:rPr lang="fr-FR" sz="1800" b="0" dirty="0"/>
              <a:t> Learning ?</a:t>
            </a:r>
          </a:p>
        </p:txBody>
      </p:sp>
    </p:spTree>
    <p:extLst>
      <p:ext uri="{BB962C8B-B14F-4D97-AF65-F5344CB8AC3E}">
        <p14:creationId xmlns:p14="http://schemas.microsoft.com/office/powerpoint/2010/main" val="3883665972"/>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375293"/>
          </a:xfrm>
        </p:spPr>
        <p:txBody>
          <a:bodyPr>
            <a:normAutofit fontScale="55000" lnSpcReduction="20000"/>
          </a:bodyPr>
          <a:lstStyle/>
          <a:p>
            <a:pPr lvl="1" indent="-342900" algn="just">
              <a:lnSpc>
                <a:spcPct val="150000"/>
              </a:lnSpc>
              <a:buClr>
                <a:schemeClr val="accent2"/>
              </a:buClr>
              <a:buFont typeface="+mj-lt"/>
              <a:buAutoNum type="arabicPeriod" startAt="3"/>
            </a:pPr>
            <a:r>
              <a:rPr lang="fr-FR" b="1" dirty="0"/>
              <a:t>Données d’entrainement :</a:t>
            </a:r>
          </a:p>
          <a:p>
            <a:pPr lvl="2" algn="just">
              <a:lnSpc>
                <a:spcPct val="150000"/>
              </a:lnSpc>
              <a:buClr>
                <a:schemeClr val="accent2"/>
              </a:buClr>
            </a:pPr>
            <a:r>
              <a:rPr lang="fr-FR" dirty="0"/>
              <a:t>Les modèles de </a:t>
            </a:r>
            <a:r>
              <a:rPr lang="fr-FR" dirty="0" err="1"/>
              <a:t>Deep</a:t>
            </a:r>
            <a:r>
              <a:rPr lang="fr-FR" dirty="0"/>
              <a:t> Learning nécessitent une grande quantité de données d'entraînement étiquetées pour apprendre efficacement les motifs. </a:t>
            </a:r>
          </a:p>
          <a:p>
            <a:pPr lvl="2" algn="just">
              <a:lnSpc>
                <a:spcPct val="150000"/>
              </a:lnSpc>
              <a:buClr>
                <a:schemeClr val="accent2"/>
              </a:buClr>
            </a:pPr>
            <a:r>
              <a:rPr lang="fr-FR" dirty="0"/>
              <a:t>Plus il y a de données disponibles, meilleur est généralement le modèle.</a:t>
            </a:r>
          </a:p>
          <a:p>
            <a:pPr lvl="1" indent="-342900" algn="just">
              <a:lnSpc>
                <a:spcPct val="150000"/>
              </a:lnSpc>
              <a:buClr>
                <a:schemeClr val="accent2"/>
              </a:buClr>
              <a:buFont typeface="+mj-lt"/>
              <a:buAutoNum type="arabicPeriod" startAt="3"/>
            </a:pPr>
            <a:r>
              <a:rPr lang="fr-FR" b="1" dirty="0"/>
              <a:t>Processus d’entrainement :</a:t>
            </a:r>
          </a:p>
          <a:p>
            <a:pPr lvl="2" algn="just">
              <a:lnSpc>
                <a:spcPct val="150000"/>
              </a:lnSpc>
              <a:buClr>
                <a:schemeClr val="accent2"/>
              </a:buClr>
            </a:pPr>
            <a:r>
              <a:rPr lang="fr-FR" dirty="0"/>
              <a:t>Ils apprennent de manière itérative à travers un processus appelé entraînement. </a:t>
            </a:r>
          </a:p>
          <a:p>
            <a:pPr lvl="2" algn="just">
              <a:lnSpc>
                <a:spcPct val="150000"/>
              </a:lnSpc>
              <a:buClr>
                <a:schemeClr val="accent2"/>
              </a:buClr>
            </a:pPr>
            <a:r>
              <a:rPr lang="fr-FR" dirty="0"/>
              <a:t>Pendant l'entraînement, le modèle ajuste ses paramètres internes (poids et biais) pour minimiser la différence entre ses prédictions et les valeurs cibles réelles.</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Introduction au DL : généralités</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Qu’est ce que le </a:t>
            </a:r>
            <a:r>
              <a:rPr lang="fr-FR" sz="1800" b="0" dirty="0" err="1"/>
              <a:t>Deep</a:t>
            </a:r>
            <a:r>
              <a:rPr lang="fr-FR" sz="1800" b="0" dirty="0"/>
              <a:t> Learning ?</a:t>
            </a:r>
          </a:p>
        </p:txBody>
      </p:sp>
    </p:spTree>
    <p:extLst>
      <p:ext uri="{BB962C8B-B14F-4D97-AF65-F5344CB8AC3E}">
        <p14:creationId xmlns:p14="http://schemas.microsoft.com/office/powerpoint/2010/main" val="3086359071"/>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375293"/>
          </a:xfrm>
        </p:spPr>
        <p:txBody>
          <a:bodyPr>
            <a:normAutofit fontScale="55000" lnSpcReduction="20000"/>
          </a:bodyPr>
          <a:lstStyle/>
          <a:p>
            <a:pPr lvl="1" indent="-342900" algn="just">
              <a:lnSpc>
                <a:spcPct val="150000"/>
              </a:lnSpc>
              <a:buClr>
                <a:schemeClr val="accent2"/>
              </a:buClr>
              <a:buFont typeface="+mj-lt"/>
              <a:buAutoNum type="arabicPeriod" startAt="5"/>
            </a:pPr>
            <a:r>
              <a:rPr lang="fr-FR" b="1" dirty="0"/>
              <a:t>Rétropropagation :</a:t>
            </a:r>
          </a:p>
          <a:p>
            <a:pPr lvl="2" algn="just">
              <a:lnSpc>
                <a:spcPct val="150000"/>
              </a:lnSpc>
              <a:buClr>
                <a:schemeClr val="accent2"/>
              </a:buClr>
            </a:pPr>
            <a:r>
              <a:rPr lang="fr-FR" dirty="0"/>
              <a:t>Il s'agit d'un algorithme clé utilisé pour entraîner les réseaux neuronaux profonds. </a:t>
            </a:r>
          </a:p>
          <a:p>
            <a:pPr lvl="2" algn="just">
              <a:lnSpc>
                <a:spcPct val="150000"/>
              </a:lnSpc>
              <a:buClr>
                <a:schemeClr val="accent2"/>
              </a:buClr>
            </a:pPr>
            <a:r>
              <a:rPr lang="fr-FR" dirty="0"/>
              <a:t>Il calcule le gradient de la fonction de perte par rapport aux paramètres du modèle</a:t>
            </a:r>
          </a:p>
          <a:p>
            <a:pPr lvl="2" algn="just">
              <a:lnSpc>
                <a:spcPct val="150000"/>
              </a:lnSpc>
              <a:buClr>
                <a:schemeClr val="accent2"/>
              </a:buClr>
            </a:pPr>
            <a:r>
              <a:rPr lang="fr-FR" dirty="0"/>
              <a:t>Ce qui permet au modèle de mettre à jour ses paramètres dans la direction qui minimise la perte.</a:t>
            </a:r>
          </a:p>
          <a:p>
            <a:pPr lvl="2" algn="just">
              <a:lnSpc>
                <a:spcPct val="150000"/>
              </a:lnSpc>
              <a:buClr>
                <a:schemeClr val="accent2"/>
              </a:buClr>
            </a:pPr>
            <a:endParaRPr lang="fr-FR" dirty="0"/>
          </a:p>
          <a:p>
            <a:pPr lvl="1" indent="-342900" algn="just">
              <a:lnSpc>
                <a:spcPct val="150000"/>
              </a:lnSpc>
              <a:buClr>
                <a:schemeClr val="accent2"/>
              </a:buClr>
              <a:buFont typeface="+mj-lt"/>
              <a:buAutoNum type="arabicPeriod" startAt="5"/>
            </a:pPr>
            <a:r>
              <a:rPr lang="fr-FR" b="1" dirty="0"/>
              <a:t>Fonctions d’activation :</a:t>
            </a:r>
          </a:p>
          <a:p>
            <a:pPr lvl="2" algn="just">
              <a:lnSpc>
                <a:spcPct val="150000"/>
              </a:lnSpc>
              <a:buClr>
                <a:schemeClr val="accent2"/>
              </a:buClr>
            </a:pPr>
            <a:r>
              <a:rPr lang="fr-FR" dirty="0"/>
              <a:t>Ce sont des fonctions non linéaires appliquées à la sortie de chaque neurone dans une couche de réseau neuronal. </a:t>
            </a:r>
          </a:p>
          <a:p>
            <a:pPr lvl="2" algn="just">
              <a:lnSpc>
                <a:spcPct val="150000"/>
              </a:lnSpc>
              <a:buClr>
                <a:schemeClr val="accent2"/>
              </a:buClr>
            </a:pPr>
            <a:r>
              <a:rPr lang="fr-FR" dirty="0"/>
              <a:t>Elles introduisent une non-linéarité dans le réseau, permettant d'apprendre des relations complexes dans les données.</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Introduction au DL : généralités</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Qu’est ce que le </a:t>
            </a:r>
            <a:r>
              <a:rPr lang="fr-FR" sz="1800" b="0" dirty="0" err="1"/>
              <a:t>Deep</a:t>
            </a:r>
            <a:r>
              <a:rPr lang="fr-FR" sz="1800" b="0" dirty="0"/>
              <a:t> Learning ?</a:t>
            </a:r>
          </a:p>
        </p:txBody>
      </p:sp>
    </p:spTree>
    <p:extLst>
      <p:ext uri="{BB962C8B-B14F-4D97-AF65-F5344CB8AC3E}">
        <p14:creationId xmlns:p14="http://schemas.microsoft.com/office/powerpoint/2010/main" val="608944393"/>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375293"/>
          </a:xfrm>
        </p:spPr>
        <p:txBody>
          <a:bodyPr>
            <a:normAutofit fontScale="70000" lnSpcReduction="20000"/>
          </a:bodyPr>
          <a:lstStyle/>
          <a:p>
            <a:pPr lvl="1" algn="just">
              <a:lnSpc>
                <a:spcPct val="150000"/>
              </a:lnSpc>
              <a:buClr>
                <a:schemeClr val="accent2"/>
              </a:buClr>
            </a:pPr>
            <a:r>
              <a:rPr lang="fr-FR" dirty="0" err="1"/>
              <a:t>TensorFlow</a:t>
            </a:r>
            <a:r>
              <a:rPr lang="fr-FR" dirty="0"/>
              <a:t> est une bibliothèque open-source d'apprentissage automatique. </a:t>
            </a:r>
          </a:p>
          <a:p>
            <a:pPr lvl="1" algn="just">
              <a:lnSpc>
                <a:spcPct val="150000"/>
              </a:lnSpc>
              <a:buClr>
                <a:schemeClr val="accent2"/>
              </a:buClr>
            </a:pPr>
            <a:r>
              <a:rPr lang="fr-FR" dirty="0"/>
              <a:t>Elle est utilisée pour la </a:t>
            </a:r>
            <a:r>
              <a:rPr lang="fr-FR" b="1" dirty="0"/>
              <a:t>création</a:t>
            </a:r>
            <a:r>
              <a:rPr lang="fr-FR" dirty="0"/>
              <a:t> et le </a:t>
            </a:r>
            <a:r>
              <a:rPr lang="fr-FR" b="1" dirty="0"/>
              <a:t>déploiement</a:t>
            </a:r>
            <a:r>
              <a:rPr lang="fr-FR" dirty="0"/>
              <a:t> de modèles d'apprentissage automatique, en particulier dans le domaine du </a:t>
            </a:r>
            <a:r>
              <a:rPr lang="fr-FR" dirty="0" err="1"/>
              <a:t>Deep</a:t>
            </a:r>
            <a:r>
              <a:rPr lang="fr-FR" dirty="0"/>
              <a:t> Learning. </a:t>
            </a:r>
          </a:p>
          <a:p>
            <a:pPr lvl="1" algn="just">
              <a:lnSpc>
                <a:spcPct val="150000"/>
              </a:lnSpc>
              <a:buClr>
                <a:schemeClr val="accent2"/>
              </a:buClr>
            </a:pPr>
            <a:r>
              <a:rPr lang="fr-FR" dirty="0"/>
              <a:t>Il offre une grande flexibilité et une grande puissance pour la conception et l'entraînement de réseaux neuronaux.</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Introduction au DL : quelques librairies utiles au DL</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err="1"/>
              <a:t>TensorFlow</a:t>
            </a:r>
            <a:endParaRPr lang="fr-FR" sz="1800" b="0" dirty="0"/>
          </a:p>
        </p:txBody>
      </p:sp>
    </p:spTree>
    <p:extLst>
      <p:ext uri="{BB962C8B-B14F-4D97-AF65-F5344CB8AC3E}">
        <p14:creationId xmlns:p14="http://schemas.microsoft.com/office/powerpoint/2010/main" val="804013263"/>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375293"/>
          </a:xfrm>
        </p:spPr>
        <p:txBody>
          <a:bodyPr>
            <a:normAutofit fontScale="62500" lnSpcReduction="20000"/>
          </a:bodyPr>
          <a:lstStyle/>
          <a:p>
            <a:pPr lvl="1" algn="just">
              <a:lnSpc>
                <a:spcPct val="150000"/>
              </a:lnSpc>
              <a:buClr>
                <a:schemeClr val="accent2"/>
              </a:buClr>
            </a:pPr>
            <a:r>
              <a:rPr lang="fr-FR" dirty="0" err="1"/>
              <a:t>Keras</a:t>
            </a:r>
            <a:r>
              <a:rPr lang="fr-FR" dirty="0"/>
              <a:t> est une bibliothèque open-source d'apprentissage automatique écrite en Python. </a:t>
            </a:r>
          </a:p>
          <a:p>
            <a:pPr lvl="1" algn="just">
              <a:lnSpc>
                <a:spcPct val="150000"/>
              </a:lnSpc>
              <a:buClr>
                <a:schemeClr val="accent2"/>
              </a:buClr>
            </a:pPr>
            <a:r>
              <a:rPr lang="fr-FR" dirty="0"/>
              <a:t>Elle fournit une interface conviviale et </a:t>
            </a:r>
            <a:r>
              <a:rPr lang="fr-FR" b="1" dirty="0"/>
              <a:t>modulaire</a:t>
            </a:r>
            <a:r>
              <a:rPr lang="fr-FR" dirty="0"/>
              <a:t> pour la création, la configuration et l'entraînement de réseaux neuronaux, en particulier les réseaux de neurones profonds.</a:t>
            </a:r>
          </a:p>
          <a:p>
            <a:pPr lvl="1" algn="just">
              <a:lnSpc>
                <a:spcPct val="150000"/>
              </a:lnSpc>
              <a:buClr>
                <a:schemeClr val="accent2"/>
              </a:buClr>
            </a:pPr>
            <a:r>
              <a:rPr lang="fr-FR" b="1" dirty="0"/>
              <a:t>Modularité</a:t>
            </a:r>
            <a:r>
              <a:rPr lang="fr-FR" dirty="0"/>
              <a:t>: Keras permet de construire des modèles d'apprentissage automatique en assemblant des blocs de construction modulaires appelés couches. Ces couches peuvent être facilement combinées pour créer des architectures de réseau complexes.</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Introduction au DL : quelques librairies utiles au DL</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err="1"/>
              <a:t>Keras</a:t>
            </a:r>
            <a:endParaRPr lang="fr-FR" sz="1800" b="0" dirty="0"/>
          </a:p>
        </p:txBody>
      </p:sp>
    </p:spTree>
    <p:extLst>
      <p:ext uri="{BB962C8B-B14F-4D97-AF65-F5344CB8AC3E}">
        <p14:creationId xmlns:p14="http://schemas.microsoft.com/office/powerpoint/2010/main" val="2776706544"/>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375293"/>
          </a:xfrm>
        </p:spPr>
        <p:txBody>
          <a:bodyPr>
            <a:normAutofit fontScale="85000" lnSpcReduction="20000"/>
          </a:bodyPr>
          <a:lstStyle/>
          <a:p>
            <a:pPr lvl="1" algn="just">
              <a:lnSpc>
                <a:spcPct val="150000"/>
              </a:lnSpc>
              <a:buClr>
                <a:schemeClr val="accent2"/>
              </a:buClr>
            </a:pPr>
            <a:r>
              <a:rPr lang="fr-FR" dirty="0" err="1"/>
              <a:t>IPyTorch</a:t>
            </a:r>
            <a:r>
              <a:rPr lang="fr-FR" dirty="0"/>
              <a:t> est une bibliothèque open-source d'apprentissage automatique développée principalement par Facebook's AI Research lab (FAIR). </a:t>
            </a:r>
          </a:p>
          <a:p>
            <a:pPr lvl="1" algn="just">
              <a:lnSpc>
                <a:spcPct val="150000"/>
              </a:lnSpc>
              <a:buClr>
                <a:schemeClr val="accent2"/>
              </a:buClr>
            </a:pPr>
            <a:r>
              <a:rPr lang="fr-FR" dirty="0"/>
              <a:t>Elle fournit une infrastructure flexible et efficace pour la création et le déploiement de modèles d'apprentissage automatique, en particulier dans le domaine du </a:t>
            </a:r>
            <a:r>
              <a:rPr lang="fr-FR" dirty="0" err="1"/>
              <a:t>Deep</a:t>
            </a:r>
            <a:r>
              <a:rPr lang="fr-FR" dirty="0"/>
              <a:t> Learning.</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Introduction au DL : quelques librairies utiles au DL</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err="1"/>
              <a:t>Pytorch</a:t>
            </a:r>
            <a:endParaRPr lang="fr-FR" sz="1800" b="0" dirty="0"/>
          </a:p>
        </p:txBody>
      </p:sp>
    </p:spTree>
    <p:extLst>
      <p:ext uri="{BB962C8B-B14F-4D97-AF65-F5344CB8AC3E}">
        <p14:creationId xmlns:p14="http://schemas.microsoft.com/office/powerpoint/2010/main" val="2522911074"/>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375293"/>
          </a:xfrm>
        </p:spPr>
        <p:txBody>
          <a:bodyPr>
            <a:normAutofit fontScale="85000" lnSpcReduction="20000"/>
          </a:bodyPr>
          <a:lstStyle/>
          <a:p>
            <a:pPr lvl="1" algn="just">
              <a:lnSpc>
                <a:spcPct val="150000"/>
              </a:lnSpc>
              <a:buClr>
                <a:schemeClr val="accent2"/>
              </a:buClr>
            </a:pPr>
            <a:r>
              <a:rPr lang="fr-FR" dirty="0" err="1"/>
              <a:t>NumPy</a:t>
            </a:r>
            <a:r>
              <a:rPr lang="fr-FR" dirty="0"/>
              <a:t> est une bibliothèque open-source pour le langage de programmation Python, destinée à faciliter le calcul numérique.</a:t>
            </a:r>
          </a:p>
          <a:p>
            <a:pPr lvl="1" algn="just">
              <a:lnSpc>
                <a:spcPct val="150000"/>
              </a:lnSpc>
              <a:buClr>
                <a:schemeClr val="accent2"/>
              </a:buClr>
            </a:pPr>
            <a:r>
              <a:rPr lang="fr-FR" dirty="0"/>
              <a:t>Elle fournit des structures de données et des fonctionnalités pour travailler efficacement avec des tableaux multidimensionnels ainsi que des fonctions mathématiques pour opérer sur ces tableaux.</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Introduction au DL : quelques librairies utiles au DL</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err="1"/>
              <a:t>Numpy</a:t>
            </a:r>
            <a:endParaRPr lang="fr-FR" sz="1800" b="0" dirty="0"/>
          </a:p>
        </p:txBody>
      </p:sp>
    </p:spTree>
    <p:extLst>
      <p:ext uri="{BB962C8B-B14F-4D97-AF65-F5344CB8AC3E}">
        <p14:creationId xmlns:p14="http://schemas.microsoft.com/office/powerpoint/2010/main" val="458507292"/>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375293"/>
          </a:xfrm>
        </p:spPr>
        <p:txBody>
          <a:bodyPr>
            <a:normAutofit fontScale="70000" lnSpcReduction="20000"/>
          </a:bodyPr>
          <a:lstStyle/>
          <a:p>
            <a:pPr lvl="1" algn="just">
              <a:lnSpc>
                <a:spcPct val="150000"/>
              </a:lnSpc>
              <a:buClr>
                <a:schemeClr val="accent2"/>
              </a:buClr>
            </a:pPr>
            <a:r>
              <a:rPr lang="fr-FR" dirty="0" err="1"/>
              <a:t>Scikit-learn</a:t>
            </a:r>
            <a:r>
              <a:rPr lang="fr-FR" dirty="0"/>
              <a:t>, également connu sous le nom sklearn, est une bibliothèque open-source de Machine Learning pour le langage de programmation Python. </a:t>
            </a:r>
          </a:p>
          <a:p>
            <a:pPr lvl="1" algn="just">
              <a:lnSpc>
                <a:spcPct val="150000"/>
              </a:lnSpc>
              <a:buClr>
                <a:schemeClr val="accent2"/>
              </a:buClr>
            </a:pPr>
            <a:r>
              <a:rPr lang="fr-FR" dirty="0"/>
              <a:t>Elle offre une gamme complète d'outils pour la construction et l'évaluation de modèles d'apprentissage automatique dans divers domaines tels que la classification, la régression, le clustering et la réduction de dimensionnalité.</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Introduction au DL : quelques librairies utiles au DL</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err="1"/>
              <a:t>Scikit</a:t>
            </a:r>
            <a:r>
              <a:rPr lang="fr-FR" sz="1800" b="0" dirty="0"/>
              <a:t> </a:t>
            </a:r>
            <a:r>
              <a:rPr lang="fr-FR" sz="1800" b="0" dirty="0" err="1"/>
              <a:t>Learn</a:t>
            </a:r>
            <a:endParaRPr lang="fr-FR" sz="1800" b="0" dirty="0"/>
          </a:p>
        </p:txBody>
      </p:sp>
    </p:spTree>
    <p:extLst>
      <p:ext uri="{BB962C8B-B14F-4D97-AF65-F5344CB8AC3E}">
        <p14:creationId xmlns:p14="http://schemas.microsoft.com/office/powerpoint/2010/main" val="2243057415"/>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375293"/>
          </a:xfrm>
        </p:spPr>
        <p:txBody>
          <a:bodyPr>
            <a:normAutofit fontScale="85000" lnSpcReduction="10000"/>
          </a:bodyPr>
          <a:lstStyle/>
          <a:p>
            <a:pPr lvl="1" algn="just">
              <a:lnSpc>
                <a:spcPct val="150000"/>
              </a:lnSpc>
              <a:buClr>
                <a:schemeClr val="accent2"/>
              </a:buClr>
            </a:pPr>
            <a:r>
              <a:rPr lang="fr-FR" dirty="0" err="1"/>
              <a:t>IMatplotlib</a:t>
            </a:r>
            <a:r>
              <a:rPr lang="fr-FR" dirty="0"/>
              <a:t> est une bibliothèque de visualisation de données en Python, largement utilisée pour créer des graphiques et des visualisations de qualité professionnelle dans divers domaines, y compris la science des données, la recherche académique, l'ingénierie et bien d'autres.</a:t>
            </a:r>
          </a:p>
          <a:p>
            <a:pPr lvl="1" algn="just">
              <a:lnSpc>
                <a:spcPct val="150000"/>
              </a:lnSpc>
              <a:buClr>
                <a:schemeClr val="accent2"/>
              </a:buClr>
            </a:pPr>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Introduction au DL : quelques librairies utiles au DL</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err="1"/>
              <a:t>Matplotlib</a:t>
            </a:r>
            <a:endParaRPr lang="fr-FR" sz="1800" b="0" dirty="0"/>
          </a:p>
        </p:txBody>
      </p:sp>
    </p:spTree>
    <p:extLst>
      <p:ext uri="{BB962C8B-B14F-4D97-AF65-F5344CB8AC3E}">
        <p14:creationId xmlns:p14="http://schemas.microsoft.com/office/powerpoint/2010/main" val="3857581288"/>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375293"/>
          </a:xfrm>
        </p:spPr>
        <p:txBody>
          <a:bodyPr>
            <a:normAutofit fontScale="85000" lnSpcReduction="20000"/>
          </a:bodyPr>
          <a:lstStyle/>
          <a:p>
            <a:pPr lvl="1" algn="just">
              <a:lnSpc>
                <a:spcPct val="150000"/>
              </a:lnSpc>
              <a:buClr>
                <a:schemeClr val="accent2"/>
              </a:buClr>
            </a:pPr>
            <a:r>
              <a:rPr lang="fr-FR" dirty="0" err="1"/>
              <a:t>Seaborn</a:t>
            </a:r>
            <a:r>
              <a:rPr lang="fr-FR" dirty="0"/>
              <a:t> est une bibliothèque de visualisation de données en Python. </a:t>
            </a:r>
          </a:p>
          <a:p>
            <a:pPr lvl="1" algn="just">
              <a:lnSpc>
                <a:spcPct val="150000"/>
              </a:lnSpc>
              <a:buClr>
                <a:schemeClr val="accent2"/>
              </a:buClr>
            </a:pPr>
            <a:r>
              <a:rPr lang="fr-FR" dirty="0"/>
              <a:t>Elle fournit une interface de haut niveau pour créer des graphiques statistiques attrayants et informatifs.</a:t>
            </a:r>
          </a:p>
          <a:p>
            <a:pPr lvl="1" algn="just">
              <a:lnSpc>
                <a:spcPct val="150000"/>
              </a:lnSpc>
              <a:buClr>
                <a:schemeClr val="accent2"/>
              </a:buClr>
            </a:pPr>
            <a:r>
              <a:rPr lang="fr-FR" dirty="0"/>
              <a:t>Les graphiques de </a:t>
            </a:r>
            <a:r>
              <a:rPr lang="fr-FR" dirty="0" err="1"/>
              <a:t>Seaborn</a:t>
            </a:r>
            <a:r>
              <a:rPr lang="fr-FR" dirty="0"/>
              <a:t> sont bien plus esthétiques que ceux de son homologue </a:t>
            </a:r>
            <a:r>
              <a:rPr lang="fr-FR" dirty="0" err="1"/>
              <a:t>Matplotlib</a:t>
            </a:r>
            <a:r>
              <a:rPr lang="fr-FR" dirty="0"/>
              <a:t>.</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Introduction au DL : quelques librairies utiles au DL</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err="1"/>
              <a:t>Seaborn</a:t>
            </a:r>
            <a:endParaRPr lang="fr-FR" sz="1800" b="0" dirty="0"/>
          </a:p>
        </p:txBody>
      </p:sp>
    </p:spTree>
    <p:extLst>
      <p:ext uri="{BB962C8B-B14F-4D97-AF65-F5344CB8AC3E}">
        <p14:creationId xmlns:p14="http://schemas.microsoft.com/office/powerpoint/2010/main" val="353042743"/>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375293"/>
          </a:xfrm>
        </p:spPr>
        <p:txBody>
          <a:bodyPr>
            <a:normAutofit fontScale="85000" lnSpcReduction="10000"/>
          </a:bodyPr>
          <a:lstStyle/>
          <a:p>
            <a:pPr lvl="1" algn="just">
              <a:lnSpc>
                <a:spcPct val="150000"/>
              </a:lnSpc>
              <a:buClr>
                <a:schemeClr val="accent2"/>
              </a:buClr>
            </a:pPr>
            <a:r>
              <a:rPr lang="fr-FR" dirty="0"/>
              <a:t>Pandas est une bibliothèque open-source en Python, spécialisée dans la manipulation et l'analyse de données. </a:t>
            </a:r>
          </a:p>
          <a:p>
            <a:pPr lvl="1" algn="just">
              <a:lnSpc>
                <a:spcPct val="150000"/>
              </a:lnSpc>
              <a:buClr>
                <a:schemeClr val="accent2"/>
              </a:buClr>
            </a:pPr>
            <a:r>
              <a:rPr lang="fr-FR" dirty="0"/>
              <a:t>Elle offre des structures de données et des outils performants pour effectuer des opérations de nettoyage, de transformation, de filtrage et d'analyse de données.</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Introduction au DL : quelques librairies utiles au DL</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Pandas</a:t>
            </a:r>
          </a:p>
        </p:txBody>
      </p:sp>
    </p:spTree>
    <p:extLst>
      <p:ext uri="{BB962C8B-B14F-4D97-AF65-F5344CB8AC3E}">
        <p14:creationId xmlns:p14="http://schemas.microsoft.com/office/powerpoint/2010/main" val="2964205397"/>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02. Environnement du </a:t>
            </a:r>
            <a:br>
              <a:rPr lang="fr-FR" dirty="0"/>
            </a:br>
            <a:r>
              <a:rPr lang="fr-FR" dirty="0" err="1"/>
              <a:t>Deep</a:t>
            </a:r>
            <a:r>
              <a:rPr lang="fr-FR" dirty="0"/>
              <a:t> Learning</a:t>
            </a:r>
          </a:p>
        </p:txBody>
      </p:sp>
    </p:spTree>
    <p:extLst>
      <p:ext uri="{BB962C8B-B14F-4D97-AF65-F5344CB8AC3E}">
        <p14:creationId xmlns:p14="http://schemas.microsoft.com/office/powerpoint/2010/main" val="3033236785"/>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697745" y="1640454"/>
            <a:ext cx="6054268" cy="3255562"/>
          </a:xfrm>
        </p:spPr>
        <p:txBody>
          <a:bodyPr>
            <a:noAutofit/>
          </a:bodyPr>
          <a:lstStyle/>
          <a:p>
            <a:pPr lvl="1" algn="just">
              <a:lnSpc>
                <a:spcPct val="100000"/>
              </a:lnSpc>
              <a:buClr>
                <a:schemeClr val="accent2"/>
              </a:buClr>
            </a:pPr>
            <a:r>
              <a:rPr lang="fr-FR" dirty="0"/>
              <a:t>Préparer son environnement de travail </a:t>
            </a:r>
          </a:p>
          <a:p>
            <a:pPr lvl="2" algn="just">
              <a:lnSpc>
                <a:spcPct val="100000"/>
              </a:lnSpc>
              <a:buClr>
                <a:schemeClr val="accent2"/>
              </a:buClr>
            </a:pPr>
            <a:r>
              <a:rPr lang="fr-FR" dirty="0"/>
              <a:t>Installation de Python</a:t>
            </a:r>
          </a:p>
          <a:p>
            <a:pPr lvl="2" algn="just">
              <a:lnSpc>
                <a:spcPct val="100000"/>
              </a:lnSpc>
              <a:buClr>
                <a:schemeClr val="accent2"/>
              </a:buClr>
            </a:pPr>
            <a:r>
              <a:rPr lang="fr-FR" dirty="0"/>
              <a:t>Python sur Google </a:t>
            </a:r>
            <a:r>
              <a:rPr lang="fr-FR" dirty="0" err="1"/>
              <a:t>Colab</a:t>
            </a:r>
            <a:endParaRPr lang="fr-FR" dirty="0"/>
          </a:p>
          <a:p>
            <a:pPr lvl="2" algn="just">
              <a:lnSpc>
                <a:spcPct val="100000"/>
              </a:lnSpc>
              <a:buClr>
                <a:schemeClr val="accent2"/>
              </a:buClr>
            </a:pPr>
            <a:r>
              <a:rPr lang="fr-FR" dirty="0"/>
              <a:t>Créer un environnement virtuel</a:t>
            </a:r>
          </a:p>
          <a:p>
            <a:pPr lvl="2" algn="just">
              <a:lnSpc>
                <a:spcPct val="100000"/>
              </a:lnSpc>
              <a:buClr>
                <a:schemeClr val="accent2"/>
              </a:buClr>
            </a:pPr>
            <a:r>
              <a:rPr lang="fr-FR" dirty="0"/>
              <a:t>Activer un environnement virtuel</a:t>
            </a:r>
          </a:p>
          <a:p>
            <a:pPr lvl="2" algn="just">
              <a:lnSpc>
                <a:spcPct val="100000"/>
              </a:lnSpc>
              <a:buClr>
                <a:schemeClr val="accent2"/>
              </a:buClr>
            </a:pPr>
            <a:r>
              <a:rPr lang="fr-FR" dirty="0"/>
              <a:t>Installer </a:t>
            </a:r>
            <a:r>
              <a:rPr lang="fr-FR" dirty="0" err="1"/>
              <a:t>Jupyter</a:t>
            </a:r>
            <a:r>
              <a:rPr lang="fr-FR" dirty="0"/>
              <a:t> Notebook</a:t>
            </a:r>
          </a:p>
          <a:p>
            <a:pPr lvl="2" algn="just">
              <a:lnSpc>
                <a:spcPct val="100000"/>
              </a:lnSpc>
              <a:buClr>
                <a:schemeClr val="accent2"/>
              </a:buClr>
            </a:pPr>
            <a:r>
              <a:rPr lang="fr-FR" dirty="0"/>
              <a:t>Installer </a:t>
            </a:r>
            <a:r>
              <a:rPr lang="fr-FR" dirty="0" err="1"/>
              <a:t>TensorFlow</a:t>
            </a:r>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p:txBody>
          <a:bodyPr>
            <a:normAutofit/>
          </a:bodyPr>
          <a:lstStyle/>
          <a:p>
            <a:r>
              <a:rPr lang="fr-FR" sz="3000" dirty="0"/>
              <a:t>02 – Environnement du DL</a:t>
            </a:r>
            <a:endParaRPr lang="fr-FR" sz="3000" b="0" dirty="0"/>
          </a:p>
        </p:txBody>
      </p:sp>
      <p:sp>
        <p:nvSpPr>
          <p:cNvPr id="6" name="Title 13">
            <a:extLst>
              <a:ext uri="{FF2B5EF4-FFF2-40B4-BE49-F238E27FC236}">
                <a16:creationId xmlns:a16="http://schemas.microsoft.com/office/drawing/2014/main" id="{26FB5BC2-8F0B-4B26-9FBE-1DC2855015B1}"/>
              </a:ext>
            </a:extLst>
          </p:cNvPr>
          <p:cNvSpPr txBox="1">
            <a:spLocks/>
          </p:cNvSpPr>
          <p:nvPr/>
        </p:nvSpPr>
        <p:spPr>
          <a:xfrm>
            <a:off x="389008" y="1172095"/>
            <a:ext cx="6249917" cy="276141"/>
          </a:xfrm>
          <a:prstGeom prst="rect">
            <a:avLst/>
          </a:prstGeom>
        </p:spPr>
        <p:txBody>
          <a:bodyPr vert="horz" lIns="68580" tIns="34290" rIns="68580" bIns="0" rtlCol="0" anchor="b">
            <a:norm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dirty="0"/>
              <a:t>Partie 2 – Environnement du </a:t>
            </a:r>
            <a:r>
              <a:rPr lang="fr-FR" sz="1500" dirty="0" err="1"/>
              <a:t>Deep</a:t>
            </a:r>
            <a:r>
              <a:rPr lang="fr-FR" sz="1500" dirty="0"/>
              <a:t> Learning</a:t>
            </a:r>
            <a:endParaRPr lang="fr-FR" sz="1500" b="0" dirty="0"/>
          </a:p>
        </p:txBody>
      </p:sp>
    </p:spTree>
    <p:extLst>
      <p:ext uri="{BB962C8B-B14F-4D97-AF65-F5344CB8AC3E}">
        <p14:creationId xmlns:p14="http://schemas.microsoft.com/office/powerpoint/2010/main" val="1774857879"/>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375293"/>
          </a:xfrm>
        </p:spPr>
        <p:txBody>
          <a:bodyPr>
            <a:normAutofit fontScale="47500" lnSpcReduction="20000"/>
          </a:bodyPr>
          <a:lstStyle/>
          <a:p>
            <a:pPr lvl="1" algn="just">
              <a:lnSpc>
                <a:spcPct val="150000"/>
              </a:lnSpc>
              <a:buClr>
                <a:schemeClr val="accent2"/>
              </a:buClr>
            </a:pPr>
            <a:r>
              <a:rPr lang="fr-FR" dirty="0"/>
              <a:t>Téléchargez et installez Anaconda : </a:t>
            </a:r>
            <a:r>
              <a:rPr lang="fr-FR" dirty="0">
                <a:hlinkClick r:id="rId3"/>
              </a:rPr>
              <a:t>https://www.anaconda.com/</a:t>
            </a:r>
            <a:endParaRPr lang="fr-FR" dirty="0"/>
          </a:p>
          <a:p>
            <a:pPr lvl="1" algn="just">
              <a:lnSpc>
                <a:spcPct val="150000"/>
              </a:lnSpc>
              <a:buClr>
                <a:schemeClr val="accent2"/>
              </a:buClr>
            </a:pPr>
            <a:r>
              <a:rPr lang="fr-FR" dirty="0"/>
              <a:t>Anaconda est une distribution Python utilisée pour le calcul scientifique et l'analyse de données. </a:t>
            </a:r>
          </a:p>
          <a:p>
            <a:pPr lvl="1" algn="just">
              <a:lnSpc>
                <a:spcPct val="150000"/>
              </a:lnSpc>
              <a:buClr>
                <a:schemeClr val="accent2"/>
              </a:buClr>
            </a:pPr>
            <a:r>
              <a:rPr lang="fr-FR" dirty="0"/>
              <a:t>Cette distribution comprend une vaste collection de packages Python pré-installés qui sont couramment utilisés dans les domaines de la science des données, de l'apprentissage automatique, de l'analyse de données et bien plus.</a:t>
            </a:r>
          </a:p>
          <a:p>
            <a:pPr lvl="1" algn="just">
              <a:lnSpc>
                <a:spcPct val="150000"/>
              </a:lnSpc>
              <a:buClr>
                <a:schemeClr val="accent2"/>
              </a:buClr>
            </a:pPr>
            <a:r>
              <a:rPr lang="fr-FR" b="1" dirty="0"/>
              <a:t>Environnements virtuels</a:t>
            </a:r>
            <a:r>
              <a:rPr lang="fr-FR" dirty="0"/>
              <a:t> : Conda permet de créer des environnements virtuels isolés, ce qui permet aux utilisateurs de travailler sur différents projets avec des configurations de packages distinctes sans conflits de dépendances.</a:t>
            </a:r>
          </a:p>
          <a:p>
            <a:pPr lvl="1" algn="just">
              <a:lnSpc>
                <a:spcPct val="150000"/>
              </a:lnSpc>
              <a:buClr>
                <a:schemeClr val="accent2"/>
              </a:buClr>
            </a:pPr>
            <a:r>
              <a:rPr lang="fr-FR" b="1" dirty="0"/>
              <a:t>Anaconda Navigator</a:t>
            </a:r>
            <a:r>
              <a:rPr lang="fr-FR" dirty="0"/>
              <a:t> : Anaconda Navigator est une interface graphique conviviale qui permet aux utilisateurs de gérer leurs environnements et packages, ainsi que de lancer des applications, des éditeurs de code et des notebooks Jupyter.</a:t>
            </a:r>
          </a:p>
          <a:p>
            <a:pPr lvl="1" algn="just">
              <a:lnSpc>
                <a:spcPct val="150000"/>
              </a:lnSpc>
              <a:buClr>
                <a:schemeClr val="accent2"/>
              </a:buClr>
            </a:pPr>
            <a:endParaRPr lang="fr-FR" dirty="0"/>
          </a:p>
          <a:p>
            <a:pPr lvl="1" algn="just">
              <a:lnSpc>
                <a:spcPct val="150000"/>
              </a:lnSpc>
              <a:buClr>
                <a:schemeClr val="accent2"/>
              </a:buClr>
            </a:pPr>
            <a:endParaRPr lang="fr-FR" sz="1200" dirty="0">
              <a:solidFill>
                <a:srgbClr val="FF0000"/>
              </a:solidFill>
            </a:endParaRP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Préparer son environnement de travail</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Installation de Python</a:t>
            </a:r>
          </a:p>
        </p:txBody>
      </p:sp>
    </p:spTree>
    <p:extLst>
      <p:ext uri="{BB962C8B-B14F-4D97-AF65-F5344CB8AC3E}">
        <p14:creationId xmlns:p14="http://schemas.microsoft.com/office/powerpoint/2010/main" val="4154472122"/>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886944" cy="3375293"/>
          </a:xfrm>
        </p:spPr>
        <p:txBody>
          <a:bodyPr>
            <a:normAutofit/>
          </a:bodyPr>
          <a:lstStyle/>
          <a:p>
            <a:pPr algn="just">
              <a:lnSpc>
                <a:spcPct val="150000"/>
              </a:lnSpc>
              <a:buClr>
                <a:schemeClr val="accent2"/>
              </a:buClr>
            </a:pPr>
            <a:r>
              <a:rPr lang="fr-FR" sz="1400" dirty="0"/>
              <a:t>Vous pouvez faire du Machine et du </a:t>
            </a:r>
            <a:r>
              <a:rPr lang="fr-FR" sz="1400" dirty="0" err="1"/>
              <a:t>Deep</a:t>
            </a:r>
            <a:r>
              <a:rPr lang="fr-FR" sz="1400" dirty="0"/>
              <a:t> Learning directement dans Google </a:t>
            </a:r>
            <a:r>
              <a:rPr lang="fr-FR" sz="1400" dirty="0" err="1"/>
              <a:t>Colab</a:t>
            </a:r>
            <a:r>
              <a:rPr lang="fr-FR" sz="1400" dirty="0"/>
              <a:t> (support GPU).</a:t>
            </a:r>
          </a:p>
          <a:p>
            <a:pPr algn="just">
              <a:lnSpc>
                <a:spcPct val="150000"/>
              </a:lnSpc>
              <a:buClr>
                <a:schemeClr val="accent2"/>
              </a:buClr>
            </a:pPr>
            <a:r>
              <a:rPr lang="fr-FR" sz="1400" dirty="0"/>
              <a:t>Pour accéder à Google </a:t>
            </a:r>
            <a:r>
              <a:rPr lang="fr-FR" sz="1400" dirty="0" err="1"/>
              <a:t>Colab</a:t>
            </a:r>
            <a:r>
              <a:rPr lang="fr-FR" sz="1400" dirty="0"/>
              <a:t>, suivez le lien : </a:t>
            </a:r>
            <a:r>
              <a:rPr lang="fr-FR" sz="1400" dirty="0">
                <a:hlinkClick r:id="rId3"/>
              </a:rPr>
              <a:t>https://colab.research.google.com/</a:t>
            </a:r>
            <a:endParaRPr lang="fr-FR" sz="1400" dirty="0"/>
          </a:p>
          <a:p>
            <a:pPr algn="just">
              <a:lnSpc>
                <a:spcPct val="150000"/>
              </a:lnSpc>
              <a:buClr>
                <a:schemeClr val="accent2"/>
              </a:buClr>
            </a:pPr>
            <a:r>
              <a:rPr lang="fr-FR" sz="1400" dirty="0"/>
              <a:t>Pour utilise le GPU, suivez les étapes suivantes :</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Préparer son environnement de travail</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Python sur Google </a:t>
            </a:r>
            <a:r>
              <a:rPr lang="fr-FR" sz="1800" b="0" dirty="0" err="1"/>
              <a:t>Colab</a:t>
            </a:r>
            <a:endParaRPr lang="fr-FR" sz="1800" b="0" dirty="0"/>
          </a:p>
        </p:txBody>
      </p:sp>
      <p:grpSp>
        <p:nvGrpSpPr>
          <p:cNvPr id="5" name="Groupe 4">
            <a:extLst>
              <a:ext uri="{FF2B5EF4-FFF2-40B4-BE49-F238E27FC236}">
                <a16:creationId xmlns:a16="http://schemas.microsoft.com/office/drawing/2014/main" id="{3E56AA49-C6B7-4CB9-AEED-6B9C86AF153E}"/>
              </a:ext>
            </a:extLst>
          </p:cNvPr>
          <p:cNvGrpSpPr/>
          <p:nvPr/>
        </p:nvGrpSpPr>
        <p:grpSpPr>
          <a:xfrm>
            <a:off x="826229" y="2991046"/>
            <a:ext cx="6329279" cy="2102570"/>
            <a:chOff x="1101639" y="3988060"/>
            <a:chExt cx="8439038" cy="2803427"/>
          </a:xfrm>
        </p:grpSpPr>
        <p:pic>
          <p:nvPicPr>
            <p:cNvPr id="2" name="Image 1">
              <a:extLst>
                <a:ext uri="{FF2B5EF4-FFF2-40B4-BE49-F238E27FC236}">
                  <a16:creationId xmlns:a16="http://schemas.microsoft.com/office/drawing/2014/main" id="{3EC64B43-4183-405F-A351-AFFBEA22A32D}"/>
                </a:ext>
              </a:extLst>
            </p:cNvPr>
            <p:cNvPicPr>
              <a:picLocks noChangeAspect="1"/>
            </p:cNvPicPr>
            <p:nvPr/>
          </p:nvPicPr>
          <p:blipFill>
            <a:blip r:embed="rId4"/>
            <a:stretch>
              <a:fillRect/>
            </a:stretch>
          </p:blipFill>
          <p:spPr>
            <a:xfrm>
              <a:off x="1101639" y="3988060"/>
              <a:ext cx="4587961" cy="2803427"/>
            </a:xfrm>
            <a:prstGeom prst="rect">
              <a:avLst/>
            </a:prstGeom>
          </p:spPr>
        </p:pic>
        <p:pic>
          <p:nvPicPr>
            <p:cNvPr id="3" name="Image 2">
              <a:extLst>
                <a:ext uri="{FF2B5EF4-FFF2-40B4-BE49-F238E27FC236}">
                  <a16:creationId xmlns:a16="http://schemas.microsoft.com/office/drawing/2014/main" id="{3471D73A-6550-4679-88F2-978464C02414}"/>
                </a:ext>
              </a:extLst>
            </p:cNvPr>
            <p:cNvPicPr>
              <a:picLocks noChangeAspect="1"/>
            </p:cNvPicPr>
            <p:nvPr/>
          </p:nvPicPr>
          <p:blipFill>
            <a:blip r:embed="rId5"/>
            <a:stretch>
              <a:fillRect/>
            </a:stretch>
          </p:blipFill>
          <p:spPr>
            <a:xfrm>
              <a:off x="6096000" y="3988060"/>
              <a:ext cx="3444677" cy="2785958"/>
            </a:xfrm>
            <a:prstGeom prst="rect">
              <a:avLst/>
            </a:prstGeom>
          </p:spPr>
        </p:pic>
        <p:sp>
          <p:nvSpPr>
            <p:cNvPr id="4" name="Rectangle 3">
              <a:extLst>
                <a:ext uri="{FF2B5EF4-FFF2-40B4-BE49-F238E27FC236}">
                  <a16:creationId xmlns:a16="http://schemas.microsoft.com/office/drawing/2014/main" id="{C3CC9D99-FD99-4AEE-835C-338560C9A2B6}"/>
                </a:ext>
              </a:extLst>
            </p:cNvPr>
            <p:cNvSpPr/>
            <p:nvPr/>
          </p:nvSpPr>
          <p:spPr>
            <a:xfrm>
              <a:off x="2946400" y="4202545"/>
              <a:ext cx="418805" cy="101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 name="Rectangle 7">
              <a:extLst>
                <a:ext uri="{FF2B5EF4-FFF2-40B4-BE49-F238E27FC236}">
                  <a16:creationId xmlns:a16="http://schemas.microsoft.com/office/drawing/2014/main" id="{9CECD7CB-05FF-4970-81A3-E2EF316210C1}"/>
                </a:ext>
              </a:extLst>
            </p:cNvPr>
            <p:cNvSpPr/>
            <p:nvPr/>
          </p:nvSpPr>
          <p:spPr>
            <a:xfrm>
              <a:off x="3003107" y="5939196"/>
              <a:ext cx="1079795" cy="17218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9" name="Rectangle 8">
              <a:extLst>
                <a:ext uri="{FF2B5EF4-FFF2-40B4-BE49-F238E27FC236}">
                  <a16:creationId xmlns:a16="http://schemas.microsoft.com/office/drawing/2014/main" id="{D3C5784F-D5CE-4B9C-B621-1F3763511412}"/>
                </a:ext>
              </a:extLst>
            </p:cNvPr>
            <p:cNvSpPr/>
            <p:nvPr/>
          </p:nvSpPr>
          <p:spPr>
            <a:xfrm>
              <a:off x="6887399" y="5155931"/>
              <a:ext cx="762727" cy="2879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0" name="Rectangle 9">
              <a:extLst>
                <a:ext uri="{FF2B5EF4-FFF2-40B4-BE49-F238E27FC236}">
                  <a16:creationId xmlns:a16="http://schemas.microsoft.com/office/drawing/2014/main" id="{B7479656-DD4A-4812-94C6-7FE57587D169}"/>
                </a:ext>
              </a:extLst>
            </p:cNvPr>
            <p:cNvSpPr/>
            <p:nvPr/>
          </p:nvSpPr>
          <p:spPr>
            <a:xfrm>
              <a:off x="8931349" y="6482956"/>
              <a:ext cx="564934" cy="17218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spTree>
    <p:extLst>
      <p:ext uri="{BB962C8B-B14F-4D97-AF65-F5344CB8AC3E}">
        <p14:creationId xmlns:p14="http://schemas.microsoft.com/office/powerpoint/2010/main" val="2820606134"/>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Préparer son environnement de travail</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Créer un environnement virtuel</a:t>
            </a:r>
          </a:p>
        </p:txBody>
      </p:sp>
      <p:grpSp>
        <p:nvGrpSpPr>
          <p:cNvPr id="5" name="Groupe 4">
            <a:extLst>
              <a:ext uri="{FF2B5EF4-FFF2-40B4-BE49-F238E27FC236}">
                <a16:creationId xmlns:a16="http://schemas.microsoft.com/office/drawing/2014/main" id="{D49C96EC-F4DE-40AD-993A-BB88CD47C0D3}"/>
              </a:ext>
            </a:extLst>
          </p:cNvPr>
          <p:cNvGrpSpPr/>
          <p:nvPr/>
        </p:nvGrpSpPr>
        <p:grpSpPr>
          <a:xfrm>
            <a:off x="1645298" y="1637372"/>
            <a:ext cx="3636677" cy="2450648"/>
            <a:chOff x="2193731" y="2183162"/>
            <a:chExt cx="4848902" cy="3267531"/>
          </a:xfrm>
        </p:grpSpPr>
        <p:pic>
          <p:nvPicPr>
            <p:cNvPr id="4" name="Image 3">
              <a:extLst>
                <a:ext uri="{FF2B5EF4-FFF2-40B4-BE49-F238E27FC236}">
                  <a16:creationId xmlns:a16="http://schemas.microsoft.com/office/drawing/2014/main" id="{632D044F-3509-435D-AD7C-D6ACFE4A50BD}"/>
                </a:ext>
              </a:extLst>
            </p:cNvPr>
            <p:cNvPicPr>
              <a:picLocks noChangeAspect="1"/>
            </p:cNvPicPr>
            <p:nvPr/>
          </p:nvPicPr>
          <p:blipFill>
            <a:blip r:embed="rId2"/>
            <a:stretch>
              <a:fillRect/>
            </a:stretch>
          </p:blipFill>
          <p:spPr>
            <a:xfrm>
              <a:off x="2193731" y="2183162"/>
              <a:ext cx="4848902" cy="3267531"/>
            </a:xfrm>
            <a:prstGeom prst="rect">
              <a:avLst/>
            </a:prstGeom>
            <a:ln w="19050">
              <a:noFill/>
            </a:ln>
          </p:spPr>
        </p:pic>
        <p:sp>
          <p:nvSpPr>
            <p:cNvPr id="8" name="Rectangle 7">
              <a:extLst>
                <a:ext uri="{FF2B5EF4-FFF2-40B4-BE49-F238E27FC236}">
                  <a16:creationId xmlns:a16="http://schemas.microsoft.com/office/drawing/2014/main" id="{42459AC9-8647-43E0-9079-C7B90C41DFDB}"/>
                </a:ext>
              </a:extLst>
            </p:cNvPr>
            <p:cNvSpPr/>
            <p:nvPr/>
          </p:nvSpPr>
          <p:spPr>
            <a:xfrm>
              <a:off x="2259981" y="3429000"/>
              <a:ext cx="1397619" cy="5334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9" name="Rectangle 8">
              <a:extLst>
                <a:ext uri="{FF2B5EF4-FFF2-40B4-BE49-F238E27FC236}">
                  <a16:creationId xmlns:a16="http://schemas.microsoft.com/office/drawing/2014/main" id="{29185235-31B6-4394-B501-7B34CD029183}"/>
                </a:ext>
              </a:extLst>
            </p:cNvPr>
            <p:cNvSpPr/>
            <p:nvPr/>
          </p:nvSpPr>
          <p:spPr>
            <a:xfrm>
              <a:off x="4102636" y="3314700"/>
              <a:ext cx="2824637" cy="5334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spTree>
    <p:extLst>
      <p:ext uri="{BB962C8B-B14F-4D97-AF65-F5344CB8AC3E}">
        <p14:creationId xmlns:p14="http://schemas.microsoft.com/office/powerpoint/2010/main" val="2901643296"/>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Préparer son environnement de travail</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Activer un environnement virtuel</a:t>
            </a:r>
          </a:p>
        </p:txBody>
      </p:sp>
      <p:grpSp>
        <p:nvGrpSpPr>
          <p:cNvPr id="5" name="Groupe 4">
            <a:extLst>
              <a:ext uri="{FF2B5EF4-FFF2-40B4-BE49-F238E27FC236}">
                <a16:creationId xmlns:a16="http://schemas.microsoft.com/office/drawing/2014/main" id="{4C4B5DD4-8878-4E08-B778-0ACE78BB4BD4}"/>
              </a:ext>
            </a:extLst>
          </p:cNvPr>
          <p:cNvGrpSpPr/>
          <p:nvPr/>
        </p:nvGrpSpPr>
        <p:grpSpPr>
          <a:xfrm>
            <a:off x="1622429" y="1637371"/>
            <a:ext cx="3701730" cy="2450648"/>
            <a:chOff x="2163238" y="2183161"/>
            <a:chExt cx="4935640" cy="3267531"/>
          </a:xfrm>
        </p:grpSpPr>
        <p:pic>
          <p:nvPicPr>
            <p:cNvPr id="4" name="Image 3">
              <a:extLst>
                <a:ext uri="{FF2B5EF4-FFF2-40B4-BE49-F238E27FC236}">
                  <a16:creationId xmlns:a16="http://schemas.microsoft.com/office/drawing/2014/main" id="{B0547BF9-CFF0-40C1-B2A1-C1F333F395F6}"/>
                </a:ext>
              </a:extLst>
            </p:cNvPr>
            <p:cNvPicPr>
              <a:picLocks noChangeAspect="1"/>
            </p:cNvPicPr>
            <p:nvPr/>
          </p:nvPicPr>
          <p:blipFill>
            <a:blip r:embed="rId2"/>
            <a:stretch>
              <a:fillRect/>
            </a:stretch>
          </p:blipFill>
          <p:spPr>
            <a:xfrm>
              <a:off x="2163238" y="2183161"/>
              <a:ext cx="4935640" cy="3267531"/>
            </a:xfrm>
            <a:prstGeom prst="rect">
              <a:avLst/>
            </a:prstGeom>
          </p:spPr>
        </p:pic>
        <p:sp>
          <p:nvSpPr>
            <p:cNvPr id="12" name="Rectangle 11">
              <a:extLst>
                <a:ext uri="{FF2B5EF4-FFF2-40B4-BE49-F238E27FC236}">
                  <a16:creationId xmlns:a16="http://schemas.microsoft.com/office/drawing/2014/main" id="{8D59954E-A7FF-49AC-BAD7-DC0FA8DE3B06}"/>
                </a:ext>
              </a:extLst>
            </p:cNvPr>
            <p:cNvSpPr/>
            <p:nvPr/>
          </p:nvSpPr>
          <p:spPr>
            <a:xfrm>
              <a:off x="4227326" y="4805218"/>
              <a:ext cx="2871552" cy="64547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Tree>
    <p:extLst>
      <p:ext uri="{BB962C8B-B14F-4D97-AF65-F5344CB8AC3E}">
        <p14:creationId xmlns:p14="http://schemas.microsoft.com/office/powerpoint/2010/main" val="1765986747"/>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375293"/>
          </a:xfrm>
        </p:spPr>
        <p:txBody>
          <a:bodyPr>
            <a:normAutofit/>
          </a:bodyPr>
          <a:lstStyle/>
          <a:p>
            <a:pPr lvl="1" algn="just">
              <a:lnSpc>
                <a:spcPct val="150000"/>
              </a:lnSpc>
              <a:buClr>
                <a:schemeClr val="accent2"/>
              </a:buClr>
            </a:pPr>
            <a:r>
              <a:rPr lang="fr-FR" b="1" dirty="0"/>
              <a:t>Notebook :</a:t>
            </a:r>
            <a:r>
              <a:rPr lang="fr-FR" dirty="0"/>
              <a:t> Interface utilisateur web qui permet de combiner du texte, du code exécutable, des visualisations et d'autres éléments interactifs dans un seul document.</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Préparer son environnement de travail</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Installer </a:t>
            </a:r>
            <a:r>
              <a:rPr lang="fr-FR" sz="1800" b="0" dirty="0" err="1"/>
              <a:t>Jupyter</a:t>
            </a:r>
            <a:r>
              <a:rPr lang="fr-FR" sz="1800" b="0" dirty="0"/>
              <a:t> Notebook</a:t>
            </a:r>
          </a:p>
        </p:txBody>
      </p:sp>
    </p:spTree>
    <p:extLst>
      <p:ext uri="{BB962C8B-B14F-4D97-AF65-F5344CB8AC3E}">
        <p14:creationId xmlns:p14="http://schemas.microsoft.com/office/powerpoint/2010/main" val="426194140"/>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Préparer son environnement de travail</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Installer </a:t>
            </a:r>
            <a:r>
              <a:rPr lang="fr-FR" sz="1800" b="0" dirty="0" err="1"/>
              <a:t>Jupyter</a:t>
            </a:r>
            <a:r>
              <a:rPr lang="fr-FR" sz="1800" b="0" dirty="0"/>
              <a:t> Notebook</a:t>
            </a:r>
          </a:p>
        </p:txBody>
      </p:sp>
      <p:grpSp>
        <p:nvGrpSpPr>
          <p:cNvPr id="7" name="Groupe 6">
            <a:extLst>
              <a:ext uri="{FF2B5EF4-FFF2-40B4-BE49-F238E27FC236}">
                <a16:creationId xmlns:a16="http://schemas.microsoft.com/office/drawing/2014/main" id="{BD96CBAE-FB38-44B9-8181-958D3988B475}"/>
              </a:ext>
            </a:extLst>
          </p:cNvPr>
          <p:cNvGrpSpPr/>
          <p:nvPr/>
        </p:nvGrpSpPr>
        <p:grpSpPr>
          <a:xfrm>
            <a:off x="996054" y="1578877"/>
            <a:ext cx="7151892" cy="3107965"/>
            <a:chOff x="1328072" y="2105169"/>
            <a:chExt cx="9535856" cy="4143953"/>
          </a:xfrm>
        </p:grpSpPr>
        <p:pic>
          <p:nvPicPr>
            <p:cNvPr id="4" name="Image 3">
              <a:extLst>
                <a:ext uri="{FF2B5EF4-FFF2-40B4-BE49-F238E27FC236}">
                  <a16:creationId xmlns:a16="http://schemas.microsoft.com/office/drawing/2014/main" id="{629AC3D7-1BF6-4547-9C40-734A7487A221}"/>
                </a:ext>
              </a:extLst>
            </p:cNvPr>
            <p:cNvPicPr>
              <a:picLocks noChangeAspect="1"/>
            </p:cNvPicPr>
            <p:nvPr/>
          </p:nvPicPr>
          <p:blipFill>
            <a:blip r:embed="rId2"/>
            <a:stretch>
              <a:fillRect/>
            </a:stretch>
          </p:blipFill>
          <p:spPr>
            <a:xfrm>
              <a:off x="1328072" y="2105169"/>
              <a:ext cx="9535856" cy="4143953"/>
            </a:xfrm>
            <a:prstGeom prst="rect">
              <a:avLst/>
            </a:prstGeom>
          </p:spPr>
        </p:pic>
        <p:sp>
          <p:nvSpPr>
            <p:cNvPr id="9" name="Rectangle 8">
              <a:extLst>
                <a:ext uri="{FF2B5EF4-FFF2-40B4-BE49-F238E27FC236}">
                  <a16:creationId xmlns:a16="http://schemas.microsoft.com/office/drawing/2014/main" id="{96E447C4-E6FB-4BE0-B473-B2A053C0F88B}"/>
                </a:ext>
              </a:extLst>
            </p:cNvPr>
            <p:cNvSpPr/>
            <p:nvPr/>
          </p:nvSpPr>
          <p:spPr>
            <a:xfrm>
              <a:off x="8405090" y="3428999"/>
              <a:ext cx="2458837" cy="275012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0" name="Rectangle 9">
              <a:extLst>
                <a:ext uri="{FF2B5EF4-FFF2-40B4-BE49-F238E27FC236}">
                  <a16:creationId xmlns:a16="http://schemas.microsoft.com/office/drawing/2014/main" id="{C0EF86AC-CE8C-46A6-B2F0-C2A2A269013E}"/>
                </a:ext>
              </a:extLst>
            </p:cNvPr>
            <p:cNvSpPr/>
            <p:nvPr/>
          </p:nvSpPr>
          <p:spPr>
            <a:xfrm>
              <a:off x="1328072" y="2783525"/>
              <a:ext cx="1876946" cy="57851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Tree>
    <p:extLst>
      <p:ext uri="{BB962C8B-B14F-4D97-AF65-F5344CB8AC3E}">
        <p14:creationId xmlns:p14="http://schemas.microsoft.com/office/powerpoint/2010/main" val="839134697"/>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Préparer son environnement de travail</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Installer </a:t>
            </a:r>
            <a:r>
              <a:rPr lang="fr-FR" sz="1800" b="0" dirty="0" err="1"/>
              <a:t>TensorFlow</a:t>
            </a:r>
            <a:endParaRPr lang="fr-FR" sz="1800" b="0" dirty="0"/>
          </a:p>
        </p:txBody>
      </p:sp>
      <p:pic>
        <p:nvPicPr>
          <p:cNvPr id="4" name="Image 3">
            <a:extLst>
              <a:ext uri="{FF2B5EF4-FFF2-40B4-BE49-F238E27FC236}">
                <a16:creationId xmlns:a16="http://schemas.microsoft.com/office/drawing/2014/main" id="{A9AF4810-3D34-4132-BB7F-4371AD72F6A3}"/>
              </a:ext>
            </a:extLst>
          </p:cNvPr>
          <p:cNvPicPr>
            <a:picLocks noChangeAspect="1"/>
          </p:cNvPicPr>
          <p:nvPr/>
        </p:nvPicPr>
        <p:blipFill>
          <a:blip r:embed="rId2"/>
          <a:stretch>
            <a:fillRect/>
          </a:stretch>
        </p:blipFill>
        <p:spPr>
          <a:xfrm>
            <a:off x="3114472" y="1746068"/>
            <a:ext cx="2915057" cy="543001"/>
          </a:xfrm>
          <a:prstGeom prst="rect">
            <a:avLst/>
          </a:prstGeom>
        </p:spPr>
      </p:pic>
      <p:pic>
        <p:nvPicPr>
          <p:cNvPr id="5" name="Image 4">
            <a:extLst>
              <a:ext uri="{FF2B5EF4-FFF2-40B4-BE49-F238E27FC236}">
                <a16:creationId xmlns:a16="http://schemas.microsoft.com/office/drawing/2014/main" id="{1B3D6111-14C8-4731-9F82-4BEA793FB094}"/>
              </a:ext>
            </a:extLst>
          </p:cNvPr>
          <p:cNvPicPr>
            <a:picLocks noChangeAspect="1"/>
          </p:cNvPicPr>
          <p:nvPr/>
        </p:nvPicPr>
        <p:blipFill>
          <a:blip r:embed="rId3"/>
          <a:stretch>
            <a:fillRect/>
          </a:stretch>
        </p:blipFill>
        <p:spPr>
          <a:xfrm>
            <a:off x="3114472" y="2791267"/>
            <a:ext cx="2915057" cy="500132"/>
          </a:xfrm>
          <a:prstGeom prst="rect">
            <a:avLst/>
          </a:prstGeom>
        </p:spPr>
      </p:pic>
      <p:pic>
        <p:nvPicPr>
          <p:cNvPr id="7" name="Image 6">
            <a:extLst>
              <a:ext uri="{FF2B5EF4-FFF2-40B4-BE49-F238E27FC236}">
                <a16:creationId xmlns:a16="http://schemas.microsoft.com/office/drawing/2014/main" id="{57FF1613-A51C-4546-94C1-4049E0C7B0B5}"/>
              </a:ext>
            </a:extLst>
          </p:cNvPr>
          <p:cNvPicPr>
            <a:picLocks noChangeAspect="1"/>
          </p:cNvPicPr>
          <p:nvPr/>
        </p:nvPicPr>
        <p:blipFill>
          <a:blip r:embed="rId4"/>
          <a:stretch>
            <a:fillRect/>
          </a:stretch>
        </p:blipFill>
        <p:spPr>
          <a:xfrm>
            <a:off x="3407407" y="3793598"/>
            <a:ext cx="2329187" cy="585869"/>
          </a:xfrm>
          <a:prstGeom prst="rect">
            <a:avLst/>
          </a:prstGeom>
        </p:spPr>
      </p:pic>
    </p:spTree>
    <p:extLst>
      <p:ext uri="{BB962C8B-B14F-4D97-AF65-F5344CB8AC3E}">
        <p14:creationId xmlns:p14="http://schemas.microsoft.com/office/powerpoint/2010/main" val="2165127071"/>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03. Prérequis au </a:t>
            </a:r>
            <a:br>
              <a:rPr lang="fr-FR" dirty="0"/>
            </a:br>
            <a:r>
              <a:rPr lang="fr-FR" dirty="0" err="1"/>
              <a:t>Deep</a:t>
            </a:r>
            <a:r>
              <a:rPr lang="fr-FR" dirty="0"/>
              <a:t> Learning</a:t>
            </a:r>
          </a:p>
        </p:txBody>
      </p:sp>
    </p:spTree>
    <p:extLst>
      <p:ext uri="{BB962C8B-B14F-4D97-AF65-F5344CB8AC3E}">
        <p14:creationId xmlns:p14="http://schemas.microsoft.com/office/powerpoint/2010/main" val="278539881"/>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697745" y="1640454"/>
            <a:ext cx="6054268" cy="3255562"/>
          </a:xfrm>
        </p:spPr>
        <p:txBody>
          <a:bodyPr>
            <a:noAutofit/>
          </a:bodyPr>
          <a:lstStyle/>
          <a:p>
            <a:pPr lvl="1" algn="just">
              <a:lnSpc>
                <a:spcPct val="100000"/>
              </a:lnSpc>
              <a:buClr>
                <a:schemeClr val="accent2"/>
              </a:buClr>
            </a:pPr>
            <a:r>
              <a:rPr lang="fr-FR" sz="2000" dirty="0"/>
              <a:t>Réseaux de neurones à propagation avant</a:t>
            </a:r>
            <a:endParaRPr lang="fr-FR" sz="2000" dirty="0">
              <a:solidFill>
                <a:schemeClr val="bg1">
                  <a:lumMod val="65000"/>
                </a:schemeClr>
              </a:solidFill>
            </a:endParaRPr>
          </a:p>
          <a:p>
            <a:pPr lvl="2" algn="just">
              <a:lnSpc>
                <a:spcPct val="100000"/>
              </a:lnSpc>
              <a:buClr>
                <a:schemeClr val="accent2"/>
              </a:buClr>
            </a:pPr>
            <a:r>
              <a:rPr lang="fr-FR" sz="1800" dirty="0"/>
              <a:t>Perceptrons</a:t>
            </a:r>
          </a:p>
          <a:p>
            <a:pPr lvl="2" algn="just">
              <a:lnSpc>
                <a:spcPct val="100000"/>
              </a:lnSpc>
              <a:buClr>
                <a:schemeClr val="accent2"/>
              </a:buClr>
            </a:pPr>
            <a:r>
              <a:rPr lang="fr-FR" sz="1800" dirty="0"/>
              <a:t>Fonctions de perte d’entropie croisée</a:t>
            </a:r>
          </a:p>
          <a:p>
            <a:pPr lvl="2" algn="just">
              <a:lnSpc>
                <a:spcPct val="100000"/>
              </a:lnSpc>
              <a:buClr>
                <a:schemeClr val="accent2"/>
              </a:buClr>
            </a:pPr>
            <a:r>
              <a:rPr lang="fr-FR" sz="1800" dirty="0"/>
              <a:t>Dérivées et descente de gradient stochastique</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p:txBody>
          <a:bodyPr>
            <a:normAutofit/>
          </a:bodyPr>
          <a:lstStyle/>
          <a:p>
            <a:r>
              <a:rPr lang="fr-FR" sz="3000" dirty="0"/>
              <a:t>03 – Prérequis au </a:t>
            </a:r>
            <a:r>
              <a:rPr lang="fr-FR" sz="3000" dirty="0" err="1"/>
              <a:t>Deep</a:t>
            </a:r>
            <a:r>
              <a:rPr lang="fr-FR" sz="3000" dirty="0"/>
              <a:t> Learning</a:t>
            </a:r>
            <a:endParaRPr lang="fr-FR" sz="3000" b="0" dirty="0"/>
          </a:p>
        </p:txBody>
      </p:sp>
      <p:sp>
        <p:nvSpPr>
          <p:cNvPr id="6" name="Title 13">
            <a:extLst>
              <a:ext uri="{FF2B5EF4-FFF2-40B4-BE49-F238E27FC236}">
                <a16:creationId xmlns:a16="http://schemas.microsoft.com/office/drawing/2014/main" id="{26FB5BC2-8F0B-4B26-9FBE-1DC2855015B1}"/>
              </a:ext>
            </a:extLst>
          </p:cNvPr>
          <p:cNvSpPr txBox="1">
            <a:spLocks/>
          </p:cNvSpPr>
          <p:nvPr/>
        </p:nvSpPr>
        <p:spPr>
          <a:xfrm>
            <a:off x="389008" y="1172095"/>
            <a:ext cx="6581213" cy="2761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dirty="0"/>
              <a:t>Partie 3 – Prérequis au </a:t>
            </a:r>
            <a:r>
              <a:rPr lang="fr-FR" sz="1500" dirty="0" err="1"/>
              <a:t>Deep</a:t>
            </a:r>
            <a:r>
              <a:rPr lang="fr-FR" sz="1500" dirty="0"/>
              <a:t> Learning</a:t>
            </a:r>
            <a:endParaRPr lang="fr-FR" sz="1500" b="0" dirty="0"/>
          </a:p>
        </p:txBody>
      </p:sp>
    </p:spTree>
    <p:extLst>
      <p:ext uri="{BB962C8B-B14F-4D97-AF65-F5344CB8AC3E}">
        <p14:creationId xmlns:p14="http://schemas.microsoft.com/office/powerpoint/2010/main" val="2696048867"/>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34800" y="1634195"/>
                <a:ext cx="6743902" cy="3373994"/>
              </a:xfrm>
            </p:spPr>
            <p:txBody>
              <a:bodyPr>
                <a:normAutofit/>
              </a:bodyPr>
              <a:lstStyle/>
              <a:p>
                <a:pPr lvl="1" algn="just">
                  <a:lnSpc>
                    <a:spcPct val="150000"/>
                  </a:lnSpc>
                  <a:buClr>
                    <a:schemeClr val="accent2"/>
                  </a:buClr>
                </a:pPr>
                <a:r>
                  <a:rPr lang="fr-FR" sz="1200" dirty="0"/>
                  <a:t>Les perceptrons (1957, Frank </a:t>
                </a:r>
                <a:r>
                  <a:rPr lang="fr-FR" sz="1200" dirty="0" err="1"/>
                  <a:t>Rosenblatt</a:t>
                </a:r>
                <a:r>
                  <a:rPr lang="fr-FR" sz="1200" dirty="0"/>
                  <a:t>) sont une modélisation informatique simple des neurones.</a:t>
                </a:r>
              </a:p>
              <a:p>
                <a:pPr lvl="1" algn="just">
                  <a:lnSpc>
                    <a:spcPct val="150000"/>
                  </a:lnSpc>
                  <a:buClr>
                    <a:schemeClr val="accent2"/>
                  </a:buClr>
                </a:pPr>
                <a:r>
                  <a:rPr lang="fr-FR" sz="1200" dirty="0"/>
                  <a:t>Un neurone humain comporte plusieurs entrées (dendrites), un corps de cellule et une seule sortie (axone).</a:t>
                </a:r>
              </a:p>
              <a:p>
                <a:pPr lvl="1" algn="just">
                  <a:lnSpc>
                    <a:spcPct val="150000"/>
                  </a:lnSpc>
                  <a:buClr>
                    <a:schemeClr val="accent2"/>
                  </a:buClr>
                </a:pPr>
                <a:r>
                  <a:rPr lang="fr-FR" sz="1200" dirty="0"/>
                  <a:t>De même, le perceptron informatique reçoit de nombreuses entrées et possède une seule sortie.</a:t>
                </a:r>
              </a:p>
              <a:p>
                <a:pPr lvl="1" algn="just">
                  <a:lnSpc>
                    <a:spcPct val="150000"/>
                  </a:lnSpc>
                  <a:buClr>
                    <a:schemeClr val="accent2"/>
                  </a:buClr>
                </a:pPr>
                <a:r>
                  <a:rPr lang="fr-FR" sz="1200" dirty="0"/>
                  <a:t>Par exemple, on peut créer un programme qui décidera si une image est un 0 ou non (problème de classification binaire).</a:t>
                </a:r>
              </a:p>
              <a:p>
                <a:pPr lvl="1" algn="just">
                  <a:lnSpc>
                    <a:spcPct val="150000"/>
                  </a:lnSpc>
                  <a:buClr>
                    <a:schemeClr val="accent2"/>
                  </a:buClr>
                </a:pPr>
                <a:r>
                  <a:rPr lang="fr-FR" sz="1200" dirty="0"/>
                  <a:t>Pour y répondre, un perceptron simple qui se base sur une image </a:t>
                </a:r>
                <a14:m>
                  <m:oMath xmlns:m="http://schemas.openxmlformats.org/officeDocument/2006/math">
                    <m:r>
                      <a:rPr lang="fr-FR" sz="1200" b="0" i="1" smtClean="0">
                        <a:latin typeface="Cambria Math" panose="02040503050406030204" pitchFamily="18" charset="0"/>
                      </a:rPr>
                      <m:t>28</m:t>
                    </m:r>
                    <m:r>
                      <a:rPr lang="fr-FR" sz="1200" b="0" i="1" smtClean="0">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rPr>
                      <m:t>28</m:t>
                    </m:r>
                  </m:oMath>
                </a14:m>
                <a:r>
                  <a:rPr lang="fr-FR" sz="1200" dirty="0"/>
                  <a:t> aurait 784 entrées, une par pixel, et une sortie.</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34800" y="1634195"/>
                <a:ext cx="6743902" cy="3373994"/>
              </a:xfrm>
              <a:blipFill>
                <a:blip r:embed="rId2"/>
                <a:stretch>
                  <a:fillRect r="-1356"/>
                </a:stretch>
              </a:blipFill>
            </p:spPr>
            <p:txBody>
              <a:bodyPr/>
              <a:lstStyle/>
              <a:p>
                <a:r>
                  <a:rPr lang="fr-FR">
                    <a:noFill/>
                  </a:rPr>
                  <a:t> </a:t>
                </a:r>
              </a:p>
            </p:txBody>
          </p:sp>
        </mc:Fallback>
      </mc:AlternateContent>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100" dirty="0"/>
              <a:t>03 – Prérequis au DL : réseaux de neurones à propagation </a:t>
            </a:r>
            <a:r>
              <a:rPr lang="fr-FR" sz="1800" dirty="0"/>
              <a:t>avant</a:t>
            </a:r>
            <a:endParaRPr lang="fr-FR" sz="21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973706"/>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Perceptrons</a:t>
            </a:r>
          </a:p>
        </p:txBody>
      </p:sp>
    </p:spTree>
    <p:extLst>
      <p:ext uri="{BB962C8B-B14F-4D97-AF65-F5344CB8AC3E}">
        <p14:creationId xmlns:p14="http://schemas.microsoft.com/office/powerpoint/2010/main" val="854956426"/>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000" dirty="0"/>
              <a:t>03 – Prérequis au DL : réseaux de neurones à propagation avant</a:t>
            </a:r>
            <a:endParaRPr lang="fr-FR" sz="20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Perceptrons</a:t>
            </a:r>
          </a:p>
        </p:txBody>
      </p:sp>
      <p:pic>
        <p:nvPicPr>
          <p:cNvPr id="4" name="Image 3">
            <a:extLst>
              <a:ext uri="{FF2B5EF4-FFF2-40B4-BE49-F238E27FC236}">
                <a16:creationId xmlns:a16="http://schemas.microsoft.com/office/drawing/2014/main" id="{0C081D2D-3264-42DC-8287-E3795E1C4223}"/>
              </a:ext>
            </a:extLst>
          </p:cNvPr>
          <p:cNvPicPr>
            <a:picLocks noChangeAspect="1"/>
          </p:cNvPicPr>
          <p:nvPr/>
        </p:nvPicPr>
        <p:blipFill>
          <a:blip r:embed="rId2"/>
          <a:stretch>
            <a:fillRect/>
          </a:stretch>
        </p:blipFill>
        <p:spPr>
          <a:xfrm>
            <a:off x="2356665" y="1783497"/>
            <a:ext cx="3322307" cy="2407780"/>
          </a:xfrm>
          <a:prstGeom prst="rect">
            <a:avLst/>
          </a:prstGeom>
        </p:spPr>
      </p:pic>
      <p:sp>
        <p:nvSpPr>
          <p:cNvPr id="5" name="Légende : flèche courbée sans bordure 4">
            <a:extLst>
              <a:ext uri="{FF2B5EF4-FFF2-40B4-BE49-F238E27FC236}">
                <a16:creationId xmlns:a16="http://schemas.microsoft.com/office/drawing/2014/main" id="{45CBCA34-F7C9-4464-A5A9-B52EC12B776F}"/>
              </a:ext>
            </a:extLst>
          </p:cNvPr>
          <p:cNvSpPr/>
          <p:nvPr/>
        </p:nvSpPr>
        <p:spPr>
          <a:xfrm>
            <a:off x="498764" y="4509507"/>
            <a:ext cx="1219200" cy="413741"/>
          </a:xfrm>
          <a:prstGeom prst="callout2">
            <a:avLst>
              <a:gd name="adj1" fmla="val 11983"/>
              <a:gd name="adj2" fmla="val 106183"/>
              <a:gd name="adj3" fmla="val 11983"/>
              <a:gd name="adj4" fmla="val 131182"/>
              <a:gd name="adj5" fmla="val -84593"/>
              <a:gd name="adj6" fmla="val 16748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dirty="0">
                <a:solidFill>
                  <a:schemeClr val="tx1">
                    <a:lumMod val="50000"/>
                  </a:schemeClr>
                </a:solidFill>
              </a:rPr>
              <a:t>Multiples entrées</a:t>
            </a:r>
          </a:p>
        </p:txBody>
      </p:sp>
      <p:sp>
        <p:nvSpPr>
          <p:cNvPr id="9" name="Légende : flèche courbée sans bordure 8">
            <a:extLst>
              <a:ext uri="{FF2B5EF4-FFF2-40B4-BE49-F238E27FC236}">
                <a16:creationId xmlns:a16="http://schemas.microsoft.com/office/drawing/2014/main" id="{3C24DF2C-BC36-41EE-B3C4-52A1A57D9C7E}"/>
              </a:ext>
            </a:extLst>
          </p:cNvPr>
          <p:cNvSpPr/>
          <p:nvPr/>
        </p:nvSpPr>
        <p:spPr>
          <a:xfrm>
            <a:off x="2978727" y="4436770"/>
            <a:ext cx="1219200" cy="413741"/>
          </a:xfrm>
          <a:prstGeom prst="callout2">
            <a:avLst>
              <a:gd name="adj1" fmla="val 11983"/>
              <a:gd name="adj2" fmla="val 106183"/>
              <a:gd name="adj3" fmla="val 11983"/>
              <a:gd name="adj4" fmla="val 131182"/>
              <a:gd name="adj5" fmla="val -318996"/>
              <a:gd name="adj6" fmla="val 15612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dirty="0">
                <a:solidFill>
                  <a:schemeClr val="tx1">
                    <a:lumMod val="50000"/>
                  </a:schemeClr>
                </a:solidFill>
              </a:rPr>
              <a:t>Neurone</a:t>
            </a:r>
          </a:p>
        </p:txBody>
      </p:sp>
      <p:sp>
        <p:nvSpPr>
          <p:cNvPr id="10" name="Légende : flèche courbée sans bordure 9">
            <a:extLst>
              <a:ext uri="{FF2B5EF4-FFF2-40B4-BE49-F238E27FC236}">
                <a16:creationId xmlns:a16="http://schemas.microsoft.com/office/drawing/2014/main" id="{19240C55-A618-4854-87A8-5986C3859035}"/>
              </a:ext>
            </a:extLst>
          </p:cNvPr>
          <p:cNvSpPr/>
          <p:nvPr/>
        </p:nvSpPr>
        <p:spPr>
          <a:xfrm>
            <a:off x="6168737" y="4273832"/>
            <a:ext cx="1219200" cy="413741"/>
          </a:xfrm>
          <a:prstGeom prst="callout2">
            <a:avLst>
              <a:gd name="adj1" fmla="val 23703"/>
              <a:gd name="adj2" fmla="val 2206"/>
              <a:gd name="adj3" fmla="val 25377"/>
              <a:gd name="adj4" fmla="val -12000"/>
              <a:gd name="adj5" fmla="val -320670"/>
              <a:gd name="adj6" fmla="val -5353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dirty="0">
                <a:solidFill>
                  <a:schemeClr val="tx1">
                    <a:lumMod val="50000"/>
                  </a:schemeClr>
                </a:solidFill>
              </a:rPr>
              <a:t>Sortie</a:t>
            </a:r>
          </a:p>
        </p:txBody>
      </p:sp>
    </p:spTree>
    <p:extLst>
      <p:ext uri="{BB962C8B-B14F-4D97-AF65-F5344CB8AC3E}">
        <p14:creationId xmlns:p14="http://schemas.microsoft.com/office/powerpoint/2010/main" val="3931163198"/>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145726" cy="3373994"/>
          </a:xfrm>
        </p:spPr>
        <p:txBody>
          <a:bodyPr>
            <a:normAutofit/>
          </a:bodyPr>
          <a:lstStyle/>
          <a:p>
            <a:pPr lvl="1" algn="just">
              <a:lnSpc>
                <a:spcPct val="150000"/>
              </a:lnSpc>
              <a:buClr>
                <a:schemeClr val="accent2"/>
              </a:buClr>
            </a:pPr>
            <a:r>
              <a:rPr lang="fr-FR" sz="2000" dirty="0"/>
              <a:t>Deux petites questions : </a:t>
            </a:r>
          </a:p>
          <a:p>
            <a:pPr lvl="2" algn="just">
              <a:lnSpc>
                <a:spcPct val="150000"/>
              </a:lnSpc>
              <a:buClr>
                <a:schemeClr val="accent2"/>
              </a:buClr>
            </a:pPr>
            <a:r>
              <a:rPr lang="fr-FR" sz="1800" i="1" dirty="0"/>
              <a:t>À quoi reconnait-on un tigre ?</a:t>
            </a:r>
          </a:p>
          <a:p>
            <a:pPr lvl="2" algn="just">
              <a:lnSpc>
                <a:spcPct val="150000"/>
              </a:lnSpc>
              <a:buClr>
                <a:schemeClr val="accent2"/>
              </a:buClr>
            </a:pPr>
            <a:r>
              <a:rPr lang="fr-FR" sz="1800" i="1" dirty="0"/>
              <a:t>Comment faites-vous la différence entre un lapin et un lièvre ?</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000" dirty="0"/>
              <a:t>03 – Prérequis au DL : réseaux de neurones à propagation avant</a:t>
            </a:r>
            <a:endParaRPr lang="fr-FR" sz="20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Perceptrons : fonctionnement</a:t>
            </a:r>
          </a:p>
        </p:txBody>
      </p:sp>
    </p:spTree>
    <p:extLst>
      <p:ext uri="{BB962C8B-B14F-4D97-AF65-F5344CB8AC3E}">
        <p14:creationId xmlns:p14="http://schemas.microsoft.com/office/powerpoint/2010/main" val="1738621938"/>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145726" cy="3373994"/>
              </a:xfrm>
            </p:spPr>
            <p:txBody>
              <a:bodyPr>
                <a:normAutofit fontScale="62500" lnSpcReduction="20000"/>
              </a:bodyPr>
              <a:lstStyle/>
              <a:p>
                <a:pPr lvl="1" algn="just">
                  <a:lnSpc>
                    <a:spcPct val="150000"/>
                  </a:lnSpc>
                  <a:buClr>
                    <a:schemeClr val="accent2"/>
                  </a:buClr>
                </a:pPr>
                <a:r>
                  <a:rPr lang="fr-FR" dirty="0"/>
                  <a:t>Un perceptron prend un vecteur d’entrée </a:t>
                </a:r>
                <a14:m>
                  <m:oMath xmlns:m="http://schemas.openxmlformats.org/officeDocument/2006/math">
                    <m:r>
                      <a:rPr lang="fr-FR" b="0" i="1" smtClean="0">
                        <a:latin typeface="Cambria Math" panose="02040503050406030204" pitchFamily="18" charset="0"/>
                      </a:rPr>
                      <m:t>𝑥</m:t>
                    </m:r>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𝑥</m:t>
                        </m:r>
                      </m:e>
                      <m:sub>
                        <m:r>
                          <a:rPr lang="fr-FR" b="0" i="1" smtClean="0">
                            <a:latin typeface="Cambria Math" panose="02040503050406030204" pitchFamily="18" charset="0"/>
                          </a:rPr>
                          <m:t>1</m:t>
                        </m:r>
                      </m:sub>
                    </m:sSub>
                    <m:r>
                      <a:rPr lang="fr-FR" b="0" i="1" smtClean="0">
                        <a:latin typeface="Cambria Math" panose="02040503050406030204" pitchFamily="18" charset="0"/>
                      </a:rPr>
                      <m:t>,</m:t>
                    </m:r>
                    <m:sSub>
                      <m:sSubPr>
                        <m:ctrlPr>
                          <a:rPr lang="fr-FR" i="1">
                            <a:latin typeface="Cambria Math" panose="02040503050406030204" pitchFamily="18" charset="0"/>
                          </a:rPr>
                        </m:ctrlPr>
                      </m:sSubPr>
                      <m:e>
                        <m:r>
                          <a:rPr lang="fr-FR" b="0" i="1" smtClean="0">
                            <a:latin typeface="Cambria Math" panose="02040503050406030204" pitchFamily="18" charset="0"/>
                          </a:rPr>
                          <m:t>𝑥</m:t>
                        </m:r>
                      </m:e>
                      <m:sub>
                        <m:r>
                          <a:rPr lang="fr-FR" b="0" i="1" smtClean="0">
                            <a:latin typeface="Cambria Math" panose="02040503050406030204" pitchFamily="18" charset="0"/>
                          </a:rPr>
                          <m:t>2</m:t>
                        </m:r>
                      </m:sub>
                    </m:sSub>
                    <m:r>
                      <a:rPr lang="fr-FR" i="1">
                        <a:latin typeface="Cambria Math" panose="02040503050406030204" pitchFamily="18" charset="0"/>
                      </a:rPr>
                      <m:t>,</m:t>
                    </m:r>
                    <m:r>
                      <a:rPr lang="fr-FR" b="0" i="1" smtClean="0">
                        <a:latin typeface="Cambria Math" panose="02040503050406030204" pitchFamily="18" charset="0"/>
                      </a:rPr>
                      <m:t>…,</m:t>
                    </m:r>
                    <m:sSub>
                      <m:sSubPr>
                        <m:ctrlPr>
                          <a:rPr lang="fr-FR" i="1">
                            <a:latin typeface="Cambria Math" panose="02040503050406030204" pitchFamily="18" charset="0"/>
                          </a:rPr>
                        </m:ctrlPr>
                      </m:sSubPr>
                      <m:e>
                        <m:r>
                          <a:rPr lang="fr-FR" b="0" i="1" smtClean="0">
                            <a:latin typeface="Cambria Math" panose="02040503050406030204" pitchFamily="18" charset="0"/>
                          </a:rPr>
                          <m:t>𝑥</m:t>
                        </m:r>
                      </m:e>
                      <m:sub>
                        <m:r>
                          <a:rPr lang="fr-FR" b="0" i="1" smtClean="0">
                            <a:latin typeface="Cambria Math" panose="02040503050406030204" pitchFamily="18" charset="0"/>
                          </a:rPr>
                          <m:t>𝑛</m:t>
                        </m:r>
                      </m:sub>
                    </m:sSub>
                    <m:r>
                      <a:rPr lang="fr-FR" i="1">
                        <a:latin typeface="Cambria Math" panose="02040503050406030204" pitchFamily="18" charset="0"/>
                      </a:rPr>
                      <m:t>,</m:t>
                    </m:r>
                    <m:r>
                      <a:rPr lang="fr-FR" b="0" i="1" smtClean="0">
                        <a:latin typeface="Cambria Math" panose="02040503050406030204" pitchFamily="18" charset="0"/>
                      </a:rPr>
                      <m:t>)</m:t>
                    </m:r>
                  </m:oMath>
                </a14:m>
                <a:r>
                  <a:rPr lang="fr-FR" dirty="0"/>
                  <a:t>.</a:t>
                </a:r>
              </a:p>
              <a:p>
                <a:pPr lvl="1" algn="just">
                  <a:lnSpc>
                    <a:spcPct val="150000"/>
                  </a:lnSpc>
                  <a:buClr>
                    <a:schemeClr val="accent2"/>
                  </a:buClr>
                </a:pPr>
                <a14:m>
                  <m:oMath xmlns:m="http://schemas.openxmlformats.org/officeDocument/2006/math">
                    <m:r>
                      <a:rPr lang="fr-FR" i="1">
                        <a:latin typeface="Cambria Math" panose="02040503050406030204" pitchFamily="18" charset="0"/>
                      </a:rPr>
                      <m:t>𝑥</m:t>
                    </m:r>
                  </m:oMath>
                </a14:m>
                <a:r>
                  <a:rPr lang="fr-FR" dirty="0"/>
                  <a:t> peut être l’image d’un tigre </a:t>
                </a:r>
                <a14:m>
                  <m:oMath xmlns:m="http://schemas.openxmlformats.org/officeDocument/2006/math">
                    <m:r>
                      <a:rPr lang="fr-FR" i="1">
                        <a:latin typeface="Cambria Math" panose="02040503050406030204" pitchFamily="18" charset="0"/>
                      </a:rPr>
                      <m:t>28</m:t>
                    </m:r>
                    <m:r>
                      <a:rPr lang="fr-FR" i="1">
                        <a:latin typeface="Cambria Math" panose="02040503050406030204" pitchFamily="18" charset="0"/>
                        <a:ea typeface="Cambria Math" panose="02040503050406030204" pitchFamily="18" charset="0"/>
                      </a:rPr>
                      <m:t>×</m:t>
                    </m:r>
                    <m:r>
                      <a:rPr lang="fr-FR" i="1">
                        <a:latin typeface="Cambria Math" panose="02040503050406030204" pitchFamily="18" charset="0"/>
                      </a:rPr>
                      <m:t>28</m:t>
                    </m:r>
                  </m:oMath>
                </a14:m>
                <a:r>
                  <a:rPr lang="fr-FR" dirty="0"/>
                  <a:t> par exemple.</a:t>
                </a:r>
              </a:p>
              <a:p>
                <a:pPr lvl="1" algn="just">
                  <a:lnSpc>
                    <a:spcPct val="150000"/>
                  </a:lnSpc>
                  <a:buClr>
                    <a:schemeClr val="accent2"/>
                  </a:buClr>
                </a:pPr>
                <a:r>
                  <a:rPr lang="fr-FR" dirty="0"/>
                  <a:t>Chaque </a:t>
                </a:r>
                <a14:m>
                  <m:oMath xmlns:m="http://schemas.openxmlformats.org/officeDocument/2006/math">
                    <m:sSub>
                      <m:sSubPr>
                        <m:ctrlPr>
                          <a:rPr lang="fr-FR" i="1">
                            <a:latin typeface="Cambria Math" panose="02040503050406030204" pitchFamily="18" charset="0"/>
                          </a:rPr>
                        </m:ctrlPr>
                      </m:sSubPr>
                      <m:e>
                        <m:r>
                          <a:rPr lang="fr-FR" i="1">
                            <a:latin typeface="Cambria Math" panose="02040503050406030204" pitchFamily="18" charset="0"/>
                          </a:rPr>
                          <m:t>𝑥</m:t>
                        </m:r>
                      </m:e>
                      <m:sub>
                        <m:r>
                          <a:rPr lang="fr-FR" b="0" i="1" smtClean="0">
                            <a:latin typeface="Cambria Math" panose="02040503050406030204" pitchFamily="18" charset="0"/>
                          </a:rPr>
                          <m:t>𝑖</m:t>
                        </m:r>
                      </m:sub>
                    </m:sSub>
                  </m:oMath>
                </a14:m>
                <a:r>
                  <a:rPr lang="fr-FR" dirty="0"/>
                  <a:t> est une caractéristique (variable) de l’entrée.</a:t>
                </a:r>
              </a:p>
              <a:p>
                <a:pPr lvl="1" algn="just">
                  <a:lnSpc>
                    <a:spcPct val="150000"/>
                  </a:lnSpc>
                  <a:buClr>
                    <a:schemeClr val="accent2"/>
                  </a:buClr>
                </a:pPr>
                <a14:m>
                  <m:oMath xmlns:m="http://schemas.openxmlformats.org/officeDocument/2006/math">
                    <m:sSub>
                      <m:sSubPr>
                        <m:ctrlPr>
                          <a:rPr lang="fr-FR" i="1">
                            <a:latin typeface="Cambria Math" panose="02040503050406030204" pitchFamily="18" charset="0"/>
                          </a:rPr>
                        </m:ctrlPr>
                      </m:sSubPr>
                      <m:e>
                        <m:r>
                          <a:rPr lang="fr-FR" i="1">
                            <a:latin typeface="Cambria Math" panose="02040503050406030204" pitchFamily="18" charset="0"/>
                          </a:rPr>
                          <m:t>𝑥</m:t>
                        </m:r>
                      </m:e>
                      <m:sub>
                        <m:r>
                          <a:rPr lang="fr-FR" b="0" i="1" smtClean="0">
                            <a:latin typeface="Cambria Math" panose="02040503050406030204" pitchFamily="18" charset="0"/>
                          </a:rPr>
                          <m:t>𝑖</m:t>
                        </m:r>
                      </m:sub>
                    </m:sSub>
                  </m:oMath>
                </a14:m>
                <a:r>
                  <a:rPr lang="fr-FR" dirty="0"/>
                  <a:t> peut être une caractéristique du pixel (admettons une rayure).</a:t>
                </a:r>
              </a:p>
              <a:p>
                <a:pPr lvl="1" algn="just">
                  <a:lnSpc>
                    <a:spcPct val="150000"/>
                  </a:lnSpc>
                  <a:buClr>
                    <a:schemeClr val="accent2"/>
                  </a:buClr>
                </a:pPr>
                <a:r>
                  <a:rPr lang="fr-FR" dirty="0"/>
                  <a:t>Chaque caractéristique </a:t>
                </a:r>
                <a14:m>
                  <m:oMath xmlns:m="http://schemas.openxmlformats.org/officeDocument/2006/math">
                    <m:sSub>
                      <m:sSubPr>
                        <m:ctrlPr>
                          <a:rPr lang="fr-FR" i="1">
                            <a:latin typeface="Cambria Math" panose="02040503050406030204" pitchFamily="18" charset="0"/>
                          </a:rPr>
                        </m:ctrlPr>
                      </m:sSubPr>
                      <m:e>
                        <m:r>
                          <a:rPr lang="fr-FR" i="1">
                            <a:latin typeface="Cambria Math" panose="02040503050406030204" pitchFamily="18" charset="0"/>
                          </a:rPr>
                          <m:t>𝑥</m:t>
                        </m:r>
                      </m:e>
                      <m:sub>
                        <m:r>
                          <a:rPr lang="fr-FR" b="0" i="1" smtClean="0">
                            <a:latin typeface="Cambria Math" panose="02040503050406030204" pitchFamily="18" charset="0"/>
                          </a:rPr>
                          <m:t>𝑖</m:t>
                        </m:r>
                      </m:sub>
                    </m:sSub>
                  </m:oMath>
                </a14:m>
                <a:r>
                  <a:rPr lang="fr-FR" dirty="0"/>
                  <a:t> peut être pondérée par un poids qui lui est propre </a:t>
                </a:r>
                <a14:m>
                  <m:oMath xmlns:m="http://schemas.openxmlformats.org/officeDocument/2006/math">
                    <m:sSub>
                      <m:sSubPr>
                        <m:ctrlPr>
                          <a:rPr lang="fr-FR" i="1">
                            <a:latin typeface="Cambria Math" panose="02040503050406030204" pitchFamily="18" charset="0"/>
                          </a:rPr>
                        </m:ctrlPr>
                      </m:sSubPr>
                      <m:e>
                        <m:r>
                          <a:rPr lang="fr-FR" b="0" i="1" smtClean="0">
                            <a:latin typeface="Cambria Math" panose="02040503050406030204" pitchFamily="18" charset="0"/>
                          </a:rPr>
                          <m:t>𝑤</m:t>
                        </m:r>
                      </m:e>
                      <m:sub>
                        <m:r>
                          <a:rPr lang="fr-FR" b="0" i="1" smtClean="0">
                            <a:latin typeface="Cambria Math" panose="02040503050406030204" pitchFamily="18" charset="0"/>
                          </a:rPr>
                          <m:t>𝑖</m:t>
                        </m:r>
                      </m:sub>
                    </m:sSub>
                  </m:oMath>
                </a14:m>
                <a:r>
                  <a:rPr lang="fr-FR" dirty="0"/>
                  <a:t>.</a:t>
                </a:r>
              </a:p>
              <a:p>
                <a:pPr lvl="1" algn="just">
                  <a:lnSpc>
                    <a:spcPct val="150000"/>
                  </a:lnSpc>
                  <a:buClr>
                    <a:schemeClr val="accent2"/>
                  </a:buClr>
                </a:pPr>
                <a:r>
                  <a:rPr lang="fr-FR" dirty="0"/>
                  <a:t>Ces poids déterminent l’importance relative de chaque caractéristique </a:t>
                </a:r>
                <a14:m>
                  <m:oMath xmlns:m="http://schemas.openxmlformats.org/officeDocument/2006/math">
                    <m:sSub>
                      <m:sSubPr>
                        <m:ctrlPr>
                          <a:rPr lang="fr-FR" i="1">
                            <a:latin typeface="Cambria Math" panose="02040503050406030204" pitchFamily="18" charset="0"/>
                          </a:rPr>
                        </m:ctrlPr>
                      </m:sSubPr>
                      <m:e>
                        <m:r>
                          <a:rPr lang="fr-FR" b="0" i="1" smtClean="0">
                            <a:latin typeface="Cambria Math" panose="02040503050406030204" pitchFamily="18" charset="0"/>
                          </a:rPr>
                          <m:t>𝑥</m:t>
                        </m:r>
                      </m:e>
                      <m:sub>
                        <m:r>
                          <a:rPr lang="fr-FR" i="1">
                            <a:latin typeface="Cambria Math" panose="02040503050406030204" pitchFamily="18" charset="0"/>
                          </a:rPr>
                          <m:t>𝑖</m:t>
                        </m:r>
                      </m:sub>
                    </m:sSub>
                  </m:oMath>
                </a14:m>
                <a:r>
                  <a:rPr lang="fr-FR" dirty="0"/>
                  <a:t> dans la décision du perceptron.</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6145726" cy="3373994"/>
              </a:xfrm>
              <a:blipFill>
                <a:blip r:embed="rId2"/>
                <a:stretch>
                  <a:fillRect t="-361" r="-1885"/>
                </a:stretch>
              </a:blipFill>
            </p:spPr>
            <p:txBody>
              <a:bodyPr/>
              <a:lstStyle/>
              <a:p>
                <a:r>
                  <a:rPr lang="fr-FR">
                    <a:noFill/>
                  </a:rPr>
                  <a:t> </a:t>
                </a:r>
              </a:p>
            </p:txBody>
          </p:sp>
        </mc:Fallback>
      </mc:AlternateContent>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000" dirty="0"/>
              <a:t>03 – Prérequis au DL : réseaux de neurones à propagation avant</a:t>
            </a:r>
            <a:endParaRPr lang="fr-FR" sz="20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Perceptrons : fonctionnement, </a:t>
            </a:r>
            <a:r>
              <a:rPr lang="fr-FR" sz="1800" dirty="0"/>
              <a:t>entrées et poids</a:t>
            </a:r>
          </a:p>
        </p:txBody>
      </p:sp>
      <p:pic>
        <p:nvPicPr>
          <p:cNvPr id="3" name="Image 2">
            <a:extLst>
              <a:ext uri="{FF2B5EF4-FFF2-40B4-BE49-F238E27FC236}">
                <a16:creationId xmlns:a16="http://schemas.microsoft.com/office/drawing/2014/main" id="{DF967F6E-3A10-4335-AD28-0A4F7E7C4B6B}"/>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815152" y="1391970"/>
            <a:ext cx="2275517" cy="1398494"/>
          </a:xfrm>
          <a:prstGeom prst="rect">
            <a:avLst/>
          </a:prstGeom>
        </p:spPr>
      </p:pic>
    </p:spTree>
    <p:extLst>
      <p:ext uri="{BB962C8B-B14F-4D97-AF65-F5344CB8AC3E}">
        <p14:creationId xmlns:p14="http://schemas.microsoft.com/office/powerpoint/2010/main" val="2309242002"/>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145726" cy="3373994"/>
              </a:xfrm>
            </p:spPr>
            <p:txBody>
              <a:bodyPr>
                <a:normAutofit/>
              </a:bodyPr>
              <a:lstStyle/>
              <a:p>
                <a:pPr lvl="1" algn="just">
                  <a:lnSpc>
                    <a:spcPct val="150000"/>
                  </a:lnSpc>
                  <a:buClr>
                    <a:schemeClr val="accent2"/>
                  </a:buClr>
                </a:pPr>
                <a:r>
                  <a:rPr lang="fr-FR" sz="2000" dirty="0"/>
                  <a:t>Les entrées </a:t>
                </a:r>
                <a14:m>
                  <m:oMath xmlns:m="http://schemas.openxmlformats.org/officeDocument/2006/math">
                    <m:sSub>
                      <m:sSubPr>
                        <m:ctrlPr>
                          <a:rPr lang="fr-FR" sz="2000" i="1">
                            <a:latin typeface="Cambria Math" panose="02040503050406030204" pitchFamily="18" charset="0"/>
                          </a:rPr>
                        </m:ctrlPr>
                      </m:sSubPr>
                      <m:e>
                        <m:r>
                          <a:rPr lang="fr-FR" sz="2000" b="0" i="1" smtClean="0">
                            <a:latin typeface="Cambria Math" panose="02040503050406030204" pitchFamily="18" charset="0"/>
                          </a:rPr>
                          <m:t>𝑥</m:t>
                        </m:r>
                      </m:e>
                      <m:sub>
                        <m:r>
                          <a:rPr lang="fr-FR" sz="2000" i="1">
                            <a:latin typeface="Cambria Math" panose="02040503050406030204" pitchFamily="18" charset="0"/>
                          </a:rPr>
                          <m:t>𝑖</m:t>
                        </m:r>
                      </m:sub>
                    </m:sSub>
                  </m:oMath>
                </a14:m>
                <a:r>
                  <a:rPr lang="fr-FR" sz="2000" dirty="0"/>
                  <a:t> sont combinées linéairement avec les poids </a:t>
                </a:r>
                <a14:m>
                  <m:oMath xmlns:m="http://schemas.openxmlformats.org/officeDocument/2006/math">
                    <m:sSub>
                      <m:sSubPr>
                        <m:ctrlPr>
                          <a:rPr lang="fr-FR" sz="2000" i="1">
                            <a:latin typeface="Cambria Math" panose="02040503050406030204" pitchFamily="18" charset="0"/>
                          </a:rPr>
                        </m:ctrlPr>
                      </m:sSubPr>
                      <m:e>
                        <m:r>
                          <a:rPr lang="fr-FR" sz="2000" i="1">
                            <a:latin typeface="Cambria Math" panose="02040503050406030204" pitchFamily="18" charset="0"/>
                          </a:rPr>
                          <m:t>𝑤</m:t>
                        </m:r>
                      </m:e>
                      <m:sub>
                        <m:r>
                          <a:rPr lang="fr-FR" sz="2000" i="1">
                            <a:latin typeface="Cambria Math" panose="02040503050406030204" pitchFamily="18" charset="0"/>
                          </a:rPr>
                          <m:t>𝑖</m:t>
                        </m:r>
                      </m:sub>
                    </m:sSub>
                  </m:oMath>
                </a14:m>
                <a:r>
                  <a:rPr lang="fr-FR" sz="2000" dirty="0"/>
                  <a:t> correspondants pour former une somme pondérée </a:t>
                </a:r>
                <a14:m>
                  <m:oMath xmlns:m="http://schemas.openxmlformats.org/officeDocument/2006/math">
                    <m:r>
                      <a:rPr lang="fr-FR" sz="2000" b="0" i="1" smtClean="0">
                        <a:latin typeface="Cambria Math" panose="02040503050406030204" pitchFamily="18" charset="0"/>
                      </a:rPr>
                      <m:t>𝑧</m:t>
                    </m:r>
                    <m:r>
                      <a:rPr lang="fr-FR" sz="2000" b="0" i="1" smtClean="0">
                        <a:latin typeface="Cambria Math" panose="02040503050406030204" pitchFamily="18" charset="0"/>
                      </a:rPr>
                      <m:t>=</m:t>
                    </m:r>
                    <m:nary>
                      <m:naryPr>
                        <m:chr m:val="∑"/>
                        <m:ctrlPr>
                          <a:rPr lang="fr-FR" sz="2000" b="0" i="1" smtClean="0">
                            <a:latin typeface="Cambria Math" panose="02040503050406030204" pitchFamily="18" charset="0"/>
                          </a:rPr>
                        </m:ctrlPr>
                      </m:naryPr>
                      <m:sub>
                        <m:r>
                          <m:rPr>
                            <m:brk m:alnAt="23"/>
                          </m:rPr>
                          <a:rPr lang="fr-FR" sz="2000" b="0" i="1" smtClean="0">
                            <a:latin typeface="Cambria Math" panose="02040503050406030204" pitchFamily="18" charset="0"/>
                          </a:rPr>
                          <m:t>𝑖</m:t>
                        </m:r>
                        <m:r>
                          <a:rPr lang="fr-FR" sz="2000" b="0" i="1" smtClean="0">
                            <a:latin typeface="Cambria Math" panose="02040503050406030204" pitchFamily="18" charset="0"/>
                          </a:rPr>
                          <m:t>=1</m:t>
                        </m:r>
                      </m:sub>
                      <m:sup>
                        <m:r>
                          <a:rPr lang="fr-FR" sz="2000" b="0" i="1" smtClean="0">
                            <a:latin typeface="Cambria Math" panose="02040503050406030204" pitchFamily="18" charset="0"/>
                          </a:rPr>
                          <m:t>𝑛</m:t>
                        </m:r>
                      </m:sup>
                      <m:e>
                        <m:sSub>
                          <m:sSubPr>
                            <m:ctrlPr>
                              <a:rPr lang="fr-FR" sz="2000" i="1">
                                <a:latin typeface="Cambria Math" panose="02040503050406030204" pitchFamily="18" charset="0"/>
                              </a:rPr>
                            </m:ctrlPr>
                          </m:sSubPr>
                          <m:e>
                            <m:r>
                              <a:rPr lang="fr-FR" sz="2000" i="1">
                                <a:latin typeface="Cambria Math" panose="02040503050406030204" pitchFamily="18" charset="0"/>
                              </a:rPr>
                              <m:t>𝑤</m:t>
                            </m:r>
                          </m:e>
                          <m:sub>
                            <m:r>
                              <a:rPr lang="fr-FR" sz="2000" i="1">
                                <a:latin typeface="Cambria Math" panose="02040503050406030204" pitchFamily="18" charset="0"/>
                              </a:rPr>
                              <m:t>𝑖</m:t>
                            </m:r>
                          </m:sub>
                        </m:sSub>
                        <m:r>
                          <a:rPr lang="fr-FR" sz="2000" i="1" smtClean="0">
                            <a:latin typeface="Cambria Math" panose="02040503050406030204" pitchFamily="18" charset="0"/>
                            <a:ea typeface="Cambria Math" panose="02040503050406030204" pitchFamily="18" charset="0"/>
                          </a:rPr>
                          <m:t>∙</m:t>
                        </m:r>
                        <m:sSub>
                          <m:sSubPr>
                            <m:ctrlPr>
                              <a:rPr lang="fr-FR" sz="2000" i="1">
                                <a:latin typeface="Cambria Math" panose="02040503050406030204" pitchFamily="18" charset="0"/>
                              </a:rPr>
                            </m:ctrlPr>
                          </m:sSubPr>
                          <m:e>
                            <m:r>
                              <a:rPr lang="fr-FR" sz="2000" b="0" i="1" smtClean="0">
                                <a:latin typeface="Cambria Math" panose="02040503050406030204" pitchFamily="18" charset="0"/>
                              </a:rPr>
                              <m:t>𝑥</m:t>
                            </m:r>
                          </m:e>
                          <m:sub>
                            <m:r>
                              <a:rPr lang="fr-FR" sz="2000" i="1">
                                <a:latin typeface="Cambria Math" panose="02040503050406030204" pitchFamily="18" charset="0"/>
                              </a:rPr>
                              <m:t>𝑖</m:t>
                            </m:r>
                          </m:sub>
                        </m:sSub>
                      </m:e>
                    </m:nary>
                  </m:oMath>
                </a14:m>
                <a:endParaRPr lang="fr-FR" sz="2000" dirty="0"/>
              </a:p>
              <a:p>
                <a:pPr lvl="1" algn="just">
                  <a:lnSpc>
                    <a:spcPct val="150000"/>
                  </a:lnSpc>
                  <a:buClr>
                    <a:schemeClr val="accent2"/>
                  </a:buClr>
                </a:pPr>
                <a14:m>
                  <m:oMath xmlns:m="http://schemas.openxmlformats.org/officeDocument/2006/math">
                    <m:sSub>
                      <m:sSubPr>
                        <m:ctrlPr>
                          <a:rPr lang="fr-FR" sz="2000" i="1">
                            <a:latin typeface="Cambria Math" panose="02040503050406030204" pitchFamily="18" charset="0"/>
                          </a:rPr>
                        </m:ctrlPr>
                      </m:sSubPr>
                      <m:e>
                        <m:r>
                          <a:rPr lang="fr-FR" sz="2000" i="1">
                            <a:latin typeface="Cambria Math" panose="02040503050406030204" pitchFamily="18" charset="0"/>
                          </a:rPr>
                          <m:t>𝑤</m:t>
                        </m:r>
                      </m:e>
                      <m:sub>
                        <m:r>
                          <a:rPr lang="fr-FR" sz="2000" i="1">
                            <a:latin typeface="Cambria Math" panose="02040503050406030204" pitchFamily="18" charset="0"/>
                          </a:rPr>
                          <m:t>𝑖</m:t>
                        </m:r>
                      </m:sub>
                    </m:sSub>
                    <m:r>
                      <a:rPr lang="fr-FR" sz="2000" i="1">
                        <a:latin typeface="Cambria Math" panose="02040503050406030204" pitchFamily="18" charset="0"/>
                        <a:ea typeface="Cambria Math" panose="02040503050406030204" pitchFamily="18" charset="0"/>
                      </a:rPr>
                      <m:t>∙</m:t>
                    </m:r>
                    <m:sSub>
                      <m:sSubPr>
                        <m:ctrlPr>
                          <a:rPr lang="fr-FR" sz="2000" i="1">
                            <a:latin typeface="Cambria Math" panose="02040503050406030204" pitchFamily="18" charset="0"/>
                          </a:rPr>
                        </m:ctrlPr>
                      </m:sSubPr>
                      <m:e>
                        <m:r>
                          <a:rPr lang="fr-FR" sz="2000" i="1">
                            <a:latin typeface="Cambria Math" panose="02040503050406030204" pitchFamily="18" charset="0"/>
                          </a:rPr>
                          <m:t>𝑥</m:t>
                        </m:r>
                      </m:e>
                      <m:sub>
                        <m:r>
                          <a:rPr lang="fr-FR" sz="2000" i="1">
                            <a:latin typeface="Cambria Math" panose="02040503050406030204" pitchFamily="18" charset="0"/>
                          </a:rPr>
                          <m:t>𝑖</m:t>
                        </m:r>
                      </m:sub>
                    </m:sSub>
                  </m:oMath>
                </a14:m>
                <a:r>
                  <a:rPr lang="fr-FR" sz="2000" dirty="0"/>
                  <a:t> est donc un produit scalaire de deux vecteurs de longueur </a:t>
                </a:r>
                <a14:m>
                  <m:oMath xmlns:m="http://schemas.openxmlformats.org/officeDocument/2006/math">
                    <m:r>
                      <a:rPr lang="fr-FR" sz="2000" i="1" dirty="0" smtClean="0">
                        <a:latin typeface="Cambria Math" panose="02040503050406030204" pitchFamily="18" charset="0"/>
                      </a:rPr>
                      <m:t>𝑙</m:t>
                    </m:r>
                  </m:oMath>
                </a14:m>
                <a:endParaRPr lang="fr-FR" sz="2000" dirty="0"/>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6145726" cy="3373994"/>
              </a:xfrm>
              <a:blipFill>
                <a:blip r:embed="rId2"/>
                <a:stretch>
                  <a:fillRect r="-2480"/>
                </a:stretch>
              </a:blipFill>
            </p:spPr>
            <p:txBody>
              <a:bodyPr/>
              <a:lstStyle/>
              <a:p>
                <a:r>
                  <a:rPr lang="fr-FR">
                    <a:noFill/>
                  </a:rPr>
                  <a:t> </a:t>
                </a:r>
              </a:p>
            </p:txBody>
          </p:sp>
        </mc:Fallback>
      </mc:AlternateContent>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000" dirty="0"/>
              <a:t>03 – Prérequis au DL : réseaux de neurones à propagation avant</a:t>
            </a:r>
            <a:endParaRPr lang="fr-FR" sz="20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Perceptrons : fonctionnement, </a:t>
            </a:r>
            <a:r>
              <a:rPr lang="fr-FR" sz="1800" dirty="0"/>
              <a:t>combinaison linéaire</a:t>
            </a:r>
          </a:p>
        </p:txBody>
      </p:sp>
    </p:spTree>
    <p:extLst>
      <p:ext uri="{BB962C8B-B14F-4D97-AF65-F5344CB8AC3E}">
        <p14:creationId xmlns:p14="http://schemas.microsoft.com/office/powerpoint/2010/main" val="4294205153"/>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145726" cy="3373994"/>
              </a:xfrm>
            </p:spPr>
            <p:txBody>
              <a:bodyPr>
                <a:normAutofit fontScale="62500" lnSpcReduction="20000"/>
              </a:bodyPr>
              <a:lstStyle/>
              <a:p>
                <a:pPr lvl="1" algn="just">
                  <a:lnSpc>
                    <a:spcPct val="150000"/>
                  </a:lnSpc>
                  <a:buClr>
                    <a:schemeClr val="accent2"/>
                  </a:buClr>
                </a:pPr>
                <a:r>
                  <a:rPr lang="fr-FR" dirty="0"/>
                  <a:t>La somme pondérée </a:t>
                </a:r>
                <a14:m>
                  <m:oMath xmlns:m="http://schemas.openxmlformats.org/officeDocument/2006/math">
                    <m:r>
                      <a:rPr lang="fr-FR" b="0" i="1" smtClean="0">
                        <a:latin typeface="Cambria Math" panose="02040503050406030204" pitchFamily="18" charset="0"/>
                      </a:rPr>
                      <m:t>𝑧</m:t>
                    </m:r>
                  </m:oMath>
                </a14:m>
                <a:r>
                  <a:rPr lang="fr-FR" dirty="0"/>
                  <a:t> est ensuite passée à travers une fonction d’activation (phi) notée </a:t>
                </a:r>
                <a14:m>
                  <m:oMath xmlns:m="http://schemas.openxmlformats.org/officeDocument/2006/math">
                    <m:sSub>
                      <m:sSubPr>
                        <m:ctrlPr>
                          <a:rPr lang="fr-FR" i="1" smtClean="0">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𝜑</m:t>
                        </m:r>
                      </m:e>
                      <m:sub>
                        <m:r>
                          <a:rPr lang="fr-FR" b="0"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𝑧</m:t>
                        </m:r>
                        <m:r>
                          <a:rPr lang="fr-FR" b="0" i="1" smtClean="0">
                            <a:latin typeface="Cambria Math" panose="02040503050406030204" pitchFamily="18" charset="0"/>
                            <a:ea typeface="Cambria Math" panose="02040503050406030204" pitchFamily="18" charset="0"/>
                          </a:rPr>
                          <m:t>)</m:t>
                        </m:r>
                      </m:sub>
                    </m:sSub>
                  </m:oMath>
                </a14:m>
                <a:r>
                  <a:rPr lang="fr-FR" dirty="0"/>
                  <a:t>. </a:t>
                </a:r>
              </a:p>
              <a:p>
                <a:pPr lvl="1" algn="just">
                  <a:lnSpc>
                    <a:spcPct val="150000"/>
                  </a:lnSpc>
                  <a:buClr>
                    <a:schemeClr val="accent2"/>
                  </a:buClr>
                </a:pPr>
                <a:r>
                  <a:rPr lang="fr-FR" dirty="0"/>
                  <a:t>Cette fonction d'activation est généralement une fonction non linéaire qui introduit de la non-linéarité dans le modèle, permettant ainsi au perceptron d'apprendre des relations complexes dans les données.</a:t>
                </a:r>
              </a:p>
              <a:p>
                <a:pPr lvl="1" algn="just">
                  <a:lnSpc>
                    <a:spcPct val="150000"/>
                  </a:lnSpc>
                  <a:buClr>
                    <a:schemeClr val="accent2"/>
                  </a:buClr>
                </a:pPr>
                <a:r>
                  <a:rPr lang="fr-FR" dirty="0"/>
                  <a:t>La fonction est donnée par : </a:t>
                </a:r>
                <a14:m>
                  <m:oMath xmlns:m="http://schemas.openxmlformats.org/officeDocument/2006/math">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𝜑</m:t>
                        </m:r>
                      </m:e>
                      <m:sub>
                        <m:r>
                          <a:rPr lang="fr-FR" i="1">
                            <a:latin typeface="Cambria Math" panose="02040503050406030204" pitchFamily="18" charset="0"/>
                            <a:ea typeface="Cambria Math" panose="02040503050406030204" pitchFamily="18" charset="0"/>
                          </a:rPr>
                          <m:t>(</m:t>
                        </m:r>
                        <m:r>
                          <a:rPr lang="fr-FR" i="1">
                            <a:latin typeface="Cambria Math" panose="02040503050406030204" pitchFamily="18" charset="0"/>
                            <a:ea typeface="Cambria Math" panose="02040503050406030204" pitchFamily="18" charset="0"/>
                          </a:rPr>
                          <m:t>𝑧</m:t>
                        </m:r>
                        <m:r>
                          <a:rPr lang="fr-FR" i="1">
                            <a:latin typeface="Cambria Math" panose="02040503050406030204" pitchFamily="18" charset="0"/>
                            <a:ea typeface="Cambria Math" panose="02040503050406030204" pitchFamily="18" charset="0"/>
                          </a:rPr>
                          <m:t>)</m:t>
                        </m:r>
                      </m:sub>
                    </m:sSub>
                    <m:r>
                      <a:rPr lang="fr-FR" b="0" i="1" smtClean="0">
                        <a:latin typeface="Cambria Math" panose="02040503050406030204" pitchFamily="18" charset="0"/>
                        <a:ea typeface="Cambria Math" panose="02040503050406030204" pitchFamily="18" charset="0"/>
                      </a:rPr>
                      <m:t>=</m:t>
                    </m:r>
                    <m:d>
                      <m:dPr>
                        <m:begChr m:val="{"/>
                        <m:endChr m:val=""/>
                        <m:ctrlPr>
                          <a:rPr lang="fr-FR" b="0" i="1" smtClean="0">
                            <a:latin typeface="Cambria Math" panose="02040503050406030204" pitchFamily="18" charset="0"/>
                            <a:ea typeface="Cambria Math" panose="02040503050406030204" pitchFamily="18" charset="0"/>
                          </a:rPr>
                        </m:ctrlPr>
                      </m:dPr>
                      <m:e>
                        <m:eqArr>
                          <m:eqArrPr>
                            <m:ctrlPr>
                              <a:rPr lang="fr-FR" b="0" i="1" smtClean="0">
                                <a:latin typeface="Cambria Math" panose="02040503050406030204" pitchFamily="18" charset="0"/>
                                <a:ea typeface="Cambria Math" panose="02040503050406030204" pitchFamily="18" charset="0"/>
                              </a:rPr>
                            </m:ctrlPr>
                          </m:eqArrPr>
                          <m:e>
                            <m:r>
                              <a:rPr lang="fr-FR" b="0" i="1" smtClean="0">
                                <a:latin typeface="Cambria Math" panose="02040503050406030204" pitchFamily="18" charset="0"/>
                                <a:ea typeface="Cambria Math" panose="02040503050406030204" pitchFamily="18" charset="0"/>
                              </a:rPr>
                              <m:t>1 </m:t>
                            </m:r>
                            <m:r>
                              <a:rPr lang="fr-FR" b="0" i="1" smtClean="0">
                                <a:latin typeface="Cambria Math" panose="02040503050406030204" pitchFamily="18" charset="0"/>
                                <a:ea typeface="Cambria Math" panose="02040503050406030204" pitchFamily="18" charset="0"/>
                              </a:rPr>
                              <m:t>𝑠𝑖</m:t>
                            </m:r>
                            <m:r>
                              <a:rPr lang="fr-FR" b="0" i="1" smtClean="0">
                                <a:latin typeface="Cambria Math" panose="02040503050406030204" pitchFamily="18" charset="0"/>
                                <a:ea typeface="Cambria Math" panose="02040503050406030204" pitchFamily="18" charset="0"/>
                              </a:rPr>
                              <m:t> </m:t>
                            </m:r>
                            <m:r>
                              <a:rPr lang="fr-FR" b="0" i="1" smtClean="0">
                                <a:latin typeface="Cambria Math" panose="02040503050406030204" pitchFamily="18" charset="0"/>
                                <a:ea typeface="Cambria Math" panose="02040503050406030204" pitchFamily="18" charset="0"/>
                              </a:rPr>
                              <m:t>𝑏</m:t>
                            </m:r>
                            <m:r>
                              <a:rPr lang="fr-FR" b="0" i="1" smtClean="0">
                                <a:latin typeface="Cambria Math" panose="02040503050406030204" pitchFamily="18" charset="0"/>
                                <a:ea typeface="Cambria Math" panose="02040503050406030204" pitchFamily="18" charset="0"/>
                              </a:rPr>
                              <m:t>+</m:t>
                            </m:r>
                            <m:nary>
                              <m:naryPr>
                                <m:chr m:val="∑"/>
                                <m:ctrlPr>
                                  <a:rPr lang="fr-FR" i="1">
                                    <a:latin typeface="Cambria Math" panose="02040503050406030204" pitchFamily="18" charset="0"/>
                                  </a:rPr>
                                </m:ctrlPr>
                              </m:naryPr>
                              <m:sub>
                                <m:r>
                                  <m:rPr>
                                    <m:brk m:alnAt="23"/>
                                  </m:rPr>
                                  <a:rPr lang="fr-FR" i="1">
                                    <a:latin typeface="Cambria Math" panose="02040503050406030204" pitchFamily="18" charset="0"/>
                                  </a:rPr>
                                  <m:t>𝑖</m:t>
                                </m:r>
                                <m:r>
                                  <a:rPr lang="fr-FR" i="1">
                                    <a:latin typeface="Cambria Math" panose="02040503050406030204" pitchFamily="18" charset="0"/>
                                  </a:rPr>
                                  <m:t>=1</m:t>
                                </m:r>
                              </m:sub>
                              <m:sup>
                                <m:r>
                                  <a:rPr lang="fr-FR" i="1">
                                    <a:latin typeface="Cambria Math" panose="02040503050406030204" pitchFamily="18" charset="0"/>
                                  </a:rPr>
                                  <m:t>𝑛</m:t>
                                </m:r>
                              </m:sup>
                              <m:e>
                                <m:sSub>
                                  <m:sSubPr>
                                    <m:ctrlPr>
                                      <a:rPr lang="fr-FR" i="1">
                                        <a:latin typeface="Cambria Math" panose="02040503050406030204" pitchFamily="18" charset="0"/>
                                      </a:rPr>
                                    </m:ctrlPr>
                                  </m:sSubPr>
                                  <m:e>
                                    <m:r>
                                      <a:rPr lang="fr-FR" i="1">
                                        <a:latin typeface="Cambria Math" panose="02040503050406030204" pitchFamily="18" charset="0"/>
                                      </a:rPr>
                                      <m:t>𝑤</m:t>
                                    </m:r>
                                  </m:e>
                                  <m:sub>
                                    <m:r>
                                      <a:rPr lang="fr-FR" i="1">
                                        <a:latin typeface="Cambria Math" panose="02040503050406030204" pitchFamily="18" charset="0"/>
                                      </a:rPr>
                                      <m:t>𝑖</m:t>
                                    </m:r>
                                  </m:sub>
                                </m:sSub>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rPr>
                                    </m:ctrlPr>
                                  </m:sSubPr>
                                  <m:e>
                                    <m:r>
                                      <a:rPr lang="fr-FR" i="1">
                                        <a:latin typeface="Cambria Math" panose="02040503050406030204" pitchFamily="18" charset="0"/>
                                      </a:rPr>
                                      <m:t>𝑥</m:t>
                                    </m:r>
                                  </m:e>
                                  <m:sub>
                                    <m:r>
                                      <a:rPr lang="fr-FR" i="1">
                                        <a:latin typeface="Cambria Math" panose="02040503050406030204" pitchFamily="18" charset="0"/>
                                      </a:rPr>
                                      <m:t>𝑖</m:t>
                                    </m:r>
                                  </m:sub>
                                </m:sSub>
                              </m:e>
                            </m:nary>
                            <m:r>
                              <a:rPr lang="fr-FR" b="0" i="1" smtClean="0">
                                <a:latin typeface="Cambria Math" panose="02040503050406030204" pitchFamily="18" charset="0"/>
                              </a:rPr>
                              <m:t>&gt;0</m:t>
                            </m:r>
                          </m:e>
                          <m:e>
                            <m:r>
                              <a:rPr lang="fr-FR" b="0" i="1" smtClean="0">
                                <a:latin typeface="Cambria Math" panose="02040503050406030204" pitchFamily="18" charset="0"/>
                                <a:ea typeface="Cambria Math" panose="02040503050406030204" pitchFamily="18" charset="0"/>
                              </a:rPr>
                              <m:t>0                                </m:t>
                            </m:r>
                            <m:r>
                              <a:rPr lang="fr-FR" b="0" i="1" smtClean="0">
                                <a:latin typeface="Cambria Math" panose="02040503050406030204" pitchFamily="18" charset="0"/>
                                <a:ea typeface="Cambria Math" panose="02040503050406030204" pitchFamily="18" charset="0"/>
                              </a:rPr>
                              <m:t>𝑠𝑖𝑛𝑜𝑛</m:t>
                            </m:r>
                          </m:e>
                        </m:eqArr>
                      </m:e>
                    </m:d>
                  </m:oMath>
                </a14:m>
                <a:endParaRPr lang="fr-FR" b="0" dirty="0">
                  <a:ea typeface="Cambria Math" panose="02040503050406030204" pitchFamily="18" charset="0"/>
                </a:endParaRPr>
              </a:p>
              <a:p>
                <a:pPr lvl="1" algn="just">
                  <a:lnSpc>
                    <a:spcPct val="150000"/>
                  </a:lnSpc>
                  <a:buClr>
                    <a:schemeClr val="accent2"/>
                  </a:buClr>
                </a:pPr>
                <a14:m>
                  <m:oMath xmlns:m="http://schemas.openxmlformats.org/officeDocument/2006/math">
                    <m:r>
                      <a:rPr lang="fr-FR" i="1" dirty="0" smtClean="0">
                        <a:latin typeface="Cambria Math" panose="02040503050406030204" pitchFamily="18" charset="0"/>
                      </a:rPr>
                      <m:t>𝑏</m:t>
                    </m:r>
                  </m:oMath>
                </a14:m>
                <a:r>
                  <a:rPr lang="fr-FR" dirty="0"/>
                  <a:t> est un poids particulier, appelé biais.</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6145726" cy="3373994"/>
              </a:xfrm>
              <a:blipFill>
                <a:blip r:embed="rId2"/>
                <a:stretch>
                  <a:fillRect t="-361" r="-1885"/>
                </a:stretch>
              </a:blipFill>
            </p:spPr>
            <p:txBody>
              <a:bodyPr/>
              <a:lstStyle/>
              <a:p>
                <a:r>
                  <a:rPr lang="fr-FR">
                    <a:noFill/>
                  </a:rPr>
                  <a:t> </a:t>
                </a:r>
              </a:p>
            </p:txBody>
          </p:sp>
        </mc:Fallback>
      </mc:AlternateContent>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000" dirty="0"/>
              <a:t>03 – Prérequis au DL : réseaux de neurones à propagation avant</a:t>
            </a:r>
            <a:endParaRPr lang="fr-FR" sz="20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Perceptrons : fonctionnement, </a:t>
            </a:r>
            <a:r>
              <a:rPr lang="fr-FR" sz="1800" dirty="0"/>
              <a:t>fonction d’activation</a:t>
            </a:r>
          </a:p>
        </p:txBody>
      </p:sp>
    </p:spTree>
    <p:extLst>
      <p:ext uri="{BB962C8B-B14F-4D97-AF65-F5344CB8AC3E}">
        <p14:creationId xmlns:p14="http://schemas.microsoft.com/office/powerpoint/2010/main" val="3531593417"/>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145726" cy="3373994"/>
              </a:xfrm>
            </p:spPr>
            <p:txBody>
              <a:bodyPr>
                <a:normAutofit fontScale="70000" lnSpcReduction="20000"/>
              </a:bodyPr>
              <a:lstStyle/>
              <a:p>
                <a:pPr lvl="1" algn="just">
                  <a:lnSpc>
                    <a:spcPct val="150000"/>
                  </a:lnSpc>
                  <a:buClr>
                    <a:schemeClr val="accent2"/>
                  </a:buClr>
                </a:pPr>
                <a:r>
                  <a:rPr lang="fr-FR" dirty="0"/>
                  <a:t>La sortie du perceptron est le résultat de la fonction d'activation appliquée à la somme pondérée </a:t>
                </a:r>
                <a14:m>
                  <m:oMath xmlns:m="http://schemas.openxmlformats.org/officeDocument/2006/math">
                    <m:r>
                      <a:rPr lang="fr-FR" i="1">
                        <a:latin typeface="Cambria Math" panose="02040503050406030204" pitchFamily="18" charset="0"/>
                      </a:rPr>
                      <m:t>𝑧</m:t>
                    </m:r>
                  </m:oMath>
                </a14:m>
                <a:r>
                  <a:rPr lang="fr-FR" dirty="0"/>
                  <a:t>.</a:t>
                </a:r>
              </a:p>
              <a:p>
                <a:pPr lvl="1" algn="just">
                  <a:lnSpc>
                    <a:spcPct val="150000"/>
                  </a:lnSpc>
                  <a:buClr>
                    <a:schemeClr val="accent2"/>
                  </a:buClr>
                </a:pPr>
                <a:r>
                  <a:rPr lang="fr-FR" dirty="0"/>
                  <a:t>Cette sortie peut être interprétée comme la prédiction du perceptron pour une classe particulière, par exemple, dans une tâche de classification binaire, la sortie peut être soit 0 (classe négative) soit 1 (classe positive).</a:t>
                </a:r>
              </a:p>
              <a:p>
                <a:pPr lvl="1" algn="just">
                  <a:lnSpc>
                    <a:spcPct val="150000"/>
                  </a:lnSpc>
                  <a:buClr>
                    <a:schemeClr val="accent2"/>
                  </a:buClr>
                </a:pPr>
                <a:r>
                  <a:rPr lang="fr-FR" dirty="0"/>
                  <a:t>Dans notre exemple, on peut noter : </a:t>
                </a:r>
                <a14:m>
                  <m:oMath xmlns:m="http://schemas.openxmlformats.org/officeDocument/2006/math">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𝜑</m:t>
                        </m:r>
                      </m:e>
                      <m:sub>
                        <m:r>
                          <a:rPr lang="fr-FR" i="1">
                            <a:latin typeface="Cambria Math" panose="02040503050406030204" pitchFamily="18" charset="0"/>
                            <a:ea typeface="Cambria Math" panose="02040503050406030204" pitchFamily="18" charset="0"/>
                          </a:rPr>
                          <m:t>(</m:t>
                        </m:r>
                        <m:r>
                          <a:rPr lang="fr-FR" i="1">
                            <a:latin typeface="Cambria Math" panose="02040503050406030204" pitchFamily="18" charset="0"/>
                            <a:ea typeface="Cambria Math" panose="02040503050406030204" pitchFamily="18" charset="0"/>
                          </a:rPr>
                          <m:t>𝑧</m:t>
                        </m:r>
                        <m:r>
                          <a:rPr lang="fr-FR" i="1">
                            <a:latin typeface="Cambria Math" panose="02040503050406030204" pitchFamily="18" charset="0"/>
                            <a:ea typeface="Cambria Math" panose="02040503050406030204" pitchFamily="18" charset="0"/>
                          </a:rPr>
                          <m:t>)</m:t>
                        </m:r>
                      </m:sub>
                    </m:sSub>
                    <m:r>
                      <a:rPr lang="fr-FR" b="0" i="1" smtClean="0">
                        <a:latin typeface="Cambria Math" panose="02040503050406030204" pitchFamily="18" charset="0"/>
                        <a:ea typeface="Cambria Math" panose="02040503050406030204" pitchFamily="18" charset="0"/>
                      </a:rPr>
                      <m:t>=</m:t>
                    </m:r>
                    <m:d>
                      <m:dPr>
                        <m:begChr m:val="{"/>
                        <m:endChr m:val=""/>
                        <m:ctrlPr>
                          <a:rPr lang="fr-FR" i="1" smtClean="0">
                            <a:latin typeface="Cambria Math" panose="02040503050406030204" pitchFamily="18" charset="0"/>
                          </a:rPr>
                        </m:ctrlPr>
                      </m:dPr>
                      <m:e>
                        <m:eqArr>
                          <m:eqArrPr>
                            <m:ctrlPr>
                              <a:rPr lang="fr-FR" i="1" smtClean="0">
                                <a:latin typeface="Cambria Math" panose="02040503050406030204" pitchFamily="18" charset="0"/>
                              </a:rPr>
                            </m:ctrlPr>
                          </m:eqArrPr>
                          <m:e>
                            <m:r>
                              <a:rPr lang="fr-FR" b="0" i="1" smtClean="0">
                                <a:latin typeface="Cambria Math" panose="02040503050406030204" pitchFamily="18" charset="0"/>
                              </a:rPr>
                              <m:t>1         </m:t>
                            </m:r>
                            <m:r>
                              <a:rPr lang="fr-FR" b="0" i="1" smtClean="0">
                                <a:latin typeface="Cambria Math" panose="02040503050406030204" pitchFamily="18" charset="0"/>
                              </a:rPr>
                              <m:t>𝑡𝑖𝑔𝑟𝑒</m:t>
                            </m:r>
                          </m:e>
                          <m:e>
                            <m:r>
                              <a:rPr lang="fr-FR" b="0" i="1" smtClean="0">
                                <a:latin typeface="Cambria Math" panose="02040503050406030204" pitchFamily="18" charset="0"/>
                              </a:rPr>
                              <m:t>0 </m:t>
                            </m:r>
                            <m:r>
                              <a:rPr lang="fr-FR" b="0" i="1" smtClean="0">
                                <a:latin typeface="Cambria Math" panose="02040503050406030204" pitchFamily="18" charset="0"/>
                              </a:rPr>
                              <m:t>𝑝𝑎𝑠</m:t>
                            </m:r>
                            <m:r>
                              <a:rPr lang="fr-FR" b="0" i="1" smtClean="0">
                                <a:latin typeface="Cambria Math" panose="02040503050406030204" pitchFamily="18" charset="0"/>
                              </a:rPr>
                              <m:t> </m:t>
                            </m:r>
                            <m:r>
                              <a:rPr lang="fr-FR" b="0" i="1" smtClean="0">
                                <a:latin typeface="Cambria Math" panose="02040503050406030204" pitchFamily="18" charset="0"/>
                              </a:rPr>
                              <m:t>𝑡𝑖𝑔𝑟𝑒</m:t>
                            </m:r>
                          </m:e>
                        </m:eqArr>
                      </m:e>
                    </m:d>
                  </m:oMath>
                </a14:m>
                <a:endParaRPr lang="fr-FR" dirty="0"/>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6145726" cy="3373994"/>
              </a:xfrm>
              <a:blipFill>
                <a:blip r:embed="rId2"/>
                <a:stretch>
                  <a:fillRect t="-722" r="-2083"/>
                </a:stretch>
              </a:blipFill>
            </p:spPr>
            <p:txBody>
              <a:bodyPr/>
              <a:lstStyle/>
              <a:p>
                <a:r>
                  <a:rPr lang="fr-FR">
                    <a:noFill/>
                  </a:rPr>
                  <a:t> </a:t>
                </a:r>
              </a:p>
            </p:txBody>
          </p:sp>
        </mc:Fallback>
      </mc:AlternateContent>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000" dirty="0"/>
              <a:t>03 – Prérequis au DL : réseaux de neurones à propagation avant</a:t>
            </a:r>
            <a:endParaRPr lang="fr-FR" sz="20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Perceptrons : fonctionnement, </a:t>
            </a:r>
            <a:r>
              <a:rPr lang="fr-FR" sz="1800" dirty="0"/>
              <a:t>sortie</a:t>
            </a:r>
          </a:p>
        </p:txBody>
      </p:sp>
    </p:spTree>
    <p:extLst>
      <p:ext uri="{BB962C8B-B14F-4D97-AF65-F5344CB8AC3E}">
        <p14:creationId xmlns:p14="http://schemas.microsoft.com/office/powerpoint/2010/main" val="3799679539"/>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0" y="1391970"/>
                <a:ext cx="6737847" cy="3373994"/>
              </a:xfrm>
            </p:spPr>
            <p:txBody>
              <a:bodyPr>
                <a:normAutofit/>
              </a:bodyPr>
              <a:lstStyle/>
              <a:p>
                <a:pPr lvl="1" algn="just">
                  <a:lnSpc>
                    <a:spcPct val="150000"/>
                  </a:lnSpc>
                  <a:buClr>
                    <a:schemeClr val="accent2"/>
                  </a:buClr>
                </a:pPr>
                <a:r>
                  <a:rPr lang="fr-FR" sz="1600" dirty="0"/>
                  <a:t>Pendant la phase d'entraînement, les poids </a:t>
                </a:r>
                <a14:m>
                  <m:oMath xmlns:m="http://schemas.openxmlformats.org/officeDocument/2006/math">
                    <m:sSub>
                      <m:sSubPr>
                        <m:ctrlPr>
                          <a:rPr lang="fr-FR" sz="1600" i="1">
                            <a:latin typeface="Cambria Math" panose="02040503050406030204" pitchFamily="18" charset="0"/>
                          </a:rPr>
                        </m:ctrlPr>
                      </m:sSubPr>
                      <m:e>
                        <m:r>
                          <a:rPr lang="fr-FR" sz="1600" i="1">
                            <a:latin typeface="Cambria Math" panose="02040503050406030204" pitchFamily="18" charset="0"/>
                          </a:rPr>
                          <m:t>𝑤</m:t>
                        </m:r>
                      </m:e>
                      <m:sub>
                        <m:r>
                          <a:rPr lang="fr-FR" sz="1600" i="1">
                            <a:latin typeface="Cambria Math" panose="02040503050406030204" pitchFamily="18" charset="0"/>
                          </a:rPr>
                          <m:t>𝑖</m:t>
                        </m:r>
                      </m:sub>
                    </m:sSub>
                    <m:r>
                      <a:rPr lang="fr-FR" sz="1600" i="1">
                        <a:latin typeface="Cambria Math" panose="02040503050406030204" pitchFamily="18" charset="0"/>
                      </a:rPr>
                      <m:t> </m:t>
                    </m:r>
                  </m:oMath>
                </a14:m>
                <a:r>
                  <a:rPr lang="fr-FR" sz="1600" dirty="0"/>
                  <a:t>du perceptron sont ajustés itérativement afin de minimiser une fonction de perte qui mesure la différence entre les prédictions du perceptron et les étiquettes réelles des données d'entraînement. </a:t>
                </a:r>
              </a:p>
              <a:p>
                <a:pPr lvl="1" algn="just">
                  <a:lnSpc>
                    <a:spcPct val="150000"/>
                  </a:lnSpc>
                  <a:buClr>
                    <a:schemeClr val="accent2"/>
                  </a:buClr>
                </a:pPr>
                <a:r>
                  <a:rPr lang="fr-FR" sz="1600" dirty="0"/>
                  <a:t>Cela se fait généralement à l'aide d'algorithmes d'optimisation comme la descente de gradient.</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0" y="1391970"/>
                <a:ext cx="6737847" cy="3373994"/>
              </a:xfrm>
              <a:blipFill>
                <a:blip r:embed="rId2"/>
                <a:stretch>
                  <a:fillRect r="-1810"/>
                </a:stretch>
              </a:blipFill>
            </p:spPr>
            <p:txBody>
              <a:bodyPr/>
              <a:lstStyle/>
              <a:p>
                <a:r>
                  <a:rPr lang="fr-FR">
                    <a:noFill/>
                  </a:rPr>
                  <a:t> </a:t>
                </a:r>
              </a:p>
            </p:txBody>
          </p:sp>
        </mc:Fallback>
      </mc:AlternateContent>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000" dirty="0"/>
              <a:t>03 – Prérequis au DL : réseaux de neurones à propagation avant</a:t>
            </a:r>
            <a:endParaRPr lang="fr-FR" sz="20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Perceptrons : fonctionnement, </a:t>
            </a:r>
            <a:r>
              <a:rPr lang="fr-FR" sz="1800" dirty="0"/>
              <a:t>entrainement</a:t>
            </a:r>
          </a:p>
        </p:txBody>
      </p:sp>
    </p:spTree>
    <p:extLst>
      <p:ext uri="{BB962C8B-B14F-4D97-AF65-F5344CB8AC3E}">
        <p14:creationId xmlns:p14="http://schemas.microsoft.com/office/powerpoint/2010/main" val="3958691136"/>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145726" cy="3373994"/>
          </a:xfrm>
        </p:spPr>
        <p:txBody>
          <a:bodyPr>
            <a:normAutofit/>
          </a:bodyPr>
          <a:lstStyle/>
          <a:p>
            <a:pPr lvl="1" algn="just">
              <a:lnSpc>
                <a:spcPct val="150000"/>
              </a:lnSpc>
              <a:buClr>
                <a:schemeClr val="accent2"/>
              </a:buClr>
            </a:pPr>
            <a:r>
              <a:rPr lang="fr-FR" sz="1800" dirty="0"/>
              <a:t>Une fois que le perceptron est entraîné, il peut être utilisé pour faire des prédictions sur de nouvelles données en alimentant ces données dans le perceptron et en observant la sortie.</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000" dirty="0"/>
              <a:t>03 – Prérequis au DL : réseaux de neurones à propagation avant</a:t>
            </a:r>
            <a:endParaRPr lang="fr-FR" sz="20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Perceptrons : fonctionnement, </a:t>
            </a:r>
            <a:r>
              <a:rPr lang="fr-FR" sz="1800" dirty="0"/>
              <a:t>test et validation</a:t>
            </a:r>
          </a:p>
        </p:txBody>
      </p:sp>
    </p:spTree>
    <p:extLst>
      <p:ext uri="{BB962C8B-B14F-4D97-AF65-F5344CB8AC3E}">
        <p14:creationId xmlns:p14="http://schemas.microsoft.com/office/powerpoint/2010/main" val="2634631524"/>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3512127"/>
            <a:ext cx="6145726" cy="1253837"/>
          </a:xfrm>
        </p:spPr>
        <p:txBody>
          <a:bodyPr>
            <a:normAutofit fontScale="55000" lnSpcReduction="20000"/>
          </a:bodyPr>
          <a:lstStyle/>
          <a:p>
            <a:pPr lvl="1" algn="just">
              <a:lnSpc>
                <a:spcPct val="150000"/>
              </a:lnSpc>
              <a:buClr>
                <a:schemeClr val="accent2"/>
              </a:buClr>
            </a:pPr>
            <a:r>
              <a:rPr lang="fr-FR" dirty="0"/>
              <a:t>Trois perceptrons distincts qui partagent les mêmes entrées.</a:t>
            </a:r>
          </a:p>
          <a:p>
            <a:pPr lvl="1" algn="just">
              <a:lnSpc>
                <a:spcPct val="150000"/>
              </a:lnSpc>
              <a:buClr>
                <a:schemeClr val="accent2"/>
              </a:buClr>
            </a:pPr>
            <a:r>
              <a:rPr lang="fr-FR" dirty="0"/>
              <a:t>Il s’agit de perceptrons multiples pour l’identification de classes multiples.</a:t>
            </a:r>
          </a:p>
          <a:p>
            <a:pPr lvl="1" algn="just">
              <a:lnSpc>
                <a:spcPct val="150000"/>
              </a:lnSpc>
              <a:buClr>
                <a:schemeClr val="accent2"/>
              </a:buClr>
            </a:pPr>
            <a:r>
              <a:rPr lang="fr-FR" dirty="0"/>
              <a:t>Tous les perceptrons sont entrainés indépendamment les uns des autres.</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000" dirty="0"/>
              <a:t>03 – Prérequis au DL : réseaux de neurones à propagation avant</a:t>
            </a:r>
            <a:endParaRPr lang="fr-FR" sz="20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Perceptrons multiples</a:t>
            </a:r>
            <a:endParaRPr lang="fr-FR" sz="1800" dirty="0"/>
          </a:p>
        </p:txBody>
      </p:sp>
      <p:pic>
        <p:nvPicPr>
          <p:cNvPr id="2" name="Image 1">
            <a:extLst>
              <a:ext uri="{FF2B5EF4-FFF2-40B4-BE49-F238E27FC236}">
                <a16:creationId xmlns:a16="http://schemas.microsoft.com/office/drawing/2014/main" id="{EB0B2E53-0059-49F5-A10B-1740E2E8C0DA}"/>
              </a:ext>
            </a:extLst>
          </p:cNvPr>
          <p:cNvPicPr>
            <a:picLocks noChangeAspect="1"/>
          </p:cNvPicPr>
          <p:nvPr/>
        </p:nvPicPr>
        <p:blipFill>
          <a:blip r:embed="rId2"/>
          <a:stretch>
            <a:fillRect/>
          </a:stretch>
        </p:blipFill>
        <p:spPr>
          <a:xfrm>
            <a:off x="3208023" y="1364288"/>
            <a:ext cx="2727954" cy="1982900"/>
          </a:xfrm>
          <a:prstGeom prst="rect">
            <a:avLst/>
          </a:prstGeom>
        </p:spPr>
      </p:pic>
    </p:spTree>
    <p:extLst>
      <p:ext uri="{BB962C8B-B14F-4D97-AF65-F5344CB8AC3E}">
        <p14:creationId xmlns:p14="http://schemas.microsoft.com/office/powerpoint/2010/main" val="4253770017"/>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297794"/>
          </a:xfrm>
        </p:spPr>
        <p:txBody>
          <a:bodyPr>
            <a:normAutofit fontScale="55000" lnSpcReduction="20000"/>
          </a:bodyPr>
          <a:lstStyle/>
          <a:p>
            <a:pPr lvl="1" algn="just">
              <a:lnSpc>
                <a:spcPct val="150000"/>
              </a:lnSpc>
              <a:buClr>
                <a:schemeClr val="accent2"/>
              </a:buClr>
            </a:pPr>
            <a:r>
              <a:rPr lang="fr-FR" dirty="0"/>
              <a:t>La fonction de perte (ou fonction d'erreur) est une mesure utilisée pour évaluer la performance d'un modèle par rapport aux données d'entraînement. </a:t>
            </a:r>
          </a:p>
          <a:p>
            <a:pPr lvl="1" algn="just">
              <a:lnSpc>
                <a:spcPct val="150000"/>
              </a:lnSpc>
              <a:buClr>
                <a:schemeClr val="accent2"/>
              </a:buClr>
            </a:pPr>
            <a:r>
              <a:rPr lang="fr-FR" dirty="0"/>
              <a:t>Elle mesure la différence entre les prédictions du modèle et les valeurs réelles des données d'entraînement, et est utilisée comme guide pour ajuster les poids du réseau neuronal lors de l'entraînement afin de minimiser cette différence. </a:t>
            </a:r>
          </a:p>
          <a:p>
            <a:pPr lvl="1" algn="just">
              <a:lnSpc>
                <a:spcPct val="150000"/>
              </a:lnSpc>
              <a:buClr>
                <a:schemeClr val="accent2"/>
              </a:buClr>
            </a:pPr>
            <a:r>
              <a:rPr lang="fr-FR" dirty="0"/>
              <a:t>Le choix de la fonction de perte dépend du type de problème que vous essayez de résoudre (classification, régression, etc.) et des caractéristiques de vos données. </a:t>
            </a:r>
          </a:p>
          <a:p>
            <a:pPr lvl="1" algn="just">
              <a:lnSpc>
                <a:spcPct val="150000"/>
              </a:lnSpc>
              <a:buClr>
                <a:schemeClr val="accent2"/>
              </a:buClr>
            </a:pPr>
            <a:r>
              <a:rPr lang="fr-FR" dirty="0"/>
              <a:t>Notre objectif est de minimiser la perte.</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000" dirty="0"/>
              <a:t>03 – Prérequis au DL : réseaux de neurones à propagation avant</a:t>
            </a:r>
            <a:endParaRPr lang="fr-FR" sz="20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Fonction de perte d’entropie croisée</a:t>
            </a:r>
          </a:p>
        </p:txBody>
      </p:sp>
    </p:spTree>
    <p:extLst>
      <p:ext uri="{BB962C8B-B14F-4D97-AF65-F5344CB8AC3E}">
        <p14:creationId xmlns:p14="http://schemas.microsoft.com/office/powerpoint/2010/main" val="1699305845"/>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3297794"/>
          </a:xfrm>
        </p:spPr>
        <p:txBody>
          <a:bodyPr>
            <a:normAutofit fontScale="62500" lnSpcReduction="20000"/>
          </a:bodyPr>
          <a:lstStyle/>
          <a:p>
            <a:pPr lvl="1" algn="just">
              <a:lnSpc>
                <a:spcPct val="150000"/>
              </a:lnSpc>
              <a:buClr>
                <a:schemeClr val="accent2"/>
              </a:buClr>
            </a:pPr>
            <a:r>
              <a:rPr lang="fr-FR" dirty="0"/>
              <a:t>La fonction de perte d’entropie croisée est utilisée principalement pour les problèmes de classification.</a:t>
            </a:r>
          </a:p>
          <a:p>
            <a:pPr lvl="1" algn="just">
              <a:lnSpc>
                <a:spcPct val="150000"/>
              </a:lnSpc>
              <a:buClr>
                <a:schemeClr val="accent2"/>
              </a:buClr>
            </a:pPr>
            <a:r>
              <a:rPr lang="fr-FR" dirty="0"/>
              <a:t>Il existe deux variantes principales : la perte de l'entropie croisée binaire (BCE) pour les problèmes de classification binaire et la perte de l'entropie croisée catégorielle (CCE) pour les problèmes de classification multi-classes.</a:t>
            </a:r>
          </a:p>
          <a:p>
            <a:pPr lvl="1" algn="just">
              <a:lnSpc>
                <a:spcPct val="150000"/>
              </a:lnSpc>
              <a:buClr>
                <a:schemeClr val="accent2"/>
              </a:buClr>
            </a:pPr>
            <a:r>
              <a:rPr lang="fr-FR" dirty="0"/>
              <a:t>La fonction de perte mesure la divergence entre la distribution de probabilité prédite par le modèle et la distribution de probabilité réelle des étiquettes de classe.</a:t>
            </a:r>
          </a:p>
          <a:p>
            <a:pPr lvl="1" algn="just">
              <a:lnSpc>
                <a:spcPct val="150000"/>
              </a:lnSpc>
              <a:buClr>
                <a:schemeClr val="accent2"/>
              </a:buClr>
            </a:pPr>
            <a:endParaRPr lang="fr-FR"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000" dirty="0"/>
              <a:t>03 – Prérequis au DL : réseaux de neurones à propagation avant</a:t>
            </a:r>
            <a:endParaRPr lang="fr-FR" sz="20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Fonction de perte d’entropie croisée</a:t>
            </a:r>
          </a:p>
        </p:txBody>
      </p:sp>
    </p:spTree>
    <p:extLst>
      <p:ext uri="{BB962C8B-B14F-4D97-AF65-F5344CB8AC3E}">
        <p14:creationId xmlns:p14="http://schemas.microsoft.com/office/powerpoint/2010/main" val="3733067871"/>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69"/>
                <a:ext cx="5892014" cy="3395184"/>
              </a:xfrm>
            </p:spPr>
            <p:txBody>
              <a:bodyPr>
                <a:normAutofit fontScale="62500" lnSpcReduction="20000"/>
              </a:bodyPr>
              <a:lstStyle/>
              <a:p>
                <a:pPr lvl="1" algn="just">
                  <a:lnSpc>
                    <a:spcPct val="150000"/>
                  </a:lnSpc>
                  <a:buClr>
                    <a:schemeClr val="accent2"/>
                  </a:buClr>
                </a:pPr>
                <a:r>
                  <a:rPr lang="fr-FR" dirty="0"/>
                  <a:t>La dérivée d’une fonction représente son taux de variation instantanée en un point donné.</a:t>
                </a:r>
              </a:p>
              <a:p>
                <a:pPr lvl="1" algn="just">
                  <a:lnSpc>
                    <a:spcPct val="150000"/>
                  </a:lnSpc>
                  <a:buClr>
                    <a:schemeClr val="accent2"/>
                  </a:buClr>
                </a:pPr>
                <a:r>
                  <a:rPr lang="fr-FR" dirty="0"/>
                  <a:t>Autrement dit, la dérivée de la fonction </a:t>
                </a:r>
                <a14:m>
                  <m:oMath xmlns:m="http://schemas.openxmlformats.org/officeDocument/2006/math">
                    <m:r>
                      <a:rPr lang="fr-FR" b="0" i="1" smtClean="0">
                        <a:latin typeface="Cambria Math" panose="02040503050406030204" pitchFamily="18" charset="0"/>
                      </a:rPr>
                      <m:t>𝑓</m:t>
                    </m:r>
                    <m:r>
                      <a:rPr lang="fr-FR" b="0" i="1" smtClean="0">
                        <a:latin typeface="Cambria Math" panose="02040503050406030204" pitchFamily="18" charset="0"/>
                      </a:rPr>
                      <m:t>(</m:t>
                    </m:r>
                    <m:r>
                      <a:rPr lang="fr-FR" b="0" i="1" smtClean="0">
                        <a:latin typeface="Cambria Math" panose="02040503050406030204" pitchFamily="18" charset="0"/>
                      </a:rPr>
                      <m:t>𝑥</m:t>
                    </m:r>
                    <m:r>
                      <a:rPr lang="fr-FR" b="0" i="1" smtClean="0">
                        <a:latin typeface="Cambria Math" panose="02040503050406030204" pitchFamily="18" charset="0"/>
                      </a:rPr>
                      <m:t>)</m:t>
                    </m:r>
                  </m:oMath>
                </a14:m>
                <a:r>
                  <a:rPr lang="fr-FR" dirty="0"/>
                  <a:t> en un point </a:t>
                </a:r>
                <a14:m>
                  <m:oMath xmlns:m="http://schemas.openxmlformats.org/officeDocument/2006/math">
                    <m:r>
                      <a:rPr lang="fr-FR" b="0" i="1" smtClean="0">
                        <a:latin typeface="Cambria Math" panose="02040503050406030204" pitchFamily="18" charset="0"/>
                      </a:rPr>
                      <m:t>𝑥</m:t>
                    </m:r>
                  </m:oMath>
                </a14:m>
                <a:r>
                  <a:rPr lang="fr-FR" dirty="0"/>
                  <a:t> est définie comme la limite de la variation de </a:t>
                </a:r>
                <a14:m>
                  <m:oMath xmlns:m="http://schemas.openxmlformats.org/officeDocument/2006/math">
                    <m:r>
                      <a:rPr lang="fr-FR" i="1">
                        <a:latin typeface="Cambria Math" panose="02040503050406030204" pitchFamily="18" charset="0"/>
                      </a:rPr>
                      <m:t>𝑓</m:t>
                    </m:r>
                    <m:r>
                      <a:rPr lang="fr-FR" i="1">
                        <a:latin typeface="Cambria Math" panose="02040503050406030204" pitchFamily="18" charset="0"/>
                      </a:rPr>
                      <m:t>(</m:t>
                    </m:r>
                    <m:r>
                      <a:rPr lang="fr-FR" i="1">
                        <a:latin typeface="Cambria Math" panose="02040503050406030204" pitchFamily="18" charset="0"/>
                      </a:rPr>
                      <m:t>𝑥</m:t>
                    </m:r>
                    <m:r>
                      <a:rPr lang="fr-FR" i="1">
                        <a:latin typeface="Cambria Math" panose="02040503050406030204" pitchFamily="18" charset="0"/>
                      </a:rPr>
                      <m:t>)</m:t>
                    </m:r>
                  </m:oMath>
                </a14:m>
                <a:r>
                  <a:rPr lang="fr-FR" dirty="0"/>
                  <a:t> divisée par la variation de </a:t>
                </a:r>
                <a14:m>
                  <m:oMath xmlns:m="http://schemas.openxmlformats.org/officeDocument/2006/math">
                    <m:r>
                      <a:rPr lang="fr-FR" i="1">
                        <a:latin typeface="Cambria Math" panose="02040503050406030204" pitchFamily="18" charset="0"/>
                      </a:rPr>
                      <m:t>𝑥</m:t>
                    </m:r>
                  </m:oMath>
                </a14:m>
                <a:r>
                  <a:rPr lang="fr-FR" dirty="0"/>
                  <a:t> lorsque la variation de </a:t>
                </a:r>
                <a14:m>
                  <m:oMath xmlns:m="http://schemas.openxmlformats.org/officeDocument/2006/math">
                    <m:r>
                      <a:rPr lang="fr-FR" i="1">
                        <a:latin typeface="Cambria Math" panose="02040503050406030204" pitchFamily="18" charset="0"/>
                      </a:rPr>
                      <m:t>𝑥</m:t>
                    </m:r>
                  </m:oMath>
                </a14:m>
                <a:r>
                  <a:rPr lang="fr-FR" dirty="0"/>
                  <a:t> tend vers 0.</a:t>
                </a:r>
              </a:p>
              <a:p>
                <a:pPr lvl="1" algn="just">
                  <a:lnSpc>
                    <a:spcPct val="150000"/>
                  </a:lnSpc>
                  <a:buClr>
                    <a:schemeClr val="accent2"/>
                  </a:buClr>
                </a:pPr>
                <a:r>
                  <a:rPr lang="fr-FR" dirty="0"/>
                  <a:t>On note</a:t>
                </a:r>
                <a14:m>
                  <m:oMath xmlns:m="http://schemas.openxmlformats.org/officeDocument/2006/math">
                    <m:sSup>
                      <m:sSupPr>
                        <m:ctrlPr>
                          <a:rPr lang="fr-FR" b="0" i="1" smtClean="0">
                            <a:latin typeface="Cambria Math" panose="02040503050406030204" pitchFamily="18" charset="0"/>
                          </a:rPr>
                        </m:ctrlPr>
                      </m:sSupPr>
                      <m:e>
                        <m:r>
                          <a:rPr lang="fr-FR" i="1">
                            <a:latin typeface="Cambria Math" panose="02040503050406030204" pitchFamily="18" charset="0"/>
                          </a:rPr>
                          <m:t>𝑓</m:t>
                        </m:r>
                      </m:e>
                      <m:sup>
                        <m:r>
                          <a:rPr lang="fr-FR" b="0" i="1" smtClean="0">
                            <a:latin typeface="Cambria Math" panose="02040503050406030204" pitchFamily="18" charset="0"/>
                          </a:rPr>
                          <m:t>′</m:t>
                        </m:r>
                      </m:sup>
                    </m:sSup>
                    <m:d>
                      <m:dPr>
                        <m:ctrlPr>
                          <a:rPr lang="fr-FR" b="0" i="1" smtClean="0">
                            <a:latin typeface="Cambria Math" panose="02040503050406030204" pitchFamily="18" charset="0"/>
                          </a:rPr>
                        </m:ctrlPr>
                      </m:dPr>
                      <m:e>
                        <m:r>
                          <a:rPr lang="fr-FR" i="1">
                            <a:latin typeface="Cambria Math" panose="02040503050406030204" pitchFamily="18" charset="0"/>
                          </a:rPr>
                          <m:t>𝑥</m:t>
                        </m:r>
                      </m:e>
                    </m:d>
                  </m:oMath>
                </a14:m>
                <a:r>
                  <a:rPr lang="fr-FR" dirty="0"/>
                  <a:t> ou </a:t>
                </a:r>
                <a14:m>
                  <m:oMath xmlns:m="http://schemas.openxmlformats.org/officeDocument/2006/math">
                    <m:f>
                      <m:fPr>
                        <m:ctrlPr>
                          <a:rPr lang="fr-FR" i="1" smtClean="0">
                            <a:latin typeface="Cambria Math" panose="02040503050406030204" pitchFamily="18" charset="0"/>
                          </a:rPr>
                        </m:ctrlPr>
                      </m:fPr>
                      <m:num>
                        <m:r>
                          <a:rPr lang="fr-FR" b="0" i="1" smtClean="0">
                            <a:latin typeface="Cambria Math" panose="02040503050406030204" pitchFamily="18" charset="0"/>
                          </a:rPr>
                          <m:t>𝑑</m:t>
                        </m:r>
                        <m:r>
                          <a:rPr lang="fr-FR" i="1">
                            <a:latin typeface="Cambria Math" panose="02040503050406030204" pitchFamily="18" charset="0"/>
                          </a:rPr>
                          <m:t>𝑓</m:t>
                        </m:r>
                        <m:r>
                          <a:rPr lang="fr-FR" i="1">
                            <a:latin typeface="Cambria Math" panose="02040503050406030204" pitchFamily="18" charset="0"/>
                          </a:rPr>
                          <m:t>(</m:t>
                        </m:r>
                        <m:r>
                          <a:rPr lang="fr-FR" i="1">
                            <a:latin typeface="Cambria Math" panose="02040503050406030204" pitchFamily="18" charset="0"/>
                          </a:rPr>
                          <m:t>𝑥</m:t>
                        </m:r>
                        <m:r>
                          <a:rPr lang="fr-FR" i="1">
                            <a:latin typeface="Cambria Math" panose="02040503050406030204" pitchFamily="18" charset="0"/>
                          </a:rPr>
                          <m:t>)</m:t>
                        </m:r>
                      </m:num>
                      <m:den>
                        <m:r>
                          <a:rPr lang="fr-FR" b="0" i="1" smtClean="0">
                            <a:latin typeface="Cambria Math" panose="02040503050406030204" pitchFamily="18" charset="0"/>
                          </a:rPr>
                          <m:t>𝑑𝑥</m:t>
                        </m:r>
                      </m:den>
                    </m:f>
                  </m:oMath>
                </a14:m>
                <a:endParaRPr lang="fr-FR" dirty="0"/>
              </a:p>
              <a:p>
                <a:pPr lvl="1" algn="just">
                  <a:lnSpc>
                    <a:spcPct val="150000"/>
                  </a:lnSpc>
                  <a:buClr>
                    <a:schemeClr val="accent2"/>
                  </a:buClr>
                </a:pPr>
                <a:r>
                  <a:rPr lang="fr-FR" dirty="0"/>
                  <a:t>La dérivée d'une fonction donne la direction dans laquelle la fonction croît ou décroît le plus rapidement au voisinage du point considéré.</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69"/>
                <a:ext cx="5892014" cy="3395184"/>
              </a:xfrm>
              <a:blipFill>
                <a:blip r:embed="rId2"/>
                <a:stretch>
                  <a:fillRect t="-359" r="-1967"/>
                </a:stretch>
              </a:blipFill>
            </p:spPr>
            <p:txBody>
              <a:bodyPr/>
              <a:lstStyle/>
              <a:p>
                <a:r>
                  <a:rPr lang="fr-FR">
                    <a:noFill/>
                  </a:rPr>
                  <a:t> </a:t>
                </a:r>
              </a:p>
            </p:txBody>
          </p:sp>
        </mc:Fallback>
      </mc:AlternateContent>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000" dirty="0"/>
              <a:t>03 – Prérequis au DL : réseaux de neurones à propagation avant</a:t>
            </a:r>
            <a:endParaRPr lang="fr-FR" sz="20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Dérivée et descente de gradient stochastique</a:t>
            </a:r>
          </a:p>
        </p:txBody>
      </p:sp>
    </p:spTree>
    <p:extLst>
      <p:ext uri="{BB962C8B-B14F-4D97-AF65-F5344CB8AC3E}">
        <p14:creationId xmlns:p14="http://schemas.microsoft.com/office/powerpoint/2010/main" val="2154978913"/>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69"/>
            <a:ext cx="6249917" cy="3395184"/>
          </a:xfrm>
        </p:spPr>
        <p:txBody>
          <a:bodyPr>
            <a:normAutofit fontScale="55000" lnSpcReduction="20000"/>
          </a:bodyPr>
          <a:lstStyle/>
          <a:p>
            <a:pPr lvl="1" algn="just">
              <a:lnSpc>
                <a:spcPct val="150000"/>
              </a:lnSpc>
              <a:buClr>
                <a:schemeClr val="accent2"/>
              </a:buClr>
            </a:pPr>
            <a:r>
              <a:rPr lang="fr-FR" dirty="0"/>
              <a:t>La descente de gradient est un algorithme d'optimisation utilisé pour minimiser une fonction objective en ajustant itérativement les paramètres du modèle dans la direction opposée du gradient de la fonction. </a:t>
            </a:r>
          </a:p>
          <a:p>
            <a:pPr lvl="1" algn="just">
              <a:lnSpc>
                <a:spcPct val="150000"/>
              </a:lnSpc>
              <a:buClr>
                <a:schemeClr val="accent2"/>
              </a:buClr>
            </a:pPr>
            <a:r>
              <a:rPr lang="fr-FR" dirty="0"/>
              <a:t>L'idée principale est de suivre la direction dans laquelle la fonction décroît le plus rapidement.</a:t>
            </a:r>
          </a:p>
          <a:p>
            <a:pPr lvl="1" algn="just">
              <a:lnSpc>
                <a:spcPct val="150000"/>
              </a:lnSpc>
              <a:buClr>
                <a:schemeClr val="accent2"/>
              </a:buClr>
            </a:pPr>
            <a:r>
              <a:rPr lang="fr-FR" dirty="0"/>
              <a:t>Le terme de descente de gradient tire son nom du fait qu’on regarde la pente de la fonction de perte (son gradient) et qu’on demande au système de minimiser sa perte (descente) en suivant ce gradient.</a:t>
            </a:r>
          </a:p>
          <a:p>
            <a:pPr lvl="1" algn="just">
              <a:lnSpc>
                <a:spcPct val="150000"/>
              </a:lnSpc>
              <a:buClr>
                <a:schemeClr val="accent2"/>
              </a:buClr>
            </a:pPr>
            <a:r>
              <a:rPr lang="fr-FR" dirty="0"/>
              <a:t>Cette méthode d’apprentissage s’appelle la </a:t>
            </a:r>
            <a:r>
              <a:rPr lang="fr-FR" b="1" dirty="0"/>
              <a:t>rétropropagation</a:t>
            </a:r>
            <a:r>
              <a:rPr lang="fr-FR" dirty="0"/>
              <a:t>.</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000" dirty="0"/>
              <a:t>03 – Prérequis au DL : réseaux de neurones à propagation avant</a:t>
            </a:r>
            <a:endParaRPr lang="fr-FR" sz="20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Dérivée et descente de gradient stochastique</a:t>
            </a:r>
          </a:p>
        </p:txBody>
      </p:sp>
    </p:spTree>
    <p:extLst>
      <p:ext uri="{BB962C8B-B14F-4D97-AF65-F5344CB8AC3E}">
        <p14:creationId xmlns:p14="http://schemas.microsoft.com/office/powerpoint/2010/main" val="1109453733"/>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69"/>
            <a:ext cx="6534671" cy="3395184"/>
          </a:xfrm>
        </p:spPr>
        <p:txBody>
          <a:bodyPr>
            <a:normAutofit fontScale="62500" lnSpcReduction="20000"/>
          </a:bodyPr>
          <a:lstStyle/>
          <a:p>
            <a:pPr lvl="1" algn="just">
              <a:lnSpc>
                <a:spcPct val="150000"/>
              </a:lnSpc>
              <a:buClr>
                <a:schemeClr val="accent2"/>
              </a:buClr>
            </a:pPr>
            <a:r>
              <a:rPr lang="fr-FR" dirty="0"/>
              <a:t>La descente de gradient stochastique est une variante de la descente de gradient classique dans laquelle les mises à jour des paramètres du modèle sont calculées non pas sur l'ensemble complet des données d'entraînement, mais sur un seul exemple (ou un petit sous-ensemble d'exemples) choisi aléatoirement à chaque itération. </a:t>
            </a:r>
          </a:p>
          <a:p>
            <a:pPr lvl="1" algn="just">
              <a:lnSpc>
                <a:spcPct val="150000"/>
              </a:lnSpc>
              <a:buClr>
                <a:schemeClr val="accent2"/>
              </a:buClr>
            </a:pPr>
            <a:r>
              <a:rPr lang="fr-FR" dirty="0"/>
              <a:t>Cela permet d'accélérer l'apprentissage et de gérer efficacement les grands ensembles de données. </a:t>
            </a:r>
          </a:p>
          <a:p>
            <a:pPr lvl="1" algn="just">
              <a:lnSpc>
                <a:spcPct val="150000"/>
              </a:lnSpc>
              <a:buClr>
                <a:schemeClr val="accent2"/>
              </a:buClr>
            </a:pPr>
            <a:r>
              <a:rPr lang="fr-FR" dirty="0"/>
              <a:t>En pratique, la SGD converge souvent plus rapidement que la descente de gradient classique, bien que sa convergence puisse être plus bruitée en raison de la sélection aléatoire des exemples.</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000" dirty="0"/>
              <a:t>03 – Prérequis au DL : réseaux de neurones à propagation avant</a:t>
            </a:r>
            <a:endParaRPr lang="fr-FR" sz="20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Dérivée et descente de gradient stochastique</a:t>
            </a:r>
          </a:p>
        </p:txBody>
      </p:sp>
    </p:spTree>
    <p:extLst>
      <p:ext uri="{BB962C8B-B14F-4D97-AF65-F5344CB8AC3E}">
        <p14:creationId xmlns:p14="http://schemas.microsoft.com/office/powerpoint/2010/main" val="85204360"/>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2000" dirty="0"/>
              <a:t>03 – Prérequis au DL : réseaux de neurones à propagation avant</a:t>
            </a:r>
            <a:endParaRPr lang="fr-FR" sz="20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Dérivée et descente de gradient stochastique</a:t>
            </a:r>
          </a:p>
        </p:txBody>
      </p:sp>
      <p:grpSp>
        <p:nvGrpSpPr>
          <p:cNvPr id="7" name="Groupe 6">
            <a:extLst>
              <a:ext uri="{FF2B5EF4-FFF2-40B4-BE49-F238E27FC236}">
                <a16:creationId xmlns:a16="http://schemas.microsoft.com/office/drawing/2014/main" id="{FCFA33C1-DA80-41F2-A19A-770E262157F9}"/>
              </a:ext>
            </a:extLst>
          </p:cNvPr>
          <p:cNvGrpSpPr/>
          <p:nvPr/>
        </p:nvGrpSpPr>
        <p:grpSpPr>
          <a:xfrm>
            <a:off x="2246640" y="1618136"/>
            <a:ext cx="3415973" cy="2965400"/>
            <a:chOff x="2995519" y="2157514"/>
            <a:chExt cx="4554631" cy="3953867"/>
          </a:xfrm>
        </p:grpSpPr>
        <p:sp>
          <p:nvSpPr>
            <p:cNvPr id="8" name="Forme libre : forme 7">
              <a:extLst>
                <a:ext uri="{FF2B5EF4-FFF2-40B4-BE49-F238E27FC236}">
                  <a16:creationId xmlns:a16="http://schemas.microsoft.com/office/drawing/2014/main" id="{A2E16EDB-B02F-4A63-AC55-D816D4E80ABA}"/>
                </a:ext>
              </a:extLst>
            </p:cNvPr>
            <p:cNvSpPr/>
            <p:nvPr/>
          </p:nvSpPr>
          <p:spPr>
            <a:xfrm>
              <a:off x="3546282" y="2417197"/>
              <a:ext cx="3204375" cy="2648721"/>
            </a:xfrm>
            <a:custGeom>
              <a:avLst/>
              <a:gdLst>
                <a:gd name="connsiteX0" fmla="*/ 0 w 3204375"/>
                <a:gd name="connsiteY0" fmla="*/ 0 h 2648721"/>
                <a:gd name="connsiteX1" fmla="*/ 246490 w 3204375"/>
                <a:gd name="connsiteY1" fmla="*/ 143123 h 2648721"/>
                <a:gd name="connsiteX2" fmla="*/ 588396 w 3204375"/>
                <a:gd name="connsiteY2" fmla="*/ 850789 h 2648721"/>
                <a:gd name="connsiteX3" fmla="*/ 1288111 w 3204375"/>
                <a:gd name="connsiteY3" fmla="*/ 2361537 h 2648721"/>
                <a:gd name="connsiteX4" fmla="*/ 1630017 w 3204375"/>
                <a:gd name="connsiteY4" fmla="*/ 2631881 h 2648721"/>
                <a:gd name="connsiteX5" fmla="*/ 2051436 w 3204375"/>
                <a:gd name="connsiteY5" fmla="*/ 2115046 h 2648721"/>
                <a:gd name="connsiteX6" fmla="*/ 2862469 w 3204375"/>
                <a:gd name="connsiteY6" fmla="*/ 389613 h 2648721"/>
                <a:gd name="connsiteX7" fmla="*/ 3204375 w 3204375"/>
                <a:gd name="connsiteY7" fmla="*/ 119269 h 2648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04375" h="2648721">
                  <a:moveTo>
                    <a:pt x="0" y="0"/>
                  </a:moveTo>
                  <a:cubicBezTo>
                    <a:pt x="74212" y="662"/>
                    <a:pt x="148424" y="1325"/>
                    <a:pt x="246490" y="143123"/>
                  </a:cubicBezTo>
                  <a:cubicBezTo>
                    <a:pt x="344556" y="284921"/>
                    <a:pt x="414793" y="481053"/>
                    <a:pt x="588396" y="850789"/>
                  </a:cubicBezTo>
                  <a:cubicBezTo>
                    <a:pt x="761999" y="1220525"/>
                    <a:pt x="1114508" y="2064688"/>
                    <a:pt x="1288111" y="2361537"/>
                  </a:cubicBezTo>
                  <a:cubicBezTo>
                    <a:pt x="1461714" y="2658386"/>
                    <a:pt x="1502796" y="2672963"/>
                    <a:pt x="1630017" y="2631881"/>
                  </a:cubicBezTo>
                  <a:cubicBezTo>
                    <a:pt x="1757238" y="2590799"/>
                    <a:pt x="1846027" y="2488757"/>
                    <a:pt x="2051436" y="2115046"/>
                  </a:cubicBezTo>
                  <a:cubicBezTo>
                    <a:pt x="2256845" y="1741335"/>
                    <a:pt x="2670313" y="722243"/>
                    <a:pt x="2862469" y="389613"/>
                  </a:cubicBezTo>
                  <a:cubicBezTo>
                    <a:pt x="3054626" y="56984"/>
                    <a:pt x="3138114" y="166977"/>
                    <a:pt x="3204375" y="119269"/>
                  </a:cubicBezTo>
                </a:path>
              </a:pathLst>
            </a:custGeom>
            <a:noFill/>
            <a:ln>
              <a:solidFill>
                <a:srgbClr val="1F6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9" name="Organigramme : Connecteur 8">
              <a:extLst>
                <a:ext uri="{FF2B5EF4-FFF2-40B4-BE49-F238E27FC236}">
                  <a16:creationId xmlns:a16="http://schemas.microsoft.com/office/drawing/2014/main" id="{83CB10D4-CCE2-43EB-A2C3-D3317DA735F7}"/>
                </a:ext>
              </a:extLst>
            </p:cNvPr>
            <p:cNvSpPr/>
            <p:nvPr/>
          </p:nvSpPr>
          <p:spPr>
            <a:xfrm>
              <a:off x="3713259" y="2496710"/>
              <a:ext cx="103366" cy="103367"/>
            </a:xfrm>
            <a:prstGeom prst="flowChartConnector">
              <a:avLst/>
            </a:prstGeom>
            <a:solidFill>
              <a:schemeClr val="bg1"/>
            </a:solid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0" name="Organigramme : Connecteur 9">
              <a:extLst>
                <a:ext uri="{FF2B5EF4-FFF2-40B4-BE49-F238E27FC236}">
                  <a16:creationId xmlns:a16="http://schemas.microsoft.com/office/drawing/2014/main" id="{51AE7DD1-5B4F-42DA-8011-AA1808AEFF61}"/>
                </a:ext>
              </a:extLst>
            </p:cNvPr>
            <p:cNvSpPr/>
            <p:nvPr/>
          </p:nvSpPr>
          <p:spPr>
            <a:xfrm>
              <a:off x="4024687" y="3062579"/>
              <a:ext cx="103366" cy="103367"/>
            </a:xfrm>
            <a:prstGeom prst="flowChartConnector">
              <a:avLst/>
            </a:prstGeom>
            <a:solidFill>
              <a:schemeClr val="bg1"/>
            </a:solid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1" name="Organigramme : Connecteur 10">
              <a:extLst>
                <a:ext uri="{FF2B5EF4-FFF2-40B4-BE49-F238E27FC236}">
                  <a16:creationId xmlns:a16="http://schemas.microsoft.com/office/drawing/2014/main" id="{CD0121BA-AD9B-4B08-AA65-4A79B6767532}"/>
                </a:ext>
              </a:extLst>
            </p:cNvPr>
            <p:cNvSpPr/>
            <p:nvPr/>
          </p:nvSpPr>
          <p:spPr>
            <a:xfrm>
              <a:off x="4399723" y="3986254"/>
              <a:ext cx="103366" cy="103367"/>
            </a:xfrm>
            <a:prstGeom prst="flowChartConnector">
              <a:avLst/>
            </a:prstGeom>
            <a:solidFill>
              <a:schemeClr val="bg1"/>
            </a:solid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2" name="Organigramme : Connecteur 11">
              <a:extLst>
                <a:ext uri="{FF2B5EF4-FFF2-40B4-BE49-F238E27FC236}">
                  <a16:creationId xmlns:a16="http://schemas.microsoft.com/office/drawing/2014/main" id="{E2ABD87C-944B-4E00-8728-52A7ADB9EA5B}"/>
                </a:ext>
              </a:extLst>
            </p:cNvPr>
            <p:cNvSpPr/>
            <p:nvPr/>
          </p:nvSpPr>
          <p:spPr>
            <a:xfrm>
              <a:off x="4655492" y="4512364"/>
              <a:ext cx="103366" cy="103367"/>
            </a:xfrm>
            <a:prstGeom prst="flowChartConnector">
              <a:avLst/>
            </a:prstGeom>
            <a:solidFill>
              <a:schemeClr val="bg1"/>
            </a:solid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3" name="Organigramme : Connecteur 12">
              <a:extLst>
                <a:ext uri="{FF2B5EF4-FFF2-40B4-BE49-F238E27FC236}">
                  <a16:creationId xmlns:a16="http://schemas.microsoft.com/office/drawing/2014/main" id="{F05D23B0-6F48-4C47-9423-D5482D599ADA}"/>
                </a:ext>
              </a:extLst>
            </p:cNvPr>
            <p:cNvSpPr/>
            <p:nvPr/>
          </p:nvSpPr>
          <p:spPr>
            <a:xfrm>
              <a:off x="4776088" y="4712470"/>
              <a:ext cx="103366" cy="103367"/>
            </a:xfrm>
            <a:prstGeom prst="flowChartConnector">
              <a:avLst/>
            </a:prstGeom>
            <a:solidFill>
              <a:schemeClr val="bg1"/>
            </a:solid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5" name="Organigramme : Connecteur 14">
              <a:extLst>
                <a:ext uri="{FF2B5EF4-FFF2-40B4-BE49-F238E27FC236}">
                  <a16:creationId xmlns:a16="http://schemas.microsoft.com/office/drawing/2014/main" id="{8A0EA78C-075C-464E-805A-61BAC5DCFF9A}"/>
                </a:ext>
              </a:extLst>
            </p:cNvPr>
            <p:cNvSpPr/>
            <p:nvPr/>
          </p:nvSpPr>
          <p:spPr>
            <a:xfrm>
              <a:off x="4904635" y="4880772"/>
              <a:ext cx="103366" cy="103367"/>
            </a:xfrm>
            <a:prstGeom prst="flowChartConnector">
              <a:avLst/>
            </a:prstGeom>
            <a:solidFill>
              <a:schemeClr val="bg1"/>
            </a:solid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Organigramme : Connecteur 15">
              <a:extLst>
                <a:ext uri="{FF2B5EF4-FFF2-40B4-BE49-F238E27FC236}">
                  <a16:creationId xmlns:a16="http://schemas.microsoft.com/office/drawing/2014/main" id="{EC6CFEDB-760B-4DF6-A620-102DDE61216A}"/>
                </a:ext>
              </a:extLst>
            </p:cNvPr>
            <p:cNvSpPr/>
            <p:nvPr/>
          </p:nvSpPr>
          <p:spPr>
            <a:xfrm>
              <a:off x="5104741" y="4993417"/>
              <a:ext cx="103366" cy="103367"/>
            </a:xfrm>
            <a:prstGeom prst="flowChartConnector">
              <a:avLst/>
            </a:prstGeom>
            <a:solidFill>
              <a:schemeClr val="bg1"/>
            </a:solid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7" name="Forme libre : forme 16">
              <a:extLst>
                <a:ext uri="{FF2B5EF4-FFF2-40B4-BE49-F238E27FC236}">
                  <a16:creationId xmlns:a16="http://schemas.microsoft.com/office/drawing/2014/main" id="{F9A7806B-04A7-4759-9A0F-91248430006C}"/>
                </a:ext>
              </a:extLst>
            </p:cNvPr>
            <p:cNvSpPr/>
            <p:nvPr/>
          </p:nvSpPr>
          <p:spPr>
            <a:xfrm>
              <a:off x="4750594" y="4564856"/>
              <a:ext cx="102585" cy="147638"/>
            </a:xfrm>
            <a:custGeom>
              <a:avLst/>
              <a:gdLst>
                <a:gd name="connsiteX0" fmla="*/ 0 w 102585"/>
                <a:gd name="connsiteY0" fmla="*/ 0 h 147638"/>
                <a:gd name="connsiteX1" fmla="*/ 78581 w 102585"/>
                <a:gd name="connsiteY1" fmla="*/ 42863 h 147638"/>
                <a:gd name="connsiteX2" fmla="*/ 102394 w 102585"/>
                <a:gd name="connsiteY2" fmla="*/ 147638 h 147638"/>
              </a:gdLst>
              <a:ahLst/>
              <a:cxnLst>
                <a:cxn ang="0">
                  <a:pos x="connsiteX0" y="connsiteY0"/>
                </a:cxn>
                <a:cxn ang="0">
                  <a:pos x="connsiteX1" y="connsiteY1"/>
                </a:cxn>
                <a:cxn ang="0">
                  <a:pos x="connsiteX2" y="connsiteY2"/>
                </a:cxn>
              </a:cxnLst>
              <a:rect l="l" t="t" r="r" b="b"/>
              <a:pathLst>
                <a:path w="102585" h="147638">
                  <a:moveTo>
                    <a:pt x="0" y="0"/>
                  </a:moveTo>
                  <a:cubicBezTo>
                    <a:pt x="30757" y="9128"/>
                    <a:pt x="61515" y="18257"/>
                    <a:pt x="78581" y="42863"/>
                  </a:cubicBezTo>
                  <a:cubicBezTo>
                    <a:pt x="95647" y="67469"/>
                    <a:pt x="103982" y="109538"/>
                    <a:pt x="102394" y="147638"/>
                  </a:cubicBezTo>
                </a:path>
              </a:pathLst>
            </a:custGeom>
            <a:noFill/>
            <a:ln w="3175">
              <a:solidFill>
                <a:schemeClr val="accent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18" name="Forme libre : forme 17">
              <a:extLst>
                <a:ext uri="{FF2B5EF4-FFF2-40B4-BE49-F238E27FC236}">
                  <a16:creationId xmlns:a16="http://schemas.microsoft.com/office/drawing/2014/main" id="{CEE57E80-3162-4C26-853A-AA82FEC29F3F}"/>
                </a:ext>
              </a:extLst>
            </p:cNvPr>
            <p:cNvSpPr/>
            <p:nvPr/>
          </p:nvSpPr>
          <p:spPr>
            <a:xfrm>
              <a:off x="4883944" y="4762500"/>
              <a:ext cx="102394" cy="133350"/>
            </a:xfrm>
            <a:custGeom>
              <a:avLst/>
              <a:gdLst>
                <a:gd name="connsiteX0" fmla="*/ 0 w 102394"/>
                <a:gd name="connsiteY0" fmla="*/ 0 h 133350"/>
                <a:gd name="connsiteX1" fmla="*/ 83344 w 102394"/>
                <a:gd name="connsiteY1" fmla="*/ 47625 h 133350"/>
                <a:gd name="connsiteX2" fmla="*/ 102394 w 102394"/>
                <a:gd name="connsiteY2" fmla="*/ 133350 h 133350"/>
              </a:gdLst>
              <a:ahLst/>
              <a:cxnLst>
                <a:cxn ang="0">
                  <a:pos x="connsiteX0" y="connsiteY0"/>
                </a:cxn>
                <a:cxn ang="0">
                  <a:pos x="connsiteX1" y="connsiteY1"/>
                </a:cxn>
                <a:cxn ang="0">
                  <a:pos x="connsiteX2" y="connsiteY2"/>
                </a:cxn>
              </a:cxnLst>
              <a:rect l="l" t="t" r="r" b="b"/>
              <a:pathLst>
                <a:path w="102394" h="133350">
                  <a:moveTo>
                    <a:pt x="0" y="0"/>
                  </a:moveTo>
                  <a:cubicBezTo>
                    <a:pt x="33139" y="12700"/>
                    <a:pt x="66278" y="25400"/>
                    <a:pt x="83344" y="47625"/>
                  </a:cubicBezTo>
                  <a:cubicBezTo>
                    <a:pt x="100410" y="69850"/>
                    <a:pt x="101402" y="101600"/>
                    <a:pt x="102394" y="133350"/>
                  </a:cubicBezTo>
                </a:path>
              </a:pathLst>
            </a:custGeom>
            <a:noFill/>
            <a:ln w="3175">
              <a:solidFill>
                <a:schemeClr val="accent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19" name="Forme libre : forme 18">
              <a:extLst>
                <a:ext uri="{FF2B5EF4-FFF2-40B4-BE49-F238E27FC236}">
                  <a16:creationId xmlns:a16="http://schemas.microsoft.com/office/drawing/2014/main" id="{C9BECB93-BB19-48DF-90A1-A8B897F572BC}"/>
                </a:ext>
              </a:extLst>
            </p:cNvPr>
            <p:cNvSpPr/>
            <p:nvPr/>
          </p:nvSpPr>
          <p:spPr>
            <a:xfrm>
              <a:off x="5007769" y="4930568"/>
              <a:ext cx="152400" cy="59476"/>
            </a:xfrm>
            <a:custGeom>
              <a:avLst/>
              <a:gdLst>
                <a:gd name="connsiteX0" fmla="*/ 0 w 152400"/>
                <a:gd name="connsiteY0" fmla="*/ 10526 h 59476"/>
                <a:gd name="connsiteX1" fmla="*/ 102394 w 152400"/>
                <a:gd name="connsiteY1" fmla="*/ 3382 h 59476"/>
                <a:gd name="connsiteX2" fmla="*/ 152400 w 152400"/>
                <a:gd name="connsiteY2" fmla="*/ 58151 h 59476"/>
              </a:gdLst>
              <a:ahLst/>
              <a:cxnLst>
                <a:cxn ang="0">
                  <a:pos x="connsiteX0" y="connsiteY0"/>
                </a:cxn>
                <a:cxn ang="0">
                  <a:pos x="connsiteX1" y="connsiteY1"/>
                </a:cxn>
                <a:cxn ang="0">
                  <a:pos x="connsiteX2" y="connsiteY2"/>
                </a:cxn>
              </a:cxnLst>
              <a:rect l="l" t="t" r="r" b="b"/>
              <a:pathLst>
                <a:path w="152400" h="59476">
                  <a:moveTo>
                    <a:pt x="0" y="10526"/>
                  </a:moveTo>
                  <a:cubicBezTo>
                    <a:pt x="38497" y="2985"/>
                    <a:pt x="76994" y="-4555"/>
                    <a:pt x="102394" y="3382"/>
                  </a:cubicBezTo>
                  <a:cubicBezTo>
                    <a:pt x="127794" y="11319"/>
                    <a:pt x="132160" y="68867"/>
                    <a:pt x="152400" y="58151"/>
                  </a:cubicBezTo>
                </a:path>
              </a:pathLst>
            </a:custGeom>
            <a:noFill/>
            <a:ln w="3175">
              <a:solidFill>
                <a:schemeClr val="accent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20" name="Forme libre : forme 19">
              <a:extLst>
                <a:ext uri="{FF2B5EF4-FFF2-40B4-BE49-F238E27FC236}">
                  <a16:creationId xmlns:a16="http://schemas.microsoft.com/office/drawing/2014/main" id="{0A445783-15C7-4CA3-AFA5-7F2AAAD9BAE7}"/>
                </a:ext>
              </a:extLst>
            </p:cNvPr>
            <p:cNvSpPr/>
            <p:nvPr/>
          </p:nvSpPr>
          <p:spPr>
            <a:xfrm>
              <a:off x="3821906" y="2514600"/>
              <a:ext cx="275394" cy="552450"/>
            </a:xfrm>
            <a:custGeom>
              <a:avLst/>
              <a:gdLst>
                <a:gd name="connsiteX0" fmla="*/ 0 w 275394"/>
                <a:gd name="connsiteY0" fmla="*/ 0 h 552450"/>
                <a:gd name="connsiteX1" fmla="*/ 121444 w 275394"/>
                <a:gd name="connsiteY1" fmla="*/ 35719 h 552450"/>
                <a:gd name="connsiteX2" fmla="*/ 223838 w 275394"/>
                <a:gd name="connsiteY2" fmla="*/ 176213 h 552450"/>
                <a:gd name="connsiteX3" fmla="*/ 273844 w 275394"/>
                <a:gd name="connsiteY3" fmla="*/ 400050 h 552450"/>
                <a:gd name="connsiteX4" fmla="*/ 273844 w 275394"/>
                <a:gd name="connsiteY4" fmla="*/ 552450 h 55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394" h="552450">
                  <a:moveTo>
                    <a:pt x="0" y="0"/>
                  </a:moveTo>
                  <a:cubicBezTo>
                    <a:pt x="42069" y="3175"/>
                    <a:pt x="84138" y="6350"/>
                    <a:pt x="121444" y="35719"/>
                  </a:cubicBezTo>
                  <a:cubicBezTo>
                    <a:pt x="158750" y="65088"/>
                    <a:pt x="198438" y="115491"/>
                    <a:pt x="223838" y="176213"/>
                  </a:cubicBezTo>
                  <a:cubicBezTo>
                    <a:pt x="249238" y="236935"/>
                    <a:pt x="265510" y="337344"/>
                    <a:pt x="273844" y="400050"/>
                  </a:cubicBezTo>
                  <a:cubicBezTo>
                    <a:pt x="282178" y="462756"/>
                    <a:pt x="253206" y="542528"/>
                    <a:pt x="273844" y="552450"/>
                  </a:cubicBezTo>
                </a:path>
              </a:pathLst>
            </a:custGeom>
            <a:noFill/>
            <a:ln w="3175">
              <a:solidFill>
                <a:schemeClr val="accent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1" name="Forme libre : forme 20">
              <a:extLst>
                <a:ext uri="{FF2B5EF4-FFF2-40B4-BE49-F238E27FC236}">
                  <a16:creationId xmlns:a16="http://schemas.microsoft.com/office/drawing/2014/main" id="{A6DA282D-A00E-42E3-9B4A-8E78A7106EFE}"/>
                </a:ext>
              </a:extLst>
            </p:cNvPr>
            <p:cNvSpPr/>
            <p:nvPr/>
          </p:nvSpPr>
          <p:spPr>
            <a:xfrm>
              <a:off x="4129088" y="3098006"/>
              <a:ext cx="346346" cy="885825"/>
            </a:xfrm>
            <a:custGeom>
              <a:avLst/>
              <a:gdLst>
                <a:gd name="connsiteX0" fmla="*/ 0 w 346346"/>
                <a:gd name="connsiteY0" fmla="*/ 0 h 885825"/>
                <a:gd name="connsiteX1" fmla="*/ 107156 w 346346"/>
                <a:gd name="connsiteY1" fmla="*/ 50007 h 885825"/>
                <a:gd name="connsiteX2" fmla="*/ 230981 w 346346"/>
                <a:gd name="connsiteY2" fmla="*/ 228600 h 885825"/>
                <a:gd name="connsiteX3" fmla="*/ 316706 w 346346"/>
                <a:gd name="connsiteY3" fmla="*/ 497682 h 885825"/>
                <a:gd name="connsiteX4" fmla="*/ 342900 w 346346"/>
                <a:gd name="connsiteY4" fmla="*/ 666750 h 885825"/>
                <a:gd name="connsiteX5" fmla="*/ 345281 w 346346"/>
                <a:gd name="connsiteY5" fmla="*/ 885825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6346" h="885825">
                  <a:moveTo>
                    <a:pt x="0" y="0"/>
                  </a:moveTo>
                  <a:cubicBezTo>
                    <a:pt x="34329" y="5953"/>
                    <a:pt x="68659" y="11907"/>
                    <a:pt x="107156" y="50007"/>
                  </a:cubicBezTo>
                  <a:cubicBezTo>
                    <a:pt x="145653" y="88107"/>
                    <a:pt x="196056" y="153988"/>
                    <a:pt x="230981" y="228600"/>
                  </a:cubicBezTo>
                  <a:cubicBezTo>
                    <a:pt x="265906" y="303212"/>
                    <a:pt x="298053" y="424657"/>
                    <a:pt x="316706" y="497682"/>
                  </a:cubicBezTo>
                  <a:cubicBezTo>
                    <a:pt x="335359" y="570707"/>
                    <a:pt x="338138" y="602060"/>
                    <a:pt x="342900" y="666750"/>
                  </a:cubicBezTo>
                  <a:cubicBezTo>
                    <a:pt x="347663" y="731441"/>
                    <a:pt x="346472" y="808633"/>
                    <a:pt x="345281" y="885825"/>
                  </a:cubicBezTo>
                </a:path>
              </a:pathLst>
            </a:custGeom>
            <a:noFill/>
            <a:ln w="3175">
              <a:solidFill>
                <a:schemeClr val="accent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sp>
          <p:nvSpPr>
            <p:cNvPr id="22" name="Forme libre : forme 21">
              <a:extLst>
                <a:ext uri="{FF2B5EF4-FFF2-40B4-BE49-F238E27FC236}">
                  <a16:creationId xmlns:a16="http://schemas.microsoft.com/office/drawing/2014/main" id="{D1B1E878-15C1-4FC9-9052-D887A0D75DE8}"/>
                </a:ext>
              </a:extLst>
            </p:cNvPr>
            <p:cNvSpPr/>
            <p:nvPr/>
          </p:nvSpPr>
          <p:spPr>
            <a:xfrm>
              <a:off x="4507706" y="4024313"/>
              <a:ext cx="225900" cy="490537"/>
            </a:xfrm>
            <a:custGeom>
              <a:avLst/>
              <a:gdLst>
                <a:gd name="connsiteX0" fmla="*/ 0 w 225900"/>
                <a:gd name="connsiteY0" fmla="*/ 0 h 490537"/>
                <a:gd name="connsiteX1" fmla="*/ 76200 w 225900"/>
                <a:gd name="connsiteY1" fmla="*/ 33337 h 490537"/>
                <a:gd name="connsiteX2" fmla="*/ 133350 w 225900"/>
                <a:gd name="connsiteY2" fmla="*/ 107156 h 490537"/>
                <a:gd name="connsiteX3" fmla="*/ 202407 w 225900"/>
                <a:gd name="connsiteY3" fmla="*/ 273843 h 490537"/>
                <a:gd name="connsiteX4" fmla="*/ 223838 w 225900"/>
                <a:gd name="connsiteY4" fmla="*/ 442912 h 490537"/>
                <a:gd name="connsiteX5" fmla="*/ 223838 w 225900"/>
                <a:gd name="connsiteY5" fmla="*/ 490537 h 49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900" h="490537">
                  <a:moveTo>
                    <a:pt x="0" y="0"/>
                  </a:moveTo>
                  <a:cubicBezTo>
                    <a:pt x="26987" y="7739"/>
                    <a:pt x="53975" y="15478"/>
                    <a:pt x="76200" y="33337"/>
                  </a:cubicBezTo>
                  <a:cubicBezTo>
                    <a:pt x="98425" y="51196"/>
                    <a:pt x="112316" y="67072"/>
                    <a:pt x="133350" y="107156"/>
                  </a:cubicBezTo>
                  <a:cubicBezTo>
                    <a:pt x="154385" y="147240"/>
                    <a:pt x="187326" y="217884"/>
                    <a:pt x="202407" y="273843"/>
                  </a:cubicBezTo>
                  <a:cubicBezTo>
                    <a:pt x="217488" y="329802"/>
                    <a:pt x="220266" y="406796"/>
                    <a:pt x="223838" y="442912"/>
                  </a:cubicBezTo>
                  <a:cubicBezTo>
                    <a:pt x="227410" y="479028"/>
                    <a:pt x="225624" y="484782"/>
                    <a:pt x="223838" y="490537"/>
                  </a:cubicBezTo>
                </a:path>
              </a:pathLst>
            </a:custGeom>
            <a:noFill/>
            <a:ln w="3175">
              <a:solidFill>
                <a:schemeClr val="accent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fr-FR" sz="1350"/>
            </a:p>
          </p:txBody>
        </p:sp>
        <p:cxnSp>
          <p:nvCxnSpPr>
            <p:cNvPr id="23" name="Connecteur droit avec flèche 22">
              <a:extLst>
                <a:ext uri="{FF2B5EF4-FFF2-40B4-BE49-F238E27FC236}">
                  <a16:creationId xmlns:a16="http://schemas.microsoft.com/office/drawing/2014/main" id="{92409F62-BDBC-48C0-ABBB-2CCF01C242BF}"/>
                </a:ext>
              </a:extLst>
            </p:cNvPr>
            <p:cNvCxnSpPr>
              <a:cxnSpLocks/>
            </p:cNvCxnSpPr>
            <p:nvPr/>
          </p:nvCxnSpPr>
          <p:spPr>
            <a:xfrm flipV="1">
              <a:off x="3543905" y="2185667"/>
              <a:ext cx="0" cy="3024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3">
              <a:extLst>
                <a:ext uri="{FF2B5EF4-FFF2-40B4-BE49-F238E27FC236}">
                  <a16:creationId xmlns:a16="http://schemas.microsoft.com/office/drawing/2014/main" id="{8AFA8C7E-7725-4C77-8BF9-5AA2D1726313}"/>
                </a:ext>
              </a:extLst>
            </p:cNvPr>
            <p:cNvCxnSpPr>
              <a:cxnSpLocks/>
            </p:cNvCxnSpPr>
            <p:nvPr/>
          </p:nvCxnSpPr>
          <p:spPr>
            <a:xfrm>
              <a:off x="3479873" y="5147080"/>
              <a:ext cx="35457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ZoneTexte 24">
              <a:extLst>
                <a:ext uri="{FF2B5EF4-FFF2-40B4-BE49-F238E27FC236}">
                  <a16:creationId xmlns:a16="http://schemas.microsoft.com/office/drawing/2014/main" id="{F3F1D510-97CE-4AB3-A9CC-303463E23ED0}"/>
                </a:ext>
              </a:extLst>
            </p:cNvPr>
            <p:cNvSpPr txBox="1"/>
            <p:nvPr/>
          </p:nvSpPr>
          <p:spPr>
            <a:xfrm>
              <a:off x="6114554" y="5158948"/>
              <a:ext cx="1024807" cy="400109"/>
            </a:xfrm>
            <a:prstGeom prst="rect">
              <a:avLst/>
            </a:prstGeom>
            <a:noFill/>
          </p:spPr>
          <p:txBody>
            <a:bodyPr wrap="square" rtlCol="0">
              <a:spAutoFit/>
            </a:bodyPr>
            <a:lstStyle/>
            <a:p>
              <a:r>
                <a:rPr lang="fr-FR" sz="675" dirty="0"/>
                <a:t>Valeur des poids</a:t>
              </a:r>
            </a:p>
          </p:txBody>
        </p:sp>
        <p:sp>
          <p:nvSpPr>
            <p:cNvPr id="26" name="ZoneTexte 25">
              <a:extLst>
                <a:ext uri="{FF2B5EF4-FFF2-40B4-BE49-F238E27FC236}">
                  <a16:creationId xmlns:a16="http://schemas.microsoft.com/office/drawing/2014/main" id="{8030BA5C-7B4F-4C8C-84F5-BCBB06A3E035}"/>
                </a:ext>
              </a:extLst>
            </p:cNvPr>
            <p:cNvSpPr txBox="1"/>
            <p:nvPr/>
          </p:nvSpPr>
          <p:spPr>
            <a:xfrm>
              <a:off x="2995519" y="2261199"/>
              <a:ext cx="543105" cy="261611"/>
            </a:xfrm>
            <a:prstGeom prst="rect">
              <a:avLst/>
            </a:prstGeom>
            <a:noFill/>
          </p:spPr>
          <p:txBody>
            <a:bodyPr wrap="square" rtlCol="0">
              <a:spAutoFit/>
            </a:bodyPr>
            <a:lstStyle/>
            <a:p>
              <a:r>
                <a:rPr lang="fr-FR" sz="675" dirty="0"/>
                <a:t>Coût</a:t>
              </a:r>
            </a:p>
          </p:txBody>
        </p:sp>
        <p:sp>
          <p:nvSpPr>
            <p:cNvPr id="27" name="Légende : flèche courbée 26">
              <a:extLst>
                <a:ext uri="{FF2B5EF4-FFF2-40B4-BE49-F238E27FC236}">
                  <a16:creationId xmlns:a16="http://schemas.microsoft.com/office/drawing/2014/main" id="{0FBFB324-838C-450F-B9DD-6FCCE257AA9D}"/>
                </a:ext>
              </a:extLst>
            </p:cNvPr>
            <p:cNvSpPr/>
            <p:nvPr/>
          </p:nvSpPr>
          <p:spPr>
            <a:xfrm>
              <a:off x="4451406" y="2157514"/>
              <a:ext cx="1101665" cy="219102"/>
            </a:xfrm>
            <a:prstGeom prst="borderCallout2">
              <a:avLst>
                <a:gd name="adj1" fmla="val 32535"/>
                <a:gd name="adj2" fmla="val -5297"/>
                <a:gd name="adj3" fmla="val 32535"/>
                <a:gd name="adj4" fmla="val -10938"/>
                <a:gd name="adj5" fmla="val 146685"/>
                <a:gd name="adj6" fmla="val -5749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600" dirty="0"/>
                <a:t>Point de départ</a:t>
              </a:r>
            </a:p>
          </p:txBody>
        </p:sp>
        <p:sp>
          <p:nvSpPr>
            <p:cNvPr id="28" name="Légende : flèche courbée 27">
              <a:extLst>
                <a:ext uri="{FF2B5EF4-FFF2-40B4-BE49-F238E27FC236}">
                  <a16:creationId xmlns:a16="http://schemas.microsoft.com/office/drawing/2014/main" id="{C252C03C-7392-4483-82FD-CDCF803BD63D}"/>
                </a:ext>
              </a:extLst>
            </p:cNvPr>
            <p:cNvSpPr/>
            <p:nvPr/>
          </p:nvSpPr>
          <p:spPr>
            <a:xfrm>
              <a:off x="5736214" y="5609729"/>
              <a:ext cx="1813936" cy="501652"/>
            </a:xfrm>
            <a:prstGeom prst="borderCallout2">
              <a:avLst>
                <a:gd name="adj1" fmla="val 32535"/>
                <a:gd name="adj2" fmla="val -5297"/>
                <a:gd name="adj3" fmla="val 32535"/>
                <a:gd name="adj4" fmla="val -10938"/>
                <a:gd name="adj5" fmla="val -109966"/>
                <a:gd name="adj6" fmla="val -31430"/>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825" dirty="0"/>
                <a:t>Point </a:t>
              </a:r>
              <a:r>
                <a:rPr lang="fr-FR" sz="825"/>
                <a:t>de convergence, </a:t>
              </a:r>
              <a:r>
                <a:rPr lang="fr-FR" sz="825" dirty="0"/>
                <a:t>i.e. où la fonction de coût est à son minimum</a:t>
              </a:r>
            </a:p>
          </p:txBody>
        </p:sp>
      </p:grpSp>
    </p:spTree>
    <p:extLst>
      <p:ext uri="{BB962C8B-B14F-4D97-AF65-F5344CB8AC3E}">
        <p14:creationId xmlns:p14="http://schemas.microsoft.com/office/powerpoint/2010/main" val="1649774312"/>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A3B9E-C992-4E04-812E-09EB3B82E75B}"/>
              </a:ext>
            </a:extLst>
          </p:cNvPr>
          <p:cNvSpPr>
            <a:spLocks noGrp="1"/>
          </p:cNvSpPr>
          <p:nvPr>
            <p:ph type="title"/>
          </p:nvPr>
        </p:nvSpPr>
        <p:spPr>
          <a:xfrm>
            <a:off x="457200" y="2142450"/>
            <a:ext cx="8229240" cy="858600"/>
          </a:xfrm>
        </p:spPr>
        <p:txBody>
          <a:bodyPr/>
          <a:lstStyle/>
          <a:p>
            <a:pPr algn="ctr"/>
            <a:r>
              <a:rPr lang="fr-FR" dirty="0"/>
              <a:t>04. Réseaux de neurones convolutifs</a:t>
            </a:r>
          </a:p>
        </p:txBody>
      </p:sp>
    </p:spTree>
    <p:extLst>
      <p:ext uri="{BB962C8B-B14F-4D97-AF65-F5344CB8AC3E}">
        <p14:creationId xmlns:p14="http://schemas.microsoft.com/office/powerpoint/2010/main" val="1784703701"/>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697745" y="1640454"/>
            <a:ext cx="6054268" cy="3255562"/>
          </a:xfrm>
        </p:spPr>
        <p:txBody>
          <a:bodyPr>
            <a:noAutofit/>
          </a:bodyPr>
          <a:lstStyle/>
          <a:p>
            <a:pPr lvl="1" algn="just">
              <a:lnSpc>
                <a:spcPct val="100000"/>
              </a:lnSpc>
              <a:buClr>
                <a:schemeClr val="accent2"/>
              </a:buClr>
            </a:pPr>
            <a:r>
              <a:rPr lang="fr-FR" sz="2000" dirty="0"/>
              <a:t>Classification d’images avec CNN</a:t>
            </a:r>
            <a:endParaRPr lang="fr-FR" sz="2000" dirty="0">
              <a:solidFill>
                <a:schemeClr val="bg1">
                  <a:lumMod val="65000"/>
                </a:schemeClr>
              </a:solidFill>
            </a:endParaRPr>
          </a:p>
          <a:p>
            <a:pPr lvl="2" algn="just">
              <a:lnSpc>
                <a:spcPct val="100000"/>
              </a:lnSpc>
              <a:buClr>
                <a:schemeClr val="accent2"/>
              </a:buClr>
            </a:pPr>
            <a:r>
              <a:rPr lang="fr-FR" sz="1800" dirty="0"/>
              <a:t>Comment les ordinateurs appréhendent les images</a:t>
            </a:r>
          </a:p>
          <a:p>
            <a:pPr lvl="2" algn="just">
              <a:lnSpc>
                <a:spcPct val="100000"/>
              </a:lnSpc>
              <a:buClr>
                <a:schemeClr val="accent2"/>
              </a:buClr>
            </a:pPr>
            <a:r>
              <a:rPr lang="fr-FR" sz="1800" dirty="0"/>
              <a:t>Le processus de convolution</a:t>
            </a:r>
          </a:p>
          <a:p>
            <a:pPr lvl="2" algn="just">
              <a:lnSpc>
                <a:spcPct val="100000"/>
              </a:lnSpc>
              <a:buClr>
                <a:schemeClr val="accent2"/>
              </a:buClr>
            </a:pPr>
            <a:r>
              <a:rPr lang="fr-FR" sz="1800" dirty="0"/>
              <a:t>L’opération </a:t>
            </a:r>
            <a:r>
              <a:rPr lang="fr-FR" sz="1800" dirty="0" err="1"/>
              <a:t>ReLu</a:t>
            </a:r>
            <a:endParaRPr lang="fr-FR" sz="1800" dirty="0"/>
          </a:p>
          <a:p>
            <a:pPr lvl="2" algn="just">
              <a:lnSpc>
                <a:spcPct val="100000"/>
              </a:lnSpc>
              <a:buClr>
                <a:schemeClr val="accent2"/>
              </a:buClr>
            </a:pPr>
            <a:r>
              <a:rPr lang="fr-FR" sz="1800" dirty="0"/>
              <a:t>L’opération </a:t>
            </a:r>
            <a:r>
              <a:rPr lang="fr-FR" sz="1800" dirty="0" err="1"/>
              <a:t>Pooling</a:t>
            </a:r>
            <a:endParaRPr lang="fr-FR" sz="1800" dirty="0"/>
          </a:p>
          <a:p>
            <a:pPr lvl="2" algn="just">
              <a:lnSpc>
                <a:spcPct val="100000"/>
              </a:lnSpc>
              <a:buClr>
                <a:schemeClr val="accent2"/>
              </a:buClr>
            </a:pPr>
            <a:r>
              <a:rPr lang="fr-FR" sz="1800" dirty="0" err="1"/>
              <a:t>Flattening</a:t>
            </a:r>
            <a:r>
              <a:rPr lang="fr-FR" sz="1800" dirty="0"/>
              <a:t> et couches entièrement liées</a:t>
            </a:r>
          </a:p>
          <a:p>
            <a:pPr lvl="2" algn="just">
              <a:lnSpc>
                <a:spcPct val="100000"/>
              </a:lnSpc>
              <a:buClr>
                <a:schemeClr val="accent2"/>
              </a:buClr>
            </a:pPr>
            <a:r>
              <a:rPr lang="fr-FR" sz="1800" dirty="0"/>
              <a:t>Implémenter CNN avec </a:t>
            </a:r>
            <a:r>
              <a:rPr lang="fr-FR" sz="1800" dirty="0" err="1"/>
              <a:t>TensorFLow</a:t>
            </a:r>
            <a:r>
              <a:rPr lang="fr-FR" sz="1800" dirty="0"/>
              <a:t> et </a:t>
            </a:r>
            <a:r>
              <a:rPr lang="fr-FR" sz="1800" dirty="0" err="1"/>
              <a:t>Keras</a:t>
            </a:r>
            <a:endParaRPr lang="fr-FR" sz="1800"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p:txBody>
          <a:bodyPr>
            <a:normAutofit/>
          </a:bodyPr>
          <a:lstStyle/>
          <a:p>
            <a:r>
              <a:rPr lang="fr-FR" sz="2700" dirty="0"/>
              <a:t>04 – Réseaux de neurones convolutifs</a:t>
            </a:r>
            <a:endParaRPr lang="fr-FR" sz="2700" b="0" dirty="0"/>
          </a:p>
        </p:txBody>
      </p:sp>
      <p:sp>
        <p:nvSpPr>
          <p:cNvPr id="6" name="Title 13">
            <a:extLst>
              <a:ext uri="{FF2B5EF4-FFF2-40B4-BE49-F238E27FC236}">
                <a16:creationId xmlns:a16="http://schemas.microsoft.com/office/drawing/2014/main" id="{26FB5BC2-8F0B-4B26-9FBE-1DC2855015B1}"/>
              </a:ext>
            </a:extLst>
          </p:cNvPr>
          <p:cNvSpPr txBox="1">
            <a:spLocks/>
          </p:cNvSpPr>
          <p:nvPr/>
        </p:nvSpPr>
        <p:spPr>
          <a:xfrm>
            <a:off x="389008" y="1172095"/>
            <a:ext cx="6249917" cy="276141"/>
          </a:xfrm>
          <a:prstGeom prst="rect">
            <a:avLst/>
          </a:prstGeom>
        </p:spPr>
        <p:txBody>
          <a:bodyPr vert="horz" lIns="68580" tIns="34290" rIns="68580" bIns="0" rtlCol="0" anchor="b">
            <a:norm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500" dirty="0"/>
              <a:t>Partie 4 – Réseaux de neurones convolutifs (CNN)</a:t>
            </a:r>
            <a:endParaRPr lang="fr-FR" sz="1500" b="0" dirty="0"/>
          </a:p>
        </p:txBody>
      </p:sp>
    </p:spTree>
    <p:extLst>
      <p:ext uri="{BB962C8B-B14F-4D97-AF65-F5344CB8AC3E}">
        <p14:creationId xmlns:p14="http://schemas.microsoft.com/office/powerpoint/2010/main" val="3218021945"/>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69"/>
            <a:ext cx="7234408" cy="3242376"/>
          </a:xfrm>
        </p:spPr>
        <p:txBody>
          <a:bodyPr>
            <a:noAutofit/>
          </a:bodyPr>
          <a:lstStyle/>
          <a:p>
            <a:pPr lvl="1" algn="just">
              <a:lnSpc>
                <a:spcPct val="100000"/>
              </a:lnSpc>
              <a:buClr>
                <a:schemeClr val="accent2"/>
              </a:buClr>
            </a:pPr>
            <a:r>
              <a:rPr lang="fr-FR" sz="1600" dirty="0"/>
              <a:t>Quand un humain regarde une image, il y voit des lignes, des cercles, des carrés et d’autres formes.</a:t>
            </a:r>
          </a:p>
          <a:p>
            <a:pPr lvl="1" algn="just">
              <a:lnSpc>
                <a:spcPct val="100000"/>
              </a:lnSpc>
              <a:buClr>
                <a:schemeClr val="accent2"/>
              </a:buClr>
            </a:pPr>
            <a:r>
              <a:rPr lang="fr-FR" sz="1600" dirty="0"/>
              <a:t>La preuve : l’exercice précédent sur le tigre.</a:t>
            </a:r>
          </a:p>
          <a:p>
            <a:pPr lvl="1" algn="just">
              <a:lnSpc>
                <a:spcPct val="100000"/>
              </a:lnSpc>
              <a:buClr>
                <a:schemeClr val="accent2"/>
              </a:buClr>
            </a:pPr>
            <a:r>
              <a:rPr lang="fr-FR" sz="1600" dirty="0"/>
              <a:t>En revanche, un ordinateur ne le « voit » pas de la même façon.</a:t>
            </a:r>
          </a:p>
          <a:p>
            <a:pPr lvl="1" algn="just">
              <a:lnSpc>
                <a:spcPct val="100000"/>
              </a:lnSpc>
              <a:buClr>
                <a:schemeClr val="accent2"/>
              </a:buClr>
            </a:pPr>
            <a:r>
              <a:rPr lang="fr-FR" sz="1600" dirty="0"/>
              <a:t>Une image est représentée comme un assemblage de pixels en deux dimensions.</a:t>
            </a:r>
          </a:p>
          <a:p>
            <a:pPr lvl="1" algn="just">
              <a:lnSpc>
                <a:spcPct val="100000"/>
              </a:lnSpc>
              <a:buClr>
                <a:schemeClr val="accent2"/>
              </a:buClr>
            </a:pPr>
            <a:r>
              <a:rPr lang="fr-FR" sz="1600" dirty="0"/>
              <a:t>Pour les images avec nuances gris, la valeur du pixel peut être comprise entre 0 et 255</a:t>
            </a:r>
          </a:p>
          <a:p>
            <a:pPr lvl="1" algn="just">
              <a:lnSpc>
                <a:spcPct val="100000"/>
              </a:lnSpc>
              <a:buClr>
                <a:schemeClr val="accent2"/>
              </a:buClr>
            </a:pPr>
            <a:r>
              <a:rPr lang="fr-FR" sz="1600" dirty="0"/>
              <a:t>Tandis que pour la couleur, on a trois canaux : rouge, vert et bleu.</a:t>
            </a:r>
          </a:p>
          <a:p>
            <a:pPr lvl="1" algn="just">
              <a:lnSpc>
                <a:spcPct val="100000"/>
              </a:lnSpc>
              <a:buClr>
                <a:schemeClr val="accent2"/>
              </a:buClr>
            </a:pPr>
            <a:r>
              <a:rPr lang="fr-FR" sz="1600" dirty="0"/>
              <a:t>Chaque canal peut avoir une valeur de pixel comprise entre 0 et 255.</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Comment les ordinateurs appréhendent les images</a:t>
            </a:r>
          </a:p>
        </p:txBody>
      </p:sp>
    </p:spTree>
    <p:extLst>
      <p:ext uri="{BB962C8B-B14F-4D97-AF65-F5344CB8AC3E}">
        <p14:creationId xmlns:p14="http://schemas.microsoft.com/office/powerpoint/2010/main" val="4179287168"/>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Comment les ordinateurs appréhendent les images</a:t>
            </a:r>
          </a:p>
        </p:txBody>
      </p:sp>
      <p:pic>
        <p:nvPicPr>
          <p:cNvPr id="4" name="Image 3">
            <a:extLst>
              <a:ext uri="{FF2B5EF4-FFF2-40B4-BE49-F238E27FC236}">
                <a16:creationId xmlns:a16="http://schemas.microsoft.com/office/drawing/2014/main" id="{D2659133-0C32-40C6-AE2A-EF726369878D}"/>
              </a:ext>
            </a:extLst>
          </p:cNvPr>
          <p:cNvPicPr>
            <a:picLocks noChangeAspect="1"/>
          </p:cNvPicPr>
          <p:nvPr/>
        </p:nvPicPr>
        <p:blipFill>
          <a:blip r:embed="rId2"/>
          <a:stretch>
            <a:fillRect/>
          </a:stretch>
        </p:blipFill>
        <p:spPr>
          <a:xfrm>
            <a:off x="1602460" y="3336450"/>
            <a:ext cx="4858428" cy="1643292"/>
          </a:xfrm>
          <a:prstGeom prst="rect">
            <a:avLst/>
          </a:prstGeom>
        </p:spPr>
      </p:pic>
      <p:sp>
        <p:nvSpPr>
          <p:cNvPr id="8" name="Content Placeholder 15">
            <a:extLst>
              <a:ext uri="{FF2B5EF4-FFF2-40B4-BE49-F238E27FC236}">
                <a16:creationId xmlns:a16="http://schemas.microsoft.com/office/drawing/2014/main" id="{19C33197-3A05-4F1B-9DEA-0D1B53EA5B62}"/>
              </a:ext>
            </a:extLst>
          </p:cNvPr>
          <p:cNvSpPr>
            <a:spLocks noGrp="1"/>
          </p:cNvSpPr>
          <p:nvPr>
            <p:ph sz="half" idx="13"/>
          </p:nvPr>
        </p:nvSpPr>
        <p:spPr>
          <a:xfrm>
            <a:off x="1602460" y="1939036"/>
            <a:ext cx="4858428" cy="413741"/>
          </a:xfrm>
        </p:spPr>
        <p:txBody>
          <a:bodyPr>
            <a:noAutofit/>
          </a:bodyPr>
          <a:lstStyle/>
          <a:p>
            <a:pPr marL="342900" lvl="1" indent="0" algn="ctr">
              <a:lnSpc>
                <a:spcPct val="100000"/>
              </a:lnSpc>
              <a:buClr>
                <a:schemeClr val="accent2"/>
              </a:buClr>
              <a:buNone/>
            </a:pPr>
            <a:r>
              <a:rPr lang="fr-FR" dirty="0"/>
              <a:t>Comment un ordinateur « voit » une image.</a:t>
            </a:r>
          </a:p>
        </p:txBody>
      </p:sp>
      <p:sp>
        <p:nvSpPr>
          <p:cNvPr id="9" name="Légende : flèche courbée 8">
            <a:extLst>
              <a:ext uri="{FF2B5EF4-FFF2-40B4-BE49-F238E27FC236}">
                <a16:creationId xmlns:a16="http://schemas.microsoft.com/office/drawing/2014/main" id="{6BFC9482-3DBA-4E89-9E57-3B411B6F219E}"/>
              </a:ext>
            </a:extLst>
          </p:cNvPr>
          <p:cNvSpPr/>
          <p:nvPr/>
        </p:nvSpPr>
        <p:spPr>
          <a:xfrm>
            <a:off x="2216336" y="2852136"/>
            <a:ext cx="852446" cy="255889"/>
          </a:xfrm>
          <a:prstGeom prst="borderCallout2">
            <a:avLst>
              <a:gd name="adj1" fmla="val 32535"/>
              <a:gd name="adj2" fmla="val -5297"/>
              <a:gd name="adj3" fmla="val 32535"/>
              <a:gd name="adj4" fmla="val -10938"/>
              <a:gd name="adj5" fmla="val 284749"/>
              <a:gd name="adj6" fmla="val -3555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825" dirty="0"/>
              <a:t>Ce que voit l’humain</a:t>
            </a:r>
          </a:p>
        </p:txBody>
      </p:sp>
      <p:sp>
        <p:nvSpPr>
          <p:cNvPr id="10" name="Légende : flèche courbée 9">
            <a:extLst>
              <a:ext uri="{FF2B5EF4-FFF2-40B4-BE49-F238E27FC236}">
                <a16:creationId xmlns:a16="http://schemas.microsoft.com/office/drawing/2014/main" id="{01DDCD60-9DF3-4567-A66B-21E3A673565F}"/>
              </a:ext>
            </a:extLst>
          </p:cNvPr>
          <p:cNvSpPr/>
          <p:nvPr/>
        </p:nvSpPr>
        <p:spPr>
          <a:xfrm>
            <a:off x="3944690" y="2792056"/>
            <a:ext cx="852446" cy="255889"/>
          </a:xfrm>
          <a:prstGeom prst="borderCallout2">
            <a:avLst>
              <a:gd name="adj1" fmla="val 32535"/>
              <a:gd name="adj2" fmla="val -5297"/>
              <a:gd name="adj3" fmla="val 32535"/>
              <a:gd name="adj4" fmla="val -10938"/>
              <a:gd name="adj5" fmla="val 284749"/>
              <a:gd name="adj6" fmla="val -35553"/>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825" dirty="0"/>
              <a:t>Pixel blanc : 0</a:t>
            </a:r>
          </a:p>
        </p:txBody>
      </p:sp>
      <p:sp>
        <p:nvSpPr>
          <p:cNvPr id="11" name="Légende : flèche courbée 10">
            <a:extLst>
              <a:ext uri="{FF2B5EF4-FFF2-40B4-BE49-F238E27FC236}">
                <a16:creationId xmlns:a16="http://schemas.microsoft.com/office/drawing/2014/main" id="{D4B3A9DF-5845-4AE1-B531-D2044A499B7E}"/>
              </a:ext>
            </a:extLst>
          </p:cNvPr>
          <p:cNvSpPr/>
          <p:nvPr/>
        </p:nvSpPr>
        <p:spPr>
          <a:xfrm>
            <a:off x="5246821" y="2794521"/>
            <a:ext cx="852446" cy="255889"/>
          </a:xfrm>
          <a:prstGeom prst="borderCallout2">
            <a:avLst>
              <a:gd name="adj1" fmla="val 32535"/>
              <a:gd name="adj2" fmla="val -5297"/>
              <a:gd name="adj3" fmla="val 32535"/>
              <a:gd name="adj4" fmla="val -10938"/>
              <a:gd name="adj5" fmla="val 363256"/>
              <a:gd name="adj6" fmla="val -13144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825" dirty="0"/>
              <a:t>Pixel noir : 1</a:t>
            </a:r>
          </a:p>
        </p:txBody>
      </p:sp>
    </p:spTree>
    <p:extLst>
      <p:ext uri="{BB962C8B-B14F-4D97-AF65-F5344CB8AC3E}">
        <p14:creationId xmlns:p14="http://schemas.microsoft.com/office/powerpoint/2010/main" val="3391512771"/>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846848" cy="2275570"/>
              </a:xfrm>
            </p:spPr>
            <p:txBody>
              <a:bodyPr>
                <a:noAutofit/>
              </a:bodyPr>
              <a:lstStyle/>
              <a:p>
                <a:pPr lvl="1" algn="just">
                  <a:lnSpc>
                    <a:spcPct val="100000"/>
                  </a:lnSpc>
                  <a:buClr>
                    <a:schemeClr val="accent2"/>
                  </a:buClr>
                </a:pPr>
                <a:r>
                  <a:rPr lang="fr-FR" sz="1600" dirty="0"/>
                  <a:t>La convolution est une étape cruciale pour les CNN.</a:t>
                </a:r>
              </a:p>
              <a:p>
                <a:pPr lvl="1" algn="just">
                  <a:lnSpc>
                    <a:spcPct val="100000"/>
                  </a:lnSpc>
                  <a:buClr>
                    <a:schemeClr val="accent2"/>
                  </a:buClr>
                </a:pPr>
                <a:r>
                  <a:rPr lang="fr-FR" sz="1600" dirty="0"/>
                  <a:t>Elle sert à extraire des caractéristiques significatives des données d’entrée (images).</a:t>
                </a:r>
              </a:p>
              <a:p>
                <a:pPr marL="942975" lvl="2" indent="-257175" algn="just">
                  <a:lnSpc>
                    <a:spcPct val="100000"/>
                  </a:lnSpc>
                  <a:buClr>
                    <a:schemeClr val="accent2"/>
                  </a:buClr>
                  <a:buFont typeface="+mj-lt"/>
                  <a:buAutoNum type="arabicPeriod"/>
                </a:pPr>
                <a:r>
                  <a:rPr lang="fr-FR" sz="1400" b="1" dirty="0"/>
                  <a:t>Filtre (Kernel) :</a:t>
                </a:r>
                <a:r>
                  <a:rPr lang="fr-FR" sz="1400" dirty="0"/>
                  <a:t> le noyau (filtre ou kernel) est une petite matrice de poids initialisée de façon aléatoire. Ce kernel est appliqué à une région de l’image en cours d’analyse. Il est de petite taille, généralement </a:t>
                </a:r>
                <a14:m>
                  <m:oMath xmlns:m="http://schemas.openxmlformats.org/officeDocument/2006/math">
                    <m:r>
                      <a:rPr lang="fr-FR" sz="1400" b="0" i="1" smtClean="0">
                        <a:latin typeface="Cambria Math" panose="02040503050406030204" pitchFamily="18" charset="0"/>
                      </a:rPr>
                      <m:t>3</m:t>
                    </m:r>
                    <m:r>
                      <a:rPr lang="fr-FR" sz="1400" b="0" i="1" smtClean="0">
                        <a:latin typeface="Cambria Math" panose="02040503050406030204" pitchFamily="18" charset="0"/>
                        <a:ea typeface="Cambria Math" panose="02040503050406030204" pitchFamily="18" charset="0"/>
                      </a:rPr>
                      <m:t>×3</m:t>
                    </m:r>
                  </m:oMath>
                </a14:m>
                <a:r>
                  <a:rPr lang="fr-FR" sz="1400" dirty="0"/>
                  <a:t> ou </a:t>
                </a:r>
                <a14:m>
                  <m:oMath xmlns:m="http://schemas.openxmlformats.org/officeDocument/2006/math">
                    <m:r>
                      <a:rPr lang="fr-FR" sz="1400" b="0" i="1" smtClean="0">
                        <a:latin typeface="Cambria Math" panose="02040503050406030204" pitchFamily="18" charset="0"/>
                      </a:rPr>
                      <m:t>5</m:t>
                    </m:r>
                    <m:r>
                      <a:rPr lang="fr-FR" sz="1400" i="1">
                        <a:latin typeface="Cambria Math" panose="02040503050406030204" pitchFamily="18" charset="0"/>
                        <a:ea typeface="Cambria Math" panose="02040503050406030204" pitchFamily="18" charset="0"/>
                      </a:rPr>
                      <m:t>×</m:t>
                    </m:r>
                    <m:r>
                      <a:rPr lang="fr-FR" sz="1400" b="0" i="1" smtClean="0">
                        <a:latin typeface="Cambria Math" panose="02040503050406030204" pitchFamily="18" charset="0"/>
                        <a:ea typeface="Cambria Math" panose="02040503050406030204" pitchFamily="18" charset="0"/>
                      </a:rPr>
                      <m:t>5</m:t>
                    </m:r>
                  </m:oMath>
                </a14:m>
                <a:r>
                  <a:rPr lang="fr-FR" sz="1400" dirty="0"/>
                  <a:t> et est conçu pour détecter des caractéristiques spécifiques telles que les bords, les textures, des motifs, etc.</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6846848" cy="2275570"/>
              </a:xfrm>
              <a:blipFill>
                <a:blip r:embed="rId3"/>
                <a:stretch>
                  <a:fillRect t="-2674" r="-1781"/>
                </a:stretch>
              </a:blipFill>
            </p:spPr>
            <p:txBody>
              <a:bodyPr/>
              <a:lstStyle/>
              <a:p>
                <a:r>
                  <a:rPr lang="fr-FR">
                    <a:noFill/>
                  </a:rPr>
                  <a:t> </a:t>
                </a:r>
              </a:p>
            </p:txBody>
          </p:sp>
        </mc:Fallback>
      </mc:AlternateContent>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Le processus de convolution</a:t>
            </a:r>
          </a:p>
        </p:txBody>
      </p:sp>
      <p:grpSp>
        <p:nvGrpSpPr>
          <p:cNvPr id="12" name="Groupe 11">
            <a:extLst>
              <a:ext uri="{FF2B5EF4-FFF2-40B4-BE49-F238E27FC236}">
                <a16:creationId xmlns:a16="http://schemas.microsoft.com/office/drawing/2014/main" id="{C7B9635C-13F4-41B9-8A15-A75A6F1B6997}"/>
              </a:ext>
            </a:extLst>
          </p:cNvPr>
          <p:cNvGrpSpPr/>
          <p:nvPr/>
        </p:nvGrpSpPr>
        <p:grpSpPr>
          <a:xfrm>
            <a:off x="523101" y="3549704"/>
            <a:ext cx="8097799" cy="1527335"/>
            <a:chOff x="518677" y="4732938"/>
            <a:chExt cx="10797065" cy="2036447"/>
          </a:xfrm>
        </p:grpSpPr>
        <p:pic>
          <p:nvPicPr>
            <p:cNvPr id="7" name="Image 6">
              <a:extLst>
                <a:ext uri="{FF2B5EF4-FFF2-40B4-BE49-F238E27FC236}">
                  <a16:creationId xmlns:a16="http://schemas.microsoft.com/office/drawing/2014/main" id="{FF2B1561-268B-4FB0-89CB-0DB3B983F83B}"/>
                </a:ext>
              </a:extLst>
            </p:cNvPr>
            <p:cNvPicPr>
              <a:picLocks noChangeAspect="1"/>
            </p:cNvPicPr>
            <p:nvPr/>
          </p:nvPicPr>
          <p:blipFill>
            <a:blip r:embed="rId4"/>
            <a:stretch>
              <a:fillRect/>
            </a:stretch>
          </p:blipFill>
          <p:spPr>
            <a:xfrm>
              <a:off x="518677" y="4732938"/>
              <a:ext cx="4828555" cy="2036447"/>
            </a:xfrm>
            <a:prstGeom prst="rect">
              <a:avLst/>
            </a:prstGeom>
          </p:spPr>
        </p:pic>
        <p:sp>
          <p:nvSpPr>
            <p:cNvPr id="10" name="Flèche : droite 9">
              <a:extLst>
                <a:ext uri="{FF2B5EF4-FFF2-40B4-BE49-F238E27FC236}">
                  <a16:creationId xmlns:a16="http://schemas.microsoft.com/office/drawing/2014/main" id="{44A24359-4E78-4A81-BAA5-2DAE25F542A9}"/>
                </a:ext>
              </a:extLst>
            </p:cNvPr>
            <p:cNvSpPr/>
            <p:nvPr/>
          </p:nvSpPr>
          <p:spPr>
            <a:xfrm>
              <a:off x="5824436" y="5567082"/>
              <a:ext cx="388105"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pic>
          <p:nvPicPr>
            <p:cNvPr id="11" name="Image 10">
              <a:extLst>
                <a:ext uri="{FF2B5EF4-FFF2-40B4-BE49-F238E27FC236}">
                  <a16:creationId xmlns:a16="http://schemas.microsoft.com/office/drawing/2014/main" id="{A8DAE0A5-5E82-40D7-BCC8-84F2193E6029}"/>
                </a:ext>
              </a:extLst>
            </p:cNvPr>
            <p:cNvPicPr>
              <a:picLocks noChangeAspect="1"/>
            </p:cNvPicPr>
            <p:nvPr/>
          </p:nvPicPr>
          <p:blipFill>
            <a:blip r:embed="rId5"/>
            <a:stretch>
              <a:fillRect/>
            </a:stretch>
          </p:blipFill>
          <p:spPr>
            <a:xfrm>
              <a:off x="6689745" y="4732938"/>
              <a:ext cx="4625997" cy="2031595"/>
            </a:xfrm>
            <a:prstGeom prst="rect">
              <a:avLst/>
            </a:prstGeom>
          </p:spPr>
        </p:pic>
      </p:grpSp>
    </p:spTree>
    <p:extLst>
      <p:ext uri="{BB962C8B-B14F-4D97-AF65-F5344CB8AC3E}">
        <p14:creationId xmlns:p14="http://schemas.microsoft.com/office/powerpoint/2010/main" val="1648291657"/>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4141095" cy="3368290"/>
          </a:xfrm>
        </p:spPr>
        <p:txBody>
          <a:bodyPr>
            <a:noAutofit/>
          </a:bodyPr>
          <a:lstStyle/>
          <a:p>
            <a:pPr lvl="1" indent="-342900" algn="just">
              <a:lnSpc>
                <a:spcPct val="100000"/>
              </a:lnSpc>
              <a:buClr>
                <a:schemeClr val="accent2"/>
              </a:buClr>
              <a:buFont typeface="+mj-lt"/>
              <a:buAutoNum type="arabicPeriod" startAt="2"/>
            </a:pPr>
            <a:r>
              <a:rPr lang="fr-FR" sz="1200" b="1" dirty="0"/>
              <a:t>Opération de convolution : </a:t>
            </a:r>
          </a:p>
          <a:p>
            <a:pPr lvl="2" algn="just">
              <a:lnSpc>
                <a:spcPct val="100000"/>
              </a:lnSpc>
              <a:buClr>
                <a:schemeClr val="accent2"/>
              </a:buClr>
            </a:pPr>
            <a:r>
              <a:rPr lang="fr-FR" sz="1100" dirty="0"/>
              <a:t>Le filtre est déplacé à travers l'image d'entrée (</a:t>
            </a:r>
            <a:r>
              <a:rPr lang="fr-FR" sz="1100" b="1" dirty="0"/>
              <a:t>input</a:t>
            </a:r>
            <a:r>
              <a:rPr lang="fr-FR" sz="1100" dirty="0"/>
              <a:t>) pixel par pixel (parfois avec une certaine stride) et une opération de multiplication élément par élément est effectuée entre les valeurs des pixels de l'image et les valeurs du filtre.</a:t>
            </a:r>
          </a:p>
          <a:p>
            <a:pPr lvl="2" algn="just">
              <a:lnSpc>
                <a:spcPct val="100000"/>
              </a:lnSpc>
              <a:buClr>
                <a:schemeClr val="accent2"/>
              </a:buClr>
            </a:pPr>
            <a:r>
              <a:rPr lang="fr-FR" sz="1100" dirty="0"/>
              <a:t>Une stride est le nombre d’étapes qu’un kernel suit de gauche à droite, puis de haut en bas pour trouver une nouvelle valeur pour la carte des caractéristiques.</a:t>
            </a:r>
          </a:p>
          <a:p>
            <a:pPr lvl="2" algn="just">
              <a:lnSpc>
                <a:spcPct val="100000"/>
              </a:lnSpc>
              <a:buClr>
                <a:schemeClr val="accent2"/>
              </a:buClr>
            </a:pPr>
            <a:r>
              <a:rPr lang="fr-FR" sz="1100" dirty="0"/>
              <a:t>Ces produits sont ensuite sommés pour obtenir une valeur unique qui représente la réponse du filtre à cette position particulière de l'image. </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Le processus de convolution</a:t>
            </a:r>
          </a:p>
        </p:txBody>
      </p:sp>
      <p:pic>
        <p:nvPicPr>
          <p:cNvPr id="8" name="Image 7">
            <a:extLst>
              <a:ext uri="{FF2B5EF4-FFF2-40B4-BE49-F238E27FC236}">
                <a16:creationId xmlns:a16="http://schemas.microsoft.com/office/drawing/2014/main" id="{3CC83C77-0992-482E-A382-CD3841772C8C}"/>
              </a:ext>
            </a:extLst>
          </p:cNvPr>
          <p:cNvPicPr>
            <a:picLocks noChangeAspect="1"/>
          </p:cNvPicPr>
          <p:nvPr/>
        </p:nvPicPr>
        <p:blipFill>
          <a:blip r:embed="rId2"/>
          <a:stretch>
            <a:fillRect/>
          </a:stretch>
        </p:blipFill>
        <p:spPr>
          <a:xfrm>
            <a:off x="5141957" y="1623034"/>
            <a:ext cx="3729629" cy="2337348"/>
          </a:xfrm>
          <a:prstGeom prst="rect">
            <a:avLst/>
          </a:prstGeom>
        </p:spPr>
      </p:pic>
    </p:spTree>
    <p:extLst>
      <p:ext uri="{BB962C8B-B14F-4D97-AF65-F5344CB8AC3E}">
        <p14:creationId xmlns:p14="http://schemas.microsoft.com/office/powerpoint/2010/main" val="877387779"/>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4147819" cy="3191566"/>
          </a:xfrm>
        </p:spPr>
        <p:txBody>
          <a:bodyPr>
            <a:noAutofit/>
          </a:bodyPr>
          <a:lstStyle/>
          <a:p>
            <a:pPr lvl="1" indent="-342900" algn="just">
              <a:lnSpc>
                <a:spcPct val="100000"/>
              </a:lnSpc>
              <a:buClr>
                <a:schemeClr val="accent2"/>
              </a:buClr>
              <a:buFont typeface="+mj-lt"/>
              <a:buAutoNum type="arabicPeriod" startAt="3"/>
            </a:pPr>
            <a:r>
              <a:rPr lang="fr-FR" sz="1400" b="1" dirty="0"/>
              <a:t>Carte des caractéristiques (</a:t>
            </a:r>
            <a:r>
              <a:rPr lang="fr-FR" sz="1400" b="1" dirty="0" err="1"/>
              <a:t>Feature</a:t>
            </a:r>
            <a:r>
              <a:rPr lang="fr-FR" sz="1400" b="1" dirty="0"/>
              <a:t> </a:t>
            </a:r>
            <a:r>
              <a:rPr lang="fr-FR" sz="1400" b="1" dirty="0" err="1"/>
              <a:t>Map</a:t>
            </a:r>
            <a:r>
              <a:rPr lang="fr-FR" sz="1400" b="1" dirty="0"/>
              <a:t>) : </a:t>
            </a:r>
          </a:p>
          <a:p>
            <a:pPr lvl="2" algn="just">
              <a:lnSpc>
                <a:spcPct val="100000"/>
              </a:lnSpc>
              <a:buClr>
                <a:schemeClr val="accent2"/>
              </a:buClr>
            </a:pPr>
            <a:r>
              <a:rPr lang="fr-FR" sz="1200" dirty="0"/>
              <a:t>L'opération de convolution produit une carte des caractéristiques, également appelée carte de sortie (</a:t>
            </a:r>
            <a:r>
              <a:rPr lang="fr-FR" sz="1200" b="1" dirty="0"/>
              <a:t>output</a:t>
            </a:r>
            <a:r>
              <a:rPr lang="fr-FR" sz="1200" dirty="0"/>
              <a:t>). </a:t>
            </a:r>
          </a:p>
          <a:p>
            <a:pPr lvl="2" algn="just">
              <a:lnSpc>
                <a:spcPct val="100000"/>
              </a:lnSpc>
              <a:buClr>
                <a:schemeClr val="accent2"/>
              </a:buClr>
            </a:pPr>
            <a:r>
              <a:rPr lang="fr-FR" sz="1200" dirty="0"/>
              <a:t>Cette carte met en évidence la présence ou l'absence de certaines caractéristiques dans l'image d'entrée.</a:t>
            </a:r>
          </a:p>
          <a:p>
            <a:pPr lvl="2" algn="just">
              <a:lnSpc>
                <a:spcPct val="100000"/>
              </a:lnSpc>
              <a:buClr>
                <a:schemeClr val="accent2"/>
              </a:buClr>
            </a:pPr>
            <a:r>
              <a:rPr lang="fr-FR" sz="1200" dirty="0"/>
              <a:t>Plusieurs filtres peuvent être appliqués simultanément pour extraire différentes caractéristiques.</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Le processus de convolution</a:t>
            </a:r>
          </a:p>
        </p:txBody>
      </p:sp>
      <p:pic>
        <p:nvPicPr>
          <p:cNvPr id="7" name="Image 6">
            <a:extLst>
              <a:ext uri="{FF2B5EF4-FFF2-40B4-BE49-F238E27FC236}">
                <a16:creationId xmlns:a16="http://schemas.microsoft.com/office/drawing/2014/main" id="{CC895AC0-4306-4BC3-B97C-1A758E9E91C3}"/>
              </a:ext>
            </a:extLst>
          </p:cNvPr>
          <p:cNvPicPr>
            <a:picLocks noChangeAspect="1"/>
          </p:cNvPicPr>
          <p:nvPr/>
        </p:nvPicPr>
        <p:blipFill>
          <a:blip r:embed="rId2"/>
          <a:stretch>
            <a:fillRect/>
          </a:stretch>
        </p:blipFill>
        <p:spPr>
          <a:xfrm>
            <a:off x="5322337" y="1514032"/>
            <a:ext cx="3700640" cy="2319181"/>
          </a:xfrm>
          <a:prstGeom prst="rect">
            <a:avLst/>
          </a:prstGeom>
        </p:spPr>
      </p:pic>
    </p:spTree>
    <p:extLst>
      <p:ext uri="{BB962C8B-B14F-4D97-AF65-F5344CB8AC3E}">
        <p14:creationId xmlns:p14="http://schemas.microsoft.com/office/powerpoint/2010/main" val="1425913795"/>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761466" cy="1862219"/>
          </a:xfrm>
        </p:spPr>
        <p:txBody>
          <a:bodyPr>
            <a:noAutofit/>
          </a:bodyPr>
          <a:lstStyle/>
          <a:p>
            <a:pPr lvl="1" algn="just">
              <a:lnSpc>
                <a:spcPct val="100000"/>
              </a:lnSpc>
              <a:buClr>
                <a:schemeClr val="accent2"/>
              </a:buClr>
            </a:pPr>
            <a:r>
              <a:rPr lang="fr-FR" sz="1800" dirty="0"/>
              <a:t>Dans la réalité il y a plusieurs kernels (ou </a:t>
            </a:r>
            <a:r>
              <a:rPr lang="fr-FR" sz="1800" dirty="0" err="1"/>
              <a:t>feature</a:t>
            </a:r>
            <a:r>
              <a:rPr lang="fr-FR" sz="1800" dirty="0"/>
              <a:t> detector).</a:t>
            </a:r>
          </a:p>
          <a:p>
            <a:pPr lvl="1" algn="just">
              <a:lnSpc>
                <a:spcPct val="100000"/>
              </a:lnSpc>
              <a:buClr>
                <a:schemeClr val="accent2"/>
              </a:buClr>
            </a:pPr>
            <a:r>
              <a:rPr lang="fr-FR" sz="1800" dirty="0"/>
              <a:t>Chaque kernel est spécialisé dans la détection d’un aspect particulier de l’image.</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Le processus de convolution</a:t>
            </a:r>
          </a:p>
        </p:txBody>
      </p:sp>
      <p:pic>
        <p:nvPicPr>
          <p:cNvPr id="3" name="Image 2">
            <a:extLst>
              <a:ext uri="{FF2B5EF4-FFF2-40B4-BE49-F238E27FC236}">
                <a16:creationId xmlns:a16="http://schemas.microsoft.com/office/drawing/2014/main" id="{2B79917E-9351-4A3A-BED1-43A67F054797}"/>
              </a:ext>
            </a:extLst>
          </p:cNvPr>
          <p:cNvPicPr>
            <a:picLocks noChangeAspect="1"/>
          </p:cNvPicPr>
          <p:nvPr/>
        </p:nvPicPr>
        <p:blipFill>
          <a:blip r:embed="rId2"/>
          <a:stretch>
            <a:fillRect/>
          </a:stretch>
        </p:blipFill>
        <p:spPr>
          <a:xfrm>
            <a:off x="2432072" y="2953255"/>
            <a:ext cx="3706733" cy="1724395"/>
          </a:xfrm>
          <a:prstGeom prst="rect">
            <a:avLst/>
          </a:prstGeom>
        </p:spPr>
      </p:pic>
    </p:spTree>
    <p:extLst>
      <p:ext uri="{BB962C8B-B14F-4D97-AF65-F5344CB8AC3E}">
        <p14:creationId xmlns:p14="http://schemas.microsoft.com/office/powerpoint/2010/main" val="2229035588"/>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2275570"/>
          </a:xfrm>
        </p:spPr>
        <p:txBody>
          <a:bodyPr>
            <a:noAutofit/>
          </a:bodyPr>
          <a:lstStyle/>
          <a:p>
            <a:pPr lvl="1" algn="just">
              <a:lnSpc>
                <a:spcPct val="100000"/>
              </a:lnSpc>
              <a:buClr>
                <a:schemeClr val="accent2"/>
              </a:buClr>
            </a:pPr>
            <a:r>
              <a:rPr lang="fr-FR" sz="1400" dirty="0"/>
              <a:t>Après la convolution, une fonction d'activation est souvent appliquée à la carte des caractéristiques pour introduire de la non-linéarité dans le réseau neuronal. </a:t>
            </a:r>
          </a:p>
          <a:p>
            <a:pPr lvl="1" algn="just">
              <a:lnSpc>
                <a:spcPct val="100000"/>
              </a:lnSpc>
              <a:buClr>
                <a:schemeClr val="accent2"/>
              </a:buClr>
            </a:pPr>
            <a:r>
              <a:rPr lang="fr-FR" sz="1400" dirty="0"/>
              <a:t>En effet, le processus de convolution nous donne des valeurs linéaires. Mais </a:t>
            </a:r>
            <a:r>
              <a:rPr lang="fr-FR" sz="1400" dirty="0" err="1"/>
              <a:t>ReLu</a:t>
            </a:r>
            <a:r>
              <a:rPr lang="fr-FR" sz="1400" dirty="0"/>
              <a:t> est conçu pour introduire de la non-linéarité dans l’image.</a:t>
            </a:r>
          </a:p>
          <a:p>
            <a:pPr lvl="1" algn="just">
              <a:lnSpc>
                <a:spcPct val="100000"/>
              </a:lnSpc>
              <a:buClr>
                <a:schemeClr val="accent2"/>
              </a:buClr>
            </a:pPr>
            <a:r>
              <a:rPr lang="fr-FR" sz="1400" dirty="0"/>
              <a:t>La fonction d'activation la plus couramment utilisée est la fonction </a:t>
            </a:r>
            <a:r>
              <a:rPr lang="fr-FR" sz="1400" dirty="0" err="1"/>
              <a:t>ReLU</a:t>
            </a:r>
            <a:r>
              <a:rPr lang="fr-FR" sz="1400" dirty="0"/>
              <a:t> (</a:t>
            </a:r>
            <a:r>
              <a:rPr lang="fr-FR" sz="1400" dirty="0" err="1"/>
              <a:t>Rectified</a:t>
            </a:r>
            <a:r>
              <a:rPr lang="fr-FR" sz="1400" dirty="0"/>
              <a:t> </a:t>
            </a:r>
            <a:r>
              <a:rPr lang="fr-FR" sz="1400" dirty="0" err="1"/>
              <a:t>Linear</a:t>
            </a:r>
            <a:r>
              <a:rPr lang="fr-FR" sz="1400" dirty="0"/>
              <a:t> Unit), mais d'autres comme la fonction sigmoïde ou la tangente hyperbolique peuvent également être utilisées.</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L’opération </a:t>
            </a:r>
            <a:r>
              <a:rPr lang="fr-FR" sz="1800" b="0" dirty="0" err="1"/>
              <a:t>ReLu</a:t>
            </a:r>
            <a:r>
              <a:rPr lang="fr-FR" sz="1800" b="0" dirty="0"/>
              <a:t> (fonction d’activation)</a:t>
            </a:r>
          </a:p>
        </p:txBody>
      </p:sp>
      <p:pic>
        <p:nvPicPr>
          <p:cNvPr id="2" name="Image 1">
            <a:extLst>
              <a:ext uri="{FF2B5EF4-FFF2-40B4-BE49-F238E27FC236}">
                <a16:creationId xmlns:a16="http://schemas.microsoft.com/office/drawing/2014/main" id="{8C707BD0-AE55-4747-B288-3132827AF11B}"/>
              </a:ext>
            </a:extLst>
          </p:cNvPr>
          <p:cNvPicPr>
            <a:picLocks noChangeAspect="1"/>
          </p:cNvPicPr>
          <p:nvPr/>
        </p:nvPicPr>
        <p:blipFill>
          <a:blip r:embed="rId2"/>
          <a:stretch>
            <a:fillRect/>
          </a:stretch>
        </p:blipFill>
        <p:spPr>
          <a:xfrm>
            <a:off x="2338190" y="3768395"/>
            <a:ext cx="3020464" cy="1340943"/>
          </a:xfrm>
          <a:prstGeom prst="rect">
            <a:avLst/>
          </a:prstGeom>
        </p:spPr>
      </p:pic>
    </p:spTree>
    <p:extLst>
      <p:ext uri="{BB962C8B-B14F-4D97-AF65-F5344CB8AC3E}">
        <p14:creationId xmlns:p14="http://schemas.microsoft.com/office/powerpoint/2010/main" val="1013375044"/>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2275570"/>
          </a:xfrm>
        </p:spPr>
        <p:txBody>
          <a:bodyPr>
            <a:noAutofit/>
          </a:bodyPr>
          <a:lstStyle/>
          <a:p>
            <a:pPr lvl="1" algn="just">
              <a:lnSpc>
                <a:spcPct val="100000"/>
              </a:lnSpc>
              <a:buClr>
                <a:schemeClr val="accent2"/>
              </a:buClr>
            </a:pPr>
            <a:r>
              <a:rPr lang="fr-FR" sz="1600" dirty="0"/>
              <a:t>Pendant l’opération </a:t>
            </a:r>
            <a:r>
              <a:rPr lang="fr-FR" sz="1600" dirty="0" err="1"/>
              <a:t>ReLu</a:t>
            </a:r>
            <a:r>
              <a:rPr lang="fr-FR" sz="1600" dirty="0"/>
              <a:t>, toutes les valeurs négatives de la </a:t>
            </a:r>
            <a:r>
              <a:rPr lang="fr-FR" sz="1600" dirty="0" err="1"/>
              <a:t>Feature</a:t>
            </a:r>
            <a:r>
              <a:rPr lang="fr-FR" sz="1600" dirty="0"/>
              <a:t> </a:t>
            </a:r>
            <a:r>
              <a:rPr lang="fr-FR" sz="1600" dirty="0" err="1"/>
              <a:t>Map</a:t>
            </a:r>
            <a:r>
              <a:rPr lang="fr-FR" sz="1600" dirty="0"/>
              <a:t> sont remplacées par 0. Les positives restent inchangées.</a:t>
            </a:r>
          </a:p>
          <a:p>
            <a:pPr lvl="1" algn="just">
              <a:lnSpc>
                <a:spcPct val="100000"/>
              </a:lnSpc>
              <a:buClr>
                <a:schemeClr val="accent2"/>
              </a:buClr>
            </a:pPr>
            <a:r>
              <a:rPr lang="fr-FR" sz="1600" dirty="0"/>
              <a:t>Supposons que nous ayons la </a:t>
            </a:r>
            <a:r>
              <a:rPr lang="fr-FR" sz="1600" dirty="0" err="1"/>
              <a:t>Feature</a:t>
            </a:r>
            <a:r>
              <a:rPr lang="fr-FR" sz="1600" dirty="0"/>
              <a:t> </a:t>
            </a:r>
            <a:r>
              <a:rPr lang="fr-FR" sz="1600" dirty="0" err="1"/>
              <a:t>Map</a:t>
            </a:r>
            <a:r>
              <a:rPr lang="fr-FR" sz="1600" dirty="0"/>
              <a:t> de gauche. </a:t>
            </a:r>
          </a:p>
          <a:p>
            <a:pPr lvl="1" algn="just">
              <a:lnSpc>
                <a:spcPct val="100000"/>
              </a:lnSpc>
              <a:buClr>
                <a:schemeClr val="accent2"/>
              </a:buClr>
            </a:pPr>
            <a:r>
              <a:rPr lang="fr-FR" sz="1600" dirty="0"/>
              <a:t>Quand la fonction d’activation </a:t>
            </a:r>
            <a:r>
              <a:rPr lang="fr-FR" sz="1600" dirty="0" err="1"/>
              <a:t>ReLu</a:t>
            </a:r>
            <a:r>
              <a:rPr lang="fr-FR" sz="1600" dirty="0"/>
              <a:t> est appliquée sur elle, on obtient une nouvelle </a:t>
            </a:r>
            <a:r>
              <a:rPr lang="fr-FR" sz="1600" dirty="0" err="1"/>
              <a:t>Feature</a:t>
            </a:r>
            <a:r>
              <a:rPr lang="fr-FR" sz="1600" dirty="0"/>
              <a:t> </a:t>
            </a:r>
            <a:r>
              <a:rPr lang="fr-FR" sz="1600" dirty="0" err="1"/>
              <a:t>Map</a:t>
            </a:r>
            <a:r>
              <a:rPr lang="fr-FR" sz="1600" dirty="0"/>
              <a:t> (celle de droite).</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L’opération </a:t>
            </a:r>
            <a:r>
              <a:rPr lang="fr-FR" sz="1800" b="0" dirty="0" err="1"/>
              <a:t>ReLu</a:t>
            </a:r>
            <a:r>
              <a:rPr lang="fr-FR" sz="1800" b="0" dirty="0"/>
              <a:t> (fonction d’activation)</a:t>
            </a:r>
          </a:p>
        </p:txBody>
      </p:sp>
      <p:sp>
        <p:nvSpPr>
          <p:cNvPr id="8" name="ZoneTexte 7">
            <a:extLst>
              <a:ext uri="{FF2B5EF4-FFF2-40B4-BE49-F238E27FC236}">
                <a16:creationId xmlns:a16="http://schemas.microsoft.com/office/drawing/2014/main" id="{12DEAE4F-DFD8-48D7-84C8-E88CDA9DE4F8}"/>
              </a:ext>
            </a:extLst>
          </p:cNvPr>
          <p:cNvSpPr txBox="1"/>
          <p:nvPr/>
        </p:nvSpPr>
        <p:spPr>
          <a:xfrm>
            <a:off x="1494820" y="5143500"/>
            <a:ext cx="6154361" cy="196208"/>
          </a:xfrm>
          <a:prstGeom prst="rect">
            <a:avLst/>
          </a:prstGeom>
          <a:noFill/>
        </p:spPr>
        <p:txBody>
          <a:bodyPr wrap="square" rtlCol="0">
            <a:spAutoFit/>
          </a:bodyPr>
          <a:lstStyle/>
          <a:p>
            <a:r>
              <a:rPr lang="fr-FR" sz="675">
                <a:hlinkClick r:id="rId2" tooltip="https://necromuralist.github.io/Neurotic-Networking/posts/nano/introduction-to-neural-networks/gradient-descent-practice/index.html"/>
              </a:rPr>
              <a:t>Cette photo</a:t>
            </a:r>
            <a:r>
              <a:rPr lang="fr-FR" sz="675"/>
              <a:t> par Auteur inconnu est soumis à la licence </a:t>
            </a:r>
            <a:r>
              <a:rPr lang="fr-FR" sz="675">
                <a:hlinkClick r:id="rId3" tooltip="https://creativecommons.org/licenses/by/3.0/"/>
              </a:rPr>
              <a:t>CC BY</a:t>
            </a:r>
            <a:endParaRPr lang="fr-FR" sz="675"/>
          </a:p>
        </p:txBody>
      </p:sp>
      <p:grpSp>
        <p:nvGrpSpPr>
          <p:cNvPr id="27" name="Groupe 26">
            <a:extLst>
              <a:ext uri="{FF2B5EF4-FFF2-40B4-BE49-F238E27FC236}">
                <a16:creationId xmlns:a16="http://schemas.microsoft.com/office/drawing/2014/main" id="{BB06061E-4915-49DF-A11A-5212558B5AAF}"/>
              </a:ext>
            </a:extLst>
          </p:cNvPr>
          <p:cNvGrpSpPr/>
          <p:nvPr/>
        </p:nvGrpSpPr>
        <p:grpSpPr>
          <a:xfrm>
            <a:off x="1631376" y="3247160"/>
            <a:ext cx="5881250" cy="1614713"/>
            <a:chOff x="1948800" y="4329547"/>
            <a:chExt cx="7841667" cy="2152950"/>
          </a:xfrm>
        </p:grpSpPr>
        <p:grpSp>
          <p:nvGrpSpPr>
            <p:cNvPr id="23" name="Groupe 22">
              <a:extLst>
                <a:ext uri="{FF2B5EF4-FFF2-40B4-BE49-F238E27FC236}">
                  <a16:creationId xmlns:a16="http://schemas.microsoft.com/office/drawing/2014/main" id="{C463E1AA-A8E6-4007-9B22-600EF7EAF559}"/>
                </a:ext>
              </a:extLst>
            </p:cNvPr>
            <p:cNvGrpSpPr/>
            <p:nvPr/>
          </p:nvGrpSpPr>
          <p:grpSpPr>
            <a:xfrm>
              <a:off x="1948800" y="4329547"/>
              <a:ext cx="4341253" cy="2152950"/>
              <a:chOff x="1948800" y="4329547"/>
              <a:chExt cx="4341253" cy="2152950"/>
            </a:xfrm>
          </p:grpSpPr>
          <p:grpSp>
            <p:nvGrpSpPr>
              <p:cNvPr id="9" name="Groupe 8">
                <a:extLst>
                  <a:ext uri="{FF2B5EF4-FFF2-40B4-BE49-F238E27FC236}">
                    <a16:creationId xmlns:a16="http://schemas.microsoft.com/office/drawing/2014/main" id="{52698A98-B32D-447B-A75F-D58250D8442B}"/>
                  </a:ext>
                </a:extLst>
              </p:cNvPr>
              <p:cNvGrpSpPr/>
              <p:nvPr/>
            </p:nvGrpSpPr>
            <p:grpSpPr>
              <a:xfrm>
                <a:off x="1948800" y="4329547"/>
                <a:ext cx="4341253" cy="2152950"/>
                <a:chOff x="330669" y="4329547"/>
                <a:chExt cx="4341253" cy="2152950"/>
              </a:xfrm>
            </p:grpSpPr>
            <p:pic>
              <p:nvPicPr>
                <p:cNvPr id="3" name="Image 2">
                  <a:extLst>
                    <a:ext uri="{FF2B5EF4-FFF2-40B4-BE49-F238E27FC236}">
                      <a16:creationId xmlns:a16="http://schemas.microsoft.com/office/drawing/2014/main" id="{8F47AD6C-60C2-4EE1-A279-BE7FBB5D7675}"/>
                    </a:ext>
                  </a:extLst>
                </p:cNvPr>
                <p:cNvPicPr>
                  <a:picLocks noChangeAspect="1"/>
                </p:cNvPicPr>
                <p:nvPr/>
              </p:nvPicPr>
              <p:blipFill>
                <a:blip r:embed="rId4"/>
                <a:stretch>
                  <a:fillRect/>
                </a:stretch>
              </p:blipFill>
              <p:spPr>
                <a:xfrm>
                  <a:off x="330669" y="4329547"/>
                  <a:ext cx="2619741" cy="2152950"/>
                </a:xfrm>
                <a:prstGeom prst="rect">
                  <a:avLst/>
                </a:prstGeom>
              </p:spPr>
            </p:pic>
            <p:sp>
              <p:nvSpPr>
                <p:cNvPr id="11" name="Flèche : droite 10">
                  <a:extLst>
                    <a:ext uri="{FF2B5EF4-FFF2-40B4-BE49-F238E27FC236}">
                      <a16:creationId xmlns:a16="http://schemas.microsoft.com/office/drawing/2014/main" id="{FDF1A43E-2864-4FC2-B783-7007C1AEABA8}"/>
                    </a:ext>
                  </a:extLst>
                </p:cNvPr>
                <p:cNvSpPr/>
                <p:nvPr/>
              </p:nvSpPr>
              <p:spPr>
                <a:xfrm>
                  <a:off x="4283817" y="5087519"/>
                  <a:ext cx="388105"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
            <p:nvSpPr>
              <p:cNvPr id="10" name="Rectangle 9">
                <a:extLst>
                  <a:ext uri="{FF2B5EF4-FFF2-40B4-BE49-F238E27FC236}">
                    <a16:creationId xmlns:a16="http://schemas.microsoft.com/office/drawing/2014/main" id="{4AC589D4-B21C-4F91-BE00-1D51D08610BB}"/>
                  </a:ext>
                </a:extLst>
              </p:cNvPr>
              <p:cNvSpPr/>
              <p:nvPr/>
            </p:nvSpPr>
            <p:spPr>
              <a:xfrm>
                <a:off x="2055846" y="4419600"/>
                <a:ext cx="612000" cy="4680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5" name="Rectangle 14">
                <a:extLst>
                  <a:ext uri="{FF2B5EF4-FFF2-40B4-BE49-F238E27FC236}">
                    <a16:creationId xmlns:a16="http://schemas.microsoft.com/office/drawing/2014/main" id="{37660C57-0279-42BB-941F-E57C12491376}"/>
                  </a:ext>
                </a:extLst>
              </p:cNvPr>
              <p:cNvSpPr/>
              <p:nvPr/>
            </p:nvSpPr>
            <p:spPr>
              <a:xfrm>
                <a:off x="2667846" y="5445145"/>
                <a:ext cx="612000" cy="4680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Rectangle 15">
                <a:extLst>
                  <a:ext uri="{FF2B5EF4-FFF2-40B4-BE49-F238E27FC236}">
                    <a16:creationId xmlns:a16="http://schemas.microsoft.com/office/drawing/2014/main" id="{98FE0669-3C06-4DA4-A83D-FF5225FE182E}"/>
                  </a:ext>
                </a:extLst>
              </p:cNvPr>
              <p:cNvSpPr/>
              <p:nvPr/>
            </p:nvSpPr>
            <p:spPr>
              <a:xfrm>
                <a:off x="3920997" y="4419600"/>
                <a:ext cx="612000" cy="4680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7" name="Rectangle 16">
                <a:extLst>
                  <a:ext uri="{FF2B5EF4-FFF2-40B4-BE49-F238E27FC236}">
                    <a16:creationId xmlns:a16="http://schemas.microsoft.com/office/drawing/2014/main" id="{E419A6F6-209D-440A-B2BC-D9372BB985B5}"/>
                  </a:ext>
                </a:extLst>
              </p:cNvPr>
              <p:cNvSpPr/>
              <p:nvPr/>
            </p:nvSpPr>
            <p:spPr>
              <a:xfrm>
                <a:off x="3889305" y="5916304"/>
                <a:ext cx="612000" cy="4680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4" name="Rectangle 23">
                <a:extLst>
                  <a:ext uri="{FF2B5EF4-FFF2-40B4-BE49-F238E27FC236}">
                    <a16:creationId xmlns:a16="http://schemas.microsoft.com/office/drawing/2014/main" id="{14868166-BDA5-489E-BBD1-28ACCB08FCB0}"/>
                  </a:ext>
                </a:extLst>
              </p:cNvPr>
              <p:cNvSpPr/>
              <p:nvPr/>
            </p:nvSpPr>
            <p:spPr>
              <a:xfrm>
                <a:off x="2667846" y="4925497"/>
                <a:ext cx="612000" cy="4680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grpSp>
          <p:nvGrpSpPr>
            <p:cNvPr id="26" name="Groupe 25">
              <a:extLst>
                <a:ext uri="{FF2B5EF4-FFF2-40B4-BE49-F238E27FC236}">
                  <a16:creationId xmlns:a16="http://schemas.microsoft.com/office/drawing/2014/main" id="{D5B4F6B0-BFB0-4010-BD89-5EAD4E9E07A5}"/>
                </a:ext>
              </a:extLst>
            </p:cNvPr>
            <p:cNvGrpSpPr/>
            <p:nvPr/>
          </p:nvGrpSpPr>
          <p:grpSpPr>
            <a:xfrm>
              <a:off x="7406209" y="4329547"/>
              <a:ext cx="2384258" cy="2152950"/>
              <a:chOff x="7406209" y="4329547"/>
              <a:chExt cx="2384258" cy="2152950"/>
            </a:xfrm>
          </p:grpSpPr>
          <p:grpSp>
            <p:nvGrpSpPr>
              <p:cNvPr id="13" name="Groupe 12">
                <a:extLst>
                  <a:ext uri="{FF2B5EF4-FFF2-40B4-BE49-F238E27FC236}">
                    <a16:creationId xmlns:a16="http://schemas.microsoft.com/office/drawing/2014/main" id="{9EAE98AE-0016-4100-BB3C-89A9BC875D48}"/>
                  </a:ext>
                </a:extLst>
              </p:cNvPr>
              <p:cNvGrpSpPr/>
              <p:nvPr/>
            </p:nvGrpSpPr>
            <p:grpSpPr>
              <a:xfrm>
                <a:off x="7406209" y="4329547"/>
                <a:ext cx="2384258" cy="2152950"/>
                <a:chOff x="7406209" y="4329547"/>
                <a:chExt cx="2384258" cy="2152950"/>
              </a:xfrm>
            </p:grpSpPr>
            <p:pic>
              <p:nvPicPr>
                <p:cNvPr id="12" name="Image 11">
                  <a:extLst>
                    <a:ext uri="{FF2B5EF4-FFF2-40B4-BE49-F238E27FC236}">
                      <a16:creationId xmlns:a16="http://schemas.microsoft.com/office/drawing/2014/main" id="{CC35348C-0D5F-4CE0-A8B2-8B5FE43CACA4}"/>
                    </a:ext>
                  </a:extLst>
                </p:cNvPr>
                <p:cNvPicPr>
                  <a:picLocks noChangeAspect="1"/>
                </p:cNvPicPr>
                <p:nvPr/>
              </p:nvPicPr>
              <p:blipFill>
                <a:blip r:embed="rId5"/>
                <a:stretch>
                  <a:fillRect/>
                </a:stretch>
              </p:blipFill>
              <p:spPr>
                <a:xfrm>
                  <a:off x="7406209" y="4329547"/>
                  <a:ext cx="2384258" cy="2152950"/>
                </a:xfrm>
                <a:prstGeom prst="rect">
                  <a:avLst/>
                </a:prstGeom>
              </p:spPr>
            </p:pic>
            <p:sp>
              <p:nvSpPr>
                <p:cNvPr id="18" name="Rectangle 17">
                  <a:extLst>
                    <a:ext uri="{FF2B5EF4-FFF2-40B4-BE49-F238E27FC236}">
                      <a16:creationId xmlns:a16="http://schemas.microsoft.com/office/drawing/2014/main" id="{CD42AD4F-433B-4D21-B927-86A3E5481118}"/>
                    </a:ext>
                  </a:extLst>
                </p:cNvPr>
                <p:cNvSpPr/>
                <p:nvPr/>
              </p:nvSpPr>
              <p:spPr>
                <a:xfrm>
                  <a:off x="7475818" y="4411663"/>
                  <a:ext cx="556558" cy="484902"/>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9" name="Rectangle 18">
                  <a:extLst>
                    <a:ext uri="{FF2B5EF4-FFF2-40B4-BE49-F238E27FC236}">
                      <a16:creationId xmlns:a16="http://schemas.microsoft.com/office/drawing/2014/main" id="{3405B21E-015D-46AE-8AF1-765B273E3904}"/>
                    </a:ext>
                  </a:extLst>
                </p:cNvPr>
                <p:cNvSpPr/>
                <p:nvPr/>
              </p:nvSpPr>
              <p:spPr>
                <a:xfrm>
                  <a:off x="8041780" y="4905026"/>
                  <a:ext cx="556558" cy="484902"/>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0" name="Rectangle 19">
                  <a:extLst>
                    <a:ext uri="{FF2B5EF4-FFF2-40B4-BE49-F238E27FC236}">
                      <a16:creationId xmlns:a16="http://schemas.microsoft.com/office/drawing/2014/main" id="{5FEC7C24-4D2B-426F-A673-9B81CCDA6660}"/>
                    </a:ext>
                  </a:extLst>
                </p:cNvPr>
                <p:cNvSpPr/>
                <p:nvPr/>
              </p:nvSpPr>
              <p:spPr>
                <a:xfrm>
                  <a:off x="8041780" y="5404902"/>
                  <a:ext cx="556558" cy="484902"/>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1" name="Rectangle 20">
                  <a:extLst>
                    <a:ext uri="{FF2B5EF4-FFF2-40B4-BE49-F238E27FC236}">
                      <a16:creationId xmlns:a16="http://schemas.microsoft.com/office/drawing/2014/main" id="{F3B9B0EF-637B-423D-93FC-D2279EE4CC8B}"/>
                    </a:ext>
                  </a:extLst>
                </p:cNvPr>
                <p:cNvSpPr/>
                <p:nvPr/>
              </p:nvSpPr>
              <p:spPr>
                <a:xfrm>
                  <a:off x="9190271" y="5917676"/>
                  <a:ext cx="556558" cy="484902"/>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2" name="Rectangle 21">
                  <a:extLst>
                    <a:ext uri="{FF2B5EF4-FFF2-40B4-BE49-F238E27FC236}">
                      <a16:creationId xmlns:a16="http://schemas.microsoft.com/office/drawing/2014/main" id="{C2987FF1-61F4-486D-9325-F03A6E256E5F}"/>
                    </a:ext>
                  </a:extLst>
                </p:cNvPr>
                <p:cNvSpPr/>
                <p:nvPr/>
              </p:nvSpPr>
              <p:spPr>
                <a:xfrm>
                  <a:off x="9157936" y="4420114"/>
                  <a:ext cx="556558" cy="484902"/>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pic>
            <p:nvPicPr>
              <p:cNvPr id="25" name="Image 24">
                <a:extLst>
                  <a:ext uri="{FF2B5EF4-FFF2-40B4-BE49-F238E27FC236}">
                    <a16:creationId xmlns:a16="http://schemas.microsoft.com/office/drawing/2014/main" id="{084012F7-C42C-49B5-B7C0-38532461DA31}"/>
                  </a:ext>
                </a:extLst>
              </p:cNvPr>
              <p:cNvPicPr>
                <a:picLocks noChangeAspect="1"/>
              </p:cNvPicPr>
              <p:nvPr/>
            </p:nvPicPr>
            <p:blipFill>
              <a:blip r:embed="rId6"/>
              <a:stretch>
                <a:fillRect/>
              </a:stretch>
            </p:blipFill>
            <p:spPr>
              <a:xfrm>
                <a:off x="8159795" y="4955242"/>
                <a:ext cx="133369" cy="390580"/>
              </a:xfrm>
              <a:prstGeom prst="rect">
                <a:avLst/>
              </a:prstGeom>
            </p:spPr>
          </p:pic>
        </p:grpSp>
      </p:grpSp>
    </p:spTree>
    <p:extLst>
      <p:ext uri="{BB962C8B-B14F-4D97-AF65-F5344CB8AC3E}">
        <p14:creationId xmlns:p14="http://schemas.microsoft.com/office/powerpoint/2010/main" val="554576074"/>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0" y="1391970"/>
            <a:ext cx="6768125" cy="2275570"/>
          </a:xfrm>
        </p:spPr>
        <p:txBody>
          <a:bodyPr>
            <a:noAutofit/>
          </a:bodyPr>
          <a:lstStyle/>
          <a:p>
            <a:pPr lvl="1" algn="just">
              <a:lnSpc>
                <a:spcPct val="100000"/>
              </a:lnSpc>
              <a:buClr>
                <a:schemeClr val="accent2"/>
              </a:buClr>
            </a:pPr>
            <a:r>
              <a:rPr lang="fr-FR" sz="1600" dirty="0"/>
              <a:t>L’opération </a:t>
            </a:r>
            <a:r>
              <a:rPr lang="fr-FR" sz="1600" dirty="0" err="1"/>
              <a:t>Pooling</a:t>
            </a:r>
            <a:r>
              <a:rPr lang="fr-FR" sz="1600" dirty="0"/>
              <a:t> est toujours réalisée après le processus de convolution et l’opération </a:t>
            </a:r>
            <a:r>
              <a:rPr lang="fr-FR" sz="1600" dirty="0" err="1"/>
              <a:t>ReLu</a:t>
            </a:r>
            <a:r>
              <a:rPr lang="fr-FR" sz="1600" dirty="0"/>
              <a:t>.</a:t>
            </a:r>
          </a:p>
          <a:p>
            <a:pPr lvl="1" algn="just">
              <a:lnSpc>
                <a:spcPct val="100000"/>
              </a:lnSpc>
              <a:buClr>
                <a:schemeClr val="accent2"/>
              </a:buClr>
            </a:pPr>
            <a:r>
              <a:rPr lang="fr-FR" sz="1600" dirty="0"/>
              <a:t>Le rôle du </a:t>
            </a:r>
            <a:r>
              <a:rPr lang="fr-FR" sz="1600" dirty="0" err="1"/>
              <a:t>Pooling</a:t>
            </a:r>
            <a:r>
              <a:rPr lang="fr-FR" sz="1600" dirty="0"/>
              <a:t> est d’introduire de l’invariance spatiale dans la </a:t>
            </a:r>
            <a:r>
              <a:rPr lang="fr-FR" sz="1600" dirty="0" err="1"/>
              <a:t>Feature</a:t>
            </a:r>
            <a:r>
              <a:rPr lang="fr-FR" sz="1600" dirty="0"/>
              <a:t> </a:t>
            </a:r>
            <a:r>
              <a:rPr lang="fr-FR" sz="1600" dirty="0" err="1"/>
              <a:t>Map</a:t>
            </a:r>
            <a:r>
              <a:rPr lang="fr-FR" sz="1600" dirty="0"/>
              <a:t> (il réduit aussi les dimensions).</a:t>
            </a:r>
          </a:p>
          <a:p>
            <a:pPr lvl="1" algn="just">
              <a:lnSpc>
                <a:spcPct val="100000"/>
              </a:lnSpc>
              <a:buClr>
                <a:schemeClr val="accent2"/>
              </a:buClr>
            </a:pPr>
            <a:r>
              <a:rPr lang="fr-FR" sz="1600" dirty="0"/>
              <a:t>L’invariance spatiale permet de stabiliser la reconnaissance de l’image même si elle subit une rotation ou une distorsion.</a:t>
            </a:r>
          </a:p>
          <a:p>
            <a:pPr lvl="1" algn="just">
              <a:lnSpc>
                <a:spcPct val="100000"/>
              </a:lnSpc>
              <a:buClr>
                <a:schemeClr val="accent2"/>
              </a:buClr>
            </a:pPr>
            <a:r>
              <a:rPr lang="fr-FR" sz="1600" dirty="0"/>
              <a:t>Dans l’exemple ci-dessous, on reconnait toujours l’image d’un guépard.</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L’opération </a:t>
            </a:r>
            <a:r>
              <a:rPr lang="fr-FR" sz="1800" b="0" dirty="0" err="1"/>
              <a:t>Pooling</a:t>
            </a:r>
            <a:endParaRPr lang="fr-FR" sz="1800" b="0" dirty="0"/>
          </a:p>
        </p:txBody>
      </p:sp>
      <p:pic>
        <p:nvPicPr>
          <p:cNvPr id="2" name="Image 1">
            <a:extLst>
              <a:ext uri="{FF2B5EF4-FFF2-40B4-BE49-F238E27FC236}">
                <a16:creationId xmlns:a16="http://schemas.microsoft.com/office/drawing/2014/main" id="{402D7B67-69AD-4FD2-8760-2EE13BF44DF2}"/>
              </a:ext>
            </a:extLst>
          </p:cNvPr>
          <p:cNvPicPr>
            <a:picLocks noChangeAspect="1"/>
          </p:cNvPicPr>
          <p:nvPr/>
        </p:nvPicPr>
        <p:blipFill>
          <a:blip r:embed="rId2"/>
          <a:stretch>
            <a:fillRect/>
          </a:stretch>
        </p:blipFill>
        <p:spPr>
          <a:xfrm>
            <a:off x="2282514" y="3579780"/>
            <a:ext cx="3566957" cy="1467184"/>
          </a:xfrm>
          <a:prstGeom prst="rect">
            <a:avLst/>
          </a:prstGeom>
        </p:spPr>
      </p:pic>
    </p:spTree>
    <p:extLst>
      <p:ext uri="{BB962C8B-B14F-4D97-AF65-F5344CB8AC3E}">
        <p14:creationId xmlns:p14="http://schemas.microsoft.com/office/powerpoint/2010/main" val="2321245175"/>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2275570"/>
          </a:xfrm>
        </p:spPr>
        <p:txBody>
          <a:bodyPr>
            <a:noAutofit/>
          </a:bodyPr>
          <a:lstStyle/>
          <a:p>
            <a:pPr lvl="1" algn="just">
              <a:lnSpc>
                <a:spcPct val="100000"/>
              </a:lnSpc>
              <a:buClr>
                <a:schemeClr val="accent2"/>
              </a:buClr>
            </a:pPr>
            <a:r>
              <a:rPr lang="fr-FR" sz="1400" dirty="0"/>
              <a:t>Ici, nous avons une </a:t>
            </a:r>
            <a:r>
              <a:rPr lang="fr-FR" sz="1400" dirty="0" err="1"/>
              <a:t>Feature</a:t>
            </a:r>
            <a:r>
              <a:rPr lang="fr-FR" sz="1400" dirty="0"/>
              <a:t> </a:t>
            </a:r>
            <a:r>
              <a:rPr lang="fr-FR" sz="1400" dirty="0" err="1"/>
              <a:t>Map</a:t>
            </a:r>
            <a:r>
              <a:rPr lang="fr-FR" sz="1400" dirty="0"/>
              <a:t> et la matrice Pool peut être de taille variable.</a:t>
            </a:r>
          </a:p>
          <a:p>
            <a:pPr lvl="1" algn="just">
              <a:lnSpc>
                <a:spcPct val="100000"/>
              </a:lnSpc>
              <a:buClr>
                <a:schemeClr val="accent2"/>
              </a:buClr>
            </a:pPr>
            <a:r>
              <a:rPr lang="fr-FR" sz="1400" dirty="0"/>
              <a:t>On passe le filtre de </a:t>
            </a:r>
            <a:r>
              <a:rPr lang="fr-FR" sz="1400" dirty="0" err="1"/>
              <a:t>Pooling</a:t>
            </a:r>
            <a:r>
              <a:rPr lang="fr-FR" sz="1400" dirty="0"/>
              <a:t> sur la </a:t>
            </a:r>
            <a:r>
              <a:rPr lang="fr-FR" sz="1400" dirty="0" err="1"/>
              <a:t>Feature</a:t>
            </a:r>
            <a:r>
              <a:rPr lang="fr-FR" sz="1400" dirty="0"/>
              <a:t> </a:t>
            </a:r>
            <a:r>
              <a:rPr lang="fr-FR" sz="1400" dirty="0" err="1"/>
              <a:t>Map</a:t>
            </a:r>
            <a:r>
              <a:rPr lang="fr-FR" sz="1400" dirty="0"/>
              <a:t> (max </a:t>
            </a:r>
            <a:r>
              <a:rPr lang="fr-FR" sz="1400" dirty="0" err="1"/>
              <a:t>pooling</a:t>
            </a:r>
            <a:r>
              <a:rPr lang="fr-FR" sz="1400" dirty="0"/>
              <a:t>, min </a:t>
            </a:r>
            <a:r>
              <a:rPr lang="fr-FR" sz="1400" dirty="0" err="1"/>
              <a:t>pooling</a:t>
            </a:r>
            <a:r>
              <a:rPr lang="fr-FR" sz="1400" dirty="0"/>
              <a:t>, </a:t>
            </a:r>
            <a:r>
              <a:rPr lang="fr-FR" sz="1400" dirty="0" err="1"/>
              <a:t>average</a:t>
            </a:r>
            <a:r>
              <a:rPr lang="fr-FR" sz="1400" dirty="0"/>
              <a:t> </a:t>
            </a:r>
            <a:r>
              <a:rPr lang="fr-FR" sz="1400" dirty="0" err="1"/>
              <a:t>pooling</a:t>
            </a:r>
            <a:r>
              <a:rPr lang="fr-FR" sz="1400" dirty="0"/>
              <a:t>).</a:t>
            </a:r>
          </a:p>
          <a:p>
            <a:pPr lvl="1" algn="just">
              <a:lnSpc>
                <a:spcPct val="100000"/>
              </a:lnSpc>
              <a:buClr>
                <a:schemeClr val="accent2"/>
              </a:buClr>
            </a:pPr>
            <a:r>
              <a:rPr lang="fr-FR" sz="1400" dirty="0"/>
              <a:t>Après le </a:t>
            </a:r>
            <a:r>
              <a:rPr lang="fr-FR" sz="1400" dirty="0" err="1"/>
              <a:t>Pooling</a:t>
            </a:r>
            <a:r>
              <a:rPr lang="fr-FR" sz="1400" dirty="0"/>
              <a:t>, on obtient une image plus petite car on a réduit la dimension spatiale de la </a:t>
            </a:r>
            <a:r>
              <a:rPr lang="fr-FR" sz="1400" dirty="0" err="1"/>
              <a:t>Feature</a:t>
            </a:r>
            <a:r>
              <a:rPr lang="fr-FR" sz="1400" dirty="0"/>
              <a:t> </a:t>
            </a:r>
            <a:r>
              <a:rPr lang="fr-FR" sz="1400" dirty="0" err="1"/>
              <a:t>Map</a:t>
            </a:r>
            <a:r>
              <a:rPr lang="fr-FR" sz="1400" dirty="0"/>
              <a:t>.</a:t>
            </a:r>
          </a:p>
          <a:p>
            <a:pPr lvl="1" algn="just">
              <a:lnSpc>
                <a:spcPct val="100000"/>
              </a:lnSpc>
              <a:buClr>
                <a:schemeClr val="accent2"/>
              </a:buClr>
            </a:pPr>
            <a:r>
              <a:rPr lang="fr-FR" sz="1400" dirty="0"/>
              <a:t>Par exemple, dans la </a:t>
            </a:r>
            <a:r>
              <a:rPr lang="fr-FR" sz="1400" dirty="0" err="1"/>
              <a:t>Feature</a:t>
            </a:r>
            <a:r>
              <a:rPr lang="fr-FR" sz="1400" dirty="0"/>
              <a:t> </a:t>
            </a:r>
            <a:r>
              <a:rPr lang="fr-FR" sz="1400" dirty="0" err="1"/>
              <a:t>Map</a:t>
            </a:r>
            <a:r>
              <a:rPr lang="fr-FR" sz="1400" dirty="0"/>
              <a:t> en rouge, le max </a:t>
            </a:r>
            <a:r>
              <a:rPr lang="fr-FR" sz="1400" dirty="0" err="1"/>
              <a:t>pooling</a:t>
            </a:r>
            <a:r>
              <a:rPr lang="fr-FR" sz="1400" dirty="0"/>
              <a:t> retiendra parmi ces pixels, la valeur la plus élevée 4.</a:t>
            </a:r>
          </a:p>
          <a:p>
            <a:pPr lvl="1" algn="just">
              <a:lnSpc>
                <a:spcPct val="100000"/>
              </a:lnSpc>
              <a:buClr>
                <a:schemeClr val="accent2"/>
              </a:buClr>
            </a:pPr>
            <a:endParaRPr lang="fr-FR" sz="1400"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L’opération </a:t>
            </a:r>
            <a:r>
              <a:rPr lang="fr-FR" sz="1800" b="0" dirty="0" err="1"/>
              <a:t>Pooling</a:t>
            </a:r>
            <a:endParaRPr lang="fr-FR" sz="1800" b="0" dirty="0"/>
          </a:p>
        </p:txBody>
      </p:sp>
      <p:grpSp>
        <p:nvGrpSpPr>
          <p:cNvPr id="4" name="Groupe 3">
            <a:extLst>
              <a:ext uri="{FF2B5EF4-FFF2-40B4-BE49-F238E27FC236}">
                <a16:creationId xmlns:a16="http://schemas.microsoft.com/office/drawing/2014/main" id="{A7DCD42C-EFFB-49AA-8678-F81D89DE6DCE}"/>
              </a:ext>
            </a:extLst>
          </p:cNvPr>
          <p:cNvGrpSpPr/>
          <p:nvPr/>
        </p:nvGrpSpPr>
        <p:grpSpPr>
          <a:xfrm>
            <a:off x="1921331" y="3587008"/>
            <a:ext cx="3847458" cy="1452728"/>
            <a:chOff x="2561775" y="4782677"/>
            <a:chExt cx="5129944" cy="1936970"/>
          </a:xfrm>
        </p:grpSpPr>
        <p:pic>
          <p:nvPicPr>
            <p:cNvPr id="3" name="Image 2">
              <a:extLst>
                <a:ext uri="{FF2B5EF4-FFF2-40B4-BE49-F238E27FC236}">
                  <a16:creationId xmlns:a16="http://schemas.microsoft.com/office/drawing/2014/main" id="{8B6404C2-5978-427E-BBFD-62ECE13AD4AC}"/>
                </a:ext>
              </a:extLst>
            </p:cNvPr>
            <p:cNvPicPr>
              <a:picLocks noChangeAspect="1"/>
            </p:cNvPicPr>
            <p:nvPr/>
          </p:nvPicPr>
          <p:blipFill>
            <a:blip r:embed="rId2"/>
            <a:stretch>
              <a:fillRect/>
            </a:stretch>
          </p:blipFill>
          <p:spPr>
            <a:xfrm>
              <a:off x="2561775" y="4782677"/>
              <a:ext cx="5129944" cy="1936970"/>
            </a:xfrm>
            <a:prstGeom prst="rect">
              <a:avLst/>
            </a:prstGeom>
          </p:spPr>
        </p:pic>
        <p:sp>
          <p:nvSpPr>
            <p:cNvPr id="7" name="Rectangle 6">
              <a:extLst>
                <a:ext uri="{FF2B5EF4-FFF2-40B4-BE49-F238E27FC236}">
                  <a16:creationId xmlns:a16="http://schemas.microsoft.com/office/drawing/2014/main" id="{03522F3B-7736-4973-884A-8AA4DC122AFE}"/>
                </a:ext>
              </a:extLst>
            </p:cNvPr>
            <p:cNvSpPr/>
            <p:nvPr/>
          </p:nvSpPr>
          <p:spPr>
            <a:xfrm>
              <a:off x="2658730" y="5396753"/>
              <a:ext cx="550635" cy="51995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spTree>
    <p:extLst>
      <p:ext uri="{BB962C8B-B14F-4D97-AF65-F5344CB8AC3E}">
        <p14:creationId xmlns:p14="http://schemas.microsoft.com/office/powerpoint/2010/main" val="552072258"/>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954542"/>
          </a:xfrm>
        </p:spPr>
        <p:txBody>
          <a:bodyPr>
            <a:noAutofit/>
          </a:bodyPr>
          <a:lstStyle/>
          <a:p>
            <a:pPr lvl="1" algn="just">
              <a:lnSpc>
                <a:spcPct val="100000"/>
              </a:lnSpc>
              <a:buClr>
                <a:schemeClr val="accent2"/>
              </a:buClr>
            </a:pPr>
            <a:r>
              <a:rPr lang="fr-FR" sz="1600" dirty="0"/>
              <a:t>Afin de trouver encore plus de </a:t>
            </a:r>
            <a:r>
              <a:rPr lang="fr-FR" sz="1600" dirty="0" err="1"/>
              <a:t>Features</a:t>
            </a:r>
            <a:r>
              <a:rPr lang="fr-FR" sz="1600" dirty="0"/>
              <a:t> à partir de l’image (input), les matrices issues du </a:t>
            </a:r>
            <a:r>
              <a:rPr lang="fr-FR" sz="1600" dirty="0" err="1"/>
              <a:t>Pooling</a:t>
            </a:r>
            <a:r>
              <a:rPr lang="fr-FR" sz="1600" dirty="0"/>
              <a:t> (</a:t>
            </a:r>
            <a:r>
              <a:rPr lang="fr-FR" sz="1600" dirty="0" err="1"/>
              <a:t>pooled</a:t>
            </a:r>
            <a:r>
              <a:rPr lang="fr-FR" sz="1600" dirty="0"/>
              <a:t> </a:t>
            </a:r>
            <a:r>
              <a:rPr lang="fr-FR" sz="1600" dirty="0" err="1"/>
              <a:t>feature</a:t>
            </a:r>
            <a:r>
              <a:rPr lang="fr-FR" sz="1600" dirty="0"/>
              <a:t> </a:t>
            </a:r>
            <a:r>
              <a:rPr lang="fr-FR" sz="1600" dirty="0" err="1"/>
              <a:t>maps</a:t>
            </a:r>
            <a:r>
              <a:rPr lang="fr-FR" sz="1600" dirty="0"/>
              <a:t>) sont aplaties pour former un vecteur à une dimension.</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err="1"/>
              <a:t>Flattening</a:t>
            </a:r>
            <a:r>
              <a:rPr lang="fr-FR" sz="1800" b="0" dirty="0"/>
              <a:t> et couches entièrement liées</a:t>
            </a:r>
          </a:p>
        </p:txBody>
      </p:sp>
      <p:pic>
        <p:nvPicPr>
          <p:cNvPr id="2" name="Image 1">
            <a:extLst>
              <a:ext uri="{FF2B5EF4-FFF2-40B4-BE49-F238E27FC236}">
                <a16:creationId xmlns:a16="http://schemas.microsoft.com/office/drawing/2014/main" id="{DE1F1758-647F-420C-8FEE-A44A52B974EB}"/>
              </a:ext>
            </a:extLst>
          </p:cNvPr>
          <p:cNvPicPr>
            <a:picLocks noChangeAspect="1"/>
          </p:cNvPicPr>
          <p:nvPr/>
        </p:nvPicPr>
        <p:blipFill>
          <a:blip r:embed="rId2"/>
          <a:stretch>
            <a:fillRect/>
          </a:stretch>
        </p:blipFill>
        <p:spPr>
          <a:xfrm>
            <a:off x="2353103" y="2571750"/>
            <a:ext cx="3335003" cy="1883525"/>
          </a:xfrm>
          <a:prstGeom prst="rect">
            <a:avLst/>
          </a:prstGeom>
        </p:spPr>
      </p:pic>
    </p:spTree>
    <p:extLst>
      <p:ext uri="{BB962C8B-B14F-4D97-AF65-F5344CB8AC3E}">
        <p14:creationId xmlns:p14="http://schemas.microsoft.com/office/powerpoint/2010/main" val="3029346656"/>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954542"/>
          </a:xfrm>
        </p:spPr>
        <p:txBody>
          <a:bodyPr>
            <a:noAutofit/>
          </a:bodyPr>
          <a:lstStyle/>
          <a:p>
            <a:pPr lvl="1" algn="just">
              <a:lnSpc>
                <a:spcPct val="100000"/>
              </a:lnSpc>
              <a:buClr>
                <a:schemeClr val="accent2"/>
              </a:buClr>
            </a:pPr>
            <a:r>
              <a:rPr lang="fr-FR" sz="2000" dirty="0"/>
              <a:t>Ce vecteur unidimensionnel est ainsi utilisé comme entrée pour les couches du réseau de neurones.</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err="1"/>
              <a:t>Flattening</a:t>
            </a:r>
            <a:r>
              <a:rPr lang="fr-FR" sz="1800" b="0" dirty="0"/>
              <a:t> et couches entièrement liées</a:t>
            </a:r>
          </a:p>
        </p:txBody>
      </p:sp>
      <p:pic>
        <p:nvPicPr>
          <p:cNvPr id="4" name="Image 3">
            <a:extLst>
              <a:ext uri="{FF2B5EF4-FFF2-40B4-BE49-F238E27FC236}">
                <a16:creationId xmlns:a16="http://schemas.microsoft.com/office/drawing/2014/main" id="{C71DF279-A4B5-47A6-BAA7-76F5ACE45F22}"/>
              </a:ext>
            </a:extLst>
          </p:cNvPr>
          <p:cNvPicPr>
            <a:picLocks noChangeAspect="1"/>
          </p:cNvPicPr>
          <p:nvPr/>
        </p:nvPicPr>
        <p:blipFill>
          <a:blip r:embed="rId2"/>
          <a:stretch>
            <a:fillRect/>
          </a:stretch>
        </p:blipFill>
        <p:spPr>
          <a:xfrm>
            <a:off x="1824001" y="2494612"/>
            <a:ext cx="4482071" cy="2023600"/>
          </a:xfrm>
          <a:prstGeom prst="rect">
            <a:avLst/>
          </a:prstGeom>
        </p:spPr>
      </p:pic>
    </p:spTree>
    <p:extLst>
      <p:ext uri="{BB962C8B-B14F-4D97-AF65-F5344CB8AC3E}">
        <p14:creationId xmlns:p14="http://schemas.microsoft.com/office/powerpoint/2010/main" val="1130825289"/>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1179781"/>
              </a:xfrm>
            </p:spPr>
            <p:txBody>
              <a:bodyPr>
                <a:noAutofit/>
              </a:bodyPr>
              <a:lstStyle/>
              <a:p>
                <a:pPr lvl="1" algn="just">
                  <a:lnSpc>
                    <a:spcPct val="100000"/>
                  </a:lnSpc>
                  <a:buClr>
                    <a:schemeClr val="accent2"/>
                  </a:buClr>
                </a:pPr>
                <a:r>
                  <a:rPr lang="fr-FR" sz="1800" dirty="0"/>
                  <a:t>Au départ nous avons une image (input).</a:t>
                </a:r>
              </a:p>
              <a:p>
                <a:pPr lvl="1" algn="just">
                  <a:lnSpc>
                    <a:spcPct val="100000"/>
                  </a:lnSpc>
                  <a:buClr>
                    <a:schemeClr val="accent2"/>
                  </a:buClr>
                </a:pPr>
                <a:r>
                  <a:rPr lang="fr-FR" sz="1800" dirty="0"/>
                  <a:t>On a un kernel </a:t>
                </a:r>
                <a14:m>
                  <m:oMath xmlns:m="http://schemas.openxmlformats.org/officeDocument/2006/math">
                    <m:r>
                      <a:rPr lang="fr-FR" sz="1800" i="1">
                        <a:latin typeface="Cambria Math" panose="02040503050406030204" pitchFamily="18" charset="0"/>
                      </a:rPr>
                      <m:t>3</m:t>
                    </m:r>
                    <m:r>
                      <a:rPr lang="fr-FR" sz="1800" i="1">
                        <a:latin typeface="Cambria Math" panose="02040503050406030204" pitchFamily="18" charset="0"/>
                        <a:ea typeface="Cambria Math" panose="02040503050406030204" pitchFamily="18" charset="0"/>
                      </a:rPr>
                      <m:t>×3</m:t>
                    </m:r>
                  </m:oMath>
                </a14:m>
                <a:r>
                  <a:rPr lang="fr-FR" sz="1800" dirty="0"/>
                  <a:t> chargé de détecter des aspects spécifiques de l’image. </a:t>
                </a:r>
              </a:p>
            </p:txBody>
          </p:sp>
        </mc:Choice>
        <mc:Fallback xmlns="">
          <p:sp>
            <p:nvSpPr>
              <p:cNvPr id="39" name="Content Placeholder 15">
                <a:extLst>
                  <a:ext uri="{FF2B5EF4-FFF2-40B4-BE49-F238E27FC236}">
                    <a16:creationId xmlns:a16="http://schemas.microsoft.com/office/drawing/2014/main" id="{1DCFA8A2-3FB8-48CA-933D-0800A9D2A2A2}"/>
                  </a:ext>
                </a:extLst>
              </p:cNvPr>
              <p:cNvSpPr>
                <a:spLocks noGrp="1" noRot="1" noChangeAspect="1" noMove="1" noResize="1" noEditPoints="1" noAdjustHandles="1" noChangeArrowheads="1" noChangeShapeType="1" noTextEdit="1"/>
              </p:cNvSpPr>
              <p:nvPr>
                <p:ph sz="half" idx="13"/>
              </p:nvPr>
            </p:nvSpPr>
            <p:spPr>
              <a:xfrm>
                <a:off x="746911" y="1391970"/>
                <a:ext cx="5892014" cy="1179781"/>
              </a:xfrm>
              <a:blipFill>
                <a:blip r:embed="rId2"/>
                <a:stretch>
                  <a:fillRect t="-6701" r="-2381"/>
                </a:stretch>
              </a:blipFill>
            </p:spPr>
            <p:txBody>
              <a:bodyPr/>
              <a:lstStyle/>
              <a:p>
                <a:r>
                  <a:rPr lang="fr-FR">
                    <a:noFill/>
                  </a:rPr>
                  <a:t> </a:t>
                </a:r>
              </a:p>
            </p:txBody>
          </p:sp>
        </mc:Fallback>
      </mc:AlternateContent>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Résumé : étape 1 (convolution)</a:t>
            </a:r>
          </a:p>
        </p:txBody>
      </p:sp>
      <p:grpSp>
        <p:nvGrpSpPr>
          <p:cNvPr id="3" name="Groupe 2">
            <a:extLst>
              <a:ext uri="{FF2B5EF4-FFF2-40B4-BE49-F238E27FC236}">
                <a16:creationId xmlns:a16="http://schemas.microsoft.com/office/drawing/2014/main" id="{9A099F9E-7E0A-46B7-8F38-EFCB4EB66148}"/>
              </a:ext>
            </a:extLst>
          </p:cNvPr>
          <p:cNvGrpSpPr/>
          <p:nvPr/>
        </p:nvGrpSpPr>
        <p:grpSpPr>
          <a:xfrm>
            <a:off x="1867714" y="2331941"/>
            <a:ext cx="3067358" cy="2025996"/>
            <a:chOff x="2490285" y="3109254"/>
            <a:chExt cx="4089810" cy="2701328"/>
          </a:xfrm>
        </p:grpSpPr>
        <p:pic>
          <p:nvPicPr>
            <p:cNvPr id="2" name="Image 1">
              <a:extLst>
                <a:ext uri="{FF2B5EF4-FFF2-40B4-BE49-F238E27FC236}">
                  <a16:creationId xmlns:a16="http://schemas.microsoft.com/office/drawing/2014/main" id="{FAA5252F-1080-4EFF-A59D-903C103EDBFE}"/>
                </a:ext>
              </a:extLst>
            </p:cNvPr>
            <p:cNvPicPr>
              <a:picLocks noChangeAspect="1"/>
            </p:cNvPicPr>
            <p:nvPr/>
          </p:nvPicPr>
          <p:blipFill>
            <a:blip r:embed="rId3"/>
            <a:stretch>
              <a:fillRect/>
            </a:stretch>
          </p:blipFill>
          <p:spPr>
            <a:xfrm>
              <a:off x="2490285" y="3109254"/>
              <a:ext cx="4089810" cy="2701328"/>
            </a:xfrm>
            <a:prstGeom prst="rect">
              <a:avLst/>
            </a:prstGeom>
          </p:spPr>
        </p:pic>
        <p:sp>
          <p:nvSpPr>
            <p:cNvPr id="7" name="Rectangle 6">
              <a:extLst>
                <a:ext uri="{FF2B5EF4-FFF2-40B4-BE49-F238E27FC236}">
                  <a16:creationId xmlns:a16="http://schemas.microsoft.com/office/drawing/2014/main" id="{37FE9F3E-4B3B-434E-B632-A3B79F00AD2A}"/>
                </a:ext>
              </a:extLst>
            </p:cNvPr>
            <p:cNvSpPr/>
            <p:nvPr/>
          </p:nvSpPr>
          <p:spPr>
            <a:xfrm>
              <a:off x="2526145" y="3169023"/>
              <a:ext cx="871479" cy="8292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Tree>
    <p:extLst>
      <p:ext uri="{BB962C8B-B14F-4D97-AF65-F5344CB8AC3E}">
        <p14:creationId xmlns:p14="http://schemas.microsoft.com/office/powerpoint/2010/main" val="3375486032"/>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1564670"/>
          </a:xfrm>
        </p:spPr>
        <p:txBody>
          <a:bodyPr>
            <a:noAutofit/>
          </a:bodyPr>
          <a:lstStyle/>
          <a:p>
            <a:pPr lvl="1" algn="just">
              <a:lnSpc>
                <a:spcPct val="100000"/>
              </a:lnSpc>
              <a:buClr>
                <a:schemeClr val="accent2"/>
              </a:buClr>
            </a:pPr>
            <a:r>
              <a:rPr lang="fr-FR" sz="1600" dirty="0"/>
              <a:t>Ensuite on multiplie chaque valeur du kernel par le premier lot de pixels de l’image.</a:t>
            </a:r>
          </a:p>
          <a:p>
            <a:pPr lvl="1" algn="just">
              <a:lnSpc>
                <a:spcPct val="100000"/>
              </a:lnSpc>
              <a:buClr>
                <a:schemeClr val="accent2"/>
              </a:buClr>
            </a:pPr>
            <a:r>
              <a:rPr lang="fr-FR" sz="1600" dirty="0"/>
              <a:t>On additionne les résultats.</a:t>
            </a:r>
          </a:p>
          <a:p>
            <a:pPr lvl="1" algn="just">
              <a:lnSpc>
                <a:spcPct val="100000"/>
              </a:lnSpc>
              <a:buClr>
                <a:schemeClr val="accent2"/>
              </a:buClr>
            </a:pPr>
            <a:r>
              <a:rPr lang="fr-FR" sz="1600" dirty="0"/>
              <a:t>Le résultat est soit 0 ou 1. Dans le cas précis, on obtient 0.</a:t>
            </a:r>
          </a:p>
          <a:p>
            <a:pPr lvl="1" algn="just">
              <a:lnSpc>
                <a:spcPct val="100000"/>
              </a:lnSpc>
              <a:buClr>
                <a:schemeClr val="accent2"/>
              </a:buClr>
            </a:pPr>
            <a:r>
              <a:rPr lang="fr-FR" sz="1600" dirty="0"/>
              <a:t>L’opération se poursuit sur les lignes suivantes.</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Résumé : étape 1 (convolution)</a:t>
            </a:r>
          </a:p>
        </p:txBody>
      </p:sp>
      <p:grpSp>
        <p:nvGrpSpPr>
          <p:cNvPr id="16" name="Groupe 15">
            <a:extLst>
              <a:ext uri="{FF2B5EF4-FFF2-40B4-BE49-F238E27FC236}">
                <a16:creationId xmlns:a16="http://schemas.microsoft.com/office/drawing/2014/main" id="{A0D4C0F3-7CF5-4113-A4C6-4FB791AB3161}"/>
              </a:ext>
            </a:extLst>
          </p:cNvPr>
          <p:cNvGrpSpPr/>
          <p:nvPr/>
        </p:nvGrpSpPr>
        <p:grpSpPr>
          <a:xfrm>
            <a:off x="457200" y="3272099"/>
            <a:ext cx="8229601" cy="1565399"/>
            <a:chOff x="233081" y="4362799"/>
            <a:chExt cx="10972801" cy="2087198"/>
          </a:xfrm>
        </p:grpSpPr>
        <p:grpSp>
          <p:nvGrpSpPr>
            <p:cNvPr id="9" name="Groupe 8">
              <a:extLst>
                <a:ext uri="{FF2B5EF4-FFF2-40B4-BE49-F238E27FC236}">
                  <a16:creationId xmlns:a16="http://schemas.microsoft.com/office/drawing/2014/main" id="{632993A0-DBBA-4F04-87CB-38940E45DF68}"/>
                </a:ext>
              </a:extLst>
            </p:cNvPr>
            <p:cNvGrpSpPr/>
            <p:nvPr/>
          </p:nvGrpSpPr>
          <p:grpSpPr>
            <a:xfrm>
              <a:off x="233081" y="4363770"/>
              <a:ext cx="5262281" cy="2086227"/>
              <a:chOff x="2118800" y="3472898"/>
              <a:chExt cx="5913576" cy="2638482"/>
            </a:xfrm>
          </p:grpSpPr>
          <p:pic>
            <p:nvPicPr>
              <p:cNvPr id="4" name="Image 3">
                <a:extLst>
                  <a:ext uri="{FF2B5EF4-FFF2-40B4-BE49-F238E27FC236}">
                    <a16:creationId xmlns:a16="http://schemas.microsoft.com/office/drawing/2014/main" id="{7B3B8868-575C-498D-84BE-9FE8F987196A}"/>
                  </a:ext>
                </a:extLst>
              </p:cNvPr>
              <p:cNvPicPr>
                <a:picLocks noChangeAspect="1"/>
              </p:cNvPicPr>
              <p:nvPr/>
            </p:nvPicPr>
            <p:blipFill>
              <a:blip r:embed="rId2"/>
              <a:stretch>
                <a:fillRect/>
              </a:stretch>
            </p:blipFill>
            <p:spPr>
              <a:xfrm>
                <a:off x="2118800" y="3472898"/>
                <a:ext cx="5913576" cy="2638482"/>
              </a:xfrm>
              <a:prstGeom prst="rect">
                <a:avLst/>
              </a:prstGeom>
            </p:spPr>
          </p:pic>
          <p:sp>
            <p:nvSpPr>
              <p:cNvPr id="11" name="Rectangle 10">
                <a:extLst>
                  <a:ext uri="{FF2B5EF4-FFF2-40B4-BE49-F238E27FC236}">
                    <a16:creationId xmlns:a16="http://schemas.microsoft.com/office/drawing/2014/main" id="{74D5DE8E-E6C4-4BD6-A2B5-540D2521E460}"/>
                  </a:ext>
                </a:extLst>
              </p:cNvPr>
              <p:cNvSpPr/>
              <p:nvPr/>
            </p:nvSpPr>
            <p:spPr>
              <a:xfrm>
                <a:off x="2196353" y="3545541"/>
                <a:ext cx="793926" cy="79337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 name="Rectangle 11">
                <a:extLst>
                  <a:ext uri="{FF2B5EF4-FFF2-40B4-BE49-F238E27FC236}">
                    <a16:creationId xmlns:a16="http://schemas.microsoft.com/office/drawing/2014/main" id="{7AD6A242-7238-4686-BA58-39501A4DE830}"/>
                  </a:ext>
                </a:extLst>
              </p:cNvPr>
              <p:cNvSpPr/>
              <p:nvPr/>
            </p:nvSpPr>
            <p:spPr>
              <a:xfrm>
                <a:off x="4595023" y="3778623"/>
                <a:ext cx="1420295" cy="140297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3" name="Rectangle 12">
                <a:extLst>
                  <a:ext uri="{FF2B5EF4-FFF2-40B4-BE49-F238E27FC236}">
                    <a16:creationId xmlns:a16="http://schemas.microsoft.com/office/drawing/2014/main" id="{7D54603E-7E5C-4917-9A54-6854CC921FFA}"/>
                  </a:ext>
                </a:extLst>
              </p:cNvPr>
              <p:cNvSpPr/>
              <p:nvPr/>
            </p:nvSpPr>
            <p:spPr>
              <a:xfrm>
                <a:off x="6497510" y="3778623"/>
                <a:ext cx="324632" cy="29135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pic>
          <p:nvPicPr>
            <p:cNvPr id="10" name="Image 9">
              <a:extLst>
                <a:ext uri="{FF2B5EF4-FFF2-40B4-BE49-F238E27FC236}">
                  <a16:creationId xmlns:a16="http://schemas.microsoft.com/office/drawing/2014/main" id="{F05AD074-9B34-4E0A-88BE-0D9293101862}"/>
                </a:ext>
              </a:extLst>
            </p:cNvPr>
            <p:cNvPicPr>
              <a:picLocks noChangeAspect="1"/>
            </p:cNvPicPr>
            <p:nvPr/>
          </p:nvPicPr>
          <p:blipFill>
            <a:blip r:embed="rId3"/>
            <a:stretch>
              <a:fillRect/>
            </a:stretch>
          </p:blipFill>
          <p:spPr>
            <a:xfrm>
              <a:off x="6517339" y="4362799"/>
              <a:ext cx="4688543" cy="2087197"/>
            </a:xfrm>
            <a:prstGeom prst="rect">
              <a:avLst/>
            </a:prstGeom>
          </p:spPr>
        </p:pic>
        <p:sp>
          <p:nvSpPr>
            <p:cNvPr id="17" name="Flèche : droite 16">
              <a:extLst>
                <a:ext uri="{FF2B5EF4-FFF2-40B4-BE49-F238E27FC236}">
                  <a16:creationId xmlns:a16="http://schemas.microsoft.com/office/drawing/2014/main" id="{F67E001B-784F-4098-AA9F-9477E20732A1}"/>
                </a:ext>
              </a:extLst>
            </p:cNvPr>
            <p:cNvSpPr/>
            <p:nvPr/>
          </p:nvSpPr>
          <p:spPr>
            <a:xfrm>
              <a:off x="5812298" y="5160165"/>
              <a:ext cx="388105"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Tree>
    <p:extLst>
      <p:ext uri="{BB962C8B-B14F-4D97-AF65-F5344CB8AC3E}">
        <p14:creationId xmlns:p14="http://schemas.microsoft.com/office/powerpoint/2010/main" val="1420222361"/>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5892014" cy="2171501"/>
          </a:xfrm>
        </p:spPr>
        <p:txBody>
          <a:bodyPr>
            <a:noAutofit/>
          </a:bodyPr>
          <a:lstStyle/>
          <a:p>
            <a:pPr lvl="1" algn="just">
              <a:lnSpc>
                <a:spcPct val="100000"/>
              </a:lnSpc>
              <a:buClr>
                <a:schemeClr val="accent2"/>
              </a:buClr>
            </a:pPr>
            <a:r>
              <a:rPr lang="fr-FR" sz="1400" dirty="0"/>
              <a:t>En réalité, l’ordinateur ne parcours pas chaque pixel, mais plutôt des lots de pixels.</a:t>
            </a:r>
          </a:p>
          <a:p>
            <a:pPr lvl="1" algn="just">
              <a:lnSpc>
                <a:spcPct val="100000"/>
              </a:lnSpc>
              <a:buClr>
                <a:schemeClr val="accent2"/>
              </a:buClr>
            </a:pPr>
            <a:r>
              <a:rPr lang="fr-FR" sz="1400" dirty="0"/>
              <a:t>Comme chez l’humain, il ne regarde pas chaque détail (pixel), mais des </a:t>
            </a:r>
            <a:r>
              <a:rPr lang="fr-FR" sz="1400" dirty="0" err="1"/>
              <a:t>features</a:t>
            </a:r>
            <a:r>
              <a:rPr lang="fr-FR" sz="1400" dirty="0"/>
              <a:t> locales telles que le nez, le chapeau, les rayures du tigre…</a:t>
            </a:r>
          </a:p>
          <a:p>
            <a:pPr lvl="1" algn="just">
              <a:lnSpc>
                <a:spcPct val="100000"/>
              </a:lnSpc>
              <a:buClr>
                <a:schemeClr val="accent2"/>
              </a:buClr>
            </a:pPr>
            <a:r>
              <a:rPr lang="fr-FR" sz="1400" dirty="0"/>
              <a:t>En entreprise, il y a de nombreuses fonctionnalités à détecter.</a:t>
            </a:r>
          </a:p>
          <a:p>
            <a:pPr lvl="1" algn="just">
              <a:lnSpc>
                <a:spcPct val="100000"/>
              </a:lnSpc>
              <a:buClr>
                <a:schemeClr val="accent2"/>
              </a:buClr>
            </a:pPr>
            <a:r>
              <a:rPr lang="fr-FR" sz="1400" dirty="0"/>
              <a:t>On utilise donc plusieurs </a:t>
            </a:r>
            <a:r>
              <a:rPr lang="fr-FR" sz="1400" dirty="0" err="1"/>
              <a:t>Feature</a:t>
            </a:r>
            <a:r>
              <a:rPr lang="fr-FR" sz="1400" dirty="0"/>
              <a:t> </a:t>
            </a:r>
            <a:r>
              <a:rPr lang="fr-FR" sz="1400" dirty="0" err="1"/>
              <a:t>Map</a:t>
            </a:r>
            <a:r>
              <a:rPr lang="fr-FR" sz="1400" dirty="0"/>
              <a:t> pour détecter où se trouve une caractéristique spécifique sur l’image.</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Résumé : étape 1 (convolution)</a:t>
            </a:r>
          </a:p>
        </p:txBody>
      </p:sp>
      <p:pic>
        <p:nvPicPr>
          <p:cNvPr id="2" name="Image 1">
            <a:extLst>
              <a:ext uri="{FF2B5EF4-FFF2-40B4-BE49-F238E27FC236}">
                <a16:creationId xmlns:a16="http://schemas.microsoft.com/office/drawing/2014/main" id="{29CDEA43-FB19-4B79-90B2-764E6B20EBD1}"/>
              </a:ext>
            </a:extLst>
          </p:cNvPr>
          <p:cNvPicPr>
            <a:picLocks noChangeAspect="1"/>
          </p:cNvPicPr>
          <p:nvPr/>
        </p:nvPicPr>
        <p:blipFill>
          <a:blip r:embed="rId2"/>
          <a:stretch>
            <a:fillRect/>
          </a:stretch>
        </p:blipFill>
        <p:spPr>
          <a:xfrm>
            <a:off x="2563169" y="3489512"/>
            <a:ext cx="3303119" cy="1551401"/>
          </a:xfrm>
          <a:prstGeom prst="rect">
            <a:avLst/>
          </a:prstGeom>
        </p:spPr>
      </p:pic>
    </p:spTree>
    <p:extLst>
      <p:ext uri="{BB962C8B-B14F-4D97-AF65-F5344CB8AC3E}">
        <p14:creationId xmlns:p14="http://schemas.microsoft.com/office/powerpoint/2010/main" val="3662794703"/>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4820171" cy="3191566"/>
          </a:xfrm>
        </p:spPr>
        <p:txBody>
          <a:bodyPr>
            <a:noAutofit/>
          </a:bodyPr>
          <a:lstStyle/>
          <a:p>
            <a:pPr lvl="1" algn="just">
              <a:lnSpc>
                <a:spcPct val="100000"/>
              </a:lnSpc>
              <a:buClr>
                <a:schemeClr val="accent2"/>
              </a:buClr>
            </a:pPr>
            <a:r>
              <a:rPr lang="fr-FR" sz="1200" dirty="0"/>
              <a:t>Le réseau neuronal recherche exactement une certaine caractéristique.</a:t>
            </a:r>
          </a:p>
          <a:p>
            <a:pPr lvl="1" algn="just">
              <a:lnSpc>
                <a:spcPct val="100000"/>
              </a:lnSpc>
              <a:buClr>
                <a:schemeClr val="accent2"/>
              </a:buClr>
            </a:pPr>
            <a:r>
              <a:rPr lang="fr-FR" sz="1200" dirty="0"/>
              <a:t>Par exemple, une caractéristique distinctive du guépard est les larmes qui coulent sur son visage provenant des yeux ou les ombres qui ressemblent à des larmes. </a:t>
            </a:r>
          </a:p>
          <a:p>
            <a:pPr lvl="1" algn="just">
              <a:lnSpc>
                <a:spcPct val="100000"/>
              </a:lnSpc>
              <a:buClr>
                <a:schemeClr val="accent2"/>
              </a:buClr>
            </a:pPr>
            <a:r>
              <a:rPr lang="fr-FR" sz="1200" dirty="0"/>
              <a:t>Le motif qui va de ses yeux jusqu'aux côtés de son nez, qui ressemble à des larmes, est une caractéristique distinctive du guépard.</a:t>
            </a:r>
          </a:p>
          <a:p>
            <a:pPr lvl="1" algn="just">
              <a:lnSpc>
                <a:spcPct val="100000"/>
              </a:lnSpc>
              <a:buClr>
                <a:schemeClr val="accent2"/>
              </a:buClr>
            </a:pPr>
            <a:r>
              <a:rPr lang="fr-FR" sz="1200" dirty="0"/>
              <a:t>Grâce au </a:t>
            </a:r>
            <a:r>
              <a:rPr lang="fr-FR" sz="1200" dirty="0" err="1"/>
              <a:t>pooling</a:t>
            </a:r>
            <a:r>
              <a:rPr lang="fr-FR" sz="1200" dirty="0"/>
              <a:t>, le réseau de neurones sera robuste car il va introduire la notion d’invariance spatiale.</a:t>
            </a:r>
          </a:p>
          <a:p>
            <a:pPr lvl="1" algn="just">
              <a:lnSpc>
                <a:spcPct val="100000"/>
              </a:lnSpc>
              <a:buClr>
                <a:schemeClr val="accent2"/>
              </a:buClr>
            </a:pPr>
            <a:r>
              <a:rPr lang="fr-FR" sz="1200" dirty="0"/>
              <a:t>Cette notion permettra d’identifier l’animal quelque soit l’image, sa rotation ou son aplatissement.</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Résumé : étape 2 (max </a:t>
            </a:r>
            <a:r>
              <a:rPr lang="fr-FR" sz="1800" b="0" dirty="0" err="1"/>
              <a:t>pooling</a:t>
            </a:r>
            <a:r>
              <a:rPr lang="fr-FR" sz="1800" b="0" dirty="0"/>
              <a:t>)</a:t>
            </a:r>
          </a:p>
        </p:txBody>
      </p:sp>
      <p:pic>
        <p:nvPicPr>
          <p:cNvPr id="3" name="Image 2">
            <a:extLst>
              <a:ext uri="{FF2B5EF4-FFF2-40B4-BE49-F238E27FC236}">
                <a16:creationId xmlns:a16="http://schemas.microsoft.com/office/drawing/2014/main" id="{84789FF9-1177-45AB-9181-330F6264CD04}"/>
              </a:ext>
            </a:extLst>
          </p:cNvPr>
          <p:cNvPicPr>
            <a:picLocks noChangeAspect="1"/>
          </p:cNvPicPr>
          <p:nvPr/>
        </p:nvPicPr>
        <p:blipFill>
          <a:blip r:embed="rId2"/>
          <a:stretch>
            <a:fillRect/>
          </a:stretch>
        </p:blipFill>
        <p:spPr>
          <a:xfrm>
            <a:off x="5668189" y="1391969"/>
            <a:ext cx="3421678" cy="3005709"/>
          </a:xfrm>
          <a:prstGeom prst="rect">
            <a:avLst/>
          </a:prstGeom>
        </p:spPr>
      </p:pic>
    </p:spTree>
    <p:extLst>
      <p:ext uri="{BB962C8B-B14F-4D97-AF65-F5344CB8AC3E}">
        <p14:creationId xmlns:p14="http://schemas.microsoft.com/office/powerpoint/2010/main" val="3415009"/>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4820171" cy="3191566"/>
          </a:xfrm>
        </p:spPr>
        <p:txBody>
          <a:bodyPr>
            <a:noAutofit/>
          </a:bodyPr>
          <a:lstStyle/>
          <a:p>
            <a:pPr lvl="1" algn="just">
              <a:lnSpc>
                <a:spcPct val="100000"/>
              </a:lnSpc>
              <a:buClr>
                <a:schemeClr val="accent2"/>
              </a:buClr>
            </a:pPr>
            <a:r>
              <a:rPr lang="fr-FR" sz="1200" dirty="0"/>
              <a:t>Le </a:t>
            </a:r>
            <a:r>
              <a:rPr lang="fr-FR" sz="1200" dirty="0" err="1"/>
              <a:t>flattening</a:t>
            </a:r>
            <a:r>
              <a:rPr lang="fr-FR" sz="1200" dirty="0"/>
              <a:t> consiste à prendre la matrice issue du processus de </a:t>
            </a:r>
            <a:r>
              <a:rPr lang="fr-FR" sz="1200" dirty="0" err="1"/>
              <a:t>Pooling</a:t>
            </a:r>
            <a:r>
              <a:rPr lang="fr-FR" sz="1200" dirty="0"/>
              <a:t> (</a:t>
            </a:r>
            <a:r>
              <a:rPr lang="fr-FR" sz="1200" dirty="0" err="1"/>
              <a:t>pooled</a:t>
            </a:r>
            <a:r>
              <a:rPr lang="fr-FR" sz="1200" dirty="0"/>
              <a:t> </a:t>
            </a:r>
            <a:r>
              <a:rPr lang="fr-FR" sz="1200" dirty="0" err="1"/>
              <a:t>feature</a:t>
            </a:r>
            <a:r>
              <a:rPr lang="fr-FR" sz="1200" dirty="0"/>
              <a:t> </a:t>
            </a:r>
            <a:r>
              <a:rPr lang="fr-FR" sz="1200" dirty="0" err="1"/>
              <a:t>map</a:t>
            </a:r>
            <a:r>
              <a:rPr lang="fr-FR" sz="1200" dirty="0"/>
              <a:t>) pour l’étirer de façon à obtenir un vecteur colonne.</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Résumé : étape 3 (</a:t>
            </a:r>
            <a:r>
              <a:rPr lang="fr-FR" sz="1800" b="0" dirty="0" err="1"/>
              <a:t>flattening</a:t>
            </a:r>
            <a:r>
              <a:rPr lang="fr-FR" sz="1800" b="0" dirty="0"/>
              <a:t>)</a:t>
            </a:r>
          </a:p>
        </p:txBody>
      </p:sp>
      <p:pic>
        <p:nvPicPr>
          <p:cNvPr id="2" name="Image 1">
            <a:extLst>
              <a:ext uri="{FF2B5EF4-FFF2-40B4-BE49-F238E27FC236}">
                <a16:creationId xmlns:a16="http://schemas.microsoft.com/office/drawing/2014/main" id="{8D89BFDA-53F9-4EEA-B2EB-32E1F64B7662}"/>
              </a:ext>
            </a:extLst>
          </p:cNvPr>
          <p:cNvPicPr>
            <a:picLocks noChangeAspect="1"/>
          </p:cNvPicPr>
          <p:nvPr/>
        </p:nvPicPr>
        <p:blipFill>
          <a:blip r:embed="rId2"/>
          <a:stretch>
            <a:fillRect/>
          </a:stretch>
        </p:blipFill>
        <p:spPr>
          <a:xfrm>
            <a:off x="1852785" y="2123002"/>
            <a:ext cx="3317611" cy="1390844"/>
          </a:xfrm>
          <a:prstGeom prst="rect">
            <a:avLst/>
          </a:prstGeom>
        </p:spPr>
      </p:pic>
    </p:spTree>
    <p:extLst>
      <p:ext uri="{BB962C8B-B14F-4D97-AF65-F5344CB8AC3E}">
        <p14:creationId xmlns:p14="http://schemas.microsoft.com/office/powerpoint/2010/main" val="545097608"/>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4820171" cy="3191566"/>
          </a:xfrm>
        </p:spPr>
        <p:txBody>
          <a:bodyPr>
            <a:noAutofit/>
          </a:bodyPr>
          <a:lstStyle/>
          <a:p>
            <a:pPr lvl="1" algn="just">
              <a:lnSpc>
                <a:spcPct val="100000"/>
              </a:lnSpc>
              <a:buClr>
                <a:schemeClr val="accent2"/>
              </a:buClr>
            </a:pPr>
            <a:r>
              <a:rPr lang="fr-FR" sz="1200" dirty="0"/>
              <a:t>Si on dispose de plusieurs couches (</a:t>
            </a:r>
            <a:r>
              <a:rPr lang="fr-FR" sz="1200" dirty="0" err="1"/>
              <a:t>pooling</a:t>
            </a:r>
            <a:r>
              <a:rPr lang="fr-FR" sz="1200" dirty="0"/>
              <a:t> Layer), on aplatit séquentiellement leurs éléments, les uns après les autres, de façon à former un très grand vecteur colonne.</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Résumé : étape 3 (</a:t>
            </a:r>
            <a:r>
              <a:rPr lang="fr-FR" sz="1800" b="0" dirty="0" err="1"/>
              <a:t>flattening</a:t>
            </a:r>
            <a:r>
              <a:rPr lang="fr-FR" sz="1800" b="0" dirty="0"/>
              <a:t>)</a:t>
            </a:r>
          </a:p>
        </p:txBody>
      </p:sp>
      <p:pic>
        <p:nvPicPr>
          <p:cNvPr id="3" name="Image 2">
            <a:extLst>
              <a:ext uri="{FF2B5EF4-FFF2-40B4-BE49-F238E27FC236}">
                <a16:creationId xmlns:a16="http://schemas.microsoft.com/office/drawing/2014/main" id="{71580DF9-C803-4D46-9002-09429D2AA5B7}"/>
              </a:ext>
            </a:extLst>
          </p:cNvPr>
          <p:cNvPicPr>
            <a:picLocks noChangeAspect="1"/>
          </p:cNvPicPr>
          <p:nvPr/>
        </p:nvPicPr>
        <p:blipFill>
          <a:blip r:embed="rId2"/>
          <a:stretch>
            <a:fillRect/>
          </a:stretch>
        </p:blipFill>
        <p:spPr>
          <a:xfrm>
            <a:off x="1841191" y="2237287"/>
            <a:ext cx="3345551" cy="1500930"/>
          </a:xfrm>
          <a:prstGeom prst="rect">
            <a:avLst/>
          </a:prstGeom>
        </p:spPr>
      </p:pic>
    </p:spTree>
    <p:extLst>
      <p:ext uri="{BB962C8B-B14F-4D97-AF65-F5344CB8AC3E}">
        <p14:creationId xmlns:p14="http://schemas.microsoft.com/office/powerpoint/2010/main" val="2022837497"/>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4820171" cy="638537"/>
          </a:xfrm>
        </p:spPr>
        <p:txBody>
          <a:bodyPr>
            <a:noAutofit/>
          </a:bodyPr>
          <a:lstStyle/>
          <a:p>
            <a:pPr lvl="1" algn="just">
              <a:lnSpc>
                <a:spcPct val="100000"/>
              </a:lnSpc>
              <a:buClr>
                <a:schemeClr val="accent2"/>
              </a:buClr>
            </a:pPr>
            <a:r>
              <a:rPr lang="fr-FR" sz="1200" dirty="0"/>
              <a:t>À cette étape, on ajoute tout un réseau de neurones artificiels à notre réseau de neurones convolutifs.</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Résumé : étape 4 (réseau neuronal)</a:t>
            </a:r>
          </a:p>
        </p:txBody>
      </p:sp>
      <p:pic>
        <p:nvPicPr>
          <p:cNvPr id="2" name="Image 1">
            <a:extLst>
              <a:ext uri="{FF2B5EF4-FFF2-40B4-BE49-F238E27FC236}">
                <a16:creationId xmlns:a16="http://schemas.microsoft.com/office/drawing/2014/main" id="{10812FFC-29BC-49CF-8AE8-181CFCE0A752}"/>
              </a:ext>
            </a:extLst>
          </p:cNvPr>
          <p:cNvPicPr>
            <a:picLocks noChangeAspect="1"/>
          </p:cNvPicPr>
          <p:nvPr/>
        </p:nvPicPr>
        <p:blipFill>
          <a:blip r:embed="rId2"/>
          <a:stretch>
            <a:fillRect/>
          </a:stretch>
        </p:blipFill>
        <p:spPr>
          <a:xfrm>
            <a:off x="1612844" y="2129493"/>
            <a:ext cx="4337480" cy="2112410"/>
          </a:xfrm>
          <a:prstGeom prst="rect">
            <a:avLst/>
          </a:prstGeom>
        </p:spPr>
      </p:pic>
    </p:spTree>
    <p:extLst>
      <p:ext uri="{BB962C8B-B14F-4D97-AF65-F5344CB8AC3E}">
        <p14:creationId xmlns:p14="http://schemas.microsoft.com/office/powerpoint/2010/main" val="2411924505"/>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4820171" cy="638537"/>
          </a:xfrm>
        </p:spPr>
        <p:txBody>
          <a:bodyPr>
            <a:noAutofit/>
          </a:bodyPr>
          <a:lstStyle/>
          <a:p>
            <a:pPr lvl="1" algn="just">
              <a:lnSpc>
                <a:spcPct val="100000"/>
              </a:lnSpc>
              <a:buClr>
                <a:schemeClr val="accent2"/>
              </a:buClr>
            </a:pPr>
            <a:r>
              <a:rPr lang="fr-FR" sz="1200" dirty="0"/>
              <a:t>À cette étape, on ajoute tout un réseau de neurones artificiels à notre réseau de neurones convolutifs.</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Résumé : étape 4 (réseau neuronal)</a:t>
            </a:r>
          </a:p>
        </p:txBody>
      </p:sp>
      <p:pic>
        <p:nvPicPr>
          <p:cNvPr id="2" name="Image 1">
            <a:extLst>
              <a:ext uri="{FF2B5EF4-FFF2-40B4-BE49-F238E27FC236}">
                <a16:creationId xmlns:a16="http://schemas.microsoft.com/office/drawing/2014/main" id="{10812FFC-29BC-49CF-8AE8-181CFCE0A752}"/>
              </a:ext>
            </a:extLst>
          </p:cNvPr>
          <p:cNvPicPr>
            <a:picLocks noChangeAspect="1"/>
          </p:cNvPicPr>
          <p:nvPr/>
        </p:nvPicPr>
        <p:blipFill>
          <a:blip r:embed="rId2"/>
          <a:stretch>
            <a:fillRect/>
          </a:stretch>
        </p:blipFill>
        <p:spPr>
          <a:xfrm>
            <a:off x="1612844" y="2129493"/>
            <a:ext cx="4337480" cy="2112410"/>
          </a:xfrm>
          <a:prstGeom prst="rect">
            <a:avLst/>
          </a:prstGeom>
        </p:spPr>
      </p:pic>
    </p:spTree>
    <p:extLst>
      <p:ext uri="{BB962C8B-B14F-4D97-AF65-F5344CB8AC3E}">
        <p14:creationId xmlns:p14="http://schemas.microsoft.com/office/powerpoint/2010/main" val="4168878094"/>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4820171" cy="2615254"/>
          </a:xfrm>
        </p:spPr>
        <p:txBody>
          <a:bodyPr>
            <a:noAutofit/>
          </a:bodyPr>
          <a:lstStyle/>
          <a:p>
            <a:pPr lvl="1" algn="just">
              <a:lnSpc>
                <a:spcPct val="100000"/>
              </a:lnSpc>
              <a:buClr>
                <a:schemeClr val="accent2"/>
              </a:buClr>
            </a:pPr>
            <a:r>
              <a:rPr lang="fr-FR" sz="1200" dirty="0"/>
              <a:t>Ici par exemple, on a :</a:t>
            </a:r>
          </a:p>
          <a:p>
            <a:pPr lvl="2" algn="just">
              <a:lnSpc>
                <a:spcPct val="100000"/>
              </a:lnSpc>
              <a:buClr>
                <a:schemeClr val="accent2"/>
              </a:buClr>
            </a:pPr>
            <a:r>
              <a:rPr lang="fr-FR" sz="1050" dirty="0"/>
              <a:t>5 attributs désignés en input</a:t>
            </a:r>
          </a:p>
          <a:p>
            <a:pPr lvl="2" algn="just">
              <a:lnSpc>
                <a:spcPct val="100000"/>
              </a:lnSpc>
              <a:buClr>
                <a:schemeClr val="accent2"/>
              </a:buClr>
            </a:pPr>
            <a:r>
              <a:rPr lang="fr-FR" sz="1050" dirty="0"/>
              <a:t>6 neurones dans la première couche cachée.</a:t>
            </a:r>
          </a:p>
          <a:p>
            <a:pPr lvl="2" algn="just">
              <a:lnSpc>
                <a:spcPct val="100000"/>
              </a:lnSpc>
              <a:buClr>
                <a:schemeClr val="accent2"/>
              </a:buClr>
            </a:pPr>
            <a:r>
              <a:rPr lang="fr-FR" sz="1050" dirty="0"/>
              <a:t>8 neurones dans la seconde couche cachée.</a:t>
            </a:r>
          </a:p>
          <a:p>
            <a:pPr lvl="2" algn="just">
              <a:lnSpc>
                <a:spcPct val="100000"/>
              </a:lnSpc>
              <a:buClr>
                <a:schemeClr val="accent2"/>
              </a:buClr>
            </a:pPr>
            <a:r>
              <a:rPr lang="fr-FR" sz="1050" dirty="0"/>
              <a:t>2 output : l’une pour prédire CHIEN et l’autre CHAT (classification)</a:t>
            </a:r>
          </a:p>
          <a:p>
            <a:pPr lvl="2" algn="just">
              <a:lnSpc>
                <a:spcPct val="100000"/>
              </a:lnSpc>
              <a:buClr>
                <a:schemeClr val="accent2"/>
              </a:buClr>
            </a:pPr>
            <a:endParaRPr lang="fr-FR" sz="1050"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Résumé : étape 4 (réseau neuronal)</a:t>
            </a:r>
          </a:p>
        </p:txBody>
      </p:sp>
      <p:pic>
        <p:nvPicPr>
          <p:cNvPr id="3" name="Image 2">
            <a:extLst>
              <a:ext uri="{FF2B5EF4-FFF2-40B4-BE49-F238E27FC236}">
                <a16:creationId xmlns:a16="http://schemas.microsoft.com/office/drawing/2014/main" id="{A3090F2E-25B7-4AEF-AAAE-6FB70A271407}"/>
              </a:ext>
            </a:extLst>
          </p:cNvPr>
          <p:cNvPicPr>
            <a:picLocks noChangeAspect="1"/>
          </p:cNvPicPr>
          <p:nvPr/>
        </p:nvPicPr>
        <p:blipFill>
          <a:blip r:embed="rId2"/>
          <a:stretch>
            <a:fillRect/>
          </a:stretch>
        </p:blipFill>
        <p:spPr>
          <a:xfrm>
            <a:off x="1893194" y="2699596"/>
            <a:ext cx="3779427" cy="2114737"/>
          </a:xfrm>
          <a:prstGeom prst="rect">
            <a:avLst/>
          </a:prstGeom>
        </p:spPr>
      </p:pic>
    </p:spTree>
    <p:extLst>
      <p:ext uri="{BB962C8B-B14F-4D97-AF65-F5344CB8AC3E}">
        <p14:creationId xmlns:p14="http://schemas.microsoft.com/office/powerpoint/2010/main" val="3901267687"/>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4820171" cy="2615254"/>
          </a:xfrm>
        </p:spPr>
        <p:txBody>
          <a:bodyPr>
            <a:noAutofit/>
          </a:bodyPr>
          <a:lstStyle/>
          <a:p>
            <a:pPr lvl="1" algn="just">
              <a:lnSpc>
                <a:spcPct val="100000"/>
              </a:lnSpc>
              <a:buClr>
                <a:schemeClr val="accent2"/>
              </a:buClr>
            </a:pPr>
            <a:r>
              <a:rPr lang="fr-FR" sz="1200" dirty="0"/>
              <a:t>Regardons ce qui s’y passe :</a:t>
            </a:r>
          </a:p>
          <a:p>
            <a:pPr lvl="2" algn="just">
              <a:lnSpc>
                <a:spcPct val="100000"/>
              </a:lnSpc>
              <a:buClr>
                <a:schemeClr val="accent2"/>
              </a:buClr>
            </a:pPr>
            <a:r>
              <a:rPr lang="fr-FR" sz="1050" dirty="0"/>
              <a:t>L’image est traitée</a:t>
            </a:r>
          </a:p>
          <a:p>
            <a:pPr lvl="2" algn="just">
              <a:lnSpc>
                <a:spcPct val="100000"/>
              </a:lnSpc>
              <a:buClr>
                <a:schemeClr val="accent2"/>
              </a:buClr>
            </a:pPr>
            <a:r>
              <a:rPr lang="fr-FR" sz="1050" dirty="0"/>
              <a:t>Convoluée</a:t>
            </a:r>
          </a:p>
          <a:p>
            <a:pPr lvl="2" algn="just">
              <a:lnSpc>
                <a:spcPct val="100000"/>
              </a:lnSpc>
              <a:buClr>
                <a:schemeClr val="accent2"/>
              </a:buClr>
            </a:pPr>
            <a:r>
              <a:rPr lang="fr-FR" sz="1050" dirty="0"/>
              <a:t>Regroupée</a:t>
            </a:r>
          </a:p>
          <a:p>
            <a:pPr lvl="2" algn="just">
              <a:lnSpc>
                <a:spcPct val="100000"/>
              </a:lnSpc>
              <a:buClr>
                <a:schemeClr val="accent2"/>
              </a:buClr>
            </a:pPr>
            <a:r>
              <a:rPr lang="fr-FR" sz="1050" dirty="0"/>
              <a:t>Aplatie, puis envoyée dans le réseau de neurones</a:t>
            </a:r>
          </a:p>
          <a:p>
            <a:pPr lvl="2" algn="just">
              <a:lnSpc>
                <a:spcPct val="100000"/>
              </a:lnSpc>
              <a:buClr>
                <a:schemeClr val="accent2"/>
              </a:buClr>
            </a:pPr>
            <a:r>
              <a:rPr lang="fr-FR" sz="1050" dirty="0"/>
              <a:t>Une prédiction est ainsi faite.</a:t>
            </a:r>
          </a:p>
          <a:p>
            <a:pPr lvl="2" algn="just">
              <a:lnSpc>
                <a:spcPct val="100000"/>
              </a:lnSpc>
              <a:buClr>
                <a:schemeClr val="accent2"/>
              </a:buClr>
            </a:pPr>
            <a:r>
              <a:rPr lang="fr-FR" sz="1050" dirty="0"/>
              <a:t>Puis une erreur est calculée sur la base de la fonction de coût (entropie croisée).</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Résumé : étape 4 (réseau neuronal)</a:t>
            </a:r>
          </a:p>
        </p:txBody>
      </p:sp>
      <p:pic>
        <p:nvPicPr>
          <p:cNvPr id="2" name="Image 1">
            <a:extLst>
              <a:ext uri="{FF2B5EF4-FFF2-40B4-BE49-F238E27FC236}">
                <a16:creationId xmlns:a16="http://schemas.microsoft.com/office/drawing/2014/main" id="{B87E5256-8BE0-4E31-AF3D-83777E306BB3}"/>
              </a:ext>
            </a:extLst>
          </p:cNvPr>
          <p:cNvPicPr>
            <a:picLocks noChangeAspect="1"/>
          </p:cNvPicPr>
          <p:nvPr/>
        </p:nvPicPr>
        <p:blipFill>
          <a:blip r:embed="rId2"/>
          <a:stretch>
            <a:fillRect/>
          </a:stretch>
        </p:blipFill>
        <p:spPr>
          <a:xfrm>
            <a:off x="2966111" y="3140656"/>
            <a:ext cx="2954469" cy="1733134"/>
          </a:xfrm>
          <a:prstGeom prst="rect">
            <a:avLst/>
          </a:prstGeom>
        </p:spPr>
      </p:pic>
    </p:spTree>
    <p:extLst>
      <p:ext uri="{BB962C8B-B14F-4D97-AF65-F5344CB8AC3E}">
        <p14:creationId xmlns:p14="http://schemas.microsoft.com/office/powerpoint/2010/main" val="1079442990"/>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4820171" cy="2615254"/>
          </a:xfrm>
        </p:spPr>
        <p:txBody>
          <a:bodyPr>
            <a:noAutofit/>
          </a:bodyPr>
          <a:lstStyle/>
          <a:p>
            <a:pPr lvl="1" algn="just">
              <a:lnSpc>
                <a:spcPct val="100000"/>
              </a:lnSpc>
              <a:buClr>
                <a:schemeClr val="accent2"/>
              </a:buClr>
            </a:pPr>
            <a:r>
              <a:rPr lang="fr-FR" sz="1200" dirty="0"/>
              <a:t>Une fois l’erreur calculée :</a:t>
            </a:r>
          </a:p>
          <a:p>
            <a:pPr lvl="2" algn="just">
              <a:lnSpc>
                <a:spcPct val="100000"/>
              </a:lnSpc>
              <a:buClr>
                <a:schemeClr val="accent2"/>
              </a:buClr>
            </a:pPr>
            <a:r>
              <a:rPr lang="fr-FR" sz="1050" dirty="0"/>
              <a:t>Elle est propagée à travers le réseau</a:t>
            </a:r>
          </a:p>
          <a:p>
            <a:pPr lvl="2" algn="just">
              <a:lnSpc>
                <a:spcPct val="100000"/>
              </a:lnSpc>
              <a:buClr>
                <a:schemeClr val="accent2"/>
              </a:buClr>
            </a:pPr>
            <a:r>
              <a:rPr lang="fr-FR" sz="1050" dirty="0"/>
              <a:t>Elle est repropagée et on réajuste les poids le long du réseau pour optimiser les performances.</a:t>
            </a:r>
          </a:p>
          <a:p>
            <a:pPr lvl="2" algn="just">
              <a:lnSpc>
                <a:spcPct val="100000"/>
              </a:lnSpc>
              <a:buClr>
                <a:schemeClr val="accent2"/>
              </a:buClr>
            </a:pPr>
            <a:r>
              <a:rPr lang="fr-FR" sz="1050" dirty="0"/>
              <a:t>Les kernels sont également ajustés durant ce processus de rétropropagation.</a:t>
            </a:r>
          </a:p>
          <a:p>
            <a:pPr lvl="1" algn="just">
              <a:lnSpc>
                <a:spcPct val="100000"/>
              </a:lnSpc>
              <a:buClr>
                <a:schemeClr val="accent2"/>
              </a:buClr>
            </a:pPr>
            <a:r>
              <a:rPr lang="fr-FR" sz="1200" dirty="0"/>
              <a:t>Ce processus est réitéré plusieurs fois.</a:t>
            </a:r>
          </a:p>
          <a:p>
            <a:pPr lvl="1" algn="just">
              <a:lnSpc>
                <a:spcPct val="100000"/>
              </a:lnSpc>
              <a:buClr>
                <a:schemeClr val="accent2"/>
              </a:buClr>
            </a:pPr>
            <a:r>
              <a:rPr lang="fr-FR" sz="1200" dirty="0"/>
              <a:t>C’est ainsi que le réseau s’optime et qu’il s’entraîne sur les données.</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Résumé : étape 4 (réseau neuronal)</a:t>
            </a:r>
          </a:p>
        </p:txBody>
      </p:sp>
      <p:pic>
        <p:nvPicPr>
          <p:cNvPr id="3" name="Image 2">
            <a:extLst>
              <a:ext uri="{FF2B5EF4-FFF2-40B4-BE49-F238E27FC236}">
                <a16:creationId xmlns:a16="http://schemas.microsoft.com/office/drawing/2014/main" id="{06751DD3-1FA2-4DB1-8C58-404FAFAE66C7}"/>
              </a:ext>
            </a:extLst>
          </p:cNvPr>
          <p:cNvPicPr>
            <a:picLocks noChangeAspect="1"/>
          </p:cNvPicPr>
          <p:nvPr/>
        </p:nvPicPr>
        <p:blipFill>
          <a:blip r:embed="rId2"/>
          <a:stretch>
            <a:fillRect/>
          </a:stretch>
        </p:blipFill>
        <p:spPr>
          <a:xfrm>
            <a:off x="2724064" y="3288757"/>
            <a:ext cx="3280430" cy="1733133"/>
          </a:xfrm>
          <a:prstGeom prst="rect">
            <a:avLst/>
          </a:prstGeom>
        </p:spPr>
      </p:pic>
    </p:spTree>
    <p:extLst>
      <p:ext uri="{BB962C8B-B14F-4D97-AF65-F5344CB8AC3E}">
        <p14:creationId xmlns:p14="http://schemas.microsoft.com/office/powerpoint/2010/main" val="1813978799"/>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4820171" cy="2615254"/>
          </a:xfrm>
        </p:spPr>
        <p:txBody>
          <a:bodyPr>
            <a:noAutofit/>
          </a:bodyPr>
          <a:lstStyle/>
          <a:p>
            <a:pPr lvl="1" algn="just">
              <a:lnSpc>
                <a:spcPct val="100000"/>
              </a:lnSpc>
              <a:buClr>
                <a:schemeClr val="accent2"/>
              </a:buClr>
            </a:pPr>
            <a:r>
              <a:rPr lang="fr-FR" sz="1200" dirty="0"/>
              <a:t>Comment cela se passe t-il au niveau de l’output ?</a:t>
            </a:r>
          </a:p>
          <a:p>
            <a:pPr lvl="2" algn="just">
              <a:lnSpc>
                <a:spcPct val="100000"/>
              </a:lnSpc>
              <a:buClr>
                <a:schemeClr val="accent2"/>
              </a:buClr>
            </a:pPr>
            <a:r>
              <a:rPr lang="fr-FR" sz="1050" dirty="0"/>
              <a:t>Supposons que nous avons des poids (</a:t>
            </a:r>
            <a:r>
              <a:rPr lang="fr-FR" sz="1050" dirty="0" err="1"/>
              <a:t>random</a:t>
            </a:r>
            <a:r>
              <a:rPr lang="fr-FR" sz="1050" dirty="0"/>
              <a:t>)</a:t>
            </a:r>
          </a:p>
          <a:p>
            <a:pPr lvl="2" algn="just">
              <a:lnSpc>
                <a:spcPct val="100000"/>
              </a:lnSpc>
              <a:buClr>
                <a:schemeClr val="accent2"/>
              </a:buClr>
            </a:pPr>
            <a:r>
              <a:rPr lang="fr-FR" sz="1050" dirty="0"/>
              <a:t>Pour simplifier l’exemple, prenons des poids variants entre 0 et 1.</a:t>
            </a:r>
          </a:p>
          <a:p>
            <a:pPr lvl="2" algn="just">
              <a:lnSpc>
                <a:spcPct val="100000"/>
              </a:lnSpc>
              <a:buClr>
                <a:schemeClr val="accent2"/>
              </a:buClr>
            </a:pPr>
            <a:r>
              <a:rPr lang="fr-FR" sz="1050" dirty="0"/>
              <a:t>0 signifie que le neurone n’a pas trouvé la caractéristique recherchée.</a:t>
            </a:r>
          </a:p>
          <a:p>
            <a:pPr lvl="2" algn="just">
              <a:lnSpc>
                <a:spcPct val="100000"/>
              </a:lnSpc>
              <a:buClr>
                <a:schemeClr val="accent2"/>
              </a:buClr>
            </a:pPr>
            <a:r>
              <a:rPr lang="fr-FR" sz="1050" dirty="0"/>
              <a:t>1 signifie que le neurone a trouvé la caractéristique recherchée.</a:t>
            </a:r>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Résumé : étape 4 (réseau neuronal)</a:t>
            </a:r>
          </a:p>
        </p:txBody>
      </p:sp>
      <p:pic>
        <p:nvPicPr>
          <p:cNvPr id="2" name="Image 1">
            <a:extLst>
              <a:ext uri="{FF2B5EF4-FFF2-40B4-BE49-F238E27FC236}">
                <a16:creationId xmlns:a16="http://schemas.microsoft.com/office/drawing/2014/main" id="{CCC64342-DBAC-445B-B760-E9CE6890C8A3}"/>
              </a:ext>
            </a:extLst>
          </p:cNvPr>
          <p:cNvPicPr>
            <a:picLocks noChangeAspect="1"/>
          </p:cNvPicPr>
          <p:nvPr/>
        </p:nvPicPr>
        <p:blipFill>
          <a:blip r:embed="rId2"/>
          <a:stretch>
            <a:fillRect/>
          </a:stretch>
        </p:blipFill>
        <p:spPr>
          <a:xfrm>
            <a:off x="2506432" y="2901376"/>
            <a:ext cx="2929853" cy="1682159"/>
          </a:xfrm>
          <a:prstGeom prst="rect">
            <a:avLst/>
          </a:prstGeom>
        </p:spPr>
      </p:pic>
    </p:spTree>
    <p:extLst>
      <p:ext uri="{BB962C8B-B14F-4D97-AF65-F5344CB8AC3E}">
        <p14:creationId xmlns:p14="http://schemas.microsoft.com/office/powerpoint/2010/main" val="2788013268"/>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6249917" cy="2615254"/>
          </a:xfrm>
        </p:spPr>
        <p:txBody>
          <a:bodyPr>
            <a:noAutofit/>
          </a:bodyPr>
          <a:lstStyle/>
          <a:p>
            <a:pPr lvl="1" algn="just">
              <a:lnSpc>
                <a:spcPct val="100000"/>
              </a:lnSpc>
              <a:buClr>
                <a:schemeClr val="accent2"/>
              </a:buClr>
            </a:pPr>
            <a:r>
              <a:rPr lang="fr-FR" sz="1100" dirty="0"/>
              <a:t>Dans le cas de la prédiction CHIEN, ces trois neurones s’activent.</a:t>
            </a:r>
          </a:p>
          <a:p>
            <a:pPr lvl="1" algn="just">
              <a:lnSpc>
                <a:spcPct val="100000"/>
              </a:lnSpc>
              <a:buClr>
                <a:schemeClr val="accent2"/>
              </a:buClr>
            </a:pPr>
            <a:r>
              <a:rPr lang="fr-FR" sz="1100" dirty="0"/>
              <a:t>Disons que ces trois neurones traversent ce processus itératif avec de très nombreux échantillons et de très nombreuses époques.</a:t>
            </a:r>
          </a:p>
          <a:p>
            <a:pPr lvl="1" algn="just">
              <a:lnSpc>
                <a:spcPct val="100000"/>
              </a:lnSpc>
              <a:buClr>
                <a:schemeClr val="accent2"/>
              </a:buClr>
            </a:pPr>
            <a:r>
              <a:rPr lang="fr-FR" sz="1100" dirty="0"/>
              <a:t>Grâce à de nombreuses itérations, ce neurone de chien a appris que ce neurone des sourcils, ce neurone du gros nez et ce neurone des oreilles tombantes, semblent tous vraiment très bien contribuer à la classification de ce qu'il recherche et de ce qu'est un chien.</a:t>
            </a:r>
          </a:p>
          <a:p>
            <a:pPr lvl="1" algn="just">
              <a:lnSpc>
                <a:spcPct val="100000"/>
              </a:lnSpc>
              <a:buClr>
                <a:schemeClr val="accent2"/>
              </a:buClr>
            </a:pPr>
            <a:r>
              <a:rPr lang="fr-FR" sz="1100" dirty="0"/>
              <a:t>Le même processus est réalisé pour la prédiction CHAT.</a:t>
            </a:r>
            <a:endParaRPr lang="fr-FR" sz="1000"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Résumé : étape 4 (réseau neuronal)</a:t>
            </a:r>
          </a:p>
        </p:txBody>
      </p:sp>
      <p:grpSp>
        <p:nvGrpSpPr>
          <p:cNvPr id="5" name="Groupe 4">
            <a:extLst>
              <a:ext uri="{FF2B5EF4-FFF2-40B4-BE49-F238E27FC236}">
                <a16:creationId xmlns:a16="http://schemas.microsoft.com/office/drawing/2014/main" id="{B77B02E8-021D-4F51-8012-3C9005A061D2}"/>
              </a:ext>
            </a:extLst>
          </p:cNvPr>
          <p:cNvGrpSpPr/>
          <p:nvPr/>
        </p:nvGrpSpPr>
        <p:grpSpPr>
          <a:xfrm>
            <a:off x="1272850" y="3402413"/>
            <a:ext cx="6598301" cy="1680633"/>
            <a:chOff x="518677" y="4536550"/>
            <a:chExt cx="8797734" cy="2240844"/>
          </a:xfrm>
        </p:grpSpPr>
        <p:pic>
          <p:nvPicPr>
            <p:cNvPr id="3" name="Image 2">
              <a:extLst>
                <a:ext uri="{FF2B5EF4-FFF2-40B4-BE49-F238E27FC236}">
                  <a16:creationId xmlns:a16="http://schemas.microsoft.com/office/drawing/2014/main" id="{5E2BD001-88A8-4AE0-9C43-9295F1909F05}"/>
                </a:ext>
              </a:extLst>
            </p:cNvPr>
            <p:cNvPicPr>
              <a:picLocks noChangeAspect="1"/>
            </p:cNvPicPr>
            <p:nvPr/>
          </p:nvPicPr>
          <p:blipFill>
            <a:blip r:embed="rId2"/>
            <a:stretch>
              <a:fillRect/>
            </a:stretch>
          </p:blipFill>
          <p:spPr>
            <a:xfrm>
              <a:off x="518677" y="4536550"/>
              <a:ext cx="3906470" cy="2240844"/>
            </a:xfrm>
            <a:prstGeom prst="rect">
              <a:avLst/>
            </a:prstGeom>
          </p:spPr>
        </p:pic>
        <p:pic>
          <p:nvPicPr>
            <p:cNvPr id="4" name="Image 3">
              <a:extLst>
                <a:ext uri="{FF2B5EF4-FFF2-40B4-BE49-F238E27FC236}">
                  <a16:creationId xmlns:a16="http://schemas.microsoft.com/office/drawing/2014/main" id="{F4D33DFB-69D2-48DC-835F-DC23DFD8DED3}"/>
                </a:ext>
              </a:extLst>
            </p:cNvPr>
            <p:cNvPicPr>
              <a:picLocks noChangeAspect="1"/>
            </p:cNvPicPr>
            <p:nvPr/>
          </p:nvPicPr>
          <p:blipFill>
            <a:blip r:embed="rId3"/>
            <a:stretch>
              <a:fillRect/>
            </a:stretch>
          </p:blipFill>
          <p:spPr>
            <a:xfrm>
              <a:off x="5243077" y="4536550"/>
              <a:ext cx="4073334" cy="2240844"/>
            </a:xfrm>
            <a:prstGeom prst="rect">
              <a:avLst/>
            </a:prstGeom>
          </p:spPr>
        </p:pic>
      </p:grpSp>
    </p:spTree>
    <p:extLst>
      <p:ext uri="{BB962C8B-B14F-4D97-AF65-F5344CB8AC3E}">
        <p14:creationId xmlns:p14="http://schemas.microsoft.com/office/powerpoint/2010/main" val="269878545"/>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15">
            <a:extLst>
              <a:ext uri="{FF2B5EF4-FFF2-40B4-BE49-F238E27FC236}">
                <a16:creationId xmlns:a16="http://schemas.microsoft.com/office/drawing/2014/main" id="{1DCFA8A2-3FB8-48CA-933D-0800A9D2A2A2}"/>
              </a:ext>
            </a:extLst>
          </p:cNvPr>
          <p:cNvSpPr>
            <a:spLocks noGrp="1"/>
          </p:cNvSpPr>
          <p:nvPr>
            <p:ph sz="half" idx="13"/>
          </p:nvPr>
        </p:nvSpPr>
        <p:spPr>
          <a:xfrm>
            <a:off x="746911" y="1391970"/>
            <a:ext cx="4820171" cy="2615254"/>
          </a:xfrm>
        </p:spPr>
        <p:txBody>
          <a:bodyPr>
            <a:noAutofit/>
          </a:bodyPr>
          <a:lstStyle/>
          <a:p>
            <a:pPr lvl="1" algn="just">
              <a:lnSpc>
                <a:spcPct val="100000"/>
              </a:lnSpc>
              <a:buClr>
                <a:schemeClr val="accent2"/>
              </a:buClr>
            </a:pPr>
            <a:r>
              <a:rPr lang="fr-FR" sz="1200" dirty="0"/>
              <a:t>Au final, les prédictions sont correctement réalisées pour identifier un chien ou un chat à partir d’images.</a:t>
            </a:r>
            <a:endParaRPr lang="fr-FR" sz="1050" dirty="0"/>
          </a:p>
        </p:txBody>
      </p:sp>
      <p:sp>
        <p:nvSpPr>
          <p:cNvPr id="14" name="Title 13">
            <a:extLst>
              <a:ext uri="{FF2B5EF4-FFF2-40B4-BE49-F238E27FC236}">
                <a16:creationId xmlns:a16="http://schemas.microsoft.com/office/drawing/2014/main" id="{E3E5EE03-FBF6-46F5-8085-716AC6CE1C8C}"/>
              </a:ext>
            </a:extLst>
          </p:cNvPr>
          <p:cNvSpPr>
            <a:spLocks noGrp="1"/>
          </p:cNvSpPr>
          <p:nvPr>
            <p:ph type="title"/>
          </p:nvPr>
        </p:nvSpPr>
        <p:spPr>
          <a:xfrm>
            <a:off x="389008" y="559965"/>
            <a:ext cx="8108677" cy="413741"/>
          </a:xfrm>
        </p:spPr>
        <p:txBody>
          <a:bodyPr>
            <a:noAutofit/>
          </a:bodyPr>
          <a:lstStyle/>
          <a:p>
            <a:r>
              <a:rPr lang="fr-FR" sz="1800" dirty="0"/>
              <a:t>04 – Réseaux de neurones convolutifs : classification d’images (CNN)</a:t>
            </a:r>
            <a:endParaRPr lang="fr-FR" sz="1800" b="0" dirty="0"/>
          </a:p>
        </p:txBody>
      </p:sp>
      <p:sp>
        <p:nvSpPr>
          <p:cNvPr id="6" name="Title 13">
            <a:extLst>
              <a:ext uri="{FF2B5EF4-FFF2-40B4-BE49-F238E27FC236}">
                <a16:creationId xmlns:a16="http://schemas.microsoft.com/office/drawing/2014/main" id="{A038FF57-57C8-4B4F-92FE-2EAF9A71D770}"/>
              </a:ext>
            </a:extLst>
          </p:cNvPr>
          <p:cNvSpPr txBox="1">
            <a:spLocks/>
          </p:cNvSpPr>
          <p:nvPr/>
        </p:nvSpPr>
        <p:spPr>
          <a:xfrm>
            <a:off x="389008" y="830128"/>
            <a:ext cx="6249917" cy="413741"/>
          </a:xfrm>
          <a:prstGeom prst="rect">
            <a:avLst/>
          </a:prstGeom>
        </p:spPr>
        <p:txBody>
          <a:bodyPr vert="horz" lIns="68580" tIns="34290" rIns="68580" bIns="0" rtlCol="0" anchor="b">
            <a:noAutofit/>
          </a:bodyPr>
          <a:lstStyle>
            <a:lvl1pPr algn="l" defTabSz="914400" rtl="0" eaLnBrk="1" latinLnBrk="0" hangingPunct="1">
              <a:lnSpc>
                <a:spcPct val="90000"/>
              </a:lnSpc>
              <a:spcBef>
                <a:spcPct val="0"/>
              </a:spcBef>
              <a:buNone/>
              <a:defRPr lang="en-IN" sz="4400" b="1" kern="1200">
                <a:solidFill>
                  <a:schemeClr val="accent1"/>
                </a:solidFill>
                <a:latin typeface="+mj-lt"/>
                <a:ea typeface="+mj-ea"/>
                <a:cs typeface="+mj-cs"/>
              </a:defRPr>
            </a:lvl1pPr>
          </a:lstStyle>
          <a:p>
            <a:r>
              <a:rPr lang="fr-FR" sz="1800" b="0" dirty="0"/>
              <a:t>Résumé : étape 4 (réseau neuronal)</a:t>
            </a:r>
          </a:p>
        </p:txBody>
      </p:sp>
      <p:pic>
        <p:nvPicPr>
          <p:cNvPr id="2" name="Image 1">
            <a:extLst>
              <a:ext uri="{FF2B5EF4-FFF2-40B4-BE49-F238E27FC236}">
                <a16:creationId xmlns:a16="http://schemas.microsoft.com/office/drawing/2014/main" id="{81768DA7-3EEC-43E9-91F7-6934080AAEEB}"/>
              </a:ext>
            </a:extLst>
          </p:cNvPr>
          <p:cNvPicPr>
            <a:picLocks noChangeAspect="1"/>
          </p:cNvPicPr>
          <p:nvPr/>
        </p:nvPicPr>
        <p:blipFill rotWithShape="1">
          <a:blip r:embed="rId2"/>
          <a:srcRect b="50919"/>
          <a:stretch/>
        </p:blipFill>
        <p:spPr>
          <a:xfrm>
            <a:off x="584044" y="2376942"/>
            <a:ext cx="3409733" cy="1710965"/>
          </a:xfrm>
          <a:prstGeom prst="rect">
            <a:avLst/>
          </a:prstGeom>
        </p:spPr>
      </p:pic>
      <p:pic>
        <p:nvPicPr>
          <p:cNvPr id="9" name="Image 8">
            <a:extLst>
              <a:ext uri="{FF2B5EF4-FFF2-40B4-BE49-F238E27FC236}">
                <a16:creationId xmlns:a16="http://schemas.microsoft.com/office/drawing/2014/main" id="{681FD3E4-A9C5-4F4E-BC43-C3A2A9F24BD5}"/>
              </a:ext>
            </a:extLst>
          </p:cNvPr>
          <p:cNvPicPr>
            <a:picLocks noChangeAspect="1"/>
          </p:cNvPicPr>
          <p:nvPr/>
        </p:nvPicPr>
        <p:blipFill rotWithShape="1">
          <a:blip r:embed="rId2"/>
          <a:srcRect l="-394" t="50919" r="394"/>
          <a:stretch/>
        </p:blipFill>
        <p:spPr>
          <a:xfrm>
            <a:off x="4080280" y="2376942"/>
            <a:ext cx="3409733" cy="1710965"/>
          </a:xfrm>
          <a:prstGeom prst="rect">
            <a:avLst/>
          </a:prstGeom>
        </p:spPr>
      </p:pic>
      <p:sp>
        <p:nvSpPr>
          <p:cNvPr id="10" name="Légende : flèche courbée 9">
            <a:extLst>
              <a:ext uri="{FF2B5EF4-FFF2-40B4-BE49-F238E27FC236}">
                <a16:creationId xmlns:a16="http://schemas.microsoft.com/office/drawing/2014/main" id="{C58FBFD3-73E6-4CE7-9453-C4389F25A07E}"/>
              </a:ext>
            </a:extLst>
          </p:cNvPr>
          <p:cNvSpPr/>
          <p:nvPr/>
        </p:nvSpPr>
        <p:spPr>
          <a:xfrm>
            <a:off x="4307353" y="4313372"/>
            <a:ext cx="852446" cy="255889"/>
          </a:xfrm>
          <a:prstGeom prst="borderCallout2">
            <a:avLst>
              <a:gd name="adj1" fmla="val 32535"/>
              <a:gd name="adj2" fmla="val -5297"/>
              <a:gd name="adj3" fmla="val 32535"/>
              <a:gd name="adj4" fmla="val -10938"/>
              <a:gd name="adj5" fmla="val -340601"/>
              <a:gd name="adj6" fmla="val -68680"/>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FR" sz="825" dirty="0"/>
              <a:t>probabilités</a:t>
            </a:r>
          </a:p>
        </p:txBody>
      </p:sp>
    </p:spTree>
    <p:extLst>
      <p:ext uri="{BB962C8B-B14F-4D97-AF65-F5344CB8AC3E}">
        <p14:creationId xmlns:p14="http://schemas.microsoft.com/office/powerpoint/2010/main" val="16641491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95959"/>
      </a:dk2>
      <a:lt2>
        <a:srgbClr val="EEEEEE"/>
      </a:lt2>
      <a:accent1>
        <a:srgbClr val="224CE6"/>
      </a:accent1>
      <a:accent2>
        <a:srgbClr val="00D4F9"/>
      </a:accent2>
      <a:accent3>
        <a:srgbClr val="5C38F1"/>
      </a:accent3>
      <a:accent4>
        <a:srgbClr val="2D2183"/>
      </a:accent4>
      <a:accent5>
        <a:srgbClr val="FFFFFF"/>
      </a:accent5>
      <a:accent6>
        <a:srgbClr val="FFFFFF"/>
      </a:accent6>
      <a:hlink>
        <a:srgbClr val="000000"/>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595959"/>
      </a:dk2>
      <a:lt2>
        <a:srgbClr val="EEEEEE"/>
      </a:lt2>
      <a:accent1>
        <a:srgbClr val="224CE6"/>
      </a:accent1>
      <a:accent2>
        <a:srgbClr val="00D4F9"/>
      </a:accent2>
      <a:accent3>
        <a:srgbClr val="5C38F1"/>
      </a:accent3>
      <a:accent4>
        <a:srgbClr val="2D2183"/>
      </a:accent4>
      <a:accent5>
        <a:srgbClr val="FFFFFF"/>
      </a:accent5>
      <a:accent6>
        <a:srgbClr val="FFFFFF"/>
      </a:accent6>
      <a:hlink>
        <a:srgbClr val="000000"/>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595959"/>
      </a:dk2>
      <a:lt2>
        <a:srgbClr val="EEEEEE"/>
      </a:lt2>
      <a:accent1>
        <a:srgbClr val="224CE6"/>
      </a:accent1>
      <a:accent2>
        <a:srgbClr val="00D4F9"/>
      </a:accent2>
      <a:accent3>
        <a:srgbClr val="5C38F1"/>
      </a:accent3>
      <a:accent4>
        <a:srgbClr val="2D2183"/>
      </a:accent4>
      <a:accent5>
        <a:srgbClr val="FFFFFF"/>
      </a:accent5>
      <a:accent6>
        <a:srgbClr val="FFFFFF"/>
      </a:accent6>
      <a:hlink>
        <a:srgbClr val="000000"/>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7647</TotalTime>
  <Words>22909</Words>
  <Application>Microsoft Office PowerPoint</Application>
  <PresentationFormat>Affichage à l'écran (16:9)</PresentationFormat>
  <Paragraphs>2416</Paragraphs>
  <Slides>324</Slides>
  <Notes>38</Notes>
  <HiddenSlides>0</HiddenSlides>
  <MMClips>0</MMClips>
  <ScaleCrop>false</ScaleCrop>
  <HeadingPairs>
    <vt:vector size="6" baseType="variant">
      <vt:variant>
        <vt:lpstr>Polices utilisées</vt:lpstr>
      </vt:variant>
      <vt:variant>
        <vt:i4>7</vt:i4>
      </vt:variant>
      <vt:variant>
        <vt:lpstr>Thème</vt:lpstr>
      </vt:variant>
      <vt:variant>
        <vt:i4>3</vt:i4>
      </vt:variant>
      <vt:variant>
        <vt:lpstr>Titres des diapositives</vt:lpstr>
      </vt:variant>
      <vt:variant>
        <vt:i4>324</vt:i4>
      </vt:variant>
    </vt:vector>
  </HeadingPairs>
  <TitlesOfParts>
    <vt:vector size="334" baseType="lpstr">
      <vt:lpstr>Archivo</vt:lpstr>
      <vt:lpstr>Arial</vt:lpstr>
      <vt:lpstr>Calibri</vt:lpstr>
      <vt:lpstr>Cambria Math</vt:lpstr>
      <vt:lpstr>DejaVu Sans</vt:lpstr>
      <vt:lpstr>Symbol</vt:lpstr>
      <vt:lpstr>Wingdings</vt:lpstr>
      <vt:lpstr>Office Theme</vt:lpstr>
      <vt:lpstr>Office Theme</vt:lpstr>
      <vt:lpstr>Office Theme</vt:lpstr>
      <vt:lpstr>Machine Learning avec Python</vt:lpstr>
      <vt:lpstr>0</vt:lpstr>
      <vt:lpstr>Le formateur</vt:lpstr>
      <vt:lpstr>0</vt:lpstr>
      <vt:lpstr>Déroulement des séances</vt:lpstr>
      <vt:lpstr>0</vt:lpstr>
      <vt:lpstr>Plan de formation</vt:lpstr>
      <vt:lpstr>0</vt:lpstr>
      <vt:lpstr>Introduction</vt:lpstr>
      <vt:lpstr>0</vt:lpstr>
      <vt:lpstr>0</vt:lpstr>
      <vt:lpstr>Introduction : définition</vt:lpstr>
      <vt:lpstr>Introduction : définition</vt:lpstr>
      <vt:lpstr>Introduction : définition</vt:lpstr>
      <vt:lpstr>Introduction : définition</vt:lpstr>
      <vt:lpstr>Introduction : définition</vt:lpstr>
      <vt:lpstr>Introduction : définition</vt:lpstr>
      <vt:lpstr>Introduction : définition</vt:lpstr>
      <vt:lpstr>Introduction : Machine Learning par secteur d’activité</vt:lpstr>
      <vt:lpstr>Introduction : Machine Learning par secteur d’activité</vt:lpstr>
      <vt:lpstr>Introduction : Machine Learning par secteur d’activité</vt:lpstr>
      <vt:lpstr>Introduction : Machine Learning par secteur d’activité</vt:lpstr>
      <vt:lpstr>Introduction : Machine Learning par secteur d’activité</vt:lpstr>
      <vt:lpstr>Introduction : Machine Learning par secteur d’activité</vt:lpstr>
      <vt:lpstr>Introduction : Machine Learning par secteur d’activité</vt:lpstr>
      <vt:lpstr>Introduction : Machine Learning par secteur d’activité</vt:lpstr>
      <vt:lpstr>Introduction : Machine Learning par secteur d’activité</vt:lpstr>
      <vt:lpstr>Introduction : Machine Learning par type d’application</vt:lpstr>
      <vt:lpstr>Introduction : Machine Learning par type d’application</vt:lpstr>
      <vt:lpstr>Introduction : Machine Learning par type d’application</vt:lpstr>
      <vt:lpstr>Introduction : déroulement d’une étude</vt:lpstr>
      <vt:lpstr>Introduction : méthodes descriptives et prédictives</vt:lpstr>
      <vt:lpstr>Introduction : méthodes descriptives et prédictives</vt:lpstr>
      <vt:lpstr>Introduction : méthodes descriptives et prédictives</vt:lpstr>
      <vt:lpstr>Vocabulaire</vt:lpstr>
      <vt:lpstr>Vocabulaire</vt:lpstr>
      <vt:lpstr>Vocabulaire</vt:lpstr>
      <vt:lpstr>Vocabulaire</vt:lpstr>
      <vt:lpstr>Environnement de développement</vt:lpstr>
      <vt:lpstr>Environnement de développement</vt:lpstr>
      <vt:lpstr>Avant de débuter…</vt:lpstr>
      <vt:lpstr>Avant de débuter : comprendre les données</vt:lpstr>
      <vt:lpstr>Avant de débuter : choix de l’algorithme</vt:lpstr>
      <vt:lpstr>Avant de débuter : préparer les données</vt:lpstr>
      <vt:lpstr>Avant de débuter : entraînement du modèle</vt:lpstr>
      <vt:lpstr>Avant de débuter : test du modèle</vt:lpstr>
      <vt:lpstr>Avant de débuter : évaluation du modèle</vt:lpstr>
      <vt:lpstr>Feature scaling</vt:lpstr>
      <vt:lpstr>Feature scaling : normalization (Min-Max Scaling)</vt:lpstr>
      <vt:lpstr>Feature scaling : standardization (Z-score Scaling):</vt:lpstr>
      <vt:lpstr>Feature scaling : standardization (Z-score Scaling):</vt:lpstr>
      <vt:lpstr>Feature scaling : discrétisation</vt:lpstr>
      <vt:lpstr>Feature scaling : résumé</vt:lpstr>
      <vt:lpstr>Valeurs manquantes</vt:lpstr>
      <vt:lpstr>Les valeurs manquantes :</vt:lpstr>
      <vt:lpstr>Les valeurs manquantes : supprimer les lignes concernées</vt:lpstr>
      <vt:lpstr>Les valeurs manquantes : imputer par une constante</vt:lpstr>
      <vt:lpstr>Les valeurs manquantes : autres méthodes d’imputation</vt:lpstr>
      <vt:lpstr>Les valeurs manquantes : conseils</vt:lpstr>
      <vt:lpstr>Construction d’un modèle</vt:lpstr>
      <vt:lpstr>Construction d’un modèle</vt:lpstr>
      <vt:lpstr>Evaluation d’un modèle</vt:lpstr>
      <vt:lpstr>Évaluation d’un modèle</vt:lpstr>
      <vt:lpstr>Évaluation d’un modèle : métriques de classification</vt:lpstr>
      <vt:lpstr>Évaluation d’un modèle : métriques de régression</vt:lpstr>
      <vt:lpstr>Évaluation d’un modèle : pourquoi évaluer ?</vt:lpstr>
      <vt:lpstr>Évaluation d’un modèle : train-test split</vt:lpstr>
      <vt:lpstr>Évaluation d’un modèle : K-Fold Cross-Validation</vt:lpstr>
      <vt:lpstr>Évaluation d’un modèle : Grid Search et Random Search</vt:lpstr>
      <vt:lpstr>Évaluation d’un modèle : Grid Search et Random Search</vt:lpstr>
      <vt:lpstr>Régression linéaire simple</vt:lpstr>
      <vt:lpstr>Régression linéaire simple</vt:lpstr>
      <vt:lpstr>Régression linéaire simple : intuition</vt:lpstr>
      <vt:lpstr>Régression linéaire simple : intuition</vt:lpstr>
      <vt:lpstr>Régression linéaire simple</vt:lpstr>
      <vt:lpstr>Régression linéaire simple</vt:lpstr>
      <vt:lpstr>Régression linéaire simple</vt:lpstr>
      <vt:lpstr>Régression linéaire simple</vt:lpstr>
      <vt:lpstr>Régression linéaire simple</vt:lpstr>
      <vt:lpstr>Régression linéaire simple</vt:lpstr>
      <vt:lpstr>Régression linéaire simple : prédiction vs prévision</vt:lpstr>
      <vt:lpstr>Régression linéaire simple : prédiction vs prévision</vt:lpstr>
      <vt:lpstr>Ozone</vt:lpstr>
      <vt:lpstr>Ozone</vt:lpstr>
      <vt:lpstr>Ozone</vt:lpstr>
      <vt:lpstr>Ozone</vt:lpstr>
      <vt:lpstr>Régression linéaire multiple</vt:lpstr>
      <vt:lpstr>Régression linéaire multiple</vt:lpstr>
      <vt:lpstr>Régression linéaire multiple</vt:lpstr>
      <vt:lpstr>Régression linéaire multiple</vt:lpstr>
      <vt:lpstr>Régression linéaire multiple</vt:lpstr>
      <vt:lpstr>Régression linéaire multiple</vt:lpstr>
      <vt:lpstr>Régression logistique multiple</vt:lpstr>
      <vt:lpstr>Régression logistique</vt:lpstr>
      <vt:lpstr>Régression logistique : intuition</vt:lpstr>
      <vt:lpstr>Régression logistique : intuition</vt:lpstr>
      <vt:lpstr>Régression logistique : intuition</vt:lpstr>
      <vt:lpstr>Régression logistique : intuition</vt:lpstr>
      <vt:lpstr>Régression logistique</vt:lpstr>
      <vt:lpstr>Régression logistique</vt:lpstr>
      <vt:lpstr>Régression logistique : fonction sigmoïde</vt:lpstr>
      <vt:lpstr>Régression logistique : interprétation des métriques</vt:lpstr>
      <vt:lpstr>Régression logistique : interprétation des métriques</vt:lpstr>
      <vt:lpstr>Régression logistique : interprétation des métriques</vt:lpstr>
      <vt:lpstr>Arbre de décision</vt:lpstr>
      <vt:lpstr>Arbre de décision</vt:lpstr>
      <vt:lpstr>Arbre de décision : intuition</vt:lpstr>
      <vt:lpstr>Arbre de décision : graphique</vt:lpstr>
      <vt:lpstr>Arbre de décision : intuition</vt:lpstr>
      <vt:lpstr>Arbre de décision : la construction d’un arbre</vt:lpstr>
      <vt:lpstr>Arbre de décision : exemple 1</vt:lpstr>
      <vt:lpstr>Arbre de décision : exemple 1</vt:lpstr>
      <vt:lpstr>Arbre de décision : exemple 1</vt:lpstr>
      <vt:lpstr>Arbre de décision : implémentations</vt:lpstr>
      <vt:lpstr>Arbre de décision : la construction d’un arbre</vt:lpstr>
      <vt:lpstr>Arbre de décision : exemple 2</vt:lpstr>
      <vt:lpstr>Arbre de décision : exemple 3</vt:lpstr>
      <vt:lpstr>Arbre de décision : exemple 3</vt:lpstr>
      <vt:lpstr>Arbre de décision : construction d’un arbre</vt:lpstr>
      <vt:lpstr>Arbre de décision : mesures d’impureté</vt:lpstr>
      <vt:lpstr>Arbre de décision : sélection de la meilleure feature avec l’entropie</vt:lpstr>
      <vt:lpstr>Arbre de décision : sélection de la meilleure feature avec l’entropie</vt:lpstr>
      <vt:lpstr>Arbre de décision : sélection de la meilleure feature avec Gini</vt:lpstr>
      <vt:lpstr>Arbre de décision : entropie vs Gini</vt:lpstr>
      <vt:lpstr>Arbre de décision : overfitting et pruning</vt:lpstr>
      <vt:lpstr>Arbre de décision : choix de la feature et du seuil</vt:lpstr>
      <vt:lpstr>Arbre de décision : critère d’arrêt</vt:lpstr>
      <vt:lpstr>Arbre de décision : pruning</vt:lpstr>
      <vt:lpstr>Arbre de décision : avantages</vt:lpstr>
      <vt:lpstr>Arbre de décision : inconvénients</vt:lpstr>
      <vt:lpstr>Arbre de décision : classification</vt:lpstr>
      <vt:lpstr>Arbre de décision : classification</vt:lpstr>
      <vt:lpstr>Arbre de décision : classification</vt:lpstr>
      <vt:lpstr>Arbre de décision : pureté de l’arbre</vt:lpstr>
      <vt:lpstr>Arbre de décision : pureté de l’arbre</vt:lpstr>
      <vt:lpstr>Arbre de décision : pureté de l’arbre, GINI</vt:lpstr>
      <vt:lpstr>Arbre de décision : pureté de l’arbre, GINI</vt:lpstr>
      <vt:lpstr>Arbre de décision : pureté de l’arbre, GINI</vt:lpstr>
      <vt:lpstr>Arbre de décision : pureté de l’arbre, GINI</vt:lpstr>
      <vt:lpstr>Arbre de décision : pureté de l’arbre, GINI</vt:lpstr>
      <vt:lpstr>Arbre de décision : pureté de l’arbre, GINI</vt:lpstr>
      <vt:lpstr>Arbre de décision : régression</vt:lpstr>
      <vt:lpstr>Arbre de décision : régression</vt:lpstr>
      <vt:lpstr>Arbre de décision : régression</vt:lpstr>
      <vt:lpstr>Arbre de décision : pureté de l’arbre, MSE</vt:lpstr>
      <vt:lpstr>Random Forest</vt:lpstr>
      <vt:lpstr>Random Forest</vt:lpstr>
      <vt:lpstr>Random Forest : intuition</vt:lpstr>
      <vt:lpstr>Random Forest : intuition</vt:lpstr>
      <vt:lpstr>Random Forest : intuition</vt:lpstr>
      <vt:lpstr>Random Forest : fonctionnement</vt:lpstr>
      <vt:lpstr>Random Forest : bagging</vt:lpstr>
      <vt:lpstr>Random Forest : fine tuning</vt:lpstr>
      <vt:lpstr>Random Forest : avantages</vt:lpstr>
      <vt:lpstr>Random Forest : inconvénients</vt:lpstr>
      <vt:lpstr>Random Forest : cas d’applications</vt:lpstr>
      <vt:lpstr>Random Forest : cas d’applications</vt:lpstr>
      <vt:lpstr>Random Forest : cas d’applications</vt:lpstr>
      <vt:lpstr>Random Forest : cas d’applications</vt:lpstr>
      <vt:lpstr>Random Forest : hyper paramètre Grid Search</vt:lpstr>
      <vt:lpstr>Random Forest : hyper paramètre Grid Search</vt:lpstr>
      <vt:lpstr>Random Forest : hyper paramètre Random Search</vt:lpstr>
      <vt:lpstr>Random Forest : hyper paramètre Random Search</vt:lpstr>
      <vt:lpstr>Random Forest : Gread Search vs Random Search</vt:lpstr>
      <vt:lpstr>Random Forest : validation croisée</vt:lpstr>
      <vt:lpstr>Random Forest : validation croisée</vt:lpstr>
      <vt:lpstr>Random Forest : validation croisée</vt:lpstr>
      <vt:lpstr>Random Forest : validation croisée</vt:lpstr>
      <vt:lpstr>Random Forest : validation croisée</vt:lpstr>
      <vt:lpstr>Random Forest : validation croisée</vt:lpstr>
      <vt:lpstr>XG Boost</vt:lpstr>
      <vt:lpstr>XG Boost</vt:lpstr>
      <vt:lpstr>XG Boost : intuition</vt:lpstr>
      <vt:lpstr>XG Boost : historique</vt:lpstr>
      <vt:lpstr>XG Boost : historique</vt:lpstr>
      <vt:lpstr>XG Boost : historique</vt:lpstr>
      <vt:lpstr>XG Boost : historique</vt:lpstr>
      <vt:lpstr>XG Boost : historique</vt:lpstr>
      <vt:lpstr>XG Boost : historique</vt:lpstr>
      <vt:lpstr>XG Boost : la descente de gradient</vt:lpstr>
      <vt:lpstr>XG Boost : la descente de gradient</vt:lpstr>
      <vt:lpstr>XG Boost : la descente de gradient</vt:lpstr>
      <vt:lpstr>XG Boost : la descente de gradient</vt:lpstr>
      <vt:lpstr>XG Boost : la descente de gradient</vt:lpstr>
      <vt:lpstr>XG Boost : le taux d’apprentissage (learning rate)</vt:lpstr>
      <vt:lpstr>XG Boost : la fonction de coût</vt:lpstr>
      <vt:lpstr>XG Boost : avantages et inconvénients</vt:lpstr>
      <vt:lpstr>K Nearest Neighbors</vt:lpstr>
      <vt:lpstr>K Nearest Neighbors</vt:lpstr>
      <vt:lpstr>K Nearest Neighbors : intuition</vt:lpstr>
      <vt:lpstr>K Nearest Neighbors : intuition</vt:lpstr>
      <vt:lpstr>K Nearest Neighbors : fonctionnement</vt:lpstr>
      <vt:lpstr>K Nearest Neighbors : fonctionnement</vt:lpstr>
      <vt:lpstr>K Nearest Neighbors : fonctionnement</vt:lpstr>
      <vt:lpstr>K Nearest Neighbors : fonctionnement</vt:lpstr>
      <vt:lpstr>K Nearest Neighbors : fonctionnement</vt:lpstr>
      <vt:lpstr>K Nearest Neighbors : fonctionnement</vt:lpstr>
      <vt:lpstr>K Nearest Neighbors : fonctionnement</vt:lpstr>
      <vt:lpstr>K Nearest Neighbors : fonctionnement</vt:lpstr>
      <vt:lpstr>K Nearest Neighbors : fonctionnement</vt:lpstr>
      <vt:lpstr>K Nearest Neighbors : fonctionnement</vt:lpstr>
      <vt:lpstr>K Nearest Neighbors : fonctionnement</vt:lpstr>
      <vt:lpstr>K Nearest Neighbors : fonctionnement</vt:lpstr>
      <vt:lpstr>K Nearest Neighbors : fonctionnement</vt:lpstr>
      <vt:lpstr>K Nearest Neighbors : fonctionnement</vt:lpstr>
      <vt:lpstr>K Nearest Neighbors : fonctionnement</vt:lpstr>
      <vt:lpstr>K Nearest Neighbors : avantages et inconvénients</vt:lpstr>
      <vt:lpstr>Support Vector Machine</vt:lpstr>
      <vt:lpstr>Support Vector Machine : intuition</vt:lpstr>
      <vt:lpstr>Support Vector Machine : intuition</vt:lpstr>
      <vt:lpstr>Support Vector Machine : fonctionnement</vt:lpstr>
      <vt:lpstr>Support Vector Machine : hyperplan optimal</vt:lpstr>
      <vt:lpstr>Support Vector Machine : fonction noyau (kernel)</vt:lpstr>
      <vt:lpstr>Support Vector Machine : fonction noyau (kernel)</vt:lpstr>
      <vt:lpstr>Support Vector Machine : fonction noyau (kernel)</vt:lpstr>
      <vt:lpstr>Support Vector Machine : fonction noyau (kernel)</vt:lpstr>
      <vt:lpstr>Support Vector Machine : fonction noyau (kernel)</vt:lpstr>
      <vt:lpstr>Support Vector Machine : paramètres</vt:lpstr>
      <vt:lpstr>Support Vector Machine : paramètres</vt:lpstr>
      <vt:lpstr>Support Vector Machine : paramètres</vt:lpstr>
      <vt:lpstr>Support Vector Machine : paramètres</vt:lpstr>
      <vt:lpstr>Support Vector Machine : paramètres</vt:lpstr>
      <vt:lpstr>Support Vector Machine : avantages</vt:lpstr>
      <vt:lpstr>Support Vector Machine : inconvénients</vt:lpstr>
      <vt:lpstr>Analyse en Compasantes Principales</vt:lpstr>
      <vt:lpstr>Analyse en Composantes Principales</vt:lpstr>
      <vt:lpstr>Analyse en Composantes Principales</vt:lpstr>
      <vt:lpstr>Analyse en Composantes Principales</vt:lpstr>
      <vt:lpstr>Analyse en Composantes Principales</vt:lpstr>
      <vt:lpstr>Analyse en Composantes Principales</vt:lpstr>
      <vt:lpstr>Analyse en Composantes Principales</vt:lpstr>
      <vt:lpstr>Analyse en Composantes Principales</vt:lpstr>
      <vt:lpstr>Analyse en Composantes Principales</vt:lpstr>
      <vt:lpstr>Analyse en Composantes Principales</vt:lpstr>
      <vt:lpstr>Analyse en Composantes Principales</vt:lpstr>
      <vt:lpstr>Analyse en Composantes Principales</vt:lpstr>
      <vt:lpstr>Analyse en Composantes Principales</vt:lpstr>
      <vt:lpstr>Analyse en Composantes Principales</vt:lpstr>
      <vt:lpstr>Analyse en Composantes Principales</vt:lpstr>
      <vt:lpstr>Analyse en Composantes Principales</vt:lpstr>
      <vt:lpstr>Analyse en Composantes Principales</vt:lpstr>
      <vt:lpstr>Analyse en Composantes Principales</vt:lpstr>
      <vt:lpstr>Analyse Factorielle des Correspondances</vt:lpstr>
      <vt:lpstr>Analyse Factorielle des Correspondances</vt:lpstr>
      <vt:lpstr>Analyse Factorielle des Correspondances</vt:lpstr>
      <vt:lpstr>Analyse Factorielle des Correspondances</vt:lpstr>
      <vt:lpstr>Analyse Factorielle des Correspondances</vt:lpstr>
      <vt:lpstr>Deep Learning : CNN</vt:lpstr>
      <vt:lpstr>Objectifs pédagogiques</vt:lpstr>
      <vt:lpstr>Plan de formation</vt:lpstr>
      <vt:lpstr>Plan du cours</vt:lpstr>
      <vt:lpstr>Plan du cours</vt:lpstr>
      <vt:lpstr>Plan du cours</vt:lpstr>
      <vt:lpstr>Plan du cours</vt:lpstr>
      <vt:lpstr>01. Introduction au  Deep Learning</vt:lpstr>
      <vt:lpstr>01 – Introduction au Deep Learning</vt:lpstr>
      <vt:lpstr>Introduction au DL : généralités</vt:lpstr>
      <vt:lpstr>Introduction au DL : généralités</vt:lpstr>
      <vt:lpstr>Introduction au DL : généralités</vt:lpstr>
      <vt:lpstr>Introduction au DL : généralités</vt:lpstr>
      <vt:lpstr>Introduction au DL : généralités</vt:lpstr>
      <vt:lpstr>Introduction au DL : quelques librairies utiles au DL</vt:lpstr>
      <vt:lpstr>Introduction au DL : quelques librairies utiles au DL</vt:lpstr>
      <vt:lpstr>Introduction au DL : quelques librairies utiles au DL</vt:lpstr>
      <vt:lpstr>Introduction au DL : quelques librairies utiles au DL</vt:lpstr>
      <vt:lpstr>Introduction au DL : quelques librairies utiles au DL</vt:lpstr>
      <vt:lpstr>Introduction au DL : quelques librairies utiles au DL</vt:lpstr>
      <vt:lpstr>Introduction au DL : quelques librairies utiles au DL</vt:lpstr>
      <vt:lpstr>Introduction au DL : quelques librairies utiles au DL</vt:lpstr>
      <vt:lpstr>02. Environnement du  Deep Learning</vt:lpstr>
      <vt:lpstr>02 – Environnement du DL</vt:lpstr>
      <vt:lpstr>Préparer son environnement de travail</vt:lpstr>
      <vt:lpstr>Préparer son environnement de travail</vt:lpstr>
      <vt:lpstr>Préparer son environnement de travail</vt:lpstr>
      <vt:lpstr>Préparer son environnement de travail</vt:lpstr>
      <vt:lpstr>Préparer son environnement de travail</vt:lpstr>
      <vt:lpstr>Préparer son environnement de travail</vt:lpstr>
      <vt:lpstr>Préparer son environnement de travail</vt:lpstr>
      <vt:lpstr>03. Prérequis au  Deep Learning</vt:lpstr>
      <vt:lpstr>03 – Prérequis au Deep Learning</vt:lpstr>
      <vt:lpstr>03 – Prérequis au DL : réseaux de neurones à propagation avant</vt:lpstr>
      <vt:lpstr>03 – Prérequis au DL : réseaux de neurones à propagation avant</vt:lpstr>
      <vt:lpstr>03 – Prérequis au DL : réseaux de neurones à propagation avant</vt:lpstr>
      <vt:lpstr>03 – Prérequis au DL : réseaux de neurones à propagation avant</vt:lpstr>
      <vt:lpstr>03 – Prérequis au DL : réseaux de neurones à propagation avant</vt:lpstr>
      <vt:lpstr>03 – Prérequis au DL : réseaux de neurones à propagation avant</vt:lpstr>
      <vt:lpstr>03 – Prérequis au DL : réseaux de neurones à propagation avant</vt:lpstr>
      <vt:lpstr>03 – Prérequis au DL : réseaux de neurones à propagation avant</vt:lpstr>
      <vt:lpstr>03 – Prérequis au DL : réseaux de neurones à propagation avant</vt:lpstr>
      <vt:lpstr>03 – Prérequis au DL : réseaux de neurones à propagation avant</vt:lpstr>
      <vt:lpstr>03 – Prérequis au DL : réseaux de neurones à propagation avant</vt:lpstr>
      <vt:lpstr>03 – Prérequis au DL : réseaux de neurones à propagation avant</vt:lpstr>
      <vt:lpstr>03 – Prérequis au DL : réseaux de neurones à propagation avant</vt:lpstr>
      <vt:lpstr>03 – Prérequis au DL : réseaux de neurones à propagation avant</vt:lpstr>
      <vt:lpstr>03 – Prérequis au DL : réseaux de neurones à propagation avant</vt:lpstr>
      <vt:lpstr>03 – Prérequis au DL : réseaux de neurones à propagation avant</vt:lpstr>
      <vt:lpstr>04. Réseaux de neurones convolutifs</vt:lpstr>
      <vt:lpstr>04 – Réseaux de neurones convolutifs</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lpstr>04 – Réseaux de neurones convolutifs : classification d’images (CNN)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Business Consulting Toolkit</dc:title>
  <dc:subject/>
  <dc:creator>Joyce MBIGUIDI</dc:creator>
  <dc:description/>
  <cp:lastModifiedBy>Joyce MBIGUIDI</cp:lastModifiedBy>
  <cp:revision>79</cp:revision>
  <dcterms:modified xsi:type="dcterms:W3CDTF">2024-09-06T07:59:09Z</dcterms:modified>
  <dc:language>fr-FR</dc:language>
</cp:coreProperties>
</file>